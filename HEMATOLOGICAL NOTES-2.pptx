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537"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9" r:id="rId23"/>
    <p:sldId id="280" r:id="rId24"/>
    <p:sldId id="281" r:id="rId25"/>
    <p:sldId id="276" r:id="rId26"/>
    <p:sldId id="277" r:id="rId27"/>
    <p:sldId id="278" r:id="rId28"/>
    <p:sldId id="282" r:id="rId29"/>
    <p:sldId id="283" r:id="rId30"/>
    <p:sldId id="284" r:id="rId31"/>
    <p:sldId id="285" r:id="rId32"/>
    <p:sldId id="286" r:id="rId33"/>
    <p:sldId id="287" r:id="rId34"/>
    <p:sldId id="300" r:id="rId35"/>
    <p:sldId id="298" r:id="rId36"/>
    <p:sldId id="299" r:id="rId37"/>
    <p:sldId id="288" r:id="rId38"/>
    <p:sldId id="289" r:id="rId39"/>
    <p:sldId id="301" r:id="rId40"/>
    <p:sldId id="290" r:id="rId41"/>
    <p:sldId id="309" r:id="rId42"/>
    <p:sldId id="310" r:id="rId43"/>
    <p:sldId id="311" r:id="rId44"/>
    <p:sldId id="307" r:id="rId45"/>
    <p:sldId id="308" r:id="rId46"/>
    <p:sldId id="291" r:id="rId47"/>
    <p:sldId id="292" r:id="rId48"/>
    <p:sldId id="293" r:id="rId49"/>
    <p:sldId id="294" r:id="rId50"/>
    <p:sldId id="295" r:id="rId51"/>
    <p:sldId id="296" r:id="rId52"/>
    <p:sldId id="297" r:id="rId53"/>
    <p:sldId id="302" r:id="rId54"/>
    <p:sldId id="303" r:id="rId55"/>
    <p:sldId id="314" r:id="rId56"/>
    <p:sldId id="304" r:id="rId57"/>
    <p:sldId id="305" r:id="rId58"/>
    <p:sldId id="306" r:id="rId59"/>
    <p:sldId id="315" r:id="rId60"/>
    <p:sldId id="316" r:id="rId61"/>
    <p:sldId id="312" r:id="rId62"/>
    <p:sldId id="313"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6" r:id="rId79"/>
    <p:sldId id="337" r:id="rId80"/>
    <p:sldId id="338" r:id="rId81"/>
    <p:sldId id="333" r:id="rId82"/>
    <p:sldId id="339" r:id="rId83"/>
    <p:sldId id="340" r:id="rId84"/>
    <p:sldId id="341" r:id="rId85"/>
    <p:sldId id="334" r:id="rId86"/>
    <p:sldId id="335"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8" r:id="rId123"/>
    <p:sldId id="377"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71" r:id="rId196"/>
    <p:sldId id="450" r:id="rId197"/>
    <p:sldId id="451" r:id="rId198"/>
    <p:sldId id="452" r:id="rId199"/>
    <p:sldId id="453" r:id="rId200"/>
    <p:sldId id="454" r:id="rId201"/>
    <p:sldId id="455" r:id="rId202"/>
    <p:sldId id="456" r:id="rId203"/>
    <p:sldId id="457" r:id="rId204"/>
    <p:sldId id="458" r:id="rId205"/>
    <p:sldId id="459" r:id="rId206"/>
    <p:sldId id="460" r:id="rId207"/>
    <p:sldId id="461" r:id="rId208"/>
    <p:sldId id="462" r:id="rId209"/>
    <p:sldId id="463" r:id="rId210"/>
    <p:sldId id="464" r:id="rId211"/>
    <p:sldId id="465" r:id="rId212"/>
    <p:sldId id="466" r:id="rId213"/>
    <p:sldId id="467" r:id="rId214"/>
    <p:sldId id="468" r:id="rId215"/>
    <p:sldId id="469" r:id="rId216"/>
    <p:sldId id="470" r:id="rId217"/>
    <p:sldId id="472" r:id="rId218"/>
    <p:sldId id="473" r:id="rId219"/>
    <p:sldId id="474" r:id="rId220"/>
    <p:sldId id="475" r:id="rId221"/>
    <p:sldId id="476" r:id="rId222"/>
    <p:sldId id="477" r:id="rId223"/>
    <p:sldId id="478" r:id="rId224"/>
    <p:sldId id="479" r:id="rId225"/>
    <p:sldId id="485" r:id="rId226"/>
    <p:sldId id="480" r:id="rId227"/>
    <p:sldId id="481" r:id="rId228"/>
    <p:sldId id="487" r:id="rId229"/>
    <p:sldId id="488" r:id="rId230"/>
    <p:sldId id="489" r:id="rId231"/>
    <p:sldId id="490" r:id="rId232"/>
    <p:sldId id="491" r:id="rId233"/>
    <p:sldId id="492" r:id="rId234"/>
    <p:sldId id="482" r:id="rId235"/>
    <p:sldId id="483" r:id="rId236"/>
    <p:sldId id="484" r:id="rId237"/>
    <p:sldId id="493" r:id="rId238"/>
    <p:sldId id="494" r:id="rId239"/>
    <p:sldId id="495" r:id="rId240"/>
    <p:sldId id="496" r:id="rId241"/>
    <p:sldId id="497" r:id="rId242"/>
    <p:sldId id="498" r:id="rId243"/>
    <p:sldId id="499" r:id="rId244"/>
    <p:sldId id="501" r:id="rId245"/>
    <p:sldId id="500" r:id="rId246"/>
    <p:sldId id="502" r:id="rId247"/>
    <p:sldId id="503" r:id="rId248"/>
    <p:sldId id="504" r:id="rId249"/>
    <p:sldId id="505" r:id="rId250"/>
    <p:sldId id="506" r:id="rId251"/>
    <p:sldId id="507" r:id="rId252"/>
    <p:sldId id="508" r:id="rId253"/>
    <p:sldId id="509" r:id="rId254"/>
    <p:sldId id="510" r:id="rId255"/>
    <p:sldId id="511" r:id="rId256"/>
    <p:sldId id="512" r:id="rId257"/>
    <p:sldId id="513" r:id="rId258"/>
    <p:sldId id="514" r:id="rId259"/>
    <p:sldId id="515" r:id="rId260"/>
    <p:sldId id="516" r:id="rId261"/>
    <p:sldId id="517" r:id="rId262"/>
    <p:sldId id="518" r:id="rId263"/>
    <p:sldId id="519" r:id="rId264"/>
    <p:sldId id="520" r:id="rId265"/>
    <p:sldId id="521" r:id="rId266"/>
    <p:sldId id="522" r:id="rId267"/>
    <p:sldId id="523" r:id="rId268"/>
    <p:sldId id="524" r:id="rId269"/>
    <p:sldId id="525" r:id="rId270"/>
    <p:sldId id="526" r:id="rId271"/>
    <p:sldId id="527" r:id="rId272"/>
    <p:sldId id="529" r:id="rId273"/>
    <p:sldId id="530" r:id="rId274"/>
    <p:sldId id="531" r:id="rId275"/>
    <p:sldId id="532" r:id="rId276"/>
    <p:sldId id="533" r:id="rId277"/>
    <p:sldId id="534" r:id="rId278"/>
    <p:sldId id="535" r:id="rId279"/>
    <p:sldId id="536" r:id="rId28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71" autoAdjust="0"/>
  </p:normalViewPr>
  <p:slideViewPr>
    <p:cSldViewPr>
      <p:cViewPr>
        <p:scale>
          <a:sx n="80" d="100"/>
          <a:sy n="80" d="100"/>
        </p:scale>
        <p:origin x="-1086" y="-11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slide" Target="slides/slide267.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79" Type="http://schemas.openxmlformats.org/officeDocument/2006/relationships/slide" Target="slides/slide278.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260" Type="http://schemas.openxmlformats.org/officeDocument/2006/relationships/slide" Target="slides/slide259.xml"/><Relationship Id="rId265" Type="http://schemas.openxmlformats.org/officeDocument/2006/relationships/slide" Target="slides/slide264.xml"/><Relationship Id="rId281"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slide" Target="slides/slide254.xml"/><Relationship Id="rId271" Type="http://schemas.openxmlformats.org/officeDocument/2006/relationships/slide" Target="slides/slide270.xml"/><Relationship Id="rId276" Type="http://schemas.openxmlformats.org/officeDocument/2006/relationships/slide" Target="slides/slide275.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slide" Target="slides/slide260.xml"/><Relationship Id="rId266" Type="http://schemas.openxmlformats.org/officeDocument/2006/relationships/slide" Target="slides/slide265.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282"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77" Type="http://schemas.openxmlformats.org/officeDocument/2006/relationships/slide" Target="slides/slide276.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72" Type="http://schemas.openxmlformats.org/officeDocument/2006/relationships/slide" Target="slides/slide27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slide" Target="slides/slide266.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283"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tableStyles" Target="tableStyle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2D2C88A0-0DA3-4BE3-B713-871BB70890B6}" type="datetimeFigureOut">
              <a:rPr lang="en-US" smtClean="0"/>
              <a:t>8/4/2020</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9B0B13A0-C4ED-4974-A801-23551B14F4D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D2C88A0-0DA3-4BE3-B713-871BB70890B6}" type="datetimeFigureOut">
              <a:rPr lang="en-US" smtClean="0"/>
              <a:t>8/4/2020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B0B13A0-C4ED-4974-A801-23551B14F4D8}"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2D2C88A0-0DA3-4BE3-B713-871BB70890B6}" type="datetimeFigureOut">
              <a:rPr lang="en-US" smtClean="0"/>
              <a:t>8/4/2020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B0B13A0-C4ED-4974-A801-23551B14F4D8}"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2D2C88A0-0DA3-4BE3-B713-871BB70890B6}" type="datetimeFigureOut">
              <a:rPr lang="en-US" smtClean="0"/>
              <a:t>8/4/2020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B0B13A0-C4ED-4974-A801-23551B14F4D8}"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2D2C88A0-0DA3-4BE3-B713-871BB70890B6}" type="datetimeFigureOut">
              <a:rPr lang="en-US" smtClean="0"/>
              <a:t>8/4/2020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9B0B13A0-C4ED-4974-A801-23551B14F4D8}"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2D2C88A0-0DA3-4BE3-B713-871BB70890B6}" type="datetimeFigureOut">
              <a:rPr lang="en-US" smtClean="0"/>
              <a:t>8/4/2020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9B0B13A0-C4ED-4974-A801-23551B14F4D8}"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2D2C88A0-0DA3-4BE3-B713-871BB70890B6}" type="datetimeFigureOut">
              <a:rPr lang="en-US" smtClean="0"/>
              <a:t>8/4/2020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9B0B13A0-C4ED-4974-A801-23551B14F4D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2D2C88A0-0DA3-4BE3-B713-871BB70890B6}" type="datetimeFigureOut">
              <a:rPr lang="en-US" smtClean="0"/>
              <a:t>8/4/2020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B0B13A0-C4ED-4974-A801-23551B14F4D8}"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2D2C88A0-0DA3-4BE3-B713-871BB70890B6}" type="datetimeFigureOut">
              <a:rPr lang="en-US" smtClean="0"/>
              <a:t>8/4/2020</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9B0B13A0-C4ED-4974-A801-23551B14F4D8}"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D2C88A0-0DA3-4BE3-B713-871BB70890B6}" type="datetimeFigureOut">
              <a:rPr lang="en-US" smtClean="0"/>
              <a:t>8/4/2020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B0B13A0-C4ED-4974-A801-23551B14F4D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D2C88A0-0DA3-4BE3-B713-871BB70890B6}" type="datetimeFigureOut">
              <a:rPr lang="en-US" smtClean="0"/>
              <a:t>8/4/2020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B0B13A0-C4ED-4974-A801-23551B14F4D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2D2C88A0-0DA3-4BE3-B713-871BB70890B6}" type="datetimeFigureOut">
              <a:rPr lang="en-US" smtClean="0"/>
              <a:t>8/4/2020</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9B0B13A0-C4ED-4974-A801-23551B14F4D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hyperlink" Target="https://www.webmd.com/diet/obesity/gastric-bypass-operations" TargetMode="External"/><Relationship Id="rId3" Type="http://schemas.openxmlformats.org/officeDocument/2006/relationships/hyperlink" Target="https://www.webmd.com/baby/default.htm" TargetMode="External"/><Relationship Id="rId7" Type="http://schemas.openxmlformats.org/officeDocument/2006/relationships/hyperlink" Target="https://www.webmd.com/digestive-disorders/picture-of-the-intestines" TargetMode="External"/><Relationship Id="rId2" Type="http://schemas.openxmlformats.org/officeDocument/2006/relationships/hyperlink" Target="https://www.webmd.com/diet/iron-rich-foods" TargetMode="External"/><Relationship Id="rId1" Type="http://schemas.openxmlformats.org/officeDocument/2006/relationships/slideLayout" Target="../slideLayouts/slideLayout2.xml"/><Relationship Id="rId6" Type="http://schemas.openxmlformats.org/officeDocument/2006/relationships/hyperlink" Target="https://www.webmd.com/ibd-crohns-disease/crohns-disease/default.htm" TargetMode="External"/><Relationship Id="rId5" Type="http://schemas.openxmlformats.org/officeDocument/2006/relationships/hyperlink" Target="https://www.webmd.com/ibd-crohns-disease/ulcerative-colitis/default.htm" TargetMode="External"/><Relationship Id="rId10" Type="http://schemas.openxmlformats.org/officeDocument/2006/relationships/hyperlink" Target="https://www.webmd.com/digestive-disorders/picture-of-the-stomach" TargetMode="External"/><Relationship Id="rId4" Type="http://schemas.openxmlformats.org/officeDocument/2006/relationships/hyperlink" Target="https://www.webmd.com/digestive-disorders/celiac-disease/default.htm" TargetMode="External"/><Relationship Id="rId9" Type="http://schemas.openxmlformats.org/officeDocument/2006/relationships/hyperlink" Target="https://www.webmd.com/digestive-disorders/rm-quiz-intestines" TargetMode="External"/></Relationships>
</file>

<file path=ppt/slides/_rels/slide79.xml.rels><?xml version="1.0" encoding="UTF-8" standalone="yes"?>
<Relationships xmlns="http://schemas.openxmlformats.org/package/2006/relationships"><Relationship Id="rId3" Type="http://schemas.openxmlformats.org/officeDocument/2006/relationships/hyperlink" Target="https://www.webmd.com/digestive-disorders/understanding-hernia-basics" TargetMode="External"/><Relationship Id="rId2" Type="http://schemas.openxmlformats.org/officeDocument/2006/relationships/hyperlink" Target="https://www.webmd.com/digestive-disorders/digestive-diseases-peptic-ulcer-disease" TargetMode="External"/><Relationship Id="rId1" Type="http://schemas.openxmlformats.org/officeDocument/2006/relationships/slideLayout" Target="../slideLayouts/slideLayout2.xml"/><Relationship Id="rId6" Type="http://schemas.openxmlformats.org/officeDocument/2006/relationships/hyperlink" Target="https://www.webmd.com/vitamins-and-supplements/supplements-assessment/default.htm" TargetMode="External"/><Relationship Id="rId5" Type="http://schemas.openxmlformats.org/officeDocument/2006/relationships/hyperlink" Target="https://www.webmd.com/digestive-disorders/picture-of-the-colon" TargetMode="External"/><Relationship Id="rId4" Type="http://schemas.openxmlformats.org/officeDocument/2006/relationships/hyperlink" Target="https://www.webmd.com/women/uterine-fibroids/default.htm" TargetMode="External"/></Relationships>
</file>

<file path=ppt/slides/_rels/slide80.xml.rels><?xml version="1.0" encoding="UTF-8" standalone="yes"?>
<Relationships xmlns="http://schemas.openxmlformats.org/package/2006/relationships"><Relationship Id="rId8" Type="http://schemas.openxmlformats.org/officeDocument/2006/relationships/hyperlink" Target="https://www.webmd.com/mental-health/mental-health-pica" TargetMode="External"/><Relationship Id="rId3" Type="http://schemas.openxmlformats.org/officeDocument/2006/relationships/hyperlink" Target="https://www.webmd.com/skin-problems-and-treatments/picture-of-the-skin" TargetMode="External"/><Relationship Id="rId7" Type="http://schemas.openxmlformats.org/officeDocument/2006/relationships/hyperlink" Target="https://www.webmd.com/skin-problems-and-treatments/hair-loss/default.htm" TargetMode="External"/><Relationship Id="rId2" Type="http://schemas.openxmlformats.org/officeDocument/2006/relationships/hyperlink" Target="https://www.webmd.com/a-to-z-guides/tc/weakness-and-fatigue-topic-overview" TargetMode="External"/><Relationship Id="rId1" Type="http://schemas.openxmlformats.org/officeDocument/2006/relationships/slideLayout" Target="../slideLayouts/slideLayout2.xml"/><Relationship Id="rId6" Type="http://schemas.openxmlformats.org/officeDocument/2006/relationships/hyperlink" Target="https://www.webmd.com/pain-management/guide/whats-causing-my-chest-pain" TargetMode="External"/><Relationship Id="rId5" Type="http://schemas.openxmlformats.org/officeDocument/2006/relationships/hyperlink" Target="https://www.webmd.com/migraines-headaches/default.htm" TargetMode="External"/><Relationship Id="rId10" Type="http://schemas.openxmlformats.org/officeDocument/2006/relationships/hyperlink" Target="https://www.webmd.com/brain/restless-legs-syndrome/default.htm" TargetMode="External"/><Relationship Id="rId4" Type="http://schemas.openxmlformats.org/officeDocument/2006/relationships/hyperlink" Target="https://www.webmd.com/first-aid/understanding-dizziness-basics" TargetMode="External"/><Relationship Id="rId9" Type="http://schemas.openxmlformats.org/officeDocument/2006/relationships/hyperlink" Target="https://www.webmd.com/oral-health/guide/tongue-problem-basics-sore-or-discolored-tongue-and-tongue-bumps"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hyperlink" Target="https://www.webmd.com/women/ss/slideshow-anemia-overview" TargetMode="External"/><Relationship Id="rId2" Type="http://schemas.openxmlformats.org/officeDocument/2006/relationships/hyperlink" Target="https://www.webmd.com/a-to-z-guides/complete-blood-count-cbc"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hyperlink" Target="https://www.webmd.com/a-to-z-guides/reticulocyte-count" TargetMode="External"/><Relationship Id="rId2" Type="http://schemas.openxmlformats.org/officeDocument/2006/relationships/hyperlink" Target="https://www.webmd.com/a-to-z-guides/ferritin" TargetMode="Externa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https://www.webmd.com/digestive-disorders/picture-of-the-esophagus" TargetMode="External"/><Relationship Id="rId7" Type="http://schemas.openxmlformats.org/officeDocument/2006/relationships/hyperlink" Target="https://www.webmd.com/cancer/default.htm" TargetMode="External"/><Relationship Id="rId2" Type="http://schemas.openxmlformats.org/officeDocument/2006/relationships/hyperlink" Target="https://www.webmd.com/digestive-disorders/digestive-diseases-endoscopy" TargetMode="External"/><Relationship Id="rId1" Type="http://schemas.openxmlformats.org/officeDocument/2006/relationships/slideLayout" Target="../slideLayouts/slideLayout2.xml"/><Relationship Id="rId6" Type="http://schemas.openxmlformats.org/officeDocument/2006/relationships/hyperlink" Target="https://www.webmd.com/colorectal-cancer/guide/fecal-occult-blood-test" TargetMode="External"/><Relationship Id="rId5" Type="http://schemas.openxmlformats.org/officeDocument/2006/relationships/hyperlink" Target="https://www.webmd.com/cancer/what-is-a-biopsy" TargetMode="External"/><Relationship Id="rId4" Type="http://schemas.openxmlformats.org/officeDocument/2006/relationships/hyperlink" Target="https://women.webmd.com/Women-Medical-Reference/Pelvic-Ultrasound"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hyperlink" Target="https://www.webmd.com/vitamins-supplements/ingredientmono-1001-vitamin+c+ascorbic+acid.aspx?activeingredientid=1001&amp;activeingredientname=vitamin+c+(ascorbic+acid)" TargetMode="External"/><Relationship Id="rId2" Type="http://schemas.openxmlformats.org/officeDocument/2006/relationships/hyperlink" Target="https://www.webmd.com/diet/supplement-guide-iron" TargetMode="Externa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www.webmd.com/digestive-disorders/digestive-diseases-nausea-vomiting" TargetMode="External"/><Relationship Id="rId2" Type="http://schemas.openxmlformats.org/officeDocument/2006/relationships/hyperlink" Target="https://www.webmd.com/digestive-disorders/digestive-diseases-constipation" TargetMode="External"/><Relationship Id="rId1" Type="http://schemas.openxmlformats.org/officeDocument/2006/relationships/slideLayout" Target="../slideLayouts/slideLayout2.xml"/><Relationship Id="rId6" Type="http://schemas.openxmlformats.org/officeDocument/2006/relationships/hyperlink" Target="https://www.webmd.com/heartburn-gerd/default.htm" TargetMode="External"/><Relationship Id="rId5" Type="http://schemas.openxmlformats.org/officeDocument/2006/relationships/hyperlink" Target="https://www.webmd.com/digestive-disorders/digestive-diseases-diarrhea" TargetMode="External"/><Relationship Id="rId4" Type="http://schemas.openxmlformats.org/officeDocument/2006/relationships/hyperlink" Target="https://www.webmd.com/children/ss/nausea-vomiting-remedies-treatment" TargetMode="External"/></Relationships>
</file>

<file path=ppt/slides/_rels/slide88.xml.rels><?xml version="1.0" encoding="UTF-8" standalone="yes"?>
<Relationships xmlns="http://schemas.openxmlformats.org/package/2006/relationships"><Relationship Id="rId3" Type="http://schemas.openxmlformats.org/officeDocument/2006/relationships/hyperlink" Target="https://www.webmd.com/men/video/lamm-supplements-diet" TargetMode="External"/><Relationship Id="rId2" Type="http://schemas.openxmlformats.org/officeDocument/2006/relationships/hyperlink" Target="https://www.webmd.com/digestive-disorders/picture-of-the-liver" TargetMode="Externa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hyperlink" Target="https://www.cancercenter.com/cancer-types/non-hodgkin-lymphoma" TargetMode="External"/><Relationship Id="rId2" Type="http://schemas.openxmlformats.org/officeDocument/2006/relationships/hyperlink" Target="https://www.cancercenter.com/cancer-types/leukemia" TargetMode="External"/><Relationship Id="rId1" Type="http://schemas.openxmlformats.org/officeDocument/2006/relationships/slideLayout" Target="../slideLayouts/slideLayout2.xml"/><Relationship Id="rId5" Type="http://schemas.openxmlformats.org/officeDocument/2006/relationships/hyperlink" Target="https://www.cancercenter.com/cancer-types/multiple-myeloma" TargetMode="External"/><Relationship Id="rId4" Type="http://schemas.openxmlformats.org/officeDocument/2006/relationships/hyperlink" Target="https://www.cancercenter.com/cancer-types/hodgkin-lymphoma" TargetMode="Externa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8" Type="http://schemas.openxmlformats.org/officeDocument/2006/relationships/hyperlink" Target="https://www.britannica.com/science/bile" TargetMode="External"/><Relationship Id="rId3" Type="http://schemas.openxmlformats.org/officeDocument/2006/relationships/hyperlink" Target="https://www.britannica.com/science/prothrombin" TargetMode="External"/><Relationship Id="rId7" Type="http://schemas.openxmlformats.org/officeDocument/2006/relationships/hyperlink" Target="https://www.britannica.com/science/jaundice" TargetMode="External"/><Relationship Id="rId2" Type="http://schemas.openxmlformats.org/officeDocument/2006/relationships/hyperlink" Target="https://www.britannica.com/science/disease" TargetMode="External"/><Relationship Id="rId1" Type="http://schemas.openxmlformats.org/officeDocument/2006/relationships/slideLayout" Target="../slideLayouts/slideLayout2.xml"/><Relationship Id="rId6" Type="http://schemas.openxmlformats.org/officeDocument/2006/relationships/hyperlink" Target="https://www.britannica.com/science/liver" TargetMode="External"/><Relationship Id="rId5" Type="http://schemas.openxmlformats.org/officeDocument/2006/relationships/hyperlink" Target="https://www.britannica.com/science/vitamin-K" TargetMode="External"/><Relationship Id="rId4" Type="http://schemas.openxmlformats.org/officeDocument/2006/relationships/hyperlink" Target="https://www.britannica.com/science/bleeding" TargetMode="External"/></Relationships>
</file>

<file path=ppt/slides/_rels/slide227.xml.rels><?xml version="1.0" encoding="UTF-8" standalone="yes"?>
<Relationships xmlns="http://schemas.openxmlformats.org/package/2006/relationships"><Relationship Id="rId3" Type="http://schemas.openxmlformats.org/officeDocument/2006/relationships/hyperlink" Target="https://www.britannica.com/science/hemorrhage" TargetMode="External"/><Relationship Id="rId2" Type="http://schemas.openxmlformats.org/officeDocument/2006/relationships/hyperlink" Target="https://www.britannica.com/science/anticoagulant" TargetMode="External"/><Relationship Id="rId1" Type="http://schemas.openxmlformats.org/officeDocument/2006/relationships/slideLayout" Target="../slideLayouts/slideLayout2.xml"/><Relationship Id="rId4" Type="http://schemas.openxmlformats.org/officeDocument/2006/relationships/hyperlink" Target="https://www.britannica.com/science/birth" TargetMode="External"/></Relationships>
</file>

<file path=ppt/slides/_rels/slide228.xml.rels><?xml version="1.0" encoding="UTF-8" standalone="yes"?>
<Relationships xmlns="http://schemas.openxmlformats.org/package/2006/relationships"><Relationship Id="rId3" Type="http://schemas.openxmlformats.org/officeDocument/2006/relationships/hyperlink" Target="https://en.wikipedia.org/wiki/Adverse_effect" TargetMode="External"/><Relationship Id="rId2" Type="http://schemas.openxmlformats.org/officeDocument/2006/relationships/hyperlink" Target="https://en.wikipedia.org/wiki/Genetics" TargetMode="External"/><Relationship Id="rId1" Type="http://schemas.openxmlformats.org/officeDocument/2006/relationships/slideLayout" Target="../slideLayouts/slideLayout2.xml"/><Relationship Id="rId6" Type="http://schemas.openxmlformats.org/officeDocument/2006/relationships/hyperlink" Target="https://en.wikipedia.org/wiki/Autoantibody" TargetMode="External"/><Relationship Id="rId5" Type="http://schemas.openxmlformats.org/officeDocument/2006/relationships/hyperlink" Target="https://en.wikipedia.org/wiki/Systemic_lupus_erythematosus" TargetMode="External"/><Relationship Id="rId4" Type="http://schemas.openxmlformats.org/officeDocument/2006/relationships/hyperlink" Target="https://en.wikipedia.org/wiki/Medication" TargetMode="External"/></Relationships>
</file>

<file path=ppt/slides/_rels/slide229.xml.rels><?xml version="1.0" encoding="UTF-8" standalone="yes"?>
<Relationships xmlns="http://schemas.openxmlformats.org/package/2006/relationships"><Relationship Id="rId3" Type="http://schemas.openxmlformats.org/officeDocument/2006/relationships/hyperlink" Target="https://en.wikipedia.org/wiki/Mutant" TargetMode="External"/><Relationship Id="rId2" Type="http://schemas.openxmlformats.org/officeDocument/2006/relationships/hyperlink" Target="https://en.wikipedia.org/wiki/Autosomal_Recessive" TargetMode="Externa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hyperlink" Target="https://en.wikipedia.org/wiki/Nonsense_mutation" TargetMode="Externa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8" Type="http://schemas.openxmlformats.org/officeDocument/2006/relationships/hyperlink" Target="https://en.wikipedia.org/wiki/Warfarin" TargetMode="External"/><Relationship Id="rId3" Type="http://schemas.openxmlformats.org/officeDocument/2006/relationships/hyperlink" Target="https://en.wikipedia.org/wiki/Missense_mutation" TargetMode="External"/><Relationship Id="rId7" Type="http://schemas.openxmlformats.org/officeDocument/2006/relationships/hyperlink" Target="https://en.wikipedia.org/wiki/Hypoprothrombinemia#cite_note-:1-5" TargetMode="External"/><Relationship Id="rId12" Type="http://schemas.openxmlformats.org/officeDocument/2006/relationships/hyperlink" Target="https://en.wikipedia.org/wiki/Ceftriaxone" TargetMode="External"/><Relationship Id="rId2" Type="http://schemas.openxmlformats.org/officeDocument/2006/relationships/hyperlink" Target="https://en.wikipedia.org/wiki/Dysprothrombinemia" TargetMode="External"/><Relationship Id="rId1" Type="http://schemas.openxmlformats.org/officeDocument/2006/relationships/slideLayout" Target="../slideLayouts/slideLayout2.xml"/><Relationship Id="rId6" Type="http://schemas.openxmlformats.org/officeDocument/2006/relationships/hyperlink" Target="https://en.wikipedia.org/wiki/Clotting" TargetMode="External"/><Relationship Id="rId11" Type="http://schemas.openxmlformats.org/officeDocument/2006/relationships/hyperlink" Target="https://en.wikipedia.org/wiki/Adverse_effect" TargetMode="External"/><Relationship Id="rId5" Type="http://schemas.openxmlformats.org/officeDocument/2006/relationships/hyperlink" Target="https://en.wikipedia.org/wiki/Antigen" TargetMode="External"/><Relationship Id="rId10" Type="http://schemas.openxmlformats.org/officeDocument/2006/relationships/hyperlink" Target="https://en.wikipedia.org/wiki/Disseminated_intravascular_coagulation" TargetMode="External"/><Relationship Id="rId4" Type="http://schemas.openxmlformats.org/officeDocument/2006/relationships/hyperlink" Target="https://en.wikipedia.org/wiki/Serine_protease" TargetMode="External"/><Relationship Id="rId9" Type="http://schemas.openxmlformats.org/officeDocument/2006/relationships/hyperlink" Target="https://en.wikipedia.org/wiki/Platelet" TargetMode="External"/></Relationships>
</file>

<file path=ppt/slides/_rels/slide232.xml.rels><?xml version="1.0" encoding="UTF-8" standalone="yes"?>
<Relationships xmlns="http://schemas.openxmlformats.org/package/2006/relationships"><Relationship Id="rId3" Type="http://schemas.openxmlformats.org/officeDocument/2006/relationships/hyperlink" Target="https://en.wikipedia.org/wiki/Physician" TargetMode="External"/><Relationship Id="rId2" Type="http://schemas.openxmlformats.org/officeDocument/2006/relationships/hyperlink" Target="https://en.wikipedia.org/wiki/Hematologist" TargetMode="External"/><Relationship Id="rId1" Type="http://schemas.openxmlformats.org/officeDocument/2006/relationships/slideLayout" Target="../slideLayouts/slideLayout2.xml"/><Relationship Id="rId4" Type="http://schemas.openxmlformats.org/officeDocument/2006/relationships/hyperlink" Target="https://en.wikipedia.org/wiki/Congenital" TargetMode="Externa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3" Type="http://schemas.openxmlformats.org/officeDocument/2006/relationships/hyperlink" Target="https://en.wikipedia.org/wiki/Infusion" TargetMode="External"/><Relationship Id="rId2" Type="http://schemas.openxmlformats.org/officeDocument/2006/relationships/hyperlink" Target="https://en.wikipedia.org/wiki/Hemorrhages" TargetMode="Externa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3" Type="http://schemas.openxmlformats.org/officeDocument/2006/relationships/hyperlink" Target="https://en.wikipedia.org/wiki/Menatetrenone" TargetMode="External"/><Relationship Id="rId2" Type="http://schemas.openxmlformats.org/officeDocument/2006/relationships/hyperlink" Target="https://en.wikipedia.org/w/index.php?title=Menadoxime&amp;action=edit&amp;redlink=1" TargetMode="External"/><Relationship Id="rId1" Type="http://schemas.openxmlformats.org/officeDocument/2006/relationships/slideLayout" Target="../slideLayouts/slideLayout2.xml"/><Relationship Id="rId5" Type="http://schemas.openxmlformats.org/officeDocument/2006/relationships/hyperlink" Target="https://en.wikipedia.org/wiki/Intravenously" TargetMode="External"/><Relationship Id="rId4" Type="http://schemas.openxmlformats.org/officeDocument/2006/relationships/hyperlink" Target="https://en.wikipedia.org/wiki/Antihaemorrhagic" TargetMode="External"/></Relationships>
</file>

<file path=ppt/slides/_rels/slide237.xml.rels><?xml version="1.0" encoding="UTF-8" standalone="yes"?>
<Relationships xmlns="http://schemas.openxmlformats.org/package/2006/relationships"><Relationship Id="rId3" Type="http://schemas.openxmlformats.org/officeDocument/2006/relationships/hyperlink" Target="https://en.wikipedia.org/wiki/Hematologist" TargetMode="External"/><Relationship Id="rId2" Type="http://schemas.openxmlformats.org/officeDocument/2006/relationships/hyperlink" Target="https://en.wikipedia.org/wiki/Prognosis" TargetMode="Externa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hyperlink" Target="https://medlineplus.gov/ency/article/001124.htm" TargetMode="External"/><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3" Type="http://schemas.openxmlformats.org/officeDocument/2006/relationships/hyperlink" Target="https://medlineplus.gov/ency/article/000205.htm" TargetMode="External"/><Relationship Id="rId2" Type="http://schemas.openxmlformats.org/officeDocument/2006/relationships/hyperlink" Target="https://medlineplus.gov/ency/article/001303.htm" TargetMode="External"/><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3" Type="http://schemas.openxmlformats.org/officeDocument/2006/relationships/hyperlink" Target="https://www.nhlbi.nih.gov/health-topics/disseminated-intravascular-coagulation#risk-factors" TargetMode="External"/><Relationship Id="rId2" Type="http://schemas.openxmlformats.org/officeDocument/2006/relationships/hyperlink" Target="https://www.nhlbi.nih.gov/health-topics/disseminated-intravascular-coagulation#causes" TargetMode="External"/><Relationship Id="rId1" Type="http://schemas.openxmlformats.org/officeDocument/2006/relationships/slideLayout" Target="../slideLayouts/slideLayout2.xml"/><Relationship Id="rId4" Type="http://schemas.openxmlformats.org/officeDocument/2006/relationships/hyperlink" Target="https://www.nhlbi.nih.gov/health-topics/disseminated-intravascular-coagulation#signs-symptoms-and-complications" TargetMode="External"/></Relationships>
</file>

<file path=ppt/slides/_rels/slide243.xml.rels><?xml version="1.0" encoding="UTF-8" standalone="yes"?>
<Relationships xmlns="http://schemas.openxmlformats.org/package/2006/relationships"><Relationship Id="rId2" Type="http://schemas.openxmlformats.org/officeDocument/2006/relationships/hyperlink" Target="https://www.nhlbi.nih.gov/health-topics/blood-tests" TargetMode="External"/><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hyperlink" Target="https://www.nhlbi.nih.gov/health-topics/disseminated-intravascular-coagulation" TargetMode="External"/><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hyperlink" Target="https://www.nhlbi.nih.gov/health-topics/oxygen-therapy" TargetMode="External"/><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6629400"/>
          </a:xfrm>
        </p:spPr>
        <p:txBody>
          <a:bodyPr/>
          <a:lstStyle/>
          <a:p>
            <a:endParaRPr lang="en-US" dirty="0"/>
          </a:p>
        </p:txBody>
      </p:sp>
      <p:sp>
        <p:nvSpPr>
          <p:cNvPr id="3" name="Subtitle 2"/>
          <p:cNvSpPr>
            <a:spLocks noGrp="1"/>
          </p:cNvSpPr>
          <p:nvPr>
            <p:ph type="subTitle" idx="1"/>
          </p:nvPr>
        </p:nvSpPr>
        <p:spPr>
          <a:xfrm>
            <a:off x="685800" y="4267199"/>
            <a:ext cx="7543800" cy="544111"/>
          </a:xfrm>
        </p:spPr>
        <p:txBody>
          <a:bodyPr/>
          <a:lstStyle/>
          <a:p>
            <a:r>
              <a:rPr lang="en-US" dirty="0" smtClean="0"/>
              <a:t>MRS RACHAEL </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47885"/>
            <a:ext cx="9144000" cy="3871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48251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word hematology comes from the Greek </a:t>
            </a:r>
            <a:r>
              <a:rPr lang="en-US" dirty="0" err="1" smtClean="0"/>
              <a:t>haima</a:t>
            </a:r>
            <a:r>
              <a:rPr lang="en-US" dirty="0" smtClean="0"/>
              <a:t>(means </a:t>
            </a:r>
            <a:r>
              <a:rPr lang="en-US" dirty="0"/>
              <a:t>blood) and logos (means discourse); </a:t>
            </a:r>
            <a:r>
              <a:rPr lang="en-US" dirty="0" smtClean="0"/>
              <a:t>therefore, the </a:t>
            </a:r>
            <a:r>
              <a:rPr lang="en-US" dirty="0"/>
              <a:t>study of hematology is the science, or study, </a:t>
            </a:r>
            <a:r>
              <a:rPr lang="en-US" dirty="0" smtClean="0"/>
              <a:t>of blood</a:t>
            </a:r>
            <a:r>
              <a:rPr lang="en-US" dirty="0"/>
              <a:t>. Hematology encompasses the study of </a:t>
            </a:r>
            <a:r>
              <a:rPr lang="en-US" dirty="0" smtClean="0"/>
              <a:t>blood cells </a:t>
            </a:r>
            <a:r>
              <a:rPr lang="en-US" dirty="0"/>
              <a:t>and coagulation</a:t>
            </a:r>
            <a:r>
              <a:rPr lang="en-US" dirty="0" smtClean="0"/>
              <a:t>.</a:t>
            </a:r>
          </a:p>
          <a:p>
            <a:endParaRPr lang="en-US" dirty="0"/>
          </a:p>
        </p:txBody>
      </p:sp>
      <p:sp>
        <p:nvSpPr>
          <p:cNvPr id="2" name="Title 1"/>
          <p:cNvSpPr>
            <a:spLocks noGrp="1"/>
          </p:cNvSpPr>
          <p:nvPr>
            <p:ph type="title"/>
          </p:nvPr>
        </p:nvSpPr>
        <p:spPr/>
        <p:txBody>
          <a:bodyPr>
            <a:normAutofit fontScale="90000"/>
          </a:bodyPr>
          <a:lstStyle/>
          <a:p>
            <a:r>
              <a:rPr lang="en-US" dirty="0" smtClean="0"/>
              <a:t>INTRODUCTION</a:t>
            </a:r>
            <a:br>
              <a:rPr lang="en-US" dirty="0" smtClean="0"/>
            </a:br>
            <a:endParaRPr lang="en-US" dirty="0"/>
          </a:p>
        </p:txBody>
      </p:sp>
    </p:spTree>
    <p:extLst>
      <p:ext uri="{BB962C8B-B14F-4D97-AF65-F5344CB8AC3E}">
        <p14:creationId xmlns:p14="http://schemas.microsoft.com/office/powerpoint/2010/main" val="37654348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5562600"/>
          </a:xfrm>
        </p:spPr>
        <p:txBody>
          <a:bodyPr>
            <a:normAutofit/>
          </a:bodyPr>
          <a:lstStyle/>
          <a:p>
            <a:r>
              <a:rPr lang="en-US" dirty="0"/>
              <a:t>Included in its concerns </a:t>
            </a:r>
            <a:r>
              <a:rPr lang="en-US" dirty="0" smtClean="0"/>
              <a:t>are analyses </a:t>
            </a:r>
            <a:r>
              <a:rPr lang="en-US" dirty="0"/>
              <a:t>of </a:t>
            </a:r>
            <a:r>
              <a:rPr lang="en-US" dirty="0" smtClean="0"/>
              <a:t>the</a:t>
            </a:r>
          </a:p>
          <a:p>
            <a:pPr marL="0" indent="0">
              <a:buNone/>
            </a:pPr>
            <a:r>
              <a:rPr lang="en-US" dirty="0" smtClean="0"/>
              <a:t> concentration</a:t>
            </a:r>
            <a:r>
              <a:rPr lang="en-US" dirty="0"/>
              <a:t>, structure, and function </a:t>
            </a:r>
            <a:r>
              <a:rPr lang="en-US" dirty="0" smtClean="0"/>
              <a:t>of cells in </a:t>
            </a:r>
            <a:r>
              <a:rPr lang="en-US" dirty="0"/>
              <a:t>blood; their precursors in the bone </a:t>
            </a:r>
            <a:r>
              <a:rPr lang="en-US" dirty="0" smtClean="0"/>
              <a:t>marrow; chemical </a:t>
            </a:r>
            <a:r>
              <a:rPr lang="en-US" dirty="0"/>
              <a:t>constituents of plasma or serum </a:t>
            </a:r>
            <a:r>
              <a:rPr lang="en-US" dirty="0" smtClean="0"/>
              <a:t>intimately linked </a:t>
            </a:r>
            <a:r>
              <a:rPr lang="en-US" dirty="0"/>
              <a:t>with blood cell structure and function; and </a:t>
            </a:r>
            <a:r>
              <a:rPr lang="en-US" dirty="0" smtClean="0"/>
              <a:t>function of </a:t>
            </a:r>
            <a:r>
              <a:rPr lang="en-US" dirty="0"/>
              <a:t>platelets and proteins involved in blood coagulation.</a:t>
            </a:r>
          </a:p>
        </p:txBody>
      </p:sp>
      <p:sp>
        <p:nvSpPr>
          <p:cNvPr id="2" name="Title 1"/>
          <p:cNvSpPr>
            <a:spLocks noGrp="1"/>
          </p:cNvSpPr>
          <p:nvPr>
            <p:ph type="title"/>
          </p:nvPr>
        </p:nvSpPr>
        <p:spPr>
          <a:xfrm>
            <a:off x="457200" y="274638"/>
            <a:ext cx="8229600" cy="868362"/>
          </a:xfrm>
        </p:spPr>
        <p:txBody>
          <a:bodyPr/>
          <a:lstStyle/>
          <a:p>
            <a:r>
              <a:rPr lang="en-US" dirty="0" smtClean="0"/>
              <a:t>INTRODUCTION CONT’D</a:t>
            </a:r>
            <a:endParaRPr lang="en-US" dirty="0"/>
          </a:p>
        </p:txBody>
      </p:sp>
    </p:spTree>
    <p:extLst>
      <p:ext uri="{BB962C8B-B14F-4D97-AF65-F5344CB8AC3E}">
        <p14:creationId xmlns:p14="http://schemas.microsoft.com/office/powerpoint/2010/main" val="25495059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609600"/>
            <a:ext cx="8839200" cy="6324600"/>
          </a:xfrm>
        </p:spPr>
        <p:txBody>
          <a:bodyPr>
            <a:normAutofit/>
          </a:bodyPr>
          <a:lstStyle/>
          <a:p>
            <a:pPr marL="0" indent="0">
              <a:buNone/>
            </a:pPr>
            <a:r>
              <a:rPr lang="en-US" b="1" dirty="0" smtClean="0"/>
              <a:t>Composition blood</a:t>
            </a:r>
          </a:p>
          <a:p>
            <a:r>
              <a:rPr lang="en-US" dirty="0"/>
              <a:t>Blood is a circulating tissue composed of fluid </a:t>
            </a:r>
            <a:r>
              <a:rPr lang="en-US" dirty="0" smtClean="0"/>
              <a:t>plasma and </a:t>
            </a:r>
            <a:r>
              <a:rPr lang="en-US" dirty="0"/>
              <a:t>cells. </a:t>
            </a:r>
            <a:endParaRPr lang="en-US" dirty="0" smtClean="0"/>
          </a:p>
          <a:p>
            <a:r>
              <a:rPr lang="en-US" dirty="0" smtClean="0"/>
              <a:t>It </a:t>
            </a:r>
            <a:r>
              <a:rPr lang="en-US" dirty="0"/>
              <a:t>is composed of different kinds of </a:t>
            </a:r>
            <a:r>
              <a:rPr lang="en-US" dirty="0" smtClean="0"/>
              <a:t>cells (occasionally </a:t>
            </a:r>
            <a:r>
              <a:rPr lang="en-US" dirty="0"/>
              <a:t>called corpuscles); these formed </a:t>
            </a:r>
            <a:r>
              <a:rPr lang="en-US" dirty="0" smtClean="0"/>
              <a:t>elements of </a:t>
            </a:r>
            <a:r>
              <a:rPr lang="en-US" dirty="0"/>
              <a:t>the blood constitute about 45% of whole blood</a:t>
            </a:r>
            <a:r>
              <a:rPr lang="en-US" dirty="0" smtClean="0"/>
              <a:t>.</a:t>
            </a:r>
          </a:p>
          <a:p>
            <a:r>
              <a:rPr lang="en-US" dirty="0" smtClean="0"/>
              <a:t> The other </a:t>
            </a:r>
            <a:r>
              <a:rPr lang="en-US" dirty="0"/>
              <a:t>55% is blood plasma, a fluid that is the </a:t>
            </a:r>
            <a:r>
              <a:rPr lang="en-US" dirty="0" smtClean="0"/>
              <a:t>blood's liquid </a:t>
            </a:r>
            <a:r>
              <a:rPr lang="en-US" dirty="0"/>
              <a:t>medium, appearing yellow in color. The normal </a:t>
            </a:r>
            <a:r>
              <a:rPr lang="en-US" dirty="0" err="1" smtClean="0"/>
              <a:t>Ph</a:t>
            </a:r>
            <a:r>
              <a:rPr lang="en-US" dirty="0" smtClean="0"/>
              <a:t> of </a:t>
            </a:r>
            <a:r>
              <a:rPr lang="en-US" dirty="0"/>
              <a:t>human arterial blood is approximately 7.40 (</a:t>
            </a:r>
            <a:r>
              <a:rPr lang="en-US" dirty="0" smtClean="0"/>
              <a:t>normal range </a:t>
            </a:r>
            <a:r>
              <a:rPr lang="en-US" dirty="0"/>
              <a:t>is 7.35-7.45), a weak alkaline solution. </a:t>
            </a:r>
          </a:p>
        </p:txBody>
      </p:sp>
      <p:sp>
        <p:nvSpPr>
          <p:cNvPr id="2" name="Title 1"/>
          <p:cNvSpPr>
            <a:spLocks noGrp="1"/>
          </p:cNvSpPr>
          <p:nvPr>
            <p:ph type="title"/>
          </p:nvPr>
        </p:nvSpPr>
        <p:spPr>
          <a:xfrm>
            <a:off x="228600" y="-17585"/>
            <a:ext cx="8458200" cy="838200"/>
          </a:xfrm>
        </p:spPr>
        <p:txBody>
          <a:bodyPr/>
          <a:lstStyle/>
          <a:p>
            <a:r>
              <a:rPr lang="en-US" b="1" dirty="0" smtClean="0"/>
              <a:t>THE BLOOD</a:t>
            </a:r>
            <a:endParaRPr lang="en-US" dirty="0"/>
          </a:p>
        </p:txBody>
      </p:sp>
    </p:spTree>
    <p:extLst>
      <p:ext uri="{BB962C8B-B14F-4D97-AF65-F5344CB8AC3E}">
        <p14:creationId xmlns:p14="http://schemas.microsoft.com/office/powerpoint/2010/main" val="40225589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t>Blood is about 7% of the human body weight, so the average adult has a blood volume of about 5 liters, of which 2.7-3liters is plasma.</a:t>
            </a:r>
          </a:p>
          <a:p>
            <a:r>
              <a:rPr lang="en-US" dirty="0" smtClean="0"/>
              <a:t> The combined surface area of all the red cells in the human body would be roughly 2000times as great as the body's exterior surface.</a:t>
            </a:r>
          </a:p>
          <a:p>
            <a:endParaRPr lang="en-US" dirty="0"/>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582316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906963"/>
          </a:xfrm>
        </p:spPr>
        <p:txBody>
          <a:bodyPr>
            <a:normAutofit/>
          </a:bodyPr>
          <a:lstStyle/>
          <a:p>
            <a:r>
              <a:rPr lang="en-US" dirty="0" smtClean="0"/>
              <a:t>When </a:t>
            </a:r>
            <a:r>
              <a:rPr lang="en-US" dirty="0"/>
              <a:t>the formed elements are removed from blood, </a:t>
            </a:r>
            <a:r>
              <a:rPr lang="en-US" dirty="0" smtClean="0"/>
              <a:t>a straw-colored </a:t>
            </a:r>
            <a:r>
              <a:rPr lang="en-US" dirty="0"/>
              <a:t>liquid called plasma is left</a:t>
            </a:r>
            <a:r>
              <a:rPr lang="en-US" dirty="0" smtClean="0"/>
              <a:t>.</a:t>
            </a:r>
          </a:p>
          <a:p>
            <a:r>
              <a:rPr lang="en-US" dirty="0" smtClean="0"/>
              <a:t> </a:t>
            </a:r>
            <a:r>
              <a:rPr lang="en-US" dirty="0"/>
              <a:t>Plasma </a:t>
            </a:r>
            <a:r>
              <a:rPr lang="en-US" dirty="0" smtClean="0"/>
              <a:t>is about </a:t>
            </a:r>
            <a:r>
              <a:rPr lang="en-US" dirty="0"/>
              <a:t>91.5% water and 8.5% solutes, most of which </a:t>
            </a:r>
            <a:r>
              <a:rPr lang="en-US" dirty="0" smtClean="0"/>
              <a:t>by weight </a:t>
            </a:r>
            <a:r>
              <a:rPr lang="en-US" dirty="0"/>
              <a:t>(7%) are </a:t>
            </a:r>
            <a:r>
              <a:rPr lang="en-US" dirty="0" smtClean="0"/>
              <a:t>proteins.</a:t>
            </a:r>
          </a:p>
          <a:p>
            <a:r>
              <a:rPr lang="en-US" dirty="0" smtClean="0"/>
              <a:t>Some </a:t>
            </a:r>
            <a:r>
              <a:rPr lang="en-US" dirty="0"/>
              <a:t>of the proteins </a:t>
            </a:r>
            <a:r>
              <a:rPr lang="en-US" dirty="0" smtClean="0"/>
              <a:t>in plasma </a:t>
            </a:r>
            <a:r>
              <a:rPr lang="en-US" dirty="0"/>
              <a:t>are also found elsewhere in the body, but </a:t>
            </a:r>
            <a:r>
              <a:rPr lang="en-US" dirty="0" smtClean="0"/>
              <a:t>those confined </a:t>
            </a:r>
            <a:r>
              <a:rPr lang="en-US" dirty="0"/>
              <a:t>to blood are called plasma proteins. </a:t>
            </a:r>
          </a:p>
        </p:txBody>
      </p:sp>
      <p:sp>
        <p:nvSpPr>
          <p:cNvPr id="2" name="Title 1"/>
          <p:cNvSpPr>
            <a:spLocks noGrp="1"/>
          </p:cNvSpPr>
          <p:nvPr>
            <p:ph type="title"/>
          </p:nvPr>
        </p:nvSpPr>
        <p:spPr>
          <a:xfrm>
            <a:off x="457200" y="274638"/>
            <a:ext cx="8229600" cy="1020762"/>
          </a:xfrm>
        </p:spPr>
        <p:txBody>
          <a:bodyPr>
            <a:normAutofit fontScale="90000"/>
          </a:bodyPr>
          <a:lstStyle/>
          <a:p>
            <a:r>
              <a:rPr lang="en-US" b="1" dirty="0" smtClean="0"/>
              <a:t>Blood plasma</a:t>
            </a:r>
            <a:br>
              <a:rPr lang="en-US" b="1" dirty="0" smtClean="0"/>
            </a:br>
            <a:endParaRPr lang="en-US" dirty="0"/>
          </a:p>
        </p:txBody>
      </p:sp>
    </p:spTree>
    <p:extLst>
      <p:ext uri="{BB962C8B-B14F-4D97-AF65-F5344CB8AC3E}">
        <p14:creationId xmlns:p14="http://schemas.microsoft.com/office/powerpoint/2010/main" val="1340476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457200"/>
            <a:ext cx="8991600" cy="5943600"/>
          </a:xfrm>
        </p:spPr>
        <p:txBody>
          <a:bodyPr>
            <a:normAutofit/>
          </a:bodyPr>
          <a:lstStyle/>
          <a:p>
            <a:r>
              <a:rPr lang="en-US" dirty="0" smtClean="0"/>
              <a:t>These proteins play a role in maintaining proper blood osmotic pressure, which is important in total body fluid balance.</a:t>
            </a:r>
          </a:p>
          <a:p>
            <a:r>
              <a:rPr lang="en-US" dirty="0" smtClean="0"/>
              <a:t>Most plasma proteins are synthesized by the liver, including the albumins (54% of plasma proteins), globulins (38%), and fibrinogen (7%).</a:t>
            </a:r>
          </a:p>
          <a:p>
            <a:r>
              <a:rPr lang="en-US" dirty="0" smtClean="0"/>
              <a:t>Other solutes in plasma include waste products, such as urea, uric acid, </a:t>
            </a:r>
            <a:r>
              <a:rPr lang="en-US" dirty="0" err="1" smtClean="0"/>
              <a:t>creatinine</a:t>
            </a:r>
            <a:r>
              <a:rPr lang="en-US" dirty="0" smtClean="0"/>
              <a:t>, ammonia, and bilirubin; nutrients; vitamins; regulatory substances such as enzymes and hormones; gasses; and electrolytes.</a:t>
            </a:r>
          </a:p>
          <a:p>
            <a:endParaRPr lang="en-US" dirty="0"/>
          </a:p>
        </p:txBody>
      </p:sp>
    </p:spTree>
    <p:extLst>
      <p:ext uri="{BB962C8B-B14F-4D97-AF65-F5344CB8AC3E}">
        <p14:creationId xmlns:p14="http://schemas.microsoft.com/office/powerpoint/2010/main" val="727128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a:bodyPr>
          <a:lstStyle/>
          <a:p>
            <a:r>
              <a:rPr lang="en-US" dirty="0" smtClean="0"/>
              <a:t>The </a:t>
            </a:r>
            <a:r>
              <a:rPr lang="en-US" dirty="0"/>
              <a:t>formed elements of the blood are broadly </a:t>
            </a:r>
            <a:r>
              <a:rPr lang="en-US" dirty="0" smtClean="0"/>
              <a:t>classified as: </a:t>
            </a:r>
          </a:p>
          <a:p>
            <a:pPr marL="0" indent="0">
              <a:buNone/>
            </a:pPr>
            <a:endParaRPr lang="en-US" dirty="0" smtClean="0"/>
          </a:p>
          <a:p>
            <a:r>
              <a:rPr lang="en-US" dirty="0" smtClean="0"/>
              <a:t>red </a:t>
            </a:r>
            <a:r>
              <a:rPr lang="en-US" dirty="0"/>
              <a:t>blood cells </a:t>
            </a:r>
            <a:r>
              <a:rPr lang="en-US" dirty="0">
                <a:solidFill>
                  <a:srgbClr val="FF0000"/>
                </a:solidFill>
              </a:rPr>
              <a:t>(erythrocytes</a:t>
            </a:r>
            <a:r>
              <a:rPr lang="en-US" dirty="0" smtClean="0">
                <a:solidFill>
                  <a:srgbClr val="FF0000"/>
                </a:solidFill>
              </a:rPr>
              <a:t>),</a:t>
            </a:r>
          </a:p>
          <a:p>
            <a:r>
              <a:rPr lang="en-US" dirty="0" smtClean="0"/>
              <a:t> </a:t>
            </a:r>
            <a:r>
              <a:rPr lang="en-US" dirty="0"/>
              <a:t>white blood </a:t>
            </a:r>
            <a:r>
              <a:rPr lang="en-US" dirty="0" smtClean="0"/>
              <a:t>cells </a:t>
            </a:r>
            <a:r>
              <a:rPr lang="en-US" dirty="0" smtClean="0">
                <a:solidFill>
                  <a:srgbClr val="FF0000"/>
                </a:solidFill>
              </a:rPr>
              <a:t>(leucocytes</a:t>
            </a:r>
            <a:r>
              <a:rPr lang="en-US" dirty="0">
                <a:solidFill>
                  <a:srgbClr val="FF0000"/>
                </a:solidFill>
              </a:rPr>
              <a:t>)</a:t>
            </a:r>
            <a:r>
              <a:rPr lang="en-US" dirty="0"/>
              <a:t> </a:t>
            </a:r>
            <a:endParaRPr lang="en-US" dirty="0" smtClean="0"/>
          </a:p>
          <a:p>
            <a:r>
              <a:rPr lang="en-US" dirty="0" smtClean="0"/>
              <a:t> </a:t>
            </a:r>
            <a:r>
              <a:rPr lang="en-US" dirty="0"/>
              <a:t>platelets </a:t>
            </a:r>
            <a:r>
              <a:rPr lang="en-US" dirty="0">
                <a:solidFill>
                  <a:srgbClr val="FF0000"/>
                </a:solidFill>
              </a:rPr>
              <a:t>(thrombocytes) </a:t>
            </a:r>
            <a:r>
              <a:rPr lang="en-US" dirty="0"/>
              <a:t>and </a:t>
            </a:r>
            <a:r>
              <a:rPr lang="en-US" dirty="0" smtClean="0"/>
              <a:t>their numbers </a:t>
            </a:r>
            <a:r>
              <a:rPr lang="en-US" dirty="0"/>
              <a:t>remain remarkably constant for each </a:t>
            </a:r>
            <a:r>
              <a:rPr lang="en-US" dirty="0" smtClean="0"/>
              <a:t>individual in </a:t>
            </a:r>
            <a:r>
              <a:rPr lang="en-US" dirty="0"/>
              <a:t>health.</a:t>
            </a:r>
          </a:p>
        </p:txBody>
      </p:sp>
      <p:sp>
        <p:nvSpPr>
          <p:cNvPr id="2" name="Title 1"/>
          <p:cNvSpPr>
            <a:spLocks noGrp="1"/>
          </p:cNvSpPr>
          <p:nvPr>
            <p:ph type="title"/>
          </p:nvPr>
        </p:nvSpPr>
        <p:spPr>
          <a:xfrm>
            <a:off x="457200" y="457200"/>
            <a:ext cx="8229600" cy="304800"/>
          </a:xfrm>
        </p:spPr>
        <p:txBody>
          <a:bodyPr>
            <a:normAutofit fontScale="90000"/>
          </a:bodyPr>
          <a:lstStyle/>
          <a:p>
            <a:r>
              <a:rPr lang="en-US" b="1" dirty="0" smtClean="0"/>
              <a:t>Formed elements</a:t>
            </a:r>
            <a:br>
              <a:rPr lang="en-US" b="1" dirty="0" smtClean="0"/>
            </a:br>
            <a:endParaRPr lang="en-US" dirty="0"/>
          </a:p>
        </p:txBody>
      </p:sp>
    </p:spTree>
    <p:extLst>
      <p:ext uri="{BB962C8B-B14F-4D97-AF65-F5344CB8AC3E}">
        <p14:creationId xmlns:p14="http://schemas.microsoft.com/office/powerpoint/2010/main" val="4098468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563562"/>
          </a:xfrm>
        </p:spPr>
        <p:txBody>
          <a:bodyPr>
            <a:normAutofit fontScale="90000"/>
          </a:bodyPr>
          <a:lstStyle/>
          <a:p>
            <a:r>
              <a:rPr lang="en-US" dirty="0" smtClean="0"/>
              <a:t>RED BLOOD CELL</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990600"/>
            <a:ext cx="78486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7215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371600"/>
            <a:ext cx="8839200" cy="5029200"/>
          </a:xfrm>
        </p:spPr>
        <p:txBody>
          <a:bodyPr>
            <a:normAutofit/>
          </a:bodyPr>
          <a:lstStyle/>
          <a:p>
            <a:r>
              <a:rPr lang="en-US" dirty="0"/>
              <a:t>They are the most numerous cells in the blood. </a:t>
            </a:r>
            <a:r>
              <a:rPr lang="en-US" dirty="0" smtClean="0"/>
              <a:t>In adults</a:t>
            </a:r>
            <a:r>
              <a:rPr lang="en-US" dirty="0"/>
              <a:t>, they are formed in the </a:t>
            </a:r>
            <a:r>
              <a:rPr lang="en-US" dirty="0" smtClean="0"/>
              <a:t>marrow </a:t>
            </a:r>
            <a:r>
              <a:rPr lang="en-US" dirty="0"/>
              <a:t>of the </a:t>
            </a:r>
            <a:r>
              <a:rPr lang="en-US" dirty="0" smtClean="0"/>
              <a:t>bones that </a:t>
            </a:r>
            <a:r>
              <a:rPr lang="en-US" dirty="0"/>
              <a:t>form the axial skeleton. </a:t>
            </a:r>
            <a:endParaRPr lang="en-US" dirty="0" smtClean="0"/>
          </a:p>
          <a:p>
            <a:r>
              <a:rPr lang="en-US" dirty="0" smtClean="0"/>
              <a:t>Mature </a:t>
            </a:r>
            <a:r>
              <a:rPr lang="en-US" dirty="0"/>
              <a:t>red cells are </a:t>
            </a:r>
            <a:r>
              <a:rPr lang="en-US" dirty="0" smtClean="0"/>
              <a:t>non - nucleated and </a:t>
            </a:r>
            <a:r>
              <a:rPr lang="en-US" dirty="0"/>
              <a:t>are shaped like flattened, </a:t>
            </a:r>
            <a:r>
              <a:rPr lang="en-US" dirty="0" smtClean="0"/>
              <a:t>bilaterally indented </a:t>
            </a:r>
            <a:r>
              <a:rPr lang="en-US" dirty="0"/>
              <a:t>spheres, a shape often referred to </a:t>
            </a:r>
            <a:r>
              <a:rPr lang="en-US" dirty="0" smtClean="0"/>
              <a:t>as ”biconcave </a:t>
            </a:r>
            <a:r>
              <a:rPr lang="en-US" dirty="0"/>
              <a:t>disc” with a diameter 7.0-8.0μm </a:t>
            </a:r>
            <a:r>
              <a:rPr lang="en-US" dirty="0" smtClean="0"/>
              <a:t>and thickness </a:t>
            </a:r>
            <a:r>
              <a:rPr lang="en-US" dirty="0"/>
              <a:t>of 1.7-2.4μm. </a:t>
            </a:r>
          </a:p>
        </p:txBody>
      </p:sp>
      <p:sp>
        <p:nvSpPr>
          <p:cNvPr id="2" name="Title 1"/>
          <p:cNvSpPr>
            <a:spLocks noGrp="1"/>
          </p:cNvSpPr>
          <p:nvPr>
            <p:ph type="title"/>
          </p:nvPr>
        </p:nvSpPr>
        <p:spPr/>
        <p:txBody>
          <a:bodyPr/>
          <a:lstStyle/>
          <a:p>
            <a:r>
              <a:rPr lang="en-US" b="1" dirty="0" smtClean="0"/>
              <a:t>Red </a:t>
            </a:r>
            <a:r>
              <a:rPr lang="en-US" b="1" dirty="0"/>
              <a:t>Blood </a:t>
            </a:r>
            <a:r>
              <a:rPr lang="en-US" b="1" dirty="0" smtClean="0"/>
              <a:t>Cells </a:t>
            </a:r>
            <a:endParaRPr lang="en-US" dirty="0"/>
          </a:p>
        </p:txBody>
      </p:sp>
    </p:spTree>
    <p:extLst>
      <p:ext uri="{BB962C8B-B14F-4D97-AF65-F5344CB8AC3E}">
        <p14:creationId xmlns:p14="http://schemas.microsoft.com/office/powerpoint/2010/main" val="1430205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458200" cy="5516563"/>
          </a:xfrm>
        </p:spPr>
        <p:txBody>
          <a:bodyPr>
            <a:normAutofit/>
          </a:bodyPr>
          <a:lstStyle/>
          <a:p>
            <a:r>
              <a:rPr lang="en-US" dirty="0"/>
              <a:t>They are primarily involved in tissue respiration. </a:t>
            </a:r>
            <a:endParaRPr lang="en-US" dirty="0" smtClean="0"/>
          </a:p>
          <a:p>
            <a:r>
              <a:rPr lang="en-US" dirty="0" smtClean="0"/>
              <a:t>The red cells </a:t>
            </a:r>
            <a:r>
              <a:rPr lang="en-US" dirty="0"/>
              <a:t>contain the pigment hemoglobin which has </a:t>
            </a:r>
            <a:r>
              <a:rPr lang="en-US" dirty="0" smtClean="0"/>
              <a:t>the ability </a:t>
            </a:r>
            <a:r>
              <a:rPr lang="en-US" dirty="0"/>
              <a:t>to combine reversibly with 02. </a:t>
            </a:r>
            <a:endParaRPr lang="en-US" dirty="0" smtClean="0"/>
          </a:p>
          <a:p>
            <a:r>
              <a:rPr lang="en-US" dirty="0" smtClean="0"/>
              <a:t>In </a:t>
            </a:r>
            <a:r>
              <a:rPr lang="en-US" dirty="0"/>
              <a:t>the lungs, </a:t>
            </a:r>
            <a:r>
              <a:rPr lang="en-US" dirty="0" smtClean="0"/>
              <a:t>the hemoglobin </a:t>
            </a:r>
            <a:r>
              <a:rPr lang="en-US" dirty="0"/>
              <a:t>in the red cell combines with 02 </a:t>
            </a:r>
            <a:r>
              <a:rPr lang="en-US" dirty="0" smtClean="0"/>
              <a:t>and releases </a:t>
            </a:r>
            <a:r>
              <a:rPr lang="en-US" dirty="0"/>
              <a:t>it to the tissues of the body (where </a:t>
            </a:r>
            <a:r>
              <a:rPr lang="en-US" dirty="0" smtClean="0"/>
              <a:t>oxygen tension </a:t>
            </a:r>
            <a:r>
              <a:rPr lang="en-US" dirty="0"/>
              <a:t>is low) during its circulation</a:t>
            </a:r>
          </a:p>
        </p:txBody>
      </p:sp>
    </p:spTree>
    <p:extLst>
      <p:ext uri="{BB962C8B-B14F-4D97-AF65-F5344CB8AC3E}">
        <p14:creationId xmlns:p14="http://schemas.microsoft.com/office/powerpoint/2010/main" val="2977325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754563"/>
          </a:xfrm>
        </p:spPr>
        <p:txBody>
          <a:bodyPr>
            <a:normAutofit/>
          </a:bodyPr>
          <a:lstStyle/>
          <a:p>
            <a:r>
              <a:rPr lang="en-US" dirty="0" err="1"/>
              <a:t>Carbondioxide</a:t>
            </a:r>
            <a:r>
              <a:rPr lang="en-US" dirty="0"/>
              <a:t>, </a:t>
            </a:r>
            <a:r>
              <a:rPr lang="en-US" dirty="0" err="1" smtClean="0"/>
              <a:t>awaste</a:t>
            </a:r>
            <a:r>
              <a:rPr lang="en-US" dirty="0" smtClean="0"/>
              <a:t> </a:t>
            </a:r>
            <a:r>
              <a:rPr lang="en-US" dirty="0"/>
              <a:t>product of metabolism, is then absorbed from </a:t>
            </a:r>
            <a:r>
              <a:rPr lang="en-US" dirty="0" smtClean="0"/>
              <a:t>the tissues </a:t>
            </a:r>
            <a:r>
              <a:rPr lang="en-US" dirty="0"/>
              <a:t>by the red cells and is transported to the lungs </a:t>
            </a:r>
            <a:r>
              <a:rPr lang="en-US" dirty="0" smtClean="0"/>
              <a:t>to be </a:t>
            </a:r>
            <a:r>
              <a:rPr lang="en-US" dirty="0"/>
              <a:t>exhaled</a:t>
            </a:r>
            <a:r>
              <a:rPr lang="en-US" dirty="0" smtClean="0"/>
              <a:t>.</a:t>
            </a:r>
          </a:p>
          <a:p>
            <a:r>
              <a:rPr lang="en-US" dirty="0" smtClean="0"/>
              <a:t> </a:t>
            </a:r>
            <a:r>
              <a:rPr lang="en-US" dirty="0"/>
              <a:t>The red cell normally survives in the </a:t>
            </a:r>
            <a:r>
              <a:rPr lang="en-US" dirty="0" smtClean="0"/>
              <a:t>blood stream </a:t>
            </a:r>
            <a:r>
              <a:rPr lang="en-US" dirty="0"/>
              <a:t>for approximately 120 days after which time it </a:t>
            </a:r>
            <a:r>
              <a:rPr lang="en-US" dirty="0" smtClean="0"/>
              <a:t>is </a:t>
            </a:r>
            <a:r>
              <a:rPr lang="pt-BR" dirty="0" smtClean="0"/>
              <a:t>removed by the phagocytic cell </a:t>
            </a:r>
            <a:r>
              <a:rPr lang="pt-BR" dirty="0"/>
              <a:t>s </a:t>
            </a:r>
            <a:r>
              <a:rPr lang="pt-BR" dirty="0" smtClean="0"/>
              <a:t>of the </a:t>
            </a:r>
            <a:r>
              <a:rPr lang="en-US" dirty="0" err="1" smtClean="0"/>
              <a:t>reticuloendothelial</a:t>
            </a:r>
            <a:r>
              <a:rPr lang="en-US" dirty="0" smtClean="0"/>
              <a:t> </a:t>
            </a:r>
            <a:r>
              <a:rPr lang="en-US" dirty="0"/>
              <a:t>system, broken down and some of </a:t>
            </a:r>
            <a:r>
              <a:rPr lang="en-US" dirty="0" smtClean="0"/>
              <a:t>its constituents are </a:t>
            </a:r>
            <a:r>
              <a:rPr lang="en-US" dirty="0"/>
              <a:t>utilized for the formation of new cells</a:t>
            </a:r>
          </a:p>
        </p:txBody>
      </p:sp>
      <p:sp>
        <p:nvSpPr>
          <p:cNvPr id="2" name="Title 1"/>
          <p:cNvSpPr>
            <a:spLocks noGrp="1"/>
          </p:cNvSpPr>
          <p:nvPr>
            <p:ph type="title"/>
          </p:nvPr>
        </p:nvSpPr>
        <p:spPr>
          <a:xfrm>
            <a:off x="457200" y="274638"/>
            <a:ext cx="8229600" cy="792162"/>
          </a:xfrm>
        </p:spPr>
        <p:txBody>
          <a:bodyPr/>
          <a:lstStyle/>
          <a:p>
            <a:endParaRPr lang="en-US" dirty="0"/>
          </a:p>
        </p:txBody>
      </p:sp>
    </p:spTree>
    <p:extLst>
      <p:ext uri="{BB962C8B-B14F-4D97-AF65-F5344CB8AC3E}">
        <p14:creationId xmlns:p14="http://schemas.microsoft.com/office/powerpoint/2010/main" val="2480535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19200"/>
            <a:ext cx="8686800" cy="4906963"/>
          </a:xfrm>
        </p:spPr>
        <p:txBody>
          <a:bodyPr>
            <a:normAutofit/>
          </a:bodyPr>
          <a:lstStyle/>
          <a:p>
            <a:r>
              <a:rPr lang="en-US" dirty="0"/>
              <a:t>They are a heterogeneous group of nucleated cells </a:t>
            </a:r>
            <a:r>
              <a:rPr lang="en-US" dirty="0" smtClean="0"/>
              <a:t>that are </a:t>
            </a:r>
            <a:r>
              <a:rPr lang="en-US" dirty="0"/>
              <a:t>responsible for the body’s defenses and </a:t>
            </a:r>
            <a:r>
              <a:rPr lang="en-US" dirty="0" smtClean="0"/>
              <a:t>are transported </a:t>
            </a:r>
            <a:r>
              <a:rPr lang="en-US" dirty="0"/>
              <a:t>by the blood to the various tissues </a:t>
            </a:r>
            <a:r>
              <a:rPr lang="en-US" dirty="0" smtClean="0"/>
              <a:t>where they </a:t>
            </a:r>
            <a:r>
              <a:rPr lang="en-US" dirty="0"/>
              <a:t>exert their physiologic role, e.g. phagocytosis</a:t>
            </a:r>
            <a:r>
              <a:rPr lang="en-US" dirty="0" smtClean="0"/>
              <a:t>.</a:t>
            </a:r>
            <a:endParaRPr lang="en-US" dirty="0"/>
          </a:p>
        </p:txBody>
      </p:sp>
      <p:sp>
        <p:nvSpPr>
          <p:cNvPr id="2" name="Title 1"/>
          <p:cNvSpPr>
            <a:spLocks noGrp="1"/>
          </p:cNvSpPr>
          <p:nvPr>
            <p:ph type="title"/>
          </p:nvPr>
        </p:nvSpPr>
        <p:spPr/>
        <p:txBody>
          <a:bodyPr/>
          <a:lstStyle/>
          <a:p>
            <a:r>
              <a:rPr lang="en-US" b="1" dirty="0"/>
              <a:t>White Blood Cells</a:t>
            </a:r>
            <a:endParaRPr lang="en-US" dirty="0"/>
          </a:p>
        </p:txBody>
      </p:sp>
    </p:spTree>
    <p:extLst>
      <p:ext uri="{BB962C8B-B14F-4D97-AF65-F5344CB8AC3E}">
        <p14:creationId xmlns:p14="http://schemas.microsoft.com/office/powerpoint/2010/main" val="1329857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WBCs are present in normal blood in smaller number than the red blood cells (5.0-10.0 × 103/</a:t>
            </a:r>
            <a:r>
              <a:rPr lang="en-US" dirty="0" err="1" smtClean="0"/>
              <a:t>μl</a:t>
            </a:r>
            <a:r>
              <a:rPr lang="en-US" dirty="0" smtClean="0"/>
              <a:t> in adults). Their production is in the bone marrow and lymphoid tissues (lymph nodes, lymph nodules and spleen).</a:t>
            </a:r>
            <a:endParaRPr lang="en-US" dirty="0"/>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759683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754563"/>
          </a:xfrm>
        </p:spPr>
        <p:txBody>
          <a:bodyPr>
            <a:normAutofit lnSpcReduction="10000"/>
          </a:bodyPr>
          <a:lstStyle/>
          <a:p>
            <a:pPr marL="0" indent="0">
              <a:buNone/>
            </a:pPr>
            <a:r>
              <a:rPr lang="en-US" dirty="0"/>
              <a:t>T</a:t>
            </a:r>
            <a:r>
              <a:rPr lang="en-US" dirty="0" smtClean="0"/>
              <a:t>here </a:t>
            </a:r>
            <a:r>
              <a:rPr lang="en-US" dirty="0"/>
              <a:t>are five distinct cell types each with </a:t>
            </a:r>
            <a:r>
              <a:rPr lang="en-US" dirty="0" smtClean="0"/>
              <a:t>characteristic </a:t>
            </a:r>
            <a:r>
              <a:rPr lang="en-US" dirty="0"/>
              <a:t>morphologic appearance and </a:t>
            </a:r>
            <a:r>
              <a:rPr lang="en-US" dirty="0" smtClean="0"/>
              <a:t>specific physiologic </a:t>
            </a:r>
            <a:r>
              <a:rPr lang="en-US" dirty="0"/>
              <a:t>role. </a:t>
            </a:r>
            <a:endParaRPr lang="en-US" dirty="0" smtClean="0"/>
          </a:p>
          <a:p>
            <a:pPr marL="0" indent="0">
              <a:buNone/>
            </a:pPr>
            <a:r>
              <a:rPr lang="en-US" dirty="0" smtClean="0"/>
              <a:t>These are:</a:t>
            </a:r>
          </a:p>
          <a:p>
            <a:pPr marL="0" indent="0">
              <a:buNone/>
            </a:pPr>
            <a:r>
              <a:rPr lang="en-US" dirty="0" err="1" smtClean="0"/>
              <a:t>Polymorphonuclear</a:t>
            </a:r>
            <a:r>
              <a:rPr lang="en-US" dirty="0" smtClean="0"/>
              <a:t> </a:t>
            </a:r>
            <a:r>
              <a:rPr lang="en-US" dirty="0"/>
              <a:t>leucocytes/granulocytes</a:t>
            </a:r>
          </a:p>
          <a:p>
            <a:pPr>
              <a:buFont typeface="Wingdings" pitchFamily="2" charset="2"/>
              <a:buChar char="Ø"/>
            </a:pPr>
            <a:r>
              <a:rPr lang="en-US" dirty="0" smtClean="0"/>
              <a:t>Neutrophils</a:t>
            </a:r>
            <a:endParaRPr lang="en-US" dirty="0"/>
          </a:p>
          <a:p>
            <a:pPr>
              <a:buFont typeface="Wingdings" pitchFamily="2" charset="2"/>
              <a:buChar char="Ø"/>
            </a:pPr>
            <a:r>
              <a:rPr lang="en-US" dirty="0" err="1" smtClean="0"/>
              <a:t>Eosinophils</a:t>
            </a:r>
            <a:endParaRPr lang="en-US" dirty="0"/>
          </a:p>
          <a:p>
            <a:pPr>
              <a:buFont typeface="Wingdings" pitchFamily="2" charset="2"/>
              <a:buChar char="Ø"/>
            </a:pPr>
            <a:r>
              <a:rPr lang="en-US" dirty="0" smtClean="0"/>
              <a:t>Basophiles</a:t>
            </a:r>
            <a:endParaRPr lang="en-US" dirty="0"/>
          </a:p>
          <a:p>
            <a:pPr marL="0" indent="0">
              <a:buNone/>
            </a:pPr>
            <a:r>
              <a:rPr lang="en-US" dirty="0" smtClean="0"/>
              <a:t>Mononuclear </a:t>
            </a:r>
            <a:r>
              <a:rPr lang="en-US" dirty="0"/>
              <a:t>leucocytes</a:t>
            </a:r>
          </a:p>
          <a:p>
            <a:pPr>
              <a:buFont typeface="Wingdings" pitchFamily="2" charset="2"/>
              <a:buChar char="Ø"/>
            </a:pPr>
            <a:r>
              <a:rPr lang="en-US" dirty="0" smtClean="0"/>
              <a:t>Lymphocytes</a:t>
            </a:r>
            <a:endParaRPr lang="en-US" dirty="0"/>
          </a:p>
          <a:p>
            <a:pPr>
              <a:buFont typeface="Wingdings" pitchFamily="2" charset="2"/>
              <a:buChar char="Ø"/>
            </a:pPr>
            <a:r>
              <a:rPr lang="en-US" dirty="0" smtClean="0"/>
              <a:t>Monocytes</a:t>
            </a:r>
            <a:endParaRPr lang="en-US" dirty="0"/>
          </a:p>
        </p:txBody>
      </p:sp>
      <p:sp>
        <p:nvSpPr>
          <p:cNvPr id="2" name="Title 1"/>
          <p:cNvSpPr>
            <a:spLocks noGrp="1"/>
          </p:cNvSpPr>
          <p:nvPr>
            <p:ph type="title"/>
          </p:nvPr>
        </p:nvSpPr>
        <p:spPr>
          <a:xfrm>
            <a:off x="457200" y="274638"/>
            <a:ext cx="8229600" cy="868362"/>
          </a:xfrm>
        </p:spPr>
        <p:txBody>
          <a:bodyPr/>
          <a:lstStyle/>
          <a:p>
            <a:endParaRPr lang="en-US" dirty="0"/>
          </a:p>
        </p:txBody>
      </p:sp>
    </p:spTree>
    <p:extLst>
      <p:ext uri="{BB962C8B-B14F-4D97-AF65-F5344CB8AC3E}">
        <p14:creationId xmlns:p14="http://schemas.microsoft.com/office/powerpoint/2010/main" val="1832987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err="1"/>
              <a:t>Polymorphonuclear</a:t>
            </a:r>
            <a:r>
              <a:rPr lang="en-US" dirty="0"/>
              <a:t> Leucocytes have a single </a:t>
            </a:r>
            <a:r>
              <a:rPr lang="en-US" dirty="0" smtClean="0"/>
              <a:t>nucleus with </a:t>
            </a:r>
            <a:r>
              <a:rPr lang="en-US" dirty="0"/>
              <a:t>a number of lobes</a:t>
            </a:r>
            <a:r>
              <a:rPr lang="en-US" dirty="0" smtClean="0"/>
              <a:t>.</a:t>
            </a:r>
          </a:p>
          <a:p>
            <a:pPr marL="109728" indent="0">
              <a:buNone/>
            </a:pPr>
            <a:endParaRPr lang="en-US" dirty="0" smtClean="0"/>
          </a:p>
          <a:p>
            <a:r>
              <a:rPr lang="en-US" dirty="0" smtClean="0"/>
              <a:t> </a:t>
            </a:r>
            <a:r>
              <a:rPr lang="en-US" dirty="0"/>
              <a:t>They Contain small granules </a:t>
            </a:r>
            <a:r>
              <a:rPr lang="en-US" dirty="0" smtClean="0"/>
              <a:t>in their </a:t>
            </a:r>
            <a:r>
              <a:rPr lang="en-US" dirty="0"/>
              <a:t>cytoplasm, and hence the name granulocytes</a:t>
            </a:r>
            <a:r>
              <a:rPr lang="en-US" dirty="0" smtClean="0"/>
              <a:t>.</a:t>
            </a:r>
          </a:p>
          <a:p>
            <a:pPr marL="109728" indent="0">
              <a:buNone/>
            </a:pPr>
            <a:endParaRPr lang="en-US" dirty="0"/>
          </a:p>
          <a:p>
            <a:r>
              <a:rPr lang="en-US" dirty="0"/>
              <a:t>There are three types according to their </a:t>
            </a:r>
            <a:r>
              <a:rPr lang="en-US" dirty="0" smtClean="0"/>
              <a:t>staining reactions</a:t>
            </a:r>
            <a:r>
              <a:rPr lang="en-US" dirty="0"/>
              <a:t>.</a:t>
            </a:r>
          </a:p>
        </p:txBody>
      </p:sp>
      <p:sp>
        <p:nvSpPr>
          <p:cNvPr id="2" name="Title 1"/>
          <p:cNvSpPr>
            <a:spLocks noGrp="1"/>
          </p:cNvSpPr>
          <p:nvPr>
            <p:ph type="title"/>
          </p:nvPr>
        </p:nvSpPr>
        <p:spPr/>
        <p:txBody>
          <a:bodyPr>
            <a:normAutofit fontScale="90000"/>
          </a:bodyPr>
          <a:lstStyle/>
          <a:p>
            <a:r>
              <a:rPr lang="en-US" b="1" dirty="0" smtClean="0"/>
              <a:t>(a) </a:t>
            </a:r>
            <a:r>
              <a:rPr lang="en-US" b="1" dirty="0" err="1" smtClean="0"/>
              <a:t>Polymorphonuclear</a:t>
            </a:r>
            <a:r>
              <a:rPr lang="en-US" b="1" dirty="0" smtClean="0"/>
              <a:t> </a:t>
            </a:r>
            <a:r>
              <a:rPr lang="en-US" b="1" dirty="0"/>
              <a:t>Leucocytes</a:t>
            </a:r>
            <a:endParaRPr lang="en-US" dirty="0"/>
          </a:p>
        </p:txBody>
      </p:sp>
    </p:spTree>
    <p:extLst>
      <p:ext uri="{BB962C8B-B14F-4D97-AF65-F5344CB8AC3E}">
        <p14:creationId xmlns:p14="http://schemas.microsoft.com/office/powerpoint/2010/main" val="616221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440363"/>
          </a:xfrm>
        </p:spPr>
        <p:txBody>
          <a:bodyPr>
            <a:normAutofit/>
          </a:bodyPr>
          <a:lstStyle/>
          <a:p>
            <a:r>
              <a:rPr lang="en-US" dirty="0" smtClean="0"/>
              <a:t>Their </a:t>
            </a:r>
            <a:r>
              <a:rPr lang="en-US" dirty="0"/>
              <a:t>size ranges from 10-12μm in diameter. They </a:t>
            </a:r>
            <a:r>
              <a:rPr lang="en-US" dirty="0" smtClean="0"/>
              <a:t>are capable </a:t>
            </a:r>
            <a:r>
              <a:rPr lang="en-US" dirty="0"/>
              <a:t>of amoeboid movement. There are 2-5 lobes </a:t>
            </a:r>
            <a:r>
              <a:rPr lang="en-US" dirty="0" smtClean="0"/>
              <a:t>to their </a:t>
            </a:r>
            <a:r>
              <a:rPr lang="en-US" dirty="0"/>
              <a:t>nucleus that stain purple violet. </a:t>
            </a:r>
            <a:endParaRPr lang="en-US" dirty="0" smtClean="0"/>
          </a:p>
          <a:p>
            <a:r>
              <a:rPr lang="en-US" dirty="0" smtClean="0"/>
              <a:t>The cytoplasm stains </a:t>
            </a:r>
            <a:r>
              <a:rPr lang="en-US" dirty="0"/>
              <a:t>light pink with pinkish dust like granules. </a:t>
            </a:r>
            <a:endParaRPr lang="en-US" dirty="0" smtClean="0"/>
          </a:p>
          <a:p>
            <a:r>
              <a:rPr lang="en-US" dirty="0" smtClean="0"/>
              <a:t>Their </a:t>
            </a:r>
            <a:r>
              <a:rPr lang="en-US" dirty="0"/>
              <a:t>number increases in </a:t>
            </a:r>
            <a:r>
              <a:rPr lang="en-US" dirty="0" smtClean="0"/>
              <a:t>acute bacterial </a:t>
            </a:r>
            <a:r>
              <a:rPr lang="en-US" dirty="0"/>
              <a:t>infections.</a:t>
            </a:r>
          </a:p>
        </p:txBody>
      </p:sp>
      <p:sp>
        <p:nvSpPr>
          <p:cNvPr id="2" name="Title 1"/>
          <p:cNvSpPr>
            <a:spLocks noGrp="1"/>
          </p:cNvSpPr>
          <p:nvPr>
            <p:ph type="title"/>
          </p:nvPr>
        </p:nvSpPr>
        <p:spPr>
          <a:xfrm>
            <a:off x="457200" y="152400"/>
            <a:ext cx="8229600" cy="685800"/>
          </a:xfrm>
        </p:spPr>
        <p:txBody>
          <a:bodyPr>
            <a:normAutofit fontScale="90000"/>
          </a:bodyPr>
          <a:lstStyle/>
          <a:p>
            <a:r>
              <a:rPr lang="en-US" b="1" dirty="0" smtClean="0"/>
              <a:t>Neutrophils</a:t>
            </a:r>
            <a:br>
              <a:rPr lang="en-US" b="1" dirty="0" smtClean="0"/>
            </a:br>
            <a:endParaRPr lang="en-US" dirty="0"/>
          </a:p>
        </p:txBody>
      </p:sp>
    </p:spTree>
    <p:extLst>
      <p:ext uri="{BB962C8B-B14F-4D97-AF65-F5344CB8AC3E}">
        <p14:creationId xmlns:p14="http://schemas.microsoft.com/office/powerpoint/2010/main" val="4174151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normAutofit/>
          </a:bodyPr>
          <a:lstStyle/>
          <a:p>
            <a:r>
              <a:rPr lang="en-US" dirty="0" err="1" smtClean="0"/>
              <a:t>Eosinophils</a:t>
            </a:r>
            <a:r>
              <a:rPr lang="en-US" dirty="0" smtClean="0"/>
              <a:t> </a:t>
            </a:r>
            <a:r>
              <a:rPr lang="en-US" dirty="0"/>
              <a:t>have the same size as neutrophils or </a:t>
            </a:r>
            <a:r>
              <a:rPr lang="en-US" dirty="0" smtClean="0"/>
              <a:t>may be </a:t>
            </a:r>
            <a:r>
              <a:rPr lang="en-US" dirty="0"/>
              <a:t>a bit larger (12-14μm</a:t>
            </a:r>
            <a:r>
              <a:rPr lang="en-US" dirty="0" smtClean="0"/>
              <a:t>).</a:t>
            </a:r>
          </a:p>
          <a:p>
            <a:pPr marL="0" indent="0">
              <a:buNone/>
            </a:pPr>
            <a:endParaRPr lang="en-US" dirty="0" smtClean="0"/>
          </a:p>
          <a:p>
            <a:pPr marL="0" indent="0">
              <a:buNone/>
            </a:pPr>
            <a:r>
              <a:rPr lang="en-US" dirty="0" smtClean="0"/>
              <a:t>There </a:t>
            </a:r>
            <a:r>
              <a:rPr lang="en-US" dirty="0"/>
              <a:t>are two lobes to </a:t>
            </a:r>
            <a:r>
              <a:rPr lang="en-US" dirty="0" smtClean="0"/>
              <a:t>their nucleus </a:t>
            </a:r>
            <a:r>
              <a:rPr lang="en-US" dirty="0"/>
              <a:t>in a "spectacle" arrangement. Their </a:t>
            </a:r>
            <a:r>
              <a:rPr lang="en-US" dirty="0" smtClean="0"/>
              <a:t>nucleus stains </a:t>
            </a:r>
            <a:r>
              <a:rPr lang="en-US" dirty="0"/>
              <a:t>a little paler than that of neutrophils. </a:t>
            </a:r>
            <a:endParaRPr lang="en-US" dirty="0" smtClean="0"/>
          </a:p>
        </p:txBody>
      </p:sp>
      <p:sp>
        <p:nvSpPr>
          <p:cNvPr id="2" name="Title 1"/>
          <p:cNvSpPr>
            <a:spLocks noGrp="1"/>
          </p:cNvSpPr>
          <p:nvPr>
            <p:ph type="title"/>
          </p:nvPr>
        </p:nvSpPr>
        <p:spPr>
          <a:xfrm>
            <a:off x="457200" y="152400"/>
            <a:ext cx="8229600" cy="838200"/>
          </a:xfrm>
        </p:spPr>
        <p:txBody>
          <a:bodyPr>
            <a:normAutofit fontScale="90000"/>
          </a:bodyPr>
          <a:lstStyle/>
          <a:p>
            <a:r>
              <a:rPr lang="en-US" b="1" dirty="0" err="1" smtClean="0"/>
              <a:t>Eosinophils</a:t>
            </a:r>
            <a:r>
              <a:rPr lang="en-US" b="1" dirty="0" smtClean="0"/>
              <a:t/>
            </a:r>
            <a:br>
              <a:rPr lang="en-US" b="1" dirty="0" smtClean="0"/>
            </a:br>
            <a:endParaRPr lang="en-US" dirty="0"/>
          </a:p>
        </p:txBody>
      </p:sp>
    </p:spTree>
    <p:extLst>
      <p:ext uri="{BB962C8B-B14F-4D97-AF65-F5344CB8AC3E}">
        <p14:creationId xmlns:p14="http://schemas.microsoft.com/office/powerpoint/2010/main" val="3895030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err="1" smtClean="0"/>
              <a:t>Eosinophils</a:t>
            </a:r>
            <a:endParaRPr lang="en-US" dirty="0" smtClean="0"/>
          </a:p>
          <a:p>
            <a:r>
              <a:rPr lang="en-US" dirty="0" smtClean="0"/>
              <a:t>cytoplasm contains many, large, round/oval orange pink granules. </a:t>
            </a:r>
          </a:p>
          <a:p>
            <a:r>
              <a:rPr lang="en-US" dirty="0" smtClean="0"/>
              <a:t>They are involved in allergic reactions and in combating helminthic infections.</a:t>
            </a:r>
          </a:p>
          <a:p>
            <a:r>
              <a:rPr lang="en-US" dirty="0" smtClean="0"/>
              <a:t> Normal range: 40-400/</a:t>
            </a:r>
            <a:r>
              <a:rPr lang="en-US" dirty="0" err="1" smtClean="0"/>
              <a:t>μl</a:t>
            </a:r>
            <a:r>
              <a:rPr lang="en-US" dirty="0" smtClean="0"/>
              <a:t>. Increase in their number (eosinophilia) is associated with allergic reactions and </a:t>
            </a:r>
            <a:r>
              <a:rPr lang="en-US" dirty="0" err="1" smtClean="0"/>
              <a:t>helminthiasis</a:t>
            </a:r>
            <a:r>
              <a:rPr lang="en-US" dirty="0" smtClean="0"/>
              <a:t>.</a:t>
            </a:r>
          </a:p>
          <a:p>
            <a:endParaRPr lang="en-US" dirty="0"/>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17259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983163"/>
          </a:xfrm>
        </p:spPr>
        <p:txBody>
          <a:bodyPr>
            <a:normAutofit/>
          </a:bodyPr>
          <a:lstStyle/>
          <a:p>
            <a:r>
              <a:rPr lang="en-US" dirty="0" smtClean="0"/>
              <a:t>Their </a:t>
            </a:r>
            <a:r>
              <a:rPr lang="en-US" dirty="0"/>
              <a:t>size ranges from 10-12μm in diameter. </a:t>
            </a:r>
            <a:endParaRPr lang="en-US" dirty="0" smtClean="0"/>
          </a:p>
          <a:p>
            <a:r>
              <a:rPr lang="en-US" dirty="0" smtClean="0"/>
              <a:t>Basophiles have </a:t>
            </a:r>
            <a:r>
              <a:rPr lang="en-US" dirty="0"/>
              <a:t>a kidney shaped nucleus frequently obscured by </a:t>
            </a:r>
            <a:r>
              <a:rPr lang="en-US" dirty="0" smtClean="0"/>
              <a:t>a mass </a:t>
            </a:r>
            <a:r>
              <a:rPr lang="en-US" dirty="0"/>
              <a:t>of large deep purple/blue staining granules. </a:t>
            </a:r>
            <a:endParaRPr lang="en-US" dirty="0" smtClean="0"/>
          </a:p>
          <a:p>
            <a:r>
              <a:rPr lang="en-US" dirty="0" smtClean="0"/>
              <a:t>Their </a:t>
            </a:r>
            <a:r>
              <a:rPr lang="en-US" dirty="0" err="1" smtClean="0"/>
              <a:t>toplasmic</a:t>
            </a:r>
            <a:r>
              <a:rPr lang="en-US" dirty="0" smtClean="0"/>
              <a:t> </a:t>
            </a:r>
            <a:r>
              <a:rPr lang="en-US" dirty="0"/>
              <a:t>granules contain </a:t>
            </a:r>
            <a:r>
              <a:rPr lang="en-US" dirty="0">
                <a:solidFill>
                  <a:srgbClr val="FF0000"/>
                </a:solidFill>
              </a:rPr>
              <a:t>heparin</a:t>
            </a:r>
            <a:r>
              <a:rPr lang="en-US" dirty="0"/>
              <a:t> and </a:t>
            </a:r>
            <a:r>
              <a:rPr lang="en-US" dirty="0">
                <a:solidFill>
                  <a:srgbClr val="FF0000"/>
                </a:solidFill>
              </a:rPr>
              <a:t>histamine</a:t>
            </a:r>
            <a:r>
              <a:rPr lang="en-US" dirty="0"/>
              <a:t> </a:t>
            </a:r>
            <a:r>
              <a:rPr lang="en-US" dirty="0" smtClean="0"/>
              <a:t>that are </a:t>
            </a:r>
            <a:r>
              <a:rPr lang="en-US" dirty="0"/>
              <a:t>released at the site of inflammation. Normal </a:t>
            </a:r>
            <a:r>
              <a:rPr lang="en-US" dirty="0" smtClean="0"/>
              <a:t>range: 20-200/</a:t>
            </a:r>
            <a:r>
              <a:rPr lang="en-US" dirty="0" err="1" smtClean="0"/>
              <a:t>μl</a:t>
            </a:r>
            <a:r>
              <a:rPr lang="en-US" dirty="0"/>
              <a:t>. </a:t>
            </a:r>
            <a:r>
              <a:rPr lang="en-US" dirty="0" err="1"/>
              <a:t>Basophilia</a:t>
            </a:r>
            <a:r>
              <a:rPr lang="en-US" dirty="0"/>
              <a:t> is rare except in cases of </a:t>
            </a:r>
            <a:r>
              <a:rPr lang="en-US" dirty="0" smtClean="0"/>
              <a:t>chronic myeloid </a:t>
            </a:r>
            <a:r>
              <a:rPr lang="en-US" dirty="0"/>
              <a:t>leukemia.</a:t>
            </a:r>
          </a:p>
        </p:txBody>
      </p:sp>
      <p:sp>
        <p:nvSpPr>
          <p:cNvPr id="2" name="Title 1"/>
          <p:cNvSpPr>
            <a:spLocks noGrp="1"/>
          </p:cNvSpPr>
          <p:nvPr>
            <p:ph type="title"/>
          </p:nvPr>
        </p:nvSpPr>
        <p:spPr>
          <a:xfrm>
            <a:off x="457200" y="0"/>
            <a:ext cx="8229600" cy="914400"/>
          </a:xfrm>
        </p:spPr>
        <p:txBody>
          <a:bodyPr/>
          <a:lstStyle/>
          <a:p>
            <a:pPr marL="0" indent="0"/>
            <a:r>
              <a:rPr lang="en-US" b="1" dirty="0" smtClean="0"/>
              <a:t>Basophils</a:t>
            </a:r>
            <a:endParaRPr lang="en-US" b="1" dirty="0"/>
          </a:p>
        </p:txBody>
      </p:sp>
    </p:spTree>
    <p:extLst>
      <p:ext uri="{BB962C8B-B14F-4D97-AF65-F5344CB8AC3E}">
        <p14:creationId xmlns:p14="http://schemas.microsoft.com/office/powerpoint/2010/main" val="565580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marL="109728" indent="0">
              <a:buNone/>
            </a:pPr>
            <a:r>
              <a:rPr lang="en-US" b="1" dirty="0" smtClean="0"/>
              <a:t>Lymphocytes </a:t>
            </a:r>
          </a:p>
          <a:p>
            <a:r>
              <a:rPr lang="en-US" dirty="0"/>
              <a:t>Have a large nuclei</a:t>
            </a:r>
          </a:p>
          <a:p>
            <a:r>
              <a:rPr lang="en-US" dirty="0"/>
              <a:t> Functionally divided into two</a:t>
            </a:r>
          </a:p>
          <a:p>
            <a:r>
              <a:rPr lang="en-US" dirty="0"/>
              <a:t>1. T-Lymphocytes – activated in thymus gland</a:t>
            </a:r>
          </a:p>
          <a:p>
            <a:r>
              <a:rPr lang="en-US" dirty="0"/>
              <a:t>2. B-Lymphocytes- activated in bone marrow</a:t>
            </a:r>
          </a:p>
          <a:p>
            <a:r>
              <a:rPr lang="en-US" dirty="0"/>
              <a:t>Lymphocytes circulate in blood but are present in large</a:t>
            </a:r>
          </a:p>
          <a:p>
            <a:r>
              <a:rPr lang="en-US" dirty="0"/>
              <a:t>numbers in lymphatic tissue</a:t>
            </a:r>
          </a:p>
          <a:p>
            <a:r>
              <a:rPr lang="en-US" dirty="0"/>
              <a:t>e.g. - Lymph nodes</a:t>
            </a:r>
          </a:p>
          <a:p>
            <a:r>
              <a:rPr lang="en-US" dirty="0"/>
              <a:t>- Spleen</a:t>
            </a:r>
            <a:endParaRPr lang="en-US" b="1" dirty="0" smtClean="0"/>
          </a:p>
          <a:p>
            <a:endParaRPr lang="en-US" dirty="0"/>
          </a:p>
        </p:txBody>
      </p:sp>
      <p:sp>
        <p:nvSpPr>
          <p:cNvPr id="2" name="Title 1"/>
          <p:cNvSpPr>
            <a:spLocks noGrp="1"/>
          </p:cNvSpPr>
          <p:nvPr>
            <p:ph type="title"/>
          </p:nvPr>
        </p:nvSpPr>
        <p:spPr/>
        <p:txBody>
          <a:bodyPr>
            <a:normAutofit/>
          </a:bodyPr>
          <a:lstStyle/>
          <a:p>
            <a:r>
              <a:rPr lang="en-US" b="1" dirty="0" smtClean="0"/>
              <a:t>(b) Mononuclear </a:t>
            </a:r>
            <a:r>
              <a:rPr lang="en-US" b="1" dirty="0"/>
              <a:t>Leucocytes</a:t>
            </a:r>
            <a:endParaRPr lang="en-US" dirty="0"/>
          </a:p>
        </p:txBody>
      </p:sp>
    </p:spTree>
    <p:extLst>
      <p:ext uri="{BB962C8B-B14F-4D97-AF65-F5344CB8AC3E}">
        <p14:creationId xmlns:p14="http://schemas.microsoft.com/office/powerpoint/2010/main" val="4050493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After activation, the lymphocytes become </a:t>
            </a:r>
            <a:r>
              <a:rPr lang="en-US" dirty="0" err="1"/>
              <a:t>immunocompetent</a:t>
            </a:r>
            <a:endParaRPr lang="en-US" dirty="0"/>
          </a:p>
          <a:p>
            <a:r>
              <a:rPr lang="en-US" dirty="0"/>
              <a:t>– are able to respond to antigens (foreign</a:t>
            </a:r>
          </a:p>
          <a:p>
            <a:r>
              <a:rPr lang="en-US" dirty="0" smtClean="0"/>
              <a:t>Material </a:t>
            </a:r>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152818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Examples of antigens</a:t>
            </a:r>
          </a:p>
          <a:p>
            <a:r>
              <a:rPr lang="en-US" dirty="0"/>
              <a:t>1. Pollen from flowers &amp; plants</a:t>
            </a:r>
          </a:p>
          <a:p>
            <a:r>
              <a:rPr lang="en-US" dirty="0"/>
              <a:t>2. Fungi</a:t>
            </a:r>
          </a:p>
          <a:p>
            <a:r>
              <a:rPr lang="en-US" dirty="0"/>
              <a:t>3. Bacteria</a:t>
            </a:r>
          </a:p>
          <a:p>
            <a:r>
              <a:rPr lang="en-US" dirty="0"/>
              <a:t>4. Large molecule drugs – penicillin, aspirin</a:t>
            </a:r>
          </a:p>
          <a:p>
            <a:r>
              <a:rPr lang="en-US" dirty="0"/>
              <a:t>5. Cell regarded by lymphocytes as abnormal</a:t>
            </a:r>
          </a:p>
          <a:p>
            <a:r>
              <a:rPr lang="en-US" dirty="0"/>
              <a:t>- cancer cells</a:t>
            </a:r>
          </a:p>
          <a:p>
            <a:r>
              <a:rPr lang="en-US" dirty="0"/>
              <a:t>- virus invaded cells</a:t>
            </a:r>
          </a:p>
          <a:p>
            <a:r>
              <a:rPr lang="en-US" dirty="0"/>
              <a:t>- Tissue transplant cells</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994300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843272"/>
          </a:xfrm>
        </p:spPr>
        <p:txBody>
          <a:bodyPr>
            <a:normAutofit lnSpcReduction="10000"/>
          </a:bodyPr>
          <a:lstStyle/>
          <a:p>
            <a:r>
              <a:rPr lang="en-US" dirty="0"/>
              <a:t>T-Lymphocytes are activated by </a:t>
            </a:r>
            <a:r>
              <a:rPr lang="en-US" dirty="0" err="1"/>
              <a:t>thymosin</a:t>
            </a:r>
            <a:r>
              <a:rPr lang="en-US" dirty="0"/>
              <a:t> in </a:t>
            </a:r>
            <a:r>
              <a:rPr lang="en-US" dirty="0" smtClean="0"/>
              <a:t>the thymus </a:t>
            </a:r>
            <a:r>
              <a:rPr lang="en-US" dirty="0"/>
              <a:t>gland</a:t>
            </a:r>
          </a:p>
          <a:p>
            <a:r>
              <a:rPr lang="en-US" dirty="0" smtClean="0"/>
              <a:t>B-Lymphocytes </a:t>
            </a:r>
            <a:r>
              <a:rPr lang="en-US" dirty="0"/>
              <a:t>are activated in the red BM &amp; in </a:t>
            </a:r>
            <a:r>
              <a:rPr lang="en-US" dirty="0" smtClean="0"/>
              <a:t>the lymphoid </a:t>
            </a:r>
            <a:r>
              <a:rPr lang="en-US" dirty="0"/>
              <a:t>tissue such as walls of </a:t>
            </a:r>
            <a:r>
              <a:rPr lang="en-US" dirty="0" smtClean="0"/>
              <a:t>intestines</a:t>
            </a:r>
          </a:p>
          <a:p>
            <a:r>
              <a:rPr lang="en-US" dirty="0"/>
              <a:t>Some cells of both types circulate in the </a:t>
            </a:r>
            <a:r>
              <a:rPr lang="en-US" dirty="0" smtClean="0"/>
              <a:t>blood, </a:t>
            </a:r>
            <a:r>
              <a:rPr lang="en-US" dirty="0"/>
              <a:t>Some settle in lymphoid tissue:</a:t>
            </a:r>
          </a:p>
          <a:p>
            <a:pPr marL="109728" indent="0">
              <a:buNone/>
            </a:pPr>
            <a:r>
              <a:rPr lang="en-US" dirty="0"/>
              <a:t>- Lymph nodes</a:t>
            </a:r>
          </a:p>
          <a:p>
            <a:pPr marL="109728" indent="0">
              <a:buNone/>
            </a:pPr>
            <a:r>
              <a:rPr lang="en-US" dirty="0"/>
              <a:t>- the spleen</a:t>
            </a:r>
          </a:p>
          <a:p>
            <a:pPr marL="109728" indent="0">
              <a:buNone/>
            </a:pPr>
            <a:r>
              <a:rPr lang="en-US" dirty="0"/>
              <a:t>- glands in the walls of the </a:t>
            </a:r>
            <a:r>
              <a:rPr lang="en-US" dirty="0" smtClean="0"/>
              <a:t>upper respiratory </a:t>
            </a:r>
            <a:r>
              <a:rPr lang="en-US" dirty="0"/>
              <a:t>tract &amp; the intestines</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6064626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800600"/>
          </a:xfrm>
        </p:spPr>
        <p:txBody>
          <a:bodyPr>
            <a:normAutofit/>
          </a:bodyPr>
          <a:lstStyle/>
          <a:p>
            <a:pPr marL="0" indent="0">
              <a:buNone/>
            </a:pPr>
            <a:r>
              <a:rPr lang="en-US" b="1" dirty="0"/>
              <a:t>Monocytes</a:t>
            </a:r>
          </a:p>
          <a:p>
            <a:r>
              <a:rPr lang="en-US" dirty="0"/>
              <a:t>Monocytes are the largest white cells </a:t>
            </a:r>
            <a:r>
              <a:rPr lang="en-US" dirty="0" smtClean="0"/>
              <a:t>measuring 14-18μm </a:t>
            </a:r>
            <a:r>
              <a:rPr lang="en-US" dirty="0"/>
              <a:t>in diameter. </a:t>
            </a:r>
            <a:endParaRPr lang="en-US" dirty="0" smtClean="0"/>
          </a:p>
          <a:p>
            <a:r>
              <a:rPr lang="en-US" dirty="0" smtClean="0"/>
              <a:t>They </a:t>
            </a:r>
            <a:r>
              <a:rPr lang="en-US" dirty="0"/>
              <a:t>have a centrally </a:t>
            </a:r>
            <a:r>
              <a:rPr lang="en-US" dirty="0" smtClean="0"/>
              <a:t>placed, large </a:t>
            </a:r>
            <a:r>
              <a:rPr lang="en-US" dirty="0"/>
              <a:t>and ‘horseshoe’ shaped nucleus that stains </a:t>
            </a:r>
            <a:r>
              <a:rPr lang="en-US" dirty="0" smtClean="0"/>
              <a:t>pale violet</a:t>
            </a:r>
            <a:r>
              <a:rPr lang="en-US" dirty="0"/>
              <a:t>. Their cytoplasm stains pale grayish blue </a:t>
            </a:r>
            <a:r>
              <a:rPr lang="en-US" dirty="0" smtClean="0"/>
              <a:t>and contains </a:t>
            </a:r>
            <a:r>
              <a:rPr lang="en-US" dirty="0"/>
              <a:t>reddish blue dust-like granules and a few </a:t>
            </a:r>
            <a:r>
              <a:rPr lang="en-US" dirty="0" smtClean="0"/>
              <a:t>clear vacuoles</a:t>
            </a:r>
            <a:r>
              <a:rPr lang="en-US" dirty="0"/>
              <a:t>. </a:t>
            </a:r>
            <a:endParaRPr lang="en-US" dirty="0" smtClean="0"/>
          </a:p>
          <a:p>
            <a:r>
              <a:rPr lang="en-US" dirty="0" smtClean="0"/>
              <a:t>.</a:t>
            </a:r>
            <a:endParaRPr lang="en-US" dirty="0"/>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1359083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534400" cy="4800600"/>
          </a:xfrm>
        </p:spPr>
        <p:txBody>
          <a:bodyPr>
            <a:normAutofit/>
          </a:bodyPr>
          <a:lstStyle/>
          <a:p>
            <a:r>
              <a:rPr lang="en-US" dirty="0" smtClean="0"/>
              <a:t>These </a:t>
            </a:r>
            <a:r>
              <a:rPr lang="en-US" dirty="0"/>
              <a:t>are small, non nucleated, round/oval cells/cell</a:t>
            </a:r>
          </a:p>
          <a:p>
            <a:r>
              <a:rPr lang="en-US" dirty="0"/>
              <a:t>fragments that stain pale blue and contain many </a:t>
            </a:r>
            <a:r>
              <a:rPr lang="en-US" dirty="0" smtClean="0"/>
              <a:t>pink granules</a:t>
            </a:r>
            <a:r>
              <a:rPr lang="en-US" dirty="0"/>
              <a:t>. </a:t>
            </a:r>
            <a:endParaRPr lang="en-US" dirty="0" smtClean="0"/>
          </a:p>
          <a:p>
            <a:r>
              <a:rPr lang="en-US" dirty="0" smtClean="0"/>
              <a:t>Their </a:t>
            </a:r>
            <a:r>
              <a:rPr lang="en-US" dirty="0"/>
              <a:t>size ranges 1-4μm in diameter</a:t>
            </a:r>
            <a:r>
              <a:rPr lang="en-US" dirty="0" smtClean="0"/>
              <a:t>.</a:t>
            </a:r>
          </a:p>
          <a:p>
            <a:r>
              <a:rPr lang="en-US" dirty="0" smtClean="0"/>
              <a:t>They are </a:t>
            </a:r>
            <a:r>
              <a:rPr lang="en-US" dirty="0"/>
              <a:t>produced in the bone marrow by fragmentation </a:t>
            </a:r>
            <a:r>
              <a:rPr lang="en-US" dirty="0" smtClean="0"/>
              <a:t>of cells </a:t>
            </a:r>
            <a:r>
              <a:rPr lang="en-US" dirty="0"/>
              <a:t>called megakaryocytes which are large </a:t>
            </a:r>
            <a:r>
              <a:rPr lang="en-US" dirty="0" smtClean="0"/>
              <a:t>and multinucleated </a:t>
            </a:r>
            <a:r>
              <a:rPr lang="en-US" dirty="0"/>
              <a:t>cells.</a:t>
            </a:r>
          </a:p>
        </p:txBody>
      </p:sp>
      <p:sp>
        <p:nvSpPr>
          <p:cNvPr id="2" name="Title 1"/>
          <p:cNvSpPr>
            <a:spLocks noGrp="1"/>
          </p:cNvSpPr>
          <p:nvPr>
            <p:ph type="title"/>
          </p:nvPr>
        </p:nvSpPr>
        <p:spPr/>
        <p:txBody>
          <a:bodyPr>
            <a:normAutofit fontScale="90000"/>
          </a:bodyPr>
          <a:lstStyle/>
          <a:p>
            <a:r>
              <a:rPr lang="en-US" b="1" dirty="0" smtClean="0"/>
              <a:t>Platelets</a:t>
            </a:r>
            <a:br>
              <a:rPr lang="en-US" b="1" dirty="0" smtClean="0"/>
            </a:br>
            <a:endParaRPr lang="en-US" dirty="0"/>
          </a:p>
        </p:txBody>
      </p:sp>
    </p:spTree>
    <p:extLst>
      <p:ext uri="{BB962C8B-B14F-4D97-AF65-F5344CB8AC3E}">
        <p14:creationId xmlns:p14="http://schemas.microsoft.com/office/powerpoint/2010/main" val="2110539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They are capable of ingesting bacteria and particulate matter and act as "scavenger cells" at the site of infection. Normal range: </a:t>
            </a:r>
            <a:r>
              <a:rPr lang="en-US" dirty="0">
                <a:solidFill>
                  <a:srgbClr val="FF0000"/>
                </a:solidFill>
              </a:rPr>
              <a:t>700-1500/</a:t>
            </a:r>
            <a:r>
              <a:rPr lang="en-US" dirty="0" err="1">
                <a:solidFill>
                  <a:srgbClr val="FF0000"/>
                </a:solidFill>
              </a:rPr>
              <a:t>μl</a:t>
            </a:r>
            <a:r>
              <a:rPr lang="en-US" dirty="0">
                <a:solidFill>
                  <a:srgbClr val="FF0000"/>
                </a:solidFill>
              </a:rPr>
              <a:t>.</a:t>
            </a:r>
          </a:p>
          <a:p>
            <a:r>
              <a:rPr lang="en-US" dirty="0" err="1"/>
              <a:t>Monocytosis</a:t>
            </a:r>
            <a:r>
              <a:rPr lang="en-US" dirty="0"/>
              <a:t> is seen in bacterial infections. (</a:t>
            </a:r>
            <a:r>
              <a:rPr lang="en-US" dirty="0" err="1" smtClean="0"/>
              <a:t>e.g.tuberculosis</a:t>
            </a:r>
            <a:r>
              <a:rPr lang="en-US" dirty="0"/>
              <a:t>) and protozoan infections</a:t>
            </a: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14906700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93837"/>
            <a:ext cx="8229600" cy="4525963"/>
          </a:xfrm>
        </p:spPr>
        <p:txBody>
          <a:bodyPr/>
          <a:lstStyle/>
          <a:p>
            <a:r>
              <a:rPr lang="en-US" dirty="0"/>
              <a:t>When activated cells </a:t>
            </a:r>
            <a:r>
              <a:rPr lang="en-US" dirty="0" smtClean="0"/>
              <a:t>encounter antigens</a:t>
            </a:r>
            <a:r>
              <a:rPr lang="en-US" dirty="0"/>
              <a:t>,</a:t>
            </a:r>
          </a:p>
          <a:p>
            <a:pPr marL="109728" indent="0">
              <a:buNone/>
            </a:pPr>
            <a:r>
              <a:rPr lang="en-US" dirty="0" smtClean="0"/>
              <a:t>Each </a:t>
            </a:r>
            <a:r>
              <a:rPr lang="en-US" dirty="0"/>
              <a:t>type divides into two </a:t>
            </a:r>
            <a:r>
              <a:rPr lang="en-US" dirty="0" smtClean="0"/>
              <a:t>groups:</a:t>
            </a:r>
          </a:p>
          <a:p>
            <a:pPr marL="109728" indent="0">
              <a:buNone/>
            </a:pPr>
            <a:r>
              <a:rPr lang="en-US" dirty="0" smtClean="0"/>
              <a:t>1</a:t>
            </a:r>
            <a:r>
              <a:rPr lang="en-US" dirty="0"/>
              <a:t>. </a:t>
            </a:r>
            <a:r>
              <a:rPr lang="en-US" b="1" u="sng" dirty="0"/>
              <a:t>Effector cells </a:t>
            </a:r>
            <a:r>
              <a:rPr lang="en-US" dirty="0"/>
              <a:t>– promote destruction </a:t>
            </a:r>
            <a:r>
              <a:rPr lang="en-US" dirty="0" smtClean="0"/>
              <a:t>of antigens</a:t>
            </a:r>
            <a:endParaRPr lang="en-US" dirty="0"/>
          </a:p>
          <a:p>
            <a:pPr marL="109728" indent="0">
              <a:buNone/>
            </a:pPr>
            <a:r>
              <a:rPr lang="en-US" dirty="0"/>
              <a:t>2. </a:t>
            </a:r>
            <a:r>
              <a:rPr lang="en-US" b="1" u="sng" dirty="0"/>
              <a:t>Memory cells </a:t>
            </a:r>
            <a:r>
              <a:rPr lang="en-US" dirty="0"/>
              <a:t>– remain in lymphoid tissue &amp;</a:t>
            </a:r>
          </a:p>
          <a:p>
            <a:pPr marL="109728" indent="0">
              <a:buNone/>
            </a:pPr>
            <a:r>
              <a:rPr lang="en-US" dirty="0"/>
              <a:t>multiply</a:t>
            </a:r>
          </a:p>
        </p:txBody>
      </p:sp>
      <p:sp>
        <p:nvSpPr>
          <p:cNvPr id="3" name="Title 2"/>
          <p:cNvSpPr>
            <a:spLocks noGrp="1"/>
          </p:cNvSpPr>
          <p:nvPr>
            <p:ph type="title"/>
          </p:nvPr>
        </p:nvSpPr>
        <p:spPr/>
        <p:txBody>
          <a:bodyPr/>
          <a:lstStyle/>
          <a:p>
            <a:endParaRPr lang="en-US" dirty="0"/>
          </a:p>
        </p:txBody>
      </p:sp>
    </p:spTree>
    <p:extLst>
      <p:ext uri="{BB962C8B-B14F-4D97-AF65-F5344CB8AC3E}">
        <p14:creationId xmlns:p14="http://schemas.microsoft.com/office/powerpoint/2010/main" val="1040519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990600"/>
            <a:ext cx="8229600" cy="4906963"/>
          </a:xfrm>
        </p:spPr>
        <p:txBody>
          <a:bodyPr/>
          <a:lstStyle/>
          <a:p>
            <a:r>
              <a:rPr lang="en-US" dirty="0" smtClean="0"/>
              <a:t>1</a:t>
            </a:r>
            <a:r>
              <a:rPr lang="en-US" dirty="0"/>
              <a:t>. Pass on specific protective capabilities to </a:t>
            </a:r>
            <a:r>
              <a:rPr lang="en-US" dirty="0" smtClean="0"/>
              <a:t>subsequent generation </a:t>
            </a:r>
            <a:r>
              <a:rPr lang="en-US" dirty="0"/>
              <a:t>of cells</a:t>
            </a:r>
          </a:p>
          <a:p>
            <a:r>
              <a:rPr lang="en-US" dirty="0"/>
              <a:t>2. Confer immunity – subsequent encounter with </a:t>
            </a:r>
            <a:r>
              <a:rPr lang="en-US" dirty="0" smtClean="0"/>
              <a:t>the same </a:t>
            </a:r>
            <a:r>
              <a:rPr lang="en-US" dirty="0"/>
              <a:t>antigen leads to proliferation of </a:t>
            </a:r>
            <a:r>
              <a:rPr lang="en-US" dirty="0" smtClean="0"/>
              <a:t>more sensitized lymphocytes</a:t>
            </a:r>
            <a:endParaRPr lang="en-US" dirty="0"/>
          </a:p>
        </p:txBody>
      </p:sp>
      <p:sp>
        <p:nvSpPr>
          <p:cNvPr id="3" name="Title 2"/>
          <p:cNvSpPr>
            <a:spLocks noGrp="1"/>
          </p:cNvSpPr>
          <p:nvPr>
            <p:ph type="title"/>
          </p:nvPr>
        </p:nvSpPr>
        <p:spPr>
          <a:xfrm>
            <a:off x="457200" y="274638"/>
            <a:ext cx="8229600" cy="868362"/>
          </a:xfrm>
        </p:spPr>
        <p:txBody>
          <a:bodyPr>
            <a:normAutofit fontScale="90000"/>
          </a:bodyPr>
          <a:lstStyle/>
          <a:p>
            <a:r>
              <a:rPr lang="en-US" dirty="0"/>
              <a:t>Function of memory cells</a:t>
            </a:r>
            <a:br>
              <a:rPr lang="en-US" dirty="0"/>
            </a:br>
            <a:endParaRPr lang="en-US" dirty="0"/>
          </a:p>
        </p:txBody>
      </p:sp>
    </p:spTree>
    <p:extLst>
      <p:ext uri="{BB962C8B-B14F-4D97-AF65-F5344CB8AC3E}">
        <p14:creationId xmlns:p14="http://schemas.microsoft.com/office/powerpoint/2010/main" val="2795407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092891"/>
          </a:xfrm>
        </p:spPr>
        <p:txBody>
          <a:bodyPr>
            <a:normAutofit/>
          </a:bodyPr>
          <a:lstStyle/>
          <a:p>
            <a:pPr marL="109728" indent="0">
              <a:buNone/>
            </a:pPr>
            <a:r>
              <a:rPr lang="en-US" dirty="0" smtClean="0"/>
              <a:t>to </a:t>
            </a:r>
            <a:r>
              <a:rPr lang="en-US" dirty="0"/>
              <a:t>specific antigens</a:t>
            </a:r>
          </a:p>
          <a:p>
            <a:pPr marL="109728" indent="0">
              <a:buNone/>
            </a:pPr>
            <a:r>
              <a:rPr lang="en-US" dirty="0"/>
              <a:t>1. Produce cell-mediated immunity – mediated by </a:t>
            </a:r>
            <a:r>
              <a:rPr lang="en-US" dirty="0" smtClean="0"/>
              <a:t>T –Lymphocytes &amp; </a:t>
            </a:r>
            <a:r>
              <a:rPr lang="en-US" dirty="0" err="1"/>
              <a:t>specialised</a:t>
            </a:r>
            <a:r>
              <a:rPr lang="en-US" dirty="0"/>
              <a:t> T-cells that combat cells</a:t>
            </a:r>
          </a:p>
          <a:p>
            <a:pPr marL="109728" indent="0">
              <a:buNone/>
            </a:pPr>
            <a:r>
              <a:rPr lang="en-US" dirty="0"/>
              <a:t>containing antigens</a:t>
            </a:r>
          </a:p>
          <a:p>
            <a:pPr marL="109728" indent="0">
              <a:buNone/>
            </a:pPr>
            <a:r>
              <a:rPr lang="en-US" dirty="0"/>
              <a:t>2. Produce </a:t>
            </a:r>
            <a:r>
              <a:rPr lang="en-US" dirty="0" err="1"/>
              <a:t>Humoral</a:t>
            </a:r>
            <a:r>
              <a:rPr lang="en-US" dirty="0"/>
              <a:t> immunity – mediated by </a:t>
            </a:r>
            <a:r>
              <a:rPr lang="en-US" dirty="0" smtClean="0"/>
              <a:t>B Lymphocytes</a:t>
            </a:r>
            <a:r>
              <a:rPr lang="en-US" dirty="0"/>
              <a:t> </a:t>
            </a:r>
            <a:r>
              <a:rPr lang="en-US" dirty="0" smtClean="0"/>
              <a:t>which </a:t>
            </a:r>
            <a:r>
              <a:rPr lang="en-US" dirty="0"/>
              <a:t>involves the production of</a:t>
            </a:r>
          </a:p>
          <a:p>
            <a:pPr marL="109728" indent="0">
              <a:buNone/>
            </a:pPr>
            <a:r>
              <a:rPr lang="en-US" dirty="0"/>
              <a:t>antibodies that neutralize antigens directly</a:t>
            </a:r>
          </a:p>
        </p:txBody>
      </p:sp>
      <p:sp>
        <p:nvSpPr>
          <p:cNvPr id="3" name="Title 2"/>
          <p:cNvSpPr>
            <a:spLocks noGrp="1"/>
          </p:cNvSpPr>
          <p:nvPr>
            <p:ph type="title"/>
          </p:nvPr>
        </p:nvSpPr>
        <p:spPr>
          <a:xfrm>
            <a:off x="457200" y="381000"/>
            <a:ext cx="8229600" cy="304800"/>
          </a:xfrm>
        </p:spPr>
        <p:txBody>
          <a:bodyPr>
            <a:normAutofit fontScale="90000"/>
          </a:bodyPr>
          <a:lstStyle/>
          <a:p>
            <a:r>
              <a:rPr lang="en-US" dirty="0"/>
              <a:t>Response of activated lymphocytes</a:t>
            </a:r>
            <a:br>
              <a:rPr lang="en-US" dirty="0"/>
            </a:br>
            <a:endParaRPr lang="en-US" dirty="0"/>
          </a:p>
        </p:txBody>
      </p:sp>
    </p:spTree>
    <p:extLst>
      <p:ext uri="{BB962C8B-B14F-4D97-AF65-F5344CB8AC3E}">
        <p14:creationId xmlns:p14="http://schemas.microsoft.com/office/powerpoint/2010/main" val="35000310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Anemia is a condition in which the amount of</a:t>
            </a:r>
          </a:p>
          <a:p>
            <a:pPr marL="109728" indent="0">
              <a:buNone/>
            </a:pPr>
            <a:r>
              <a:rPr lang="en-US" dirty="0" smtClean="0"/>
              <a:t> hemoglobin </a:t>
            </a:r>
            <a:r>
              <a:rPr lang="en-US" dirty="0"/>
              <a:t>in a patient’s circulatory system is </a:t>
            </a:r>
            <a:r>
              <a:rPr lang="en-US" dirty="0" smtClean="0"/>
              <a:t>   reduced</a:t>
            </a:r>
            <a:r>
              <a:rPr lang="en-US" dirty="0"/>
              <a:t>.</a:t>
            </a:r>
          </a:p>
          <a:p>
            <a:r>
              <a:rPr lang="en-US" dirty="0"/>
              <a:t>A physiologic definition stresses the inability of </a:t>
            </a:r>
            <a:r>
              <a:rPr lang="en-US" dirty="0" err="1" smtClean="0"/>
              <a:t>ananemic</a:t>
            </a:r>
            <a:r>
              <a:rPr lang="en-US" dirty="0" smtClean="0"/>
              <a:t> </a:t>
            </a:r>
            <a:r>
              <a:rPr lang="en-US" dirty="0"/>
              <a:t>individual to maintain normal tissue oxygenation.</a:t>
            </a:r>
          </a:p>
          <a:p>
            <a:r>
              <a:rPr lang="en-US" dirty="0"/>
              <a:t>This may result form decreased hemoglobin content </a:t>
            </a:r>
            <a:r>
              <a:rPr lang="en-US" dirty="0" smtClean="0"/>
              <a:t>or reduced </a:t>
            </a:r>
            <a:r>
              <a:rPr lang="en-US" dirty="0"/>
              <a:t>red cell number</a:t>
            </a:r>
          </a:p>
        </p:txBody>
      </p:sp>
      <p:sp>
        <p:nvSpPr>
          <p:cNvPr id="3" name="Title 2"/>
          <p:cNvSpPr>
            <a:spLocks noGrp="1"/>
          </p:cNvSpPr>
          <p:nvPr>
            <p:ph type="title"/>
          </p:nvPr>
        </p:nvSpPr>
        <p:spPr/>
        <p:txBody>
          <a:bodyPr/>
          <a:lstStyle/>
          <a:p>
            <a:r>
              <a:rPr lang="en-US" dirty="0" smtClean="0"/>
              <a:t>		ANEMIAS</a:t>
            </a:r>
            <a:endParaRPr lang="en-US" dirty="0"/>
          </a:p>
        </p:txBody>
      </p:sp>
    </p:spTree>
    <p:extLst>
      <p:ext uri="{BB962C8B-B14F-4D97-AF65-F5344CB8AC3E}">
        <p14:creationId xmlns:p14="http://schemas.microsoft.com/office/powerpoint/2010/main" val="14020465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itchFamily="2" charset="2"/>
              <a:buChar char="Ø"/>
            </a:pPr>
            <a:r>
              <a:rPr lang="en-US" dirty="0"/>
              <a:t>Reduction in plasma </a:t>
            </a:r>
            <a:r>
              <a:rPr lang="en-US" dirty="0" smtClean="0"/>
              <a:t>volume (as in dehydration</a:t>
            </a:r>
            <a:r>
              <a:rPr lang="en-US" dirty="0"/>
              <a:t>) may mask anemia or even cause</a:t>
            </a:r>
          </a:p>
          <a:p>
            <a:pPr marL="109728" indent="0">
              <a:buNone/>
            </a:pPr>
            <a:r>
              <a:rPr lang="en-US" smtClean="0"/>
              <a:t>  polycythemia</a:t>
            </a:r>
            <a:r>
              <a:rPr lang="en-US" dirty="0"/>
              <a:t>; </a:t>
            </a:r>
          </a:p>
          <a:p>
            <a:pPr>
              <a:buFont typeface="Wingdings" pitchFamily="2" charset="2"/>
              <a:buChar char="Ø"/>
            </a:pPr>
            <a:r>
              <a:rPr lang="en-US" dirty="0" smtClean="0"/>
              <a:t>conversely</a:t>
            </a:r>
            <a:r>
              <a:rPr lang="en-US" dirty="0"/>
              <a:t>, an increase in plasma </a:t>
            </a:r>
            <a:r>
              <a:rPr lang="en-US" dirty="0" smtClean="0"/>
              <a:t>volume (as </a:t>
            </a:r>
            <a:r>
              <a:rPr lang="en-US" dirty="0"/>
              <a:t>with splenomegaly or pregnancy) may cause </a:t>
            </a:r>
            <a:r>
              <a:rPr lang="en-US" dirty="0" smtClean="0"/>
              <a:t>anemia even </a:t>
            </a:r>
            <a:r>
              <a:rPr lang="en-US" dirty="0"/>
              <a:t>with a normal total circulating red cell </a:t>
            </a:r>
            <a:r>
              <a:rPr lang="en-US" dirty="0" smtClean="0"/>
              <a:t>and hemoglobin </a:t>
            </a:r>
            <a:r>
              <a:rPr lang="en-US" dirty="0"/>
              <a:t>mass</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0211976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1. </a:t>
            </a:r>
            <a:r>
              <a:rPr lang="en-US" b="1" dirty="0" smtClean="0"/>
              <a:t>Loss of blood:</a:t>
            </a:r>
          </a:p>
          <a:p>
            <a:r>
              <a:rPr lang="en-US" dirty="0" smtClean="0"/>
              <a:t>Acute post </a:t>
            </a:r>
            <a:r>
              <a:rPr lang="en-US" dirty="0" err="1" smtClean="0"/>
              <a:t>hemorragic</a:t>
            </a:r>
            <a:r>
              <a:rPr lang="en-US" dirty="0" smtClean="0"/>
              <a:t> anemia</a:t>
            </a:r>
          </a:p>
          <a:p>
            <a:r>
              <a:rPr lang="en-US" dirty="0" smtClean="0"/>
              <a:t>Chronic post hemorrhagic anemia</a:t>
            </a:r>
          </a:p>
          <a:p>
            <a:endParaRPr lang="en-US" b="1" dirty="0" smtClean="0"/>
          </a:p>
          <a:p>
            <a:r>
              <a:rPr lang="en-US" b="1" dirty="0" smtClean="0"/>
              <a:t>2. Excessive destruction of RBC:</a:t>
            </a:r>
          </a:p>
          <a:p>
            <a:r>
              <a:rPr lang="en-US" dirty="0" smtClean="0"/>
              <a:t>a) Extra corpuscular causes: Antibodies Infection(malaria),</a:t>
            </a:r>
          </a:p>
          <a:p>
            <a:r>
              <a:rPr lang="en-US" dirty="0" smtClean="0"/>
              <a:t>• Splenic sequestration and destruction</a:t>
            </a:r>
          </a:p>
          <a:p>
            <a:r>
              <a:rPr lang="en-US" dirty="0" smtClean="0"/>
              <a:t>• Drugs, chemicals and physical agents</a:t>
            </a:r>
            <a:endParaRPr lang="en-US" dirty="0"/>
          </a:p>
        </p:txBody>
      </p:sp>
      <p:sp>
        <p:nvSpPr>
          <p:cNvPr id="3" name="Title 2"/>
          <p:cNvSpPr>
            <a:spLocks noGrp="1"/>
          </p:cNvSpPr>
          <p:nvPr>
            <p:ph type="title"/>
          </p:nvPr>
        </p:nvSpPr>
        <p:spPr/>
        <p:txBody>
          <a:bodyPr>
            <a:normAutofit fontScale="90000"/>
          </a:bodyPr>
          <a:lstStyle/>
          <a:p>
            <a:r>
              <a:rPr lang="en-US" smtClean="0"/>
              <a:t>Etiologic classification of Anemia</a:t>
            </a:r>
            <a:endParaRPr lang="en-US" dirty="0"/>
          </a:p>
        </p:txBody>
      </p:sp>
    </p:spTree>
    <p:extLst>
      <p:ext uri="{BB962C8B-B14F-4D97-AF65-F5344CB8AC3E}">
        <p14:creationId xmlns:p14="http://schemas.microsoft.com/office/powerpoint/2010/main" val="20304717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sz="2800" b="1" dirty="0"/>
              <a:t>b) </a:t>
            </a:r>
            <a:r>
              <a:rPr lang="en-US" sz="2800" b="1" dirty="0" err="1"/>
              <a:t>Intracorpuscular</a:t>
            </a:r>
            <a:r>
              <a:rPr lang="en-US" sz="2800" b="1" dirty="0"/>
              <a:t> </a:t>
            </a:r>
            <a:r>
              <a:rPr lang="en-US" sz="2800" b="1" dirty="0" err="1"/>
              <a:t>haemolytic</a:t>
            </a:r>
            <a:r>
              <a:rPr lang="en-US" sz="2800" b="1" dirty="0"/>
              <a:t> disease</a:t>
            </a:r>
          </a:p>
          <a:p>
            <a:pPr marL="109728" indent="0">
              <a:buNone/>
            </a:pPr>
            <a:r>
              <a:rPr lang="en-US" sz="2800" dirty="0"/>
              <a:t>1) </a:t>
            </a:r>
            <a:r>
              <a:rPr lang="en-US" sz="2800" b="1" dirty="0"/>
              <a:t>Hereditary</a:t>
            </a:r>
          </a:p>
          <a:p>
            <a:pPr marL="109728" indent="0">
              <a:buNone/>
            </a:pPr>
            <a:r>
              <a:rPr lang="en-US" sz="2800" dirty="0"/>
              <a:t>• Disorder of glycolysis, abnormalities in RBC membrane.</a:t>
            </a:r>
          </a:p>
          <a:p>
            <a:pPr marL="109728" indent="0">
              <a:buNone/>
            </a:pPr>
            <a:r>
              <a:rPr lang="en-US" sz="2800" dirty="0"/>
              <a:t>• Abnormalities in synthesis of globin</a:t>
            </a:r>
          </a:p>
          <a:p>
            <a:pPr marL="109728" indent="0">
              <a:buNone/>
            </a:pPr>
            <a:r>
              <a:rPr lang="en-US" sz="2800" dirty="0"/>
              <a:t>2) </a:t>
            </a:r>
            <a:r>
              <a:rPr lang="en-US" sz="2800" b="1" dirty="0"/>
              <a:t>Acquired</a:t>
            </a:r>
            <a:r>
              <a:rPr lang="en-US" sz="2800" dirty="0"/>
              <a:t> – lead </a:t>
            </a:r>
            <a:r>
              <a:rPr lang="en-US" sz="2800" dirty="0" err="1"/>
              <a:t>poisonong</a:t>
            </a:r>
            <a:endParaRPr lang="en-US" sz="2800" dirty="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102568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864291"/>
          </a:xfrm>
        </p:spPr>
        <p:txBody>
          <a:bodyPr>
            <a:normAutofit/>
          </a:bodyPr>
          <a:lstStyle/>
          <a:p>
            <a:pPr marL="109728" indent="0">
              <a:buNone/>
            </a:pPr>
            <a:r>
              <a:rPr lang="en-US" sz="3200" b="1" dirty="0"/>
              <a:t>3. Impaired blood production resulting from deficiency </a:t>
            </a:r>
            <a:r>
              <a:rPr lang="en-US" sz="3200" b="1" dirty="0" smtClean="0"/>
              <a:t>of substances </a:t>
            </a:r>
            <a:r>
              <a:rPr lang="en-US" sz="3200" b="1" dirty="0"/>
              <a:t>essential for </a:t>
            </a:r>
            <a:r>
              <a:rPr lang="en-US" sz="3200" b="1" dirty="0" smtClean="0"/>
              <a:t>erythropoiesis</a:t>
            </a:r>
          </a:p>
          <a:p>
            <a:pPr marL="109728" indent="0">
              <a:buNone/>
            </a:pPr>
            <a:endParaRPr lang="en-US" sz="3200" b="1" dirty="0"/>
          </a:p>
          <a:p>
            <a:r>
              <a:rPr lang="en-US" sz="3200" dirty="0"/>
              <a:t>a. Iron deficiency</a:t>
            </a:r>
          </a:p>
          <a:p>
            <a:r>
              <a:rPr lang="en-US" sz="3200" dirty="0"/>
              <a:t>b. Deficiency of vitamin B12 , folic acid and Protein </a:t>
            </a:r>
            <a:r>
              <a:rPr lang="en-US" sz="3200" dirty="0" smtClean="0"/>
              <a:t>deficiency.</a:t>
            </a:r>
            <a:endParaRPr lang="en-US" sz="3200" dirty="0"/>
          </a:p>
        </p:txBody>
      </p:sp>
      <p:sp>
        <p:nvSpPr>
          <p:cNvPr id="3" name="Title 2"/>
          <p:cNvSpPr>
            <a:spLocks noGrp="1"/>
          </p:cNvSpPr>
          <p:nvPr>
            <p:ph type="title"/>
          </p:nvPr>
        </p:nvSpPr>
        <p:spPr>
          <a:xfrm>
            <a:off x="457200" y="274638"/>
            <a:ext cx="8229600" cy="944562"/>
          </a:xfrm>
        </p:spPr>
        <p:txBody>
          <a:bodyPr/>
          <a:lstStyle/>
          <a:p>
            <a:r>
              <a:rPr lang="en-US" dirty="0" smtClean="0"/>
              <a:t>Classification of anemia cont’d</a:t>
            </a:r>
            <a:endParaRPr lang="en-US" dirty="0"/>
          </a:p>
        </p:txBody>
      </p:sp>
    </p:spTree>
    <p:extLst>
      <p:ext uri="{BB962C8B-B14F-4D97-AF65-F5344CB8AC3E}">
        <p14:creationId xmlns:p14="http://schemas.microsoft.com/office/powerpoint/2010/main" val="11345228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109728" indent="0">
              <a:buNone/>
            </a:pPr>
            <a:r>
              <a:rPr lang="en-US" b="1" dirty="0" smtClean="0"/>
              <a:t>4.Inadequate </a:t>
            </a:r>
            <a:r>
              <a:rPr lang="en-US" b="1" dirty="0"/>
              <a:t>production of mature erythrocytes</a:t>
            </a:r>
          </a:p>
          <a:p>
            <a:pPr marL="109728" indent="0">
              <a:buNone/>
            </a:pPr>
            <a:r>
              <a:rPr lang="en-US" dirty="0"/>
              <a:t>a) Deficiency of erythroblasts</a:t>
            </a:r>
          </a:p>
          <a:p>
            <a:pPr marL="109728" indent="0">
              <a:buNone/>
            </a:pPr>
            <a:r>
              <a:rPr lang="es-ES" dirty="0"/>
              <a:t>b) </a:t>
            </a:r>
            <a:r>
              <a:rPr lang="es-ES" dirty="0" err="1"/>
              <a:t>Pure</a:t>
            </a:r>
            <a:r>
              <a:rPr lang="es-ES" dirty="0"/>
              <a:t> red </a:t>
            </a:r>
            <a:r>
              <a:rPr lang="es-ES" dirty="0" err="1"/>
              <a:t>cell</a:t>
            </a:r>
            <a:r>
              <a:rPr lang="es-ES" dirty="0"/>
              <a:t> aplasia</a:t>
            </a:r>
          </a:p>
          <a:p>
            <a:pPr marL="109728" indent="0">
              <a:buNone/>
            </a:pPr>
            <a:r>
              <a:rPr lang="en-US" dirty="0"/>
              <a:t>c) Infiltration of bone marrow- Leukemia, lymphoma, </a:t>
            </a:r>
            <a:r>
              <a:rPr lang="en-US" dirty="0" smtClean="0"/>
              <a:t>Multiple myeloma</a:t>
            </a:r>
            <a:endParaRPr lang="en-US" dirty="0"/>
          </a:p>
          <a:p>
            <a:pPr marL="109728" indent="0">
              <a:buNone/>
            </a:pPr>
            <a:r>
              <a:rPr lang="en-US" dirty="0"/>
              <a:t>d) Endocrine abnormality- myxedema</a:t>
            </a:r>
          </a:p>
          <a:p>
            <a:pPr marL="109728" indent="0">
              <a:buNone/>
            </a:pPr>
            <a:r>
              <a:rPr lang="en-US" dirty="0"/>
              <a:t>e) Chronic renal disease</a:t>
            </a:r>
          </a:p>
          <a:p>
            <a:pPr marL="109728" indent="0">
              <a:buNone/>
            </a:pPr>
            <a:r>
              <a:rPr lang="en-US" dirty="0"/>
              <a:t>f) Chronic inflammatory disease</a:t>
            </a:r>
          </a:p>
          <a:p>
            <a:pPr marL="109728" indent="0">
              <a:buNone/>
            </a:pPr>
            <a:r>
              <a:rPr lang="en-US" dirty="0"/>
              <a:t>g) </a:t>
            </a:r>
            <a:r>
              <a:rPr lang="en-US" dirty="0" err="1"/>
              <a:t>Cirrohisis</a:t>
            </a:r>
            <a:r>
              <a:rPr lang="en-US" dirty="0"/>
              <a:t> of liver</a:t>
            </a:r>
          </a:p>
          <a:p>
            <a:endParaRPr lang="en-US" dirty="0"/>
          </a:p>
        </p:txBody>
      </p:sp>
      <p:sp>
        <p:nvSpPr>
          <p:cNvPr id="3" name="Title 2"/>
          <p:cNvSpPr>
            <a:spLocks noGrp="1"/>
          </p:cNvSpPr>
          <p:nvPr>
            <p:ph type="title"/>
          </p:nvPr>
        </p:nvSpPr>
        <p:spPr/>
        <p:txBody>
          <a:bodyPr/>
          <a:lstStyle/>
          <a:p>
            <a:r>
              <a:rPr lang="en-US" dirty="0"/>
              <a:t>Classification of anemia cont’d</a:t>
            </a:r>
          </a:p>
        </p:txBody>
      </p:sp>
    </p:spTree>
    <p:extLst>
      <p:ext uri="{BB962C8B-B14F-4D97-AF65-F5344CB8AC3E}">
        <p14:creationId xmlns:p14="http://schemas.microsoft.com/office/powerpoint/2010/main" val="27120852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728" indent="0">
              <a:buNone/>
            </a:pPr>
            <a:r>
              <a:rPr lang="en-US" b="1" dirty="0"/>
              <a:t>Normocytic </a:t>
            </a:r>
            <a:r>
              <a:rPr lang="en-US" dirty="0"/>
              <a:t>- occurs when the overall hemoglobin levels </a:t>
            </a:r>
            <a:r>
              <a:rPr lang="en-US" dirty="0" smtClean="0"/>
              <a:t>are decreased</a:t>
            </a:r>
            <a:r>
              <a:rPr lang="en-US" dirty="0"/>
              <a:t>, but the red blood cell size (mean </a:t>
            </a:r>
            <a:r>
              <a:rPr lang="en-US" dirty="0" smtClean="0"/>
              <a:t>corpuscular volume</a:t>
            </a:r>
            <a:r>
              <a:rPr lang="en-US" dirty="0"/>
              <a:t>) remains normal. Causes include: Acute blood </a:t>
            </a:r>
            <a:r>
              <a:rPr lang="en-US" dirty="0" err="1" smtClean="0"/>
              <a:t>loss,Anemia</a:t>
            </a:r>
            <a:r>
              <a:rPr lang="en-US" dirty="0" smtClean="0"/>
              <a:t> </a:t>
            </a:r>
            <a:r>
              <a:rPr lang="en-US" dirty="0"/>
              <a:t>of chronic disease</a:t>
            </a:r>
          </a:p>
          <a:p>
            <a:pPr marL="109728" indent="0">
              <a:buNone/>
            </a:pPr>
            <a:r>
              <a:rPr lang="en-US" dirty="0" smtClean="0"/>
              <a:t> </a:t>
            </a:r>
            <a:r>
              <a:rPr lang="en-US" b="1" dirty="0"/>
              <a:t>Microcytic- </a:t>
            </a:r>
            <a:r>
              <a:rPr lang="en-US" dirty="0"/>
              <a:t>result of hemoglobin synthesis</a:t>
            </a:r>
          </a:p>
          <a:p>
            <a:r>
              <a:rPr lang="en-US" dirty="0"/>
              <a:t>failure/insufficiency. Iron deficiency anemia, thalassemia</a:t>
            </a:r>
            <a:r>
              <a:rPr lang="en-US" dirty="0" smtClean="0"/>
              <a:t>.</a:t>
            </a:r>
            <a:endParaRPr lang="en-US" dirty="0"/>
          </a:p>
        </p:txBody>
      </p:sp>
      <p:sp>
        <p:nvSpPr>
          <p:cNvPr id="3" name="Title 2"/>
          <p:cNvSpPr>
            <a:spLocks noGrp="1"/>
          </p:cNvSpPr>
          <p:nvPr>
            <p:ph type="title"/>
          </p:nvPr>
        </p:nvSpPr>
        <p:spPr/>
        <p:txBody>
          <a:bodyPr/>
          <a:lstStyle/>
          <a:p>
            <a:r>
              <a:rPr lang="en-US" dirty="0"/>
              <a:t>Classification of anemia cont’d</a:t>
            </a:r>
          </a:p>
        </p:txBody>
      </p:sp>
    </p:spTree>
    <p:extLst>
      <p:ext uri="{BB962C8B-B14F-4D97-AF65-F5344CB8AC3E}">
        <p14:creationId xmlns:p14="http://schemas.microsoft.com/office/powerpoint/2010/main" val="33930429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dirty="0" smtClean="0"/>
              <a:t> </a:t>
            </a:r>
            <a:r>
              <a:rPr lang="en-US" b="1" dirty="0"/>
              <a:t>Macrocytic</a:t>
            </a:r>
            <a:r>
              <a:rPr lang="en-US" dirty="0"/>
              <a:t>- </a:t>
            </a:r>
            <a:r>
              <a:rPr lang="en-US" dirty="0" err="1"/>
              <a:t>Megaloblastic</a:t>
            </a:r>
            <a:r>
              <a:rPr lang="en-US" dirty="0"/>
              <a:t> anemia, the most common </a:t>
            </a:r>
            <a:r>
              <a:rPr lang="en-US" dirty="0" smtClean="0"/>
              <a:t>cause of </a:t>
            </a:r>
            <a:r>
              <a:rPr lang="en-US" dirty="0"/>
              <a:t>macrocytic anemia, is due to a deficiency of either </a:t>
            </a:r>
            <a:r>
              <a:rPr lang="en-US" dirty="0" smtClean="0"/>
              <a:t>vitamin B12</a:t>
            </a:r>
            <a:r>
              <a:rPr lang="en-US" dirty="0"/>
              <a:t>, folic acid, or both. </a:t>
            </a:r>
            <a:r>
              <a:rPr lang="en-US" dirty="0" smtClean="0"/>
              <a:t>Also </a:t>
            </a:r>
            <a:r>
              <a:rPr lang="en-US" dirty="0"/>
              <a:t>seen in </a:t>
            </a:r>
            <a:r>
              <a:rPr lang="en-US" dirty="0" err="1" smtClean="0"/>
              <a:t>hypothyroidism,alcoholism</a:t>
            </a:r>
            <a:r>
              <a:rPr lang="en-US" dirty="0" smtClean="0"/>
              <a:t>.</a:t>
            </a:r>
          </a:p>
          <a:p>
            <a:pPr marL="109728" indent="0">
              <a:buNone/>
            </a:pPr>
            <a:endParaRPr lang="en-US" dirty="0"/>
          </a:p>
          <a:p>
            <a:pPr marL="109728" indent="0">
              <a:buNone/>
            </a:pPr>
            <a:r>
              <a:rPr lang="en-US" dirty="0" smtClean="0"/>
              <a:t> </a:t>
            </a:r>
            <a:r>
              <a:rPr lang="en-US" b="1" dirty="0"/>
              <a:t>Hypochromic microcytic- </a:t>
            </a:r>
            <a:r>
              <a:rPr lang="en-US" dirty="0"/>
              <a:t>iron deficiency anemia.</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633758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33400"/>
            <a:ext cx="8229600" cy="5473891"/>
          </a:xfrm>
        </p:spPr>
        <p:txBody>
          <a:bodyPr>
            <a:normAutofit fontScale="92500" lnSpcReduction="20000"/>
          </a:bodyPr>
          <a:lstStyle/>
          <a:p>
            <a:r>
              <a:rPr lang="en-US" dirty="0" err="1" smtClean="0"/>
              <a:t>Erythrocytoses</a:t>
            </a:r>
            <a:endParaRPr lang="en-US" dirty="0"/>
          </a:p>
          <a:p>
            <a:r>
              <a:rPr lang="en-US" dirty="0" smtClean="0"/>
              <a:t>Polycythemia </a:t>
            </a:r>
            <a:r>
              <a:rPr lang="en-US" dirty="0" err="1"/>
              <a:t>vera</a:t>
            </a:r>
            <a:endParaRPr lang="en-US" dirty="0"/>
          </a:p>
          <a:p>
            <a:r>
              <a:rPr lang="en-US" dirty="0" smtClean="0"/>
              <a:t>Anemia</a:t>
            </a:r>
            <a:endParaRPr lang="en-US" dirty="0"/>
          </a:p>
          <a:p>
            <a:pPr>
              <a:buFont typeface="Arial" pitchFamily="34" charset="0"/>
              <a:buChar char="•"/>
            </a:pPr>
            <a:r>
              <a:rPr lang="en-US" dirty="0" smtClean="0"/>
              <a:t>Iron </a:t>
            </a:r>
            <a:r>
              <a:rPr lang="en-US" dirty="0"/>
              <a:t>deficiency anemia</a:t>
            </a:r>
          </a:p>
          <a:p>
            <a:pPr>
              <a:buFont typeface="Arial" pitchFamily="34" charset="0"/>
              <a:buChar char="•"/>
            </a:pPr>
            <a:r>
              <a:rPr lang="en-US" dirty="0" smtClean="0"/>
              <a:t>Anemia </a:t>
            </a:r>
            <a:r>
              <a:rPr lang="en-US" dirty="0"/>
              <a:t>owing to hemolysis</a:t>
            </a:r>
          </a:p>
          <a:p>
            <a:pPr>
              <a:buFont typeface="Arial" pitchFamily="34" charset="0"/>
              <a:buChar char="•"/>
            </a:pPr>
            <a:r>
              <a:rPr lang="en-US" dirty="0" smtClean="0"/>
              <a:t>Sickle </a:t>
            </a:r>
            <a:r>
              <a:rPr lang="en-US" dirty="0"/>
              <a:t>cell </a:t>
            </a:r>
            <a:r>
              <a:rPr lang="en-US" dirty="0" smtClean="0"/>
              <a:t>anemia</a:t>
            </a:r>
          </a:p>
          <a:p>
            <a:pPr>
              <a:buFont typeface="Arial" pitchFamily="34" charset="0"/>
              <a:buChar char="•"/>
            </a:pPr>
            <a:r>
              <a:rPr lang="en-US" dirty="0"/>
              <a:t>Pernicious anemia</a:t>
            </a:r>
          </a:p>
          <a:p>
            <a:pPr>
              <a:buFont typeface="Arial" pitchFamily="34" charset="0"/>
              <a:buChar char="•"/>
            </a:pPr>
            <a:r>
              <a:rPr lang="en-US" dirty="0"/>
              <a:t>Aplastic </a:t>
            </a:r>
            <a:r>
              <a:rPr lang="en-US" dirty="0" smtClean="0"/>
              <a:t>anemia</a:t>
            </a:r>
            <a:endParaRPr lang="en-US" dirty="0"/>
          </a:p>
          <a:p>
            <a:r>
              <a:rPr lang="en-US" dirty="0" err="1" smtClean="0"/>
              <a:t>Erythroblastosis</a:t>
            </a:r>
            <a:r>
              <a:rPr lang="en-US" dirty="0" smtClean="0"/>
              <a:t> </a:t>
            </a:r>
            <a:r>
              <a:rPr lang="en-US" dirty="0" err="1"/>
              <a:t>fetalis</a:t>
            </a:r>
            <a:endParaRPr lang="en-US" dirty="0"/>
          </a:p>
          <a:p>
            <a:r>
              <a:rPr lang="en-US" dirty="0" smtClean="0"/>
              <a:t>Thalassemia</a:t>
            </a:r>
          </a:p>
          <a:p>
            <a:r>
              <a:rPr lang="en-US" dirty="0" err="1" smtClean="0"/>
              <a:t>Agranulocytosis</a:t>
            </a:r>
            <a:endParaRPr lang="en-US" dirty="0" smtClean="0"/>
          </a:p>
          <a:p>
            <a:r>
              <a:rPr lang="en-US" dirty="0" err="1" smtClean="0"/>
              <a:t>Hypoprothrombinemia</a:t>
            </a:r>
            <a:endParaRPr lang="en-US" dirty="0" smtClean="0"/>
          </a:p>
          <a:p>
            <a:r>
              <a:rPr lang="en-US" dirty="0" err="1" smtClean="0"/>
              <a:t>Haemophilia</a:t>
            </a:r>
            <a:endParaRPr lang="en-US" dirty="0" smtClean="0"/>
          </a:p>
          <a:p>
            <a:r>
              <a:rPr lang="en-US" dirty="0" smtClean="0"/>
              <a:t>Disseminated intravascular coagulation</a:t>
            </a:r>
            <a:endParaRPr lang="en-US" dirty="0"/>
          </a:p>
        </p:txBody>
      </p:sp>
      <p:sp>
        <p:nvSpPr>
          <p:cNvPr id="3" name="Title 2"/>
          <p:cNvSpPr>
            <a:spLocks noGrp="1"/>
          </p:cNvSpPr>
          <p:nvPr>
            <p:ph type="title"/>
          </p:nvPr>
        </p:nvSpPr>
        <p:spPr>
          <a:xfrm>
            <a:off x="457200" y="228600"/>
            <a:ext cx="8229600" cy="762000"/>
          </a:xfrm>
        </p:spPr>
        <p:txBody>
          <a:bodyPr>
            <a:normAutofit fontScale="90000"/>
          </a:bodyPr>
          <a:lstStyle/>
          <a:p>
            <a:r>
              <a:rPr lang="en-US" dirty="0" smtClean="0"/>
              <a:t>BLOOD </a:t>
            </a:r>
            <a:r>
              <a:rPr lang="en-US" dirty="0"/>
              <a:t>CELL DISORDERS</a:t>
            </a:r>
            <a:br>
              <a:rPr lang="en-US" dirty="0"/>
            </a:br>
            <a:endParaRPr lang="en-US" dirty="0"/>
          </a:p>
        </p:txBody>
      </p:sp>
    </p:spTree>
    <p:extLst>
      <p:ext uri="{BB962C8B-B14F-4D97-AF65-F5344CB8AC3E}">
        <p14:creationId xmlns:p14="http://schemas.microsoft.com/office/powerpoint/2010/main" val="15775279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5169091"/>
          </a:xfrm>
        </p:spPr>
        <p:txBody>
          <a:bodyPr>
            <a:normAutofit lnSpcReduction="10000"/>
          </a:bodyPr>
          <a:lstStyle/>
          <a:p>
            <a:pPr marL="109728" indent="0">
              <a:buNone/>
            </a:pPr>
            <a:r>
              <a:rPr lang="en-US" b="1" dirty="0" smtClean="0"/>
              <a:t>1. Sickle cell disease</a:t>
            </a:r>
          </a:p>
          <a:p>
            <a:r>
              <a:rPr lang="en-US" dirty="0"/>
              <a:t>Sickle cell anemia is an inherited form of anemia — a condition in which there aren't enough healthy red blood cells to carry adequate oxygen throughout your body.</a:t>
            </a:r>
          </a:p>
          <a:p>
            <a:r>
              <a:rPr lang="en-US" dirty="0"/>
              <a:t>Normally, your red blood cells are flexible and round, moving easily through your blood vessels. In sickle cell anemia, the red blood cells become rigid and sticky and are shaped like sickles or crescent moons. These irregularly shaped cells can get stuck in small blood vessels, which can slow or block blood flow and oxygen to parts of the body.</a:t>
            </a:r>
          </a:p>
          <a:p>
            <a:endParaRPr lang="en-US" b="1" dirty="0"/>
          </a:p>
        </p:txBody>
      </p:sp>
      <p:sp>
        <p:nvSpPr>
          <p:cNvPr id="3" name="Title 2"/>
          <p:cNvSpPr>
            <a:spLocks noGrp="1"/>
          </p:cNvSpPr>
          <p:nvPr>
            <p:ph type="title"/>
          </p:nvPr>
        </p:nvSpPr>
        <p:spPr>
          <a:xfrm>
            <a:off x="457200" y="0"/>
            <a:ext cx="8229600" cy="762000"/>
          </a:xfrm>
        </p:spPr>
        <p:txBody>
          <a:bodyPr/>
          <a:lstStyle/>
          <a:p>
            <a:r>
              <a:rPr lang="en-US" dirty="0" smtClean="0"/>
              <a:t>Types of anemia</a:t>
            </a:r>
            <a:endParaRPr lang="en-US" dirty="0"/>
          </a:p>
        </p:txBody>
      </p:sp>
    </p:spTree>
    <p:extLst>
      <p:ext uri="{BB962C8B-B14F-4D97-AF65-F5344CB8AC3E}">
        <p14:creationId xmlns:p14="http://schemas.microsoft.com/office/powerpoint/2010/main" val="225968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762000"/>
            <a:ext cx="8229600" cy="5592763"/>
          </a:xfrm>
        </p:spPr>
        <p:txBody>
          <a:bodyPr>
            <a:normAutofit/>
          </a:bodyPr>
          <a:lstStyle/>
          <a:p>
            <a:r>
              <a:rPr lang="en-US" dirty="0" err="1" smtClean="0"/>
              <a:t>Haemoglobin</a:t>
            </a:r>
            <a:r>
              <a:rPr lang="en-US" dirty="0" smtClean="0"/>
              <a:t> </a:t>
            </a:r>
            <a:r>
              <a:rPr lang="en-US" dirty="0"/>
              <a:t>is an essential cellular component of the red blood cells that play the role of transporting oxygen in the blood to the bodily tissues where it is required.</a:t>
            </a:r>
          </a:p>
          <a:p>
            <a:r>
              <a:rPr lang="en-US" dirty="0"/>
              <a:t>Sickle </a:t>
            </a:r>
            <a:r>
              <a:rPr lang="en-US" dirty="0" err="1"/>
              <a:t>haemoglobin</a:t>
            </a:r>
            <a:r>
              <a:rPr lang="en-US" dirty="0"/>
              <a:t> differs in physical shape from the normal </a:t>
            </a:r>
            <a:r>
              <a:rPr lang="en-US" dirty="0" err="1"/>
              <a:t>haemoglobin</a:t>
            </a:r>
            <a:r>
              <a:rPr lang="en-US" dirty="0"/>
              <a:t>, with a curved sickle-shaped rather than flat-disc shaped cells. The shape alters the properties of the cells, causing then to become more rigid and less flexible. As a result of this, the cells are more likely to </a:t>
            </a:r>
            <a:r>
              <a:rPr lang="en-US" dirty="0" err="1"/>
              <a:t>hemolyse</a:t>
            </a:r>
            <a:r>
              <a:rPr lang="en-US" dirty="0"/>
              <a:t> and cause blockages in the blood vessels that disrupt the flow of blood.</a:t>
            </a:r>
          </a:p>
          <a:p>
            <a:endParaRPr lang="en-US" dirty="0"/>
          </a:p>
        </p:txBody>
      </p:sp>
      <p:sp>
        <p:nvSpPr>
          <p:cNvPr id="3" name="Title 2"/>
          <p:cNvSpPr>
            <a:spLocks noGrp="1"/>
          </p:cNvSpPr>
          <p:nvPr>
            <p:ph type="title"/>
          </p:nvPr>
        </p:nvSpPr>
        <p:spPr>
          <a:xfrm>
            <a:off x="457200" y="274638"/>
            <a:ext cx="8229600" cy="792162"/>
          </a:xfrm>
        </p:spPr>
        <p:txBody>
          <a:bodyPr>
            <a:normAutofit fontScale="90000"/>
          </a:bodyPr>
          <a:lstStyle/>
          <a:p>
            <a:r>
              <a:rPr lang="en-US" dirty="0"/>
              <a:t>The Role of </a:t>
            </a:r>
            <a:r>
              <a:rPr lang="en-US" dirty="0" err="1"/>
              <a:t>Haemoglobin</a:t>
            </a:r>
            <a:r>
              <a:rPr lang="en-US" dirty="0"/>
              <a:t/>
            </a:r>
            <a:br>
              <a:rPr lang="en-US" dirty="0"/>
            </a:br>
            <a:endParaRPr lang="en-US" dirty="0"/>
          </a:p>
        </p:txBody>
      </p:sp>
    </p:spTree>
    <p:extLst>
      <p:ext uri="{BB962C8B-B14F-4D97-AF65-F5344CB8AC3E}">
        <p14:creationId xmlns:p14="http://schemas.microsoft.com/office/powerpoint/2010/main" val="9916380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4940491"/>
          </a:xfrm>
        </p:spPr>
        <p:txBody>
          <a:bodyPr/>
          <a:lstStyle/>
          <a:p>
            <a:r>
              <a:rPr lang="en-US" dirty="0" smtClean="0"/>
              <a:t>The </a:t>
            </a:r>
            <a:r>
              <a:rPr lang="en-US" dirty="0"/>
              <a:t>specific gene mutation that results in sickle </a:t>
            </a:r>
            <a:r>
              <a:rPr lang="en-US" dirty="0" err="1"/>
              <a:t>haemoglobin</a:t>
            </a:r>
            <a:r>
              <a:rPr lang="en-US" dirty="0"/>
              <a:t> involves a substitution of thymine for adenine (from GAG to GTG) on the sixth codon of the genetic sequence. </a:t>
            </a:r>
            <a:endParaRPr lang="en-US" dirty="0" smtClean="0"/>
          </a:p>
          <a:p>
            <a:r>
              <a:rPr lang="en-US" dirty="0" smtClean="0"/>
              <a:t>This </a:t>
            </a:r>
            <a:r>
              <a:rPr lang="en-US" dirty="0"/>
              <a:t>leads to the coding of </a:t>
            </a:r>
            <a:r>
              <a:rPr lang="en-US" dirty="0" err="1"/>
              <a:t>valine</a:t>
            </a:r>
            <a:r>
              <a:rPr lang="en-US" dirty="0"/>
              <a:t> rather than glutamate on the sixth position of the </a:t>
            </a:r>
            <a:r>
              <a:rPr lang="en-US" dirty="0" err="1"/>
              <a:t>haemoglobin</a:t>
            </a:r>
            <a:r>
              <a:rPr lang="en-US" dirty="0"/>
              <a:t> beta chain</a:t>
            </a:r>
          </a:p>
          <a:p>
            <a:endParaRPr lang="en-US" dirty="0"/>
          </a:p>
        </p:txBody>
      </p:sp>
      <p:sp>
        <p:nvSpPr>
          <p:cNvPr id="3" name="Title 2"/>
          <p:cNvSpPr>
            <a:spLocks noGrp="1"/>
          </p:cNvSpPr>
          <p:nvPr>
            <p:ph type="title"/>
          </p:nvPr>
        </p:nvSpPr>
        <p:spPr/>
        <p:txBody>
          <a:bodyPr>
            <a:normAutofit fontScale="90000"/>
          </a:bodyPr>
          <a:lstStyle/>
          <a:p>
            <a:r>
              <a:rPr lang="en-US" dirty="0"/>
              <a:t>Genetic Mutation</a:t>
            </a:r>
            <a:br>
              <a:rPr lang="en-US" dirty="0"/>
            </a:br>
            <a:endParaRPr lang="en-US" dirty="0"/>
          </a:p>
        </p:txBody>
      </p:sp>
    </p:spTree>
    <p:extLst>
      <p:ext uri="{BB962C8B-B14F-4D97-AF65-F5344CB8AC3E}">
        <p14:creationId xmlns:p14="http://schemas.microsoft.com/office/powerpoint/2010/main" val="40909113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This genetic alteration changes the physical properties of the </a:t>
            </a:r>
            <a:r>
              <a:rPr lang="en-US" dirty="0" err="1"/>
              <a:t>haemoglobin</a:t>
            </a:r>
            <a:r>
              <a:rPr lang="en-US" dirty="0"/>
              <a:t> cells, changing their shape to the characteristic sickle shape and the physical properties, such as solubility and stability. </a:t>
            </a:r>
            <a:endParaRPr lang="en-US" dirty="0" smtClean="0"/>
          </a:p>
          <a:p>
            <a:r>
              <a:rPr lang="en-US" dirty="0" smtClean="0"/>
              <a:t>It </a:t>
            </a:r>
            <a:r>
              <a:rPr lang="en-US" dirty="0"/>
              <a:t>is these properties that account for changes in function and the common complications of the disease</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8496549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a:lnSpc>
                <a:spcPct val="125000"/>
              </a:lnSpc>
            </a:pPr>
            <a:r>
              <a:rPr lang="en-US" sz="2800" dirty="0" err="1"/>
              <a:t>Deoxygenation</a:t>
            </a:r>
            <a:r>
              <a:rPr lang="en-US" sz="2800" dirty="0"/>
              <a:t> of mutant </a:t>
            </a:r>
            <a:r>
              <a:rPr lang="en-US" sz="2800" dirty="0" err="1"/>
              <a:t>Hb</a:t>
            </a:r>
            <a:r>
              <a:rPr lang="en-US" sz="2800" dirty="0"/>
              <a:t> leads to</a:t>
            </a:r>
          </a:p>
          <a:p>
            <a:pPr lvl="2">
              <a:lnSpc>
                <a:spcPct val="90000"/>
              </a:lnSpc>
              <a:spcBef>
                <a:spcPct val="10000"/>
              </a:spcBef>
            </a:pPr>
            <a:r>
              <a:rPr lang="en-US" sz="2800" dirty="0">
                <a:sym typeface="Symbol" pitchFamily="1" charset="2"/>
              </a:rPr>
              <a:t> </a:t>
            </a:r>
            <a:r>
              <a:rPr lang="en-US" sz="2800" dirty="0"/>
              <a:t>K</a:t>
            </a:r>
            <a:r>
              <a:rPr lang="en-US" sz="2800" baseline="30000" dirty="0"/>
              <a:t>+</a:t>
            </a:r>
            <a:r>
              <a:rPr lang="en-US" sz="2800" dirty="0"/>
              <a:t> efflux</a:t>
            </a:r>
          </a:p>
          <a:p>
            <a:pPr lvl="2">
              <a:lnSpc>
                <a:spcPct val="90000"/>
              </a:lnSpc>
              <a:spcBef>
                <a:spcPct val="10000"/>
              </a:spcBef>
            </a:pPr>
            <a:r>
              <a:rPr lang="en-US" sz="2800" dirty="0">
                <a:sym typeface="Symbol" pitchFamily="1" charset="2"/>
              </a:rPr>
              <a:t></a:t>
            </a:r>
            <a:r>
              <a:rPr lang="en-US" sz="2800" dirty="0"/>
              <a:t> cell density / dehydration</a:t>
            </a:r>
          </a:p>
          <a:p>
            <a:pPr lvl="2">
              <a:lnSpc>
                <a:spcPct val="90000"/>
              </a:lnSpc>
              <a:spcBef>
                <a:spcPct val="10000"/>
              </a:spcBef>
            </a:pPr>
            <a:r>
              <a:rPr lang="en-US" sz="2800" dirty="0">
                <a:sym typeface="Symbol" pitchFamily="1" charset="2"/>
              </a:rPr>
              <a:t></a:t>
            </a:r>
            <a:r>
              <a:rPr lang="en-US" sz="2800" dirty="0"/>
              <a:t> polymerization</a:t>
            </a:r>
          </a:p>
          <a:p>
            <a:pPr>
              <a:lnSpc>
                <a:spcPct val="125000"/>
              </a:lnSpc>
            </a:pPr>
            <a:r>
              <a:rPr lang="en-US" sz="2800" dirty="0"/>
              <a:t>Sickled cells adhere to endothelial cells</a:t>
            </a:r>
          </a:p>
          <a:p>
            <a:pPr>
              <a:lnSpc>
                <a:spcPct val="125000"/>
              </a:lnSpc>
            </a:pPr>
            <a:r>
              <a:rPr lang="en-US" sz="2800" dirty="0"/>
              <a:t>Endothelial factors </a:t>
            </a:r>
            <a:r>
              <a:rPr lang="en-US" sz="2800" dirty="0">
                <a:sym typeface="Symbol" pitchFamily="1" charset="2"/>
              </a:rPr>
              <a:t></a:t>
            </a:r>
            <a:r>
              <a:rPr lang="en-US" sz="2800" dirty="0"/>
              <a:t> vasoconstriction</a:t>
            </a:r>
          </a:p>
          <a:p>
            <a:pPr>
              <a:lnSpc>
                <a:spcPct val="125000"/>
              </a:lnSpc>
            </a:pPr>
            <a:r>
              <a:rPr lang="en-US" sz="2800" dirty="0"/>
              <a:t>Blood flow </a:t>
            </a:r>
            <a:r>
              <a:rPr lang="en-US" sz="2800" dirty="0">
                <a:sym typeface="Symbol" pitchFamily="1" charset="2"/>
              </a:rPr>
              <a:t></a:t>
            </a:r>
            <a:r>
              <a:rPr lang="en-US" sz="2800" dirty="0"/>
              <a:t> promotes </a:t>
            </a:r>
            <a:r>
              <a:rPr lang="en-US" sz="2800" dirty="0" err="1"/>
              <a:t>vaso</a:t>
            </a:r>
            <a:r>
              <a:rPr lang="en-US" sz="2800" dirty="0"/>
              <a:t>-occlusion</a:t>
            </a:r>
          </a:p>
          <a:p>
            <a:pPr>
              <a:lnSpc>
                <a:spcPct val="125000"/>
              </a:lnSpc>
            </a:pPr>
            <a:r>
              <a:rPr lang="en-US" sz="2800" dirty="0"/>
              <a:t>“Vicious cycle” with decreased blood flow, hypoxemia / acidosis, increased sickling</a:t>
            </a:r>
          </a:p>
          <a:p>
            <a:pPr>
              <a:lnSpc>
                <a:spcPct val="125000"/>
              </a:lnSpc>
            </a:pPr>
            <a:r>
              <a:rPr lang="en-US" sz="2800" dirty="0"/>
              <a:t>Some cells become irreversibly sickled</a:t>
            </a:r>
          </a:p>
          <a:p>
            <a:endParaRPr lang="en-US" dirty="0"/>
          </a:p>
        </p:txBody>
      </p:sp>
      <p:sp>
        <p:nvSpPr>
          <p:cNvPr id="3" name="Title 2"/>
          <p:cNvSpPr>
            <a:spLocks noGrp="1"/>
          </p:cNvSpPr>
          <p:nvPr>
            <p:ph type="title"/>
          </p:nvPr>
        </p:nvSpPr>
        <p:spPr/>
        <p:txBody>
          <a:bodyPr/>
          <a:lstStyle/>
          <a:p>
            <a:r>
              <a:rPr lang="en-US" dirty="0"/>
              <a:t>Sickle Cell: Pathophysiology</a:t>
            </a:r>
          </a:p>
        </p:txBody>
      </p:sp>
    </p:spTree>
    <p:extLst>
      <p:ext uri="{BB962C8B-B14F-4D97-AF65-F5344CB8AC3E}">
        <p14:creationId xmlns:p14="http://schemas.microsoft.com/office/powerpoint/2010/main" val="509573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Decreased oxygen</a:t>
            </a:r>
          </a:p>
          <a:p>
            <a:r>
              <a:rPr lang="en-US" dirty="0"/>
              <a:t>Increased intracellular hemoglobin S concentration (SS &gt; SC, S-</a:t>
            </a:r>
            <a:r>
              <a:rPr lang="en-US" dirty="0" err="1"/>
              <a:t>thal</a:t>
            </a:r>
            <a:r>
              <a:rPr lang="en-US" dirty="0"/>
              <a:t>)</a:t>
            </a:r>
          </a:p>
          <a:p>
            <a:r>
              <a:rPr lang="en-US" dirty="0"/>
              <a:t>Increased 2,3-DPG</a:t>
            </a:r>
          </a:p>
          <a:p>
            <a:r>
              <a:rPr lang="en-US" dirty="0"/>
              <a:t>Decreased pH</a:t>
            </a:r>
          </a:p>
          <a:p>
            <a:r>
              <a:rPr lang="en-US" dirty="0"/>
              <a:t>Slowed transit time through the circulation</a:t>
            </a:r>
          </a:p>
          <a:p>
            <a:r>
              <a:rPr lang="en-US" dirty="0"/>
              <a:t>Endothelial adhesion</a:t>
            </a:r>
          </a:p>
          <a:p>
            <a:endParaRPr lang="en-US" dirty="0"/>
          </a:p>
        </p:txBody>
      </p:sp>
      <p:sp>
        <p:nvSpPr>
          <p:cNvPr id="3" name="Title 2"/>
          <p:cNvSpPr>
            <a:spLocks noGrp="1"/>
          </p:cNvSpPr>
          <p:nvPr>
            <p:ph type="title"/>
          </p:nvPr>
        </p:nvSpPr>
        <p:spPr/>
        <p:txBody>
          <a:bodyPr>
            <a:normAutofit fontScale="90000"/>
          </a:bodyPr>
          <a:lstStyle/>
          <a:p>
            <a:r>
              <a:rPr lang="en-US" dirty="0">
                <a:solidFill>
                  <a:srgbClr val="FFCC66"/>
                </a:solidFill>
                <a:effectLst>
                  <a:outerShdw blurRad="38100" dist="38100" dir="2700000" algn="tl">
                    <a:srgbClr val="000000"/>
                  </a:outerShdw>
                </a:effectLst>
              </a:rPr>
              <a:t>FACTORS THAT INCREASE </a:t>
            </a:r>
            <a:r>
              <a:rPr lang="en-US" dirty="0" err="1">
                <a:solidFill>
                  <a:srgbClr val="FFCC66"/>
                </a:solidFill>
                <a:effectLst>
                  <a:outerShdw blurRad="38100" dist="38100" dir="2700000" algn="tl">
                    <a:srgbClr val="000000"/>
                  </a:outerShdw>
                </a:effectLst>
              </a:rPr>
              <a:t>Hgb</a:t>
            </a:r>
            <a:r>
              <a:rPr lang="en-US" dirty="0">
                <a:solidFill>
                  <a:srgbClr val="FFCC66"/>
                </a:solidFill>
                <a:effectLst>
                  <a:outerShdw blurRad="38100" dist="38100" dir="2700000" algn="tl">
                    <a:srgbClr val="000000"/>
                  </a:outerShdw>
                </a:effectLst>
              </a:rPr>
              <a:t> S POLYMERIZATION</a:t>
            </a:r>
            <a:endParaRPr lang="en-US" dirty="0"/>
          </a:p>
        </p:txBody>
      </p:sp>
    </p:spTree>
    <p:extLst>
      <p:ext uri="{BB962C8B-B14F-4D97-AF65-F5344CB8AC3E}">
        <p14:creationId xmlns:p14="http://schemas.microsoft.com/office/powerpoint/2010/main" val="15895049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smtClean="0"/>
              <a:t>Signs </a:t>
            </a:r>
            <a:r>
              <a:rPr lang="en-US" dirty="0"/>
              <a:t>and symptoms of sickle cell anemia, which vary from person to person and change over time, include:</a:t>
            </a:r>
          </a:p>
          <a:p>
            <a:r>
              <a:rPr lang="en-US" b="1" dirty="0"/>
              <a:t>Anemia.</a:t>
            </a:r>
            <a:r>
              <a:rPr lang="en-US" dirty="0"/>
              <a:t> Sickle cells break apart easily and die, leaving you without enough red blood cells. Red blood cells usually live for about 120 days before they need to be replaced. But sickle cells usually die in 10 to 20 days, leaving a shortage of red blood cells (anemia).</a:t>
            </a:r>
          </a:p>
          <a:p>
            <a:r>
              <a:rPr lang="en-US" dirty="0"/>
              <a:t>Without enough red blood cells, your body can't get the oxygen it needs to feel energized, causing fatigue.</a:t>
            </a:r>
          </a:p>
          <a:p>
            <a:endParaRPr lang="en-US" dirty="0"/>
          </a:p>
        </p:txBody>
      </p:sp>
      <p:sp>
        <p:nvSpPr>
          <p:cNvPr id="3" name="Title 2"/>
          <p:cNvSpPr>
            <a:spLocks noGrp="1"/>
          </p:cNvSpPr>
          <p:nvPr>
            <p:ph type="title"/>
          </p:nvPr>
        </p:nvSpPr>
        <p:spPr/>
        <p:txBody>
          <a:bodyPr>
            <a:normAutofit fontScale="90000"/>
          </a:bodyPr>
          <a:lstStyle/>
          <a:p>
            <a:r>
              <a:rPr lang="en-US" dirty="0"/>
              <a:t>Symptoms</a:t>
            </a:r>
            <a:br>
              <a:rPr lang="en-US" dirty="0"/>
            </a:br>
            <a:endParaRPr lang="en-US" dirty="0"/>
          </a:p>
        </p:txBody>
      </p:sp>
    </p:spTree>
    <p:extLst>
      <p:ext uri="{BB962C8B-B14F-4D97-AF65-F5344CB8AC3E}">
        <p14:creationId xmlns:p14="http://schemas.microsoft.com/office/powerpoint/2010/main" val="25794640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6324600"/>
          </a:xfrm>
        </p:spPr>
        <p:txBody>
          <a:bodyPr>
            <a:normAutofit fontScale="92500"/>
          </a:bodyPr>
          <a:lstStyle/>
          <a:p>
            <a:r>
              <a:rPr lang="en-US" b="1" dirty="0"/>
              <a:t>Episodes of pain.</a:t>
            </a:r>
            <a:r>
              <a:rPr lang="en-US" dirty="0"/>
              <a:t> Periodic episodes of pain, called crises, are a major symptom of sickle cell anemia. Pain develops when sickle-shaped red blood cells block blood flow through tiny blood vessels to your chest, abdomen and joints. Pain can also occur in your bones.</a:t>
            </a:r>
          </a:p>
          <a:p>
            <a:r>
              <a:rPr lang="en-US" dirty="0"/>
              <a:t>The pain varies in intensity and can last for a few hours to a few weeks. Some people have only a few pain episodes. Others have a dozen or more crises a year. If a crisis is severe enough, you might need to </a:t>
            </a:r>
            <a:r>
              <a:rPr lang="en-US" dirty="0" smtClean="0"/>
              <a:t>be hospitalized</a:t>
            </a:r>
          </a:p>
          <a:p>
            <a:r>
              <a:rPr lang="en-US" dirty="0"/>
              <a:t>Some adolescents and adults with sickle cell anemia also have chronic pain, which can result from bone and joint damage, ulcers and other causes.</a:t>
            </a:r>
          </a:p>
          <a:p>
            <a:endParaRPr lang="en-US" dirty="0"/>
          </a:p>
        </p:txBody>
      </p:sp>
      <p:sp>
        <p:nvSpPr>
          <p:cNvPr id="3" name="Title 2"/>
          <p:cNvSpPr>
            <a:spLocks noGrp="1"/>
          </p:cNvSpPr>
          <p:nvPr>
            <p:ph type="title"/>
          </p:nvPr>
        </p:nvSpPr>
        <p:spPr>
          <a:xfrm>
            <a:off x="457200" y="274638"/>
            <a:ext cx="8229600" cy="411162"/>
          </a:xfrm>
        </p:spPr>
        <p:txBody>
          <a:bodyPr>
            <a:normAutofit fontScale="90000"/>
          </a:bodyPr>
          <a:lstStyle/>
          <a:p>
            <a:endParaRPr lang="en-US" dirty="0"/>
          </a:p>
        </p:txBody>
      </p:sp>
    </p:spTree>
    <p:extLst>
      <p:ext uri="{BB962C8B-B14F-4D97-AF65-F5344CB8AC3E}">
        <p14:creationId xmlns:p14="http://schemas.microsoft.com/office/powerpoint/2010/main" val="15906218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4940491"/>
          </a:xfrm>
        </p:spPr>
        <p:txBody>
          <a:bodyPr>
            <a:normAutofit/>
          </a:bodyPr>
          <a:lstStyle/>
          <a:p>
            <a:r>
              <a:rPr lang="en-US" b="1" dirty="0"/>
              <a:t>Painful swelling of hands and feet.</a:t>
            </a:r>
            <a:r>
              <a:rPr lang="en-US" dirty="0"/>
              <a:t> The swelling is caused by sickle-shaped red blood cells blocking blood flow to the hands and feet.</a:t>
            </a:r>
          </a:p>
          <a:p>
            <a:r>
              <a:rPr lang="en-US" b="1" dirty="0"/>
              <a:t>Frequent infections.</a:t>
            </a:r>
            <a:r>
              <a:rPr lang="en-US" dirty="0"/>
              <a:t> Sickle cells can damage an organ that fights infection (spleen), leaving you more vulnerable to infections. Doctors commonly give infants and children with sickle cell anemia vaccinations and antibiotics to prevent potentially life-threatening infections, such as pneumonia</a:t>
            </a:r>
            <a:r>
              <a:rPr lang="en-US" dirty="0" smtClean="0"/>
              <a:t>.</a:t>
            </a:r>
            <a:endParaRPr lang="en-US" dirty="0"/>
          </a:p>
        </p:txBody>
      </p:sp>
      <p:sp>
        <p:nvSpPr>
          <p:cNvPr id="3" name="Title 2"/>
          <p:cNvSpPr>
            <a:spLocks noGrp="1"/>
          </p:cNvSpPr>
          <p:nvPr>
            <p:ph type="title"/>
          </p:nvPr>
        </p:nvSpPr>
        <p:spPr>
          <a:xfrm>
            <a:off x="457200" y="274638"/>
            <a:ext cx="8229600" cy="563562"/>
          </a:xfrm>
        </p:spPr>
        <p:txBody>
          <a:bodyPr>
            <a:normAutofit fontScale="90000"/>
          </a:bodyPr>
          <a:lstStyle/>
          <a:p>
            <a:endParaRPr lang="en-US" dirty="0"/>
          </a:p>
        </p:txBody>
      </p:sp>
    </p:spTree>
    <p:extLst>
      <p:ext uri="{BB962C8B-B14F-4D97-AF65-F5344CB8AC3E}">
        <p14:creationId xmlns:p14="http://schemas.microsoft.com/office/powerpoint/2010/main" val="25665147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4940491"/>
          </a:xfrm>
        </p:spPr>
        <p:txBody>
          <a:bodyPr/>
          <a:lstStyle/>
          <a:p>
            <a:r>
              <a:rPr lang="en-US" b="1" dirty="0"/>
              <a:t>Delayed growth.</a:t>
            </a:r>
            <a:r>
              <a:rPr lang="en-US" dirty="0"/>
              <a:t> Red blood cells provide your body with the oxygen and nutrients you need for growth. A shortage of healthy red blood cells can slow growth in infants and children and delay puberty in teenagers</a:t>
            </a:r>
            <a:r>
              <a:rPr lang="en-US" dirty="0" smtClean="0"/>
              <a:t>.</a:t>
            </a:r>
          </a:p>
          <a:p>
            <a:pPr marL="109728" indent="0">
              <a:buNone/>
            </a:pPr>
            <a:endParaRPr lang="en-US" dirty="0"/>
          </a:p>
          <a:p>
            <a:r>
              <a:rPr lang="en-US" b="1" dirty="0"/>
              <a:t>Vision problems.</a:t>
            </a:r>
            <a:r>
              <a:rPr lang="en-US" dirty="0"/>
              <a:t> Tiny blood vessels that supply your eyes may become plugged with sickle cells. This can damage the retina — the portion of the eye that processes visual images, leading to vision problems.</a:t>
            </a:r>
          </a:p>
          <a:p>
            <a:endParaRPr lang="en-US" dirty="0"/>
          </a:p>
        </p:txBody>
      </p:sp>
      <p:sp>
        <p:nvSpPr>
          <p:cNvPr id="3" name="Title 2"/>
          <p:cNvSpPr>
            <a:spLocks noGrp="1"/>
          </p:cNvSpPr>
          <p:nvPr>
            <p:ph type="title"/>
          </p:nvPr>
        </p:nvSpPr>
        <p:spPr>
          <a:xfrm>
            <a:off x="457200" y="274638"/>
            <a:ext cx="8229600" cy="639762"/>
          </a:xfrm>
        </p:spPr>
        <p:txBody>
          <a:bodyPr>
            <a:normAutofit fontScale="90000"/>
          </a:bodyPr>
          <a:lstStyle/>
          <a:p>
            <a:endParaRPr lang="en-US" dirty="0"/>
          </a:p>
        </p:txBody>
      </p:sp>
    </p:spTree>
    <p:extLst>
      <p:ext uri="{BB962C8B-B14F-4D97-AF65-F5344CB8AC3E}">
        <p14:creationId xmlns:p14="http://schemas.microsoft.com/office/powerpoint/2010/main" val="7066643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767072"/>
          </a:xfrm>
        </p:spPr>
        <p:txBody>
          <a:bodyPr>
            <a:normAutofit/>
          </a:bodyPr>
          <a:lstStyle/>
          <a:p>
            <a:r>
              <a:rPr lang="en-US" dirty="0" smtClean="0"/>
              <a:t>Although </a:t>
            </a:r>
            <a:r>
              <a:rPr lang="en-US" dirty="0"/>
              <a:t>sickle cell anemia is usually diagnosed in infancy, if you or your child develops any of the following problems, see your doctor right away or seek emergency medical care:</a:t>
            </a:r>
          </a:p>
          <a:p>
            <a:r>
              <a:rPr lang="en-US" b="1" dirty="0"/>
              <a:t>Unexplained episodes of severe pain,</a:t>
            </a:r>
            <a:r>
              <a:rPr lang="en-US" dirty="0"/>
              <a:t> such as pain in the abdomen, chest, bones or joints.</a:t>
            </a:r>
          </a:p>
          <a:p>
            <a:r>
              <a:rPr lang="en-US" b="1" dirty="0"/>
              <a:t>Swelling in the hands or feet.</a:t>
            </a:r>
            <a:endParaRPr lang="en-US" dirty="0"/>
          </a:p>
          <a:p>
            <a:r>
              <a:rPr lang="en-US" b="1" dirty="0"/>
              <a:t>Abdominal swelling,</a:t>
            </a:r>
            <a:r>
              <a:rPr lang="en-US" dirty="0"/>
              <a:t> especially if the area is tender to the touch.</a:t>
            </a:r>
          </a:p>
          <a:p>
            <a:endParaRPr lang="en-US" dirty="0"/>
          </a:p>
        </p:txBody>
      </p:sp>
      <p:sp>
        <p:nvSpPr>
          <p:cNvPr id="3" name="Title 2"/>
          <p:cNvSpPr>
            <a:spLocks noGrp="1"/>
          </p:cNvSpPr>
          <p:nvPr>
            <p:ph type="title"/>
          </p:nvPr>
        </p:nvSpPr>
        <p:spPr>
          <a:xfrm>
            <a:off x="457200" y="274638"/>
            <a:ext cx="8229600" cy="1020762"/>
          </a:xfrm>
        </p:spPr>
        <p:txBody>
          <a:bodyPr/>
          <a:lstStyle/>
          <a:p>
            <a:r>
              <a:rPr lang="en-US" dirty="0"/>
              <a:t>When to see a doctor</a:t>
            </a:r>
          </a:p>
        </p:txBody>
      </p:sp>
    </p:spTree>
    <p:extLst>
      <p:ext uri="{BB962C8B-B14F-4D97-AF65-F5344CB8AC3E}">
        <p14:creationId xmlns:p14="http://schemas.microsoft.com/office/powerpoint/2010/main" val="31232936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b="1" dirty="0"/>
              <a:t>Fever.</a:t>
            </a:r>
            <a:r>
              <a:rPr lang="en-US" dirty="0"/>
              <a:t> People with sickle cell anemia have an increased risk of infection, and fever can be the first sign of an infection.</a:t>
            </a:r>
          </a:p>
          <a:p>
            <a:r>
              <a:rPr lang="en-US" b="1" dirty="0"/>
              <a:t>Pale skin or nail beds.</a:t>
            </a:r>
            <a:endParaRPr lang="en-US" dirty="0"/>
          </a:p>
          <a:p>
            <a:r>
              <a:rPr lang="en-US" b="1" dirty="0"/>
              <a:t>Yellow tint</a:t>
            </a:r>
            <a:r>
              <a:rPr lang="en-US" dirty="0"/>
              <a:t> to the skin or whites of the eyes.</a:t>
            </a:r>
          </a:p>
          <a:p>
            <a:r>
              <a:rPr lang="en-US" b="1" dirty="0"/>
              <a:t>Signs or symptoms of stroke.</a:t>
            </a:r>
            <a:r>
              <a:rPr lang="en-US" dirty="0"/>
              <a:t> If you notice one-sided paralysis or weakness in the face, arms or legs; confusion; trouble walking or talking; sudden vision problems or unexplained numbness; or a headache, call 911 or your local emergency number right away.</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0657718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Sickle </a:t>
            </a:r>
            <a:r>
              <a:rPr lang="en-US" dirty="0"/>
              <a:t>cell anemia is caused by a mutation in the gene that tells your body to make the red, iron-rich compound that gives blood its red color (hemoglobin). Hemoglobin allows red blood cells to carry oxygen from your lungs to all parts of your body. In sickle cell anemia, the abnormal hemoglobin causes red blood cells to become rigid, sticky and misshapen</a:t>
            </a:r>
            <a:r>
              <a:rPr lang="en-US" dirty="0" smtClean="0"/>
              <a:t>.</a:t>
            </a:r>
            <a:endParaRPr lang="en-US" dirty="0"/>
          </a:p>
        </p:txBody>
      </p:sp>
      <p:sp>
        <p:nvSpPr>
          <p:cNvPr id="3" name="Title 2"/>
          <p:cNvSpPr>
            <a:spLocks noGrp="1"/>
          </p:cNvSpPr>
          <p:nvPr>
            <p:ph type="title"/>
          </p:nvPr>
        </p:nvSpPr>
        <p:spPr/>
        <p:txBody>
          <a:bodyPr/>
          <a:lstStyle/>
          <a:p>
            <a:r>
              <a:rPr lang="en-US" dirty="0"/>
              <a:t>Causes</a:t>
            </a:r>
          </a:p>
        </p:txBody>
      </p:sp>
    </p:spTree>
    <p:extLst>
      <p:ext uri="{BB962C8B-B14F-4D97-AF65-F5344CB8AC3E}">
        <p14:creationId xmlns:p14="http://schemas.microsoft.com/office/powerpoint/2010/main" val="17408495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sickle cell gene is passed from generation to generation in a pattern of inheritance called autosomal recessive inheritance</a:t>
            </a:r>
            <a:r>
              <a:rPr lang="en-US" dirty="0" smtClean="0"/>
              <a:t>.</a:t>
            </a:r>
          </a:p>
          <a:p>
            <a:r>
              <a:rPr lang="en-US" dirty="0" smtClean="0"/>
              <a:t> </a:t>
            </a:r>
            <a:r>
              <a:rPr lang="en-US" dirty="0"/>
              <a:t>This means that both the mother and the father must pass on the defective form of the gene for a child to be affected.</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6977758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109728" indent="0">
              <a:buNone/>
            </a:pPr>
            <a:r>
              <a:rPr lang="en-US" dirty="0" smtClean="0"/>
              <a:t>if </a:t>
            </a:r>
            <a:r>
              <a:rPr lang="en-US" dirty="0"/>
              <a:t>only one parent passes the sickle cell gene to the child, that child will have the sickle cell trait. </a:t>
            </a:r>
            <a:endParaRPr lang="en-US" dirty="0" smtClean="0"/>
          </a:p>
          <a:p>
            <a:pPr marL="109728" indent="0">
              <a:buNone/>
            </a:pPr>
            <a:r>
              <a:rPr lang="en-US" dirty="0" smtClean="0"/>
              <a:t>With </a:t>
            </a:r>
            <a:r>
              <a:rPr lang="en-US" dirty="0"/>
              <a:t>one normal hemoglobin gene and one defective form of the gene, people with the sickle cell trait make both normal hemoglobin and sickle cell hemoglobin</a:t>
            </a:r>
            <a:r>
              <a:rPr lang="en-US" dirty="0" smtClean="0"/>
              <a:t>.</a:t>
            </a:r>
          </a:p>
          <a:p>
            <a:pPr marL="109728" indent="0">
              <a:buNone/>
            </a:pPr>
            <a:r>
              <a:rPr lang="en-US" dirty="0" smtClean="0"/>
              <a:t>Their </a:t>
            </a:r>
            <a:r>
              <a:rPr lang="en-US" dirty="0"/>
              <a:t>blood might contain some sickle cells, but they generally don't have symptoms. But they are carriers of the disease, which means they can pass the gene to their children</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4199106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092891"/>
          </a:xfrm>
        </p:spPr>
        <p:txBody>
          <a:bodyPr>
            <a:normAutofit fontScale="85000" lnSpcReduction="20000"/>
          </a:bodyPr>
          <a:lstStyle/>
          <a:p>
            <a:r>
              <a:rPr lang="en-US" dirty="0" smtClean="0"/>
              <a:t>A </a:t>
            </a:r>
            <a:r>
              <a:rPr lang="en-US" dirty="0"/>
              <a:t>blood test can check for hemoglobin S — the defective form of hemoglobin that underlies sickle cell anemia. In the United States, this blood test is part of routine newborn screening done at the hospital. But older children and adults can be tested, too.</a:t>
            </a:r>
          </a:p>
          <a:p>
            <a:r>
              <a:rPr lang="en-US" dirty="0"/>
              <a:t>In adults, a blood sample is drawn from a vein in the arm. In young children and babies, the blood sample is usually collected from a finger or heel. The sample is then sent to a laboratory, where it's screened for hemoglobin S.</a:t>
            </a:r>
          </a:p>
          <a:p>
            <a:r>
              <a:rPr lang="en-US" dirty="0"/>
              <a:t>If the screening test is negative, there is no sickle cell gene present. If the screening test is positive, further tests will be done to determine whether one or two sickle cell genes are present.</a:t>
            </a:r>
          </a:p>
          <a:p>
            <a:r>
              <a:rPr lang="en-US" dirty="0" smtClean="0"/>
              <a:t>.</a:t>
            </a:r>
            <a:endParaRPr lang="en-US" dirty="0"/>
          </a:p>
          <a:p>
            <a:endParaRPr lang="en-US" dirty="0"/>
          </a:p>
        </p:txBody>
      </p:sp>
      <p:sp>
        <p:nvSpPr>
          <p:cNvPr id="3" name="Title 2"/>
          <p:cNvSpPr>
            <a:spLocks noGrp="1"/>
          </p:cNvSpPr>
          <p:nvPr>
            <p:ph type="title"/>
          </p:nvPr>
        </p:nvSpPr>
        <p:spPr>
          <a:xfrm>
            <a:off x="457200" y="274638"/>
            <a:ext cx="8229600" cy="868362"/>
          </a:xfrm>
        </p:spPr>
        <p:txBody>
          <a:bodyPr>
            <a:normAutofit fontScale="90000"/>
          </a:bodyPr>
          <a:lstStyle/>
          <a:p>
            <a:r>
              <a:rPr lang="en-US" dirty="0"/>
              <a:t>Diagnosis</a:t>
            </a:r>
            <a:br>
              <a:rPr lang="en-US" dirty="0"/>
            </a:br>
            <a:endParaRPr lang="en-US" dirty="0"/>
          </a:p>
        </p:txBody>
      </p:sp>
    </p:spTree>
    <p:extLst>
      <p:ext uri="{BB962C8B-B14F-4D97-AF65-F5344CB8AC3E}">
        <p14:creationId xmlns:p14="http://schemas.microsoft.com/office/powerpoint/2010/main" val="22740014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638800"/>
          </a:xfrm>
        </p:spPr>
        <p:txBody>
          <a:bodyPr>
            <a:normAutofit fontScale="77500" lnSpcReduction="20000"/>
          </a:bodyPr>
          <a:lstStyle/>
          <a:p>
            <a:r>
              <a:rPr lang="en-US" b="1" dirty="0" smtClean="0"/>
              <a:t>Bone </a:t>
            </a:r>
            <a:r>
              <a:rPr lang="en-US" b="1" dirty="0"/>
              <a:t>pain </a:t>
            </a:r>
            <a:r>
              <a:rPr lang="en-US" dirty="0"/>
              <a:t>of varying severity; mild to unbearable; usually low back; also in the tibias and </a:t>
            </a:r>
            <a:r>
              <a:rPr lang="en-US" dirty="0" smtClean="0"/>
              <a:t>arms</a:t>
            </a:r>
          </a:p>
          <a:p>
            <a:pPr marL="109728" indent="0">
              <a:buNone/>
            </a:pPr>
            <a:r>
              <a:rPr lang="en-US" dirty="0" smtClean="0"/>
              <a:t> </a:t>
            </a:r>
            <a:endParaRPr lang="en-US" dirty="0"/>
          </a:p>
          <a:p>
            <a:r>
              <a:rPr lang="en-US" dirty="0" smtClean="0"/>
              <a:t> </a:t>
            </a:r>
            <a:r>
              <a:rPr lang="en-US" b="1" dirty="0"/>
              <a:t>Abdominal pain</a:t>
            </a:r>
            <a:r>
              <a:rPr lang="en-US" dirty="0"/>
              <a:t>, often intractable; must be differentiated from pain due to surgical causes (</a:t>
            </a:r>
            <a:r>
              <a:rPr lang="en-US" dirty="0" err="1"/>
              <a:t>cholecystitis</a:t>
            </a:r>
            <a:r>
              <a:rPr lang="en-US" dirty="0"/>
              <a:t>, appendicitis etc.) </a:t>
            </a:r>
            <a:endParaRPr lang="en-US" dirty="0" smtClean="0"/>
          </a:p>
          <a:p>
            <a:endParaRPr lang="en-US" dirty="0" smtClean="0"/>
          </a:p>
          <a:p>
            <a:r>
              <a:rPr lang="en-US" dirty="0" smtClean="0"/>
              <a:t> </a:t>
            </a:r>
            <a:r>
              <a:rPr lang="en-US" b="1" dirty="0"/>
              <a:t>Left upper abdominal quadrant pain</a:t>
            </a:r>
            <a:r>
              <a:rPr lang="en-US" dirty="0"/>
              <a:t> resulting from splenic infarcts and, the most </a:t>
            </a:r>
            <a:r>
              <a:rPr lang="en-US" dirty="0" err="1"/>
              <a:t>dreadfull</a:t>
            </a:r>
            <a:r>
              <a:rPr lang="en-US" dirty="0"/>
              <a:t>, splenic red cell </a:t>
            </a:r>
            <a:r>
              <a:rPr lang="en-US" dirty="0" smtClean="0"/>
              <a:t>sequestration. </a:t>
            </a:r>
          </a:p>
          <a:p>
            <a:endParaRPr lang="en-US" dirty="0" smtClean="0"/>
          </a:p>
          <a:p>
            <a:r>
              <a:rPr lang="en-US" b="1" dirty="0" smtClean="0"/>
              <a:t> </a:t>
            </a:r>
            <a:r>
              <a:rPr lang="en-US" b="1" dirty="0"/>
              <a:t>Lumbar pain </a:t>
            </a:r>
            <a:r>
              <a:rPr lang="en-US" dirty="0"/>
              <a:t>often accompanied by hematuria resulting from necrosis of the </a:t>
            </a:r>
            <a:r>
              <a:rPr lang="en-US" dirty="0" smtClean="0"/>
              <a:t>papilla</a:t>
            </a:r>
          </a:p>
          <a:p>
            <a:pPr marL="109728" indent="0">
              <a:buNone/>
            </a:pPr>
            <a:r>
              <a:rPr lang="en-US" dirty="0" smtClean="0"/>
              <a:t> </a:t>
            </a:r>
          </a:p>
          <a:p>
            <a:r>
              <a:rPr lang="en-US" dirty="0" smtClean="0"/>
              <a:t> </a:t>
            </a:r>
            <a:r>
              <a:rPr lang="en-US" b="1" dirty="0"/>
              <a:t>Acute Chest Syndrome</a:t>
            </a:r>
            <a:r>
              <a:rPr lang="en-US" dirty="0"/>
              <a:t>; often leading to death (thoracic Pain, dyspnea, ARDS) </a:t>
            </a:r>
            <a:endParaRPr lang="en-US" dirty="0" smtClean="0"/>
          </a:p>
          <a:p>
            <a:endParaRPr lang="en-US" dirty="0"/>
          </a:p>
          <a:p>
            <a:r>
              <a:rPr lang="en-US" b="1" dirty="0" smtClean="0"/>
              <a:t>Neurologic </a:t>
            </a:r>
            <a:r>
              <a:rPr lang="en-US" b="1" dirty="0"/>
              <a:t>Complications </a:t>
            </a:r>
            <a:r>
              <a:rPr lang="en-US" dirty="0"/>
              <a:t>(focal signs, blindness </a:t>
            </a:r>
            <a:r>
              <a:rPr lang="en-US" dirty="0" err="1"/>
              <a:t>etc</a:t>
            </a:r>
            <a:r>
              <a:rPr lang="en-US" dirty="0"/>
              <a:t>)</a:t>
            </a:r>
          </a:p>
        </p:txBody>
      </p:sp>
      <p:sp>
        <p:nvSpPr>
          <p:cNvPr id="3" name="Title 2"/>
          <p:cNvSpPr>
            <a:spLocks noGrp="1"/>
          </p:cNvSpPr>
          <p:nvPr>
            <p:ph type="title"/>
          </p:nvPr>
        </p:nvSpPr>
        <p:spPr>
          <a:xfrm>
            <a:off x="457200" y="228600"/>
            <a:ext cx="8229600" cy="868362"/>
          </a:xfrm>
        </p:spPr>
        <p:txBody>
          <a:bodyPr/>
          <a:lstStyle/>
          <a:p>
            <a:r>
              <a:rPr lang="en-US" dirty="0"/>
              <a:t>The SICKLE CELL CRISIS</a:t>
            </a:r>
          </a:p>
        </p:txBody>
      </p:sp>
    </p:spTree>
    <p:extLst>
      <p:ext uri="{BB962C8B-B14F-4D97-AF65-F5344CB8AC3E}">
        <p14:creationId xmlns:p14="http://schemas.microsoft.com/office/powerpoint/2010/main" val="22625864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b="1" dirty="0"/>
              <a:t>Complications</a:t>
            </a:r>
          </a:p>
          <a:p>
            <a:r>
              <a:rPr lang="en-US" dirty="0"/>
              <a:t>Initial symptoms of sickle cell disease tend to present in young children approximately six months to one year old, as the high concentration of </a:t>
            </a:r>
            <a:r>
              <a:rPr lang="en-US" dirty="0" err="1"/>
              <a:t>foetal</a:t>
            </a:r>
            <a:r>
              <a:rPr lang="en-US" dirty="0"/>
              <a:t> </a:t>
            </a:r>
            <a:r>
              <a:rPr lang="en-US" dirty="0" err="1"/>
              <a:t>haemoglobin</a:t>
            </a:r>
            <a:r>
              <a:rPr lang="en-US" dirty="0"/>
              <a:t> plays a protective role before this time. There are three main complications that can arise: sickle cell crisis, </a:t>
            </a:r>
            <a:r>
              <a:rPr lang="en-US" dirty="0" err="1"/>
              <a:t>anaemia</a:t>
            </a:r>
            <a:r>
              <a:rPr lang="en-US" dirty="0"/>
              <a:t> and multiple organ damage</a:t>
            </a:r>
          </a:p>
          <a:p>
            <a:pPr marL="109728" indent="0">
              <a:buNone/>
            </a:pPr>
            <a:r>
              <a:rPr lang="en-US" dirty="0" smtClean="0"/>
              <a:t>.</a:t>
            </a:r>
            <a:endParaRPr lang="en-US" dirty="0"/>
          </a:p>
          <a:p>
            <a:endParaRPr lang="en-US" dirty="0"/>
          </a:p>
        </p:txBody>
      </p:sp>
      <p:sp>
        <p:nvSpPr>
          <p:cNvPr id="3" name="Title 2"/>
          <p:cNvSpPr>
            <a:spLocks noGrp="1"/>
          </p:cNvSpPr>
          <p:nvPr>
            <p:ph type="title"/>
          </p:nvPr>
        </p:nvSpPr>
        <p:spPr/>
        <p:txBody>
          <a:bodyPr/>
          <a:lstStyle/>
          <a:p>
            <a:endParaRPr lang="en-US" dirty="0"/>
          </a:p>
        </p:txBody>
      </p:sp>
    </p:spTree>
    <p:extLst>
      <p:ext uri="{BB962C8B-B14F-4D97-AF65-F5344CB8AC3E}">
        <p14:creationId xmlns:p14="http://schemas.microsoft.com/office/powerpoint/2010/main" val="24798842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Sickle cell crises may result due to the increased viscosity of the blood and the formation of blockages in the blood vessels. When the rigid cells group together, they can disrupt the flow of oxygen and restrict the supply to tissues that require oxygenation. This results in sudden and severe pain, known as sickle cell crisis, that usually require medical management</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5409010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Additional tests</a:t>
            </a:r>
          </a:p>
          <a:p>
            <a:r>
              <a:rPr lang="en-US" dirty="0"/>
              <a:t>If you or your child has sickle cell anemia, a blood test to check for a low red blood cell count (anemia) will be done. </a:t>
            </a:r>
            <a:endParaRPr lang="en-US" dirty="0" smtClean="0"/>
          </a:p>
          <a:p>
            <a:r>
              <a:rPr lang="en-US" dirty="0" smtClean="0"/>
              <a:t>Your </a:t>
            </a:r>
            <a:r>
              <a:rPr lang="en-US" dirty="0"/>
              <a:t>doctor might suggest additional tests to check for possible complications of the disease.</a:t>
            </a:r>
          </a:p>
          <a:p>
            <a:r>
              <a:rPr lang="en-US" dirty="0"/>
              <a:t>If you or your child carries the sickle cell gene, you'll likely be referred to a genetic counselor</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0257635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smtClean="0"/>
              <a:t>Sickle </a:t>
            </a:r>
            <a:r>
              <a:rPr lang="en-US" dirty="0"/>
              <a:t>cell disease can be diagnosed in an unborn baby by sampling some of the fluid surrounding the baby in the mother's womb (amniotic fluid) to look for the sickle cell gene. If you or your partner has been diagnosed with sickle cell anemia or sickle cell trait, ask your doctor about whether you should consider this screening. </a:t>
            </a:r>
            <a:endParaRPr lang="en-US" dirty="0" smtClean="0"/>
          </a:p>
          <a:p>
            <a:r>
              <a:rPr lang="en-US" dirty="0" smtClean="0"/>
              <a:t>Ask </a:t>
            </a:r>
            <a:r>
              <a:rPr lang="en-US" dirty="0"/>
              <a:t>for a referral to a genetic counselor who can help you understand the risk to your baby.</a:t>
            </a:r>
          </a:p>
          <a:p>
            <a:endParaRPr lang="en-US" dirty="0"/>
          </a:p>
        </p:txBody>
      </p:sp>
      <p:sp>
        <p:nvSpPr>
          <p:cNvPr id="3" name="Title 2"/>
          <p:cNvSpPr>
            <a:spLocks noGrp="1"/>
          </p:cNvSpPr>
          <p:nvPr>
            <p:ph type="title"/>
          </p:nvPr>
        </p:nvSpPr>
        <p:spPr>
          <a:xfrm>
            <a:off x="457200" y="457200"/>
            <a:ext cx="8229600" cy="685800"/>
          </a:xfrm>
        </p:spPr>
        <p:txBody>
          <a:bodyPr>
            <a:normAutofit fontScale="90000"/>
          </a:bodyPr>
          <a:lstStyle/>
          <a:p>
            <a:r>
              <a:rPr lang="en-US" dirty="0"/>
              <a:t>Tests to detect sickle cell genes before birth</a:t>
            </a:r>
            <a:br>
              <a:rPr lang="en-US" dirty="0"/>
            </a:br>
            <a:endParaRPr lang="en-US" dirty="0"/>
          </a:p>
        </p:txBody>
      </p:sp>
    </p:spTree>
    <p:extLst>
      <p:ext uri="{BB962C8B-B14F-4D97-AF65-F5344CB8AC3E}">
        <p14:creationId xmlns:p14="http://schemas.microsoft.com/office/powerpoint/2010/main" val="18556847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Anemia can present due to hemolysis of the red blood cells with sickle </a:t>
            </a:r>
            <a:r>
              <a:rPr lang="en-US" dirty="0" err="1"/>
              <a:t>haemoglobin</a:t>
            </a:r>
            <a:r>
              <a:rPr lang="en-US" dirty="0"/>
              <a:t> in the spleen. As a result, the red blood cells have a shorter lifespan than normal and hemolytic </a:t>
            </a:r>
            <a:r>
              <a:rPr lang="en-US" dirty="0" err="1"/>
              <a:t>anaemia</a:t>
            </a:r>
            <a:r>
              <a:rPr lang="en-US" dirty="0"/>
              <a:t> can present.</a:t>
            </a:r>
          </a:p>
          <a:p>
            <a:r>
              <a:rPr lang="en-US" dirty="0"/>
              <a:t>Main organ damage can occur to patients with sickle </a:t>
            </a:r>
            <a:r>
              <a:rPr lang="en-US" dirty="0" err="1"/>
              <a:t>haemoglobin</a:t>
            </a:r>
            <a:r>
              <a:rPr lang="en-US" dirty="0"/>
              <a:t> over an extended period of time. </a:t>
            </a:r>
            <a:endParaRPr lang="en-US" dirty="0" smtClean="0"/>
          </a:p>
          <a:p>
            <a:r>
              <a:rPr lang="en-US" dirty="0" smtClean="0"/>
              <a:t>This </a:t>
            </a:r>
            <a:r>
              <a:rPr lang="en-US" dirty="0"/>
              <a:t>may affect the heart, skeleton, spleen, brain, eyes, lungs, kidneys, penis and skin.</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730730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092891"/>
          </a:xfrm>
        </p:spPr>
        <p:txBody>
          <a:bodyPr>
            <a:normAutofit lnSpcReduction="10000"/>
          </a:bodyPr>
          <a:lstStyle/>
          <a:p>
            <a:r>
              <a:rPr lang="en-US" dirty="0" smtClean="0"/>
              <a:t>Bone </a:t>
            </a:r>
            <a:r>
              <a:rPr lang="en-US" dirty="0"/>
              <a:t>marrow transplant, also known as stem cell transplant, offers the only potential cure for sickle cell anemia. </a:t>
            </a:r>
            <a:endParaRPr lang="en-US" dirty="0" smtClean="0"/>
          </a:p>
          <a:p>
            <a:r>
              <a:rPr lang="en-US" dirty="0" smtClean="0"/>
              <a:t>It's </a:t>
            </a:r>
            <a:r>
              <a:rPr lang="en-US" dirty="0"/>
              <a:t>usually reserved for people younger than age 16 because the risks increase for people older than 16. </a:t>
            </a:r>
            <a:endParaRPr lang="en-US" dirty="0" smtClean="0"/>
          </a:p>
          <a:p>
            <a:r>
              <a:rPr lang="en-US" dirty="0" smtClean="0"/>
              <a:t>Finding </a:t>
            </a:r>
            <a:r>
              <a:rPr lang="en-US" dirty="0"/>
              <a:t>a donor is difficult, and the procedure has serious risks associated with it, including death</a:t>
            </a:r>
            <a:r>
              <a:rPr lang="en-US" dirty="0" smtClean="0"/>
              <a:t>.</a:t>
            </a:r>
          </a:p>
          <a:p>
            <a:r>
              <a:rPr lang="en-US" dirty="0"/>
              <a:t>Treatments might include medications to reduce pain and prevent complications, and blood transfusions, as well as a bone marrow transplant</a:t>
            </a:r>
          </a:p>
          <a:p>
            <a:endParaRPr lang="en-US" dirty="0"/>
          </a:p>
        </p:txBody>
      </p:sp>
      <p:sp>
        <p:nvSpPr>
          <p:cNvPr id="3" name="Title 2"/>
          <p:cNvSpPr>
            <a:spLocks noGrp="1"/>
          </p:cNvSpPr>
          <p:nvPr>
            <p:ph type="title"/>
          </p:nvPr>
        </p:nvSpPr>
        <p:spPr>
          <a:xfrm>
            <a:off x="457200" y="274638"/>
            <a:ext cx="8229600" cy="792162"/>
          </a:xfrm>
        </p:spPr>
        <p:txBody>
          <a:bodyPr>
            <a:normAutofit fontScale="90000"/>
          </a:bodyPr>
          <a:lstStyle/>
          <a:p>
            <a:r>
              <a:rPr lang="en-US" dirty="0"/>
              <a:t>Treatment</a:t>
            </a:r>
            <a:br>
              <a:rPr lang="en-US" dirty="0"/>
            </a:br>
            <a:endParaRPr lang="en-US" dirty="0"/>
          </a:p>
        </p:txBody>
      </p:sp>
    </p:spTree>
    <p:extLst>
      <p:ext uri="{BB962C8B-B14F-4D97-AF65-F5344CB8AC3E}">
        <p14:creationId xmlns:p14="http://schemas.microsoft.com/office/powerpoint/2010/main" val="24064113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 treatment for sickle cell anemia is usually aimed at avoiding crises, relieving symptoms and preventing complications</a:t>
            </a:r>
            <a:r>
              <a:rPr lang="en-US" dirty="0" smtClean="0"/>
              <a:t>.</a:t>
            </a:r>
          </a:p>
          <a:p>
            <a:r>
              <a:rPr lang="en-US" dirty="0" smtClean="0"/>
              <a:t> </a:t>
            </a:r>
            <a:r>
              <a:rPr lang="en-US" dirty="0"/>
              <a:t>Babies and children age 2 and younger with sickle cell anemia should make frequent visits to a doctor. </a:t>
            </a:r>
            <a:endParaRPr lang="en-US" dirty="0" smtClean="0"/>
          </a:p>
          <a:p>
            <a:r>
              <a:rPr lang="en-US" dirty="0" smtClean="0"/>
              <a:t>Children </a:t>
            </a:r>
            <a:r>
              <a:rPr lang="en-US" dirty="0"/>
              <a:t>older than 2 and adults with sickle cell anemia should see a doctor at least once a year, according to the Centers for Disease Control and Prevention</a:t>
            </a:r>
          </a:p>
        </p:txBody>
      </p:sp>
      <p:sp>
        <p:nvSpPr>
          <p:cNvPr id="3" name="Title 2"/>
          <p:cNvSpPr>
            <a:spLocks noGrp="1"/>
          </p:cNvSpPr>
          <p:nvPr>
            <p:ph type="title"/>
          </p:nvPr>
        </p:nvSpPr>
        <p:spPr/>
        <p:txBody>
          <a:bodyPr/>
          <a:lstStyle/>
          <a:p>
            <a:r>
              <a:rPr lang="en-US" dirty="0" smtClean="0"/>
              <a:t>Treatment cont’d</a:t>
            </a:r>
            <a:endParaRPr lang="en-US" dirty="0"/>
          </a:p>
        </p:txBody>
      </p:sp>
    </p:spTree>
    <p:extLst>
      <p:ext uri="{BB962C8B-B14F-4D97-AF65-F5344CB8AC3E}">
        <p14:creationId xmlns:p14="http://schemas.microsoft.com/office/powerpoint/2010/main" val="34217284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321491"/>
          </a:xfrm>
        </p:spPr>
        <p:txBody>
          <a:bodyPr>
            <a:normAutofit/>
          </a:bodyPr>
          <a:lstStyle/>
          <a:p>
            <a:r>
              <a:rPr lang="en-US" dirty="0" smtClean="0"/>
              <a:t>Medications </a:t>
            </a:r>
            <a:r>
              <a:rPr lang="en-US" dirty="0"/>
              <a:t>used to treat sickle cell anemia include:</a:t>
            </a:r>
          </a:p>
          <a:p>
            <a:r>
              <a:rPr lang="en-US" b="1" dirty="0"/>
              <a:t>Antibiotics.</a:t>
            </a:r>
            <a:r>
              <a:rPr lang="en-US" dirty="0"/>
              <a:t> Children with sickle cell anemia may begin taking the antibiotic penicillin when they're about 2 months old and continue taking it until they're at least 5 years old. Doing so helps prevent infections, such as pneumonia, which can be life-threatening to an infant or child with sickle cell anemia.</a:t>
            </a:r>
          </a:p>
          <a:p>
            <a:endParaRPr lang="en-US" dirty="0"/>
          </a:p>
        </p:txBody>
      </p:sp>
      <p:sp>
        <p:nvSpPr>
          <p:cNvPr id="3" name="Title 2"/>
          <p:cNvSpPr>
            <a:spLocks noGrp="1"/>
          </p:cNvSpPr>
          <p:nvPr>
            <p:ph type="title"/>
          </p:nvPr>
        </p:nvSpPr>
        <p:spPr>
          <a:xfrm>
            <a:off x="457200" y="274638"/>
            <a:ext cx="8229600" cy="563562"/>
          </a:xfrm>
        </p:spPr>
        <p:txBody>
          <a:bodyPr>
            <a:normAutofit fontScale="90000"/>
          </a:bodyPr>
          <a:lstStyle/>
          <a:p>
            <a:r>
              <a:rPr lang="en-US" dirty="0"/>
              <a:t>Medications</a:t>
            </a:r>
            <a:br>
              <a:rPr lang="en-US" dirty="0"/>
            </a:br>
            <a:endParaRPr lang="en-US" dirty="0"/>
          </a:p>
        </p:txBody>
      </p:sp>
    </p:spTree>
    <p:extLst>
      <p:ext uri="{BB962C8B-B14F-4D97-AF65-F5344CB8AC3E}">
        <p14:creationId xmlns:p14="http://schemas.microsoft.com/office/powerpoint/2010/main" val="29615171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As an adult, if you've had your spleen removed or had pneumonia, you might need to take penicillin throughout your life</a:t>
            </a:r>
            <a:r>
              <a:rPr lang="en-US" dirty="0" smtClean="0"/>
              <a:t>.</a:t>
            </a:r>
          </a:p>
          <a:p>
            <a:endParaRPr lang="en-US" dirty="0"/>
          </a:p>
          <a:p>
            <a:r>
              <a:rPr lang="en-US" b="1" dirty="0"/>
              <a:t>Pain-relieving medications.</a:t>
            </a:r>
            <a:r>
              <a:rPr lang="en-US" dirty="0"/>
              <a:t> To relieve pain during a sickle cell crisis, your doctor might prescribe pain medications.</a:t>
            </a:r>
          </a:p>
          <a:p>
            <a:endParaRPr lang="en-US" dirty="0"/>
          </a:p>
        </p:txBody>
      </p:sp>
      <p:sp>
        <p:nvSpPr>
          <p:cNvPr id="3" name="Title 2"/>
          <p:cNvSpPr>
            <a:spLocks noGrp="1"/>
          </p:cNvSpPr>
          <p:nvPr>
            <p:ph type="title"/>
          </p:nvPr>
        </p:nvSpPr>
        <p:spPr/>
        <p:txBody>
          <a:bodyPr/>
          <a:lstStyle/>
          <a:p>
            <a:endParaRPr lang="en-US" dirty="0"/>
          </a:p>
        </p:txBody>
      </p:sp>
    </p:spTree>
    <p:extLst>
      <p:ext uri="{BB962C8B-B14F-4D97-AF65-F5344CB8AC3E}">
        <p14:creationId xmlns:p14="http://schemas.microsoft.com/office/powerpoint/2010/main" val="18944076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5562600"/>
          </a:xfrm>
        </p:spPr>
        <p:txBody>
          <a:bodyPr>
            <a:normAutofit fontScale="92500" lnSpcReduction="20000"/>
          </a:bodyPr>
          <a:lstStyle/>
          <a:p>
            <a:r>
              <a:rPr lang="en-US" b="1" dirty="0" err="1"/>
              <a:t>Hydroxyurea</a:t>
            </a:r>
            <a:r>
              <a:rPr lang="en-US" b="1" dirty="0"/>
              <a:t> (</a:t>
            </a:r>
            <a:r>
              <a:rPr lang="en-US" b="1" dirty="0" err="1"/>
              <a:t>Droxia</a:t>
            </a:r>
            <a:r>
              <a:rPr lang="en-US" b="1" dirty="0"/>
              <a:t>, </a:t>
            </a:r>
            <a:r>
              <a:rPr lang="en-US" b="1" dirty="0" err="1"/>
              <a:t>Hydrea</a:t>
            </a:r>
            <a:r>
              <a:rPr lang="en-US" b="1" dirty="0"/>
              <a:t>).</a:t>
            </a:r>
            <a:r>
              <a:rPr lang="en-US" dirty="0"/>
              <a:t> When taken daily, </a:t>
            </a:r>
            <a:r>
              <a:rPr lang="en-US" dirty="0" err="1"/>
              <a:t>hydroxyurea</a:t>
            </a:r>
            <a:r>
              <a:rPr lang="en-US" dirty="0"/>
              <a:t> reduces the frequency of painful crises and might reduce the need for blood transfusions and hospitalizations. </a:t>
            </a:r>
            <a:r>
              <a:rPr lang="en-US" dirty="0" err="1"/>
              <a:t>Hydroxyurea</a:t>
            </a:r>
            <a:r>
              <a:rPr lang="en-US" dirty="0"/>
              <a:t> seems to work by stimulating production of fetal hemoglobin — a type of hemoglobin found in newborns that helps prevent the formation of sickle cells.</a:t>
            </a:r>
          </a:p>
          <a:p>
            <a:r>
              <a:rPr lang="en-US" dirty="0" err="1"/>
              <a:t>Hydroxyurea</a:t>
            </a:r>
            <a:r>
              <a:rPr lang="en-US" dirty="0"/>
              <a:t> increases your risk of infections, and there is some concern that long-term use of this drug might cause problems later in life for people who take it for many years. More study is needed.</a:t>
            </a:r>
          </a:p>
          <a:p>
            <a:r>
              <a:rPr lang="en-US" dirty="0"/>
              <a:t>Your doctor can help you determine if this drug might be beneficial for you or your child. Don't take the drug if you're pregnant.</a:t>
            </a:r>
          </a:p>
          <a:p>
            <a:endParaRPr lang="en-US" dirty="0"/>
          </a:p>
        </p:txBody>
      </p:sp>
      <p:sp>
        <p:nvSpPr>
          <p:cNvPr id="3" name="Title 2"/>
          <p:cNvSpPr>
            <a:spLocks noGrp="1"/>
          </p:cNvSpPr>
          <p:nvPr>
            <p:ph type="title"/>
          </p:nvPr>
        </p:nvSpPr>
        <p:spPr>
          <a:xfrm>
            <a:off x="457200" y="274638"/>
            <a:ext cx="8229600" cy="639762"/>
          </a:xfrm>
        </p:spPr>
        <p:txBody>
          <a:bodyPr>
            <a:normAutofit fontScale="90000"/>
          </a:bodyPr>
          <a:lstStyle/>
          <a:p>
            <a:endParaRPr lang="en-US" dirty="0"/>
          </a:p>
        </p:txBody>
      </p:sp>
    </p:spTree>
    <p:extLst>
      <p:ext uri="{BB962C8B-B14F-4D97-AF65-F5344CB8AC3E}">
        <p14:creationId xmlns:p14="http://schemas.microsoft.com/office/powerpoint/2010/main" val="42449920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864291"/>
          </a:xfrm>
        </p:spPr>
        <p:txBody>
          <a:bodyPr/>
          <a:lstStyle/>
          <a:p>
            <a:r>
              <a:rPr lang="en-US" dirty="0" smtClean="0"/>
              <a:t>Using </a:t>
            </a:r>
            <a:r>
              <a:rPr lang="en-US" dirty="0"/>
              <a:t>a special ultrasound machine (</a:t>
            </a:r>
            <a:r>
              <a:rPr lang="en-US" dirty="0" err="1"/>
              <a:t>transcranial</a:t>
            </a:r>
            <a:r>
              <a:rPr lang="en-US" dirty="0"/>
              <a:t>), doctors can learn which children have a higher risk of stroke. </a:t>
            </a:r>
            <a:endParaRPr lang="en-US" dirty="0" smtClean="0"/>
          </a:p>
          <a:p>
            <a:r>
              <a:rPr lang="en-US" dirty="0" smtClean="0"/>
              <a:t>This </a:t>
            </a:r>
            <a:r>
              <a:rPr lang="en-US" dirty="0"/>
              <a:t>painless test, which uses sound waves to measure blood flow, can be used on children as young as 2 years. Regular blood transfusions can decrease stroke risk</a:t>
            </a:r>
          </a:p>
          <a:p>
            <a:endParaRPr lang="en-US" dirty="0"/>
          </a:p>
        </p:txBody>
      </p:sp>
      <p:sp>
        <p:nvSpPr>
          <p:cNvPr id="3" name="Title 2"/>
          <p:cNvSpPr>
            <a:spLocks noGrp="1"/>
          </p:cNvSpPr>
          <p:nvPr>
            <p:ph type="title"/>
          </p:nvPr>
        </p:nvSpPr>
        <p:spPr/>
        <p:txBody>
          <a:bodyPr>
            <a:normAutofit fontScale="90000"/>
          </a:bodyPr>
          <a:lstStyle/>
          <a:p>
            <a:r>
              <a:rPr lang="en-US" dirty="0">
                <a:effectLst/>
              </a:rPr>
              <a:t>Assessing stroke risk</a:t>
            </a:r>
            <a:br>
              <a:rPr lang="en-US" dirty="0">
                <a:effectLst/>
              </a:rPr>
            </a:br>
            <a:endParaRPr lang="en-US" dirty="0"/>
          </a:p>
        </p:txBody>
      </p:sp>
    </p:spTree>
    <p:extLst>
      <p:ext uri="{BB962C8B-B14F-4D97-AF65-F5344CB8AC3E}">
        <p14:creationId xmlns:p14="http://schemas.microsoft.com/office/powerpoint/2010/main" val="29011433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smtClean="0"/>
              <a:t>Childhood </a:t>
            </a:r>
            <a:r>
              <a:rPr lang="en-US" dirty="0"/>
              <a:t>vaccinations are important for preventing disease in all children. They're even more important for children with sickle cell anemia because their infections can be severe.</a:t>
            </a:r>
          </a:p>
          <a:p>
            <a:r>
              <a:rPr lang="en-US" dirty="0"/>
              <a:t>Your doctor will make sure your child receives all of the recommended childhood vaccinations</a:t>
            </a:r>
            <a:r>
              <a:rPr lang="en-US" dirty="0" smtClean="0"/>
              <a:t>.</a:t>
            </a:r>
          </a:p>
          <a:p>
            <a:r>
              <a:rPr lang="en-US" dirty="0" smtClean="0"/>
              <a:t> </a:t>
            </a:r>
            <a:r>
              <a:rPr lang="en-US" dirty="0"/>
              <a:t>Vaccinations, such as the pneumococcal vaccine and the annual flu shot, are also important for adults with sickle cell anemia.</a:t>
            </a:r>
          </a:p>
          <a:p>
            <a:endParaRPr lang="en-US" dirty="0"/>
          </a:p>
        </p:txBody>
      </p:sp>
      <p:sp>
        <p:nvSpPr>
          <p:cNvPr id="3" name="Title 2"/>
          <p:cNvSpPr>
            <a:spLocks noGrp="1"/>
          </p:cNvSpPr>
          <p:nvPr>
            <p:ph type="title"/>
          </p:nvPr>
        </p:nvSpPr>
        <p:spPr/>
        <p:txBody>
          <a:bodyPr>
            <a:normAutofit fontScale="90000"/>
          </a:bodyPr>
          <a:lstStyle/>
          <a:p>
            <a:r>
              <a:rPr lang="en-US" dirty="0"/>
              <a:t>Vaccinations to prevent infections</a:t>
            </a:r>
          </a:p>
        </p:txBody>
      </p:sp>
    </p:spTree>
    <p:extLst>
      <p:ext uri="{BB962C8B-B14F-4D97-AF65-F5344CB8AC3E}">
        <p14:creationId xmlns:p14="http://schemas.microsoft.com/office/powerpoint/2010/main" val="35127422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5397691"/>
          </a:xfrm>
        </p:spPr>
        <p:txBody>
          <a:bodyPr>
            <a:normAutofit lnSpcReduction="10000"/>
          </a:bodyPr>
          <a:lstStyle/>
          <a:p>
            <a:r>
              <a:rPr lang="en-US" dirty="0" smtClean="0"/>
              <a:t>In </a:t>
            </a:r>
            <a:r>
              <a:rPr lang="en-US" dirty="0"/>
              <a:t>a red blood cell transfusion, red blood cells are removed from a supply of donated blood, then given intravenously to a person with sickle cell anemia.</a:t>
            </a:r>
          </a:p>
          <a:p>
            <a:r>
              <a:rPr lang="en-US" dirty="0"/>
              <a:t>Blood transfusions increase the number of normal red blood cells in circulation, helping to relieve anemia. </a:t>
            </a:r>
            <a:endParaRPr lang="en-US" dirty="0" smtClean="0"/>
          </a:p>
          <a:p>
            <a:r>
              <a:rPr lang="en-US" dirty="0" smtClean="0"/>
              <a:t>In </a:t>
            </a:r>
            <a:r>
              <a:rPr lang="en-US" dirty="0"/>
              <a:t>children with sickle cell anemia at high risk of stroke, regular blood transfusions can decrease the risk. Transfusions can also be used to treat other complications of sickle cell anemia, or they can be given to prevent complications.</a:t>
            </a:r>
          </a:p>
          <a:p>
            <a:endParaRPr lang="en-US" dirty="0"/>
          </a:p>
        </p:txBody>
      </p:sp>
      <p:sp>
        <p:nvSpPr>
          <p:cNvPr id="3" name="Title 2"/>
          <p:cNvSpPr>
            <a:spLocks noGrp="1"/>
          </p:cNvSpPr>
          <p:nvPr>
            <p:ph type="title"/>
          </p:nvPr>
        </p:nvSpPr>
        <p:spPr>
          <a:xfrm>
            <a:off x="457200" y="274638"/>
            <a:ext cx="8229600" cy="563562"/>
          </a:xfrm>
        </p:spPr>
        <p:txBody>
          <a:bodyPr>
            <a:normAutofit fontScale="90000"/>
          </a:bodyPr>
          <a:lstStyle/>
          <a:p>
            <a:r>
              <a:rPr lang="en-US" dirty="0"/>
              <a:t>Blood transfusions</a:t>
            </a:r>
            <a:br>
              <a:rPr lang="en-US" dirty="0"/>
            </a:br>
            <a:endParaRPr lang="en-US" dirty="0"/>
          </a:p>
        </p:txBody>
      </p:sp>
    </p:spTree>
    <p:extLst>
      <p:ext uri="{BB962C8B-B14F-4D97-AF65-F5344CB8AC3E}">
        <p14:creationId xmlns:p14="http://schemas.microsoft.com/office/powerpoint/2010/main" val="40163275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Blood transfusions carry some risk, including infection and excess iron buildup in your body. </a:t>
            </a:r>
            <a:endParaRPr lang="en-US" dirty="0" smtClean="0"/>
          </a:p>
          <a:p>
            <a:r>
              <a:rPr lang="en-US" dirty="0" smtClean="0"/>
              <a:t>Because </a:t>
            </a:r>
            <a:r>
              <a:rPr lang="en-US" dirty="0"/>
              <a:t>excess iron can damage your heart, liver and other organs, people who undergo regular transfusions might need treatment to reduce iron levels</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431631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4940491"/>
          </a:xfrm>
        </p:spPr>
        <p:txBody>
          <a:bodyPr>
            <a:normAutofit fontScale="92500" lnSpcReduction="20000"/>
          </a:bodyPr>
          <a:lstStyle/>
          <a:p>
            <a:r>
              <a:rPr lang="en-US" dirty="0" smtClean="0"/>
              <a:t>A </a:t>
            </a:r>
            <a:r>
              <a:rPr lang="en-US" dirty="0"/>
              <a:t>bone marrow transplant, also called a stem cell transplant, involves replacing bone marrow affected by sickle cell anemia with healthy bone marrow from a donor. </a:t>
            </a:r>
            <a:endParaRPr lang="en-US" dirty="0" smtClean="0"/>
          </a:p>
          <a:p>
            <a:r>
              <a:rPr lang="en-US" dirty="0" smtClean="0"/>
              <a:t>The </a:t>
            </a:r>
            <a:r>
              <a:rPr lang="en-US" dirty="0"/>
              <a:t>procedure usually uses a matched donor, such as a sibling, who doesn't have sickle cell anemia. For many, donors aren't available. But stem cells from umbilical cord blood might be an option.</a:t>
            </a:r>
          </a:p>
          <a:p>
            <a:r>
              <a:rPr lang="en-US" dirty="0"/>
              <a:t>Because of the risks associated with a bone marrow transplant, the procedure is recommended only for people, usually children, who have significant symptoms and problems from sickle cell anemia.</a:t>
            </a:r>
          </a:p>
          <a:p>
            <a:endParaRPr lang="en-US" dirty="0"/>
          </a:p>
        </p:txBody>
      </p:sp>
      <p:sp>
        <p:nvSpPr>
          <p:cNvPr id="3" name="Title 2"/>
          <p:cNvSpPr>
            <a:spLocks noGrp="1"/>
          </p:cNvSpPr>
          <p:nvPr>
            <p:ph type="title"/>
          </p:nvPr>
        </p:nvSpPr>
        <p:spPr>
          <a:xfrm>
            <a:off x="457200" y="274638"/>
            <a:ext cx="8229600" cy="792162"/>
          </a:xfrm>
        </p:spPr>
        <p:txBody>
          <a:bodyPr/>
          <a:lstStyle/>
          <a:p>
            <a:r>
              <a:rPr lang="en-US" dirty="0"/>
              <a:t>Bone marrow transplant</a:t>
            </a:r>
          </a:p>
        </p:txBody>
      </p:sp>
    </p:spTree>
    <p:extLst>
      <p:ext uri="{BB962C8B-B14F-4D97-AF65-F5344CB8AC3E}">
        <p14:creationId xmlns:p14="http://schemas.microsoft.com/office/powerpoint/2010/main" val="36482050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If a donor is found, the person with sickle cell anemia receives radiation or chemotherapy to destroy or reduce his or her bone marrow stem cells. Healthy stem cells from the donor are injected intravenously into the bloodstream of the person with sickle cell anemia, where they migrate to the bone marrow and begin generating new blood cells.</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2849912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procedure requires a lengthy hospital stay. After the transplant, you'll receive drugs to help prevent rejection of the donated stem cells. Even so, your body might reject the transplant, leading to life-threatening complications.</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359317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Doctors </a:t>
            </a:r>
            <a:r>
              <a:rPr lang="en-US" dirty="0"/>
              <a:t>treat most complications of sickle cell anemia as they occur</a:t>
            </a:r>
            <a:r>
              <a:rPr lang="en-US" dirty="0" smtClean="0"/>
              <a:t>.</a:t>
            </a:r>
          </a:p>
          <a:p>
            <a:r>
              <a:rPr lang="en-US" dirty="0" smtClean="0"/>
              <a:t>Treatment </a:t>
            </a:r>
            <a:r>
              <a:rPr lang="en-US" dirty="0"/>
              <a:t>might include antibiotics, vitamins, blood transfusions, pain-relieving medicines, other medications and possibly surgery, such as to correct vision problems or to remove a damaged spleen.</a:t>
            </a:r>
          </a:p>
        </p:txBody>
      </p:sp>
      <p:sp>
        <p:nvSpPr>
          <p:cNvPr id="3" name="Title 2"/>
          <p:cNvSpPr>
            <a:spLocks noGrp="1"/>
          </p:cNvSpPr>
          <p:nvPr>
            <p:ph type="title"/>
          </p:nvPr>
        </p:nvSpPr>
        <p:spPr>
          <a:xfrm>
            <a:off x="457200" y="274638"/>
            <a:ext cx="8229600" cy="792162"/>
          </a:xfrm>
        </p:spPr>
        <p:txBody>
          <a:bodyPr>
            <a:normAutofit fontScale="90000"/>
          </a:bodyPr>
          <a:lstStyle/>
          <a:p>
            <a:r>
              <a:rPr lang="en-US" dirty="0"/>
              <a:t>Treating sickle cell complications</a:t>
            </a:r>
            <a:br>
              <a:rPr lang="en-US" dirty="0"/>
            </a:br>
            <a:endParaRPr lang="en-US" dirty="0"/>
          </a:p>
        </p:txBody>
      </p:sp>
    </p:spTree>
    <p:extLst>
      <p:ext uri="{BB962C8B-B14F-4D97-AF65-F5344CB8AC3E}">
        <p14:creationId xmlns:p14="http://schemas.microsoft.com/office/powerpoint/2010/main" val="19512330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245291"/>
          </a:xfrm>
        </p:spPr>
        <p:txBody>
          <a:bodyPr>
            <a:normAutofit fontScale="92500"/>
          </a:bodyPr>
          <a:lstStyle/>
          <a:p>
            <a:r>
              <a:rPr lang="en-US" dirty="0" smtClean="0"/>
              <a:t>Scientists </a:t>
            </a:r>
            <a:r>
              <a:rPr lang="en-US" dirty="0"/>
              <a:t>are studying new treatments for sickle cell anemia, including:</a:t>
            </a:r>
          </a:p>
          <a:p>
            <a:r>
              <a:rPr lang="en-US" b="1" dirty="0"/>
              <a:t>Gene therapy.</a:t>
            </a:r>
            <a:r>
              <a:rPr lang="en-US" dirty="0"/>
              <a:t> Researchers are exploring whether inserting a normal gene into the bone marrow of people with sickle cell anemia will result in normal hemoglobin. Scientists are also exploring the possibility of turning off the defective gene while reactivating another gene responsible for the production of fetal hemoglobin — a type of hemoglobin found in newborns that prevents sickle cells from forming.</a:t>
            </a:r>
          </a:p>
          <a:p>
            <a:r>
              <a:rPr lang="en-US" dirty="0"/>
              <a:t>Potential treatments using gene therapy are a long way off, however</a:t>
            </a:r>
            <a:r>
              <a:rPr lang="en-US" dirty="0" smtClean="0"/>
              <a:t>.</a:t>
            </a:r>
            <a:endParaRPr lang="en-US" dirty="0"/>
          </a:p>
        </p:txBody>
      </p:sp>
      <p:sp>
        <p:nvSpPr>
          <p:cNvPr id="3" name="Title 2"/>
          <p:cNvSpPr>
            <a:spLocks noGrp="1"/>
          </p:cNvSpPr>
          <p:nvPr>
            <p:ph type="title"/>
          </p:nvPr>
        </p:nvSpPr>
        <p:spPr>
          <a:xfrm>
            <a:off x="457200" y="274638"/>
            <a:ext cx="8229600" cy="563562"/>
          </a:xfrm>
        </p:spPr>
        <p:txBody>
          <a:bodyPr>
            <a:normAutofit fontScale="90000"/>
          </a:bodyPr>
          <a:lstStyle/>
          <a:p>
            <a:r>
              <a:rPr lang="en-US" dirty="0"/>
              <a:t>Experimental treatments</a:t>
            </a:r>
            <a:br>
              <a:rPr lang="en-US" dirty="0"/>
            </a:br>
            <a:endParaRPr lang="en-US" dirty="0"/>
          </a:p>
        </p:txBody>
      </p:sp>
    </p:spTree>
    <p:extLst>
      <p:ext uri="{BB962C8B-B14F-4D97-AF65-F5344CB8AC3E}">
        <p14:creationId xmlns:p14="http://schemas.microsoft.com/office/powerpoint/2010/main" val="8693894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b="1" dirty="0"/>
              <a:t>Nitric oxide.</a:t>
            </a:r>
            <a:r>
              <a:rPr lang="en-US" dirty="0"/>
              <a:t> People with sickle cell anemia have low levels of nitric oxide in their blood. Nitric oxide is a gas that helps keep blood vessels open and reduces the stickiness of red blood cells. Treatment with inhaled nitric oxide might prevent sickle cells from clumping together. Studies on nitric oxide have shown little benefit so far.</a:t>
            </a:r>
          </a:p>
          <a:p>
            <a:r>
              <a:rPr lang="en-US" b="1" dirty="0"/>
              <a:t>Drugs to boost fetal hemoglobin production.</a:t>
            </a:r>
            <a:r>
              <a:rPr lang="en-US" dirty="0"/>
              <a:t> Researchers are studying various drugs to devise a way to boost the production of fetal hemoglobin. This is a type of hemoglobin that stops sickle cells from forming.</a:t>
            </a:r>
          </a:p>
          <a:p>
            <a:endParaRPr lang="en-US" dirty="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0974525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b="1" dirty="0"/>
              <a:t>Iron deficiency anemia.</a:t>
            </a:r>
            <a:r>
              <a:rPr lang="en-US" dirty="0"/>
              <a:t> This most common type of anemia is caused by a shortage of iron in your body. Your bone marrow needs iron to make hemoglobin. Without adequate iron, your body can't produce enough hemoglobin for red blood cells.</a:t>
            </a:r>
          </a:p>
          <a:p>
            <a:r>
              <a:rPr lang="en-US" dirty="0"/>
              <a:t>Without iron supplementation, this type of anemia occurs in many pregnant women. It is also caused by blood loss, such as from heavy menstrual bleeding, an ulcer, cancer and regular use of some over-the-counter pain relievers, especially aspirin, which can cause inflammation of the stomach lining resulting in blood loss.</a:t>
            </a:r>
          </a:p>
          <a:p>
            <a:endParaRPr lang="en-US" dirty="0"/>
          </a:p>
        </p:txBody>
      </p:sp>
      <p:sp>
        <p:nvSpPr>
          <p:cNvPr id="3" name="Title 2"/>
          <p:cNvSpPr>
            <a:spLocks noGrp="1"/>
          </p:cNvSpPr>
          <p:nvPr>
            <p:ph type="title"/>
          </p:nvPr>
        </p:nvSpPr>
        <p:spPr/>
        <p:txBody>
          <a:bodyPr/>
          <a:lstStyle/>
          <a:p>
            <a:r>
              <a:rPr lang="en-US" dirty="0" smtClean="0"/>
              <a:t>Iron deficiency anemia</a:t>
            </a:r>
            <a:endParaRPr lang="en-US" dirty="0"/>
          </a:p>
        </p:txBody>
      </p:sp>
    </p:spTree>
    <p:extLst>
      <p:ext uri="{BB962C8B-B14F-4D97-AF65-F5344CB8AC3E}">
        <p14:creationId xmlns:p14="http://schemas.microsoft.com/office/powerpoint/2010/main" val="424415835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321491"/>
          </a:xfrm>
        </p:spPr>
        <p:txBody>
          <a:bodyPr>
            <a:normAutofit fontScale="85000" lnSpcReduction="10000"/>
          </a:bodyPr>
          <a:lstStyle/>
          <a:p>
            <a:r>
              <a:rPr lang="en-US" dirty="0" smtClean="0"/>
              <a:t>It </a:t>
            </a:r>
            <a:r>
              <a:rPr lang="en-US" dirty="0"/>
              <a:t>can happen if you don't eat enough </a:t>
            </a:r>
            <a:r>
              <a:rPr lang="en-US" dirty="0">
                <a:hlinkClick r:id="rId2"/>
              </a:rPr>
              <a:t>foods containing iron</a:t>
            </a:r>
            <a:r>
              <a:rPr lang="en-US" dirty="0"/>
              <a:t>, your body can't properly absorb iron, you lose iron through your blood, or you’re </a:t>
            </a:r>
            <a:r>
              <a:rPr lang="en-US" dirty="0">
                <a:hlinkClick r:id="rId3"/>
              </a:rPr>
              <a:t>pregnant</a:t>
            </a:r>
            <a:r>
              <a:rPr lang="en-US" dirty="0" smtClean="0"/>
              <a:t>.</a:t>
            </a:r>
          </a:p>
          <a:p>
            <a:pPr marL="109728" indent="0">
              <a:buNone/>
            </a:pPr>
            <a:endParaRPr lang="en-US" dirty="0"/>
          </a:p>
          <a:p>
            <a:r>
              <a:rPr lang="en-US" b="1" dirty="0"/>
              <a:t>Your diet is low in iron.</a:t>
            </a:r>
            <a:r>
              <a:rPr lang="en-US" dirty="0"/>
              <a:t> How much iron you need depends on your age and gender. Men need at least 8 milligrams (mg) daily. Women ages 50 and younger need more -- 18 mg.</a:t>
            </a:r>
          </a:p>
          <a:p>
            <a:r>
              <a:rPr lang="en-US" b="1" dirty="0"/>
              <a:t>Your body can't absorb iron.</a:t>
            </a:r>
            <a:r>
              <a:rPr lang="en-US" dirty="0"/>
              <a:t> Iron from the foods you eat is absorbed in your small intestine. Conditions like </a:t>
            </a:r>
            <a:r>
              <a:rPr lang="en-US" dirty="0">
                <a:hlinkClick r:id="rId4"/>
              </a:rPr>
              <a:t>celiac disease</a:t>
            </a:r>
            <a:r>
              <a:rPr lang="en-US" dirty="0"/>
              <a:t>, </a:t>
            </a:r>
            <a:r>
              <a:rPr lang="en-US" dirty="0">
                <a:hlinkClick r:id="rId5"/>
              </a:rPr>
              <a:t>ulcerative colitis</a:t>
            </a:r>
            <a:r>
              <a:rPr lang="en-US" dirty="0"/>
              <a:t>, or </a:t>
            </a:r>
            <a:r>
              <a:rPr lang="en-US" dirty="0" err="1">
                <a:hlinkClick r:id="rId6"/>
              </a:rPr>
              <a:t>Crohn's</a:t>
            </a:r>
            <a:r>
              <a:rPr lang="en-US" dirty="0">
                <a:hlinkClick r:id="rId6"/>
              </a:rPr>
              <a:t> disease</a:t>
            </a:r>
            <a:r>
              <a:rPr lang="en-US" dirty="0"/>
              <a:t> can make it harder for your </a:t>
            </a:r>
            <a:r>
              <a:rPr lang="en-US" dirty="0">
                <a:hlinkClick r:id="rId7"/>
              </a:rPr>
              <a:t>intestines</a:t>
            </a:r>
            <a:r>
              <a:rPr lang="en-US" dirty="0"/>
              <a:t> to absorb iron. Surgery such as </a:t>
            </a:r>
            <a:r>
              <a:rPr lang="en-US" dirty="0">
                <a:hlinkClick r:id="rId8"/>
              </a:rPr>
              <a:t>gastric bypass</a:t>
            </a:r>
            <a:r>
              <a:rPr lang="en-US" dirty="0"/>
              <a:t> that removes part of your </a:t>
            </a:r>
            <a:r>
              <a:rPr lang="en-US" dirty="0">
                <a:hlinkClick r:id="rId9"/>
              </a:rPr>
              <a:t>intestines</a:t>
            </a:r>
            <a:r>
              <a:rPr lang="en-US" dirty="0"/>
              <a:t>, and medicines used to lower </a:t>
            </a:r>
            <a:r>
              <a:rPr lang="en-US" dirty="0">
                <a:hlinkClick r:id="rId10"/>
              </a:rPr>
              <a:t>stomach</a:t>
            </a:r>
            <a:r>
              <a:rPr lang="en-US" dirty="0"/>
              <a:t> acid can also affect your body's ability to absorb iron</a:t>
            </a:r>
            <a:r>
              <a:rPr lang="en-US" dirty="0" smtClean="0"/>
              <a:t>.</a:t>
            </a:r>
          </a:p>
          <a:p>
            <a:pPr marL="109728" indent="0">
              <a:buNone/>
            </a:pPr>
            <a:endParaRPr lang="en-US" dirty="0"/>
          </a:p>
          <a:p>
            <a:pPr marL="109728" indent="0">
              <a:buNone/>
            </a:pPr>
            <a:endParaRPr lang="en-US" dirty="0"/>
          </a:p>
          <a:p>
            <a:endParaRPr lang="en-US" dirty="0"/>
          </a:p>
        </p:txBody>
      </p:sp>
      <p:sp>
        <p:nvSpPr>
          <p:cNvPr id="3" name="Title 2"/>
          <p:cNvSpPr>
            <a:spLocks noGrp="1"/>
          </p:cNvSpPr>
          <p:nvPr>
            <p:ph type="title"/>
          </p:nvPr>
        </p:nvSpPr>
        <p:spPr>
          <a:xfrm>
            <a:off x="381000" y="152400"/>
            <a:ext cx="8305800" cy="838200"/>
          </a:xfrm>
        </p:spPr>
        <p:txBody>
          <a:bodyPr>
            <a:normAutofit fontScale="90000"/>
          </a:bodyPr>
          <a:lstStyle/>
          <a:p>
            <a:r>
              <a:rPr lang="en-US" sz="3600" dirty="0"/>
              <a:t>What Causes Iron Deficiency Anemia?</a:t>
            </a:r>
            <a:r>
              <a:rPr lang="en-US" dirty="0"/>
              <a:t/>
            </a:r>
            <a:br>
              <a:rPr lang="en-US" dirty="0"/>
            </a:br>
            <a:endParaRPr lang="en-US" dirty="0"/>
          </a:p>
        </p:txBody>
      </p:sp>
    </p:spTree>
    <p:extLst>
      <p:ext uri="{BB962C8B-B14F-4D97-AF65-F5344CB8AC3E}">
        <p14:creationId xmlns:p14="http://schemas.microsoft.com/office/powerpoint/2010/main" val="18130133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b="1" dirty="0"/>
              <a:t>Blood loss.</a:t>
            </a:r>
            <a:r>
              <a:rPr lang="en-US" dirty="0"/>
              <a:t> Some conditions can make you bleed inside your body, </a:t>
            </a:r>
            <a:r>
              <a:rPr lang="en-US" dirty="0" smtClean="0"/>
              <a:t>including:-</a:t>
            </a:r>
          </a:p>
          <a:p>
            <a:r>
              <a:rPr lang="en-US" dirty="0">
                <a:hlinkClick r:id="rId2"/>
              </a:rPr>
              <a:t>Peptic ulcer</a:t>
            </a:r>
            <a:endParaRPr lang="en-US" dirty="0"/>
          </a:p>
          <a:p>
            <a:r>
              <a:rPr lang="en-US" dirty="0">
                <a:hlinkClick r:id="rId3"/>
              </a:rPr>
              <a:t>Hernia</a:t>
            </a:r>
            <a:endParaRPr lang="en-US" dirty="0"/>
          </a:p>
          <a:p>
            <a:r>
              <a:rPr lang="en-US" dirty="0">
                <a:hlinkClick r:id="rId4"/>
              </a:rPr>
              <a:t>Uterine fibroids</a:t>
            </a:r>
            <a:endParaRPr lang="en-US" dirty="0"/>
          </a:p>
          <a:p>
            <a:r>
              <a:rPr lang="en-US" dirty="0">
                <a:hlinkClick r:id="rId5"/>
              </a:rPr>
              <a:t>Colon</a:t>
            </a:r>
            <a:r>
              <a:rPr lang="en-US" dirty="0"/>
              <a:t> </a:t>
            </a:r>
            <a:r>
              <a:rPr lang="en-US" dirty="0" smtClean="0"/>
              <a:t>polyps</a:t>
            </a:r>
          </a:p>
          <a:p>
            <a:pPr marL="109728" indent="0">
              <a:buNone/>
            </a:pPr>
            <a:endParaRPr lang="en-US" dirty="0"/>
          </a:p>
          <a:p>
            <a:r>
              <a:rPr lang="en-US" b="1" dirty="0"/>
              <a:t>Pregnancy.</a:t>
            </a:r>
            <a:r>
              <a:rPr lang="en-US" dirty="0"/>
              <a:t> When you’re expecting, you need extra iron to nourish your growing baby. If you don't get enough iron from your diet or </a:t>
            </a:r>
            <a:r>
              <a:rPr lang="en-US" dirty="0">
                <a:hlinkClick r:id="rId6"/>
              </a:rPr>
              <a:t>supplements</a:t>
            </a:r>
            <a:r>
              <a:rPr lang="en-US" dirty="0"/>
              <a:t>, you can become deficient.</a:t>
            </a:r>
          </a:p>
          <a:p>
            <a:r>
              <a:rPr lang="en-US" dirty="0"/>
              <a:t/>
            </a:r>
            <a:br>
              <a:rPr lang="en-US" dirty="0"/>
            </a:br>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1384944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6172200"/>
          </a:xfrm>
        </p:spPr>
        <p:txBody>
          <a:bodyPr>
            <a:normAutofit fontScale="85000" lnSpcReduction="20000"/>
          </a:bodyPr>
          <a:lstStyle/>
          <a:p>
            <a:r>
              <a:rPr lang="en-US" dirty="0" smtClean="0"/>
              <a:t>Mild </a:t>
            </a:r>
            <a:r>
              <a:rPr lang="en-US" dirty="0"/>
              <a:t>iron deficiency anemia often isn't noticeable. When it gets more severe, you may have these symptoms:</a:t>
            </a:r>
          </a:p>
          <a:p>
            <a:r>
              <a:rPr lang="en-US" dirty="0"/>
              <a:t>Tiredness or </a:t>
            </a:r>
            <a:r>
              <a:rPr lang="en-US" dirty="0">
                <a:hlinkClick r:id="rId2"/>
              </a:rPr>
              <a:t>weakness</a:t>
            </a:r>
            <a:endParaRPr lang="en-US" dirty="0"/>
          </a:p>
          <a:p>
            <a:r>
              <a:rPr lang="en-US" dirty="0"/>
              <a:t>Pale or yellow </a:t>
            </a:r>
            <a:r>
              <a:rPr lang="en-US" dirty="0">
                <a:hlinkClick r:id="rId3"/>
              </a:rPr>
              <a:t>skin</a:t>
            </a:r>
            <a:endParaRPr lang="en-US" dirty="0"/>
          </a:p>
          <a:p>
            <a:r>
              <a:rPr lang="en-US" dirty="0"/>
              <a:t>Shortness of breath</a:t>
            </a:r>
          </a:p>
          <a:p>
            <a:r>
              <a:rPr lang="en-US" dirty="0">
                <a:hlinkClick r:id="rId4"/>
              </a:rPr>
              <a:t>Dizziness</a:t>
            </a:r>
            <a:endParaRPr lang="en-US" dirty="0"/>
          </a:p>
          <a:p>
            <a:r>
              <a:rPr lang="en-US" dirty="0">
                <a:hlinkClick r:id="rId5"/>
              </a:rPr>
              <a:t>Headaches</a:t>
            </a:r>
            <a:endParaRPr lang="en-US" dirty="0"/>
          </a:p>
          <a:p>
            <a:r>
              <a:rPr lang="en-US" dirty="0"/>
              <a:t>Fast heartbeat</a:t>
            </a:r>
          </a:p>
          <a:p>
            <a:r>
              <a:rPr lang="en-US" dirty="0">
                <a:hlinkClick r:id="rId6"/>
              </a:rPr>
              <a:t>Chest pain</a:t>
            </a:r>
            <a:endParaRPr lang="en-US" dirty="0"/>
          </a:p>
          <a:p>
            <a:r>
              <a:rPr lang="en-US" dirty="0"/>
              <a:t>Cold feet and hands</a:t>
            </a:r>
          </a:p>
          <a:p>
            <a:r>
              <a:rPr lang="en-US" dirty="0"/>
              <a:t>Brittle, cracked nails and </a:t>
            </a:r>
            <a:r>
              <a:rPr lang="en-US" dirty="0">
                <a:hlinkClick r:id="rId7"/>
              </a:rPr>
              <a:t>hair loss</a:t>
            </a:r>
            <a:endParaRPr lang="en-US" dirty="0"/>
          </a:p>
          <a:p>
            <a:r>
              <a:rPr lang="en-US" dirty="0">
                <a:hlinkClick r:id="rId8"/>
              </a:rPr>
              <a:t>Pica</a:t>
            </a:r>
            <a:r>
              <a:rPr lang="en-US" dirty="0"/>
              <a:t> (cravings for things that aren't food, like dirt, starch, clay, or ice)</a:t>
            </a:r>
          </a:p>
          <a:p>
            <a:r>
              <a:rPr lang="en-US" dirty="0"/>
              <a:t>Sore and </a:t>
            </a:r>
            <a:r>
              <a:rPr lang="en-US" dirty="0">
                <a:hlinkClick r:id="rId9"/>
              </a:rPr>
              <a:t>swollen tongue</a:t>
            </a:r>
            <a:endParaRPr lang="en-US" dirty="0"/>
          </a:p>
          <a:p>
            <a:r>
              <a:rPr lang="en-US" dirty="0">
                <a:hlinkClick r:id="rId10"/>
              </a:rPr>
              <a:t>Restless legs syndrome</a:t>
            </a:r>
            <a:r>
              <a:rPr lang="en-US" dirty="0"/>
              <a:t> (an urge to move your legs while you’re in bed)</a:t>
            </a:r>
          </a:p>
          <a:p>
            <a:r>
              <a:rPr lang="en-US" dirty="0"/>
              <a:t>Extreme </a:t>
            </a:r>
            <a:r>
              <a:rPr lang="en-US" dirty="0" smtClean="0"/>
              <a:t>fatigue</a:t>
            </a:r>
          </a:p>
          <a:p>
            <a:pPr marL="109728" indent="0">
              <a:buNone/>
            </a:pPr>
            <a:endParaRPr lang="en-US" dirty="0"/>
          </a:p>
        </p:txBody>
      </p:sp>
      <p:sp>
        <p:nvSpPr>
          <p:cNvPr id="3" name="Title 2"/>
          <p:cNvSpPr>
            <a:spLocks noGrp="1"/>
          </p:cNvSpPr>
          <p:nvPr>
            <p:ph type="title"/>
          </p:nvPr>
        </p:nvSpPr>
        <p:spPr>
          <a:xfrm>
            <a:off x="457200" y="76200"/>
            <a:ext cx="8229600" cy="381000"/>
          </a:xfrm>
        </p:spPr>
        <p:txBody>
          <a:bodyPr>
            <a:normAutofit fontScale="90000"/>
          </a:bodyPr>
          <a:lstStyle/>
          <a:p>
            <a:r>
              <a:rPr lang="en-US" dirty="0"/>
              <a:t>What Are the Symptoms?</a:t>
            </a:r>
          </a:p>
        </p:txBody>
      </p:sp>
    </p:spTree>
    <p:extLst>
      <p:ext uri="{BB962C8B-B14F-4D97-AF65-F5344CB8AC3E}">
        <p14:creationId xmlns:p14="http://schemas.microsoft.com/office/powerpoint/2010/main" val="30546041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Cold hands and feet</a:t>
            </a:r>
          </a:p>
          <a:p>
            <a:r>
              <a:rPr lang="en-US" dirty="0"/>
              <a:t>Inflammation or soreness of your tongue</a:t>
            </a:r>
          </a:p>
          <a:p>
            <a:r>
              <a:rPr lang="en-US" dirty="0"/>
              <a:t>Brittle nails</a:t>
            </a:r>
          </a:p>
          <a:p>
            <a:r>
              <a:rPr lang="en-US" dirty="0"/>
              <a:t>Unusual cravings for non-nutritive substances, such as ice, dirt or starch</a:t>
            </a:r>
          </a:p>
          <a:p>
            <a:r>
              <a:rPr lang="en-US" dirty="0"/>
              <a:t>Poor appetite, especially in infants and children with iron deficiency anemia</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66009169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5169091"/>
          </a:xfrm>
        </p:spPr>
        <p:txBody>
          <a:bodyPr>
            <a:normAutofit fontScale="85000" lnSpcReduction="10000"/>
          </a:bodyPr>
          <a:lstStyle/>
          <a:p>
            <a:r>
              <a:rPr lang="en-US" dirty="0" smtClean="0"/>
              <a:t>Your </a:t>
            </a:r>
            <a:r>
              <a:rPr lang="en-US" dirty="0"/>
              <a:t>doctor will do one or more of these blood tests to find out if you have iron deficiency anemia.</a:t>
            </a:r>
          </a:p>
          <a:p>
            <a:r>
              <a:rPr lang="en-US" b="1" dirty="0">
                <a:hlinkClick r:id="rId2"/>
              </a:rPr>
              <a:t>Complete blood count</a:t>
            </a:r>
            <a:r>
              <a:rPr lang="en-US" b="1" dirty="0"/>
              <a:t> (CBC). </a:t>
            </a:r>
            <a:r>
              <a:rPr lang="en-US" dirty="0"/>
              <a:t>This test checks to see how many red blood cells you have.</a:t>
            </a:r>
          </a:p>
          <a:p>
            <a:r>
              <a:rPr lang="en-US" b="1" dirty="0"/>
              <a:t>Peripheral blood smear.</a:t>
            </a:r>
            <a:r>
              <a:rPr lang="en-US" dirty="0"/>
              <a:t> This test looks at the size and shape of your red blood cells. In iron deficiency </a:t>
            </a:r>
            <a:r>
              <a:rPr lang="en-US" dirty="0">
                <a:hlinkClick r:id="rId3"/>
              </a:rPr>
              <a:t>anemia</a:t>
            </a:r>
            <a:r>
              <a:rPr lang="en-US" dirty="0"/>
              <a:t>, red blood cells are smaller than usual.</a:t>
            </a:r>
          </a:p>
          <a:p>
            <a:r>
              <a:rPr lang="en-US" b="1" dirty="0"/>
              <a:t>Hematocrit. </a:t>
            </a:r>
            <a:r>
              <a:rPr lang="en-US" dirty="0"/>
              <a:t>This test shows how much of your blood is made up of red cells.</a:t>
            </a:r>
          </a:p>
          <a:p>
            <a:r>
              <a:rPr lang="en-US" b="1" dirty="0"/>
              <a:t>Hemoglobin. </a:t>
            </a:r>
            <a:r>
              <a:rPr lang="en-US" dirty="0"/>
              <a:t>This test shows the amount of this protein in your blood. If you have anemia, your hemoglobin will be low.</a:t>
            </a:r>
          </a:p>
          <a:p>
            <a:r>
              <a:rPr lang="en-US" b="1" dirty="0"/>
              <a:t>Serum iron. </a:t>
            </a:r>
            <a:r>
              <a:rPr lang="en-US" dirty="0"/>
              <a:t>This test shows how much iron is in your blood.</a:t>
            </a:r>
          </a:p>
          <a:p>
            <a:endParaRPr lang="en-US" dirty="0"/>
          </a:p>
        </p:txBody>
      </p:sp>
      <p:sp>
        <p:nvSpPr>
          <p:cNvPr id="3" name="Title 2"/>
          <p:cNvSpPr>
            <a:spLocks noGrp="1"/>
          </p:cNvSpPr>
          <p:nvPr>
            <p:ph type="title"/>
          </p:nvPr>
        </p:nvSpPr>
        <p:spPr>
          <a:xfrm>
            <a:off x="457200" y="76200"/>
            <a:ext cx="8229600" cy="685800"/>
          </a:xfrm>
        </p:spPr>
        <p:txBody>
          <a:bodyPr>
            <a:normAutofit fontScale="90000"/>
          </a:bodyPr>
          <a:lstStyle/>
          <a:p>
            <a:r>
              <a:rPr lang="en-US" dirty="0"/>
              <a:t>How Is It Diagnosed?</a:t>
            </a:r>
          </a:p>
        </p:txBody>
      </p:sp>
    </p:spTree>
    <p:extLst>
      <p:ext uri="{BB962C8B-B14F-4D97-AF65-F5344CB8AC3E}">
        <p14:creationId xmlns:p14="http://schemas.microsoft.com/office/powerpoint/2010/main" val="24216906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b="1" dirty="0">
                <a:hlinkClick r:id="rId2"/>
              </a:rPr>
              <a:t>Ferritin</a:t>
            </a:r>
            <a:r>
              <a:rPr lang="en-US" b="1" dirty="0"/>
              <a:t>. </a:t>
            </a:r>
            <a:r>
              <a:rPr lang="en-US" dirty="0"/>
              <a:t>This test shows how much iron is stored in your body by measuring this protein.</a:t>
            </a:r>
          </a:p>
          <a:p>
            <a:r>
              <a:rPr lang="en-US" b="1" dirty="0"/>
              <a:t>Transferrin and total iron-binding capacity (TIBC).</a:t>
            </a:r>
            <a:r>
              <a:rPr lang="en-US" dirty="0"/>
              <a:t> These tests show how much of a protein called transferrin is free to carry iron through your body.</a:t>
            </a:r>
          </a:p>
          <a:p>
            <a:r>
              <a:rPr lang="en-US" b="1" dirty="0">
                <a:hlinkClick r:id="rId3"/>
              </a:rPr>
              <a:t>Reticulocyte count</a:t>
            </a:r>
            <a:r>
              <a:rPr lang="en-US" b="1" dirty="0"/>
              <a:t>.</a:t>
            </a:r>
            <a:r>
              <a:rPr lang="en-US" dirty="0"/>
              <a:t> This test shows how many reticulocytes (immature red blood cells) you have in your blood. If you have iron deficiency anemia, your reticulocyte count is usually low because you’re not making many new red blood cells.</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99096098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dirty="0"/>
              <a:t>If blood tests show you have iron deficiency anemia, you might need other tests like these to see what's causing it.</a:t>
            </a:r>
          </a:p>
          <a:p>
            <a:r>
              <a:rPr lang="en-US" b="1" dirty="0">
                <a:hlinkClick r:id="rId2"/>
              </a:rPr>
              <a:t>Endoscopy</a:t>
            </a:r>
            <a:r>
              <a:rPr lang="en-US" b="1" dirty="0"/>
              <a:t>.</a:t>
            </a:r>
            <a:r>
              <a:rPr lang="en-US" dirty="0"/>
              <a:t> Your doctor uses a tube with a camera on one end to look inside your </a:t>
            </a:r>
            <a:r>
              <a:rPr lang="en-US" dirty="0">
                <a:hlinkClick r:id="rId3"/>
              </a:rPr>
              <a:t>esophagus</a:t>
            </a:r>
            <a:r>
              <a:rPr lang="en-US" dirty="0"/>
              <a:t> or colon. Endoscopy can find bleeding in your GI tract from ulcers, polyps, or other growths.</a:t>
            </a:r>
          </a:p>
          <a:p>
            <a:r>
              <a:rPr lang="en-US" b="1" dirty="0">
                <a:hlinkClick r:id="rId4"/>
              </a:rPr>
              <a:t>Pelvic ultrasound</a:t>
            </a:r>
            <a:r>
              <a:rPr lang="en-US" b="1" dirty="0"/>
              <a:t> or uterine </a:t>
            </a:r>
            <a:r>
              <a:rPr lang="en-US" b="1" dirty="0">
                <a:hlinkClick r:id="rId5"/>
              </a:rPr>
              <a:t>biopsy</a:t>
            </a:r>
            <a:r>
              <a:rPr lang="en-US" b="1" dirty="0"/>
              <a:t>.</a:t>
            </a:r>
            <a:r>
              <a:rPr lang="en-US" dirty="0"/>
              <a:t> If you bleed a lot during your monthly periods, this test can find the cause.</a:t>
            </a:r>
          </a:p>
          <a:p>
            <a:r>
              <a:rPr lang="en-US" b="1" dirty="0">
                <a:hlinkClick r:id="rId6"/>
              </a:rPr>
              <a:t>Fecal occult blood test</a:t>
            </a:r>
            <a:r>
              <a:rPr lang="en-US" b="1" dirty="0"/>
              <a:t>.</a:t>
            </a:r>
            <a:r>
              <a:rPr lang="en-US" dirty="0"/>
              <a:t> This test looks for tiny amounts blood in your poop to check for </a:t>
            </a:r>
            <a:r>
              <a:rPr lang="en-US" dirty="0">
                <a:hlinkClick r:id="rId7"/>
              </a:rPr>
              <a:t>cancer</a:t>
            </a:r>
            <a:r>
              <a:rPr lang="en-US" dirty="0"/>
              <a:t> and other causes of bleeding in your intestines.</a:t>
            </a:r>
          </a:p>
          <a:p>
            <a:r>
              <a:rPr lang="en-US" dirty="0"/>
              <a:t/>
            </a:r>
            <a:br>
              <a:rPr lang="en-US" dirty="0"/>
            </a:br>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7900469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4940491"/>
          </a:xfrm>
        </p:spPr>
        <p:txBody>
          <a:bodyPr>
            <a:normAutofit/>
          </a:bodyPr>
          <a:lstStyle/>
          <a:p>
            <a:r>
              <a:rPr lang="en-US" dirty="0" smtClean="0"/>
              <a:t>If </a:t>
            </a:r>
            <a:r>
              <a:rPr lang="en-US" dirty="0"/>
              <a:t>you or your child develops signs and symptoms that suggest iron deficiency anemia, see your doctor. Iron deficiency anemia isn't something to self-diagnose or treat. </a:t>
            </a:r>
            <a:endParaRPr lang="en-US" dirty="0" smtClean="0"/>
          </a:p>
          <a:p>
            <a:r>
              <a:rPr lang="en-US" dirty="0" smtClean="0"/>
              <a:t>So </a:t>
            </a:r>
            <a:r>
              <a:rPr lang="en-US" dirty="0"/>
              <a:t>see your doctor for a diagnosis rather than taking iron supplements on your own. Overloading the body with iron can be dangerous because excess iron accumulation can damage your liver and cause other complications.</a:t>
            </a:r>
          </a:p>
          <a:p>
            <a:endParaRPr lang="en-US" dirty="0"/>
          </a:p>
        </p:txBody>
      </p:sp>
      <p:sp>
        <p:nvSpPr>
          <p:cNvPr id="3" name="Title 2"/>
          <p:cNvSpPr>
            <a:spLocks noGrp="1"/>
          </p:cNvSpPr>
          <p:nvPr>
            <p:ph type="title"/>
          </p:nvPr>
        </p:nvSpPr>
        <p:spPr>
          <a:xfrm>
            <a:off x="457200" y="274638"/>
            <a:ext cx="8229600" cy="868362"/>
          </a:xfrm>
        </p:spPr>
        <p:txBody>
          <a:bodyPr>
            <a:normAutofit fontScale="90000"/>
          </a:bodyPr>
          <a:lstStyle/>
          <a:p>
            <a:r>
              <a:rPr lang="en-US" dirty="0"/>
              <a:t>When to see a doctor</a:t>
            </a:r>
            <a:br>
              <a:rPr lang="en-US" dirty="0"/>
            </a:br>
            <a:endParaRPr lang="en-US" dirty="0"/>
          </a:p>
        </p:txBody>
      </p:sp>
    </p:spTree>
    <p:extLst>
      <p:ext uri="{BB962C8B-B14F-4D97-AF65-F5344CB8AC3E}">
        <p14:creationId xmlns:p14="http://schemas.microsoft.com/office/powerpoint/2010/main" val="40350166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245291"/>
          </a:xfrm>
        </p:spPr>
        <p:txBody>
          <a:bodyPr>
            <a:normAutofit lnSpcReduction="10000"/>
          </a:bodyPr>
          <a:lstStyle/>
          <a:p>
            <a:r>
              <a:rPr lang="en-US" dirty="0" smtClean="0"/>
              <a:t>You </a:t>
            </a:r>
            <a:r>
              <a:rPr lang="en-US" dirty="0"/>
              <a:t>can treat iron deficiency anemia by taking </a:t>
            </a:r>
            <a:r>
              <a:rPr lang="en-US" dirty="0">
                <a:hlinkClick r:id="rId2"/>
              </a:rPr>
              <a:t>iron supplements</a:t>
            </a:r>
            <a:r>
              <a:rPr lang="en-US" dirty="0"/>
              <a:t>. Most people take 150 to 200 milligrams (mg) each day, but your doctor will recommend a dose based on your iron levels</a:t>
            </a:r>
            <a:r>
              <a:rPr lang="en-US" dirty="0" smtClean="0"/>
              <a:t>.</a:t>
            </a:r>
          </a:p>
          <a:p>
            <a:r>
              <a:rPr lang="en-US" dirty="0" smtClean="0"/>
              <a:t>Take</a:t>
            </a:r>
            <a:r>
              <a:rPr lang="en-US" dirty="0"/>
              <a:t> </a:t>
            </a:r>
            <a:r>
              <a:rPr lang="en-US" dirty="0">
                <a:hlinkClick r:id="rId3"/>
              </a:rPr>
              <a:t>vitamin C</a:t>
            </a:r>
            <a:r>
              <a:rPr lang="en-US" dirty="0"/>
              <a:t>, too. It helps your body absorb the iron.</a:t>
            </a:r>
          </a:p>
          <a:p>
            <a:r>
              <a:rPr lang="en-US" dirty="0"/>
              <a:t>You might need to take iron supplements for a few months or more to get your levels back up to normal. If your intestines don't absorb iron well, you can take iron straight into your bloodstream through an intravenous tube (IV).</a:t>
            </a:r>
          </a:p>
        </p:txBody>
      </p:sp>
      <p:sp>
        <p:nvSpPr>
          <p:cNvPr id="3" name="Title 2"/>
          <p:cNvSpPr>
            <a:spLocks noGrp="1"/>
          </p:cNvSpPr>
          <p:nvPr>
            <p:ph type="title"/>
          </p:nvPr>
        </p:nvSpPr>
        <p:spPr>
          <a:xfrm>
            <a:off x="457200" y="457200"/>
            <a:ext cx="8229600" cy="228600"/>
          </a:xfrm>
        </p:spPr>
        <p:txBody>
          <a:bodyPr>
            <a:normAutofit fontScale="90000"/>
          </a:bodyPr>
          <a:lstStyle/>
          <a:p>
            <a:r>
              <a:rPr lang="en-US" dirty="0"/>
              <a:t>What’s the Treatment?</a:t>
            </a:r>
            <a:br>
              <a:rPr lang="en-US" dirty="0"/>
            </a:br>
            <a:endParaRPr lang="en-US" dirty="0"/>
          </a:p>
        </p:txBody>
      </p:sp>
    </p:spTree>
    <p:extLst>
      <p:ext uri="{BB962C8B-B14F-4D97-AF65-F5344CB8AC3E}">
        <p14:creationId xmlns:p14="http://schemas.microsoft.com/office/powerpoint/2010/main" val="1823445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But be warned: Iron supplements can cause </a:t>
            </a:r>
            <a:r>
              <a:rPr lang="en-US" dirty="0">
                <a:hlinkClick r:id="rId2"/>
              </a:rPr>
              <a:t>constipation</a:t>
            </a:r>
            <a:r>
              <a:rPr lang="en-US" dirty="0"/>
              <a:t>, </a:t>
            </a:r>
            <a:r>
              <a:rPr lang="en-US" dirty="0">
                <a:hlinkClick r:id="rId3"/>
              </a:rPr>
              <a:t>nausea</a:t>
            </a:r>
            <a:r>
              <a:rPr lang="en-US" dirty="0"/>
              <a:t>, </a:t>
            </a:r>
            <a:r>
              <a:rPr lang="en-US" dirty="0">
                <a:hlinkClick r:id="rId4"/>
              </a:rPr>
              <a:t>vomiting</a:t>
            </a:r>
            <a:r>
              <a:rPr lang="en-US" dirty="0"/>
              <a:t>, </a:t>
            </a:r>
            <a:r>
              <a:rPr lang="en-US" dirty="0">
                <a:hlinkClick r:id="rId5"/>
              </a:rPr>
              <a:t>diarrhea</a:t>
            </a:r>
            <a:r>
              <a:rPr lang="en-US" dirty="0"/>
              <a:t>, </a:t>
            </a:r>
            <a:r>
              <a:rPr lang="en-US" dirty="0">
                <a:hlinkClick r:id="rId6"/>
              </a:rPr>
              <a:t>heartburn</a:t>
            </a:r>
            <a:r>
              <a:rPr lang="en-US" dirty="0"/>
              <a:t>, and dark poop.</a:t>
            </a:r>
          </a:p>
          <a:p>
            <a:r>
              <a:rPr lang="en-US" dirty="0"/>
              <a:t>Your symptoms should start to go away after about a week. Your doctor will check your blood to see if your anemia has improved.</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01689423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10000"/>
          </a:bodyPr>
          <a:lstStyle/>
          <a:p>
            <a:r>
              <a:rPr lang="en-US" dirty="0" smtClean="0"/>
              <a:t>you </a:t>
            </a:r>
            <a:r>
              <a:rPr lang="en-US" dirty="0"/>
              <a:t>can also get more iron in your diet by eating more of these foods:</a:t>
            </a:r>
          </a:p>
          <a:p>
            <a:r>
              <a:rPr lang="en-US" dirty="0"/>
              <a:t>Beef, pork, </a:t>
            </a:r>
            <a:r>
              <a:rPr lang="en-US" dirty="0">
                <a:hlinkClick r:id="rId2"/>
              </a:rPr>
              <a:t>liver</a:t>
            </a:r>
            <a:r>
              <a:rPr lang="en-US" dirty="0"/>
              <a:t>, chicken, turkey, duck, and shellfish</a:t>
            </a:r>
          </a:p>
          <a:p>
            <a:r>
              <a:rPr lang="en-US" dirty="0"/>
              <a:t>Leafy greens such as broccoli, kale, turnip greens, and collard greens</a:t>
            </a:r>
          </a:p>
          <a:p>
            <a:r>
              <a:rPr lang="en-US" dirty="0"/>
              <a:t>Peas, lima beans, black-eyed peas, and pinto beans</a:t>
            </a:r>
          </a:p>
          <a:p>
            <a:r>
              <a:rPr lang="en-US" dirty="0"/>
              <a:t>Iron-enriched cereals and other grains</a:t>
            </a:r>
          </a:p>
          <a:p>
            <a:r>
              <a:rPr lang="en-US" dirty="0"/>
              <a:t>Dried fruits, such as prunes and raisins</a:t>
            </a:r>
          </a:p>
          <a:p>
            <a:r>
              <a:rPr lang="en-US" dirty="0"/>
              <a:t>If </a:t>
            </a:r>
            <a:r>
              <a:rPr lang="en-US" dirty="0">
                <a:hlinkClick r:id="rId3"/>
              </a:rPr>
              <a:t>supplements</a:t>
            </a:r>
            <a:r>
              <a:rPr lang="en-US" dirty="0"/>
              <a:t> don't help with your symptoms or your anemia is severe, you might need a transfusion of red blood cells. Or, if you have an ulcer, tumor, or other growth, it may need to be treated with medicines or surgery.</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90894831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321491"/>
          </a:xfrm>
        </p:spPr>
        <p:txBody>
          <a:bodyPr/>
          <a:lstStyle/>
          <a:p>
            <a:r>
              <a:rPr lang="en-US" dirty="0"/>
              <a:t>Aplastic anemia is a condition that occurs when your body stops producing enough new blood cells. Aplastic anemia leaves you feeling fatigued and with a higher risk of infections and uncontrolled bleeding.</a:t>
            </a:r>
          </a:p>
          <a:p>
            <a:r>
              <a:rPr lang="en-US" dirty="0" smtClean="0"/>
              <a:t>.</a:t>
            </a:r>
            <a:endParaRPr lang="en-US" dirty="0"/>
          </a:p>
          <a:p>
            <a:endParaRPr lang="en-US" dirty="0"/>
          </a:p>
        </p:txBody>
      </p:sp>
      <p:sp>
        <p:nvSpPr>
          <p:cNvPr id="3" name="Title 2"/>
          <p:cNvSpPr>
            <a:spLocks noGrp="1"/>
          </p:cNvSpPr>
          <p:nvPr>
            <p:ph type="title"/>
          </p:nvPr>
        </p:nvSpPr>
        <p:spPr>
          <a:xfrm>
            <a:off x="457200" y="274638"/>
            <a:ext cx="8229600" cy="334962"/>
          </a:xfrm>
        </p:spPr>
        <p:txBody>
          <a:bodyPr>
            <a:normAutofit fontScale="90000"/>
          </a:bodyPr>
          <a:lstStyle/>
          <a:p>
            <a:r>
              <a:rPr lang="en-US" dirty="0" smtClean="0"/>
              <a:t>Aplastic anemia</a:t>
            </a:r>
            <a:endParaRPr lang="en-US" dirty="0"/>
          </a:p>
        </p:txBody>
      </p:sp>
    </p:spTree>
    <p:extLst>
      <p:ext uri="{BB962C8B-B14F-4D97-AF65-F5344CB8AC3E}">
        <p14:creationId xmlns:p14="http://schemas.microsoft.com/office/powerpoint/2010/main" val="171963586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rare and serious condition, aplastic anemia can develop at any age. Aplastic anemia may occur suddenly, or it can occur slowly and get worse over a long period of time. Treatment for aplastic anemia may include medications, blood transfusions or a stem cell transplant, also known as a bone marrow transplant</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0294527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533400"/>
            <a:ext cx="8229600" cy="5334000"/>
          </a:xfrm>
        </p:spPr>
        <p:txBody>
          <a:bodyPr>
            <a:normAutofit lnSpcReduction="10000"/>
          </a:bodyPr>
          <a:lstStyle/>
          <a:p>
            <a:r>
              <a:rPr lang="en-US" dirty="0" smtClean="0"/>
              <a:t>Aplastic </a:t>
            </a:r>
            <a:r>
              <a:rPr lang="en-US" dirty="0"/>
              <a:t>anemia symptoms may include:</a:t>
            </a:r>
          </a:p>
          <a:p>
            <a:r>
              <a:rPr lang="en-US" dirty="0"/>
              <a:t>Fatigue</a:t>
            </a:r>
          </a:p>
          <a:p>
            <a:r>
              <a:rPr lang="en-US" dirty="0"/>
              <a:t>Shortness of breath with exertion</a:t>
            </a:r>
          </a:p>
          <a:p>
            <a:r>
              <a:rPr lang="en-US" dirty="0"/>
              <a:t>Rapid or irregular heart rate</a:t>
            </a:r>
          </a:p>
          <a:p>
            <a:r>
              <a:rPr lang="en-US" dirty="0"/>
              <a:t>Pale skin</a:t>
            </a:r>
          </a:p>
          <a:p>
            <a:r>
              <a:rPr lang="en-US" dirty="0"/>
              <a:t>Frequent or prolonged infections</a:t>
            </a:r>
          </a:p>
          <a:p>
            <a:r>
              <a:rPr lang="en-US" dirty="0"/>
              <a:t>Unexplained or easy bruising</a:t>
            </a:r>
          </a:p>
          <a:p>
            <a:r>
              <a:rPr lang="en-US" dirty="0"/>
              <a:t>Nosebleeds and bleeding gums</a:t>
            </a:r>
          </a:p>
          <a:p>
            <a:r>
              <a:rPr lang="en-US" dirty="0"/>
              <a:t>Prolonged bleeding from cuts</a:t>
            </a:r>
          </a:p>
          <a:p>
            <a:r>
              <a:rPr lang="en-US" dirty="0"/>
              <a:t>Skin rash</a:t>
            </a:r>
          </a:p>
          <a:p>
            <a:r>
              <a:rPr lang="en-US" dirty="0"/>
              <a:t>Dizziness</a:t>
            </a:r>
          </a:p>
          <a:p>
            <a:r>
              <a:rPr lang="en-US" dirty="0"/>
              <a:t>Headache</a:t>
            </a:r>
          </a:p>
          <a:p>
            <a:endParaRPr lang="en-US" dirty="0"/>
          </a:p>
        </p:txBody>
      </p:sp>
      <p:sp>
        <p:nvSpPr>
          <p:cNvPr id="3" name="Title 2"/>
          <p:cNvSpPr>
            <a:spLocks noGrp="1"/>
          </p:cNvSpPr>
          <p:nvPr>
            <p:ph type="title"/>
          </p:nvPr>
        </p:nvSpPr>
        <p:spPr>
          <a:xfrm>
            <a:off x="457200" y="152400"/>
            <a:ext cx="8229600" cy="685800"/>
          </a:xfrm>
        </p:spPr>
        <p:txBody>
          <a:bodyPr>
            <a:normAutofit fontScale="90000"/>
          </a:bodyPr>
          <a:lstStyle/>
          <a:p>
            <a:r>
              <a:rPr lang="en-US" dirty="0"/>
              <a:t>Symptoms</a:t>
            </a:r>
            <a:br>
              <a:rPr lang="en-US" dirty="0"/>
            </a:br>
            <a:endParaRPr lang="en-US" dirty="0"/>
          </a:p>
        </p:txBody>
      </p:sp>
    </p:spTree>
    <p:extLst>
      <p:ext uri="{BB962C8B-B14F-4D97-AF65-F5344CB8AC3E}">
        <p14:creationId xmlns:p14="http://schemas.microsoft.com/office/powerpoint/2010/main" val="154922824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245291"/>
          </a:xfrm>
        </p:spPr>
        <p:txBody>
          <a:bodyPr>
            <a:normAutofit fontScale="92500"/>
          </a:bodyPr>
          <a:lstStyle/>
          <a:p>
            <a:r>
              <a:rPr lang="en-US" dirty="0" smtClean="0"/>
              <a:t>Aplastic </a:t>
            </a:r>
            <a:r>
              <a:rPr lang="en-US" dirty="0"/>
              <a:t>anemia develops when damage occurs to your bone marrow, slowing or shutting down the production of new blood cells. </a:t>
            </a:r>
            <a:endParaRPr lang="en-US" dirty="0" smtClean="0"/>
          </a:p>
          <a:p>
            <a:r>
              <a:rPr lang="en-US" dirty="0" smtClean="0"/>
              <a:t>Bone </a:t>
            </a:r>
            <a:r>
              <a:rPr lang="en-US" dirty="0"/>
              <a:t>marrow is a red, spongy material inside your bones that produces stem cells, which give rise to other cells. </a:t>
            </a:r>
            <a:endParaRPr lang="en-US" dirty="0" smtClean="0"/>
          </a:p>
          <a:p>
            <a:r>
              <a:rPr lang="en-US" dirty="0" smtClean="0"/>
              <a:t>Stem </a:t>
            </a:r>
            <a:r>
              <a:rPr lang="en-US" dirty="0"/>
              <a:t>cells in the bone marrow produce blood cells — red cells, white cells and platelets. </a:t>
            </a:r>
            <a:endParaRPr lang="en-US" dirty="0" smtClean="0"/>
          </a:p>
          <a:p>
            <a:r>
              <a:rPr lang="en-US" dirty="0" smtClean="0"/>
              <a:t>In </a:t>
            </a:r>
            <a:r>
              <a:rPr lang="en-US" dirty="0"/>
              <a:t>aplastic anemia, the bone marrow is described in medical terms as aplastic or </a:t>
            </a:r>
            <a:r>
              <a:rPr lang="en-US" dirty="0" err="1"/>
              <a:t>hypoplastic</a:t>
            </a:r>
            <a:r>
              <a:rPr lang="en-US" dirty="0"/>
              <a:t> — meaning that it's empty (aplastic) or contains very few blood cells (</a:t>
            </a:r>
            <a:r>
              <a:rPr lang="en-US" dirty="0" err="1"/>
              <a:t>hypoplastic</a:t>
            </a:r>
            <a:r>
              <a:rPr lang="en-US" dirty="0"/>
              <a:t>).</a:t>
            </a:r>
          </a:p>
          <a:p>
            <a:endParaRPr lang="en-US" dirty="0"/>
          </a:p>
        </p:txBody>
      </p:sp>
      <p:sp>
        <p:nvSpPr>
          <p:cNvPr id="3" name="Title 2"/>
          <p:cNvSpPr>
            <a:spLocks noGrp="1"/>
          </p:cNvSpPr>
          <p:nvPr>
            <p:ph type="title"/>
          </p:nvPr>
        </p:nvSpPr>
        <p:spPr>
          <a:xfrm>
            <a:off x="457200" y="274638"/>
            <a:ext cx="8229600" cy="411162"/>
          </a:xfrm>
        </p:spPr>
        <p:txBody>
          <a:bodyPr>
            <a:normAutofit fontScale="90000"/>
          </a:bodyPr>
          <a:lstStyle/>
          <a:p>
            <a:r>
              <a:rPr lang="en-US" dirty="0"/>
              <a:t>Causes</a:t>
            </a:r>
            <a:br>
              <a:rPr lang="en-US" dirty="0"/>
            </a:br>
            <a:endParaRPr lang="en-US" dirty="0"/>
          </a:p>
        </p:txBody>
      </p:sp>
    </p:spTree>
    <p:extLst>
      <p:ext uri="{BB962C8B-B14F-4D97-AF65-F5344CB8AC3E}">
        <p14:creationId xmlns:p14="http://schemas.microsoft.com/office/powerpoint/2010/main" val="29752865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04800"/>
            <a:ext cx="8229600" cy="5702491"/>
          </a:xfrm>
        </p:spPr>
        <p:txBody>
          <a:bodyPr>
            <a:normAutofit fontScale="92500" lnSpcReduction="10000"/>
          </a:bodyPr>
          <a:lstStyle/>
          <a:p>
            <a:r>
              <a:rPr lang="en-US" dirty="0"/>
              <a:t>Factors that can temporarily or permanently injure bone marrow and affect blood cell production include:</a:t>
            </a:r>
          </a:p>
          <a:p>
            <a:r>
              <a:rPr lang="en-US" b="1" dirty="0"/>
              <a:t>Radiation and chemotherapy treatments.</a:t>
            </a:r>
            <a:r>
              <a:rPr lang="en-US" dirty="0"/>
              <a:t> While these cancer-fighting therapies kill cancer cells, they can also damage healthy cells, including stem cells in bone marrow. Aplastic anemia can be a temporary side effect of these treatments.</a:t>
            </a:r>
          </a:p>
          <a:p>
            <a:r>
              <a:rPr lang="en-US" b="1" dirty="0"/>
              <a:t>Exposure to toxic chemicals.</a:t>
            </a:r>
            <a:r>
              <a:rPr lang="en-US" dirty="0"/>
              <a:t> Exposure to toxic chemicals, such as some used in pesticides and insecticides, may cause aplastic anemia. Exposure to benzene — an ingredient in gasoline — also has been linked to aplastic anemia. This type of anemia may get better on its own if you avoid repeated exposure to the chemicals that caused your initial illness</a:t>
            </a:r>
            <a:r>
              <a:rPr lang="en-US" dirty="0" smtClean="0"/>
              <a:t>.</a:t>
            </a:r>
          </a:p>
        </p:txBody>
      </p:sp>
    </p:spTree>
    <p:extLst>
      <p:ext uri="{BB962C8B-B14F-4D97-AF65-F5344CB8AC3E}">
        <p14:creationId xmlns:p14="http://schemas.microsoft.com/office/powerpoint/2010/main" val="24572764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b="1" dirty="0"/>
              <a:t>A viral infection.</a:t>
            </a:r>
            <a:r>
              <a:rPr lang="en-US" dirty="0"/>
              <a:t> Viral infections that affect bone marrow may play a role in the development of aplastic anemia in some people. Viruses that have been linked to the development of aplastic anemia include hepatitis, Epstein-Barr, cytomegalovirus, parvovirus B19 and HIV.</a:t>
            </a:r>
          </a:p>
          <a:p>
            <a:r>
              <a:rPr lang="en-US" b="1" dirty="0"/>
              <a:t>Pregnancy.</a:t>
            </a:r>
            <a:r>
              <a:rPr lang="en-US" dirty="0"/>
              <a:t> Aplastic anemia that occurs in pregnancy may be related to an autoimmune problem — your immune system may attack your bone marrow during pregnancy.</a:t>
            </a:r>
          </a:p>
          <a:p>
            <a:r>
              <a:rPr lang="en-US" b="1" dirty="0"/>
              <a:t>Unknown factors.</a:t>
            </a:r>
            <a:r>
              <a:rPr lang="en-US" dirty="0"/>
              <a:t> In many cases, doctors aren't able to identify the cause of aplastic anemia. This is called idiopathic aplastic anemia.</a:t>
            </a:r>
          </a:p>
          <a:p>
            <a:endParaRPr lang="en-US" dirty="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26296081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Use of certain drugs.</a:t>
            </a:r>
            <a:r>
              <a:rPr lang="en-US" dirty="0"/>
              <a:t> Some medications, such as those used to treat rheumatoid arthritis and some antibiotics, can cause aplastic anemia.</a:t>
            </a:r>
          </a:p>
          <a:p>
            <a:r>
              <a:rPr lang="en-US" b="1" dirty="0"/>
              <a:t>Autoimmune disorders.</a:t>
            </a:r>
            <a:r>
              <a:rPr lang="en-US" dirty="0"/>
              <a:t> An autoimmune disorder, in which your immune system begins attacking healthy cells, may involve stem cells in your bone marrow.</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66630163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5016691"/>
          </a:xfrm>
        </p:spPr>
        <p:txBody>
          <a:bodyPr>
            <a:normAutofit lnSpcReduction="10000"/>
          </a:bodyPr>
          <a:lstStyle/>
          <a:p>
            <a:r>
              <a:rPr lang="en-US" dirty="0" smtClean="0"/>
              <a:t>Aplastic </a:t>
            </a:r>
            <a:r>
              <a:rPr lang="en-US" dirty="0"/>
              <a:t>anemia is rare. Factors that may increase your risk include:</a:t>
            </a:r>
          </a:p>
          <a:p>
            <a:r>
              <a:rPr lang="en-US" dirty="0"/>
              <a:t>Treatment with high-dose radiation or chemotherapy for cancer</a:t>
            </a:r>
          </a:p>
          <a:p>
            <a:r>
              <a:rPr lang="en-US" dirty="0"/>
              <a:t>Exposure to toxic chemicals</a:t>
            </a:r>
          </a:p>
          <a:p>
            <a:r>
              <a:rPr lang="en-US" dirty="0"/>
              <a:t>The use of some prescription drugs — such as chloramphenicol, which is used to treat bacterial infections, and gold compounds used to treat rheumatoid arthritis</a:t>
            </a:r>
          </a:p>
          <a:p>
            <a:r>
              <a:rPr lang="en-US" dirty="0"/>
              <a:t>Certain blood diseases, autoimmune disorders and serious infections</a:t>
            </a:r>
          </a:p>
          <a:p>
            <a:r>
              <a:rPr lang="en-US" dirty="0"/>
              <a:t>Pregnancy, </a:t>
            </a:r>
            <a:r>
              <a:rPr lang="en-US" dirty="0" smtClean="0"/>
              <a:t>rarely</a:t>
            </a:r>
            <a:endParaRPr lang="en-US" dirty="0"/>
          </a:p>
          <a:p>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r>
              <a:rPr lang="en-US" dirty="0"/>
              <a:t>Risk factors</a:t>
            </a:r>
          </a:p>
        </p:txBody>
      </p:sp>
    </p:spTree>
    <p:extLst>
      <p:ext uri="{BB962C8B-B14F-4D97-AF65-F5344CB8AC3E}">
        <p14:creationId xmlns:p14="http://schemas.microsoft.com/office/powerpoint/2010/main" val="160572899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There's </a:t>
            </a:r>
            <a:r>
              <a:rPr lang="en-US" dirty="0"/>
              <a:t>generally no prevention for most cases of aplastic anemia. Avoiding exposure to insecticides, herbicides, organic solvents, paint removers and other toxic chemicals may lower your risk of the disease</a:t>
            </a:r>
          </a:p>
        </p:txBody>
      </p:sp>
      <p:sp>
        <p:nvSpPr>
          <p:cNvPr id="3" name="Title 2"/>
          <p:cNvSpPr>
            <a:spLocks noGrp="1"/>
          </p:cNvSpPr>
          <p:nvPr>
            <p:ph type="title"/>
          </p:nvPr>
        </p:nvSpPr>
        <p:spPr/>
        <p:txBody>
          <a:bodyPr/>
          <a:lstStyle/>
          <a:p>
            <a:r>
              <a:rPr lang="en-US" dirty="0"/>
              <a:t>Prevention</a:t>
            </a:r>
          </a:p>
        </p:txBody>
      </p:sp>
    </p:spTree>
    <p:extLst>
      <p:ext uri="{BB962C8B-B14F-4D97-AF65-F5344CB8AC3E}">
        <p14:creationId xmlns:p14="http://schemas.microsoft.com/office/powerpoint/2010/main" val="171486915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533400"/>
            <a:ext cx="8763000" cy="6553200"/>
          </a:xfrm>
        </p:spPr>
        <p:txBody>
          <a:bodyPr>
            <a:normAutofit fontScale="92500" lnSpcReduction="20000"/>
          </a:bodyPr>
          <a:lstStyle/>
          <a:p>
            <a:pPr marL="109728" indent="0">
              <a:buNone/>
            </a:pPr>
            <a:r>
              <a:rPr lang="en-US" b="1" dirty="0" smtClean="0"/>
              <a:t>Bone </a:t>
            </a:r>
            <a:r>
              <a:rPr lang="en-US" b="1" dirty="0"/>
              <a:t>marrow biopsy</a:t>
            </a:r>
          </a:p>
          <a:p>
            <a:pPr marL="109728" indent="0">
              <a:buNone/>
            </a:pPr>
            <a:r>
              <a:rPr lang="en-US" dirty="0"/>
              <a:t>Bone marrow biopsy</a:t>
            </a:r>
          </a:p>
          <a:p>
            <a:pPr marL="109728" indent="0">
              <a:buNone/>
            </a:pPr>
            <a:r>
              <a:rPr lang="en-US" dirty="0"/>
              <a:t>To diagnose aplastic anemia, your doctor may recommend</a:t>
            </a:r>
            <a:r>
              <a:rPr lang="en-US" dirty="0" smtClean="0"/>
              <a:t>:</a:t>
            </a:r>
          </a:p>
          <a:p>
            <a:pPr marL="109728" indent="0">
              <a:buNone/>
            </a:pPr>
            <a:endParaRPr lang="en-US" dirty="0"/>
          </a:p>
          <a:p>
            <a:pPr marL="109728" indent="0">
              <a:buNone/>
            </a:pPr>
            <a:r>
              <a:rPr lang="en-US" b="1" dirty="0"/>
              <a:t>Blood tests.</a:t>
            </a:r>
            <a:r>
              <a:rPr lang="en-US" dirty="0"/>
              <a:t> Normally, red blood cell, white blood cell and platelet levels stay within a certain range. Your doctor may suspect aplastic anemia when all three of these blood cell levels are very low</a:t>
            </a:r>
            <a:r>
              <a:rPr lang="en-US" dirty="0" smtClean="0"/>
              <a:t>.</a:t>
            </a:r>
          </a:p>
          <a:p>
            <a:pPr marL="109728" indent="0">
              <a:buNone/>
            </a:pPr>
            <a:endParaRPr lang="en-US" dirty="0"/>
          </a:p>
          <a:p>
            <a:pPr marL="109728" indent="0">
              <a:buNone/>
            </a:pPr>
            <a:r>
              <a:rPr lang="en-US" b="1" dirty="0"/>
              <a:t>Bone marrow biopsy.</a:t>
            </a:r>
            <a:r>
              <a:rPr lang="en-US" dirty="0"/>
              <a:t> To confirm a diagnosis, you'll need to undergo a bone marrow biopsy. In this procedure, a doctor uses a needle to remove a small sample of bone marrow from a large bone in your body, such as your hipbone. The bone marrow sample is examined under a microscope to rule out other blood-related diseases. In aplastic anemia, bone marrow contains fewer blood cells than normal.</a:t>
            </a:r>
          </a:p>
        </p:txBody>
      </p:sp>
      <p:sp>
        <p:nvSpPr>
          <p:cNvPr id="3" name="Title 2"/>
          <p:cNvSpPr>
            <a:spLocks noGrp="1"/>
          </p:cNvSpPr>
          <p:nvPr>
            <p:ph type="title"/>
          </p:nvPr>
        </p:nvSpPr>
        <p:spPr>
          <a:xfrm>
            <a:off x="457200" y="274638"/>
            <a:ext cx="8229600" cy="563562"/>
          </a:xfrm>
        </p:spPr>
        <p:txBody>
          <a:bodyPr>
            <a:normAutofit fontScale="90000"/>
          </a:bodyPr>
          <a:lstStyle/>
          <a:p>
            <a:r>
              <a:rPr lang="en-US" dirty="0"/>
              <a:t>Diagnosis</a:t>
            </a:r>
            <a:br>
              <a:rPr lang="en-US" dirty="0"/>
            </a:br>
            <a:endParaRPr lang="en-US" dirty="0"/>
          </a:p>
        </p:txBody>
      </p:sp>
    </p:spTree>
    <p:extLst>
      <p:ext uri="{BB962C8B-B14F-4D97-AF65-F5344CB8AC3E}">
        <p14:creationId xmlns:p14="http://schemas.microsoft.com/office/powerpoint/2010/main" val="21748467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6096000"/>
          </a:xfrm>
        </p:spPr>
        <p:txBody>
          <a:bodyPr>
            <a:normAutofit fontScale="92500"/>
          </a:bodyPr>
          <a:lstStyle/>
          <a:p>
            <a:r>
              <a:rPr lang="en-US" dirty="0" smtClean="0"/>
              <a:t>Treatments </a:t>
            </a:r>
            <a:r>
              <a:rPr lang="en-US" dirty="0"/>
              <a:t>for aplastic anemia may include observation for mild cases, blood transfusions and medications for more-serious cases, and in severe cases, bone marrow transplantation. Severe aplastic anemia, in which your blood cell counts are extremely low, is life-threatening and requires immediate hospitalization for treatment.</a:t>
            </a:r>
          </a:p>
          <a:p>
            <a:r>
              <a:rPr lang="en-US" b="1" dirty="0"/>
              <a:t>Blood transfusions</a:t>
            </a:r>
          </a:p>
          <a:p>
            <a:r>
              <a:rPr lang="en-US" dirty="0"/>
              <a:t>Treatment for aplastic anemia usually involves blood transfusions to control bleeding and relieve anemia symptoms. Blood transfusions aren't a cure for aplastic anemia. But they do relieve signs and symptoms by providing blood cells that your bone marrow isn't producing. A transfusion may include:</a:t>
            </a:r>
          </a:p>
          <a:p>
            <a:endParaRPr lang="en-US" dirty="0"/>
          </a:p>
        </p:txBody>
      </p:sp>
      <p:sp>
        <p:nvSpPr>
          <p:cNvPr id="3" name="Title 2"/>
          <p:cNvSpPr>
            <a:spLocks noGrp="1"/>
          </p:cNvSpPr>
          <p:nvPr>
            <p:ph type="title"/>
          </p:nvPr>
        </p:nvSpPr>
        <p:spPr>
          <a:xfrm>
            <a:off x="457200" y="274638"/>
            <a:ext cx="8229600" cy="411162"/>
          </a:xfrm>
        </p:spPr>
        <p:txBody>
          <a:bodyPr>
            <a:normAutofit fontScale="90000"/>
          </a:bodyPr>
          <a:lstStyle/>
          <a:p>
            <a:r>
              <a:rPr lang="en-US" dirty="0"/>
              <a:t>Treatment</a:t>
            </a:r>
            <a:br>
              <a:rPr lang="en-US" dirty="0"/>
            </a:br>
            <a:endParaRPr lang="en-US" dirty="0"/>
          </a:p>
        </p:txBody>
      </p:sp>
    </p:spTree>
    <p:extLst>
      <p:ext uri="{BB962C8B-B14F-4D97-AF65-F5344CB8AC3E}">
        <p14:creationId xmlns:p14="http://schemas.microsoft.com/office/powerpoint/2010/main" val="110825342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990600"/>
            <a:ext cx="8839200" cy="5257800"/>
          </a:xfrm>
        </p:spPr>
        <p:txBody>
          <a:bodyPr>
            <a:normAutofit fontScale="92500" lnSpcReduction="20000"/>
          </a:bodyPr>
          <a:lstStyle/>
          <a:p>
            <a:r>
              <a:rPr lang="en-US" b="1" dirty="0"/>
              <a:t>Red blood cells.</a:t>
            </a:r>
            <a:r>
              <a:rPr lang="en-US" dirty="0"/>
              <a:t> Transfusions of red blood cells raise red blood cell counts. This helps relieve anemia and fatigue.</a:t>
            </a:r>
          </a:p>
          <a:p>
            <a:r>
              <a:rPr lang="en-US" b="1" dirty="0"/>
              <a:t>Platelets.</a:t>
            </a:r>
            <a:r>
              <a:rPr lang="en-US" dirty="0"/>
              <a:t> Transfusions of platelets help prevent excessive bleeding.</a:t>
            </a:r>
          </a:p>
          <a:p>
            <a:r>
              <a:rPr lang="en-US" dirty="0"/>
              <a:t>While there's generally no limit to the number of blood cell transfusions you can have, complications can sometimes arise with multiple transfusions. Transfused red blood cells contain iron that can accumulate in your body and can damage vital organs if an iron overload isn't treated. Medications can help your body get rid of excess iron.</a:t>
            </a:r>
          </a:p>
          <a:p>
            <a:r>
              <a:rPr lang="en-US" dirty="0"/>
              <a:t>Over time, your body may develop antibodies to transfused blood cells, making them less effective at relieving symptoms. The use of immunosuppressant medication makes this complication less likely.</a:t>
            </a:r>
          </a:p>
          <a:p>
            <a:endParaRPr lang="en-US" dirty="0"/>
          </a:p>
        </p:txBody>
      </p:sp>
      <p:sp>
        <p:nvSpPr>
          <p:cNvPr id="3" name="Title 2"/>
          <p:cNvSpPr>
            <a:spLocks noGrp="1"/>
          </p:cNvSpPr>
          <p:nvPr>
            <p:ph type="title"/>
          </p:nvPr>
        </p:nvSpPr>
        <p:spPr>
          <a:xfrm>
            <a:off x="457200" y="274638"/>
            <a:ext cx="8229600" cy="639762"/>
          </a:xfrm>
        </p:spPr>
        <p:txBody>
          <a:bodyPr>
            <a:normAutofit fontScale="90000"/>
          </a:bodyPr>
          <a:lstStyle/>
          <a:p>
            <a:endParaRPr lang="en-US" dirty="0"/>
          </a:p>
        </p:txBody>
      </p:sp>
    </p:spTree>
    <p:extLst>
      <p:ext uri="{BB962C8B-B14F-4D97-AF65-F5344CB8AC3E}">
        <p14:creationId xmlns:p14="http://schemas.microsoft.com/office/powerpoint/2010/main" val="54082631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26909"/>
            <a:ext cx="8229600" cy="5092891"/>
          </a:xfrm>
        </p:spPr>
        <p:txBody>
          <a:bodyPr>
            <a:normAutofit fontScale="85000" lnSpcReduction="20000"/>
          </a:bodyPr>
          <a:lstStyle/>
          <a:p>
            <a:r>
              <a:rPr lang="en-US" dirty="0" smtClean="0"/>
              <a:t>A </a:t>
            </a:r>
            <a:r>
              <a:rPr lang="en-US" dirty="0"/>
              <a:t>stem cell transplant to rebuild the bone marrow with stem cells from a donor may offer the only successful treatment option for people with severe aplastic anemia. A stem cell transplant, which is also called a bone marrow transplant, is generally the treatment of choice for people who are younger and have a matching donor — most often a sibling.</a:t>
            </a:r>
          </a:p>
          <a:p>
            <a:r>
              <a:rPr lang="en-US" dirty="0"/>
              <a:t>If a donor is found, your diseased bone marrow is first depleted with radiation or chemotherapy. Healthy stem cells from the donor are filtered from the blood. The healthy stem cells are injected intravenously into your bloodstream, where they migrate to the bone marrow cavities and begin generating new blood cells. The procedure requires a lengthy hospital stay. After the transplant, you'll receive drugs to help prevent rejection of the donated stem cells.</a:t>
            </a:r>
          </a:p>
          <a:p>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r>
              <a:rPr lang="en-US" dirty="0"/>
              <a:t>Stem cell transplant</a:t>
            </a:r>
            <a:br>
              <a:rPr lang="en-US" dirty="0"/>
            </a:br>
            <a:endParaRPr lang="en-US" dirty="0"/>
          </a:p>
        </p:txBody>
      </p:sp>
    </p:spTree>
    <p:extLst>
      <p:ext uri="{BB962C8B-B14F-4D97-AF65-F5344CB8AC3E}">
        <p14:creationId xmlns:p14="http://schemas.microsoft.com/office/powerpoint/2010/main" val="273072145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stem cell transplant carries risks. There's a chance that your body may reject the transplant, leading to life-threatening complications. In addition, not everyone is a candidate for transplantation or can find a suitable donor</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02004410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321491"/>
          </a:xfrm>
        </p:spPr>
        <p:txBody>
          <a:bodyPr>
            <a:normAutofit fontScale="92500" lnSpcReduction="10000"/>
          </a:bodyPr>
          <a:lstStyle/>
          <a:p>
            <a:r>
              <a:rPr lang="en-US" dirty="0" smtClean="0"/>
              <a:t>For </a:t>
            </a:r>
            <a:r>
              <a:rPr lang="en-US" dirty="0"/>
              <a:t>people who can't undergo a bone marrow transplant or for those whose aplastic anemia may be due to an autoimmune disorder, treatment may involve drugs that alter or suppress the immune system (</a:t>
            </a:r>
            <a:r>
              <a:rPr lang="en-US" dirty="0" err="1"/>
              <a:t>immunosuppressants</a:t>
            </a:r>
            <a:r>
              <a:rPr lang="en-US" dirty="0"/>
              <a:t>).</a:t>
            </a:r>
          </a:p>
          <a:p>
            <a:r>
              <a:rPr lang="en-US" dirty="0"/>
              <a:t>Drugs such as cyclosporine (</a:t>
            </a:r>
            <a:r>
              <a:rPr lang="en-US" dirty="0" err="1"/>
              <a:t>Gengraf</a:t>
            </a:r>
            <a:r>
              <a:rPr lang="en-US" dirty="0"/>
              <a:t>, </a:t>
            </a:r>
            <a:r>
              <a:rPr lang="en-US" dirty="0" err="1"/>
              <a:t>Neoral</a:t>
            </a:r>
            <a:r>
              <a:rPr lang="en-US" dirty="0"/>
              <a:t>, </a:t>
            </a:r>
            <a:r>
              <a:rPr lang="en-US" dirty="0" err="1"/>
              <a:t>Sandimmune</a:t>
            </a:r>
            <a:r>
              <a:rPr lang="en-US" dirty="0"/>
              <a:t>) and anti-</a:t>
            </a:r>
            <a:r>
              <a:rPr lang="en-US" dirty="0" err="1"/>
              <a:t>thymocyte</a:t>
            </a:r>
            <a:r>
              <a:rPr lang="en-US" dirty="0"/>
              <a:t> globulin are examples. These drugs suppress the activity of immune cells that are damaging your bone marrow. This helps your bone marrow recover and generate new blood cells. Cyclosporine and anti-</a:t>
            </a:r>
            <a:r>
              <a:rPr lang="en-US" dirty="0" err="1"/>
              <a:t>thymocyte</a:t>
            </a:r>
            <a:r>
              <a:rPr lang="en-US" dirty="0"/>
              <a:t> globulin are often used in combination</a:t>
            </a:r>
            <a:r>
              <a:rPr lang="en-US" dirty="0" smtClean="0"/>
              <a:t>.</a:t>
            </a:r>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r>
              <a:rPr lang="en-US" dirty="0" err="1"/>
              <a:t>Immunosuppressants</a:t>
            </a:r>
            <a:r>
              <a:rPr lang="en-US" dirty="0"/>
              <a:t/>
            </a:r>
            <a:br>
              <a:rPr lang="en-US" dirty="0"/>
            </a:br>
            <a:endParaRPr lang="en-US" dirty="0"/>
          </a:p>
        </p:txBody>
      </p:sp>
    </p:spTree>
    <p:extLst>
      <p:ext uri="{BB962C8B-B14F-4D97-AF65-F5344CB8AC3E}">
        <p14:creationId xmlns:p14="http://schemas.microsoft.com/office/powerpoint/2010/main" val="385204238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Corticosteroids, such as methylprednisolone (Medrol, </a:t>
            </a:r>
            <a:r>
              <a:rPr lang="en-US" dirty="0" err="1"/>
              <a:t>Solu</a:t>
            </a:r>
            <a:r>
              <a:rPr lang="en-US" dirty="0"/>
              <a:t>-Medrol), are often given at the same time as these drugs.</a:t>
            </a:r>
          </a:p>
          <a:p>
            <a:r>
              <a:rPr lang="en-US" dirty="0"/>
              <a:t>Immune-suppressing drugs can be very effective at treating aplastic anemia. The downside is that these drugs further weaken your immune system. It's also possible that after you stop taking these drugs, aplastic anemia may return</a:t>
            </a:r>
          </a:p>
          <a:p>
            <a:endParaRPr lang="en-US" dirty="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8365454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Bone marrow stimulants</a:t>
            </a:r>
          </a:p>
          <a:p>
            <a:r>
              <a:rPr lang="en-US" dirty="0"/>
              <a:t>Certain drugs — including colony-stimulating factors, such as </a:t>
            </a:r>
            <a:r>
              <a:rPr lang="en-US" dirty="0" err="1"/>
              <a:t>sargramostim</a:t>
            </a:r>
            <a:r>
              <a:rPr lang="en-US" dirty="0"/>
              <a:t> (</a:t>
            </a:r>
            <a:r>
              <a:rPr lang="en-US" dirty="0" err="1"/>
              <a:t>Leukine</a:t>
            </a:r>
            <a:r>
              <a:rPr lang="en-US" dirty="0"/>
              <a:t>), </a:t>
            </a:r>
            <a:r>
              <a:rPr lang="en-US" dirty="0" err="1"/>
              <a:t>filgrastim</a:t>
            </a:r>
            <a:r>
              <a:rPr lang="en-US" dirty="0"/>
              <a:t> (</a:t>
            </a:r>
            <a:r>
              <a:rPr lang="en-US" dirty="0" err="1"/>
              <a:t>Neupogen</a:t>
            </a:r>
            <a:r>
              <a:rPr lang="en-US" dirty="0"/>
              <a:t>) and </a:t>
            </a:r>
            <a:r>
              <a:rPr lang="en-US" dirty="0" err="1"/>
              <a:t>pegfilgrastim</a:t>
            </a:r>
            <a:r>
              <a:rPr lang="en-US" dirty="0"/>
              <a:t> (</a:t>
            </a:r>
            <a:r>
              <a:rPr lang="en-US" dirty="0" err="1"/>
              <a:t>Neulasta</a:t>
            </a:r>
            <a:r>
              <a:rPr lang="en-US" dirty="0"/>
              <a:t>), and </a:t>
            </a:r>
            <a:r>
              <a:rPr lang="en-US" dirty="0" err="1"/>
              <a:t>epoetin</a:t>
            </a:r>
            <a:r>
              <a:rPr lang="en-US" dirty="0"/>
              <a:t> </a:t>
            </a:r>
            <a:r>
              <a:rPr lang="en-US" dirty="0" err="1"/>
              <a:t>alfa</a:t>
            </a:r>
            <a:r>
              <a:rPr lang="en-US" dirty="0"/>
              <a:t> (</a:t>
            </a:r>
            <a:r>
              <a:rPr lang="en-US" dirty="0" err="1"/>
              <a:t>Epogen</a:t>
            </a:r>
            <a:r>
              <a:rPr lang="en-US" dirty="0"/>
              <a:t>, Procrit) — may help stimulate the bone marrow to produce new blood cells. Growth factors are often used in combination with immune-suppressing drugs.</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20570730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109728" indent="0">
              <a:buNone/>
            </a:pPr>
            <a:r>
              <a:rPr lang="en-US" b="1" dirty="0"/>
              <a:t>Antibiotics, antivirals</a:t>
            </a:r>
          </a:p>
          <a:p>
            <a:r>
              <a:rPr lang="en-US" dirty="0"/>
              <a:t>Having aplastic anemia weakens your immune system. You have fewer white blood cells in circulation to fight off germs. This leaves you susceptible to infections.</a:t>
            </a:r>
          </a:p>
          <a:p>
            <a:r>
              <a:rPr lang="en-US" dirty="0"/>
              <a:t>At the first sign of infection, such as a fever, see your doctor. You don't want the infection to get worse, because it could prove life-threatening. If you have severe aplastic anemia, your doctor may give you antibiotics or antiviral medications to help prevent infections.</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51526589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5397691"/>
          </a:xfrm>
        </p:spPr>
        <p:txBody>
          <a:bodyPr>
            <a:normAutofit/>
          </a:bodyPr>
          <a:lstStyle/>
          <a:p>
            <a:r>
              <a:rPr lang="en-US" dirty="0" smtClean="0"/>
              <a:t>Aplastic </a:t>
            </a:r>
            <a:r>
              <a:rPr lang="en-US" dirty="0"/>
              <a:t>anemia caused by radiation and chemotherapy treatments for cancer usually improves once you complete those treatments. The same is true for most other drugs that induce aplastic anemia.</a:t>
            </a:r>
          </a:p>
          <a:p>
            <a:r>
              <a:rPr lang="en-US" dirty="0"/>
              <a:t>Pregnant women with aplastic anemia are treated with blood transfusions. For many women, pregnancy-related aplastic anemia improves once the pregnancy ends</a:t>
            </a:r>
            <a:r>
              <a:rPr lang="en-US" dirty="0" smtClean="0"/>
              <a:t>.</a:t>
            </a:r>
          </a:p>
          <a:p>
            <a:r>
              <a:rPr lang="en-US" dirty="0" smtClean="0"/>
              <a:t> </a:t>
            </a:r>
            <a:r>
              <a:rPr lang="en-US" dirty="0"/>
              <a:t>If that doesn't happen, treatment is still necessary.</a:t>
            </a:r>
          </a:p>
        </p:txBody>
      </p:sp>
      <p:sp>
        <p:nvSpPr>
          <p:cNvPr id="3" name="Title 2"/>
          <p:cNvSpPr>
            <a:spLocks noGrp="1"/>
          </p:cNvSpPr>
          <p:nvPr>
            <p:ph type="title"/>
          </p:nvPr>
        </p:nvSpPr>
        <p:spPr>
          <a:xfrm>
            <a:off x="457200" y="274638"/>
            <a:ext cx="8229600" cy="563562"/>
          </a:xfrm>
        </p:spPr>
        <p:txBody>
          <a:bodyPr>
            <a:normAutofit fontScale="90000"/>
          </a:bodyPr>
          <a:lstStyle/>
          <a:p>
            <a:r>
              <a:rPr lang="en-US" dirty="0"/>
              <a:t>Other treatments</a:t>
            </a:r>
            <a:br>
              <a:rPr lang="en-US" dirty="0"/>
            </a:br>
            <a:endParaRPr lang="en-US" dirty="0"/>
          </a:p>
        </p:txBody>
      </p:sp>
    </p:spTree>
    <p:extLst>
      <p:ext uri="{BB962C8B-B14F-4D97-AF65-F5344CB8AC3E}">
        <p14:creationId xmlns:p14="http://schemas.microsoft.com/office/powerpoint/2010/main" val="313462734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5169091"/>
          </a:xfrm>
        </p:spPr>
        <p:txBody>
          <a:bodyPr>
            <a:normAutofit fontScale="92500" lnSpcReduction="10000"/>
          </a:bodyPr>
          <a:lstStyle/>
          <a:p>
            <a:r>
              <a:rPr lang="en-US" dirty="0" smtClean="0"/>
              <a:t>If </a:t>
            </a:r>
            <a:r>
              <a:rPr lang="en-US" dirty="0"/>
              <a:t>you have aplastic anemia, take care of yourself by:</a:t>
            </a:r>
          </a:p>
          <a:p>
            <a:r>
              <a:rPr lang="en-US" b="1" dirty="0"/>
              <a:t>Resting when you need to.</a:t>
            </a:r>
            <a:r>
              <a:rPr lang="en-US" dirty="0"/>
              <a:t> Anemia can cause fatigue and shortness of breath with even mild exertion. Take a break and rest when you need to.</a:t>
            </a:r>
          </a:p>
          <a:p>
            <a:r>
              <a:rPr lang="en-US" b="1" dirty="0"/>
              <a:t>Avoiding contact sports.</a:t>
            </a:r>
            <a:r>
              <a:rPr lang="en-US" dirty="0"/>
              <a:t> Because of the risk of bleeding associated with a low platelet count, avoid activities that may result in a cut or fall.</a:t>
            </a:r>
          </a:p>
          <a:p>
            <a:r>
              <a:rPr lang="en-US" b="1" dirty="0"/>
              <a:t>Protecting yourself from germs.</a:t>
            </a:r>
            <a:r>
              <a:rPr lang="en-US" dirty="0"/>
              <a:t> You can reduce your risk of infections with frequent hand-washing and by avoiding sick people. If you develop a fever or other indicators of an infection, see your doctor for treatment.</a:t>
            </a:r>
          </a:p>
          <a:p>
            <a:endParaRPr lang="en-US" dirty="0"/>
          </a:p>
        </p:txBody>
      </p:sp>
      <p:sp>
        <p:nvSpPr>
          <p:cNvPr id="3" name="Title 2"/>
          <p:cNvSpPr>
            <a:spLocks noGrp="1"/>
          </p:cNvSpPr>
          <p:nvPr>
            <p:ph type="title"/>
          </p:nvPr>
        </p:nvSpPr>
        <p:spPr>
          <a:xfrm>
            <a:off x="457200" y="274638"/>
            <a:ext cx="8229600" cy="639762"/>
          </a:xfrm>
        </p:spPr>
        <p:txBody>
          <a:bodyPr>
            <a:normAutofit fontScale="90000"/>
          </a:bodyPr>
          <a:lstStyle/>
          <a:p>
            <a:r>
              <a:rPr lang="en-US" dirty="0"/>
              <a:t>Lifestyle and home remedies</a:t>
            </a:r>
            <a:br>
              <a:rPr lang="en-US" dirty="0"/>
            </a:br>
            <a:endParaRPr lang="en-US" dirty="0"/>
          </a:p>
        </p:txBody>
      </p:sp>
    </p:spTree>
    <p:extLst>
      <p:ext uri="{BB962C8B-B14F-4D97-AF65-F5344CB8AC3E}">
        <p14:creationId xmlns:p14="http://schemas.microsoft.com/office/powerpoint/2010/main" val="398181670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a:t>Coping and support</a:t>
            </a:r>
          </a:p>
          <a:p>
            <a:r>
              <a:rPr lang="en-US" dirty="0"/>
              <a:t>Tips to help you and your family better cope with your illness include:</a:t>
            </a:r>
          </a:p>
          <a:p>
            <a:r>
              <a:rPr lang="en-US" b="1" dirty="0"/>
              <a:t>Research your disease.</a:t>
            </a:r>
            <a:r>
              <a:rPr lang="en-US" dirty="0"/>
              <a:t> The more you know, the better prepared you'll be to make treatment decisions.</a:t>
            </a:r>
          </a:p>
          <a:p>
            <a:r>
              <a:rPr lang="en-US" b="1" dirty="0"/>
              <a:t>Ask questions. </a:t>
            </a:r>
            <a:r>
              <a:rPr lang="en-US" dirty="0"/>
              <a:t>Be sure to ask your doctor about anything related to your disease or treatment that you don't understand. It may help you to record or write down what your doctor tells you.</a:t>
            </a:r>
          </a:p>
          <a:p>
            <a:r>
              <a:rPr lang="en-US" b="1" dirty="0"/>
              <a:t>Be vocal.</a:t>
            </a:r>
            <a:r>
              <a:rPr lang="en-US" dirty="0"/>
              <a:t> Don't be afraid to express any concerns you have to your doctor or any other health care professional treating you.</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13020917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b="1" dirty="0"/>
              <a:t>Seek support.</a:t>
            </a:r>
            <a:r>
              <a:rPr lang="en-US" dirty="0"/>
              <a:t> Ask family and friends for emotional support. Ask them to consider becoming blood donors or bone marrow donors. Consider joining an aplastic anemia support group. </a:t>
            </a:r>
            <a:endParaRPr lang="en-US" dirty="0" smtClean="0"/>
          </a:p>
          <a:p>
            <a:r>
              <a:rPr lang="en-US" dirty="0" smtClean="0"/>
              <a:t>It </a:t>
            </a:r>
            <a:r>
              <a:rPr lang="en-US" dirty="0"/>
              <a:t>may be helpful to talk to others coping with the disease. Ask your doctor if he or she knows of any local support groups, or contact the Aplastic Anemia &amp; MDS International Foundation. It offers a peer support network and can be reached at 800-747-2820.</a:t>
            </a:r>
          </a:p>
          <a:p>
            <a:r>
              <a:rPr lang="en-US" b="1" dirty="0"/>
              <a:t>Take care of yourself.</a:t>
            </a:r>
            <a:r>
              <a:rPr lang="en-US" dirty="0"/>
              <a:t> Proper nutrition and sleep are important to optimize blood production.</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57239317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Thalassemia (</a:t>
            </a:r>
            <a:r>
              <a:rPr lang="en-US" dirty="0" err="1"/>
              <a:t>thal</a:t>
            </a:r>
            <a:r>
              <a:rPr lang="en-US" dirty="0"/>
              <a:t>-uh-SEE-me-uh) is an inherited blood disorder characterized by less hemoglobin and fewer red blood cells in your body than normal. Hemoglobin is the substance in your red blood cells that allows them to carry oxygen. The low hemoglobin and fewer red blood cells of thalassemia may cause anemia, leaving you fatigued</a:t>
            </a:r>
            <a:r>
              <a:rPr lang="en-US" dirty="0" smtClean="0"/>
              <a:t>.</a:t>
            </a:r>
            <a:endParaRPr lang="en-US" dirty="0"/>
          </a:p>
        </p:txBody>
      </p:sp>
      <p:sp>
        <p:nvSpPr>
          <p:cNvPr id="3" name="Title 2"/>
          <p:cNvSpPr>
            <a:spLocks noGrp="1"/>
          </p:cNvSpPr>
          <p:nvPr>
            <p:ph type="title"/>
          </p:nvPr>
        </p:nvSpPr>
        <p:spPr/>
        <p:txBody>
          <a:bodyPr/>
          <a:lstStyle/>
          <a:p>
            <a:r>
              <a:rPr lang="en-US" dirty="0" smtClean="0"/>
              <a:t>THALLASEMIA</a:t>
            </a:r>
            <a:endParaRPr lang="en-US" dirty="0"/>
          </a:p>
        </p:txBody>
      </p:sp>
    </p:spTree>
    <p:extLst>
      <p:ext uri="{BB962C8B-B14F-4D97-AF65-F5344CB8AC3E}">
        <p14:creationId xmlns:p14="http://schemas.microsoft.com/office/powerpoint/2010/main" val="213754648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If you have mild thalassemia, you may not need treatment. But if you have a more severe form of the disorder, you may need regular blood transfusions. You can also take steps on your own to cope with fatigue, such as choosing a healthy diet and exercising regularly</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88115210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092891"/>
          </a:xfrm>
        </p:spPr>
        <p:txBody>
          <a:bodyPr>
            <a:normAutofit/>
          </a:bodyPr>
          <a:lstStyle/>
          <a:p>
            <a:r>
              <a:rPr lang="en-US" dirty="0" smtClean="0"/>
              <a:t>Thalassemia </a:t>
            </a:r>
            <a:r>
              <a:rPr lang="en-US" dirty="0"/>
              <a:t>signs and symptoms may include:</a:t>
            </a:r>
          </a:p>
          <a:p>
            <a:r>
              <a:rPr lang="en-US" dirty="0"/>
              <a:t>Fatigue</a:t>
            </a:r>
          </a:p>
          <a:p>
            <a:r>
              <a:rPr lang="en-US" dirty="0"/>
              <a:t>Weakness</a:t>
            </a:r>
          </a:p>
          <a:p>
            <a:r>
              <a:rPr lang="en-US" dirty="0"/>
              <a:t>Pale or yellowish skin</a:t>
            </a:r>
          </a:p>
          <a:p>
            <a:r>
              <a:rPr lang="en-US" dirty="0"/>
              <a:t>Facial bone deformities</a:t>
            </a:r>
          </a:p>
          <a:p>
            <a:r>
              <a:rPr lang="en-US" dirty="0"/>
              <a:t>Slow growth</a:t>
            </a:r>
          </a:p>
          <a:p>
            <a:r>
              <a:rPr lang="en-US" dirty="0"/>
              <a:t>Abdominal swelling</a:t>
            </a:r>
          </a:p>
          <a:p>
            <a:r>
              <a:rPr lang="en-US" dirty="0"/>
              <a:t>Dark urine</a:t>
            </a:r>
          </a:p>
          <a:p>
            <a:endParaRPr lang="en-US" dirty="0"/>
          </a:p>
        </p:txBody>
      </p:sp>
      <p:sp>
        <p:nvSpPr>
          <p:cNvPr id="3" name="Title 2"/>
          <p:cNvSpPr>
            <a:spLocks noGrp="1"/>
          </p:cNvSpPr>
          <p:nvPr>
            <p:ph type="title"/>
          </p:nvPr>
        </p:nvSpPr>
        <p:spPr>
          <a:xfrm>
            <a:off x="457200" y="274638"/>
            <a:ext cx="8229600" cy="868362"/>
          </a:xfrm>
        </p:spPr>
        <p:txBody>
          <a:bodyPr>
            <a:normAutofit fontScale="90000"/>
          </a:bodyPr>
          <a:lstStyle/>
          <a:p>
            <a:r>
              <a:rPr lang="en-US" dirty="0"/>
              <a:t>Symptoms</a:t>
            </a:r>
            <a:br>
              <a:rPr lang="en-US" dirty="0"/>
            </a:br>
            <a:endParaRPr lang="en-US" dirty="0"/>
          </a:p>
        </p:txBody>
      </p:sp>
    </p:spTree>
    <p:extLst>
      <p:ext uri="{BB962C8B-B14F-4D97-AF65-F5344CB8AC3E}">
        <p14:creationId xmlns:p14="http://schemas.microsoft.com/office/powerpoint/2010/main" val="6424470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dirty="0"/>
              <a:t>Several types of thalassemia exist, including alpha-thalassemia, thalassemia </a:t>
            </a:r>
            <a:r>
              <a:rPr lang="en-US" dirty="0" err="1"/>
              <a:t>intermedia</a:t>
            </a:r>
            <a:r>
              <a:rPr lang="en-US" dirty="0"/>
              <a:t> and Cooley anemia. </a:t>
            </a:r>
            <a:endParaRPr lang="en-US" dirty="0" smtClean="0"/>
          </a:p>
          <a:p>
            <a:r>
              <a:rPr lang="en-US" dirty="0" smtClean="0"/>
              <a:t>The </a:t>
            </a:r>
            <a:r>
              <a:rPr lang="en-US" dirty="0"/>
              <a:t>signs and symptoms you experience depend on the type and severity of your condition. Some babies show signs and symptoms of thalassemia at birth, while others may develop them during the first two years of life. </a:t>
            </a:r>
            <a:endParaRPr lang="en-US" dirty="0" smtClean="0"/>
          </a:p>
          <a:p>
            <a:r>
              <a:rPr lang="en-US" dirty="0" smtClean="0"/>
              <a:t>Some </a:t>
            </a:r>
            <a:r>
              <a:rPr lang="en-US" dirty="0"/>
              <a:t>people who have only one affected hemoglobin gene don't experience any thalassemia symptoms</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97774538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5169091"/>
          </a:xfrm>
        </p:spPr>
        <p:txBody>
          <a:bodyPr>
            <a:normAutofit/>
          </a:bodyPr>
          <a:lstStyle/>
          <a:p>
            <a:r>
              <a:rPr lang="en-US" dirty="0" smtClean="0"/>
              <a:t>Thalassemia </a:t>
            </a:r>
            <a:r>
              <a:rPr lang="en-US" dirty="0"/>
              <a:t>is caused by mutations in the DNA of cells that make hemoglobin — the substance in your red blood cells that carries oxygen throughout your body. The mutations associated with thalassemia are passed from parents to children.</a:t>
            </a:r>
          </a:p>
          <a:p>
            <a:r>
              <a:rPr lang="en-US" dirty="0"/>
              <a:t>Thalassemia disrupts the normal production of hemoglobin and healthy red blood cells. This causes anemia. With anemia, your blood doesn't have enough red blood cells to carry oxygen to your tissues — leaving you fatigued.</a:t>
            </a:r>
          </a:p>
          <a:p>
            <a:endParaRPr lang="en-US" dirty="0"/>
          </a:p>
        </p:txBody>
      </p:sp>
      <p:sp>
        <p:nvSpPr>
          <p:cNvPr id="3" name="Title 2"/>
          <p:cNvSpPr>
            <a:spLocks noGrp="1"/>
          </p:cNvSpPr>
          <p:nvPr>
            <p:ph type="title"/>
          </p:nvPr>
        </p:nvSpPr>
        <p:spPr>
          <a:xfrm>
            <a:off x="457200" y="274638"/>
            <a:ext cx="8229600" cy="792162"/>
          </a:xfrm>
        </p:spPr>
        <p:txBody>
          <a:bodyPr>
            <a:normAutofit fontScale="90000"/>
          </a:bodyPr>
          <a:lstStyle/>
          <a:p>
            <a:r>
              <a:rPr lang="en-US" dirty="0"/>
              <a:t>Causes</a:t>
            </a:r>
            <a:br>
              <a:rPr lang="en-US" dirty="0"/>
            </a:br>
            <a:endParaRPr lang="en-US" dirty="0"/>
          </a:p>
        </p:txBody>
      </p:sp>
    </p:spTree>
    <p:extLst>
      <p:ext uri="{BB962C8B-B14F-4D97-AF65-F5344CB8AC3E}">
        <p14:creationId xmlns:p14="http://schemas.microsoft.com/office/powerpoint/2010/main" val="222349493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Types of thalassemia</a:t>
            </a:r>
          </a:p>
          <a:p>
            <a:r>
              <a:rPr lang="en-US" dirty="0"/>
              <a:t>The type of thalassemia you have depends on the number of gene mutations you inherit from your parents and which part of the hemoglobin molecule is affected by the mutations. The more mutated genes, the more severe your thalassemia. Hemoglobin molecules are made of alpha and beta parts that can be affected by mutations</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95405844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b="1" dirty="0"/>
              <a:t>Alpha-thalassemia</a:t>
            </a:r>
          </a:p>
          <a:p>
            <a:r>
              <a:rPr lang="en-US" dirty="0"/>
              <a:t>Four genes are involved in making the alpha hemoglobin chain. You get two from each of your parents. If you inherit:</a:t>
            </a:r>
          </a:p>
          <a:p>
            <a:r>
              <a:rPr lang="en-US" b="1" dirty="0"/>
              <a:t>1 mutated gene,</a:t>
            </a:r>
            <a:r>
              <a:rPr lang="en-US" dirty="0"/>
              <a:t> you'll have no signs or symptoms of thalassemia. But you are a carrier of the disease and can pass it on to your children.</a:t>
            </a:r>
          </a:p>
          <a:p>
            <a:r>
              <a:rPr lang="en-US" b="1" dirty="0"/>
              <a:t>2 mutated genes,</a:t>
            </a:r>
            <a:r>
              <a:rPr lang="en-US" dirty="0"/>
              <a:t> your thalassemia signs and symptoms will be mild. This condition may be called alpha-thalassemia trait.</a:t>
            </a:r>
          </a:p>
          <a:p>
            <a:r>
              <a:rPr lang="en-US" b="1" dirty="0"/>
              <a:t>3 mutated genes,</a:t>
            </a:r>
            <a:r>
              <a:rPr lang="en-US" dirty="0"/>
              <a:t> your signs and symptoms will be moderate to severe.</a:t>
            </a:r>
          </a:p>
          <a:p>
            <a:pPr marL="109728" indent="0">
              <a:buNone/>
            </a:pPr>
            <a:endParaRPr lang="en-US" dirty="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67842560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b="1" dirty="0"/>
              <a:t>Thalassemia minor</a:t>
            </a:r>
          </a:p>
          <a:p>
            <a:r>
              <a:rPr lang="en-US" dirty="0"/>
              <a:t>Two genes are involved in making the beta hemoglobin chain. You get one from each of your parents. If you inherit:</a:t>
            </a:r>
          </a:p>
          <a:p>
            <a:r>
              <a:rPr lang="en-US" b="1" dirty="0"/>
              <a:t>1 mutated gene,</a:t>
            </a:r>
            <a:r>
              <a:rPr lang="en-US" dirty="0"/>
              <a:t> you'll have mild signs and symptoms. This condition is called thalassemia minor or beta-thalassemia.</a:t>
            </a:r>
          </a:p>
          <a:p>
            <a:r>
              <a:rPr lang="en-US" b="1" dirty="0"/>
              <a:t>2 mutated genes,</a:t>
            </a:r>
            <a:r>
              <a:rPr lang="en-US" dirty="0"/>
              <a:t> your signs and symptoms will be moderate to severe. This condition is called thalassemia major, or Cooley anemia. Babies born with two defective beta hemoglobin genes usually are healthy at birth but develop signs and symptoms within the first two years of life. A milder form, called thalassemia </a:t>
            </a:r>
            <a:r>
              <a:rPr lang="en-US" dirty="0" err="1"/>
              <a:t>intermedia</a:t>
            </a:r>
            <a:r>
              <a:rPr lang="en-US" dirty="0"/>
              <a:t>, also may occur with two mutated genes.</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98563549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Risk factors</a:t>
            </a:r>
          </a:p>
          <a:p>
            <a:r>
              <a:rPr lang="en-US" dirty="0"/>
              <a:t>Factors that increase your risk of thalassemia include:</a:t>
            </a:r>
          </a:p>
          <a:p>
            <a:r>
              <a:rPr lang="en-US" b="1" dirty="0"/>
              <a:t>Family history of thalassemia.</a:t>
            </a:r>
            <a:r>
              <a:rPr lang="en-US" dirty="0"/>
              <a:t> Thalassemia is passed from parents to children through mutated hemoglobin genes. If you have a family history of thalassemia, you may have an increased risk of the condition.</a:t>
            </a:r>
          </a:p>
          <a:p>
            <a:r>
              <a:rPr lang="en-US" b="1" dirty="0"/>
              <a:t>Certain ancestry.</a:t>
            </a:r>
            <a:r>
              <a:rPr lang="en-US" dirty="0"/>
              <a:t> Thalassemia occurs most often in African-Americans and in people of Mediterranean and Southeast Asian ancestry.</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56805752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Complications</a:t>
            </a:r>
          </a:p>
          <a:p>
            <a:r>
              <a:rPr lang="en-US" dirty="0"/>
              <a:t>Possible complications of thalassemia include:</a:t>
            </a:r>
          </a:p>
          <a:p>
            <a:r>
              <a:rPr lang="en-US" b="1" dirty="0"/>
              <a:t>Iron overload.</a:t>
            </a:r>
            <a:r>
              <a:rPr lang="en-US" dirty="0"/>
              <a:t> People with thalassemia can get too much iron in their bodies, either from the disease or from frequent blood transfusions</a:t>
            </a:r>
            <a:r>
              <a:rPr lang="en-US" dirty="0" smtClean="0"/>
              <a:t>.</a:t>
            </a:r>
          </a:p>
          <a:p>
            <a:r>
              <a:rPr lang="en-US" dirty="0" smtClean="0"/>
              <a:t> </a:t>
            </a:r>
            <a:r>
              <a:rPr lang="en-US" dirty="0"/>
              <a:t>Too much iron can result in damage to your heart, liver and endocrine system. This system includes hormone-producing glands that regulate processes throughout your body.</a:t>
            </a:r>
          </a:p>
          <a:p>
            <a:r>
              <a:rPr lang="en-US" b="1" dirty="0"/>
              <a:t>Infection.</a:t>
            </a:r>
            <a:r>
              <a:rPr lang="en-US" dirty="0"/>
              <a:t> People with thalassemia have an increased risk of infection. This is especially true if you've had your spleen removed.</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1516957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5016691"/>
          </a:xfrm>
        </p:spPr>
        <p:txBody>
          <a:bodyPr>
            <a:normAutofit fontScale="92500" lnSpcReduction="10000"/>
          </a:bodyPr>
          <a:lstStyle/>
          <a:p>
            <a:r>
              <a:rPr lang="en-US" dirty="0"/>
              <a:t>In cases of severe thalassemia, the following complications can occur</a:t>
            </a:r>
            <a:r>
              <a:rPr lang="en-US" dirty="0" smtClean="0"/>
              <a:t>:</a:t>
            </a:r>
            <a:endParaRPr lang="en-US" dirty="0"/>
          </a:p>
          <a:p>
            <a:r>
              <a:rPr lang="en-US" b="1" dirty="0"/>
              <a:t>Enlarged spleen (splenomegaly).</a:t>
            </a:r>
            <a:r>
              <a:rPr lang="en-US" dirty="0"/>
              <a:t> The spleen helps your body fight infection and filter unwanted material, such as old or damaged blood cells. Thalassemia is often accompanied by the destruction of a large number of red blood cells. This causes your spleen to enlarge and work harder than normal. Splenomegaly can make anemia worse, and it can reduce the life of transfused red blood cells. If your spleen grows too big, your doctor may suggest surgery to remove it (</a:t>
            </a:r>
            <a:r>
              <a:rPr lang="en-US" dirty="0" err="1"/>
              <a:t>splenectomy</a:t>
            </a:r>
            <a:r>
              <a:rPr lang="en-US" dirty="0"/>
              <a:t>).</a:t>
            </a:r>
          </a:p>
          <a:p>
            <a:endParaRPr lang="en-US" dirty="0"/>
          </a:p>
        </p:txBody>
      </p:sp>
      <p:sp>
        <p:nvSpPr>
          <p:cNvPr id="3" name="Title 2"/>
          <p:cNvSpPr>
            <a:spLocks noGrp="1"/>
          </p:cNvSpPr>
          <p:nvPr>
            <p:ph type="title"/>
          </p:nvPr>
        </p:nvSpPr>
        <p:spPr>
          <a:xfrm>
            <a:off x="457200" y="274638"/>
            <a:ext cx="8229600" cy="639762"/>
          </a:xfrm>
        </p:spPr>
        <p:txBody>
          <a:bodyPr>
            <a:normAutofit fontScale="90000"/>
          </a:bodyPr>
          <a:lstStyle/>
          <a:p>
            <a:endParaRPr lang="en-US" dirty="0"/>
          </a:p>
        </p:txBody>
      </p:sp>
    </p:spTree>
    <p:extLst>
      <p:ext uri="{BB962C8B-B14F-4D97-AF65-F5344CB8AC3E}">
        <p14:creationId xmlns:p14="http://schemas.microsoft.com/office/powerpoint/2010/main" val="357132848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Bone deformities.</a:t>
            </a:r>
            <a:r>
              <a:rPr lang="en-US" dirty="0"/>
              <a:t> Thalassemia can make your bone marrow expand, which causes your bones to widen. This can result in abnormal bone structure, especially in your face and skull. Bone marrow expansion also makes bones thin and brittle, increasing the chance of broken bones</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66667447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Slowed growth rates.</a:t>
            </a:r>
            <a:r>
              <a:rPr lang="en-US" dirty="0"/>
              <a:t> Anemia can cause a child's growth to slow. And thalassemia may cause a delay in puberty.</a:t>
            </a:r>
          </a:p>
          <a:p>
            <a:r>
              <a:rPr lang="en-US" b="1" dirty="0"/>
              <a:t>Heart problems.</a:t>
            </a:r>
            <a:r>
              <a:rPr lang="en-US" dirty="0"/>
              <a:t> Heart problems — such as congestive heart failure and abnormal heart rhythms (arrhythmias) — may be associated with severe thalassemia.</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86002349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4940491"/>
          </a:xfrm>
        </p:spPr>
        <p:txBody>
          <a:bodyPr/>
          <a:lstStyle/>
          <a:p>
            <a:r>
              <a:rPr lang="en-US" dirty="0" smtClean="0"/>
              <a:t>In </a:t>
            </a:r>
            <a:r>
              <a:rPr lang="en-US" dirty="0"/>
              <a:t>most cases, you can't prevent thalassemia. If you have thalassemia, or if you carry a thalassemia gene, consider talking with a genetic counselor for guidance if you're thinking of having children.</a:t>
            </a:r>
          </a:p>
          <a:p>
            <a:endParaRPr lang="en-US" dirty="0"/>
          </a:p>
        </p:txBody>
      </p:sp>
      <p:sp>
        <p:nvSpPr>
          <p:cNvPr id="3" name="Title 2"/>
          <p:cNvSpPr>
            <a:spLocks noGrp="1"/>
          </p:cNvSpPr>
          <p:nvPr>
            <p:ph type="title"/>
          </p:nvPr>
        </p:nvSpPr>
        <p:spPr>
          <a:xfrm>
            <a:off x="457200" y="274638"/>
            <a:ext cx="8229600" cy="868362"/>
          </a:xfrm>
        </p:spPr>
        <p:txBody>
          <a:bodyPr>
            <a:normAutofit fontScale="90000"/>
          </a:bodyPr>
          <a:lstStyle/>
          <a:p>
            <a:r>
              <a:rPr lang="en-US" dirty="0"/>
              <a:t>Prevention</a:t>
            </a:r>
            <a:br>
              <a:rPr lang="en-US" dirty="0"/>
            </a:br>
            <a:endParaRPr lang="en-US" dirty="0"/>
          </a:p>
        </p:txBody>
      </p:sp>
    </p:spTree>
    <p:extLst>
      <p:ext uri="{BB962C8B-B14F-4D97-AF65-F5344CB8AC3E}">
        <p14:creationId xmlns:p14="http://schemas.microsoft.com/office/powerpoint/2010/main" val="218126015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245291"/>
          </a:xfrm>
        </p:spPr>
        <p:txBody>
          <a:bodyPr>
            <a:normAutofit fontScale="92500" lnSpcReduction="10000"/>
          </a:bodyPr>
          <a:lstStyle/>
          <a:p>
            <a:r>
              <a:rPr lang="en-US" dirty="0" smtClean="0"/>
              <a:t>Most </a:t>
            </a:r>
            <a:r>
              <a:rPr lang="en-US" dirty="0"/>
              <a:t>children with moderate to severe thalassemia show signs and symptoms within their first two years of life. If your doctor suspects your child has thalassemia, he or she may confirm a diagnosis using blood </a:t>
            </a:r>
            <a:r>
              <a:rPr lang="en-US" dirty="0" smtClean="0"/>
              <a:t>tests.</a:t>
            </a:r>
          </a:p>
          <a:p>
            <a:pPr marL="109728" indent="0">
              <a:buNone/>
            </a:pPr>
            <a:r>
              <a:rPr lang="en-US" dirty="0" smtClean="0"/>
              <a:t>If </a:t>
            </a:r>
            <a:r>
              <a:rPr lang="en-US" dirty="0"/>
              <a:t>your child has thalassemia, blood tests may reveal:</a:t>
            </a:r>
          </a:p>
          <a:p>
            <a:r>
              <a:rPr lang="en-US" dirty="0"/>
              <a:t>A low level of red blood cells</a:t>
            </a:r>
          </a:p>
          <a:p>
            <a:r>
              <a:rPr lang="en-US" dirty="0"/>
              <a:t>Smaller than expected red blood cells</a:t>
            </a:r>
          </a:p>
          <a:p>
            <a:r>
              <a:rPr lang="en-US" dirty="0"/>
              <a:t>Pale red blood cells</a:t>
            </a:r>
          </a:p>
          <a:p>
            <a:r>
              <a:rPr lang="en-US" dirty="0"/>
              <a:t>Red blood cells that are varied in size and shape</a:t>
            </a:r>
          </a:p>
          <a:p>
            <a:r>
              <a:rPr lang="en-US" dirty="0"/>
              <a:t>Red blood cells with uneven hemoglobin distribution, which gives the cells a bull's-eye appearance under the microscope</a:t>
            </a:r>
          </a:p>
          <a:p>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r>
              <a:rPr lang="en-US" dirty="0"/>
              <a:t>Diagnosis</a:t>
            </a:r>
            <a:br>
              <a:rPr lang="en-US" dirty="0"/>
            </a:br>
            <a:endParaRPr lang="en-US" dirty="0"/>
          </a:p>
        </p:txBody>
      </p:sp>
    </p:spTree>
    <p:extLst>
      <p:ext uri="{BB962C8B-B14F-4D97-AF65-F5344CB8AC3E}">
        <p14:creationId xmlns:p14="http://schemas.microsoft.com/office/powerpoint/2010/main" val="144020701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Blood tests may also be used to:</a:t>
            </a:r>
          </a:p>
          <a:p>
            <a:r>
              <a:rPr lang="en-US" dirty="0"/>
              <a:t>Measure the amount of iron in your child's blood</a:t>
            </a:r>
          </a:p>
          <a:p>
            <a:r>
              <a:rPr lang="en-US" dirty="0"/>
              <a:t>Evaluate his or her hemoglobin</a:t>
            </a:r>
          </a:p>
          <a:p>
            <a:r>
              <a:rPr lang="en-US" dirty="0"/>
              <a:t>Perform DNA analysis to diagnose thalassemia or to determine if a person is carrying mutated hemoglobin genes</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15312833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092891"/>
          </a:xfrm>
        </p:spPr>
        <p:txBody>
          <a:bodyPr>
            <a:normAutofit lnSpcReduction="10000"/>
          </a:bodyPr>
          <a:lstStyle/>
          <a:p>
            <a:r>
              <a:rPr lang="en-US" dirty="0" smtClean="0"/>
              <a:t>Testing </a:t>
            </a:r>
            <a:r>
              <a:rPr lang="en-US" dirty="0"/>
              <a:t>can be done before a baby is born to find out if he or she has thalassemia and determine how severe it may be. Tests used to diagnose thalassemia in fetuses include:</a:t>
            </a:r>
          </a:p>
          <a:p>
            <a:r>
              <a:rPr lang="en-US" b="1" dirty="0"/>
              <a:t>Chorionic villus sampling.</a:t>
            </a:r>
            <a:r>
              <a:rPr lang="en-US" dirty="0"/>
              <a:t> This test is usually done around the 11th week of pregnancy and involves removing a tiny piece of the placenta for evaluation.</a:t>
            </a:r>
          </a:p>
          <a:p>
            <a:r>
              <a:rPr lang="en-US" b="1" dirty="0"/>
              <a:t>Amniocentesis.</a:t>
            </a:r>
            <a:r>
              <a:rPr lang="en-US" dirty="0"/>
              <a:t> This test is usually done around the 16th week of pregnancy and involves taking a sample of the fluid that surrounds the fetus.</a:t>
            </a:r>
          </a:p>
        </p:txBody>
      </p:sp>
      <p:sp>
        <p:nvSpPr>
          <p:cNvPr id="3" name="Title 2"/>
          <p:cNvSpPr>
            <a:spLocks noGrp="1"/>
          </p:cNvSpPr>
          <p:nvPr>
            <p:ph type="title"/>
          </p:nvPr>
        </p:nvSpPr>
        <p:spPr>
          <a:xfrm>
            <a:off x="457200" y="274638"/>
            <a:ext cx="8229600" cy="868362"/>
          </a:xfrm>
        </p:spPr>
        <p:txBody>
          <a:bodyPr>
            <a:normAutofit fontScale="90000"/>
          </a:bodyPr>
          <a:lstStyle/>
          <a:p>
            <a:r>
              <a:rPr lang="en-US" dirty="0"/>
              <a:t>Prenatal testing</a:t>
            </a:r>
            <a:br>
              <a:rPr lang="en-US" dirty="0"/>
            </a:br>
            <a:endParaRPr lang="en-US" dirty="0"/>
          </a:p>
        </p:txBody>
      </p:sp>
    </p:spTree>
    <p:extLst>
      <p:ext uri="{BB962C8B-B14F-4D97-AF65-F5344CB8AC3E}">
        <p14:creationId xmlns:p14="http://schemas.microsoft.com/office/powerpoint/2010/main" val="59884800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525963"/>
          </a:xfrm>
        </p:spPr>
        <p:txBody>
          <a:bodyPr>
            <a:normAutofit lnSpcReduction="10000"/>
          </a:bodyPr>
          <a:lstStyle/>
          <a:p>
            <a:r>
              <a:rPr lang="en-US" dirty="0" smtClean="0"/>
              <a:t>A </a:t>
            </a:r>
            <a:r>
              <a:rPr lang="en-US" dirty="0"/>
              <a:t>form of assisted reproductive technology that combines </a:t>
            </a:r>
            <a:r>
              <a:rPr lang="en-US" dirty="0" smtClean="0"/>
              <a:t>pre-implantation </a:t>
            </a:r>
            <a:r>
              <a:rPr lang="en-US" dirty="0"/>
              <a:t>genetic diagnosis with in vitro fertilization may help parents who have thalassemia or who are carriers of a defective hemoglobin gene give birth to healthy babies. </a:t>
            </a:r>
            <a:endParaRPr lang="en-US" dirty="0" smtClean="0"/>
          </a:p>
          <a:p>
            <a:r>
              <a:rPr lang="en-US" dirty="0" smtClean="0"/>
              <a:t>The </a:t>
            </a:r>
            <a:r>
              <a:rPr lang="en-US" dirty="0"/>
              <a:t>procedure involves retrieving mature eggs and fertilizing them with sperm in a dish in a laboratory. The embryos are tested for the defective genes, and only those without genetic defects are implanted into the uterus</a:t>
            </a:r>
          </a:p>
          <a:p>
            <a:endParaRPr lang="en-US" dirty="0"/>
          </a:p>
        </p:txBody>
      </p:sp>
      <p:sp>
        <p:nvSpPr>
          <p:cNvPr id="3" name="Title 2"/>
          <p:cNvSpPr>
            <a:spLocks noGrp="1"/>
          </p:cNvSpPr>
          <p:nvPr>
            <p:ph type="title"/>
          </p:nvPr>
        </p:nvSpPr>
        <p:spPr>
          <a:xfrm>
            <a:off x="457200" y="274638"/>
            <a:ext cx="8229600" cy="944562"/>
          </a:xfrm>
        </p:spPr>
        <p:txBody>
          <a:bodyPr>
            <a:normAutofit fontScale="90000"/>
          </a:bodyPr>
          <a:lstStyle/>
          <a:p>
            <a:r>
              <a:rPr lang="en-US" dirty="0"/>
              <a:t>Assisted reproductive technology</a:t>
            </a:r>
            <a:br>
              <a:rPr lang="en-US" dirty="0"/>
            </a:br>
            <a:endParaRPr lang="en-US" dirty="0"/>
          </a:p>
        </p:txBody>
      </p:sp>
    </p:spTree>
    <p:extLst>
      <p:ext uri="{BB962C8B-B14F-4D97-AF65-F5344CB8AC3E}">
        <p14:creationId xmlns:p14="http://schemas.microsoft.com/office/powerpoint/2010/main" val="267449498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4940491"/>
          </a:xfrm>
        </p:spPr>
        <p:txBody>
          <a:bodyPr/>
          <a:lstStyle/>
          <a:p>
            <a:r>
              <a:rPr lang="en-US" dirty="0" smtClean="0"/>
              <a:t>Treatment </a:t>
            </a:r>
            <a:r>
              <a:rPr lang="en-US" dirty="0"/>
              <a:t>for thalassemia depends on which type you have and how severe it is.</a:t>
            </a:r>
          </a:p>
          <a:p>
            <a:endParaRPr lang="en-US" dirty="0"/>
          </a:p>
        </p:txBody>
      </p:sp>
      <p:sp>
        <p:nvSpPr>
          <p:cNvPr id="3" name="Title 2"/>
          <p:cNvSpPr>
            <a:spLocks noGrp="1"/>
          </p:cNvSpPr>
          <p:nvPr>
            <p:ph type="title"/>
          </p:nvPr>
        </p:nvSpPr>
        <p:spPr/>
        <p:txBody>
          <a:bodyPr>
            <a:normAutofit fontScale="90000"/>
          </a:bodyPr>
          <a:lstStyle/>
          <a:p>
            <a:r>
              <a:rPr lang="en-US" dirty="0"/>
              <a:t>Treatment</a:t>
            </a:r>
            <a:br>
              <a:rPr lang="en-US" dirty="0"/>
            </a:br>
            <a:endParaRPr lang="en-US" dirty="0"/>
          </a:p>
        </p:txBody>
      </p:sp>
    </p:spTree>
    <p:extLst>
      <p:ext uri="{BB962C8B-B14F-4D97-AF65-F5344CB8AC3E}">
        <p14:creationId xmlns:p14="http://schemas.microsoft.com/office/powerpoint/2010/main" val="82211924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5681472"/>
          </a:xfrm>
        </p:spPr>
        <p:txBody>
          <a:bodyPr>
            <a:normAutofit/>
          </a:bodyPr>
          <a:lstStyle/>
          <a:p>
            <a:r>
              <a:rPr lang="en-US" dirty="0" smtClean="0"/>
              <a:t>Signs </a:t>
            </a:r>
            <a:r>
              <a:rPr lang="en-US" dirty="0"/>
              <a:t>and symptoms are usually mild with thalassemia minor and little, if any, treatment is needed. Occasionally, you may need a blood transfusion, particularly after surgery, after having a baby or to help manage thalassemia complications.</a:t>
            </a:r>
          </a:p>
          <a:p>
            <a:r>
              <a:rPr lang="en-US" dirty="0"/>
              <a:t>People with severe beta-thalassemia will need blood transfusions. And because this treatment can cause iron overload, they will also need treatment to remove excess iron. An oral medication called </a:t>
            </a:r>
            <a:r>
              <a:rPr lang="en-US" dirty="0" err="1"/>
              <a:t>deferasirox</a:t>
            </a:r>
            <a:r>
              <a:rPr lang="en-US" dirty="0"/>
              <a:t> (</a:t>
            </a:r>
            <a:r>
              <a:rPr lang="en-US" dirty="0" err="1"/>
              <a:t>Exjade</a:t>
            </a:r>
            <a:r>
              <a:rPr lang="en-US" dirty="0"/>
              <a:t>, </a:t>
            </a:r>
            <a:r>
              <a:rPr lang="en-US" dirty="0" err="1"/>
              <a:t>Jadenu</a:t>
            </a:r>
            <a:r>
              <a:rPr lang="en-US" dirty="0"/>
              <a:t>) can help remove the excess iron.</a:t>
            </a:r>
          </a:p>
          <a:p>
            <a:endParaRPr lang="en-US" dirty="0"/>
          </a:p>
        </p:txBody>
      </p:sp>
      <p:sp>
        <p:nvSpPr>
          <p:cNvPr id="3" name="Title 2"/>
          <p:cNvSpPr>
            <a:spLocks noGrp="1"/>
          </p:cNvSpPr>
          <p:nvPr>
            <p:ph type="title"/>
          </p:nvPr>
        </p:nvSpPr>
        <p:spPr>
          <a:xfrm>
            <a:off x="457200" y="274638"/>
            <a:ext cx="8229600" cy="792162"/>
          </a:xfrm>
        </p:spPr>
        <p:txBody>
          <a:bodyPr>
            <a:normAutofit fontScale="90000"/>
          </a:bodyPr>
          <a:lstStyle/>
          <a:p>
            <a:r>
              <a:rPr lang="en-US" dirty="0"/>
              <a:t>Treatments for mild thalassemia</a:t>
            </a:r>
            <a:br>
              <a:rPr lang="en-US" dirty="0"/>
            </a:br>
            <a:endParaRPr lang="en-US" dirty="0"/>
          </a:p>
        </p:txBody>
      </p:sp>
    </p:spTree>
    <p:extLst>
      <p:ext uri="{BB962C8B-B14F-4D97-AF65-F5344CB8AC3E}">
        <p14:creationId xmlns:p14="http://schemas.microsoft.com/office/powerpoint/2010/main" val="367005498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smtClean="0"/>
              <a:t>Treatments </a:t>
            </a:r>
            <a:r>
              <a:rPr lang="en-US" dirty="0"/>
              <a:t>for moderate to severe thalassemia may include:</a:t>
            </a:r>
          </a:p>
          <a:p>
            <a:r>
              <a:rPr lang="en-US" b="1" dirty="0"/>
              <a:t>Frequent blood transfusions.</a:t>
            </a:r>
            <a:r>
              <a:rPr lang="en-US" dirty="0"/>
              <a:t> More-severe forms of thalassemia often require frequent blood transfusions, possibly every few weeks. Over time, blood transfusions cause a buildup of iron in your blood, which can damage your heart, liver and other organs. To help your body get rid of the extra iron, you may need to take medications that rid your body of extra iron.</a:t>
            </a:r>
          </a:p>
          <a:p>
            <a:endParaRPr lang="en-US" dirty="0"/>
          </a:p>
        </p:txBody>
      </p:sp>
      <p:sp>
        <p:nvSpPr>
          <p:cNvPr id="3" name="Title 2"/>
          <p:cNvSpPr>
            <a:spLocks noGrp="1"/>
          </p:cNvSpPr>
          <p:nvPr>
            <p:ph type="title"/>
          </p:nvPr>
        </p:nvSpPr>
        <p:spPr/>
        <p:txBody>
          <a:bodyPr>
            <a:normAutofit fontScale="90000"/>
          </a:bodyPr>
          <a:lstStyle/>
          <a:p>
            <a:r>
              <a:rPr lang="en-US" dirty="0"/>
              <a:t>Treatments for moderate to severe </a:t>
            </a:r>
            <a:r>
              <a:rPr lang="en-US" dirty="0" smtClean="0"/>
              <a:t>thalassemia</a:t>
            </a:r>
            <a:endParaRPr lang="en-US" dirty="0"/>
          </a:p>
        </p:txBody>
      </p:sp>
    </p:spTree>
    <p:extLst>
      <p:ext uri="{BB962C8B-B14F-4D97-AF65-F5344CB8AC3E}">
        <p14:creationId xmlns:p14="http://schemas.microsoft.com/office/powerpoint/2010/main" val="94423069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Stem cell transplant.</a:t>
            </a:r>
            <a:r>
              <a:rPr lang="en-US" dirty="0"/>
              <a:t> Also called a bone marrow transplant, a stem cell transplant may be an option in select cases, including children born with severe thalassemia. It can eliminate the need for lifelong blood transfusions and drugs to control iron overload.</a:t>
            </a:r>
          </a:p>
          <a:p>
            <a:r>
              <a:rPr lang="en-US" dirty="0"/>
              <a:t>During this procedure, you receive infusions of stem cells from a compatible donor, usually a sibling.</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70282596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5169091"/>
          </a:xfrm>
        </p:spPr>
        <p:txBody>
          <a:bodyPr>
            <a:normAutofit fontScale="92500" lnSpcReduction="20000"/>
          </a:bodyPr>
          <a:lstStyle/>
          <a:p>
            <a:r>
              <a:rPr lang="en-US" dirty="0" smtClean="0"/>
              <a:t>You </a:t>
            </a:r>
            <a:r>
              <a:rPr lang="en-US" dirty="0"/>
              <a:t>can help manage your thalassemia by following your treatment plan and adopting healthy-living habits. The following tips will help:</a:t>
            </a:r>
          </a:p>
          <a:p>
            <a:r>
              <a:rPr lang="en-US" b="1" dirty="0"/>
              <a:t>Avoid excess iron.</a:t>
            </a:r>
            <a:r>
              <a:rPr lang="en-US" dirty="0"/>
              <a:t> Unless your doctor recommends it, don't take vitamins or other supplements that contain iron.</a:t>
            </a:r>
          </a:p>
          <a:p>
            <a:r>
              <a:rPr lang="en-US" b="1" dirty="0"/>
              <a:t>Eat a healthy diet.</a:t>
            </a:r>
            <a:r>
              <a:rPr lang="en-US" dirty="0"/>
              <a:t> Eating a balanced diet that contains plenty of nutritious foods can help you feel better and boost your energy. Your doctor also may recommend you take a folic acid supplement to help your body make new red blood cells. Also, to keep your bones healthy, make sure your diet contains adequate calcium and vitamin D. </a:t>
            </a:r>
            <a:endParaRPr lang="en-US" dirty="0" smtClean="0"/>
          </a:p>
          <a:p>
            <a:r>
              <a:rPr lang="en-US" dirty="0" smtClean="0"/>
              <a:t>Ask </a:t>
            </a:r>
            <a:r>
              <a:rPr lang="en-US" dirty="0"/>
              <a:t>your doctor what the right amounts are for you and whether you need to take a supplement.</a:t>
            </a:r>
          </a:p>
          <a:p>
            <a:endParaRPr lang="en-US" dirty="0"/>
          </a:p>
        </p:txBody>
      </p:sp>
      <p:sp>
        <p:nvSpPr>
          <p:cNvPr id="3" name="Title 2"/>
          <p:cNvSpPr>
            <a:spLocks noGrp="1"/>
          </p:cNvSpPr>
          <p:nvPr>
            <p:ph type="title"/>
          </p:nvPr>
        </p:nvSpPr>
        <p:spPr/>
        <p:txBody>
          <a:bodyPr>
            <a:normAutofit fontScale="90000"/>
          </a:bodyPr>
          <a:lstStyle/>
          <a:p>
            <a:r>
              <a:rPr lang="en-US" dirty="0"/>
              <a:t>Lifestyle and home remedies</a:t>
            </a:r>
            <a:br>
              <a:rPr lang="en-US" dirty="0"/>
            </a:br>
            <a:endParaRPr lang="en-US" dirty="0"/>
          </a:p>
        </p:txBody>
      </p:sp>
    </p:spTree>
    <p:extLst>
      <p:ext uri="{BB962C8B-B14F-4D97-AF65-F5344CB8AC3E}">
        <p14:creationId xmlns:p14="http://schemas.microsoft.com/office/powerpoint/2010/main" val="296715334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Avoid infections.</a:t>
            </a:r>
            <a:r>
              <a:rPr lang="en-US" dirty="0"/>
              <a:t> Protect yourself from infections with frequent hand-washing and by avoiding sick people. This is especially important if you've had to have your spleen removed. You'll also need an annual flu shot, as well as the meningitis, pneumococcal and hepatitis B vaccines to prevent infections. If you develop a fever or other signs and symptoms of an infection, see your doctor for treatment</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94631737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5169091"/>
          </a:xfrm>
        </p:spPr>
        <p:txBody>
          <a:bodyPr>
            <a:normAutofit/>
          </a:bodyPr>
          <a:lstStyle/>
          <a:p>
            <a:r>
              <a:rPr lang="en-US" dirty="0" smtClean="0"/>
              <a:t>Coping </a:t>
            </a:r>
            <a:r>
              <a:rPr lang="en-US" dirty="0"/>
              <a:t>with thalassemia can be challenging. But you don't have to do it alone. If you have questions or would like guidance, talk with a member of your health care team. </a:t>
            </a:r>
            <a:endParaRPr lang="en-US" dirty="0" smtClean="0"/>
          </a:p>
          <a:p>
            <a:r>
              <a:rPr lang="en-US" dirty="0" smtClean="0"/>
              <a:t>You </a:t>
            </a:r>
            <a:r>
              <a:rPr lang="en-US" dirty="0"/>
              <a:t>may also benefit from joining a support group. Such a group can provide both sympathetic listening and useful information. To find out about support groups in your area that deal with thalassemia, ask a member of your health care team</a:t>
            </a:r>
          </a:p>
          <a:p>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r>
              <a:rPr lang="en-US" dirty="0"/>
              <a:t>Coping and support</a:t>
            </a:r>
            <a:br>
              <a:rPr lang="en-US" dirty="0"/>
            </a:br>
            <a:endParaRPr lang="en-US" dirty="0"/>
          </a:p>
        </p:txBody>
      </p:sp>
    </p:spTree>
    <p:extLst>
      <p:ext uri="{BB962C8B-B14F-4D97-AF65-F5344CB8AC3E}">
        <p14:creationId xmlns:p14="http://schemas.microsoft.com/office/powerpoint/2010/main" val="155293092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5169091"/>
          </a:xfrm>
        </p:spPr>
        <p:txBody>
          <a:bodyPr>
            <a:normAutofit/>
          </a:bodyPr>
          <a:lstStyle/>
          <a:p>
            <a:r>
              <a:rPr lang="en-US" dirty="0" smtClean="0"/>
              <a:t>People </a:t>
            </a:r>
            <a:r>
              <a:rPr lang="en-US" dirty="0"/>
              <a:t>with moderate to severe forms of thalassemia are usually diagnosed within the first two years of life. If you've noticed some of the signs and symptoms of thalassemia in your infant or child, see your family doctor or pediatrician. </a:t>
            </a:r>
            <a:endParaRPr lang="en-US" dirty="0" smtClean="0"/>
          </a:p>
          <a:p>
            <a:r>
              <a:rPr lang="en-US" dirty="0" smtClean="0"/>
              <a:t>You </a:t>
            </a:r>
            <a:r>
              <a:rPr lang="en-US" dirty="0"/>
              <a:t>may then be referred to a doctor who specializes in blood disorders (hematologist).</a:t>
            </a:r>
          </a:p>
          <a:p>
            <a:r>
              <a:rPr lang="en-US" dirty="0"/>
              <a:t>Here's some information to help you get ready for your appointment.</a:t>
            </a:r>
          </a:p>
          <a:p>
            <a:endParaRPr lang="en-US" dirty="0"/>
          </a:p>
        </p:txBody>
      </p:sp>
      <p:sp>
        <p:nvSpPr>
          <p:cNvPr id="3" name="Title 2"/>
          <p:cNvSpPr>
            <a:spLocks noGrp="1"/>
          </p:cNvSpPr>
          <p:nvPr>
            <p:ph type="title"/>
          </p:nvPr>
        </p:nvSpPr>
        <p:spPr>
          <a:xfrm>
            <a:off x="457200" y="274638"/>
            <a:ext cx="8229600" cy="563562"/>
          </a:xfrm>
        </p:spPr>
        <p:txBody>
          <a:bodyPr>
            <a:normAutofit fontScale="90000"/>
          </a:bodyPr>
          <a:lstStyle/>
          <a:p>
            <a:r>
              <a:rPr lang="en-US" dirty="0"/>
              <a:t>Preparing for your appointment</a:t>
            </a:r>
            <a:br>
              <a:rPr lang="en-US" dirty="0"/>
            </a:br>
            <a:endParaRPr lang="en-US" dirty="0"/>
          </a:p>
        </p:txBody>
      </p:sp>
    </p:spTree>
    <p:extLst>
      <p:ext uri="{BB962C8B-B14F-4D97-AF65-F5344CB8AC3E}">
        <p14:creationId xmlns:p14="http://schemas.microsoft.com/office/powerpoint/2010/main" val="102145781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4940491"/>
          </a:xfrm>
        </p:spPr>
        <p:txBody>
          <a:bodyPr>
            <a:normAutofit fontScale="92500" lnSpcReduction="10000"/>
          </a:bodyPr>
          <a:lstStyle/>
          <a:p>
            <a:r>
              <a:rPr lang="en-US" b="1" dirty="0" smtClean="0"/>
              <a:t>List </a:t>
            </a:r>
            <a:r>
              <a:rPr lang="en-US" b="1" dirty="0"/>
              <a:t>any symptoms your child is experiencing,</a:t>
            </a:r>
            <a:r>
              <a:rPr lang="en-US" dirty="0"/>
              <a:t> including any that may seem unrelated to the reason for which you scheduled the appointment.</a:t>
            </a:r>
          </a:p>
          <a:p>
            <a:r>
              <a:rPr lang="en-US" b="1" dirty="0"/>
              <a:t>List your child's key personal information,</a:t>
            </a:r>
            <a:r>
              <a:rPr lang="en-US" dirty="0"/>
              <a:t> including any major stresses or recent life changes. Ask family members if anyone on either side of the family has ever had thalassemia, and let your doctor know if anyone has.</a:t>
            </a:r>
          </a:p>
          <a:p>
            <a:r>
              <a:rPr lang="en-US" b="1" dirty="0"/>
              <a:t>List of all medications,</a:t>
            </a:r>
            <a:r>
              <a:rPr lang="en-US" dirty="0"/>
              <a:t> vitamins and supplements that your child is taking, including doses.</a:t>
            </a:r>
          </a:p>
          <a:p>
            <a:r>
              <a:rPr lang="en-US" b="1" dirty="0"/>
              <a:t>List questions to ask</a:t>
            </a:r>
            <a:r>
              <a:rPr lang="en-US" dirty="0"/>
              <a:t> your doctor.</a:t>
            </a:r>
          </a:p>
          <a:p>
            <a:endParaRPr lang="en-US" dirty="0"/>
          </a:p>
        </p:txBody>
      </p:sp>
      <p:sp>
        <p:nvSpPr>
          <p:cNvPr id="3" name="Title 2"/>
          <p:cNvSpPr>
            <a:spLocks noGrp="1"/>
          </p:cNvSpPr>
          <p:nvPr>
            <p:ph type="title"/>
          </p:nvPr>
        </p:nvSpPr>
        <p:spPr/>
        <p:txBody>
          <a:bodyPr>
            <a:normAutofit fontScale="90000"/>
          </a:bodyPr>
          <a:lstStyle/>
          <a:p>
            <a:r>
              <a:rPr lang="en-US" dirty="0"/>
              <a:t>What you can do</a:t>
            </a:r>
            <a:br>
              <a:rPr lang="en-US" dirty="0"/>
            </a:br>
            <a:endParaRPr lang="en-US" dirty="0"/>
          </a:p>
        </p:txBody>
      </p:sp>
    </p:spTree>
    <p:extLst>
      <p:ext uri="{BB962C8B-B14F-4D97-AF65-F5344CB8AC3E}">
        <p14:creationId xmlns:p14="http://schemas.microsoft.com/office/powerpoint/2010/main" val="303215699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Vitamin deficiency anemia is a lack of healthy red blood cells caused when you have lower than normal amounts of certain vitamins. Vitamins linked to vitamin deficiency anemia include </a:t>
            </a:r>
            <a:r>
              <a:rPr lang="en-US" dirty="0" err="1"/>
              <a:t>folate</a:t>
            </a:r>
            <a:r>
              <a:rPr lang="en-US" dirty="0"/>
              <a:t>, vitamin B-12 and vitamin C.</a:t>
            </a:r>
          </a:p>
          <a:p>
            <a:r>
              <a:rPr lang="en-US" dirty="0"/>
              <a:t>Vitamin deficiency anemia can occur if you don't eat enough </a:t>
            </a:r>
            <a:r>
              <a:rPr lang="en-US" dirty="0" err="1"/>
              <a:t>folate</a:t>
            </a:r>
            <a:r>
              <a:rPr lang="en-US" dirty="0"/>
              <a:t>, vitamin B-12 or vitamin C. Or vitamin deficiency anemia can occur if your body has trouble absorbing or processing these vitamins</a:t>
            </a:r>
            <a:r>
              <a:rPr lang="en-US" dirty="0" smtClean="0"/>
              <a:t>.</a:t>
            </a:r>
            <a:endParaRPr lang="en-US" dirty="0"/>
          </a:p>
        </p:txBody>
      </p:sp>
      <p:sp>
        <p:nvSpPr>
          <p:cNvPr id="3" name="Title 2"/>
          <p:cNvSpPr>
            <a:spLocks noGrp="1"/>
          </p:cNvSpPr>
          <p:nvPr>
            <p:ph type="title"/>
          </p:nvPr>
        </p:nvSpPr>
        <p:spPr/>
        <p:txBody>
          <a:bodyPr/>
          <a:lstStyle/>
          <a:p>
            <a:r>
              <a:rPr lang="en-US" dirty="0"/>
              <a:t>Vitamin deficiency anemia</a:t>
            </a:r>
          </a:p>
        </p:txBody>
      </p:sp>
    </p:spTree>
    <p:extLst>
      <p:ext uri="{BB962C8B-B14F-4D97-AF65-F5344CB8AC3E}">
        <p14:creationId xmlns:p14="http://schemas.microsoft.com/office/powerpoint/2010/main" val="299406610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Not all </a:t>
            </a:r>
            <a:r>
              <a:rPr lang="en-US" dirty="0" err="1"/>
              <a:t>anemias</a:t>
            </a:r>
            <a:r>
              <a:rPr lang="en-US" dirty="0"/>
              <a:t> are caused by a vitamin deficiency. Other causes include iron deficiency and certain blood diseases. That's why it's important to have your doctor diagnose and treat your anemia. Vitamin deficiency anemia can usually be corrected with vitamin supplements and changes to your diet</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4066383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33400"/>
            <a:ext cx="8229600" cy="5473891"/>
          </a:xfrm>
        </p:spPr>
        <p:txBody>
          <a:bodyPr>
            <a:normAutofit fontScale="92500" lnSpcReduction="10000"/>
          </a:bodyPr>
          <a:lstStyle/>
          <a:p>
            <a:pPr marL="109728" indent="0">
              <a:buNone/>
            </a:pPr>
            <a:r>
              <a:rPr lang="en-US" dirty="0" smtClean="0"/>
              <a:t>Signs </a:t>
            </a:r>
            <a:r>
              <a:rPr lang="en-US" dirty="0"/>
              <a:t>and symptoms of vitamin deficiency anemia include:</a:t>
            </a:r>
          </a:p>
          <a:p>
            <a:r>
              <a:rPr lang="en-US" dirty="0"/>
              <a:t>Fatigue</a:t>
            </a:r>
          </a:p>
          <a:p>
            <a:r>
              <a:rPr lang="en-US" dirty="0"/>
              <a:t>Shortness of breath</a:t>
            </a:r>
          </a:p>
          <a:p>
            <a:r>
              <a:rPr lang="en-US" dirty="0"/>
              <a:t>Dizziness</a:t>
            </a:r>
          </a:p>
          <a:p>
            <a:r>
              <a:rPr lang="en-US" dirty="0"/>
              <a:t>Pale or yellowish skin</a:t>
            </a:r>
          </a:p>
          <a:p>
            <a:r>
              <a:rPr lang="en-US" dirty="0"/>
              <a:t>Irregular heartbeats</a:t>
            </a:r>
          </a:p>
          <a:p>
            <a:r>
              <a:rPr lang="en-US" dirty="0"/>
              <a:t>Weight loss</a:t>
            </a:r>
          </a:p>
          <a:p>
            <a:r>
              <a:rPr lang="en-US" dirty="0"/>
              <a:t>Numbness or tingling in your hands and feet</a:t>
            </a:r>
          </a:p>
          <a:p>
            <a:r>
              <a:rPr lang="en-US" dirty="0"/>
              <a:t>Muscle weakness</a:t>
            </a:r>
          </a:p>
          <a:p>
            <a:r>
              <a:rPr lang="en-US" dirty="0"/>
              <a:t>Personality changes</a:t>
            </a:r>
          </a:p>
          <a:p>
            <a:r>
              <a:rPr lang="en-US" dirty="0"/>
              <a:t>Unsteady movements</a:t>
            </a:r>
          </a:p>
          <a:p>
            <a:r>
              <a:rPr lang="en-US" dirty="0"/>
              <a:t>Mental confusion or forgetfulness</a:t>
            </a:r>
          </a:p>
          <a:p>
            <a:endParaRPr lang="en-US" dirty="0"/>
          </a:p>
        </p:txBody>
      </p:sp>
      <p:sp>
        <p:nvSpPr>
          <p:cNvPr id="3" name="Title 2"/>
          <p:cNvSpPr>
            <a:spLocks noGrp="1"/>
          </p:cNvSpPr>
          <p:nvPr>
            <p:ph type="title"/>
          </p:nvPr>
        </p:nvSpPr>
        <p:spPr>
          <a:xfrm>
            <a:off x="0" y="152400"/>
            <a:ext cx="8686800" cy="685800"/>
          </a:xfrm>
        </p:spPr>
        <p:txBody>
          <a:bodyPr>
            <a:normAutofit fontScale="90000"/>
          </a:bodyPr>
          <a:lstStyle/>
          <a:p>
            <a:r>
              <a:rPr lang="en-US" dirty="0"/>
              <a:t>Symptoms</a:t>
            </a:r>
            <a:br>
              <a:rPr lang="en-US" dirty="0"/>
            </a:br>
            <a:endParaRPr lang="en-US" dirty="0"/>
          </a:p>
        </p:txBody>
      </p:sp>
    </p:spTree>
    <p:extLst>
      <p:ext uri="{BB962C8B-B14F-4D97-AF65-F5344CB8AC3E}">
        <p14:creationId xmlns:p14="http://schemas.microsoft.com/office/powerpoint/2010/main" val="362209500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Vitamin deficiencies usually develop slowly over several months to years. Vitamin deficiency symptoms may be subtle at first, but they increase as the deficiency worsens.</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01340343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5169091"/>
          </a:xfrm>
        </p:spPr>
        <p:txBody>
          <a:bodyPr>
            <a:normAutofit/>
          </a:bodyPr>
          <a:lstStyle/>
          <a:p>
            <a:r>
              <a:rPr lang="en-US" dirty="0" smtClean="0"/>
              <a:t>Vitamin </a:t>
            </a:r>
            <a:r>
              <a:rPr lang="en-US" dirty="0"/>
              <a:t>deficiency anemia occurs when your body doesn't have enough of the vitamins needed to produce adequate numbers of healthy red blood cells</a:t>
            </a:r>
            <a:r>
              <a:rPr lang="en-US" dirty="0" smtClean="0"/>
              <a:t>.</a:t>
            </a:r>
          </a:p>
          <a:p>
            <a:r>
              <a:rPr lang="en-US" dirty="0" smtClean="0"/>
              <a:t> </a:t>
            </a:r>
            <a:r>
              <a:rPr lang="en-US" dirty="0"/>
              <a:t>Red blood cells carry oxygen from your lungs throughout your body. If your diet is lacking in certain vitamins, vitamin deficiency anemia can develop. </a:t>
            </a:r>
            <a:endParaRPr lang="en-US" dirty="0" smtClean="0"/>
          </a:p>
          <a:p>
            <a:r>
              <a:rPr lang="en-US" dirty="0" smtClean="0"/>
              <a:t>Or </a:t>
            </a:r>
            <a:r>
              <a:rPr lang="en-US" dirty="0"/>
              <a:t>vitamin deficiency anemia may develop because your body can't properly absorb the nutrients from the foods you eat.</a:t>
            </a:r>
          </a:p>
          <a:p>
            <a:endParaRPr lang="en-US" dirty="0"/>
          </a:p>
        </p:txBody>
      </p:sp>
      <p:sp>
        <p:nvSpPr>
          <p:cNvPr id="3" name="Title 2"/>
          <p:cNvSpPr>
            <a:spLocks noGrp="1"/>
          </p:cNvSpPr>
          <p:nvPr>
            <p:ph type="title"/>
          </p:nvPr>
        </p:nvSpPr>
        <p:spPr>
          <a:xfrm>
            <a:off x="457200" y="274638"/>
            <a:ext cx="8229600" cy="639762"/>
          </a:xfrm>
        </p:spPr>
        <p:txBody>
          <a:bodyPr>
            <a:normAutofit fontScale="90000"/>
          </a:bodyPr>
          <a:lstStyle/>
          <a:p>
            <a:r>
              <a:rPr lang="en-US" dirty="0"/>
              <a:t>Causes</a:t>
            </a:r>
            <a:br>
              <a:rPr lang="en-US" dirty="0"/>
            </a:br>
            <a:endParaRPr lang="en-US" dirty="0"/>
          </a:p>
        </p:txBody>
      </p:sp>
    </p:spTree>
    <p:extLst>
      <p:ext uri="{BB962C8B-B14F-4D97-AF65-F5344CB8AC3E}">
        <p14:creationId xmlns:p14="http://schemas.microsoft.com/office/powerpoint/2010/main" val="426666772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245291"/>
          </a:xfrm>
        </p:spPr>
        <p:txBody>
          <a:bodyPr>
            <a:normAutofit fontScale="92500" lnSpcReduction="20000"/>
          </a:bodyPr>
          <a:lstStyle/>
          <a:p>
            <a:r>
              <a:rPr lang="en-US" dirty="0"/>
              <a:t>Causes of vitamin deficiency </a:t>
            </a:r>
            <a:r>
              <a:rPr lang="en-US" dirty="0" err="1"/>
              <a:t>anemias</a:t>
            </a:r>
            <a:r>
              <a:rPr lang="en-US" dirty="0"/>
              <a:t>, also known as </a:t>
            </a:r>
            <a:r>
              <a:rPr lang="en-US" dirty="0" err="1"/>
              <a:t>megaloblastic</a:t>
            </a:r>
            <a:r>
              <a:rPr lang="en-US" dirty="0"/>
              <a:t> </a:t>
            </a:r>
            <a:r>
              <a:rPr lang="en-US" dirty="0" err="1"/>
              <a:t>anemias</a:t>
            </a:r>
            <a:r>
              <a:rPr lang="en-US" dirty="0"/>
              <a:t>, include:</a:t>
            </a:r>
          </a:p>
          <a:p>
            <a:r>
              <a:rPr lang="en-US" b="1" dirty="0" err="1"/>
              <a:t>Folate</a:t>
            </a:r>
            <a:r>
              <a:rPr lang="en-US" b="1" dirty="0"/>
              <a:t> deficiency anemia.</a:t>
            </a:r>
            <a:r>
              <a:rPr lang="en-US" dirty="0"/>
              <a:t> </a:t>
            </a:r>
            <a:r>
              <a:rPr lang="en-US" dirty="0" err="1"/>
              <a:t>Folate</a:t>
            </a:r>
            <a:r>
              <a:rPr lang="en-US" dirty="0"/>
              <a:t>, also known as vitamin B-9, is a nutrient found mainly in fruits and leafy green vegetables. A diet consistently lacking in these foods can lead to a deficiency.</a:t>
            </a:r>
          </a:p>
          <a:p>
            <a:r>
              <a:rPr lang="en-US" dirty="0"/>
              <a:t>An inability to absorb </a:t>
            </a:r>
            <a:r>
              <a:rPr lang="en-US" dirty="0" err="1"/>
              <a:t>folate</a:t>
            </a:r>
            <a:r>
              <a:rPr lang="en-US" dirty="0"/>
              <a:t> from food also can lead to a deficiency. </a:t>
            </a:r>
            <a:endParaRPr lang="en-US" dirty="0" smtClean="0"/>
          </a:p>
          <a:p>
            <a:r>
              <a:rPr lang="en-US" dirty="0" smtClean="0"/>
              <a:t>Most </a:t>
            </a:r>
            <a:r>
              <a:rPr lang="en-US" dirty="0"/>
              <a:t>nutrients from food are absorbed in your small intestine. People with diseases of the small intestine, such as celiac disease, or those who have had a large part of the small intestine surgically removed or bypassed may have difficulty absorbing </a:t>
            </a:r>
            <a:r>
              <a:rPr lang="en-US" dirty="0" err="1"/>
              <a:t>folate</a:t>
            </a:r>
            <a:r>
              <a:rPr lang="en-US" dirty="0"/>
              <a:t> or its synthetic form, folic acid. </a:t>
            </a:r>
            <a:endParaRPr lang="en-US" dirty="0" smtClean="0"/>
          </a:p>
        </p:txBody>
      </p:sp>
      <p:sp>
        <p:nvSpPr>
          <p:cNvPr id="3" name="Title 2"/>
          <p:cNvSpPr>
            <a:spLocks noGrp="1"/>
          </p:cNvSpPr>
          <p:nvPr>
            <p:ph type="title"/>
          </p:nvPr>
        </p:nvSpPr>
        <p:spPr>
          <a:xfrm>
            <a:off x="457200" y="274638"/>
            <a:ext cx="8229600" cy="487362"/>
          </a:xfrm>
        </p:spPr>
        <p:txBody>
          <a:bodyPr>
            <a:normAutofit fontScale="90000"/>
          </a:bodyPr>
          <a:lstStyle/>
          <a:p>
            <a:endParaRPr lang="en-US" dirty="0"/>
          </a:p>
        </p:txBody>
      </p:sp>
    </p:spTree>
    <p:extLst>
      <p:ext uri="{BB962C8B-B14F-4D97-AF65-F5344CB8AC3E}">
        <p14:creationId xmlns:p14="http://schemas.microsoft.com/office/powerpoint/2010/main" val="227916958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Alcohol decreases absorption of </a:t>
            </a:r>
            <a:r>
              <a:rPr lang="en-US" dirty="0" err="1"/>
              <a:t>folate</a:t>
            </a:r>
            <a:r>
              <a:rPr lang="en-US" dirty="0"/>
              <a:t>, so drinking alcohol to excess may lead to a deficiency. Certain prescription drugs, such as some anti-seizure medications, can interfere with absorption of this nutrient.</a:t>
            </a:r>
          </a:p>
          <a:p>
            <a:r>
              <a:rPr lang="en-US" dirty="0"/>
              <a:t>Pregnant women and women who are breast-feeding have an increased demand for </a:t>
            </a:r>
            <a:r>
              <a:rPr lang="en-US" dirty="0" err="1"/>
              <a:t>folate</a:t>
            </a:r>
            <a:r>
              <a:rPr lang="en-US" dirty="0"/>
              <a:t>, as do people undergoing hemodialysis for kidney disease. Failure to meet this increased demand can result in a deficiency.</a:t>
            </a:r>
          </a:p>
          <a:p>
            <a:endParaRPr lang="en-US" dirty="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05976247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b="1" dirty="0"/>
              <a:t>Vitamin B-12 deficiency anemia. </a:t>
            </a:r>
            <a:r>
              <a:rPr lang="en-US" dirty="0"/>
              <a:t>Vitamin B-12 deficiency can result from a diet lacking in vitamin B-12, which is found mainly in meat, eggs and milk. Vitamin B-12 deficiency anemia can also occur if your small intestine can't absorb vitamin B-12. This may be due to surgery to your stomach or small intestine (such as gastric bypass surgery), abnormal bacterial growth in your small intestine, or an intestinal disease, such as </a:t>
            </a:r>
            <a:r>
              <a:rPr lang="en-US" dirty="0" err="1"/>
              <a:t>Crohn's</a:t>
            </a:r>
            <a:r>
              <a:rPr lang="en-US" dirty="0"/>
              <a:t> disease or celiac disease, that interferes with absorption of the vitamin. Vitamin B-12 deficiency can also be caused by a tapeworm ingested from contaminated fish, because the tapeworm saps nutrients from your body. However, a vitamin B-12 deficiency is most often due to a lack of a substance called intrinsic factor.</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30120144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dirty="0"/>
              <a:t>Intrinsic factor is a protein secreted by the stomach that joins vitamin B-12 in the stomach and escorts it through the small intestine to be absorbed by your bloodstream. Without intrinsic factor, vitamin B-12 can't be absorbed and leaves your body as waste. Lack of intrinsic factor may be due to an autoimmune reaction in which your immune system mistakenly attacks the stomach cells that produce it. Vitamin B-12 deficiency anemia caused by a lack of intrinsic factor is called pernicious anemia</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27551066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Vitamin C deficiency anemia.</a:t>
            </a:r>
            <a:r>
              <a:rPr lang="en-US" dirty="0"/>
              <a:t> Vitamin C deficiency can develop if you don't get enough vitamin C from the foods you eat. Vitamin C deficiency is also possible if something impairs your ability to absorb vitamin C from food</a:t>
            </a:r>
            <a:r>
              <a:rPr lang="en-US" dirty="0" smtClean="0"/>
              <a:t>.</a:t>
            </a:r>
          </a:p>
          <a:p>
            <a:r>
              <a:rPr lang="en-US" dirty="0" smtClean="0"/>
              <a:t> </a:t>
            </a:r>
            <a:r>
              <a:rPr lang="en-US" dirty="0"/>
              <a:t>For instance, smoking impairs your body's ability to absorb vitamin C.</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31704436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200" y="685800"/>
            <a:ext cx="9372600" cy="5867400"/>
          </a:xfrm>
        </p:spPr>
        <p:txBody>
          <a:bodyPr>
            <a:normAutofit fontScale="92500" lnSpcReduction="20000"/>
          </a:bodyPr>
          <a:lstStyle/>
          <a:p>
            <a:r>
              <a:rPr lang="en-US" dirty="0" smtClean="0"/>
              <a:t>A </a:t>
            </a:r>
            <a:r>
              <a:rPr lang="en-US" dirty="0"/>
              <a:t>number of factors can affect your body's vitamin stores.</a:t>
            </a:r>
          </a:p>
          <a:p>
            <a:r>
              <a:rPr lang="en-US" dirty="0"/>
              <a:t>In general, your risk of vitamin deficiency is increased if:</a:t>
            </a:r>
          </a:p>
          <a:p>
            <a:r>
              <a:rPr lang="en-US" b="1" dirty="0"/>
              <a:t>Your diet contains little to no natural vitamin food sources,</a:t>
            </a:r>
            <a:r>
              <a:rPr lang="en-US" dirty="0"/>
              <a:t> such as meat, dairy, fruits and vegetables. Vegetarians who don't eat dairy products and vegans, who don't eat any foods from animals, may fall into this category. Consistently overcooking your food also can cause vitamin deficiency.</a:t>
            </a:r>
          </a:p>
          <a:p>
            <a:r>
              <a:rPr lang="en-US" b="1" dirty="0"/>
              <a:t>You're pregnant,</a:t>
            </a:r>
            <a:r>
              <a:rPr lang="en-US" dirty="0"/>
              <a:t> and you aren't taking a multivitamin. Folic acid supplements are especially important during pregnancy.</a:t>
            </a:r>
          </a:p>
          <a:p>
            <a:r>
              <a:rPr lang="en-US" b="1" dirty="0"/>
              <a:t>You have intestinal problems or other medical conditions</a:t>
            </a:r>
            <a:r>
              <a:rPr lang="en-US" dirty="0"/>
              <a:t> that interfere with absorption of vitamins. Abnormal bacterial growth in your stomach or surgery to your intestines or stomach can interfere with the absorption of vitamin B-12.</a:t>
            </a:r>
          </a:p>
          <a:p>
            <a:r>
              <a:rPr lang="en-US" dirty="0" smtClean="0"/>
              <a:t>.</a:t>
            </a:r>
            <a:endParaRPr lang="en-US" dirty="0"/>
          </a:p>
        </p:txBody>
      </p:sp>
      <p:sp>
        <p:nvSpPr>
          <p:cNvPr id="3" name="Title 2"/>
          <p:cNvSpPr>
            <a:spLocks noGrp="1"/>
          </p:cNvSpPr>
          <p:nvPr>
            <p:ph type="title"/>
          </p:nvPr>
        </p:nvSpPr>
        <p:spPr>
          <a:xfrm>
            <a:off x="457200" y="274638"/>
            <a:ext cx="8229600" cy="563562"/>
          </a:xfrm>
        </p:spPr>
        <p:txBody>
          <a:bodyPr>
            <a:normAutofit fontScale="90000"/>
          </a:bodyPr>
          <a:lstStyle/>
          <a:p>
            <a:r>
              <a:rPr lang="en-US" dirty="0"/>
              <a:t>Risk factors</a:t>
            </a:r>
            <a:br>
              <a:rPr lang="en-US" dirty="0"/>
            </a:br>
            <a:endParaRPr lang="en-US" dirty="0"/>
          </a:p>
        </p:txBody>
      </p:sp>
    </p:spTree>
    <p:extLst>
      <p:ext uri="{BB962C8B-B14F-4D97-AF65-F5344CB8AC3E}">
        <p14:creationId xmlns:p14="http://schemas.microsoft.com/office/powerpoint/2010/main" val="105560604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457200"/>
            <a:ext cx="8686800" cy="5550091"/>
          </a:xfrm>
        </p:spPr>
        <p:txBody>
          <a:bodyPr>
            <a:normAutofit/>
          </a:bodyPr>
          <a:lstStyle/>
          <a:p>
            <a:r>
              <a:rPr lang="en-US" sz="3200" b="1" dirty="0"/>
              <a:t>You abuse alcohol.</a:t>
            </a:r>
            <a:r>
              <a:rPr lang="en-US" sz="3200" dirty="0"/>
              <a:t> Alcohol interferes with the absorption of </a:t>
            </a:r>
            <a:r>
              <a:rPr lang="en-US" sz="3200" dirty="0" err="1"/>
              <a:t>folate</a:t>
            </a:r>
            <a:r>
              <a:rPr lang="en-US" sz="3200" dirty="0"/>
              <a:t> and vitamin C, as well as other vitamins.</a:t>
            </a:r>
          </a:p>
          <a:p>
            <a:r>
              <a:rPr lang="en-US" sz="3200" b="1" dirty="0"/>
              <a:t>You take certain prescription medications</a:t>
            </a:r>
            <a:r>
              <a:rPr lang="en-US" sz="3200" dirty="0"/>
              <a:t> that can block absorption of vitamins. Anti-seizure drugs can block the absorption of </a:t>
            </a:r>
            <a:r>
              <a:rPr lang="en-US" sz="3200" dirty="0" err="1"/>
              <a:t>folate</a:t>
            </a:r>
            <a:r>
              <a:rPr lang="en-US" sz="3200" dirty="0"/>
              <a:t>. Antacids and some drugs used to treat type 2 diabetes may interfere with B-12 absorption</a:t>
            </a:r>
          </a:p>
        </p:txBody>
      </p:sp>
    </p:spTree>
    <p:extLst>
      <p:ext uri="{BB962C8B-B14F-4D97-AF65-F5344CB8AC3E}">
        <p14:creationId xmlns:p14="http://schemas.microsoft.com/office/powerpoint/2010/main" val="297942829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990600"/>
            <a:ext cx="8991600" cy="5638800"/>
          </a:xfrm>
        </p:spPr>
        <p:txBody>
          <a:bodyPr>
            <a:normAutofit fontScale="85000" lnSpcReduction="20000"/>
          </a:bodyPr>
          <a:lstStyle/>
          <a:p>
            <a:r>
              <a:rPr lang="en-US" dirty="0" smtClean="0"/>
              <a:t>.</a:t>
            </a:r>
            <a:endParaRPr lang="en-US" dirty="0"/>
          </a:p>
          <a:p>
            <a:r>
              <a:rPr lang="en-US" b="1" dirty="0" err="1"/>
              <a:t>Folate</a:t>
            </a:r>
            <a:r>
              <a:rPr lang="en-US" b="1" dirty="0"/>
              <a:t>-deficiency anemia risk factors include:</a:t>
            </a:r>
          </a:p>
          <a:p>
            <a:r>
              <a:rPr lang="en-US" b="1" dirty="0"/>
              <a:t>Undergoing hemodialysis</a:t>
            </a:r>
            <a:r>
              <a:rPr lang="en-US" dirty="0"/>
              <a:t> for kidney failure. Ask your doctor whether you need supplemental folic acid to prevent a deficiency.</a:t>
            </a:r>
          </a:p>
          <a:p>
            <a:r>
              <a:rPr lang="en-US" b="1" dirty="0"/>
              <a:t>Cancer treatment.</a:t>
            </a:r>
            <a:r>
              <a:rPr lang="en-US" dirty="0"/>
              <a:t> Some drugs used to treat cancer can interfere with the metabolism of </a:t>
            </a:r>
            <a:r>
              <a:rPr lang="en-US" dirty="0" err="1"/>
              <a:t>folate</a:t>
            </a:r>
            <a:r>
              <a:rPr lang="en-US" dirty="0"/>
              <a:t>.</a:t>
            </a:r>
          </a:p>
          <a:p>
            <a:r>
              <a:rPr lang="en-US" b="1" dirty="0"/>
              <a:t>Vitamin B-12 deficiency anemia risk factors include:</a:t>
            </a:r>
          </a:p>
          <a:p>
            <a:r>
              <a:rPr lang="en-US" b="1" dirty="0"/>
              <a:t>Lack of intrinsic factor.</a:t>
            </a:r>
            <a:r>
              <a:rPr lang="en-US" dirty="0"/>
              <a:t> Most people with a vitamin B-12 deficiency anemia lack intrinsic factor — a protein secreted by the stomach that is necessary for absorption of vitamin B-12. Lack of intrinsic factor may be due to an autoimmune reaction, or it may be inherited.</a:t>
            </a:r>
          </a:p>
          <a:p>
            <a:r>
              <a:rPr lang="en-US" b="1" dirty="0"/>
              <a:t>An autoimmune disorder.</a:t>
            </a:r>
            <a:r>
              <a:rPr lang="en-US" dirty="0"/>
              <a:t> People with endocrine-related autoimmune disorders, such as diabetes or thyroid disease, may have an increased risk of developing a specific type of vitamin B-12 deficiency anemia called pernicious anemia.</a:t>
            </a:r>
          </a:p>
        </p:txBody>
      </p:sp>
      <p:sp>
        <p:nvSpPr>
          <p:cNvPr id="3" name="Title 2"/>
          <p:cNvSpPr>
            <a:spLocks noGrp="1"/>
          </p:cNvSpPr>
          <p:nvPr>
            <p:ph type="title"/>
          </p:nvPr>
        </p:nvSpPr>
        <p:spPr>
          <a:xfrm>
            <a:off x="457200" y="0"/>
            <a:ext cx="8229600" cy="1219200"/>
          </a:xfrm>
        </p:spPr>
        <p:txBody>
          <a:bodyPr>
            <a:normAutofit fontScale="90000"/>
          </a:bodyPr>
          <a:lstStyle/>
          <a:p>
            <a:r>
              <a:rPr lang="en-US" dirty="0"/>
              <a:t>Some risk factors are unique to specific vitamin deficiencies</a:t>
            </a:r>
          </a:p>
        </p:txBody>
      </p:sp>
    </p:spTree>
    <p:extLst>
      <p:ext uri="{BB962C8B-B14F-4D97-AF65-F5344CB8AC3E}">
        <p14:creationId xmlns:p14="http://schemas.microsoft.com/office/powerpoint/2010/main" val="314613677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Vitamin C deficiency anemia risk factors include:</a:t>
            </a:r>
          </a:p>
          <a:p>
            <a:r>
              <a:rPr lang="en-US" b="1" dirty="0"/>
              <a:t>Smoking.</a:t>
            </a:r>
            <a:r>
              <a:rPr lang="en-US" dirty="0"/>
              <a:t> Smoking can lead to vitamin C deficiency because it decreases the absorption of this vitamin.</a:t>
            </a:r>
          </a:p>
          <a:p>
            <a:r>
              <a:rPr lang="en-US" b="1" dirty="0"/>
              <a:t>Chronic illness.</a:t>
            </a:r>
            <a:r>
              <a:rPr lang="en-US" dirty="0"/>
              <a:t> Certain chronic illnesses, such as cancer or chronic kidney disease, increase your risk of vitamin C deficiency anemia by affecting the absorption of vitamin C.</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27958415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5169091"/>
          </a:xfrm>
        </p:spPr>
        <p:txBody>
          <a:bodyPr>
            <a:normAutofit fontScale="92500"/>
          </a:bodyPr>
          <a:lstStyle/>
          <a:p>
            <a:r>
              <a:rPr lang="en-US" dirty="0" smtClean="0"/>
              <a:t>Being </a:t>
            </a:r>
            <a:r>
              <a:rPr lang="en-US" dirty="0"/>
              <a:t>deficient in vitamins increases your risk of many health problems:</a:t>
            </a:r>
          </a:p>
          <a:p>
            <a:r>
              <a:rPr lang="en-US" b="1" dirty="0"/>
              <a:t>Pregnancy complications.</a:t>
            </a:r>
            <a:r>
              <a:rPr lang="en-US" dirty="0"/>
              <a:t> Pregnant women with </a:t>
            </a:r>
            <a:r>
              <a:rPr lang="en-US" dirty="0" err="1"/>
              <a:t>folate</a:t>
            </a:r>
            <a:r>
              <a:rPr lang="en-US" dirty="0"/>
              <a:t> deficiency may be more likely to experience complications, such as premature birth. </a:t>
            </a:r>
            <a:endParaRPr lang="en-US" dirty="0" smtClean="0"/>
          </a:p>
          <a:p>
            <a:r>
              <a:rPr lang="en-US" dirty="0" smtClean="0"/>
              <a:t>A </a:t>
            </a:r>
            <a:r>
              <a:rPr lang="en-US" dirty="0"/>
              <a:t>developing fetus that doesn't get enough </a:t>
            </a:r>
            <a:r>
              <a:rPr lang="en-US" dirty="0" err="1"/>
              <a:t>folate</a:t>
            </a:r>
            <a:r>
              <a:rPr lang="en-US" dirty="0"/>
              <a:t> from its mother can develop birth defects of the brain and spinal cord. If you're thinking of becoming pregnant, ask your doctor whether you should consider taking folic acid supplements so that your body's stores of </a:t>
            </a:r>
            <a:r>
              <a:rPr lang="en-US" dirty="0" err="1"/>
              <a:t>folate</a:t>
            </a:r>
            <a:r>
              <a:rPr lang="en-US" dirty="0"/>
              <a:t> will be enough to support your baby</a:t>
            </a:r>
            <a:r>
              <a:rPr lang="en-US" dirty="0" smtClean="0"/>
              <a:t>.</a:t>
            </a:r>
            <a:endParaRPr lang="en-US" dirty="0"/>
          </a:p>
        </p:txBody>
      </p:sp>
      <p:sp>
        <p:nvSpPr>
          <p:cNvPr id="3" name="Title 2"/>
          <p:cNvSpPr>
            <a:spLocks noGrp="1"/>
          </p:cNvSpPr>
          <p:nvPr>
            <p:ph type="title"/>
          </p:nvPr>
        </p:nvSpPr>
        <p:spPr>
          <a:xfrm>
            <a:off x="457200" y="274638"/>
            <a:ext cx="8229600" cy="792162"/>
          </a:xfrm>
        </p:spPr>
        <p:txBody>
          <a:bodyPr>
            <a:normAutofit fontScale="90000"/>
          </a:bodyPr>
          <a:lstStyle/>
          <a:p>
            <a:r>
              <a:rPr lang="en-US" dirty="0"/>
              <a:t>Complications</a:t>
            </a:r>
            <a:br>
              <a:rPr lang="en-US" dirty="0"/>
            </a:br>
            <a:endParaRPr lang="en-US" dirty="0"/>
          </a:p>
        </p:txBody>
      </p:sp>
    </p:spTree>
    <p:extLst>
      <p:ext uri="{BB962C8B-B14F-4D97-AF65-F5344CB8AC3E}">
        <p14:creationId xmlns:p14="http://schemas.microsoft.com/office/powerpoint/2010/main" val="31080105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b="1" dirty="0"/>
              <a:t>Nervous system disorders.</a:t>
            </a:r>
            <a:r>
              <a:rPr lang="en-US" dirty="0"/>
              <a:t> While vitamin B-12 is important for the production of red blood cells, it's also important for a healthy nervous system. Untreated, vitamin B-12 deficiency can lead to neurological problems, such as persistent tingling in your hands and feet or problems with balance. It can lead to mental confusion and forgetfulness because vitamin B-12 is necessary for healthy brain function. Without treatment for vitamin B-12 deficiency, neurological complications can become permanent. Vitamin B-12 deficiency can cause these and other health problems before it leads to anemia.</a:t>
            </a:r>
          </a:p>
          <a:p>
            <a:r>
              <a:rPr lang="en-US" b="1" dirty="0"/>
              <a:t>Scurvy.</a:t>
            </a:r>
            <a:r>
              <a:rPr lang="en-US" dirty="0"/>
              <a:t> Vitamin C deficiency can lead to scurvy. Signs and symptoms of this rare disease include bleeding under the skin and around the gums.</a:t>
            </a:r>
          </a:p>
          <a:p>
            <a:endParaRPr lang="en-US" dirty="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54048431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321491"/>
          </a:xfrm>
        </p:spPr>
        <p:txBody>
          <a:bodyPr>
            <a:normAutofit/>
          </a:bodyPr>
          <a:lstStyle/>
          <a:p>
            <a:r>
              <a:rPr lang="en-US" b="1" dirty="0" smtClean="0"/>
              <a:t>Choose </a:t>
            </a:r>
            <a:r>
              <a:rPr lang="en-US" b="1" dirty="0"/>
              <a:t>a healthy diet</a:t>
            </a:r>
          </a:p>
          <a:p>
            <a:r>
              <a:rPr lang="en-US" dirty="0"/>
              <a:t>You can prevent some forms of vitamin deficiency </a:t>
            </a:r>
            <a:r>
              <a:rPr lang="en-US" dirty="0" err="1"/>
              <a:t>anemias</a:t>
            </a:r>
            <a:r>
              <a:rPr lang="en-US" dirty="0"/>
              <a:t> by choosing a healthy diet that includes a variety of foods.</a:t>
            </a:r>
          </a:p>
          <a:p>
            <a:r>
              <a:rPr lang="en-US" dirty="0"/>
              <a:t>Foods rich in </a:t>
            </a:r>
            <a:r>
              <a:rPr lang="en-US" dirty="0" err="1"/>
              <a:t>folate</a:t>
            </a:r>
            <a:r>
              <a:rPr lang="en-US" dirty="0"/>
              <a:t> include:</a:t>
            </a:r>
          </a:p>
          <a:p>
            <a:r>
              <a:rPr lang="en-US" dirty="0"/>
              <a:t>Dark green leafy vegetables</a:t>
            </a:r>
          </a:p>
          <a:p>
            <a:r>
              <a:rPr lang="en-US" dirty="0"/>
              <a:t>Nuts</a:t>
            </a:r>
          </a:p>
          <a:p>
            <a:r>
              <a:rPr lang="en-US" dirty="0"/>
              <a:t>Enriched grain products, such as bread, cereal, pasta and rice</a:t>
            </a:r>
          </a:p>
          <a:p>
            <a:r>
              <a:rPr lang="en-US" dirty="0"/>
              <a:t>Fruits and fruit juices</a:t>
            </a:r>
          </a:p>
          <a:p>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r>
              <a:rPr lang="en-US" dirty="0"/>
              <a:t>Prevention</a:t>
            </a:r>
            <a:br>
              <a:rPr lang="en-US" dirty="0"/>
            </a:br>
            <a:endParaRPr lang="en-US" dirty="0"/>
          </a:p>
        </p:txBody>
      </p:sp>
    </p:spTree>
    <p:extLst>
      <p:ext uri="{BB962C8B-B14F-4D97-AF65-F5344CB8AC3E}">
        <p14:creationId xmlns:p14="http://schemas.microsoft.com/office/powerpoint/2010/main" val="385920887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b="1" dirty="0"/>
              <a:t>Foods rich in vitamin B-12 includ</a:t>
            </a:r>
            <a:r>
              <a:rPr lang="en-US" dirty="0"/>
              <a:t>e:</a:t>
            </a:r>
          </a:p>
          <a:p>
            <a:r>
              <a:rPr lang="en-US" dirty="0"/>
              <a:t>Eggs</a:t>
            </a:r>
          </a:p>
          <a:p>
            <a:r>
              <a:rPr lang="en-US" dirty="0"/>
              <a:t>Fortified foods, such as breakfast cereals</a:t>
            </a:r>
          </a:p>
          <a:p>
            <a:r>
              <a:rPr lang="en-US" dirty="0"/>
              <a:t>Milk, cheese and yogurt</a:t>
            </a:r>
          </a:p>
          <a:p>
            <a:r>
              <a:rPr lang="en-US" dirty="0"/>
              <a:t>Red and white meats and shellfish</a:t>
            </a:r>
          </a:p>
          <a:p>
            <a:r>
              <a:rPr lang="en-US" b="1" dirty="0"/>
              <a:t>Foods rich in vitamin C include</a:t>
            </a:r>
            <a:r>
              <a:rPr lang="en-US" dirty="0"/>
              <a:t>:</a:t>
            </a:r>
          </a:p>
          <a:p>
            <a:r>
              <a:rPr lang="en-US" dirty="0"/>
              <a:t>Broccoli</a:t>
            </a:r>
          </a:p>
          <a:p>
            <a:r>
              <a:rPr lang="en-US" dirty="0"/>
              <a:t>Citrus fruits and juices</a:t>
            </a:r>
          </a:p>
          <a:p>
            <a:r>
              <a:rPr lang="en-US" dirty="0"/>
              <a:t>Strawberries</a:t>
            </a:r>
          </a:p>
          <a:p>
            <a:r>
              <a:rPr lang="en-US" dirty="0"/>
              <a:t>Sweet peppers</a:t>
            </a:r>
          </a:p>
          <a:p>
            <a:r>
              <a:rPr lang="en-US" dirty="0"/>
              <a:t>Tomatoes</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18268754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Most adults need these daily dietary amounts of the following vitamins:</a:t>
            </a:r>
          </a:p>
          <a:p>
            <a:r>
              <a:rPr lang="en-US" b="1" dirty="0"/>
              <a:t>Vitamin B-12</a:t>
            </a:r>
            <a:r>
              <a:rPr lang="en-US" dirty="0"/>
              <a:t> — 2.4 micrograms (mcg)</a:t>
            </a:r>
          </a:p>
          <a:p>
            <a:r>
              <a:rPr lang="en-US" b="1" dirty="0" err="1"/>
              <a:t>Folate</a:t>
            </a:r>
            <a:r>
              <a:rPr lang="en-US" b="1" dirty="0"/>
              <a:t> or folic acid</a:t>
            </a:r>
            <a:r>
              <a:rPr lang="en-US" dirty="0"/>
              <a:t> — 400 mcg</a:t>
            </a:r>
          </a:p>
          <a:p>
            <a:r>
              <a:rPr lang="en-US" b="1" dirty="0"/>
              <a:t>Vitamin C</a:t>
            </a:r>
            <a:r>
              <a:rPr lang="en-US" dirty="0"/>
              <a:t> — 75 to 90 milligrams</a:t>
            </a:r>
          </a:p>
          <a:p>
            <a:r>
              <a:rPr lang="en-US" dirty="0"/>
              <a:t>Pregnant and breast-feeding women may require more of each vitamin</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15075569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200" y="685800"/>
            <a:ext cx="8915400" cy="5715000"/>
          </a:xfrm>
        </p:spPr>
        <p:txBody>
          <a:bodyPr>
            <a:normAutofit fontScale="92500"/>
          </a:bodyPr>
          <a:lstStyle/>
          <a:p>
            <a:r>
              <a:rPr lang="en-US" b="1" dirty="0"/>
              <a:t>Consider a multivitamin</a:t>
            </a:r>
          </a:p>
          <a:p>
            <a:r>
              <a:rPr lang="en-US" dirty="0"/>
              <a:t>If you're concerned about getting enough vitamins from the food you eat, ask your doctor whether a multivitamin may be right for you. Most people get enough vitamins from the foods they eat. But if your diet is restricted, you may wish to take a multivitamin.</a:t>
            </a:r>
          </a:p>
          <a:p>
            <a:r>
              <a:rPr lang="en-US" b="1" dirty="0"/>
              <a:t>Don't smoke</a:t>
            </a:r>
          </a:p>
          <a:p>
            <a:r>
              <a:rPr lang="en-US" dirty="0"/>
              <a:t>Smoking interferes with the absorption of nutrients, such as vitamin C, so it can raise your risk of a vitamin deficiency. If you smoke, quit. If you don't smoke, don't start. If you've tried to quit on your own and haven't been successful, talk with your doctor about strategies to help you quit.</a:t>
            </a:r>
          </a:p>
          <a:p>
            <a:endParaRPr lang="en-US" dirty="0"/>
          </a:p>
        </p:txBody>
      </p:sp>
      <p:sp>
        <p:nvSpPr>
          <p:cNvPr id="3" name="Title 2"/>
          <p:cNvSpPr>
            <a:spLocks noGrp="1"/>
          </p:cNvSpPr>
          <p:nvPr>
            <p:ph type="title"/>
          </p:nvPr>
        </p:nvSpPr>
        <p:spPr>
          <a:xfrm>
            <a:off x="457200" y="274638"/>
            <a:ext cx="8229600" cy="334962"/>
          </a:xfrm>
        </p:spPr>
        <p:txBody>
          <a:bodyPr>
            <a:normAutofit fontScale="90000"/>
          </a:bodyPr>
          <a:lstStyle/>
          <a:p>
            <a:endParaRPr lang="en-US" dirty="0"/>
          </a:p>
        </p:txBody>
      </p:sp>
    </p:spTree>
    <p:extLst>
      <p:ext uri="{BB962C8B-B14F-4D97-AF65-F5344CB8AC3E}">
        <p14:creationId xmlns:p14="http://schemas.microsoft.com/office/powerpoint/2010/main" val="364788106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b="1" dirty="0"/>
              <a:t>Drink alcohol in moderation, if at all</a:t>
            </a:r>
          </a:p>
          <a:p>
            <a:r>
              <a:rPr lang="en-US" dirty="0"/>
              <a:t>Alcohol can contribute to vitamin deficiency anemia. If you choose to drink alcohol, do so in moderation. For healthy adults, moderate drinking is generally considered to be:</a:t>
            </a:r>
          </a:p>
          <a:p>
            <a:r>
              <a:rPr lang="en-US" dirty="0"/>
              <a:t>Two drinks a day for men age 65 and younger</a:t>
            </a:r>
          </a:p>
          <a:p>
            <a:r>
              <a:rPr lang="en-US" dirty="0"/>
              <a:t>One drink a day for men older than age 65</a:t>
            </a:r>
          </a:p>
          <a:p>
            <a:r>
              <a:rPr lang="en-US" dirty="0"/>
              <a:t>One drink a day for women of any age</a:t>
            </a:r>
          </a:p>
          <a:p>
            <a:r>
              <a:rPr lang="en-US" dirty="0"/>
              <a:t>A drink is 12 ounces (355 milliliters) of beer, 5 ounces (148 milliliters) of wine or 1.5 ounces (44 milliliters) of 80-proof distilled spirits.</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29829147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066800"/>
            <a:ext cx="8915400" cy="4940491"/>
          </a:xfrm>
        </p:spPr>
        <p:txBody>
          <a:bodyPr>
            <a:normAutofit fontScale="92500" lnSpcReduction="20000"/>
          </a:bodyPr>
          <a:lstStyle/>
          <a:p>
            <a:r>
              <a:rPr lang="en-US" dirty="0" smtClean="0"/>
              <a:t>Doctors </a:t>
            </a:r>
            <a:r>
              <a:rPr lang="en-US" dirty="0"/>
              <a:t>diagnose vitamin deficiency </a:t>
            </a:r>
            <a:r>
              <a:rPr lang="en-US" dirty="0" err="1"/>
              <a:t>anemias</a:t>
            </a:r>
            <a:r>
              <a:rPr lang="en-US" dirty="0"/>
              <a:t> through blood tests that check:</a:t>
            </a:r>
          </a:p>
          <a:p>
            <a:r>
              <a:rPr lang="en-US" b="1" dirty="0"/>
              <a:t>The number and appearance of red blood cells.</a:t>
            </a:r>
            <a:r>
              <a:rPr lang="en-US" dirty="0"/>
              <a:t> People with anemia have fewer red blood cells than normal. In vitamin deficiency </a:t>
            </a:r>
            <a:r>
              <a:rPr lang="en-US" dirty="0" err="1"/>
              <a:t>anemias</a:t>
            </a:r>
            <a:r>
              <a:rPr lang="en-US" dirty="0"/>
              <a:t> related to a lack of vitamin B-12 and </a:t>
            </a:r>
            <a:r>
              <a:rPr lang="en-US" dirty="0" err="1"/>
              <a:t>folate</a:t>
            </a:r>
            <a:r>
              <a:rPr lang="en-US" dirty="0"/>
              <a:t>, the red blood cells appear large and underdeveloped. In advanced deficiencies, the numbers of white blood cells and platelets also might be decreased and look abnormal under a microscope.</a:t>
            </a:r>
          </a:p>
          <a:p>
            <a:r>
              <a:rPr lang="en-US" b="1" dirty="0"/>
              <a:t>The amount of </a:t>
            </a:r>
            <a:r>
              <a:rPr lang="en-US" b="1" dirty="0" err="1"/>
              <a:t>folate</a:t>
            </a:r>
            <a:r>
              <a:rPr lang="en-US" b="1" dirty="0"/>
              <a:t>, vitamin B-12 and vitamin C in your blood.</a:t>
            </a:r>
            <a:r>
              <a:rPr lang="en-US" dirty="0"/>
              <a:t> </a:t>
            </a:r>
            <a:r>
              <a:rPr lang="en-US" dirty="0" err="1"/>
              <a:t>Folate</a:t>
            </a:r>
            <a:r>
              <a:rPr lang="en-US" dirty="0"/>
              <a:t> and vitamin B-12 levels are measured at the same time because these deficiencies can cause similar signs and symptoms</a:t>
            </a:r>
          </a:p>
        </p:txBody>
      </p:sp>
      <p:sp>
        <p:nvSpPr>
          <p:cNvPr id="3" name="Title 2"/>
          <p:cNvSpPr>
            <a:spLocks noGrp="1"/>
          </p:cNvSpPr>
          <p:nvPr>
            <p:ph type="title"/>
          </p:nvPr>
        </p:nvSpPr>
        <p:spPr/>
        <p:txBody>
          <a:bodyPr>
            <a:normAutofit fontScale="90000"/>
          </a:bodyPr>
          <a:lstStyle/>
          <a:p>
            <a:r>
              <a:rPr lang="en-US" dirty="0"/>
              <a:t>Diagnosis</a:t>
            </a:r>
            <a:br>
              <a:rPr lang="en-US" dirty="0"/>
            </a:br>
            <a:endParaRPr lang="en-US" dirty="0"/>
          </a:p>
        </p:txBody>
      </p:sp>
    </p:spTree>
    <p:extLst>
      <p:ext uri="{BB962C8B-B14F-4D97-AF65-F5344CB8AC3E}">
        <p14:creationId xmlns:p14="http://schemas.microsoft.com/office/powerpoint/2010/main" val="352710466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10000"/>
          </a:bodyPr>
          <a:lstStyle/>
          <a:p>
            <a:r>
              <a:rPr lang="en-US" b="1" dirty="0"/>
              <a:t>Additional tests for B-12 deficiency</a:t>
            </a:r>
          </a:p>
          <a:p>
            <a:r>
              <a:rPr lang="en-US" dirty="0"/>
              <a:t>If blood tests reveal a vitamin deficiency, your doctor may perform other tests to determine the type and cause, such as:</a:t>
            </a:r>
          </a:p>
          <a:p>
            <a:r>
              <a:rPr lang="en-US" b="1" dirty="0"/>
              <a:t>Antibodies test.</a:t>
            </a:r>
            <a:r>
              <a:rPr lang="en-US" dirty="0"/>
              <a:t> Your doctor may draw a sample of your blood to check for antibodies to intrinsic factor. Their presence indicates pernicious anemia.</a:t>
            </a:r>
          </a:p>
          <a:p>
            <a:r>
              <a:rPr lang="en-US" b="1" dirty="0" err="1"/>
              <a:t>Methylmalonic</a:t>
            </a:r>
            <a:r>
              <a:rPr lang="en-US" b="1" dirty="0"/>
              <a:t> acid test.</a:t>
            </a:r>
            <a:r>
              <a:rPr lang="en-US" dirty="0"/>
              <a:t> You may undergo a blood test to measure the presence of a substance called </a:t>
            </a:r>
            <a:r>
              <a:rPr lang="en-US" dirty="0" err="1"/>
              <a:t>methylmalonic</a:t>
            </a:r>
            <a:r>
              <a:rPr lang="en-US" dirty="0"/>
              <a:t> acid. The level of this substance is higher in people with vitamin B-12 deficiency.</a:t>
            </a:r>
          </a:p>
          <a:p>
            <a:r>
              <a:rPr lang="en-US" dirty="0" smtClean="0"/>
              <a:t>.</a:t>
            </a:r>
            <a:endParaRPr lang="en-US" dirty="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85094496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Schilling test.</a:t>
            </a:r>
            <a:r>
              <a:rPr lang="en-US" dirty="0"/>
              <a:t> In this test, you first ingest a tiny amount of radioactive vitamin B-12. Then your blood is checked to see if your body absorbed the vitamin B-12. After that, you ingest a combination of radioactive vitamin B-12 and intrinsic factor. If the radioactive B-12 is absorbed only when taken with intrinsic factor, it confirms that you lack your own intrinsic factor</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28577688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a:t>Treatment</a:t>
            </a:r>
          </a:p>
          <a:p>
            <a:r>
              <a:rPr lang="en-US" dirty="0"/>
              <a:t>Treatment for vitamin deficiency anemia includes supplements and changes in diet.</a:t>
            </a:r>
          </a:p>
          <a:p>
            <a:r>
              <a:rPr lang="en-US" b="1" dirty="0" err="1"/>
              <a:t>Folate</a:t>
            </a:r>
            <a:r>
              <a:rPr lang="en-US" b="1" dirty="0"/>
              <a:t> deficiency anemia.</a:t>
            </a:r>
            <a:r>
              <a:rPr lang="en-US" dirty="0"/>
              <a:t> Treatment involves eating a healthy diet and taking folic acid supplements as prescribed by your doctor. In most cases, folic acid supplements are taken orally. Once your body's level of </a:t>
            </a:r>
            <a:r>
              <a:rPr lang="en-US" dirty="0" err="1"/>
              <a:t>folate</a:t>
            </a:r>
            <a:r>
              <a:rPr lang="en-US" dirty="0"/>
              <a:t> increases to normal, you may be able to stop taking the supplements. But if the cause of your </a:t>
            </a:r>
            <a:r>
              <a:rPr lang="en-US" dirty="0" err="1"/>
              <a:t>folate</a:t>
            </a:r>
            <a:r>
              <a:rPr lang="en-US" dirty="0"/>
              <a:t> deficiency can't be corrected, you may need to take folic acid supplements indefinitely.</a:t>
            </a:r>
          </a:p>
          <a:p>
            <a:r>
              <a:rPr lang="en-US" dirty="0" smtClean="0"/>
              <a:t>.</a:t>
            </a:r>
            <a:endParaRPr lang="en-US" dirty="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22672167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b="1" dirty="0"/>
              <a:t>Vitamin B-12 deficiency anemia, including pernicious anemia.</a:t>
            </a:r>
            <a:r>
              <a:rPr lang="en-US" dirty="0"/>
              <a:t> For milder cases of vitamin B-12 deficiency, treatment may involve changes to your diet and vitamin B-12 supplements in pill form or as a nasal spray. Your doctor may suggest vitamin B-12 injections, particularly if your vitamin B-12 deficiency is severe. At first, you may receive the shots as often as every other day. Eventually, you'll need injections just once a month, which may continue for life, depending on your situation.</a:t>
            </a:r>
          </a:p>
          <a:p>
            <a:r>
              <a:rPr lang="en-US" b="1" dirty="0"/>
              <a:t>Vitamin C deficiency anemia.</a:t>
            </a:r>
            <a:r>
              <a:rPr lang="en-US" dirty="0"/>
              <a:t> Treatment for anemia related to vitamin C deficiency is with vitamin C tablets. Additionally, you increase your intake of foods and beverages that contain vitamin C</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03650247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321491"/>
          </a:xfrm>
        </p:spPr>
        <p:txBody>
          <a:bodyPr/>
          <a:lstStyle/>
          <a:p>
            <a:r>
              <a:rPr lang="en-US" dirty="0"/>
              <a:t>Most blood cancers, also called hematologic cancers, start in the bone marrow, which is where blood is produced. Blood cancers occur when abnormal blood cells start growing out of control, interrupting the function of normal blood cells, which fight off infection and produce new blood cells.</a:t>
            </a:r>
          </a:p>
        </p:txBody>
      </p:sp>
      <p:sp>
        <p:nvSpPr>
          <p:cNvPr id="3" name="Title 2"/>
          <p:cNvSpPr>
            <a:spLocks noGrp="1"/>
          </p:cNvSpPr>
          <p:nvPr>
            <p:ph type="title"/>
          </p:nvPr>
        </p:nvSpPr>
        <p:spPr>
          <a:xfrm>
            <a:off x="533400" y="228600"/>
            <a:ext cx="8229600" cy="533400"/>
          </a:xfrm>
        </p:spPr>
        <p:txBody>
          <a:bodyPr>
            <a:normAutofit fontScale="90000"/>
          </a:bodyPr>
          <a:lstStyle/>
          <a:p>
            <a:r>
              <a:rPr lang="en-US" b="0" dirty="0">
                <a:effectLst/>
              </a:rPr>
              <a:t>What are blood cancers?</a:t>
            </a:r>
            <a:br>
              <a:rPr lang="en-US" b="0" dirty="0">
                <a:effectLst/>
              </a:rPr>
            </a:br>
            <a:endParaRPr lang="en-US" dirty="0"/>
          </a:p>
        </p:txBody>
      </p:sp>
    </p:spTree>
    <p:extLst>
      <p:ext uri="{BB962C8B-B14F-4D97-AF65-F5344CB8AC3E}">
        <p14:creationId xmlns:p14="http://schemas.microsoft.com/office/powerpoint/2010/main" val="169296268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245291"/>
          </a:xfrm>
        </p:spPr>
        <p:txBody>
          <a:bodyPr>
            <a:normAutofit fontScale="77500" lnSpcReduction="20000"/>
          </a:bodyPr>
          <a:lstStyle/>
          <a:p>
            <a:pPr marL="109728" indent="0">
              <a:buNone/>
            </a:pPr>
            <a:r>
              <a:rPr lang="en-US" dirty="0" smtClean="0"/>
              <a:t>The </a:t>
            </a:r>
            <a:r>
              <a:rPr lang="en-US" dirty="0"/>
              <a:t>three main types of blood cancer are leukemia, lymphoma and myeloma:</a:t>
            </a:r>
          </a:p>
          <a:p>
            <a:r>
              <a:rPr lang="en-US" b="1" dirty="0">
                <a:hlinkClick r:id="rId2"/>
              </a:rPr>
              <a:t>Leukemia</a:t>
            </a:r>
            <a:r>
              <a:rPr lang="en-US" b="1" dirty="0"/>
              <a:t> </a:t>
            </a:r>
            <a:r>
              <a:rPr lang="en-US" dirty="0"/>
              <a:t>is a blood cancer that originates in the blood and bone marrow. It occurs when the body creates too many abnormal white blood cells and interferes with the bone marrow’s ability to make red blood cells and platelets.</a:t>
            </a:r>
          </a:p>
          <a:p>
            <a:r>
              <a:rPr lang="en-US" b="1" dirty="0">
                <a:hlinkClick r:id="rId3"/>
              </a:rPr>
              <a:t>Non-Hodgkin lymphoma</a:t>
            </a:r>
            <a:r>
              <a:rPr lang="en-US" dirty="0"/>
              <a:t> is a blood cancer that develops in the lymphatic system from cells called lymphocytes, a type of white blood cell that helps the body fight infections.</a:t>
            </a:r>
          </a:p>
          <a:p>
            <a:r>
              <a:rPr lang="en-US" b="1" dirty="0">
                <a:hlinkClick r:id="rId4"/>
              </a:rPr>
              <a:t>Hodgkin lymphoma</a:t>
            </a:r>
            <a:r>
              <a:rPr lang="en-US" dirty="0"/>
              <a:t> is a blood cancer that develops in the lymphatic system from cells called lymphocytes. Hodgkin lymphoma is characterized by the presence of an abnormal lymphocyte called the Reed-Sternberg cell.</a:t>
            </a:r>
          </a:p>
          <a:p>
            <a:r>
              <a:rPr lang="en-US" b="1" dirty="0">
                <a:hlinkClick r:id="rId5"/>
              </a:rPr>
              <a:t>Multiple myeloma</a:t>
            </a:r>
            <a:r>
              <a:rPr lang="en-US" dirty="0"/>
              <a:t> is a blood cancer that begins in the blood’s plasma cells, a type of white blood cell made in the bone marrow.</a:t>
            </a:r>
          </a:p>
          <a:p>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r>
              <a:rPr lang="en-US" dirty="0"/>
              <a:t>Types of blood cancers</a:t>
            </a:r>
            <a:br>
              <a:rPr lang="en-US" dirty="0"/>
            </a:br>
            <a:endParaRPr lang="en-US" dirty="0"/>
          </a:p>
        </p:txBody>
      </p:sp>
    </p:spTree>
    <p:extLst>
      <p:ext uri="{BB962C8B-B14F-4D97-AF65-F5344CB8AC3E}">
        <p14:creationId xmlns:p14="http://schemas.microsoft.com/office/powerpoint/2010/main" val="352929534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990600"/>
            <a:ext cx="8534400" cy="5410200"/>
          </a:xfrm>
        </p:spPr>
        <p:txBody>
          <a:bodyPr>
            <a:normAutofit fontScale="92500" lnSpcReduction="20000"/>
          </a:bodyPr>
          <a:lstStyle/>
          <a:p>
            <a:r>
              <a:rPr lang="en-US" dirty="0"/>
              <a:t>Leukemia is cancer of the body's blood-forming tissues, including the bone marrow and the lymphatic system.</a:t>
            </a:r>
          </a:p>
          <a:p>
            <a:r>
              <a:rPr lang="en-US" dirty="0"/>
              <a:t>Many types of leukemia exist. Some forms of leukemia are more common in children. Other forms of leukemia occur mostly in adults.</a:t>
            </a:r>
          </a:p>
          <a:p>
            <a:r>
              <a:rPr lang="en-US" dirty="0"/>
              <a:t>Leukemia usually involves the white blood cells. Your white blood cells are potent infection fighters — they normally grow and divide in an orderly way, as your body needs them. But in people with leukemia, the bone marrow produces abnormal white blood cells, which don't function properly.</a:t>
            </a:r>
          </a:p>
          <a:p>
            <a:r>
              <a:rPr lang="en-US" dirty="0"/>
              <a:t>Treatment for leukemia can be complex — depending on the type of leukemia and other factors. But there are strategies and resources that can help to make your treatment successful.</a:t>
            </a:r>
          </a:p>
          <a:p>
            <a:endParaRPr lang="en-US" dirty="0"/>
          </a:p>
        </p:txBody>
      </p:sp>
      <p:sp>
        <p:nvSpPr>
          <p:cNvPr id="3" name="Title 2"/>
          <p:cNvSpPr>
            <a:spLocks noGrp="1"/>
          </p:cNvSpPr>
          <p:nvPr>
            <p:ph type="title"/>
          </p:nvPr>
        </p:nvSpPr>
        <p:spPr>
          <a:xfrm>
            <a:off x="457200" y="274638"/>
            <a:ext cx="8229600" cy="792162"/>
          </a:xfrm>
        </p:spPr>
        <p:txBody>
          <a:bodyPr/>
          <a:lstStyle/>
          <a:p>
            <a:r>
              <a:rPr lang="en-US" dirty="0"/>
              <a:t>Leukemia</a:t>
            </a:r>
          </a:p>
        </p:txBody>
      </p:sp>
    </p:spTree>
    <p:extLst>
      <p:ext uri="{BB962C8B-B14F-4D97-AF65-F5344CB8AC3E}">
        <p14:creationId xmlns:p14="http://schemas.microsoft.com/office/powerpoint/2010/main" val="312762540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533400"/>
            <a:ext cx="8686800" cy="5473891"/>
          </a:xfrm>
        </p:spPr>
        <p:txBody>
          <a:bodyPr>
            <a:normAutofit fontScale="92500" lnSpcReduction="10000"/>
          </a:bodyPr>
          <a:lstStyle/>
          <a:p>
            <a:pPr marL="109728" indent="0">
              <a:buNone/>
            </a:pPr>
            <a:r>
              <a:rPr lang="en-US" dirty="0" smtClean="0"/>
              <a:t>Leukemia </a:t>
            </a:r>
            <a:r>
              <a:rPr lang="en-US" dirty="0"/>
              <a:t>symptoms vary, depending on the type of leukemia. Common leukemia signs and symptoms include:</a:t>
            </a:r>
          </a:p>
          <a:p>
            <a:r>
              <a:rPr lang="en-US" dirty="0"/>
              <a:t>Fever or chills</a:t>
            </a:r>
          </a:p>
          <a:p>
            <a:r>
              <a:rPr lang="en-US" dirty="0"/>
              <a:t>Persistent fatigue, weakness</a:t>
            </a:r>
          </a:p>
          <a:p>
            <a:r>
              <a:rPr lang="en-US" dirty="0"/>
              <a:t>Frequent or severe infections</a:t>
            </a:r>
          </a:p>
          <a:p>
            <a:r>
              <a:rPr lang="en-US" dirty="0"/>
              <a:t>Losing weight without trying</a:t>
            </a:r>
          </a:p>
          <a:p>
            <a:r>
              <a:rPr lang="en-US" dirty="0"/>
              <a:t>Swollen lymph nodes, enlarged liver or spleen</a:t>
            </a:r>
          </a:p>
          <a:p>
            <a:r>
              <a:rPr lang="en-US" dirty="0"/>
              <a:t>Easy bleeding or bruising</a:t>
            </a:r>
          </a:p>
          <a:p>
            <a:r>
              <a:rPr lang="en-US" dirty="0"/>
              <a:t>Recurrent nosebleeds</a:t>
            </a:r>
          </a:p>
          <a:p>
            <a:r>
              <a:rPr lang="en-US" dirty="0"/>
              <a:t>Tiny red spots in your skin (</a:t>
            </a:r>
            <a:r>
              <a:rPr lang="en-US" dirty="0" err="1"/>
              <a:t>petechiae</a:t>
            </a:r>
            <a:r>
              <a:rPr lang="en-US" dirty="0"/>
              <a:t>)</a:t>
            </a:r>
          </a:p>
          <a:p>
            <a:r>
              <a:rPr lang="en-US" dirty="0"/>
              <a:t>Excessive sweating, especially at night</a:t>
            </a:r>
          </a:p>
          <a:p>
            <a:r>
              <a:rPr lang="en-US" dirty="0"/>
              <a:t>Bone pain or tenderness</a:t>
            </a:r>
          </a:p>
          <a:p>
            <a:endParaRPr lang="en-US" dirty="0"/>
          </a:p>
        </p:txBody>
      </p:sp>
      <p:sp>
        <p:nvSpPr>
          <p:cNvPr id="3" name="Title 2"/>
          <p:cNvSpPr>
            <a:spLocks noGrp="1"/>
          </p:cNvSpPr>
          <p:nvPr>
            <p:ph type="title"/>
          </p:nvPr>
        </p:nvSpPr>
        <p:spPr>
          <a:xfrm>
            <a:off x="457200" y="274638"/>
            <a:ext cx="8229600" cy="639762"/>
          </a:xfrm>
        </p:spPr>
        <p:txBody>
          <a:bodyPr>
            <a:normAutofit fontScale="90000"/>
          </a:bodyPr>
          <a:lstStyle/>
          <a:p>
            <a:r>
              <a:rPr lang="en-US" dirty="0"/>
              <a:t>Symptoms</a:t>
            </a:r>
            <a:br>
              <a:rPr lang="en-US" dirty="0"/>
            </a:br>
            <a:endParaRPr lang="en-US" dirty="0"/>
          </a:p>
        </p:txBody>
      </p:sp>
    </p:spTree>
    <p:extLst>
      <p:ext uri="{BB962C8B-B14F-4D97-AF65-F5344CB8AC3E}">
        <p14:creationId xmlns:p14="http://schemas.microsoft.com/office/powerpoint/2010/main" val="2530264951"/>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5397691"/>
          </a:xfrm>
        </p:spPr>
        <p:txBody>
          <a:bodyPr>
            <a:normAutofit/>
          </a:bodyPr>
          <a:lstStyle/>
          <a:p>
            <a:r>
              <a:rPr lang="en-US" b="1" dirty="0" smtClean="0"/>
              <a:t>Lymphatic </a:t>
            </a:r>
            <a:r>
              <a:rPr lang="en-US" b="1" dirty="0"/>
              <a:t>system</a:t>
            </a:r>
          </a:p>
          <a:p>
            <a:r>
              <a:rPr lang="en-US" dirty="0"/>
              <a:t>Scientists don't understand the exact causes of leukemia. It seems to develop from a combination of genetic and environmental factors.</a:t>
            </a:r>
          </a:p>
          <a:p>
            <a:r>
              <a:rPr lang="en-US" b="1" dirty="0"/>
              <a:t>How leukemia forms</a:t>
            </a:r>
          </a:p>
          <a:p>
            <a:pPr marL="109728" indent="0">
              <a:buNone/>
            </a:pPr>
            <a:r>
              <a:rPr lang="en-US" dirty="0"/>
              <a:t>In general, leukemia is thought to occur when some blood cells acquire mutations in their DNA — the instructions inside each cell that guide its action. There may be other changes in the cells that have yet to be fully understood that could contribute to leukemia.</a:t>
            </a:r>
          </a:p>
          <a:p>
            <a:pPr marL="109728" indent="0">
              <a:buNone/>
            </a:pPr>
            <a:endParaRPr lang="en-US" dirty="0"/>
          </a:p>
          <a:p>
            <a:endParaRPr lang="en-US" dirty="0"/>
          </a:p>
        </p:txBody>
      </p:sp>
      <p:sp>
        <p:nvSpPr>
          <p:cNvPr id="3" name="Title 2"/>
          <p:cNvSpPr>
            <a:spLocks noGrp="1"/>
          </p:cNvSpPr>
          <p:nvPr>
            <p:ph type="title"/>
          </p:nvPr>
        </p:nvSpPr>
        <p:spPr>
          <a:xfrm>
            <a:off x="457200" y="304800"/>
            <a:ext cx="8229600" cy="334962"/>
          </a:xfrm>
        </p:spPr>
        <p:txBody>
          <a:bodyPr>
            <a:normAutofit fontScale="90000"/>
          </a:bodyPr>
          <a:lstStyle/>
          <a:p>
            <a:r>
              <a:rPr lang="en-US" dirty="0"/>
              <a:t>Causes</a:t>
            </a:r>
            <a:br>
              <a:rPr lang="en-US" dirty="0"/>
            </a:br>
            <a:endParaRPr lang="en-US" dirty="0"/>
          </a:p>
        </p:txBody>
      </p:sp>
    </p:spTree>
    <p:extLst>
      <p:ext uri="{BB962C8B-B14F-4D97-AF65-F5344CB8AC3E}">
        <p14:creationId xmlns:p14="http://schemas.microsoft.com/office/powerpoint/2010/main" val="398915787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Certain abnormalities cause the cell to grow and divide more rapidly and to continue living when normal cells would die. Over time, these abnormal cells can crowd out healthy blood cells in the bone marrow, leading to fewer healthy white blood cells, red blood cells and platelets, causing the signs and symptoms of leukemia</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43628164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b="1" dirty="0"/>
              <a:t>How leukemia is classified</a:t>
            </a:r>
          </a:p>
          <a:p>
            <a:r>
              <a:rPr lang="en-US" dirty="0"/>
              <a:t>Doctors classify leukemia based on its speed of progression and the type of cells involved.</a:t>
            </a:r>
          </a:p>
          <a:p>
            <a:r>
              <a:rPr lang="en-US" dirty="0"/>
              <a:t>The first type of classification is by how fast the leukemia progresses:</a:t>
            </a:r>
          </a:p>
          <a:p>
            <a:r>
              <a:rPr lang="en-US" b="1" dirty="0"/>
              <a:t>Acute leukemia.</a:t>
            </a:r>
            <a:r>
              <a:rPr lang="en-US" dirty="0"/>
              <a:t> In acute leukemia, the abnormal blood cells are immature blood cells (blasts). They can't carry out their normal functions, and they multiply rapidly, so the disease worsens quickly. Acute leukemia requires aggressive, timely treatment.</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5831486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Chronic leukemia.</a:t>
            </a:r>
            <a:r>
              <a:rPr lang="en-US" dirty="0"/>
              <a:t> There are many types of chronic </a:t>
            </a:r>
            <a:r>
              <a:rPr lang="en-US" dirty="0" err="1"/>
              <a:t>leukemias</a:t>
            </a:r>
            <a:r>
              <a:rPr lang="en-US" dirty="0"/>
              <a:t>. Some produce too many cells and some cause too few cells to be produced. Chronic leukemia involves more mature blood cells. These blood cells replicate or accumulate more slowly and can function normally for a period of time. Some forms of chronic leukemia initially produce no early symptoms and can go unnoticed or undiagnosed for years</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9276905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109728" indent="0">
              <a:buNone/>
            </a:pPr>
            <a:r>
              <a:rPr lang="en-US" dirty="0"/>
              <a:t>The second type of classification is by type of white blood cell affected:</a:t>
            </a:r>
          </a:p>
          <a:p>
            <a:r>
              <a:rPr lang="en-US" b="1" dirty="0"/>
              <a:t>Lymphocytic leukemia.</a:t>
            </a:r>
            <a:r>
              <a:rPr lang="en-US" dirty="0"/>
              <a:t> This type of leukemia affects the lymphoid cells (lymphocytes), which form lymphoid or lymphatic tissue. Lymphatic tissue makes up your immune system.</a:t>
            </a:r>
          </a:p>
          <a:p>
            <a:r>
              <a:rPr lang="en-US" b="1" dirty="0" err="1"/>
              <a:t>Myelogenous</a:t>
            </a:r>
            <a:r>
              <a:rPr lang="en-US" b="1" dirty="0"/>
              <a:t> (my-uh-LOHJ-uh-nus) leukemia.</a:t>
            </a:r>
            <a:r>
              <a:rPr lang="en-US" dirty="0"/>
              <a:t> This type of leukemia affects the myeloid cells. Myeloid cells give rise to red blood cells, white blood cells and platelet-producing cells.</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05568975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smtClean="0"/>
              <a:t>The </a:t>
            </a:r>
            <a:r>
              <a:rPr lang="en-US" dirty="0"/>
              <a:t>major types of leukemia are:</a:t>
            </a:r>
          </a:p>
          <a:p>
            <a:r>
              <a:rPr lang="en-US" b="1" dirty="0"/>
              <a:t>Acute lymphocytic leukemia (ALL).</a:t>
            </a:r>
            <a:r>
              <a:rPr lang="en-US" dirty="0"/>
              <a:t> This is the most common type of leukemia in young children. ALL can also occur in adults.</a:t>
            </a:r>
          </a:p>
          <a:p>
            <a:r>
              <a:rPr lang="en-US" b="1" dirty="0"/>
              <a:t>Acute </a:t>
            </a:r>
            <a:r>
              <a:rPr lang="en-US" b="1" dirty="0" err="1"/>
              <a:t>myelogenous</a:t>
            </a:r>
            <a:r>
              <a:rPr lang="en-US" b="1" dirty="0"/>
              <a:t> leukemia (AML).</a:t>
            </a:r>
            <a:r>
              <a:rPr lang="en-US" dirty="0"/>
              <a:t> AML is a common type of leukemia. It occurs in children and adults. AML is the most common type of acute leukemia in adults.</a:t>
            </a:r>
          </a:p>
          <a:p>
            <a:r>
              <a:rPr lang="en-US" b="1" dirty="0"/>
              <a:t>Chronic lymphocytic leukemia (CLL).</a:t>
            </a:r>
            <a:r>
              <a:rPr lang="en-US" dirty="0"/>
              <a:t> With CLL, the most common chronic adult leukemia, you may feel well for years without needing treatment.</a:t>
            </a:r>
          </a:p>
          <a:p>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r>
              <a:rPr lang="en-US" dirty="0"/>
              <a:t>Types of leukemia</a:t>
            </a:r>
            <a:br>
              <a:rPr lang="en-US" dirty="0"/>
            </a:br>
            <a:endParaRPr lang="en-US" dirty="0"/>
          </a:p>
        </p:txBody>
      </p:sp>
    </p:spTree>
    <p:extLst>
      <p:ext uri="{BB962C8B-B14F-4D97-AF65-F5344CB8AC3E}">
        <p14:creationId xmlns:p14="http://schemas.microsoft.com/office/powerpoint/2010/main" val="114319352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Chronic </a:t>
            </a:r>
            <a:r>
              <a:rPr lang="en-US" b="1" dirty="0" err="1"/>
              <a:t>myelogenous</a:t>
            </a:r>
            <a:r>
              <a:rPr lang="en-US" b="1" dirty="0"/>
              <a:t> leukemia (CML).</a:t>
            </a:r>
            <a:r>
              <a:rPr lang="en-US" dirty="0"/>
              <a:t> This type of leukemia mainly affects adults. A person with CML may have few or no symptoms for months or years before entering a phase in which the leukemia cells grow more quickly.</a:t>
            </a:r>
          </a:p>
          <a:p>
            <a:r>
              <a:rPr lang="en-US" b="1" dirty="0"/>
              <a:t>Other types.</a:t>
            </a:r>
            <a:r>
              <a:rPr lang="en-US" dirty="0"/>
              <a:t> Other, rarer types of leukemia exist, including hairy cell leukemia, </a:t>
            </a:r>
            <a:r>
              <a:rPr lang="en-US" dirty="0" err="1"/>
              <a:t>myelodysplastic</a:t>
            </a:r>
            <a:r>
              <a:rPr lang="en-US" dirty="0"/>
              <a:t> syndromes and </a:t>
            </a:r>
            <a:r>
              <a:rPr lang="en-US" dirty="0" err="1"/>
              <a:t>myeloproliferative</a:t>
            </a:r>
            <a:r>
              <a:rPr lang="en-US" dirty="0"/>
              <a:t> disorders.</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62523982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321491"/>
          </a:xfrm>
        </p:spPr>
        <p:txBody>
          <a:bodyPr>
            <a:normAutofit/>
          </a:bodyPr>
          <a:lstStyle/>
          <a:p>
            <a:r>
              <a:rPr lang="en-US" dirty="0" smtClean="0"/>
              <a:t>Factors </a:t>
            </a:r>
            <a:r>
              <a:rPr lang="en-US" dirty="0"/>
              <a:t>that may increase your risk of developing some types of leukemia include:</a:t>
            </a:r>
          </a:p>
          <a:p>
            <a:r>
              <a:rPr lang="en-US" b="1" dirty="0"/>
              <a:t>Previous cancer treatment.</a:t>
            </a:r>
            <a:r>
              <a:rPr lang="en-US" dirty="0"/>
              <a:t> People who've had certain types of chemotherapy and radiation therapy for other cancers have an increased risk of developing certain types of leukemia.</a:t>
            </a:r>
          </a:p>
          <a:p>
            <a:r>
              <a:rPr lang="en-US" b="1" dirty="0"/>
              <a:t>Genetic disorders.</a:t>
            </a:r>
            <a:r>
              <a:rPr lang="en-US" dirty="0"/>
              <a:t> Genetic abnormalities seem to play a role in the development of leukemia. Certain genetic disorders, such as Down syndrome, are associated with an increased risk of leukemia.</a:t>
            </a:r>
          </a:p>
          <a:p>
            <a:pPr marL="109728" indent="0">
              <a:buNone/>
            </a:pPr>
            <a:endParaRPr lang="en-US" dirty="0"/>
          </a:p>
        </p:txBody>
      </p:sp>
      <p:sp>
        <p:nvSpPr>
          <p:cNvPr id="3" name="Title 2"/>
          <p:cNvSpPr>
            <a:spLocks noGrp="1"/>
          </p:cNvSpPr>
          <p:nvPr>
            <p:ph type="title"/>
          </p:nvPr>
        </p:nvSpPr>
        <p:spPr>
          <a:xfrm>
            <a:off x="457200" y="274638"/>
            <a:ext cx="8229600" cy="563562"/>
          </a:xfrm>
        </p:spPr>
        <p:txBody>
          <a:bodyPr>
            <a:normAutofit fontScale="90000"/>
          </a:bodyPr>
          <a:lstStyle/>
          <a:p>
            <a:r>
              <a:rPr lang="en-US" dirty="0"/>
              <a:t>Risk factors</a:t>
            </a:r>
            <a:br>
              <a:rPr lang="en-US" dirty="0"/>
            </a:br>
            <a:endParaRPr lang="en-US" dirty="0"/>
          </a:p>
        </p:txBody>
      </p:sp>
    </p:spTree>
    <p:extLst>
      <p:ext uri="{BB962C8B-B14F-4D97-AF65-F5344CB8AC3E}">
        <p14:creationId xmlns:p14="http://schemas.microsoft.com/office/powerpoint/2010/main" val="231728594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b="1" dirty="0"/>
              <a:t>Exposure to certain chemicals.</a:t>
            </a:r>
            <a:r>
              <a:rPr lang="en-US" dirty="0"/>
              <a:t> Exposure to certain chemicals, such as benzene — which is found in gasoline and is used by the chemical industry — is linked to an increased risk of some kinds of leukemia.</a:t>
            </a:r>
          </a:p>
          <a:p>
            <a:r>
              <a:rPr lang="en-US" b="1" dirty="0"/>
              <a:t>Smoking.</a:t>
            </a:r>
            <a:r>
              <a:rPr lang="en-US" dirty="0"/>
              <a:t> Smoking cigarettes increases the risk of acute </a:t>
            </a:r>
            <a:r>
              <a:rPr lang="en-US" dirty="0" err="1"/>
              <a:t>myelogenous</a:t>
            </a:r>
            <a:r>
              <a:rPr lang="en-US" dirty="0"/>
              <a:t> leukemia.</a:t>
            </a:r>
          </a:p>
          <a:p>
            <a:r>
              <a:rPr lang="en-US" b="1" dirty="0"/>
              <a:t>Family history of leukemia.</a:t>
            </a:r>
            <a:r>
              <a:rPr lang="en-US" dirty="0"/>
              <a:t> If members of your family have been diagnosed with leukemia, your risk of the disease may be increased.</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73600031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62500" lnSpcReduction="20000"/>
          </a:bodyPr>
          <a:lstStyle/>
          <a:p>
            <a:r>
              <a:rPr lang="en-US" b="1" dirty="0"/>
              <a:t>Leukemia </a:t>
            </a:r>
            <a:r>
              <a:rPr lang="en-US" b="1" dirty="0" err="1"/>
              <a:t>consultation</a:t>
            </a:r>
            <a:r>
              <a:rPr lang="en-US" dirty="0" err="1"/>
              <a:t>A</a:t>
            </a:r>
            <a:r>
              <a:rPr lang="en-US" dirty="0"/>
              <a:t> Mayo Clinic physician talks with a woman about her diagnosis.</a:t>
            </a:r>
          </a:p>
          <a:p>
            <a:r>
              <a:rPr lang="en-US" b="1" dirty="0"/>
              <a:t>Bone marrow biopsy</a:t>
            </a:r>
          </a:p>
          <a:p>
            <a:r>
              <a:rPr lang="en-US" dirty="0"/>
              <a:t>Bone marrow biopsy</a:t>
            </a:r>
          </a:p>
          <a:p>
            <a:r>
              <a:rPr lang="en-US" dirty="0"/>
              <a:t>Doctors may find chronic leukemia in a routine blood test, before symptoms begin. If this happens, or if you have signs or symptoms that suggest leukemia, you may undergo the following diagnostic exams:</a:t>
            </a:r>
          </a:p>
          <a:p>
            <a:r>
              <a:rPr lang="en-US" b="1" dirty="0"/>
              <a:t>Physical exam.</a:t>
            </a:r>
            <a:r>
              <a:rPr lang="en-US" dirty="0"/>
              <a:t> Your doctor will look for physical signs of leukemia, such as pale skin from anemia, swelling of your lymph nodes, and enlargement of your liver and spleen.</a:t>
            </a:r>
          </a:p>
          <a:p>
            <a:r>
              <a:rPr lang="en-US" b="1" dirty="0"/>
              <a:t>Blood tests.</a:t>
            </a:r>
            <a:r>
              <a:rPr lang="en-US" dirty="0"/>
              <a:t> By looking at a sample of your blood, your doctor can determine if you have abnormal levels of red or white blood cells or platelets — which may suggest leukemia.</a:t>
            </a:r>
          </a:p>
          <a:p>
            <a:r>
              <a:rPr lang="en-US" b="1" dirty="0"/>
              <a:t>Bone marrow test.</a:t>
            </a:r>
            <a:r>
              <a:rPr lang="en-US" dirty="0"/>
              <a:t> Your doctor may recommend a procedure to remove a sample of bone marrow from your hipbone. The bone marrow is removed using a long, thin needle. The sample is sent to a laboratory to look for leukemia cells. Specialized tests of your leukemia cells may reveal certain characteristics that are used to determine your treatment options.</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04513335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dirty="0"/>
              <a:t>Treatment</a:t>
            </a:r>
          </a:p>
          <a:p>
            <a:r>
              <a:rPr lang="en-US" dirty="0"/>
              <a:t>Treatment for your leukemia depends on many factors. Your doctor determines your leukemia treatment options based on your age and overall health, the type of leukemia you have, and whether it has spread to other parts of your body, including the central nervous system.</a:t>
            </a:r>
          </a:p>
          <a:p>
            <a:r>
              <a:rPr lang="en-US" dirty="0"/>
              <a:t>Common treatments used to fight leukemia include:</a:t>
            </a:r>
          </a:p>
          <a:p>
            <a:r>
              <a:rPr lang="en-US" b="1" dirty="0"/>
              <a:t>Chemotherapy.</a:t>
            </a:r>
            <a:r>
              <a:rPr lang="en-US" dirty="0"/>
              <a:t> Chemotherapy is the major form of treatment for leukemia. This drug treatment uses chemicals to kill leukemia cells.</a:t>
            </a:r>
          </a:p>
          <a:p>
            <a:r>
              <a:rPr lang="en-US" dirty="0"/>
              <a:t>Depending on the type of leukemia you have, you may receive a single drug or a combination of drugs. These drugs may come in a pill form, or they may be injected directly into a vein</a:t>
            </a:r>
            <a:r>
              <a:rPr lang="en-US" dirty="0" smtClean="0"/>
              <a:t>.</a:t>
            </a:r>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79735164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b="1" dirty="0"/>
              <a:t>Biological therapy.</a:t>
            </a:r>
            <a:r>
              <a:rPr lang="en-US" dirty="0"/>
              <a:t> Biological therapy works by using treatments that help your immune system recognize and attack leukemia cells.</a:t>
            </a:r>
          </a:p>
          <a:p>
            <a:r>
              <a:rPr lang="en-US" b="1" dirty="0"/>
              <a:t>Targeted therapy.</a:t>
            </a:r>
            <a:r>
              <a:rPr lang="en-US" dirty="0"/>
              <a:t> Targeted therapy uses drugs that attack specific vulnerabilities within your cancer cells.</a:t>
            </a:r>
          </a:p>
          <a:p>
            <a:r>
              <a:rPr lang="en-US" dirty="0"/>
              <a:t>For example, the drug </a:t>
            </a:r>
            <a:r>
              <a:rPr lang="en-US" dirty="0" err="1"/>
              <a:t>imatinib</a:t>
            </a:r>
            <a:r>
              <a:rPr lang="en-US" dirty="0"/>
              <a:t> (</a:t>
            </a:r>
            <a:r>
              <a:rPr lang="en-US" dirty="0" err="1"/>
              <a:t>Gleevec</a:t>
            </a:r>
            <a:r>
              <a:rPr lang="en-US" dirty="0"/>
              <a:t>) stops the action of a protein within the leukemia cells of people with chronic </a:t>
            </a:r>
            <a:r>
              <a:rPr lang="en-US" dirty="0" err="1"/>
              <a:t>myelogenous</a:t>
            </a:r>
            <a:r>
              <a:rPr lang="en-US" dirty="0"/>
              <a:t> leukemia. This can help control the disease.</a:t>
            </a:r>
          </a:p>
          <a:p>
            <a:endParaRPr lang="en-US" dirty="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11664951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b="1" dirty="0"/>
              <a:t>Radiation therapy.</a:t>
            </a:r>
            <a:r>
              <a:rPr lang="en-US" dirty="0"/>
              <a:t> Radiation therapy uses X-rays or other high-energy beams to damage leukemia cells and stop their growth. During radiation therapy, you lie on a table while a large machine moves around you, directing the radiation to precise points on your body.</a:t>
            </a:r>
          </a:p>
          <a:p>
            <a:r>
              <a:rPr lang="en-US" dirty="0"/>
              <a:t>You may receive radiation in one specific area of your body where there is a collection of leukemia cells, or you may receive radiation over your whole body. Radiation therapy may be used to prepare for a stem cell transplant.</a:t>
            </a:r>
          </a:p>
          <a:p>
            <a:pPr marL="109728" indent="0">
              <a:buNone/>
            </a:pPr>
            <a:endParaRPr lang="en-US" dirty="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201351334"/>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b="1" dirty="0"/>
              <a:t>Stem cell transplant.</a:t>
            </a:r>
            <a:r>
              <a:rPr lang="en-US" dirty="0"/>
              <a:t> A stem cell transplant is a procedure to replace your diseased bone marrow with healthy bone marrow.</a:t>
            </a:r>
          </a:p>
          <a:p>
            <a:r>
              <a:rPr lang="en-US" dirty="0"/>
              <a:t>Before a stem cell transplant, you receive high doses of chemotherapy or radiation therapy to destroy your diseased bone marrow. Then you receive an infusion of blood-forming stem cells that help to rebuild your bone marrow.</a:t>
            </a:r>
          </a:p>
          <a:p>
            <a:r>
              <a:rPr lang="en-US" dirty="0"/>
              <a:t>You may receive stem cells from a donor, or in some cases you may be able to use your own stem cells. A stem cell transplant is very similar to a bone marrow transplant</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79950497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685800"/>
            <a:ext cx="8610600" cy="5321491"/>
          </a:xfrm>
        </p:spPr>
        <p:txBody>
          <a:bodyPr>
            <a:normAutofit/>
          </a:bodyPr>
          <a:lstStyle/>
          <a:p>
            <a:r>
              <a:rPr lang="en-US" dirty="0" smtClean="0"/>
              <a:t>Factors </a:t>
            </a:r>
            <a:r>
              <a:rPr lang="en-US" dirty="0"/>
              <a:t>that may increase your risk of developing some types of leukemia include:</a:t>
            </a:r>
          </a:p>
          <a:p>
            <a:r>
              <a:rPr lang="en-US" b="1" dirty="0"/>
              <a:t>Previous cancer treatment.</a:t>
            </a:r>
            <a:r>
              <a:rPr lang="en-US" dirty="0"/>
              <a:t> People who've had certain types of chemotherapy and radiation therapy for other cancers have an increased risk of developing certain types of leukemia.</a:t>
            </a:r>
          </a:p>
          <a:p>
            <a:r>
              <a:rPr lang="en-US" b="1" dirty="0"/>
              <a:t>Genetic disorders.</a:t>
            </a:r>
            <a:r>
              <a:rPr lang="en-US" dirty="0"/>
              <a:t> Genetic abnormalities seem to play a role in the development of leukemia. Certain genetic disorders, such as Down syndrome, are associated with an increased risk of leukemia.</a:t>
            </a:r>
          </a:p>
          <a:p>
            <a:endParaRPr lang="en-US" dirty="0"/>
          </a:p>
        </p:txBody>
      </p:sp>
      <p:sp>
        <p:nvSpPr>
          <p:cNvPr id="3" name="Title 2"/>
          <p:cNvSpPr>
            <a:spLocks noGrp="1"/>
          </p:cNvSpPr>
          <p:nvPr>
            <p:ph type="title"/>
          </p:nvPr>
        </p:nvSpPr>
        <p:spPr>
          <a:xfrm>
            <a:off x="457200" y="274638"/>
            <a:ext cx="8229600" cy="639762"/>
          </a:xfrm>
        </p:spPr>
        <p:txBody>
          <a:bodyPr>
            <a:normAutofit fontScale="90000"/>
          </a:bodyPr>
          <a:lstStyle/>
          <a:p>
            <a:r>
              <a:rPr lang="en-US" dirty="0"/>
              <a:t>Risk factors</a:t>
            </a:r>
            <a:br>
              <a:rPr lang="en-US" dirty="0"/>
            </a:br>
            <a:endParaRPr lang="en-US" dirty="0"/>
          </a:p>
        </p:txBody>
      </p:sp>
    </p:spTree>
    <p:extLst>
      <p:ext uri="{BB962C8B-B14F-4D97-AF65-F5344CB8AC3E}">
        <p14:creationId xmlns:p14="http://schemas.microsoft.com/office/powerpoint/2010/main" val="295594309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b="1" dirty="0"/>
              <a:t>Exposure to certain chemicals.</a:t>
            </a:r>
            <a:r>
              <a:rPr lang="en-US" dirty="0"/>
              <a:t> Exposure to certain chemicals, such as benzene — which is found in gasoline and is used by the chemical industry — is linked to an increased risk of some kinds of leukemia.</a:t>
            </a:r>
          </a:p>
          <a:p>
            <a:r>
              <a:rPr lang="en-US" b="1" dirty="0"/>
              <a:t>Smoking.</a:t>
            </a:r>
            <a:r>
              <a:rPr lang="en-US" dirty="0"/>
              <a:t> Smoking cigarettes increases the risk of acute </a:t>
            </a:r>
            <a:r>
              <a:rPr lang="en-US" dirty="0" err="1"/>
              <a:t>myelogenous</a:t>
            </a:r>
            <a:r>
              <a:rPr lang="en-US" dirty="0"/>
              <a:t> leukemia.</a:t>
            </a:r>
          </a:p>
          <a:p>
            <a:r>
              <a:rPr lang="en-US" b="1" dirty="0"/>
              <a:t>Family history of leukemia.</a:t>
            </a:r>
            <a:r>
              <a:rPr lang="en-US" dirty="0"/>
              <a:t> If members of your family have been diagnosed with leukemia, your risk of the disease may be increased.</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60858484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r>
              <a:rPr lang="en-US" dirty="0"/>
              <a:t>Doctors may find chronic leukemia in a routine blood test, before symptoms begin. If this happens, or if you have signs or symptoms that suggest leukemia, you may undergo the following diagnostic exams:</a:t>
            </a:r>
          </a:p>
          <a:p>
            <a:r>
              <a:rPr lang="en-US" b="1" dirty="0"/>
              <a:t>Physical exam.</a:t>
            </a:r>
            <a:r>
              <a:rPr lang="en-US" dirty="0"/>
              <a:t> Your doctor will look for physical signs of leukemia, such as pale skin from anemia, swelling of your lymph nodes, and enlargement of your liver and spleen.</a:t>
            </a:r>
          </a:p>
          <a:p>
            <a:r>
              <a:rPr lang="en-US" b="1" dirty="0"/>
              <a:t>Blood tests.</a:t>
            </a:r>
            <a:r>
              <a:rPr lang="en-US" dirty="0"/>
              <a:t> By looking at a sample of your blood, your doctor can determine if you have abnormal levels of red or white blood cells or platelets — which may suggest leukemia.</a:t>
            </a:r>
          </a:p>
          <a:p>
            <a:r>
              <a:rPr lang="en-US" b="1" dirty="0"/>
              <a:t>Bone marrow test.</a:t>
            </a:r>
            <a:r>
              <a:rPr lang="en-US" dirty="0"/>
              <a:t> Your doctor may recommend a procedure to remove a sample of bone marrow from your hipbone. The bone marrow is removed using a long, thin needle. The sample is sent to a laboratory to look for leukemia cells. Specialized tests of your leukemia cells may reveal certain characteristics that are used to determine your treatment options.</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3739672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5016691"/>
          </a:xfrm>
        </p:spPr>
        <p:txBody>
          <a:bodyPr>
            <a:normAutofit fontScale="77500" lnSpcReduction="20000"/>
          </a:bodyPr>
          <a:lstStyle/>
          <a:p>
            <a:r>
              <a:rPr lang="en-US" dirty="0" smtClean="0"/>
              <a:t>A </a:t>
            </a:r>
            <a:r>
              <a:rPr lang="en-US" dirty="0"/>
              <a:t>diagnosis of leukemia may be devastating — especially for the family of a newly diagnosed child. With time you'll find ways to cope with the distress and uncertainty of cancer. Until then, you may find it helps to:</a:t>
            </a:r>
          </a:p>
          <a:p>
            <a:r>
              <a:rPr lang="en-US" b="1" dirty="0"/>
              <a:t>Learn enough about leukemia to make decisions about your care.</a:t>
            </a:r>
            <a:r>
              <a:rPr lang="en-US" dirty="0"/>
              <a:t> Ask your doctor about your leukemia, including your treatment options and, if you like, your prognosis. As you learn more about leukemia, you may become more confident in making treatment decisions.</a:t>
            </a:r>
          </a:p>
          <a:p>
            <a:pPr lvl="1"/>
            <a:r>
              <a:rPr lang="en-US" dirty="0"/>
              <a:t>The term "leukemia" can be confusing because it refers to a group of cancers that aren't all that similar except for the fact that they affect the bone marrow and blood. You can waste a lot of time researching information that doesn't apply to your kind of leukemia. To avoid that, ask your doctor to write down as much information about your specific disease as possible. Then narrow your search for information accordingly.</a:t>
            </a:r>
          </a:p>
          <a:p>
            <a:pPr lvl="1"/>
            <a:r>
              <a:rPr lang="en-US" dirty="0"/>
              <a:t>Write down questions for your doctor before each appointment, and look for information in your local library and on the internet.</a:t>
            </a:r>
          </a:p>
          <a:p>
            <a:endParaRPr lang="en-US" dirty="0"/>
          </a:p>
        </p:txBody>
      </p:sp>
      <p:sp>
        <p:nvSpPr>
          <p:cNvPr id="3" name="Title 2"/>
          <p:cNvSpPr>
            <a:spLocks noGrp="1"/>
          </p:cNvSpPr>
          <p:nvPr>
            <p:ph type="title"/>
          </p:nvPr>
        </p:nvSpPr>
        <p:spPr/>
        <p:txBody>
          <a:bodyPr>
            <a:normAutofit fontScale="90000"/>
          </a:bodyPr>
          <a:lstStyle/>
          <a:p>
            <a:r>
              <a:rPr lang="en-US" dirty="0"/>
              <a:t>Coping and support</a:t>
            </a:r>
            <a:br>
              <a:rPr lang="en-US" dirty="0"/>
            </a:br>
            <a:endParaRPr lang="en-US" dirty="0"/>
          </a:p>
        </p:txBody>
      </p:sp>
    </p:spTree>
    <p:extLst>
      <p:ext uri="{BB962C8B-B14F-4D97-AF65-F5344CB8AC3E}">
        <p14:creationId xmlns:p14="http://schemas.microsoft.com/office/powerpoint/2010/main" val="204143459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b="1" dirty="0"/>
              <a:t>Keep friends and family close.</a:t>
            </a:r>
            <a:r>
              <a:rPr lang="en-US" dirty="0"/>
              <a:t> Keeping your close relationships strong will help you deal with your leukemia. Friends and family can provide the practical support you'll need, such as helping take care of your house if you're in the hospital. And they can serve as emotional support when you feel overwhelmed by cancer.</a:t>
            </a:r>
          </a:p>
          <a:p>
            <a:r>
              <a:rPr lang="en-US" b="1" dirty="0"/>
              <a:t>Find someone to talk with.</a:t>
            </a:r>
            <a:r>
              <a:rPr lang="en-US" dirty="0"/>
              <a:t> Find a good listener who is willing to listen to you talk about your hopes and fears. This may be a friend or family member. The concern and understanding of a counselor, medical social worker, clergy member or cancer support group also may be helpful.</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73756989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Ask your doctor about support groups in your area. Or check your phone book, library or a cancer organization, such as the National Cancer Institute, the American Cancer Society or the Leukemia &amp; Lymphoma Society.</a:t>
            </a:r>
          </a:p>
          <a:p>
            <a:r>
              <a:rPr lang="en-US" b="1" dirty="0"/>
              <a:t>Take care of yourself.</a:t>
            </a:r>
            <a:r>
              <a:rPr lang="en-US" dirty="0"/>
              <a:t> It's easy to get caught up in the tests, treatments and procedures of therapy. But it's important to take care of yourself, not just the cancer. Try to make time for yoga, cooking or other favorite diversions.</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19794730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245291"/>
          </a:xfrm>
        </p:spPr>
        <p:txBody>
          <a:bodyPr>
            <a:normAutofit fontScale="85000" lnSpcReduction="20000"/>
          </a:bodyPr>
          <a:lstStyle/>
          <a:p>
            <a:r>
              <a:rPr lang="en-US" dirty="0"/>
              <a:t>Lymphoma is a cancer of the lymphatic system, which is part of the body's germ-fighting network.</a:t>
            </a:r>
          </a:p>
          <a:p>
            <a:r>
              <a:rPr lang="en-US" dirty="0"/>
              <a:t>The lymphatic system includes the lymph nodes (lymph glands), spleen, thymus gland and bone marrow. Lymphoma can affect all those areas as well as other organs throughout the body.</a:t>
            </a:r>
          </a:p>
          <a:p>
            <a:r>
              <a:rPr lang="en-US" dirty="0"/>
              <a:t>Many types of lymphoma exist. The main subtypes are:</a:t>
            </a:r>
          </a:p>
          <a:p>
            <a:r>
              <a:rPr lang="en-US" b="1" dirty="0"/>
              <a:t>Hodgkin's lymphoma </a:t>
            </a:r>
            <a:r>
              <a:rPr lang="en-US" dirty="0"/>
              <a:t>(formerly called Hodgkin's disease)</a:t>
            </a:r>
          </a:p>
          <a:p>
            <a:r>
              <a:rPr lang="en-US" b="1" dirty="0"/>
              <a:t>Non-Hodgkin's lymphoma</a:t>
            </a:r>
          </a:p>
          <a:p>
            <a:r>
              <a:rPr lang="en-US" dirty="0"/>
              <a:t>What lymphoma treatment is best for you depends on your lymphoma type and its severity. Lymphoma treatment may involve chemotherapy, immunotherapy medications, radiation therapy, a bone marrow transplant or some combination of these.</a:t>
            </a:r>
          </a:p>
          <a:p>
            <a:endParaRPr lang="en-US" dirty="0"/>
          </a:p>
        </p:txBody>
      </p:sp>
      <p:sp>
        <p:nvSpPr>
          <p:cNvPr id="3" name="Title 2"/>
          <p:cNvSpPr>
            <a:spLocks noGrp="1"/>
          </p:cNvSpPr>
          <p:nvPr>
            <p:ph type="title"/>
          </p:nvPr>
        </p:nvSpPr>
        <p:spPr>
          <a:xfrm>
            <a:off x="457200" y="152400"/>
            <a:ext cx="8229600" cy="457200"/>
          </a:xfrm>
        </p:spPr>
        <p:txBody>
          <a:bodyPr>
            <a:normAutofit fontScale="90000"/>
          </a:bodyPr>
          <a:lstStyle/>
          <a:p>
            <a:r>
              <a:rPr lang="en-US" dirty="0"/>
              <a:t>Lymphoma</a:t>
            </a:r>
          </a:p>
        </p:txBody>
      </p:sp>
    </p:spTree>
    <p:extLst>
      <p:ext uri="{BB962C8B-B14F-4D97-AF65-F5344CB8AC3E}">
        <p14:creationId xmlns:p14="http://schemas.microsoft.com/office/powerpoint/2010/main" val="348003736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5397691"/>
          </a:xfrm>
        </p:spPr>
        <p:txBody>
          <a:bodyPr>
            <a:normAutofit/>
          </a:bodyPr>
          <a:lstStyle/>
          <a:p>
            <a:r>
              <a:rPr lang="en-US" b="1" dirty="0" smtClean="0"/>
              <a:t>Swollen </a:t>
            </a:r>
            <a:r>
              <a:rPr lang="en-US" b="1" dirty="0"/>
              <a:t>lymph nodes</a:t>
            </a:r>
          </a:p>
          <a:p>
            <a:r>
              <a:rPr lang="en-US" dirty="0"/>
              <a:t>Signs and symptoms of lymphoma may include:</a:t>
            </a:r>
          </a:p>
          <a:p>
            <a:r>
              <a:rPr lang="en-US" dirty="0"/>
              <a:t>Painless swelling of lymph nodes in your neck, armpits or groin</a:t>
            </a:r>
          </a:p>
          <a:p>
            <a:r>
              <a:rPr lang="en-US" dirty="0"/>
              <a:t>Persistent fatigue</a:t>
            </a:r>
          </a:p>
          <a:p>
            <a:r>
              <a:rPr lang="en-US" dirty="0"/>
              <a:t>Fever</a:t>
            </a:r>
          </a:p>
          <a:p>
            <a:r>
              <a:rPr lang="en-US" dirty="0"/>
              <a:t>Night sweats</a:t>
            </a:r>
          </a:p>
          <a:p>
            <a:r>
              <a:rPr lang="en-US" dirty="0"/>
              <a:t>Shortness of breath</a:t>
            </a:r>
          </a:p>
          <a:p>
            <a:r>
              <a:rPr lang="en-US" dirty="0"/>
              <a:t>Unexplained weight loss</a:t>
            </a:r>
          </a:p>
          <a:p>
            <a:r>
              <a:rPr lang="en-US" dirty="0"/>
              <a:t>Itchy skin</a:t>
            </a:r>
          </a:p>
          <a:p>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r>
              <a:rPr lang="en-US" dirty="0"/>
              <a:t>Symptoms</a:t>
            </a:r>
            <a:br>
              <a:rPr lang="en-US" dirty="0"/>
            </a:br>
            <a:endParaRPr lang="en-US" dirty="0"/>
          </a:p>
        </p:txBody>
      </p:sp>
    </p:spTree>
    <p:extLst>
      <p:ext uri="{BB962C8B-B14F-4D97-AF65-F5344CB8AC3E}">
        <p14:creationId xmlns:p14="http://schemas.microsoft.com/office/powerpoint/2010/main" val="136988748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092891"/>
          </a:xfrm>
        </p:spPr>
        <p:txBody>
          <a:bodyPr>
            <a:normAutofit lnSpcReduction="10000"/>
          </a:bodyPr>
          <a:lstStyle/>
          <a:p>
            <a:r>
              <a:rPr lang="en-US" dirty="0" smtClean="0"/>
              <a:t>Doctors </a:t>
            </a:r>
            <a:r>
              <a:rPr lang="en-US" dirty="0"/>
              <a:t>aren't sure what causes lymphoma. But it begins when a disease-fighting white blood cell called a lymphocyte develops a genetic mutation. </a:t>
            </a:r>
            <a:endParaRPr lang="en-US" dirty="0" smtClean="0"/>
          </a:p>
          <a:p>
            <a:r>
              <a:rPr lang="en-US" dirty="0" smtClean="0"/>
              <a:t>The </a:t>
            </a:r>
            <a:r>
              <a:rPr lang="en-US" dirty="0"/>
              <a:t>mutation tells the cell to multiply rapidly, causing many diseased lymphocytes that continue multiplying.</a:t>
            </a:r>
          </a:p>
          <a:p>
            <a:r>
              <a:rPr lang="en-US" dirty="0"/>
              <a:t>The mutation also allows the cells to go on living when other normal cells would die. This causes too many diseased and ineffective lymphocytes in your lymph nodes and causes the lymph nodes, spleen and liver to swell</a:t>
            </a:r>
          </a:p>
          <a:p>
            <a:endParaRPr lang="en-US" dirty="0"/>
          </a:p>
        </p:txBody>
      </p:sp>
      <p:sp>
        <p:nvSpPr>
          <p:cNvPr id="3" name="Title 2"/>
          <p:cNvSpPr>
            <a:spLocks noGrp="1"/>
          </p:cNvSpPr>
          <p:nvPr>
            <p:ph type="title"/>
          </p:nvPr>
        </p:nvSpPr>
        <p:spPr/>
        <p:txBody>
          <a:bodyPr>
            <a:normAutofit fontScale="90000"/>
          </a:bodyPr>
          <a:lstStyle/>
          <a:p>
            <a:r>
              <a:rPr lang="en-US" dirty="0"/>
              <a:t>Causes</a:t>
            </a:r>
            <a:br>
              <a:rPr lang="en-US" dirty="0"/>
            </a:br>
            <a:endParaRPr lang="en-US" dirty="0"/>
          </a:p>
        </p:txBody>
      </p:sp>
    </p:spTree>
    <p:extLst>
      <p:ext uri="{BB962C8B-B14F-4D97-AF65-F5344CB8AC3E}">
        <p14:creationId xmlns:p14="http://schemas.microsoft.com/office/powerpoint/2010/main" val="241391965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609600"/>
            <a:ext cx="8686800" cy="5867400"/>
          </a:xfrm>
        </p:spPr>
        <p:txBody>
          <a:bodyPr>
            <a:normAutofit fontScale="92500" lnSpcReduction="10000"/>
          </a:bodyPr>
          <a:lstStyle/>
          <a:p>
            <a:r>
              <a:rPr lang="en-US" dirty="0" smtClean="0"/>
              <a:t>Factors </a:t>
            </a:r>
            <a:r>
              <a:rPr lang="en-US" dirty="0"/>
              <a:t>that can increase the risk of lymphoma include:</a:t>
            </a:r>
          </a:p>
          <a:p>
            <a:r>
              <a:rPr lang="en-US" b="1" dirty="0"/>
              <a:t>Your age.</a:t>
            </a:r>
            <a:r>
              <a:rPr lang="en-US" dirty="0"/>
              <a:t> Some types of lymphoma are more common in young adults, while others are most often diagnosed in people over 55.</a:t>
            </a:r>
          </a:p>
          <a:p>
            <a:r>
              <a:rPr lang="en-US" b="1" dirty="0"/>
              <a:t>Being male.</a:t>
            </a:r>
            <a:r>
              <a:rPr lang="en-US" dirty="0"/>
              <a:t> Males are slightly more likely to develop lymphoma than are females.</a:t>
            </a:r>
          </a:p>
          <a:p>
            <a:r>
              <a:rPr lang="en-US" b="1" dirty="0"/>
              <a:t>Having an impaired immune system.</a:t>
            </a:r>
            <a:r>
              <a:rPr lang="en-US" dirty="0"/>
              <a:t> Lymphoma is more common in people with immune system diseases or in people who take drugs that suppress their immune system.</a:t>
            </a:r>
          </a:p>
          <a:p>
            <a:r>
              <a:rPr lang="en-US" b="1" dirty="0"/>
              <a:t>Developing certain infections.</a:t>
            </a:r>
            <a:r>
              <a:rPr lang="en-US" dirty="0"/>
              <a:t> Some infections are associated with an increased risk of lymphoma, including the Epstein-Barr virus and Helicobacter pylori infection.</a:t>
            </a:r>
          </a:p>
          <a:p>
            <a:endParaRPr lang="en-US" dirty="0"/>
          </a:p>
        </p:txBody>
      </p:sp>
      <p:sp>
        <p:nvSpPr>
          <p:cNvPr id="3" name="Title 2"/>
          <p:cNvSpPr>
            <a:spLocks noGrp="1"/>
          </p:cNvSpPr>
          <p:nvPr>
            <p:ph type="title"/>
          </p:nvPr>
        </p:nvSpPr>
        <p:spPr>
          <a:xfrm>
            <a:off x="457200" y="274638"/>
            <a:ext cx="8229600" cy="487362"/>
          </a:xfrm>
        </p:spPr>
        <p:txBody>
          <a:bodyPr>
            <a:normAutofit fontScale="90000"/>
          </a:bodyPr>
          <a:lstStyle/>
          <a:p>
            <a:r>
              <a:rPr lang="en-US" dirty="0"/>
              <a:t>Risk factors</a:t>
            </a:r>
            <a:br>
              <a:rPr lang="en-US" dirty="0"/>
            </a:br>
            <a:endParaRPr lang="en-US" dirty="0"/>
          </a:p>
        </p:txBody>
      </p:sp>
    </p:spTree>
    <p:extLst>
      <p:ext uri="{BB962C8B-B14F-4D97-AF65-F5344CB8AC3E}">
        <p14:creationId xmlns:p14="http://schemas.microsoft.com/office/powerpoint/2010/main" val="140616239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762000"/>
            <a:ext cx="8915400" cy="5245291"/>
          </a:xfrm>
        </p:spPr>
        <p:txBody>
          <a:bodyPr>
            <a:normAutofit fontScale="92500" lnSpcReduction="10000"/>
          </a:bodyPr>
          <a:lstStyle/>
          <a:p>
            <a:r>
              <a:rPr lang="en-US" b="1" dirty="0" smtClean="0"/>
              <a:t>Bone </a:t>
            </a:r>
            <a:r>
              <a:rPr lang="en-US" b="1" dirty="0"/>
              <a:t>marrow biopsy</a:t>
            </a:r>
          </a:p>
          <a:p>
            <a:r>
              <a:rPr lang="en-US" dirty="0"/>
              <a:t>Bone marrow biopsy</a:t>
            </a:r>
          </a:p>
          <a:p>
            <a:r>
              <a:rPr lang="en-US" dirty="0"/>
              <a:t>Tests and procedures used to diagnose lymphoma include:</a:t>
            </a:r>
          </a:p>
          <a:p>
            <a:r>
              <a:rPr lang="en-US" b="1" dirty="0"/>
              <a:t>Physical exam.</a:t>
            </a:r>
            <a:r>
              <a:rPr lang="en-US" dirty="0"/>
              <a:t> Your doctor checks for swollen lymph nodes, including in your neck, underarm and groin, as well as a swollen spleen or liver.</a:t>
            </a:r>
          </a:p>
          <a:p>
            <a:r>
              <a:rPr lang="en-US" b="1" dirty="0"/>
              <a:t>Removing a lymph node for testing.</a:t>
            </a:r>
            <a:r>
              <a:rPr lang="en-US" dirty="0"/>
              <a:t> Your doctor may recommend a lymph node biopsy procedure to remove all or part of a lymph node for laboratory testing. Advanced tests can determine if lymphoma cells are present and what types of cells are involved.</a:t>
            </a:r>
          </a:p>
          <a:p>
            <a:r>
              <a:rPr lang="en-US" dirty="0" smtClean="0"/>
              <a:t>.</a:t>
            </a:r>
            <a:endParaRPr lang="en-US" dirty="0"/>
          </a:p>
          <a:p>
            <a:endParaRPr lang="en-US" dirty="0"/>
          </a:p>
        </p:txBody>
      </p:sp>
      <p:sp>
        <p:nvSpPr>
          <p:cNvPr id="3" name="Title 2"/>
          <p:cNvSpPr>
            <a:spLocks noGrp="1"/>
          </p:cNvSpPr>
          <p:nvPr>
            <p:ph type="title"/>
          </p:nvPr>
        </p:nvSpPr>
        <p:spPr>
          <a:xfrm>
            <a:off x="457200" y="228600"/>
            <a:ext cx="8229600" cy="609600"/>
          </a:xfrm>
        </p:spPr>
        <p:txBody>
          <a:bodyPr>
            <a:normAutofit fontScale="90000"/>
          </a:bodyPr>
          <a:lstStyle/>
          <a:p>
            <a:r>
              <a:rPr lang="en-US" dirty="0"/>
              <a:t>Diagnosis</a:t>
            </a:r>
            <a:br>
              <a:rPr lang="en-US" dirty="0"/>
            </a:br>
            <a:endParaRPr lang="en-US" dirty="0"/>
          </a:p>
        </p:txBody>
      </p:sp>
    </p:spTree>
    <p:extLst>
      <p:ext uri="{BB962C8B-B14F-4D97-AF65-F5344CB8AC3E}">
        <p14:creationId xmlns:p14="http://schemas.microsoft.com/office/powerpoint/2010/main" val="64519815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200" y="1481328"/>
            <a:ext cx="8915400" cy="4525963"/>
          </a:xfrm>
        </p:spPr>
        <p:txBody>
          <a:bodyPr>
            <a:normAutofit fontScale="92500" lnSpcReduction="10000"/>
          </a:bodyPr>
          <a:lstStyle/>
          <a:p>
            <a:r>
              <a:rPr lang="en-US" b="1" dirty="0"/>
              <a:t>Blood tests.</a:t>
            </a:r>
            <a:r>
              <a:rPr lang="en-US" dirty="0"/>
              <a:t> Blood tests to count the number of cells in a sample of your blood can give your doctor clues about your diagnosis.</a:t>
            </a:r>
          </a:p>
          <a:p>
            <a:r>
              <a:rPr lang="en-US" b="1" dirty="0"/>
              <a:t>Removing a sample of bone marrow for testing.</a:t>
            </a:r>
            <a:r>
              <a:rPr lang="en-US" dirty="0"/>
              <a:t> A bone marrow aspiration and biopsy procedure involves inserting a needle into your hipbone to remove a sample of bone marrow. The sample is analyzed to look for lymphoma cells.</a:t>
            </a:r>
          </a:p>
          <a:p>
            <a:r>
              <a:rPr lang="en-US" b="1" dirty="0"/>
              <a:t>Imaging tests.</a:t>
            </a:r>
            <a:r>
              <a:rPr lang="en-US" dirty="0"/>
              <a:t> Your doctor may recommend imaging tests to look for signs of lymphoma in other areas of your body. Tests may include CT, MRI and positron emission tomography (PET)</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22425031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762000"/>
            <a:ext cx="8229600" cy="4525963"/>
          </a:xfrm>
        </p:spPr>
        <p:txBody>
          <a:bodyPr>
            <a:normAutofit fontScale="92500" lnSpcReduction="20000"/>
          </a:bodyPr>
          <a:lstStyle/>
          <a:p>
            <a:r>
              <a:rPr lang="en-US" dirty="0" smtClean="0"/>
              <a:t>Which </a:t>
            </a:r>
            <a:r>
              <a:rPr lang="en-US" dirty="0"/>
              <a:t>lymphoma treatments are right for you depends on the type and stage of your disease, your overall health, and your preferences. The goal of treatment is to destroy as many cancer cells as possible and bring the disease into remission.</a:t>
            </a:r>
          </a:p>
          <a:p>
            <a:r>
              <a:rPr lang="en-US" dirty="0"/>
              <a:t>Lymphoma treatments include:</a:t>
            </a:r>
          </a:p>
          <a:p>
            <a:r>
              <a:rPr lang="en-US" b="1" dirty="0"/>
              <a:t>Active surveillance.</a:t>
            </a:r>
            <a:r>
              <a:rPr lang="en-US" dirty="0"/>
              <a:t> Some forms of lymphoma are very slow growing. You and your doctor may decide to wait to treat your lymphoma when it causes signs and symptoms that interfere with your daily activities. Until then, you may undergo periodic tests to monitor your condition.</a:t>
            </a:r>
          </a:p>
          <a:p>
            <a:pPr marL="109728" indent="0">
              <a:buNone/>
            </a:pPr>
            <a:endParaRPr lang="en-US" dirty="0"/>
          </a:p>
          <a:p>
            <a:endParaRPr lang="en-US" dirty="0"/>
          </a:p>
        </p:txBody>
      </p:sp>
      <p:sp>
        <p:nvSpPr>
          <p:cNvPr id="3" name="Title 2"/>
          <p:cNvSpPr>
            <a:spLocks noGrp="1"/>
          </p:cNvSpPr>
          <p:nvPr>
            <p:ph type="title"/>
          </p:nvPr>
        </p:nvSpPr>
        <p:spPr/>
        <p:txBody>
          <a:bodyPr>
            <a:normAutofit fontScale="90000"/>
          </a:bodyPr>
          <a:lstStyle/>
          <a:p>
            <a:r>
              <a:rPr lang="en-US" dirty="0"/>
              <a:t>Treatment</a:t>
            </a:r>
            <a:br>
              <a:rPr lang="en-US" dirty="0"/>
            </a:br>
            <a:endParaRPr lang="en-US" dirty="0"/>
          </a:p>
        </p:txBody>
      </p:sp>
    </p:spTree>
    <p:extLst>
      <p:ext uri="{BB962C8B-B14F-4D97-AF65-F5344CB8AC3E}">
        <p14:creationId xmlns:p14="http://schemas.microsoft.com/office/powerpoint/2010/main" val="173685109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Chemotherapy.</a:t>
            </a:r>
            <a:r>
              <a:rPr lang="en-US" dirty="0"/>
              <a:t> Chemotherapy uses drugs to destroy fast-growing cells, such as cancer cells. The drugs are usually administered through a vein, but can also be taken as a pill, depending on the specific drugs you receive.</a:t>
            </a:r>
          </a:p>
          <a:p>
            <a:r>
              <a:rPr lang="en-US" b="1" dirty="0"/>
              <a:t>Radiation therapy.</a:t>
            </a:r>
            <a:r>
              <a:rPr lang="en-US" dirty="0"/>
              <a:t> Radiation therapy uses high-powered beams of energy, such as X-rays and protons, to kill cancer cells</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42114358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b="1" dirty="0"/>
              <a:t>Bone marrow transplant.</a:t>
            </a:r>
            <a:r>
              <a:rPr lang="en-US" dirty="0"/>
              <a:t> A bone marrow transplant, also known as a stem cell transplant, involves using high doses of chemotherapy and radiation to suppress your bone marrow. Then healthy bone marrow stem cells from your body or from a donor are infused into your blood where they travel to your bones and rebuild your bone marrow.</a:t>
            </a:r>
          </a:p>
          <a:p>
            <a:r>
              <a:rPr lang="en-US" b="1" dirty="0"/>
              <a:t>Other treatments.</a:t>
            </a:r>
            <a:r>
              <a:rPr lang="en-US" dirty="0"/>
              <a:t> Other drugs used to treat lymphoma include targeted drugs that focus on specific abnormalities in your cancer cells. Immunotherapy drugs use your immune system to kill cancer cells. A specialized treatment called chimeric antigen receptor (CAR)-T cell therapy takes your body's germ-fighting T cells, engineers them to fight cancer and infuses them back into your body.</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635975306"/>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534400" cy="4995672"/>
          </a:xfrm>
        </p:spPr>
        <p:txBody>
          <a:bodyPr>
            <a:normAutofit fontScale="92500" lnSpcReduction="20000"/>
          </a:bodyPr>
          <a:lstStyle/>
          <a:p>
            <a:r>
              <a:rPr lang="en-US" dirty="0"/>
              <a:t>Alternative medicine</a:t>
            </a:r>
          </a:p>
          <a:p>
            <a:r>
              <a:rPr lang="en-US" dirty="0"/>
              <a:t>No supplements have been found to treat lymphoma. But integrative medicine may help you cope with the stress of a cancer diagnosis and the side effects of cancer treatment.</a:t>
            </a:r>
          </a:p>
          <a:p>
            <a:r>
              <a:rPr lang="en-US" dirty="0"/>
              <a:t>Talk to your doctor about your options, such as:</a:t>
            </a:r>
          </a:p>
          <a:p>
            <a:r>
              <a:rPr lang="en-US" dirty="0"/>
              <a:t>Physical activity</a:t>
            </a:r>
          </a:p>
          <a:p>
            <a:r>
              <a:rPr lang="en-US" dirty="0"/>
              <a:t>Art therapy</a:t>
            </a:r>
          </a:p>
          <a:p>
            <a:r>
              <a:rPr lang="en-US" dirty="0"/>
              <a:t>Meditation</a:t>
            </a:r>
          </a:p>
          <a:p>
            <a:r>
              <a:rPr lang="en-US" dirty="0"/>
              <a:t>Music therapy</a:t>
            </a:r>
          </a:p>
          <a:p>
            <a:r>
              <a:rPr lang="en-US" dirty="0"/>
              <a:t>Relaxation exercises</a:t>
            </a:r>
          </a:p>
          <a:p>
            <a:r>
              <a:rPr lang="en-US" dirty="0"/>
              <a:t>Acupuncture</a:t>
            </a:r>
          </a:p>
          <a:p>
            <a:r>
              <a:rPr lang="en-US" dirty="0"/>
              <a:t>Massage</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933162098"/>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092891"/>
          </a:xfrm>
        </p:spPr>
        <p:txBody>
          <a:bodyPr/>
          <a:lstStyle/>
          <a:p>
            <a:r>
              <a:rPr lang="en-US" dirty="0" smtClean="0"/>
              <a:t>Same.</a:t>
            </a:r>
          </a:p>
          <a:p>
            <a:endParaRPr lang="en-US" dirty="0"/>
          </a:p>
          <a:p>
            <a:r>
              <a:rPr lang="en-US" dirty="0" smtClean="0"/>
              <a:t>Assignment: read and make notes on the difference between </a:t>
            </a:r>
            <a:r>
              <a:rPr lang="en-US" b="1" dirty="0" smtClean="0"/>
              <a:t>Hodgkin’s and non-</a:t>
            </a:r>
            <a:r>
              <a:rPr lang="en-US" b="1" dirty="0"/>
              <a:t>H</a:t>
            </a:r>
            <a:r>
              <a:rPr lang="en-US" b="1" dirty="0" smtClean="0"/>
              <a:t>odgkin’s lymphoma.</a:t>
            </a:r>
            <a:endParaRPr lang="en-US" dirty="0"/>
          </a:p>
        </p:txBody>
      </p:sp>
      <p:sp>
        <p:nvSpPr>
          <p:cNvPr id="3" name="Title 2"/>
          <p:cNvSpPr>
            <a:spLocks noGrp="1"/>
          </p:cNvSpPr>
          <p:nvPr>
            <p:ph type="title"/>
          </p:nvPr>
        </p:nvSpPr>
        <p:spPr/>
        <p:txBody>
          <a:bodyPr>
            <a:normAutofit fontScale="90000"/>
          </a:bodyPr>
          <a:lstStyle/>
          <a:p>
            <a:r>
              <a:rPr lang="en-US" b="0" dirty="0">
                <a:effectLst/>
              </a:rPr>
              <a:t>Coping and support</a:t>
            </a:r>
            <a:br>
              <a:rPr lang="en-US" b="0" dirty="0">
                <a:effectLst/>
              </a:rPr>
            </a:br>
            <a:endParaRPr lang="en-US" dirty="0"/>
          </a:p>
        </p:txBody>
      </p:sp>
    </p:spTree>
    <p:extLst>
      <p:ext uri="{BB962C8B-B14F-4D97-AF65-F5344CB8AC3E}">
        <p14:creationId xmlns:p14="http://schemas.microsoft.com/office/powerpoint/2010/main" val="655873679"/>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dirty="0" smtClean="0"/>
              <a:t>(</a:t>
            </a:r>
            <a:r>
              <a:rPr lang="en-US" dirty="0"/>
              <a:t>pol-e-</a:t>
            </a:r>
            <a:r>
              <a:rPr lang="en-US" dirty="0" err="1"/>
              <a:t>sy</a:t>
            </a:r>
            <a:r>
              <a:rPr lang="en-US" dirty="0"/>
              <a:t>-THEE-me-uh VEER-uh) is a slow-growing blood cancer in which your bone marrow makes too many red blood cells. These excess cells thicken your blood, slowing its flow. They also cause complications, such as blood clots, which can lead to a heart attack or stroke.</a:t>
            </a:r>
          </a:p>
          <a:p>
            <a:r>
              <a:rPr lang="en-US" dirty="0"/>
              <a:t>Polycythemia </a:t>
            </a:r>
            <a:r>
              <a:rPr lang="en-US" dirty="0" err="1"/>
              <a:t>vera</a:t>
            </a:r>
            <a:r>
              <a:rPr lang="en-US" dirty="0"/>
              <a:t> isn't common. It usually develops slowly, and you might have it for years without knowing. Often the condition is found during a blood test done for another reason.</a:t>
            </a:r>
          </a:p>
          <a:p>
            <a:endParaRPr lang="en-US" dirty="0"/>
          </a:p>
        </p:txBody>
      </p:sp>
      <p:sp>
        <p:nvSpPr>
          <p:cNvPr id="3" name="Title 2"/>
          <p:cNvSpPr>
            <a:spLocks noGrp="1"/>
          </p:cNvSpPr>
          <p:nvPr>
            <p:ph type="title"/>
          </p:nvPr>
        </p:nvSpPr>
        <p:spPr/>
        <p:txBody>
          <a:bodyPr/>
          <a:lstStyle/>
          <a:p>
            <a:r>
              <a:rPr lang="en-US" dirty="0"/>
              <a:t>Polycythemia </a:t>
            </a:r>
            <a:r>
              <a:rPr lang="en-US" dirty="0" err="1"/>
              <a:t>vera</a:t>
            </a:r>
            <a:endParaRPr lang="en-US" dirty="0"/>
          </a:p>
        </p:txBody>
      </p:sp>
    </p:spTree>
    <p:extLst>
      <p:ext uri="{BB962C8B-B14F-4D97-AF65-F5344CB8AC3E}">
        <p14:creationId xmlns:p14="http://schemas.microsoft.com/office/powerpoint/2010/main" val="31850100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Without treatment, polycythemia </a:t>
            </a:r>
            <a:r>
              <a:rPr lang="en-US" dirty="0" err="1"/>
              <a:t>vera</a:t>
            </a:r>
            <a:r>
              <a:rPr lang="en-US" dirty="0"/>
              <a:t> can be life-threatening. But proper medical care can help ease signs, symptoms and complications of this disease. Over time, in some cases there's a risk of progressing to more-serious blood cancers, such as </a:t>
            </a:r>
            <a:r>
              <a:rPr lang="en-US" dirty="0" err="1"/>
              <a:t>myelofibrosis</a:t>
            </a:r>
            <a:r>
              <a:rPr lang="en-US" dirty="0"/>
              <a:t> or acute leukemia.</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57614556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321491"/>
          </a:xfrm>
        </p:spPr>
        <p:txBody>
          <a:bodyPr>
            <a:normAutofit/>
          </a:bodyPr>
          <a:lstStyle/>
          <a:p>
            <a:r>
              <a:rPr lang="en-US" dirty="0" smtClean="0"/>
              <a:t>Many </a:t>
            </a:r>
            <a:r>
              <a:rPr lang="en-US" dirty="0"/>
              <a:t>people with polycythemia </a:t>
            </a:r>
            <a:r>
              <a:rPr lang="en-US" dirty="0" err="1"/>
              <a:t>vera</a:t>
            </a:r>
            <a:r>
              <a:rPr lang="en-US" dirty="0"/>
              <a:t> don't have signs or symptoms. Others might have:</a:t>
            </a:r>
          </a:p>
          <a:p>
            <a:r>
              <a:rPr lang="en-US" dirty="0"/>
              <a:t>Itchiness, especially following a warm bath or shower</a:t>
            </a:r>
          </a:p>
          <a:p>
            <a:r>
              <a:rPr lang="en-US" dirty="0"/>
              <a:t>Headache</a:t>
            </a:r>
          </a:p>
          <a:p>
            <a:r>
              <a:rPr lang="en-US" dirty="0"/>
              <a:t>Dizziness</a:t>
            </a:r>
          </a:p>
          <a:p>
            <a:r>
              <a:rPr lang="en-US" dirty="0"/>
              <a:t>Bleeding or bruising, usually minor</a:t>
            </a:r>
          </a:p>
          <a:p>
            <a:r>
              <a:rPr lang="en-US" dirty="0"/>
              <a:t>Weakness</a:t>
            </a:r>
          </a:p>
          <a:p>
            <a:r>
              <a:rPr lang="en-US" dirty="0"/>
              <a:t>Fatigue</a:t>
            </a:r>
          </a:p>
          <a:p>
            <a:r>
              <a:rPr lang="en-US" dirty="0"/>
              <a:t>Blurred vision</a:t>
            </a:r>
          </a:p>
          <a:p>
            <a:r>
              <a:rPr lang="en-US" dirty="0"/>
              <a:t>Excessive </a:t>
            </a:r>
            <a:r>
              <a:rPr lang="en-US" dirty="0" smtClean="0"/>
              <a:t>sweating</a:t>
            </a:r>
            <a:endParaRPr lang="en-US" dirty="0"/>
          </a:p>
        </p:txBody>
      </p:sp>
      <p:sp>
        <p:nvSpPr>
          <p:cNvPr id="3" name="Title 2"/>
          <p:cNvSpPr>
            <a:spLocks noGrp="1"/>
          </p:cNvSpPr>
          <p:nvPr>
            <p:ph type="title"/>
          </p:nvPr>
        </p:nvSpPr>
        <p:spPr>
          <a:xfrm>
            <a:off x="457200" y="457200"/>
            <a:ext cx="8229600" cy="152400"/>
          </a:xfrm>
        </p:spPr>
        <p:txBody>
          <a:bodyPr>
            <a:normAutofit fontScale="90000"/>
          </a:bodyPr>
          <a:lstStyle/>
          <a:p>
            <a:r>
              <a:rPr lang="en-US" dirty="0"/>
              <a:t>Symptoms</a:t>
            </a:r>
            <a:br>
              <a:rPr lang="en-US" dirty="0"/>
            </a:br>
            <a:endParaRPr lang="en-US" dirty="0"/>
          </a:p>
        </p:txBody>
      </p:sp>
    </p:spTree>
    <p:extLst>
      <p:ext uri="{BB962C8B-B14F-4D97-AF65-F5344CB8AC3E}">
        <p14:creationId xmlns:p14="http://schemas.microsoft.com/office/powerpoint/2010/main" val="2596950814"/>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Painful swelling of one joint, often the big toe</a:t>
            </a:r>
          </a:p>
          <a:p>
            <a:r>
              <a:rPr lang="en-US" dirty="0"/>
              <a:t>Shortness of breath</a:t>
            </a:r>
          </a:p>
          <a:p>
            <a:r>
              <a:rPr lang="en-US" dirty="0"/>
              <a:t>Numbness, tingling, burning or weakness in your hands, feet, arms or legs</a:t>
            </a:r>
          </a:p>
          <a:p>
            <a:r>
              <a:rPr lang="en-US" dirty="0"/>
              <a:t>A feeling of fullness or bloating in your left upper abdomen due to an enlarged spleen</a:t>
            </a:r>
          </a:p>
          <a:p>
            <a:r>
              <a:rPr lang="en-US" dirty="0"/>
              <a:t>Fevers</a:t>
            </a:r>
          </a:p>
          <a:p>
            <a:r>
              <a:rPr lang="en-US" dirty="0"/>
              <a:t>Unexplained weight loss</a:t>
            </a:r>
          </a:p>
          <a:p>
            <a:pPr marL="109728" indent="0">
              <a:buNone/>
            </a:pPr>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79340253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dirty="0"/>
              <a:t>Causes</a:t>
            </a:r>
          </a:p>
          <a:p>
            <a:r>
              <a:rPr lang="en-US" dirty="0"/>
              <a:t>Polycythemia </a:t>
            </a:r>
            <a:r>
              <a:rPr lang="en-US" dirty="0" err="1"/>
              <a:t>vera</a:t>
            </a:r>
            <a:r>
              <a:rPr lang="en-US" dirty="0"/>
              <a:t> is one of a group of blood cancers known as </a:t>
            </a:r>
            <a:r>
              <a:rPr lang="en-US" dirty="0" err="1"/>
              <a:t>myeloproliferative</a:t>
            </a:r>
            <a:r>
              <a:rPr lang="en-US" dirty="0"/>
              <a:t> neoplasms. It occurs when a mutation in a gene causes a problem with blood cell production. Normally, your body regulates the number of each of the three types of blood cells you have — red blood cells, white blood cells and platelets. But in polycythemia </a:t>
            </a:r>
            <a:r>
              <a:rPr lang="en-US" dirty="0" err="1"/>
              <a:t>vera</a:t>
            </a:r>
            <a:r>
              <a:rPr lang="en-US" dirty="0"/>
              <a:t>, your bone marrow makes too many of some blood cells.</a:t>
            </a:r>
          </a:p>
          <a:p>
            <a:r>
              <a:rPr lang="en-US" dirty="0" smtClean="0"/>
              <a:t>.</a:t>
            </a:r>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44100614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mutation that causes polycythemia </a:t>
            </a:r>
            <a:r>
              <a:rPr lang="en-US" dirty="0" err="1"/>
              <a:t>vera</a:t>
            </a:r>
            <a:r>
              <a:rPr lang="en-US" dirty="0"/>
              <a:t> is thought to affect a protein switch that tells the cells to grow. Specifically, it's a mutation in the protein Janus kinase 2 (JAK2). Most people with polycythemia </a:t>
            </a:r>
            <a:r>
              <a:rPr lang="en-US" dirty="0" err="1"/>
              <a:t>vera</a:t>
            </a:r>
            <a:r>
              <a:rPr lang="en-US" dirty="0"/>
              <a:t> have this mutation. The cause of the mutation isn't known, but it's generally not inherited</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62548434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Risk factors</a:t>
            </a:r>
          </a:p>
          <a:p>
            <a:r>
              <a:rPr lang="en-US" dirty="0"/>
              <a:t>Polycythemia </a:t>
            </a:r>
            <a:r>
              <a:rPr lang="en-US" dirty="0" err="1"/>
              <a:t>vera</a:t>
            </a:r>
            <a:r>
              <a:rPr lang="en-US" dirty="0"/>
              <a:t> can occur at any age, but it's more common in adults older than 60</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69285080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321491"/>
          </a:xfrm>
        </p:spPr>
        <p:txBody>
          <a:bodyPr>
            <a:normAutofit fontScale="92500" lnSpcReduction="20000"/>
          </a:bodyPr>
          <a:lstStyle/>
          <a:p>
            <a:r>
              <a:rPr lang="en-US" dirty="0" smtClean="0"/>
              <a:t>Possible </a:t>
            </a:r>
            <a:r>
              <a:rPr lang="en-US" dirty="0"/>
              <a:t>complications of polycythemia </a:t>
            </a:r>
            <a:r>
              <a:rPr lang="en-US" dirty="0" err="1"/>
              <a:t>vera</a:t>
            </a:r>
            <a:r>
              <a:rPr lang="en-US" dirty="0"/>
              <a:t> include:</a:t>
            </a:r>
          </a:p>
          <a:p>
            <a:r>
              <a:rPr lang="en-US" b="1" dirty="0"/>
              <a:t>Blood clots.</a:t>
            </a:r>
            <a:r>
              <a:rPr lang="en-US" dirty="0"/>
              <a:t> Increased blood thickness and decreased blood flow, as well as abnormalities in your platelets, increase your risk of blood clots. Blood clots can cause a stroke, a heart attack or a blockage of an artery in your lungs (pulmonary embolism) or in a vein deep within a muscle (deep vein thrombosis).</a:t>
            </a:r>
          </a:p>
          <a:p>
            <a:r>
              <a:rPr lang="en-US" b="1" dirty="0"/>
              <a:t>Enlarged spleen (splenomegaly).</a:t>
            </a:r>
            <a:r>
              <a:rPr lang="en-US" dirty="0"/>
              <a:t> Your spleen helps your body fight infection and filter unwanted material, such as old or damaged blood cells. The increased number of blood cells caused by polycythemia </a:t>
            </a:r>
            <a:r>
              <a:rPr lang="en-US" dirty="0" err="1"/>
              <a:t>vera</a:t>
            </a:r>
            <a:r>
              <a:rPr lang="en-US" dirty="0"/>
              <a:t> makes your spleen work harder than normal, which causes it to enlarge</a:t>
            </a:r>
            <a:r>
              <a:rPr lang="en-US" dirty="0" smtClean="0"/>
              <a:t>.</a:t>
            </a:r>
            <a:endParaRPr lang="en-US" dirty="0"/>
          </a:p>
        </p:txBody>
      </p:sp>
      <p:sp>
        <p:nvSpPr>
          <p:cNvPr id="3" name="Title 2"/>
          <p:cNvSpPr>
            <a:spLocks noGrp="1"/>
          </p:cNvSpPr>
          <p:nvPr>
            <p:ph type="title"/>
          </p:nvPr>
        </p:nvSpPr>
        <p:spPr>
          <a:xfrm>
            <a:off x="457200" y="274638"/>
            <a:ext cx="8229600" cy="487362"/>
          </a:xfrm>
        </p:spPr>
        <p:txBody>
          <a:bodyPr>
            <a:normAutofit fontScale="90000"/>
          </a:bodyPr>
          <a:lstStyle/>
          <a:p>
            <a:r>
              <a:rPr lang="en-US" dirty="0"/>
              <a:t>Complications</a:t>
            </a:r>
            <a:br>
              <a:rPr lang="en-US" dirty="0"/>
            </a:br>
            <a:endParaRPr lang="en-US" dirty="0"/>
          </a:p>
        </p:txBody>
      </p:sp>
    </p:spTree>
    <p:extLst>
      <p:ext uri="{BB962C8B-B14F-4D97-AF65-F5344CB8AC3E}">
        <p14:creationId xmlns:p14="http://schemas.microsoft.com/office/powerpoint/2010/main" val="244163260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b="1" dirty="0"/>
              <a:t>Problems due to high levels of red blood cells.</a:t>
            </a:r>
            <a:r>
              <a:rPr lang="en-US" dirty="0"/>
              <a:t> Too many red blood cells can lead to a number of other complications, including open sores on the inside lining of your stomach, upper small intestine or esophagus (peptic ulcers) and inflammation in your joints (gout).</a:t>
            </a:r>
          </a:p>
          <a:p>
            <a:r>
              <a:rPr lang="en-US" b="1" dirty="0"/>
              <a:t>Other blood disorders.</a:t>
            </a:r>
            <a:r>
              <a:rPr lang="en-US" dirty="0"/>
              <a:t> In rare cases, polycythemia </a:t>
            </a:r>
            <a:r>
              <a:rPr lang="en-US" dirty="0" err="1"/>
              <a:t>vera</a:t>
            </a:r>
            <a:r>
              <a:rPr lang="en-US" dirty="0"/>
              <a:t> can lead to other blood diseases, including a progressive disorder in which bone marrow is replaced with scar tissue (</a:t>
            </a:r>
            <a:r>
              <a:rPr lang="en-US" dirty="0" err="1"/>
              <a:t>myelofibrosis</a:t>
            </a:r>
            <a:r>
              <a:rPr lang="en-US" dirty="0"/>
              <a:t>), a condition in which stem cells don't mature or function properly (</a:t>
            </a:r>
            <a:r>
              <a:rPr lang="en-US" dirty="0" err="1"/>
              <a:t>myelodysplastic</a:t>
            </a:r>
            <a:r>
              <a:rPr lang="en-US" dirty="0"/>
              <a:t> syndrome), or cancer of the blood and bone marrow (acute leukemia).</a:t>
            </a:r>
          </a:p>
          <a:p>
            <a:endParaRPr lang="en-US" dirty="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964308978"/>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245291"/>
          </a:xfrm>
        </p:spPr>
        <p:txBody>
          <a:bodyPr>
            <a:normAutofit fontScale="85000" lnSpcReduction="10000"/>
          </a:bodyPr>
          <a:lstStyle/>
          <a:p>
            <a:r>
              <a:rPr lang="en-US" dirty="0" smtClean="0"/>
              <a:t>Your </a:t>
            </a:r>
            <a:r>
              <a:rPr lang="en-US" dirty="0"/>
              <a:t>doctor will take a detailed medical history and perform a physical exam.</a:t>
            </a:r>
          </a:p>
          <a:p>
            <a:r>
              <a:rPr lang="en-US" b="1" dirty="0"/>
              <a:t>Blood tests</a:t>
            </a:r>
          </a:p>
          <a:p>
            <a:r>
              <a:rPr lang="en-US" dirty="0"/>
              <a:t>If you have polycythemia </a:t>
            </a:r>
            <a:r>
              <a:rPr lang="en-US" dirty="0" err="1"/>
              <a:t>vera</a:t>
            </a:r>
            <a:r>
              <a:rPr lang="en-US" dirty="0"/>
              <a:t>, blood tests might reveal:</a:t>
            </a:r>
          </a:p>
          <a:p>
            <a:r>
              <a:rPr lang="en-US" b="1" dirty="0"/>
              <a:t>An increase in the number of red blood cells</a:t>
            </a:r>
            <a:r>
              <a:rPr lang="en-US" dirty="0"/>
              <a:t> and, in some cases, an increase in platelets or white blood cells</a:t>
            </a:r>
          </a:p>
          <a:p>
            <a:r>
              <a:rPr lang="en-US" b="1" dirty="0"/>
              <a:t>Increased percentage of red blood cells</a:t>
            </a:r>
            <a:r>
              <a:rPr lang="en-US" dirty="0"/>
              <a:t> that make up total blood volume (hematocrit measurement)</a:t>
            </a:r>
          </a:p>
          <a:p>
            <a:r>
              <a:rPr lang="en-US" b="1" dirty="0"/>
              <a:t>Elevated levels of</a:t>
            </a:r>
            <a:r>
              <a:rPr lang="en-US" dirty="0"/>
              <a:t> the iron-rich protein in red blood cells that carries oxygen (hemoglobin).</a:t>
            </a:r>
          </a:p>
          <a:p>
            <a:r>
              <a:rPr lang="en-US" b="1" dirty="0"/>
              <a:t>Very low levels of</a:t>
            </a:r>
            <a:r>
              <a:rPr lang="en-US" dirty="0"/>
              <a:t> a hormone that stimulates bone marrow to produce new red blood cells (erythropoietin)</a:t>
            </a:r>
          </a:p>
          <a:p>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r>
              <a:rPr lang="en-US" dirty="0"/>
              <a:t>Diagnosis</a:t>
            </a:r>
            <a:br>
              <a:rPr lang="en-US" dirty="0"/>
            </a:br>
            <a:endParaRPr lang="en-US" dirty="0"/>
          </a:p>
        </p:txBody>
      </p:sp>
    </p:spTree>
    <p:extLst>
      <p:ext uri="{BB962C8B-B14F-4D97-AF65-F5344CB8AC3E}">
        <p14:creationId xmlns:p14="http://schemas.microsoft.com/office/powerpoint/2010/main" val="4057342426"/>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b="1" dirty="0"/>
              <a:t>Bone marrow aspiration or biopsy</a:t>
            </a:r>
          </a:p>
          <a:p>
            <a:r>
              <a:rPr lang="en-US" b="1" dirty="0"/>
              <a:t>Bone marrow biopsy</a:t>
            </a:r>
          </a:p>
          <a:p>
            <a:r>
              <a:rPr lang="en-US" dirty="0" smtClean="0"/>
              <a:t>If </a:t>
            </a:r>
            <a:r>
              <a:rPr lang="en-US" dirty="0"/>
              <a:t>your doctor suspects you have polycythemia </a:t>
            </a:r>
            <a:r>
              <a:rPr lang="en-US" dirty="0" err="1"/>
              <a:t>vera</a:t>
            </a:r>
            <a:r>
              <a:rPr lang="en-US" dirty="0"/>
              <a:t>, he or she might recommend a bone marrow aspiration or biopsy to collect a sample of your bone marrow for study. A bone marrow biopsy involves taking a sample of solid bone marrow material.</a:t>
            </a:r>
          </a:p>
          <a:p>
            <a:r>
              <a:rPr lang="en-US" b="1" dirty="0"/>
              <a:t>A bone marrow aspiration </a:t>
            </a:r>
            <a:r>
              <a:rPr lang="en-US" dirty="0"/>
              <a:t>is usually done at the same time. During an aspiration, your doctor withdraws a sample of the liquid portion of your marrow.</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65547533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Tests for the gene mutation that causes polycythemia </a:t>
            </a:r>
            <a:r>
              <a:rPr lang="en-US" b="1" dirty="0" err="1"/>
              <a:t>vera</a:t>
            </a:r>
            <a:endParaRPr lang="en-US" b="1" dirty="0"/>
          </a:p>
          <a:p>
            <a:r>
              <a:rPr lang="en-US" dirty="0"/>
              <a:t>If you have polycythemia </a:t>
            </a:r>
            <a:r>
              <a:rPr lang="en-US" dirty="0" err="1"/>
              <a:t>vera</a:t>
            </a:r>
            <a:r>
              <a:rPr lang="en-US" dirty="0"/>
              <a:t>, analysis of your bone marrow or blood also might show the JAK2 mutation in the cells that's associated with the </a:t>
            </a:r>
            <a:r>
              <a:rPr lang="en-US" dirty="0" smtClean="0"/>
              <a:t>disease.</a:t>
            </a:r>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79264296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5016691"/>
          </a:xfrm>
        </p:spPr>
        <p:txBody>
          <a:bodyPr>
            <a:normAutofit fontScale="85000" lnSpcReduction="10000"/>
          </a:bodyPr>
          <a:lstStyle/>
          <a:p>
            <a:r>
              <a:rPr lang="en-US" dirty="0" smtClean="0"/>
              <a:t>Polycythemia </a:t>
            </a:r>
            <a:r>
              <a:rPr lang="en-US" dirty="0" err="1"/>
              <a:t>vera</a:t>
            </a:r>
            <a:r>
              <a:rPr lang="en-US" dirty="0"/>
              <a:t> is a chronic condition that can't be cured. Treatment focuses on reducing your amount of blood cells. In many cases, treatment can reduce the risk of complications from polycythemia </a:t>
            </a:r>
            <a:r>
              <a:rPr lang="en-US" dirty="0" err="1"/>
              <a:t>vera</a:t>
            </a:r>
            <a:r>
              <a:rPr lang="en-US" dirty="0"/>
              <a:t> and ease signs and symptoms.</a:t>
            </a:r>
          </a:p>
          <a:p>
            <a:r>
              <a:rPr lang="en-US" dirty="0"/>
              <a:t>Treatment might include:</a:t>
            </a:r>
          </a:p>
          <a:p>
            <a:r>
              <a:rPr lang="en-US" b="1" dirty="0"/>
              <a:t>Taking blood out of your veins.</a:t>
            </a:r>
            <a:r>
              <a:rPr lang="en-US" dirty="0"/>
              <a:t> Drawing some blood out of your veins in a procedure called phlebotomy is usually the first treatment option for people with polycythemia </a:t>
            </a:r>
            <a:r>
              <a:rPr lang="en-US" dirty="0" err="1"/>
              <a:t>vera</a:t>
            </a:r>
            <a:r>
              <a:rPr lang="en-US" dirty="0"/>
              <a:t>. This reduces the number of blood cells and decreases your blood volume, making it easier for your blood to function. How often you need phlebotomy depends on the severity of your condition.</a:t>
            </a:r>
          </a:p>
          <a:p>
            <a:r>
              <a:rPr lang="en-US" dirty="0" smtClean="0"/>
              <a:t>.</a:t>
            </a:r>
            <a:endParaRPr lang="en-US" dirty="0"/>
          </a:p>
          <a:p>
            <a:endParaRPr lang="en-US" dirty="0"/>
          </a:p>
        </p:txBody>
      </p:sp>
      <p:sp>
        <p:nvSpPr>
          <p:cNvPr id="3" name="Title 2"/>
          <p:cNvSpPr>
            <a:spLocks noGrp="1"/>
          </p:cNvSpPr>
          <p:nvPr>
            <p:ph type="title"/>
          </p:nvPr>
        </p:nvSpPr>
        <p:spPr/>
        <p:txBody>
          <a:bodyPr>
            <a:normAutofit fontScale="90000"/>
          </a:bodyPr>
          <a:lstStyle/>
          <a:p>
            <a:r>
              <a:rPr lang="en-US" dirty="0"/>
              <a:t>Treatment</a:t>
            </a:r>
            <a:br>
              <a:rPr lang="en-US" dirty="0"/>
            </a:br>
            <a:endParaRPr lang="en-US" dirty="0"/>
          </a:p>
        </p:txBody>
      </p:sp>
    </p:spTree>
    <p:extLst>
      <p:ext uri="{BB962C8B-B14F-4D97-AF65-F5344CB8AC3E}">
        <p14:creationId xmlns:p14="http://schemas.microsoft.com/office/powerpoint/2010/main" val="239188163"/>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481328"/>
            <a:ext cx="8839200" cy="4525963"/>
          </a:xfrm>
        </p:spPr>
        <p:txBody>
          <a:bodyPr>
            <a:normAutofit lnSpcReduction="10000"/>
          </a:bodyPr>
          <a:lstStyle/>
          <a:p>
            <a:r>
              <a:rPr lang="en-US" b="1" dirty="0"/>
              <a:t>Low-dose aspirin.</a:t>
            </a:r>
            <a:r>
              <a:rPr lang="en-US" dirty="0"/>
              <a:t> Your doctor may recommend that you take a low dose of aspirin to reduce your risk of blood clots. Low-dose aspirin may also help reduce burning pain in your feet or hands</a:t>
            </a:r>
            <a:r>
              <a:rPr lang="en-US" dirty="0" smtClean="0"/>
              <a:t>.</a:t>
            </a:r>
          </a:p>
          <a:p>
            <a:endParaRPr lang="en-US" dirty="0"/>
          </a:p>
          <a:p>
            <a:r>
              <a:rPr lang="en-US" b="1" dirty="0"/>
              <a:t>Medication to decrease blood cells.</a:t>
            </a:r>
            <a:r>
              <a:rPr lang="en-US" dirty="0"/>
              <a:t> For people with polycythemia </a:t>
            </a:r>
            <a:r>
              <a:rPr lang="en-US" dirty="0" err="1"/>
              <a:t>vera</a:t>
            </a:r>
            <a:r>
              <a:rPr lang="en-US" dirty="0"/>
              <a:t> who aren't helped by phlebotomy alone, medications, such as </a:t>
            </a:r>
            <a:r>
              <a:rPr lang="en-US" dirty="0" err="1"/>
              <a:t>hydroxyurea</a:t>
            </a:r>
            <a:r>
              <a:rPr lang="en-US" dirty="0"/>
              <a:t> (</a:t>
            </a:r>
            <a:r>
              <a:rPr lang="en-US" dirty="0" err="1"/>
              <a:t>Droxia</a:t>
            </a:r>
            <a:r>
              <a:rPr lang="en-US" dirty="0"/>
              <a:t>, </a:t>
            </a:r>
            <a:r>
              <a:rPr lang="en-US" dirty="0" err="1"/>
              <a:t>Hydrea</a:t>
            </a:r>
            <a:r>
              <a:rPr lang="en-US" dirty="0"/>
              <a:t>), to suppress your bone marrow's ability to produce blood cells might be used</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1316537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b="1" dirty="0"/>
              <a:t>Medication to destroy cancer cells.</a:t>
            </a:r>
            <a:r>
              <a:rPr lang="en-US" dirty="0"/>
              <a:t> </a:t>
            </a:r>
            <a:r>
              <a:rPr lang="en-US" dirty="0" err="1"/>
              <a:t>Ruxolitinib</a:t>
            </a:r>
            <a:r>
              <a:rPr lang="en-US" dirty="0"/>
              <a:t> (</a:t>
            </a:r>
            <a:r>
              <a:rPr lang="en-US" dirty="0" err="1"/>
              <a:t>Jakafi</a:t>
            </a:r>
            <a:r>
              <a:rPr lang="en-US" dirty="0"/>
              <a:t>) is approved by the Food and Drug Administration to treat people with polycythemia </a:t>
            </a:r>
            <a:r>
              <a:rPr lang="en-US" dirty="0" err="1"/>
              <a:t>vera</a:t>
            </a:r>
            <a:r>
              <a:rPr lang="en-US" dirty="0"/>
              <a:t> who don't respond to or can't take </a:t>
            </a:r>
            <a:r>
              <a:rPr lang="en-US" dirty="0" err="1"/>
              <a:t>hydroxyurea</a:t>
            </a:r>
            <a:r>
              <a:rPr lang="en-US" dirty="0"/>
              <a:t>. It helps your immune system destroy cancer cells, and can improve some polycythemia </a:t>
            </a:r>
            <a:r>
              <a:rPr lang="en-US" dirty="0" err="1"/>
              <a:t>vera</a:t>
            </a:r>
            <a:r>
              <a:rPr lang="en-US" dirty="0"/>
              <a:t> symptoms.</a:t>
            </a:r>
          </a:p>
          <a:p>
            <a:r>
              <a:rPr lang="en-US" b="1" dirty="0"/>
              <a:t>Therapy to reduce itching.</a:t>
            </a:r>
            <a:r>
              <a:rPr lang="en-US" dirty="0"/>
              <a:t> If you have bothersome itching, your doctor may prescribe medication, such as antihistamines, or recommend ultraviolet light treatment to relieve your discomfort.</a:t>
            </a:r>
          </a:p>
          <a:p>
            <a:r>
              <a:rPr lang="en-US" dirty="0"/>
              <a:t>Medications that are normally used to treat depression, called selective serotonin reuptake inhibitors (SSRIs), helped relieve itching in clinical trials. Examples of SSRIs include paroxetine (Paxil) or fluoxetine (Prozac).</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79356168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245291"/>
          </a:xfrm>
        </p:spPr>
        <p:txBody>
          <a:bodyPr>
            <a:normAutofit fontScale="77500" lnSpcReduction="20000"/>
          </a:bodyPr>
          <a:lstStyle/>
          <a:p>
            <a:r>
              <a:rPr lang="en-US" dirty="0" smtClean="0"/>
              <a:t>You </a:t>
            </a:r>
            <a:r>
              <a:rPr lang="en-US" dirty="0"/>
              <a:t>can take steps to help yourself feel better if you've been diagnosed with polycythemia </a:t>
            </a:r>
            <a:r>
              <a:rPr lang="en-US" dirty="0" err="1"/>
              <a:t>vera</a:t>
            </a:r>
            <a:r>
              <a:rPr lang="en-US" dirty="0"/>
              <a:t>. Try to:</a:t>
            </a:r>
          </a:p>
          <a:p>
            <a:r>
              <a:rPr lang="en-US" b="1" dirty="0"/>
              <a:t>Exercise.</a:t>
            </a:r>
            <a:r>
              <a:rPr lang="en-US" dirty="0"/>
              <a:t> Moderate exercise, such as walking, can improve your blood flow, which decreases your risk of blood clots. Leg and ankle stretches and exercises also can improve your blood circulation.</a:t>
            </a:r>
          </a:p>
          <a:p>
            <a:r>
              <a:rPr lang="en-US" b="1" dirty="0"/>
              <a:t>Avoid tobacco.</a:t>
            </a:r>
            <a:r>
              <a:rPr lang="en-US" dirty="0"/>
              <a:t> Using tobacco can cause your blood vessels to narrow, increasing the risk of heart attack or stroke due to blood clots.</a:t>
            </a:r>
          </a:p>
          <a:p>
            <a:r>
              <a:rPr lang="en-US" b="1" dirty="0"/>
              <a:t>Be good to your skin.</a:t>
            </a:r>
            <a:r>
              <a:rPr lang="en-US" dirty="0"/>
              <a:t> To reduce itching, bathe in cool water, use a gentle cleanser and pat your skin dry. Adding starch, such as cornstarch, to your bath might help. Avoid hot tubs, heated whirlpools, and hot showers or baths.</a:t>
            </a:r>
          </a:p>
          <a:p>
            <a:r>
              <a:rPr lang="en-US" dirty="0"/>
              <a:t>Try not to scratch, as it can damage your skin and increase the risk of infection. Use lotion to keep your skin moist.</a:t>
            </a:r>
          </a:p>
          <a:p>
            <a:r>
              <a:rPr lang="en-US" dirty="0" smtClean="0"/>
              <a:t>.</a:t>
            </a:r>
          </a:p>
          <a:p>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r>
              <a:rPr lang="en-US" dirty="0"/>
              <a:t>Lifestyle and home remedies</a:t>
            </a:r>
            <a:br>
              <a:rPr lang="en-US" dirty="0"/>
            </a:br>
            <a:endParaRPr lang="en-US" dirty="0"/>
          </a:p>
        </p:txBody>
      </p:sp>
    </p:spTree>
    <p:extLst>
      <p:ext uri="{BB962C8B-B14F-4D97-AF65-F5344CB8AC3E}">
        <p14:creationId xmlns:p14="http://schemas.microsoft.com/office/powerpoint/2010/main" val="4242554879"/>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b="1" dirty="0"/>
              <a:t>Avoid extreme temperatures.</a:t>
            </a:r>
            <a:r>
              <a:rPr lang="en-US" dirty="0"/>
              <a:t> Poor blood flow increases your risk of injury from hot and cold temperatures. In cold weather, always wear warm clothing, particularly on your hands and feet. In hot weather, protect yourself from the sun and drink plenty of liquids.</a:t>
            </a:r>
          </a:p>
          <a:p>
            <a:r>
              <a:rPr lang="en-US" b="1" dirty="0"/>
              <a:t>Watch for sores.</a:t>
            </a:r>
            <a:r>
              <a:rPr lang="en-US" dirty="0"/>
              <a:t> Poor circulation can make it difficult for sores to heal, particularly on your hands and feet. Inspect your feet regularly and tell your doctor about any sores</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959673211"/>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143000"/>
            <a:ext cx="8839200" cy="4864291"/>
          </a:xfrm>
        </p:spPr>
        <p:txBody>
          <a:bodyPr/>
          <a:lstStyle/>
          <a:p>
            <a:r>
              <a:rPr lang="en-US" b="1" dirty="0"/>
              <a:t>What is </a:t>
            </a:r>
            <a:r>
              <a:rPr lang="en-US" b="1" dirty="0" err="1"/>
              <a:t>agranulocytosis</a:t>
            </a:r>
            <a:endParaRPr lang="en-US" b="1" dirty="0"/>
          </a:p>
          <a:p>
            <a:r>
              <a:rPr lang="en-US" dirty="0"/>
              <a:t>Granulocytes, also known as neutrophils, are white blood cells that make up part of a person’s immune system. These cells contain enzymes that can kill bacteria and other organisms and break down substances that may harm the body. Without granulocytes, a person has a higher risk of developing frequent or chronic (long-term) infections.</a:t>
            </a:r>
          </a:p>
        </p:txBody>
      </p:sp>
      <p:sp>
        <p:nvSpPr>
          <p:cNvPr id="3" name="Title 2"/>
          <p:cNvSpPr>
            <a:spLocks noGrp="1"/>
          </p:cNvSpPr>
          <p:nvPr>
            <p:ph type="title"/>
          </p:nvPr>
        </p:nvSpPr>
        <p:spPr/>
        <p:txBody>
          <a:bodyPr>
            <a:normAutofit fontScale="90000"/>
          </a:bodyPr>
          <a:lstStyle/>
          <a:p>
            <a:r>
              <a:rPr lang="en-US" dirty="0" smtClean="0"/>
              <a:t>Infection related blood conditions </a:t>
            </a:r>
            <a:endParaRPr lang="en-US" dirty="0"/>
          </a:p>
        </p:txBody>
      </p:sp>
    </p:spTree>
    <p:extLst>
      <p:ext uri="{BB962C8B-B14F-4D97-AF65-F5344CB8AC3E}">
        <p14:creationId xmlns:p14="http://schemas.microsoft.com/office/powerpoint/2010/main" val="238459302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762000"/>
            <a:ext cx="8763000" cy="6096000"/>
          </a:xfrm>
        </p:spPr>
        <p:txBody>
          <a:bodyPr>
            <a:normAutofit fontScale="92500" lnSpcReduction="10000"/>
          </a:bodyPr>
          <a:lstStyle/>
          <a:p>
            <a:r>
              <a:rPr lang="en-US" dirty="0" err="1"/>
              <a:t>Agranulocytosis</a:t>
            </a:r>
            <a:r>
              <a:rPr lang="en-US" dirty="0"/>
              <a:t> (lack of granulocytes) is a condition in which the absolute neutrophil count (ANC) is less than 100 neutrophils per microliter of blood. Normally, there are at least 1500 neutrophils per microliter of blood</a:t>
            </a:r>
            <a:r>
              <a:rPr lang="en-US" dirty="0" smtClean="0"/>
              <a:t>.</a:t>
            </a:r>
          </a:p>
          <a:p>
            <a:r>
              <a:rPr lang="en-US" dirty="0"/>
              <a:t>For granulocyte (neutrophil) counts between 100 and 1500 per microliter of blood, the term “</a:t>
            </a:r>
            <a:r>
              <a:rPr lang="en-US" dirty="0" err="1"/>
              <a:t>granulocytopenia</a:t>
            </a:r>
            <a:r>
              <a:rPr lang="en-US" dirty="0"/>
              <a:t>” or “neutropenia” is used. This means that too few neutrophils are present. The lower the neutrophil count and the longer it remains low, the greater the risk of developing a dangerous infection.</a:t>
            </a:r>
          </a:p>
          <a:p>
            <a:r>
              <a:rPr lang="en-US" dirty="0" err="1"/>
              <a:t>Agranulocytosis</a:t>
            </a:r>
            <a:r>
              <a:rPr lang="en-US" dirty="0"/>
              <a:t> is very serious and can be life-threatening. If it is not treated, it can lead to death, most commonly through septicemia (bacterial infection of the blood).</a:t>
            </a:r>
          </a:p>
          <a:p>
            <a:endParaRPr lang="en-US" dirty="0"/>
          </a:p>
        </p:txBody>
      </p:sp>
    </p:spTree>
    <p:extLst>
      <p:ext uri="{BB962C8B-B14F-4D97-AF65-F5344CB8AC3E}">
        <p14:creationId xmlns:p14="http://schemas.microsoft.com/office/powerpoint/2010/main" val="1626047261"/>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321491"/>
          </a:xfrm>
        </p:spPr>
        <p:txBody>
          <a:bodyPr/>
          <a:lstStyle/>
          <a:p>
            <a:r>
              <a:rPr lang="en-US" dirty="0" err="1"/>
              <a:t>Agranulocytosis</a:t>
            </a:r>
            <a:r>
              <a:rPr lang="en-US" dirty="0"/>
              <a:t> may be acquired or inherited. In the acquired form, either the bone marrow cannot produce enough stem cells that mature into granulocytes, or granulocytes are destroyed more quickly than they can be replaced. Usually, other cell types, such as red cells or platelets, are affected, also.</a:t>
            </a:r>
          </a:p>
          <a:p>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r>
              <a:rPr lang="en-US" dirty="0">
                <a:effectLst/>
              </a:rPr>
              <a:t>What causes </a:t>
            </a:r>
            <a:r>
              <a:rPr lang="en-US" dirty="0" err="1">
                <a:effectLst/>
              </a:rPr>
              <a:t>agranulocytosis</a:t>
            </a:r>
            <a:r>
              <a:rPr lang="en-US" dirty="0">
                <a:effectLst/>
              </a:rPr>
              <a:t>?</a:t>
            </a:r>
            <a:br>
              <a:rPr lang="en-US" dirty="0">
                <a:effectLst/>
              </a:rPr>
            </a:br>
            <a:endParaRPr lang="en-US" dirty="0"/>
          </a:p>
        </p:txBody>
      </p:sp>
    </p:spTree>
    <p:extLst>
      <p:ext uri="{BB962C8B-B14F-4D97-AF65-F5344CB8AC3E}">
        <p14:creationId xmlns:p14="http://schemas.microsoft.com/office/powerpoint/2010/main" val="2646072749"/>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609600"/>
            <a:ext cx="8991600" cy="6096000"/>
          </a:xfrm>
        </p:spPr>
        <p:txBody>
          <a:bodyPr>
            <a:normAutofit fontScale="92500" lnSpcReduction="20000"/>
          </a:bodyPr>
          <a:lstStyle/>
          <a:p>
            <a:r>
              <a:rPr lang="en-US" dirty="0"/>
              <a:t>There are many different causes of acquired </a:t>
            </a:r>
            <a:r>
              <a:rPr lang="en-US" dirty="0" err="1" smtClean="0"/>
              <a:t>agranulocytosis</a:t>
            </a:r>
            <a:r>
              <a:rPr lang="en-US" dirty="0" smtClean="0"/>
              <a:t>.</a:t>
            </a:r>
            <a:r>
              <a:rPr lang="en-US" dirty="0"/>
              <a:t> These include:</a:t>
            </a:r>
          </a:p>
          <a:p>
            <a:endParaRPr lang="en-US" dirty="0"/>
          </a:p>
          <a:p>
            <a:r>
              <a:rPr lang="en-US" dirty="0" smtClean="0"/>
              <a:t>Chemotherapy </a:t>
            </a:r>
            <a:r>
              <a:rPr lang="en-US" dirty="0"/>
              <a:t>to treat cancer.</a:t>
            </a:r>
          </a:p>
          <a:p>
            <a:r>
              <a:rPr lang="en-US" dirty="0"/>
              <a:t>The use of some prescription drugs, particularly certain antibiotics, and anti-thyroid and anti-psychotic medications.</a:t>
            </a:r>
          </a:p>
          <a:p>
            <a:r>
              <a:rPr lang="en-US" dirty="0"/>
              <a:t>Exposure to toxic substances, such as arsenic or mercury.</a:t>
            </a:r>
          </a:p>
          <a:p>
            <a:r>
              <a:rPr lang="en-US" dirty="0"/>
              <a:t>Bone marrow failure disorders such as aplastic anemia.</a:t>
            </a:r>
          </a:p>
          <a:p>
            <a:r>
              <a:rPr lang="en-US" dirty="0"/>
              <a:t>Other medical conditions, such as tumors or some autoimmune diseases.</a:t>
            </a:r>
          </a:p>
          <a:p>
            <a:r>
              <a:rPr lang="en-US" dirty="0"/>
              <a:t>The congenital (present at birth) form of </a:t>
            </a:r>
            <a:r>
              <a:rPr lang="en-US" dirty="0" err="1"/>
              <a:t>agranulocytosis</a:t>
            </a:r>
            <a:r>
              <a:rPr lang="en-US" dirty="0"/>
              <a:t> is caused by a genetic (inherited) abnormality. Infantile genetic </a:t>
            </a:r>
            <a:r>
              <a:rPr lang="en-US" dirty="0" err="1"/>
              <a:t>agranulocytosis</a:t>
            </a:r>
            <a:r>
              <a:rPr lang="en-US" dirty="0"/>
              <a:t> (</a:t>
            </a:r>
            <a:r>
              <a:rPr lang="en-US" dirty="0" err="1"/>
              <a:t>Kostmann</a:t>
            </a:r>
            <a:r>
              <a:rPr lang="en-US" dirty="0"/>
              <a:t> disease) is a rare form of the inherited disease that is present in newborns.</a:t>
            </a:r>
          </a:p>
          <a:p>
            <a:endParaRPr lang="en-US" dirty="0"/>
          </a:p>
        </p:txBody>
      </p:sp>
    </p:spTree>
    <p:extLst>
      <p:ext uri="{BB962C8B-B14F-4D97-AF65-F5344CB8AC3E}">
        <p14:creationId xmlns:p14="http://schemas.microsoft.com/office/powerpoint/2010/main" val="1536591050"/>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Symptoms of </a:t>
            </a:r>
            <a:r>
              <a:rPr lang="en-US" dirty="0" err="1"/>
              <a:t>agranulocytosis</a:t>
            </a:r>
            <a:r>
              <a:rPr lang="en-US" dirty="0"/>
              <a:t> may include:</a:t>
            </a:r>
          </a:p>
          <a:p>
            <a:r>
              <a:rPr lang="en-US" dirty="0"/>
              <a:t>Sores in the mouth, throat, or gastrointestinal tract.</a:t>
            </a:r>
          </a:p>
          <a:p>
            <a:r>
              <a:rPr lang="en-US" dirty="0"/>
              <a:t>Chronic infections of the gums, throat, or skin.</a:t>
            </a:r>
          </a:p>
          <a:p>
            <a:r>
              <a:rPr lang="en-US" dirty="0"/>
              <a:t>Fever.</a:t>
            </a:r>
          </a:p>
          <a:p>
            <a:r>
              <a:rPr lang="en-US" dirty="0"/>
              <a:t>Chills.</a:t>
            </a:r>
          </a:p>
          <a:p>
            <a:r>
              <a:rPr lang="en-US" dirty="0"/>
              <a:t>A life-threatening drop in blood pressure, which may cause weakness or lightheadedness.</a:t>
            </a:r>
          </a:p>
          <a:p>
            <a:endParaRPr lang="en-US" dirty="0"/>
          </a:p>
        </p:txBody>
      </p:sp>
      <p:sp>
        <p:nvSpPr>
          <p:cNvPr id="3" name="Title 2"/>
          <p:cNvSpPr>
            <a:spLocks noGrp="1"/>
          </p:cNvSpPr>
          <p:nvPr>
            <p:ph type="title"/>
          </p:nvPr>
        </p:nvSpPr>
        <p:spPr/>
        <p:txBody>
          <a:bodyPr>
            <a:normAutofit fontScale="90000"/>
          </a:bodyPr>
          <a:lstStyle/>
          <a:p>
            <a:r>
              <a:rPr lang="en-US" dirty="0">
                <a:effectLst/>
              </a:rPr>
              <a:t>What are the symptoms of </a:t>
            </a:r>
            <a:r>
              <a:rPr lang="en-US" dirty="0" err="1">
                <a:effectLst/>
              </a:rPr>
              <a:t>agranulocytosis</a:t>
            </a:r>
            <a:r>
              <a:rPr lang="en-US" dirty="0">
                <a:effectLst/>
              </a:rPr>
              <a:t>?</a:t>
            </a:r>
            <a:br>
              <a:rPr lang="en-US" dirty="0">
                <a:effectLst/>
              </a:rPr>
            </a:br>
            <a:endParaRPr lang="en-US" dirty="0"/>
          </a:p>
        </p:txBody>
      </p:sp>
    </p:spTree>
    <p:extLst>
      <p:ext uri="{BB962C8B-B14F-4D97-AF65-F5344CB8AC3E}">
        <p14:creationId xmlns:p14="http://schemas.microsoft.com/office/powerpoint/2010/main" val="2107050782"/>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4940491"/>
          </a:xfrm>
        </p:spPr>
        <p:txBody>
          <a:bodyPr>
            <a:normAutofit fontScale="92500"/>
          </a:bodyPr>
          <a:lstStyle/>
          <a:p>
            <a:r>
              <a:rPr lang="en-US" dirty="0"/>
              <a:t>Your doctor will ask about your medical history and general health, and will perform a physical examination. The doctor is likely to order a complete blood count (CBC) to determine the level of granulocytes in your blood.</a:t>
            </a:r>
          </a:p>
          <a:p>
            <a:r>
              <a:rPr lang="en-US" dirty="0"/>
              <a:t>If the results of the CBC are abnormal or not clear, a bone marrow biopsy might be recommended. During the biopsy, a small amount of bone marrow is removed from the hip bone with a needle. The doctor might order a genetic test if he or she suspects the inherited form.</a:t>
            </a:r>
          </a:p>
          <a:p>
            <a:endParaRPr lang="en-US" dirty="0"/>
          </a:p>
        </p:txBody>
      </p:sp>
      <p:sp>
        <p:nvSpPr>
          <p:cNvPr id="3" name="Title 2"/>
          <p:cNvSpPr>
            <a:spLocks noGrp="1"/>
          </p:cNvSpPr>
          <p:nvPr>
            <p:ph type="title"/>
          </p:nvPr>
        </p:nvSpPr>
        <p:spPr/>
        <p:txBody>
          <a:bodyPr>
            <a:normAutofit fontScale="90000"/>
          </a:bodyPr>
          <a:lstStyle/>
          <a:p>
            <a:r>
              <a:rPr lang="en-US" dirty="0">
                <a:effectLst/>
              </a:rPr>
              <a:t>How is </a:t>
            </a:r>
            <a:r>
              <a:rPr lang="en-US" dirty="0" err="1">
                <a:effectLst/>
              </a:rPr>
              <a:t>agranulocytosis</a:t>
            </a:r>
            <a:r>
              <a:rPr lang="en-US" dirty="0">
                <a:effectLst/>
              </a:rPr>
              <a:t> diagnosed</a:t>
            </a:r>
            <a:br>
              <a:rPr lang="en-US" dirty="0">
                <a:effectLst/>
              </a:rPr>
            </a:br>
            <a:endParaRPr lang="en-US" dirty="0"/>
          </a:p>
        </p:txBody>
      </p:sp>
    </p:spTree>
    <p:extLst>
      <p:ext uri="{BB962C8B-B14F-4D97-AF65-F5344CB8AC3E}">
        <p14:creationId xmlns:p14="http://schemas.microsoft.com/office/powerpoint/2010/main" val="1067261163"/>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305800" cy="5410200"/>
          </a:xfrm>
        </p:spPr>
        <p:txBody>
          <a:bodyPr/>
          <a:lstStyle/>
          <a:p>
            <a:r>
              <a:rPr lang="en-US" b="1" dirty="0"/>
              <a:t>Stopping a medication that is believed to cause the disease</a:t>
            </a:r>
            <a:r>
              <a:rPr lang="en-US" dirty="0"/>
              <a:t>: The doctor may tell you to stop taking the drug for a while to see if you improve. Recovery usually occurs within 10 to 14 days. A different medication may be substituted for the original. If there is no substitute, and your condition is not severe, you might be told to take the drug again while your doctor watches you closely.</a:t>
            </a:r>
          </a:p>
          <a:p>
            <a:r>
              <a:rPr lang="en-US" b="1" dirty="0"/>
              <a:t>Antibiotics</a:t>
            </a:r>
            <a:r>
              <a:rPr lang="en-US" dirty="0"/>
              <a:t>: These drugs may be used to prevent bacterial infections, and are used to treat infections that have developed.</a:t>
            </a:r>
          </a:p>
          <a:p>
            <a:endParaRPr lang="en-US" dirty="0"/>
          </a:p>
        </p:txBody>
      </p:sp>
      <p:sp>
        <p:nvSpPr>
          <p:cNvPr id="3" name="Title 2"/>
          <p:cNvSpPr>
            <a:spLocks noGrp="1"/>
          </p:cNvSpPr>
          <p:nvPr>
            <p:ph type="title"/>
          </p:nvPr>
        </p:nvSpPr>
        <p:spPr>
          <a:xfrm>
            <a:off x="457200" y="274638"/>
            <a:ext cx="8229600" cy="868362"/>
          </a:xfrm>
        </p:spPr>
        <p:txBody>
          <a:bodyPr>
            <a:normAutofit fontScale="90000"/>
          </a:bodyPr>
          <a:lstStyle/>
          <a:p>
            <a:r>
              <a:rPr lang="en-US" dirty="0">
                <a:effectLst/>
              </a:rPr>
              <a:t>How is </a:t>
            </a:r>
            <a:r>
              <a:rPr lang="en-US" dirty="0" err="1">
                <a:effectLst/>
              </a:rPr>
              <a:t>agranulocytosis</a:t>
            </a:r>
            <a:r>
              <a:rPr lang="en-US" dirty="0">
                <a:effectLst/>
              </a:rPr>
              <a:t> treated?</a:t>
            </a:r>
            <a:br>
              <a:rPr lang="en-US" dirty="0">
                <a:effectLst/>
              </a:rPr>
            </a:br>
            <a:endParaRPr lang="en-US" dirty="0"/>
          </a:p>
        </p:txBody>
      </p:sp>
    </p:spTree>
    <p:extLst>
      <p:ext uri="{BB962C8B-B14F-4D97-AF65-F5344CB8AC3E}">
        <p14:creationId xmlns:p14="http://schemas.microsoft.com/office/powerpoint/2010/main" val="400841767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864291"/>
          </a:xfrm>
        </p:spPr>
        <p:txBody>
          <a:bodyPr/>
          <a:lstStyle/>
          <a:p>
            <a:r>
              <a:rPr lang="en-US" b="1" dirty="0"/>
              <a:t>Granulocyte colony-stimulating factor</a:t>
            </a:r>
            <a:r>
              <a:rPr lang="en-US" dirty="0"/>
              <a:t>: If other methods do not work, you might need to take shots of a hormone that stimulates the bone marrow to produce more granulocytes. This hormone is known as granulocyte colony-stimulating factor (G-CSF) and is made by the body</a:t>
            </a:r>
            <a:r>
              <a:rPr lang="en-US" dirty="0" smtClean="0"/>
              <a:t>.</a:t>
            </a:r>
          </a:p>
          <a:p>
            <a:r>
              <a:rPr lang="en-US" b="1" dirty="0"/>
              <a:t>Immune suppression</a:t>
            </a:r>
            <a:r>
              <a:rPr lang="en-US" dirty="0"/>
              <a:t>: When an autoimmune cause is suspected, immune-suppressing medications such as prednisone may be used.</a:t>
            </a:r>
          </a:p>
          <a:p>
            <a:endParaRPr lang="en-US" dirty="0"/>
          </a:p>
        </p:txBody>
      </p:sp>
      <p:sp>
        <p:nvSpPr>
          <p:cNvPr id="3" name="Title 2"/>
          <p:cNvSpPr>
            <a:spLocks noGrp="1"/>
          </p:cNvSpPr>
          <p:nvPr>
            <p:ph type="title"/>
          </p:nvPr>
        </p:nvSpPr>
        <p:spPr/>
        <p:txBody>
          <a:bodyPr/>
          <a:lstStyle/>
          <a:p>
            <a:r>
              <a:rPr lang="en-US" dirty="0" smtClean="0"/>
              <a:t>Treatment cont’d</a:t>
            </a:r>
            <a:endParaRPr lang="en-US" dirty="0"/>
          </a:p>
        </p:txBody>
      </p:sp>
    </p:spTree>
    <p:extLst>
      <p:ext uri="{BB962C8B-B14F-4D97-AF65-F5344CB8AC3E}">
        <p14:creationId xmlns:p14="http://schemas.microsoft.com/office/powerpoint/2010/main" val="2474071016"/>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458200" cy="5092891"/>
          </a:xfrm>
        </p:spPr>
        <p:txBody>
          <a:bodyPr>
            <a:normAutofit/>
          </a:bodyPr>
          <a:lstStyle/>
          <a:p>
            <a:r>
              <a:rPr lang="en-US" b="1" dirty="0" smtClean="0"/>
              <a:t>Bone </a:t>
            </a:r>
            <a:r>
              <a:rPr lang="en-US" b="1" dirty="0"/>
              <a:t>marrow transplants</a:t>
            </a:r>
            <a:r>
              <a:rPr lang="en-US" dirty="0"/>
              <a:t>: For cases that do not respond to other types of treatment, a bone marrow transplant may be needed (if a donor can be found). Bone marrow transplants generally yield the best outcomes for patients who are under 40 years old and in good health.</a:t>
            </a:r>
          </a:p>
          <a:p>
            <a:r>
              <a:rPr lang="en-US" b="1" dirty="0"/>
              <a:t>General measures</a:t>
            </a:r>
            <a:r>
              <a:rPr lang="en-US" dirty="0"/>
              <a:t>: People with </a:t>
            </a:r>
            <a:r>
              <a:rPr lang="en-US" dirty="0" err="1"/>
              <a:t>agranulocytosis</a:t>
            </a:r>
            <a:r>
              <a:rPr lang="en-US" dirty="0"/>
              <a:t> should stay away from crowds. They should also avoid: contact with people who have infections; fruits and vegetables that cannot be peeled, and; cut flowers or working in the soil.</a:t>
            </a:r>
          </a:p>
          <a:p>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r>
              <a:rPr lang="en-US" dirty="0"/>
              <a:t>Treatment cont’d</a:t>
            </a:r>
          </a:p>
        </p:txBody>
      </p:sp>
    </p:spTree>
    <p:extLst>
      <p:ext uri="{BB962C8B-B14F-4D97-AF65-F5344CB8AC3E}">
        <p14:creationId xmlns:p14="http://schemas.microsoft.com/office/powerpoint/2010/main" val="610121989"/>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a:p>
        </p:txBody>
      </p:sp>
      <p:sp>
        <p:nvSpPr>
          <p:cNvPr id="3" name="Title 2"/>
          <p:cNvSpPr>
            <a:spLocks noGrp="1"/>
          </p:cNvSpPr>
          <p:nvPr>
            <p:ph type="title"/>
          </p:nvPr>
        </p:nvSpPr>
        <p:spPr/>
        <p:txBody>
          <a:bodyPr/>
          <a:lstStyle/>
          <a:p>
            <a:r>
              <a:rPr lang="en-US" dirty="0" smtClean="0"/>
              <a:t>BLEEDING DISORDERS</a:t>
            </a:r>
            <a:endParaRPr lang="en-US" dirty="0"/>
          </a:p>
        </p:txBody>
      </p:sp>
    </p:spTree>
    <p:extLst>
      <p:ext uri="{BB962C8B-B14F-4D97-AF65-F5344CB8AC3E}">
        <p14:creationId xmlns:p14="http://schemas.microsoft.com/office/powerpoint/2010/main" val="3390933809"/>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b="1" dirty="0" err="1"/>
              <a:t>Hypoprothrombinemia</a:t>
            </a:r>
            <a:r>
              <a:rPr lang="en-US" dirty="0"/>
              <a:t>, </a:t>
            </a:r>
            <a:r>
              <a:rPr lang="en-US" u="sng" dirty="0">
                <a:hlinkClick r:id="rId2"/>
              </a:rPr>
              <a:t>disease</a:t>
            </a:r>
            <a:r>
              <a:rPr lang="en-US" dirty="0"/>
              <a:t> characterized by a deficiency of the blood-clotting substance </a:t>
            </a:r>
            <a:r>
              <a:rPr lang="en-US" u="sng" dirty="0" err="1">
                <a:hlinkClick r:id="rId3"/>
              </a:rPr>
              <a:t>prothrombin</a:t>
            </a:r>
            <a:r>
              <a:rPr lang="en-US" dirty="0"/>
              <a:t>, resulting in a tendency to prolonged </a:t>
            </a:r>
            <a:r>
              <a:rPr lang="en-US" u="sng" dirty="0">
                <a:hlinkClick r:id="rId4"/>
              </a:rPr>
              <a:t>bleeding</a:t>
            </a:r>
            <a:r>
              <a:rPr lang="en-US" dirty="0"/>
              <a:t>. </a:t>
            </a:r>
            <a:r>
              <a:rPr lang="en-US" dirty="0" err="1"/>
              <a:t>Hypoprothrombinemia</a:t>
            </a:r>
            <a:r>
              <a:rPr lang="en-US" dirty="0"/>
              <a:t> is usually associated with a lack of </a:t>
            </a:r>
            <a:r>
              <a:rPr lang="en-US" u="sng" dirty="0">
                <a:hlinkClick r:id="rId5"/>
              </a:rPr>
              <a:t>vitamin K</a:t>
            </a:r>
            <a:r>
              <a:rPr lang="en-US" dirty="0"/>
              <a:t>, which is necessary for the synthesis of </a:t>
            </a:r>
            <a:r>
              <a:rPr lang="en-US" dirty="0" err="1"/>
              <a:t>prothrombin</a:t>
            </a:r>
            <a:r>
              <a:rPr lang="en-US" dirty="0"/>
              <a:t> in the </a:t>
            </a:r>
            <a:r>
              <a:rPr lang="en-US" u="sng" dirty="0">
                <a:hlinkClick r:id="rId6"/>
              </a:rPr>
              <a:t>liver</a:t>
            </a:r>
            <a:r>
              <a:rPr lang="en-US" dirty="0"/>
              <a:t> cells. In adults the condition occurs most commonly in cases of obstructive </a:t>
            </a:r>
            <a:r>
              <a:rPr lang="en-US" u="sng" dirty="0">
                <a:hlinkClick r:id="rId7"/>
              </a:rPr>
              <a:t>jaundice</a:t>
            </a:r>
            <a:r>
              <a:rPr lang="en-US" dirty="0"/>
              <a:t>, in which the flow of </a:t>
            </a:r>
            <a:r>
              <a:rPr lang="en-US" u="sng" dirty="0">
                <a:hlinkClick r:id="rId8"/>
              </a:rPr>
              <a:t>bile</a:t>
            </a:r>
            <a:r>
              <a:rPr lang="en-US" dirty="0"/>
              <a:t> to the bowel is interrupted—bile being necessary for the intestinal absorption of vitamin K.</a:t>
            </a:r>
          </a:p>
        </p:txBody>
      </p:sp>
      <p:sp>
        <p:nvSpPr>
          <p:cNvPr id="3" name="Title 2"/>
          <p:cNvSpPr>
            <a:spLocks noGrp="1"/>
          </p:cNvSpPr>
          <p:nvPr>
            <p:ph type="title"/>
          </p:nvPr>
        </p:nvSpPr>
        <p:spPr/>
        <p:txBody>
          <a:bodyPr/>
          <a:lstStyle/>
          <a:p>
            <a:r>
              <a:rPr lang="en-US" dirty="0" err="1" smtClean="0"/>
              <a:t>Hypoprothrombinemia</a:t>
            </a:r>
            <a:r>
              <a:rPr lang="en-US" dirty="0" smtClean="0"/>
              <a:t> </a:t>
            </a:r>
            <a:endParaRPr lang="en-US" dirty="0"/>
          </a:p>
        </p:txBody>
      </p:sp>
    </p:spTree>
    <p:extLst>
      <p:ext uri="{BB962C8B-B14F-4D97-AF65-F5344CB8AC3E}">
        <p14:creationId xmlns:p14="http://schemas.microsoft.com/office/powerpoint/2010/main" val="3131901908"/>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5397691"/>
          </a:xfrm>
        </p:spPr>
        <p:txBody>
          <a:bodyPr>
            <a:normAutofit fontScale="92500" lnSpcReduction="10000"/>
          </a:bodyPr>
          <a:lstStyle/>
          <a:p>
            <a:r>
              <a:rPr lang="en-US" dirty="0" err="1"/>
              <a:t>Hypoprothrombinemia</a:t>
            </a:r>
            <a:r>
              <a:rPr lang="en-US" dirty="0"/>
              <a:t> can also result from a general impairment in liver and intestinal-cell function or can follow exposure to </a:t>
            </a:r>
            <a:r>
              <a:rPr lang="en-US" dirty="0" err="1"/>
              <a:t>dicumarol</a:t>
            </a:r>
            <a:r>
              <a:rPr lang="en-US" dirty="0"/>
              <a:t> and related therapeutic </a:t>
            </a:r>
            <a:r>
              <a:rPr lang="en-US" u="sng" dirty="0">
                <a:hlinkClick r:id="rId2"/>
              </a:rPr>
              <a:t>anticoagulants</a:t>
            </a:r>
            <a:r>
              <a:rPr lang="en-US" dirty="0"/>
              <a:t>. </a:t>
            </a:r>
            <a:endParaRPr lang="en-US" dirty="0" smtClean="0"/>
          </a:p>
          <a:p>
            <a:r>
              <a:rPr lang="en-US" dirty="0" smtClean="0"/>
              <a:t>In </a:t>
            </a:r>
            <a:r>
              <a:rPr lang="en-US" dirty="0"/>
              <a:t>the newborn a lack of </a:t>
            </a:r>
            <a:r>
              <a:rPr lang="en-US" dirty="0" err="1"/>
              <a:t>prothrombin</a:t>
            </a:r>
            <a:r>
              <a:rPr lang="en-US" dirty="0"/>
              <a:t> leads to the condition known as hemorrhagic disease of the newborn, characterized by spontaneous internal and external </a:t>
            </a:r>
            <a:r>
              <a:rPr lang="en-US" u="sng" dirty="0">
                <a:hlinkClick r:id="rId3"/>
              </a:rPr>
              <a:t>hemorrhage</a:t>
            </a:r>
            <a:r>
              <a:rPr lang="en-US" dirty="0"/>
              <a:t>, particularly from the umbilicus or mucous membranes; although this abnormal bleeding tends to run a short, self-limited course, it can sometimes have a fatal outcome. </a:t>
            </a:r>
            <a:endParaRPr lang="en-US" dirty="0" smtClean="0"/>
          </a:p>
          <a:p>
            <a:r>
              <a:rPr lang="en-US" dirty="0" smtClean="0"/>
              <a:t>If </a:t>
            </a:r>
            <a:r>
              <a:rPr lang="en-US" dirty="0"/>
              <a:t>suspected, it can be prevented by the administration of vitamin K to the mother during </a:t>
            </a:r>
            <a:r>
              <a:rPr lang="en-US" u="sng" dirty="0" err="1">
                <a:hlinkClick r:id="rId4"/>
              </a:rPr>
              <a:t>labour</a:t>
            </a:r>
            <a:endParaRPr lang="en-US" dirty="0"/>
          </a:p>
        </p:txBody>
      </p:sp>
      <p:sp>
        <p:nvSpPr>
          <p:cNvPr id="3" name="Title 2"/>
          <p:cNvSpPr>
            <a:spLocks noGrp="1"/>
          </p:cNvSpPr>
          <p:nvPr>
            <p:ph type="title"/>
          </p:nvPr>
        </p:nvSpPr>
        <p:spPr>
          <a:xfrm>
            <a:off x="457200" y="274638"/>
            <a:ext cx="8229600" cy="258762"/>
          </a:xfrm>
        </p:spPr>
        <p:txBody>
          <a:bodyPr>
            <a:normAutofit fontScale="90000"/>
          </a:bodyPr>
          <a:lstStyle/>
          <a:p>
            <a:endParaRPr lang="en-US" dirty="0"/>
          </a:p>
        </p:txBody>
      </p:sp>
    </p:spTree>
    <p:extLst>
      <p:ext uri="{BB962C8B-B14F-4D97-AF65-F5344CB8AC3E}">
        <p14:creationId xmlns:p14="http://schemas.microsoft.com/office/powerpoint/2010/main" val="81059003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err="1"/>
              <a:t>Hypoprothrombinemia</a:t>
            </a:r>
            <a:r>
              <a:rPr lang="en-US" dirty="0"/>
              <a:t> can be the result of a </a:t>
            </a:r>
            <a:r>
              <a:rPr lang="en-US" dirty="0">
                <a:hlinkClick r:id="rId2" tooltip="Genetics"/>
              </a:rPr>
              <a:t>genetic</a:t>
            </a:r>
            <a:r>
              <a:rPr lang="en-US" dirty="0"/>
              <a:t> defect, may be acquired as the result of another disease process, or may be an </a:t>
            </a:r>
            <a:r>
              <a:rPr lang="en-US" dirty="0">
                <a:hlinkClick r:id="rId3" tooltip="Adverse effect"/>
              </a:rPr>
              <a:t>adverse effect</a:t>
            </a:r>
            <a:r>
              <a:rPr lang="en-US" dirty="0"/>
              <a:t> of </a:t>
            </a:r>
            <a:r>
              <a:rPr lang="en-US" dirty="0">
                <a:hlinkClick r:id="rId4" tooltip="Medication"/>
              </a:rPr>
              <a:t>medication</a:t>
            </a:r>
            <a:r>
              <a:rPr lang="en-US" dirty="0" smtClean="0"/>
              <a:t>.</a:t>
            </a:r>
          </a:p>
          <a:p>
            <a:r>
              <a:rPr lang="en-US" dirty="0" smtClean="0"/>
              <a:t> </a:t>
            </a:r>
            <a:r>
              <a:rPr lang="en-US" dirty="0"/>
              <a:t>For example, 5-10% of patients with </a:t>
            </a:r>
            <a:r>
              <a:rPr lang="en-US" dirty="0">
                <a:hlinkClick r:id="rId5" tooltip="Systemic lupus erythematosus"/>
              </a:rPr>
              <a:t>systemic lupus </a:t>
            </a:r>
            <a:r>
              <a:rPr lang="en-US" dirty="0" err="1">
                <a:hlinkClick r:id="rId5" tooltip="Systemic lupus erythematosus"/>
              </a:rPr>
              <a:t>erythematosus</a:t>
            </a:r>
            <a:r>
              <a:rPr lang="en-US" dirty="0"/>
              <a:t> exhibit acquired </a:t>
            </a:r>
            <a:r>
              <a:rPr lang="en-US" dirty="0" err="1"/>
              <a:t>hypoprothrombinemia</a:t>
            </a:r>
            <a:r>
              <a:rPr lang="en-US" dirty="0"/>
              <a:t> due to the presence of </a:t>
            </a:r>
            <a:r>
              <a:rPr lang="en-US" dirty="0">
                <a:hlinkClick r:id="rId6" tooltip="Autoantibody"/>
              </a:rPr>
              <a:t>autoantibodies</a:t>
            </a:r>
            <a:r>
              <a:rPr lang="en-US" dirty="0"/>
              <a:t> which bind to </a:t>
            </a:r>
            <a:r>
              <a:rPr lang="en-US" dirty="0" err="1"/>
              <a:t>prothrombin</a:t>
            </a:r>
            <a:r>
              <a:rPr lang="en-US" dirty="0"/>
              <a:t> and remove it from the bloodstream (lupus anticoagulant-</a:t>
            </a:r>
            <a:r>
              <a:rPr lang="en-US" dirty="0" err="1"/>
              <a:t>hypoprothrombinemia</a:t>
            </a:r>
            <a:r>
              <a:rPr lang="en-US" dirty="0"/>
              <a:t> syndrome</a:t>
            </a:r>
            <a:r>
              <a:rPr lang="en-US" dirty="0" smtClean="0"/>
              <a:t>).</a:t>
            </a:r>
          </a:p>
          <a:p>
            <a:r>
              <a:rPr lang="en-US" dirty="0" smtClean="0"/>
              <a:t>The </a:t>
            </a:r>
            <a:r>
              <a:rPr lang="en-US" dirty="0"/>
              <a:t>most common viral pathogen that is involved is Adenovirus, with a prevalence of 50% in </a:t>
            </a:r>
            <a:r>
              <a:rPr lang="en-US" dirty="0" smtClean="0"/>
              <a:t>post viral </a:t>
            </a:r>
            <a:r>
              <a:rPr lang="en-US" dirty="0"/>
              <a:t>cases</a:t>
            </a:r>
          </a:p>
        </p:txBody>
      </p:sp>
      <p:sp>
        <p:nvSpPr>
          <p:cNvPr id="3" name="Title 2"/>
          <p:cNvSpPr>
            <a:spLocks noGrp="1"/>
          </p:cNvSpPr>
          <p:nvPr>
            <p:ph type="title"/>
          </p:nvPr>
        </p:nvSpPr>
        <p:spPr/>
        <p:txBody>
          <a:bodyPr/>
          <a:lstStyle/>
          <a:p>
            <a:r>
              <a:rPr lang="en-US" dirty="0" smtClean="0"/>
              <a:t>causes</a:t>
            </a:r>
            <a:endParaRPr lang="en-US" dirty="0"/>
          </a:p>
        </p:txBody>
      </p:sp>
    </p:spTree>
    <p:extLst>
      <p:ext uri="{BB962C8B-B14F-4D97-AF65-F5344CB8AC3E}">
        <p14:creationId xmlns:p14="http://schemas.microsoft.com/office/powerpoint/2010/main" val="2442604086"/>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b="1" dirty="0" err="1"/>
              <a:t>nheritance</a:t>
            </a:r>
            <a:r>
              <a:rPr lang="en-US" b="1" dirty="0"/>
              <a:t>:</a:t>
            </a:r>
            <a:endParaRPr lang="en-US" dirty="0"/>
          </a:p>
          <a:p>
            <a:r>
              <a:rPr lang="en-US" dirty="0"/>
              <a:t>Autosomal recessive condition in which both parents must carry the recessive gene in order to pass the disease on to offspring. If both parents have the </a:t>
            </a:r>
            <a:r>
              <a:rPr lang="en-US" dirty="0">
                <a:hlinkClick r:id="rId2" tooltip="Autosomal Recessive"/>
              </a:rPr>
              <a:t>autosomal recessive</a:t>
            </a:r>
            <a:r>
              <a:rPr lang="en-US" dirty="0"/>
              <a:t> condition, the chance of mutation in offspring increases to 100%. An individual will be considered a carrier if one </a:t>
            </a:r>
            <a:r>
              <a:rPr lang="en-US" dirty="0">
                <a:hlinkClick r:id="rId3" tooltip="Mutant"/>
              </a:rPr>
              <a:t>mutant</a:t>
            </a:r>
            <a:r>
              <a:rPr lang="en-US" dirty="0"/>
              <a:t> copy of the gene is inherited, and will not illustrate any symptoms. The disease affects both men and women equally, and overall, is a very uncommon inherited or acquired disorder</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732394181"/>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b="1" dirty="0"/>
              <a:t>Non-inheritance and other factors:</a:t>
            </a:r>
            <a:endParaRPr lang="en-US" dirty="0"/>
          </a:p>
          <a:p>
            <a:r>
              <a:rPr lang="en-US" dirty="0"/>
              <a:t>There are two types of </a:t>
            </a:r>
            <a:r>
              <a:rPr lang="en-US" dirty="0" err="1"/>
              <a:t>prothrombin</a:t>
            </a:r>
            <a:r>
              <a:rPr lang="en-US" dirty="0"/>
              <a:t> deficiencies that occur depending on the mutation:</a:t>
            </a:r>
            <a:r>
              <a:rPr lang="en-US" baseline="30000" dirty="0"/>
              <a:t>[5]</a:t>
            </a:r>
            <a:endParaRPr lang="en-US" dirty="0"/>
          </a:p>
          <a:p>
            <a:r>
              <a:rPr lang="en-US" dirty="0"/>
              <a:t>Type I (true deficiency), includes a missense or </a:t>
            </a:r>
            <a:r>
              <a:rPr lang="en-US" dirty="0">
                <a:hlinkClick r:id="rId2" tooltip="Nonsense mutation"/>
              </a:rPr>
              <a:t>nonsense</a:t>
            </a:r>
            <a:r>
              <a:rPr lang="en-US" dirty="0"/>
              <a:t> mutation, essentially decreasing </a:t>
            </a:r>
            <a:r>
              <a:rPr lang="en-US" dirty="0" err="1"/>
              <a:t>prothrombin</a:t>
            </a:r>
            <a:r>
              <a:rPr lang="en-US" dirty="0"/>
              <a:t> production. This is associated with bleeding from birth. Here, plasma levels of </a:t>
            </a:r>
            <a:r>
              <a:rPr lang="en-US" dirty="0" err="1"/>
              <a:t>prothrombin</a:t>
            </a:r>
            <a:r>
              <a:rPr lang="en-US" dirty="0"/>
              <a:t> are typically less than 10% of normal levels.</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42201235"/>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dirty="0"/>
              <a:t>Type II, known as </a:t>
            </a:r>
            <a:r>
              <a:rPr lang="en-US" dirty="0" err="1">
                <a:hlinkClick r:id="rId2" tooltip="Dysprothrombinemia"/>
              </a:rPr>
              <a:t>dysprothrombinemia</a:t>
            </a:r>
            <a:r>
              <a:rPr lang="en-US" dirty="0"/>
              <a:t>, includes a </a:t>
            </a:r>
            <a:r>
              <a:rPr lang="en-US" dirty="0">
                <a:hlinkClick r:id="rId3" tooltip="Missense mutation"/>
              </a:rPr>
              <a:t>missense mutation</a:t>
            </a:r>
            <a:r>
              <a:rPr lang="en-US" dirty="0"/>
              <a:t> at specific </a:t>
            </a:r>
            <a:r>
              <a:rPr lang="en-US" dirty="0" err="1"/>
              <a:t>Xa</a:t>
            </a:r>
            <a:r>
              <a:rPr lang="en-US" dirty="0"/>
              <a:t> factor cleavage sites and </a:t>
            </a:r>
            <a:r>
              <a:rPr lang="en-US" dirty="0">
                <a:hlinkClick r:id="rId4" tooltip="Serine protease"/>
              </a:rPr>
              <a:t>serine protease</a:t>
            </a:r>
            <a:r>
              <a:rPr lang="en-US" dirty="0"/>
              <a:t> </a:t>
            </a:r>
            <a:r>
              <a:rPr lang="en-US" dirty="0" err="1"/>
              <a:t>prothrombin</a:t>
            </a:r>
            <a:r>
              <a:rPr lang="en-US" dirty="0"/>
              <a:t> regions. Type II deficiency creates a dysfunctional protein with decreased activity and usually normal or low-normal </a:t>
            </a:r>
            <a:r>
              <a:rPr lang="en-US" dirty="0">
                <a:hlinkClick r:id="rId5" tooltip="Antigen"/>
              </a:rPr>
              <a:t>antigen</a:t>
            </a:r>
            <a:r>
              <a:rPr lang="en-US" dirty="0"/>
              <a:t> levels. A vitamin K-dependent </a:t>
            </a:r>
            <a:r>
              <a:rPr lang="en-US" dirty="0">
                <a:hlinkClick r:id="rId6" tooltip="Clotting"/>
              </a:rPr>
              <a:t>clotting</a:t>
            </a:r>
            <a:r>
              <a:rPr lang="en-US" dirty="0"/>
              <a:t> factor is seldom seen as a contributor to inherited </a:t>
            </a:r>
            <a:r>
              <a:rPr lang="en-US" dirty="0" err="1"/>
              <a:t>prothrombin</a:t>
            </a:r>
            <a:r>
              <a:rPr lang="en-US" dirty="0"/>
              <a:t> deficiencies, but lack of Vitamin K decreases the synthesis of </a:t>
            </a:r>
            <a:r>
              <a:rPr lang="en-US" dirty="0" err="1"/>
              <a:t>prothrombin</a:t>
            </a:r>
            <a:r>
              <a:rPr lang="en-US" dirty="0"/>
              <a:t> in liver cells.</a:t>
            </a:r>
            <a:r>
              <a:rPr lang="en-US" baseline="30000" dirty="0">
                <a:hlinkClick r:id="rId7"/>
              </a:rPr>
              <a:t>[5]</a:t>
            </a:r>
            <a:endParaRPr lang="en-US" dirty="0"/>
          </a:p>
          <a:p>
            <a:r>
              <a:rPr lang="en-US" dirty="0"/>
              <a:t>Acquired underlying causes of this condition include severe </a:t>
            </a:r>
            <a:r>
              <a:rPr lang="en-US" dirty="0" smtClean="0"/>
              <a:t>liver disease</a:t>
            </a:r>
            <a:r>
              <a:rPr lang="en-US" dirty="0"/>
              <a:t>, </a:t>
            </a:r>
            <a:r>
              <a:rPr lang="en-US" dirty="0">
                <a:hlinkClick r:id="rId8" tooltip="Warfarin"/>
              </a:rPr>
              <a:t>warfarin</a:t>
            </a:r>
            <a:r>
              <a:rPr lang="en-US" dirty="0"/>
              <a:t> overdose, </a:t>
            </a:r>
            <a:r>
              <a:rPr lang="en-US" dirty="0">
                <a:hlinkClick r:id="rId9" tooltip="Platelet"/>
              </a:rPr>
              <a:t>platelet</a:t>
            </a:r>
            <a:r>
              <a:rPr lang="en-US" dirty="0"/>
              <a:t> disorders, and </a:t>
            </a:r>
            <a:r>
              <a:rPr lang="en-US" dirty="0">
                <a:hlinkClick r:id="rId10" tooltip="Disseminated intravascular coagulation"/>
              </a:rPr>
              <a:t>disseminated intravascular coagulation</a:t>
            </a:r>
            <a:r>
              <a:rPr lang="en-US" dirty="0"/>
              <a:t> (DIC).</a:t>
            </a:r>
          </a:p>
          <a:p>
            <a:r>
              <a:rPr lang="en-US" dirty="0"/>
              <a:t>It may also be a rare </a:t>
            </a:r>
            <a:r>
              <a:rPr lang="en-US" dirty="0">
                <a:hlinkClick r:id="rId11" tooltip="Adverse effect"/>
              </a:rPr>
              <a:t>adverse effect</a:t>
            </a:r>
            <a:r>
              <a:rPr lang="en-US" dirty="0"/>
              <a:t> to </a:t>
            </a:r>
            <a:r>
              <a:rPr lang="en-US" dirty="0" err="1">
                <a:hlinkClick r:id="rId12" tooltip="Ceftriaxone"/>
              </a:rPr>
              <a:t>Rocephin</a:t>
            </a:r>
            <a:endParaRPr lang="en-US" dirty="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710189193"/>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dirty="0"/>
              <a:t>Diagnosis of inherited </a:t>
            </a:r>
            <a:r>
              <a:rPr lang="en-US" dirty="0" err="1"/>
              <a:t>hypoprothrombinemia</a:t>
            </a:r>
            <a:r>
              <a:rPr lang="en-US" dirty="0"/>
              <a:t>, relies heavily on a patient's medical history, family history of bleeding issues, and lab exams performed by a </a:t>
            </a:r>
            <a:r>
              <a:rPr lang="en-US" dirty="0">
                <a:hlinkClick r:id="rId2" tooltip="Hematologist"/>
              </a:rPr>
              <a:t>hematologist</a:t>
            </a:r>
            <a:r>
              <a:rPr lang="en-US" dirty="0"/>
              <a:t>. </a:t>
            </a:r>
            <a:endParaRPr lang="en-US" dirty="0" smtClean="0"/>
          </a:p>
          <a:p>
            <a:r>
              <a:rPr lang="en-US" dirty="0" smtClean="0"/>
              <a:t>A </a:t>
            </a:r>
            <a:r>
              <a:rPr lang="en-US" dirty="0"/>
              <a:t>physical examination by </a:t>
            </a:r>
            <a:r>
              <a:rPr lang="en-US" dirty="0" smtClean="0"/>
              <a:t>a general</a:t>
            </a:r>
            <a:r>
              <a:rPr lang="en-US" dirty="0"/>
              <a:t> </a:t>
            </a:r>
            <a:r>
              <a:rPr lang="en-US" dirty="0">
                <a:hlinkClick r:id="rId3" tooltip="Physician"/>
              </a:rPr>
              <a:t>physician</a:t>
            </a:r>
            <a:r>
              <a:rPr lang="en-US" dirty="0"/>
              <a:t> should also be performed in order to determine whether the condition is </a:t>
            </a:r>
            <a:r>
              <a:rPr lang="en-US" dirty="0">
                <a:hlinkClick r:id="rId4" tooltip="Congenital"/>
              </a:rPr>
              <a:t>congenital</a:t>
            </a:r>
            <a:r>
              <a:rPr lang="en-US" dirty="0"/>
              <a:t> or acquired, as well as ruling out other possible conditions with similar symptoms</a:t>
            </a:r>
            <a:r>
              <a:rPr lang="en-US" dirty="0" smtClean="0"/>
              <a:t>.</a:t>
            </a:r>
            <a:endParaRPr lang="en-US" dirty="0"/>
          </a:p>
          <a:p>
            <a:r>
              <a:rPr lang="en-US" dirty="0"/>
              <a:t>Lab tests that are performed to determine diagnosis</a:t>
            </a:r>
            <a:r>
              <a:rPr lang="en-US" dirty="0" smtClean="0"/>
              <a:t>:</a:t>
            </a:r>
            <a:endParaRPr lang="en-US" dirty="0"/>
          </a:p>
        </p:txBody>
      </p:sp>
      <p:sp>
        <p:nvSpPr>
          <p:cNvPr id="3" name="Title 2"/>
          <p:cNvSpPr>
            <a:spLocks noGrp="1"/>
          </p:cNvSpPr>
          <p:nvPr>
            <p:ph type="title"/>
          </p:nvPr>
        </p:nvSpPr>
        <p:spPr/>
        <p:txBody>
          <a:bodyPr/>
          <a:lstStyle/>
          <a:p>
            <a:r>
              <a:rPr lang="en-US" dirty="0" smtClean="0"/>
              <a:t>Diagnosis </a:t>
            </a:r>
            <a:endParaRPr lang="en-US" dirty="0"/>
          </a:p>
        </p:txBody>
      </p:sp>
    </p:spTree>
    <p:extLst>
      <p:ext uri="{BB962C8B-B14F-4D97-AF65-F5344CB8AC3E}">
        <p14:creationId xmlns:p14="http://schemas.microsoft.com/office/powerpoint/2010/main" val="2524852783"/>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5169091"/>
          </a:xfrm>
        </p:spPr>
        <p:txBody>
          <a:bodyPr>
            <a:normAutofit fontScale="92500" lnSpcReduction="10000"/>
          </a:bodyPr>
          <a:lstStyle/>
          <a:p>
            <a:r>
              <a:rPr lang="en-US" b="1" dirty="0"/>
              <a:t>Factor Assays:</a:t>
            </a:r>
            <a:r>
              <a:rPr lang="en-US" dirty="0"/>
              <a:t> To observe the performance of specific factors (II) to identify missing/poorly performing factors. </a:t>
            </a:r>
            <a:endParaRPr lang="en-US" dirty="0" smtClean="0"/>
          </a:p>
          <a:p>
            <a:r>
              <a:rPr lang="en-US" b="1" dirty="0" err="1" smtClean="0"/>
              <a:t>Prothrombin</a:t>
            </a:r>
            <a:r>
              <a:rPr lang="en-US" b="1" dirty="0" smtClean="0"/>
              <a:t> </a:t>
            </a:r>
            <a:r>
              <a:rPr lang="en-US" b="1" dirty="0"/>
              <a:t>Blood Test:</a:t>
            </a:r>
            <a:r>
              <a:rPr lang="en-US" dirty="0"/>
              <a:t> Determines if patient has deficient or low levels of Factor II</a:t>
            </a:r>
            <a:r>
              <a:rPr lang="en-US" dirty="0" smtClean="0"/>
              <a:t>.</a:t>
            </a:r>
            <a:endParaRPr lang="en-US" dirty="0"/>
          </a:p>
          <a:p>
            <a:r>
              <a:rPr lang="en-US" b="1" dirty="0"/>
              <a:t>Vitamin K1 Test:</a:t>
            </a:r>
            <a:r>
              <a:rPr lang="en-US" dirty="0"/>
              <a:t> Performed to evaluate bleeding of unknown causes, nosebleeds, and identified bruising. To accomplish this, a band is wrapped around the patient's arm, 4 inches above the superficial vein site in the elbow pit. The vein is penetrated with the needle and amount of blood required for testing is obtained. Decreased vitamin K levels are suggestive of </a:t>
            </a:r>
            <a:r>
              <a:rPr lang="en-US" dirty="0" err="1"/>
              <a:t>hypoprothrombinemia</a:t>
            </a:r>
            <a:r>
              <a:rPr lang="en-US" dirty="0"/>
              <a:t>. </a:t>
            </a:r>
          </a:p>
        </p:txBody>
      </p:sp>
      <p:sp>
        <p:nvSpPr>
          <p:cNvPr id="3" name="Title 2"/>
          <p:cNvSpPr>
            <a:spLocks noGrp="1"/>
          </p:cNvSpPr>
          <p:nvPr>
            <p:ph type="title"/>
          </p:nvPr>
        </p:nvSpPr>
        <p:spPr>
          <a:xfrm>
            <a:off x="457200" y="76200"/>
            <a:ext cx="8229600" cy="609600"/>
          </a:xfrm>
        </p:spPr>
        <p:txBody>
          <a:bodyPr>
            <a:normAutofit fontScale="90000"/>
          </a:bodyPr>
          <a:lstStyle/>
          <a:p>
            <a:r>
              <a:rPr lang="en-US" dirty="0" smtClean="0"/>
              <a:t>Diagnosis cont’d</a:t>
            </a:r>
            <a:endParaRPr lang="en-US" dirty="0"/>
          </a:p>
        </p:txBody>
      </p:sp>
    </p:spTree>
    <p:extLst>
      <p:ext uri="{BB962C8B-B14F-4D97-AF65-F5344CB8AC3E}">
        <p14:creationId xmlns:p14="http://schemas.microsoft.com/office/powerpoint/2010/main" val="3677558610"/>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Easy bruising.</a:t>
            </a:r>
          </a:p>
          <a:p>
            <a:r>
              <a:rPr lang="en-US" b="1" dirty="0"/>
              <a:t>Epistaxis</a:t>
            </a:r>
            <a:r>
              <a:rPr lang="en-US" dirty="0"/>
              <a:t>.</a:t>
            </a:r>
          </a:p>
          <a:p>
            <a:r>
              <a:rPr lang="en-US" dirty="0"/>
              <a:t>Prolonged </a:t>
            </a:r>
            <a:r>
              <a:rPr lang="en-US" b="1" dirty="0"/>
              <a:t>bleeding</a:t>
            </a:r>
            <a:r>
              <a:rPr lang="en-US" dirty="0"/>
              <a:t> with injury, tooth extraction, or surgery.</a:t>
            </a:r>
          </a:p>
          <a:p>
            <a:r>
              <a:rPr lang="en-US" dirty="0"/>
              <a:t>Oral mucosal </a:t>
            </a:r>
            <a:r>
              <a:rPr lang="en-US" b="1" dirty="0"/>
              <a:t>bleeding</a:t>
            </a:r>
            <a:r>
              <a:rPr lang="en-US" dirty="0"/>
              <a:t>.</a:t>
            </a:r>
          </a:p>
          <a:p>
            <a:r>
              <a:rPr lang="en-US" b="1" dirty="0"/>
              <a:t>Melena</a:t>
            </a:r>
            <a:r>
              <a:rPr lang="en-US" dirty="0"/>
              <a:t>.</a:t>
            </a:r>
          </a:p>
          <a:p>
            <a:r>
              <a:rPr lang="en-US" b="1" dirty="0" err="1"/>
              <a:t>Hematochezia</a:t>
            </a:r>
            <a:r>
              <a:rPr lang="en-US" dirty="0"/>
              <a:t>.</a:t>
            </a:r>
          </a:p>
          <a:p>
            <a:r>
              <a:rPr lang="en-US" b="1" dirty="0"/>
              <a:t>Hematuria</a:t>
            </a:r>
            <a:r>
              <a:rPr lang="en-US" dirty="0"/>
              <a:t>.</a:t>
            </a:r>
          </a:p>
          <a:p>
            <a:r>
              <a:rPr lang="en-US" b="1" dirty="0"/>
              <a:t>Intracranial hemorrhage</a:t>
            </a:r>
            <a:r>
              <a:rPr lang="en-US" dirty="0"/>
              <a:t>.</a:t>
            </a:r>
          </a:p>
          <a:p>
            <a:endParaRPr lang="en-US" dirty="0"/>
          </a:p>
        </p:txBody>
      </p:sp>
      <p:sp>
        <p:nvSpPr>
          <p:cNvPr id="3" name="Title 2"/>
          <p:cNvSpPr>
            <a:spLocks noGrp="1"/>
          </p:cNvSpPr>
          <p:nvPr>
            <p:ph type="title"/>
          </p:nvPr>
        </p:nvSpPr>
        <p:spPr/>
        <p:txBody>
          <a:bodyPr/>
          <a:lstStyle/>
          <a:p>
            <a:r>
              <a:rPr lang="en-US" dirty="0" smtClean="0"/>
              <a:t>Clinical manifestations</a:t>
            </a:r>
            <a:endParaRPr lang="en-US" dirty="0"/>
          </a:p>
        </p:txBody>
      </p:sp>
    </p:spTree>
    <p:extLst>
      <p:ext uri="{BB962C8B-B14F-4D97-AF65-F5344CB8AC3E}">
        <p14:creationId xmlns:p14="http://schemas.microsoft.com/office/powerpoint/2010/main" val="1958427252"/>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4940491"/>
          </a:xfrm>
        </p:spPr>
        <p:txBody>
          <a:bodyPr/>
          <a:lstStyle/>
          <a:p>
            <a:r>
              <a:rPr lang="en-US" dirty="0"/>
              <a:t>Treatment is almost always aimed to control </a:t>
            </a:r>
            <a:r>
              <a:rPr lang="en-US" dirty="0">
                <a:hlinkClick r:id="rId2" tooltip="Hemorrhages"/>
              </a:rPr>
              <a:t>hemorrhages</a:t>
            </a:r>
            <a:r>
              <a:rPr lang="en-US" dirty="0"/>
              <a:t>, treating underlying causes, and taking preventative steps before performing invasive surgeries</a:t>
            </a:r>
            <a:r>
              <a:rPr lang="en-US" dirty="0" smtClean="0"/>
              <a:t>.</a:t>
            </a:r>
          </a:p>
          <a:p>
            <a:r>
              <a:rPr lang="en-US" dirty="0" err="1"/>
              <a:t>Hypoprothrombinemia</a:t>
            </a:r>
            <a:r>
              <a:rPr lang="en-US" dirty="0"/>
              <a:t> can be treated with periodic </a:t>
            </a:r>
            <a:r>
              <a:rPr lang="en-US" dirty="0">
                <a:hlinkClick r:id="rId3" tooltip="Infusion"/>
              </a:rPr>
              <a:t>infusions</a:t>
            </a:r>
            <a:r>
              <a:rPr lang="en-US" dirty="0"/>
              <a:t> of purified </a:t>
            </a:r>
            <a:r>
              <a:rPr lang="en-US" dirty="0" err="1"/>
              <a:t>prothrombin</a:t>
            </a:r>
            <a:r>
              <a:rPr lang="en-US" dirty="0"/>
              <a:t> </a:t>
            </a:r>
            <a:r>
              <a:rPr lang="en-US" dirty="0" smtClean="0"/>
              <a:t>complexes.</a:t>
            </a:r>
            <a:endParaRPr lang="en-US" dirty="0"/>
          </a:p>
          <a:p>
            <a:r>
              <a:rPr lang="en-US" dirty="0" smtClean="0"/>
              <a:t>These </a:t>
            </a:r>
            <a:r>
              <a:rPr lang="en-US" dirty="0"/>
              <a:t>are typically used as treatment methods for severe bleeding cases in order to boost clotting ability and increasing levels of vitamin K-dependent coagulation factors.</a:t>
            </a:r>
          </a:p>
        </p:txBody>
      </p:sp>
      <p:sp>
        <p:nvSpPr>
          <p:cNvPr id="3" name="Title 2"/>
          <p:cNvSpPr>
            <a:spLocks noGrp="1"/>
          </p:cNvSpPr>
          <p:nvPr>
            <p:ph type="title"/>
          </p:nvPr>
        </p:nvSpPr>
        <p:spPr>
          <a:xfrm>
            <a:off x="457200" y="274638"/>
            <a:ext cx="8229600" cy="411162"/>
          </a:xfrm>
        </p:spPr>
        <p:txBody>
          <a:bodyPr>
            <a:normAutofit fontScale="90000"/>
          </a:bodyPr>
          <a:lstStyle/>
          <a:p>
            <a:r>
              <a:rPr lang="en-US" b="0" dirty="0">
                <a:effectLst/>
              </a:rPr>
              <a:t/>
            </a:r>
            <a:br>
              <a:rPr lang="en-US" b="0" dirty="0">
                <a:effectLst/>
              </a:rPr>
            </a:br>
            <a:r>
              <a:rPr lang="en-US" b="0" dirty="0">
                <a:effectLst/>
              </a:rPr>
              <a:t>TREATMENT</a:t>
            </a:r>
            <a:endParaRPr lang="en-US" dirty="0"/>
          </a:p>
        </p:txBody>
      </p:sp>
    </p:spTree>
    <p:extLst>
      <p:ext uri="{BB962C8B-B14F-4D97-AF65-F5344CB8AC3E}">
        <p14:creationId xmlns:p14="http://schemas.microsoft.com/office/powerpoint/2010/main" val="399428587"/>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5016691"/>
          </a:xfrm>
        </p:spPr>
        <p:txBody>
          <a:bodyPr>
            <a:normAutofit fontScale="92500" lnSpcReduction="10000"/>
          </a:bodyPr>
          <a:lstStyle/>
          <a:p>
            <a:r>
              <a:rPr lang="en-US" dirty="0"/>
              <a:t>A known treatment for </a:t>
            </a:r>
            <a:r>
              <a:rPr lang="en-US" dirty="0" err="1"/>
              <a:t>hypoprothrombinemia</a:t>
            </a:r>
            <a:r>
              <a:rPr lang="en-US" dirty="0"/>
              <a:t> is </a:t>
            </a:r>
            <a:r>
              <a:rPr lang="en-US" dirty="0" err="1">
                <a:hlinkClick r:id="rId2" tooltip="Menadoxime (page does not exist)"/>
              </a:rPr>
              <a:t>menadoxime</a:t>
            </a:r>
            <a:r>
              <a:rPr lang="en-US" dirty="0" smtClean="0"/>
              <a:t>.</a:t>
            </a:r>
            <a:endParaRPr lang="en-US" dirty="0"/>
          </a:p>
          <a:p>
            <a:r>
              <a:rPr lang="en-US" dirty="0" err="1">
                <a:hlinkClick r:id="rId3" tooltip="Menatetrenone"/>
              </a:rPr>
              <a:t>Menatetrenone</a:t>
            </a:r>
            <a:r>
              <a:rPr lang="en-US" dirty="0"/>
              <a:t> was also listed as a </a:t>
            </a:r>
            <a:r>
              <a:rPr lang="en-US" dirty="0" err="1">
                <a:hlinkClick r:id="rId4" tooltip="Antihaemorrhagic"/>
              </a:rPr>
              <a:t>Antihaemorrhagic</a:t>
            </a:r>
            <a:r>
              <a:rPr lang="en-US" dirty="0"/>
              <a:t> vitamin.</a:t>
            </a:r>
          </a:p>
          <a:p>
            <a:r>
              <a:rPr lang="en-US" dirty="0"/>
              <a:t>4-Amino-2-methyl-1-naphthol (Vitamin K5) is another treatment for </a:t>
            </a:r>
            <a:r>
              <a:rPr lang="en-US" dirty="0" err="1"/>
              <a:t>hypoprothrombinemia</a:t>
            </a:r>
            <a:r>
              <a:rPr lang="en-US" dirty="0"/>
              <a:t>.</a:t>
            </a:r>
          </a:p>
          <a:p>
            <a:pPr lvl="1"/>
            <a:r>
              <a:rPr lang="en-US" dirty="0"/>
              <a:t>Vitamin K forms are administered orally or </a:t>
            </a:r>
            <a:r>
              <a:rPr lang="en-US" dirty="0">
                <a:hlinkClick r:id="rId5" tooltip="Intravenously"/>
              </a:rPr>
              <a:t>intravenously</a:t>
            </a:r>
            <a:r>
              <a:rPr lang="en-US" dirty="0"/>
              <a:t>.</a:t>
            </a:r>
          </a:p>
          <a:p>
            <a:r>
              <a:rPr lang="en-US" dirty="0"/>
              <a:t>Other concentrates include </a:t>
            </a:r>
            <a:r>
              <a:rPr lang="en-US" dirty="0" err="1"/>
              <a:t>Proplex</a:t>
            </a:r>
            <a:r>
              <a:rPr lang="en-US" dirty="0"/>
              <a:t> T, </a:t>
            </a:r>
            <a:r>
              <a:rPr lang="en-US" dirty="0" err="1"/>
              <a:t>Konyne</a:t>
            </a:r>
            <a:r>
              <a:rPr lang="en-US" dirty="0"/>
              <a:t> 80, and </a:t>
            </a:r>
            <a:r>
              <a:rPr lang="en-US" dirty="0" err="1"/>
              <a:t>Bebulin</a:t>
            </a:r>
            <a:r>
              <a:rPr lang="en-US" dirty="0"/>
              <a:t> VH.</a:t>
            </a:r>
          </a:p>
          <a:p>
            <a:r>
              <a:rPr lang="en-US" dirty="0"/>
              <a:t>Fresh Frozen Plasma infusion (FFP) is a method used for continuous bleeding episodes, every 3–5 weeks for mention</a:t>
            </a:r>
            <a:r>
              <a:rPr lang="en-US" dirty="0" smtClean="0"/>
              <a:t>.</a:t>
            </a:r>
            <a:endParaRPr lang="en-US" dirty="0"/>
          </a:p>
          <a:p>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endParaRPr lang="en-US" dirty="0"/>
          </a:p>
        </p:txBody>
      </p:sp>
    </p:spTree>
    <p:extLst>
      <p:ext uri="{BB962C8B-B14F-4D97-AF65-F5344CB8AC3E}">
        <p14:creationId xmlns:p14="http://schemas.microsoft.com/office/powerpoint/2010/main" val="702916537"/>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5016691"/>
          </a:xfrm>
        </p:spPr>
        <p:txBody>
          <a:bodyPr/>
          <a:lstStyle/>
          <a:p>
            <a:r>
              <a:rPr lang="en-US" dirty="0" smtClean="0">
                <a:hlinkClick r:id="rId2" tooltip="Prognosis"/>
              </a:rPr>
              <a:t>Prognosis</a:t>
            </a:r>
            <a:r>
              <a:rPr lang="en-US" dirty="0"/>
              <a:t> for patients varies and is dependent on severity of the condition and how early the treatment is managed.</a:t>
            </a:r>
          </a:p>
          <a:p>
            <a:r>
              <a:rPr lang="en-US" dirty="0"/>
              <a:t>With proper treatment and care, most people go on to live a normal and healthy life.</a:t>
            </a:r>
          </a:p>
          <a:p>
            <a:r>
              <a:rPr lang="en-US" dirty="0"/>
              <a:t>With more severe cases, a </a:t>
            </a:r>
            <a:r>
              <a:rPr lang="en-US" dirty="0">
                <a:hlinkClick r:id="rId3" tooltip="Hematologist"/>
              </a:rPr>
              <a:t>hematologist</a:t>
            </a:r>
            <a:r>
              <a:rPr lang="en-US" dirty="0"/>
              <a:t> will need to be seen throughout the patient's life in order to deal with bleeding and continued </a:t>
            </a:r>
            <a:r>
              <a:rPr lang="en-US" dirty="0" smtClean="0"/>
              <a:t>risk.</a:t>
            </a:r>
            <a:endParaRPr lang="en-US" dirty="0"/>
          </a:p>
          <a:p>
            <a:endParaRPr lang="en-US" dirty="0"/>
          </a:p>
        </p:txBody>
      </p:sp>
      <p:sp>
        <p:nvSpPr>
          <p:cNvPr id="3" name="Title 2"/>
          <p:cNvSpPr>
            <a:spLocks noGrp="1"/>
          </p:cNvSpPr>
          <p:nvPr>
            <p:ph type="title"/>
          </p:nvPr>
        </p:nvSpPr>
        <p:spPr>
          <a:xfrm>
            <a:off x="457200" y="274638"/>
            <a:ext cx="8229600" cy="411162"/>
          </a:xfrm>
        </p:spPr>
        <p:txBody>
          <a:bodyPr>
            <a:normAutofit fontScale="90000"/>
          </a:bodyPr>
          <a:lstStyle/>
          <a:p>
            <a:r>
              <a:rPr lang="en-US" dirty="0"/>
              <a:t>prognosis</a:t>
            </a:r>
            <a:br>
              <a:rPr lang="en-US" dirty="0"/>
            </a:br>
            <a:endParaRPr lang="en-US" dirty="0"/>
          </a:p>
        </p:txBody>
      </p:sp>
    </p:spTree>
    <p:extLst>
      <p:ext uri="{BB962C8B-B14F-4D97-AF65-F5344CB8AC3E}">
        <p14:creationId xmlns:p14="http://schemas.microsoft.com/office/powerpoint/2010/main" val="352709123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19200"/>
            <a:ext cx="8229600" cy="4788091"/>
          </a:xfrm>
        </p:spPr>
        <p:txBody>
          <a:bodyPr/>
          <a:lstStyle/>
          <a:p>
            <a:r>
              <a:rPr lang="en-US" dirty="0"/>
              <a:t>Disseminated intravascular coagulation (DIC) is a serious disorder in which the proteins that control blood clotting become overactive.</a:t>
            </a:r>
          </a:p>
        </p:txBody>
      </p:sp>
      <p:sp>
        <p:nvSpPr>
          <p:cNvPr id="3" name="Title 2"/>
          <p:cNvSpPr>
            <a:spLocks noGrp="1"/>
          </p:cNvSpPr>
          <p:nvPr>
            <p:ph type="title"/>
          </p:nvPr>
        </p:nvSpPr>
        <p:spPr/>
        <p:txBody>
          <a:bodyPr>
            <a:normAutofit fontScale="90000"/>
          </a:bodyPr>
          <a:lstStyle/>
          <a:p>
            <a:r>
              <a:rPr lang="en-US" dirty="0">
                <a:effectLst/>
              </a:rPr>
              <a:t>Disseminated intravascular coagulation (DIC)</a:t>
            </a:r>
            <a:br>
              <a:rPr lang="en-US" dirty="0">
                <a:effectLst/>
              </a:rPr>
            </a:br>
            <a:endParaRPr lang="en-US" dirty="0"/>
          </a:p>
        </p:txBody>
      </p:sp>
    </p:spTree>
    <p:extLst>
      <p:ext uri="{BB962C8B-B14F-4D97-AF65-F5344CB8AC3E}">
        <p14:creationId xmlns:p14="http://schemas.microsoft.com/office/powerpoint/2010/main" val="2908146455"/>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4940491"/>
          </a:xfrm>
        </p:spPr>
        <p:txBody>
          <a:bodyPr>
            <a:normAutofit fontScale="92500" lnSpcReduction="10000"/>
          </a:bodyPr>
          <a:lstStyle/>
          <a:p>
            <a:pPr fontAlgn="base"/>
            <a:r>
              <a:rPr lang="en-US" dirty="0"/>
              <a:t>When you are injured, proteins in the blood that form blood clots travel to the injury site to help stop bleeding. If these proteins become abnormally active throughout the body, you could develop DIC. </a:t>
            </a:r>
            <a:endParaRPr lang="en-US" dirty="0" smtClean="0"/>
          </a:p>
          <a:p>
            <a:pPr fontAlgn="base"/>
            <a:r>
              <a:rPr lang="en-US" dirty="0" smtClean="0"/>
              <a:t>The </a:t>
            </a:r>
            <a:r>
              <a:rPr lang="en-US" dirty="0"/>
              <a:t>underlying cause is usually due to inflammation, infection, or cancer.</a:t>
            </a:r>
          </a:p>
          <a:p>
            <a:pPr fontAlgn="base"/>
            <a:r>
              <a:rPr lang="en-US" dirty="0"/>
              <a:t>In some cases of DIC, small </a:t>
            </a:r>
            <a:r>
              <a:rPr lang="en-US" dirty="0">
                <a:hlinkClick r:id="rId2"/>
              </a:rPr>
              <a:t>blood clots</a:t>
            </a:r>
            <a:r>
              <a:rPr lang="en-US" dirty="0"/>
              <a:t> form in the blood vessels. Some of these clots can clog the vessels and cut off the normal blood supply to organs such as the liver, brain, or kidneys. Lack of blood flow can damage and cause major injury to the organs</a:t>
            </a:r>
            <a:r>
              <a:rPr lang="en-US" dirty="0" smtClean="0"/>
              <a:t>.</a:t>
            </a:r>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endParaRPr lang="en-US" dirty="0"/>
          </a:p>
        </p:txBody>
      </p:sp>
    </p:spTree>
    <p:extLst>
      <p:ext uri="{BB962C8B-B14F-4D97-AF65-F5344CB8AC3E}">
        <p14:creationId xmlns:p14="http://schemas.microsoft.com/office/powerpoint/2010/main" val="1946676740"/>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fontAlgn="base"/>
            <a:r>
              <a:rPr lang="en-US" dirty="0"/>
              <a:t>In other cases of DIC, the clotting proteins in your blood are consumed. When this happens, you may have a high risk of serious bleeding, even from a minor injury or without injury. You may also have bleeding that starts spontaneously (on its own). The disease can also cause your healthy red blood cells to fragment and break up when they travel through the small vessels that are filled with clots.</a:t>
            </a:r>
          </a:p>
          <a:p>
            <a:endParaRPr lang="en-US" dirty="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07662810"/>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fontAlgn="base"/>
            <a:r>
              <a:rPr lang="en-US" dirty="0"/>
              <a:t>Risk factors for DIC include:</a:t>
            </a:r>
          </a:p>
          <a:p>
            <a:pPr fontAlgn="base"/>
            <a:r>
              <a:rPr lang="en-US" dirty="0">
                <a:hlinkClick r:id="rId2"/>
              </a:rPr>
              <a:t>Blood transfusion reaction</a:t>
            </a:r>
            <a:endParaRPr lang="en-US" dirty="0"/>
          </a:p>
          <a:p>
            <a:pPr fontAlgn="base"/>
            <a:r>
              <a:rPr lang="en-US" dirty="0"/>
              <a:t>Cancer, especially certain types of leukemia</a:t>
            </a:r>
          </a:p>
          <a:p>
            <a:pPr fontAlgn="base"/>
            <a:r>
              <a:rPr lang="en-US" dirty="0"/>
              <a:t>Inflammation of the pancreas (pancreatitis)</a:t>
            </a:r>
          </a:p>
          <a:p>
            <a:pPr fontAlgn="base"/>
            <a:r>
              <a:rPr lang="en-US" dirty="0"/>
              <a:t>Infection in the blood, especially by bacteria or fungus</a:t>
            </a:r>
          </a:p>
          <a:p>
            <a:pPr fontAlgn="base"/>
            <a:r>
              <a:rPr lang="en-US" dirty="0">
                <a:hlinkClick r:id="rId3"/>
              </a:rPr>
              <a:t>Liver disease</a:t>
            </a:r>
            <a:endParaRPr lang="en-US" dirty="0"/>
          </a:p>
          <a:p>
            <a:pPr fontAlgn="base"/>
            <a:r>
              <a:rPr lang="en-US" dirty="0"/>
              <a:t>Pregnancy complications (such as placenta that is left behind after delivery)</a:t>
            </a:r>
          </a:p>
          <a:p>
            <a:pPr fontAlgn="base"/>
            <a:r>
              <a:rPr lang="en-US" dirty="0"/>
              <a:t>Recent surgery or anesthesia</a:t>
            </a:r>
          </a:p>
          <a:p>
            <a:pPr fontAlgn="base"/>
            <a:r>
              <a:rPr lang="en-US" dirty="0"/>
              <a:t>Severe tissue injury (as in burns and head injury)</a:t>
            </a:r>
          </a:p>
          <a:p>
            <a:pPr fontAlgn="base"/>
            <a:r>
              <a:rPr lang="en-US" dirty="0"/>
              <a:t>Large </a:t>
            </a:r>
            <a:r>
              <a:rPr lang="en-US" dirty="0" err="1"/>
              <a:t>hemangioma</a:t>
            </a:r>
            <a:r>
              <a:rPr lang="en-US" dirty="0"/>
              <a:t> (a blood vessel that is not formed properly</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290858699"/>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To help diagnose DIC, your doctor will ask about any medical conditions or recent events, such as illness or an injury, that could </a:t>
            </a:r>
            <a:r>
              <a:rPr lang="en-US" dirty="0">
                <a:hlinkClick r:id="rId2"/>
              </a:rPr>
              <a:t>cause</a:t>
            </a:r>
            <a:r>
              <a:rPr lang="en-US" dirty="0"/>
              <a:t> or be a </a:t>
            </a:r>
            <a:r>
              <a:rPr lang="en-US" dirty="0">
                <a:hlinkClick r:id="rId3"/>
              </a:rPr>
              <a:t>risk factor</a:t>
            </a:r>
            <a:r>
              <a:rPr lang="en-US" dirty="0"/>
              <a:t> for DIC. Your doctor will do a physical exam to look for </a:t>
            </a:r>
            <a:r>
              <a:rPr lang="en-US" dirty="0">
                <a:hlinkClick r:id="rId4"/>
              </a:rPr>
              <a:t>signs and symptoms</a:t>
            </a:r>
            <a:r>
              <a:rPr lang="en-US" dirty="0"/>
              <a:t> of blood clots, bleeding, or a condition that could cause DIC or a </a:t>
            </a:r>
            <a:r>
              <a:rPr lang="en-US" dirty="0">
                <a:hlinkClick r:id="rId4"/>
              </a:rPr>
              <a:t>complication</a:t>
            </a:r>
            <a:r>
              <a:rPr lang="en-US" dirty="0"/>
              <a:t> of DIC.</a:t>
            </a:r>
          </a:p>
        </p:txBody>
      </p:sp>
      <p:sp>
        <p:nvSpPr>
          <p:cNvPr id="3" name="Title 2"/>
          <p:cNvSpPr>
            <a:spLocks noGrp="1"/>
          </p:cNvSpPr>
          <p:nvPr>
            <p:ph type="title"/>
          </p:nvPr>
        </p:nvSpPr>
        <p:spPr/>
        <p:txBody>
          <a:bodyPr/>
          <a:lstStyle/>
          <a:p>
            <a:r>
              <a:rPr lang="en-US" dirty="0" smtClean="0"/>
              <a:t>diagnosis</a:t>
            </a:r>
            <a:endParaRPr lang="en-US" dirty="0"/>
          </a:p>
        </p:txBody>
      </p:sp>
    </p:spTree>
    <p:extLst>
      <p:ext uri="{BB962C8B-B14F-4D97-AF65-F5344CB8AC3E}">
        <p14:creationId xmlns:p14="http://schemas.microsoft.com/office/powerpoint/2010/main" val="1440397350"/>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f your doctor suspects DIC, the following </a:t>
            </a:r>
            <a:r>
              <a:rPr lang="en-US" dirty="0">
                <a:hlinkClick r:id="rId2"/>
              </a:rPr>
              <a:t>blood tests</a:t>
            </a:r>
            <a:r>
              <a:rPr lang="en-US" dirty="0"/>
              <a:t> may help diagnose it:</a:t>
            </a:r>
          </a:p>
          <a:p>
            <a:r>
              <a:rPr lang="en-US" b="1" dirty="0"/>
              <a:t>Blood clotting tests,</a:t>
            </a:r>
            <a:r>
              <a:rPr lang="en-US" dirty="0"/>
              <a:t> such as </a:t>
            </a:r>
            <a:r>
              <a:rPr lang="en-US" dirty="0" err="1"/>
              <a:t>prothrombin</a:t>
            </a:r>
            <a:r>
              <a:rPr lang="en-US" dirty="0"/>
              <a:t> time (PT) and partial </a:t>
            </a:r>
            <a:r>
              <a:rPr lang="en-US" dirty="0" err="1"/>
              <a:t>thromboplastin</a:t>
            </a:r>
            <a:r>
              <a:rPr lang="en-US" dirty="0"/>
              <a:t> time (PTT), to measure how well and how long it takes your blood to clot. If you have DIC, your clotting time may be longer than normal.</a:t>
            </a:r>
          </a:p>
          <a:p>
            <a:r>
              <a:rPr lang="en-US" b="1" dirty="0"/>
              <a:t>Complete blood count (CBC)</a:t>
            </a:r>
            <a:r>
              <a:rPr lang="en-US" dirty="0"/>
              <a:t> to measure the number of red blood cells, white blood cells, and platelets in your blood. If you have DIC, the numbers of platelets, red cells, or both may be low</a:t>
            </a:r>
            <a:r>
              <a:rPr lang="en-US" dirty="0" smtClean="0"/>
              <a:t>.</a:t>
            </a:r>
            <a:endParaRPr lang="en-US" dirty="0"/>
          </a:p>
        </p:txBody>
      </p:sp>
      <p:sp>
        <p:nvSpPr>
          <p:cNvPr id="3" name="Title 2"/>
          <p:cNvSpPr>
            <a:spLocks noGrp="1"/>
          </p:cNvSpPr>
          <p:nvPr>
            <p:ph type="title"/>
          </p:nvPr>
        </p:nvSpPr>
        <p:spPr/>
        <p:txBody>
          <a:bodyPr/>
          <a:lstStyle/>
          <a:p>
            <a:r>
              <a:rPr lang="en-US" dirty="0" smtClean="0"/>
              <a:t>Blood test</a:t>
            </a:r>
            <a:endParaRPr lang="en-US" dirty="0"/>
          </a:p>
        </p:txBody>
      </p:sp>
    </p:spTree>
    <p:extLst>
      <p:ext uri="{BB962C8B-B14F-4D97-AF65-F5344CB8AC3E}">
        <p14:creationId xmlns:p14="http://schemas.microsoft.com/office/powerpoint/2010/main" val="2773729686"/>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b="1" dirty="0"/>
              <a:t>Comprehensive metabolic panel (CMP)</a:t>
            </a:r>
            <a:r>
              <a:rPr lang="en-US" dirty="0"/>
              <a:t> to measure your kidney function, liver function, and the sugar and </a:t>
            </a:r>
            <a:r>
              <a:rPr lang="en-US" dirty="0">
                <a:hlinkClick r:id="rId2" tooltip="Definition of electrolyte"/>
              </a:rPr>
              <a:t>electrolyte</a:t>
            </a:r>
            <a:r>
              <a:rPr lang="en-US" dirty="0"/>
              <a:t> levels in your blood. Abnormal results could indicate that DIC caused damage to your kidneys or liver or could identify another underlying condition that caused your DIC</a:t>
            </a:r>
            <a:r>
              <a:rPr lang="en-US" dirty="0" smtClean="0"/>
              <a:t>.</a:t>
            </a:r>
          </a:p>
          <a:p>
            <a:r>
              <a:rPr lang="en-US" b="1" dirty="0"/>
              <a:t>Serum fibrinogen tests </a:t>
            </a:r>
            <a:r>
              <a:rPr lang="en-US" dirty="0"/>
              <a:t>to measure how much fibrinogen is in your blood. Fibrinogen is a protein that helps the blood clot and may be low if you have DIC</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83091482"/>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b="1" dirty="0"/>
              <a:t>D-dimer tests </a:t>
            </a:r>
            <a:r>
              <a:rPr lang="en-US" dirty="0"/>
              <a:t>to look for blood clots. The test measures D-dimer, a substance that is released in the blood when blood clots dissolve. D-dimer levels may be high if you have DIC.</a:t>
            </a:r>
          </a:p>
          <a:p>
            <a:r>
              <a:rPr lang="en-US" b="1" dirty="0"/>
              <a:t>Peripheral blood smear</a:t>
            </a:r>
            <a:r>
              <a:rPr lang="en-US" dirty="0"/>
              <a:t> to look at the number, size, and shape of your platelets and other blood cells. In a peripheral blood smear, a small amount of your blood is examined under a microscope. The presence of damaged red blood cells may suggest DIC.</a:t>
            </a:r>
          </a:p>
          <a:p>
            <a:r>
              <a:rPr lang="en-US" dirty="0" smtClean="0"/>
              <a:t>.</a:t>
            </a:r>
            <a:endParaRPr lang="en-US" dirty="0"/>
          </a:p>
          <a:p>
            <a:endParaRPr lang="en-US" dirty="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625515973"/>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Your doctor may use a scoring system to diagnose DIC. The score is based on your platelet count, PT, D-dimer test, and fibrinogen levels. The higher the score, the more likely it is that you have DIC. To make a diagnosis, your doctor may repeat some tests and monitor your condition over time.</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278650886"/>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Your doctor may use anticoagulants, also called blood thinners, to reduce blood clotting. You may be given them as a pill, as an injection, or through an IV. Possible side effects include bleeding, especially if you are taking other medicines that also thin your blood, such as aspirin.</a:t>
            </a:r>
          </a:p>
        </p:txBody>
      </p:sp>
      <p:sp>
        <p:nvSpPr>
          <p:cNvPr id="3" name="Title 2"/>
          <p:cNvSpPr>
            <a:spLocks noGrp="1"/>
          </p:cNvSpPr>
          <p:nvPr>
            <p:ph type="title"/>
          </p:nvPr>
        </p:nvSpPr>
        <p:spPr/>
        <p:txBody>
          <a:bodyPr/>
          <a:lstStyle/>
          <a:p>
            <a:r>
              <a:rPr lang="en-US" dirty="0" smtClean="0"/>
              <a:t>Treatment </a:t>
            </a:r>
            <a:endParaRPr lang="en-US" dirty="0"/>
          </a:p>
        </p:txBody>
      </p:sp>
    </p:spTree>
    <p:extLst>
      <p:ext uri="{BB962C8B-B14F-4D97-AF65-F5344CB8AC3E}">
        <p14:creationId xmlns:p14="http://schemas.microsoft.com/office/powerpoint/2010/main" val="2029493235"/>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our doctor may recommend the following treatments.</a:t>
            </a:r>
          </a:p>
          <a:p>
            <a:r>
              <a:rPr lang="en-US" b="1" dirty="0"/>
              <a:t>Clotting factor replacement </a:t>
            </a:r>
            <a:r>
              <a:rPr lang="en-US" dirty="0"/>
              <a:t>such as fibrinogen. This is used to stop bleeding.</a:t>
            </a:r>
          </a:p>
          <a:p>
            <a:r>
              <a:rPr lang="en-US" b="1" dirty="0">
                <a:hlinkClick r:id="rId2"/>
              </a:rPr>
              <a:t>Oxygen therapy</a:t>
            </a:r>
            <a:r>
              <a:rPr lang="en-US" b="1" dirty="0"/>
              <a:t> </a:t>
            </a:r>
            <a:r>
              <a:rPr lang="en-US" dirty="0"/>
              <a:t>to allow more oxygen to reach the lungs, the heart, and the rest of the body if blood clots are preventing oxygen from reaching your organs.</a:t>
            </a:r>
          </a:p>
          <a:p>
            <a:r>
              <a:rPr lang="en-US" b="1" dirty="0"/>
              <a:t>Plasma transfusion,</a:t>
            </a:r>
            <a:r>
              <a:rPr lang="en-US" dirty="0"/>
              <a:t> which provides clotting factors,</a:t>
            </a:r>
            <a:r>
              <a:rPr lang="en-US" b="1" dirty="0"/>
              <a:t> </a:t>
            </a:r>
            <a:r>
              <a:rPr lang="en-US" dirty="0"/>
              <a:t>to stop or prevent bleeding.</a:t>
            </a:r>
          </a:p>
          <a:p>
            <a:r>
              <a:rPr lang="en-US" b="1" dirty="0"/>
              <a:t>Platelet transfusion </a:t>
            </a:r>
            <a:r>
              <a:rPr lang="en-US" dirty="0"/>
              <a:t>to quickly raise platelet levels to stop or prevent bleeding</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135818260"/>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229600" cy="4711891"/>
          </a:xfrm>
        </p:spPr>
        <p:txBody>
          <a:bodyPr>
            <a:normAutofit fontScale="92500" lnSpcReduction="10000"/>
          </a:bodyPr>
          <a:lstStyle/>
          <a:p>
            <a:r>
              <a:rPr lang="en-US" dirty="0"/>
              <a:t>Hemophilia is a rare disorder in which your blood doesn't clot normally because it lacks sufficient blood-clotting proteins (clotting factors</a:t>
            </a:r>
            <a:r>
              <a:rPr lang="en-US" dirty="0" smtClean="0"/>
              <a:t>).</a:t>
            </a:r>
          </a:p>
          <a:p>
            <a:r>
              <a:rPr lang="en-US" dirty="0" smtClean="0"/>
              <a:t> </a:t>
            </a:r>
            <a:r>
              <a:rPr lang="en-US" dirty="0"/>
              <a:t>If you have hemophilia, you may bleed for a longer time after an injury than you would if your blood clotted normally</a:t>
            </a:r>
            <a:r>
              <a:rPr lang="en-US" dirty="0" smtClean="0"/>
              <a:t>.</a:t>
            </a:r>
          </a:p>
          <a:p>
            <a:r>
              <a:rPr lang="en-US" dirty="0"/>
              <a:t>Small cuts usually aren't much of a problem. If you have a severe deficiency of the clotting factor protein, the greater health concern is deep bleeding inside your body, especially in your knees, ankles and elbows. That internal bleeding can damage your organs and tissues, and may be life-threatening.</a:t>
            </a:r>
          </a:p>
        </p:txBody>
      </p:sp>
      <p:sp>
        <p:nvSpPr>
          <p:cNvPr id="3" name="Title 2"/>
          <p:cNvSpPr>
            <a:spLocks noGrp="1"/>
          </p:cNvSpPr>
          <p:nvPr>
            <p:ph type="title"/>
          </p:nvPr>
        </p:nvSpPr>
        <p:spPr/>
        <p:txBody>
          <a:bodyPr/>
          <a:lstStyle/>
          <a:p>
            <a:r>
              <a:rPr lang="en-US" dirty="0" err="1"/>
              <a:t>H</a:t>
            </a:r>
            <a:r>
              <a:rPr lang="en-US" dirty="0" err="1" smtClean="0"/>
              <a:t>aemophilia</a:t>
            </a:r>
            <a:endParaRPr lang="en-US" dirty="0"/>
          </a:p>
        </p:txBody>
      </p:sp>
    </p:spTree>
    <p:extLst>
      <p:ext uri="{BB962C8B-B14F-4D97-AF65-F5344CB8AC3E}">
        <p14:creationId xmlns:p14="http://schemas.microsoft.com/office/powerpoint/2010/main" val="3944237401"/>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Hemophilia is a genetic disorder. Treatment includes regular replacement of the specific clotting factor that is reduced.</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379964665"/>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321491"/>
          </a:xfrm>
        </p:spPr>
        <p:txBody>
          <a:bodyPr>
            <a:normAutofit fontScale="85000" lnSpcReduction="10000"/>
          </a:bodyPr>
          <a:lstStyle/>
          <a:p>
            <a:r>
              <a:rPr lang="en-US" dirty="0" smtClean="0"/>
              <a:t>Signs </a:t>
            </a:r>
            <a:r>
              <a:rPr lang="en-US" dirty="0"/>
              <a:t>and symptoms of hemophilia vary, depending on your level of clotting factors. If your clotting-factor level is mildly reduced, you may bleed only after surgery or trauma. If your deficiency is severe, you may experience spontaneous bleeding.</a:t>
            </a:r>
          </a:p>
          <a:p>
            <a:r>
              <a:rPr lang="en-US" dirty="0"/>
              <a:t>Signs and symptoms of spontaneous bleeding include:</a:t>
            </a:r>
          </a:p>
          <a:p>
            <a:r>
              <a:rPr lang="en-US" dirty="0"/>
              <a:t>Unexplained and excessive bleeding from cuts or injuries, or after surgery or dental work</a:t>
            </a:r>
          </a:p>
          <a:p>
            <a:r>
              <a:rPr lang="en-US" dirty="0"/>
              <a:t>Many large or deep bruises</a:t>
            </a:r>
          </a:p>
          <a:p>
            <a:r>
              <a:rPr lang="en-US" dirty="0"/>
              <a:t>Unusual bleeding after vaccinations</a:t>
            </a:r>
          </a:p>
          <a:p>
            <a:r>
              <a:rPr lang="en-US" dirty="0"/>
              <a:t>Pain, swelling or tightness in your joints</a:t>
            </a:r>
          </a:p>
          <a:p>
            <a:r>
              <a:rPr lang="en-US" dirty="0"/>
              <a:t>Blood in your urine or stool</a:t>
            </a:r>
          </a:p>
          <a:p>
            <a:r>
              <a:rPr lang="en-US" dirty="0"/>
              <a:t>Nosebleeds without a known cause</a:t>
            </a:r>
          </a:p>
          <a:p>
            <a:r>
              <a:rPr lang="en-US" dirty="0"/>
              <a:t>In infants, unexplained irritability</a:t>
            </a:r>
          </a:p>
          <a:p>
            <a:endParaRPr lang="en-US" dirty="0"/>
          </a:p>
        </p:txBody>
      </p:sp>
      <p:sp>
        <p:nvSpPr>
          <p:cNvPr id="3" name="Title 2"/>
          <p:cNvSpPr>
            <a:spLocks noGrp="1"/>
          </p:cNvSpPr>
          <p:nvPr>
            <p:ph type="title"/>
          </p:nvPr>
        </p:nvSpPr>
        <p:spPr>
          <a:xfrm>
            <a:off x="457200" y="274638"/>
            <a:ext cx="8229600" cy="411162"/>
          </a:xfrm>
        </p:spPr>
        <p:txBody>
          <a:bodyPr>
            <a:normAutofit fontScale="90000"/>
          </a:bodyPr>
          <a:lstStyle/>
          <a:p>
            <a:r>
              <a:rPr lang="en-US" dirty="0"/>
              <a:t>Symptoms</a:t>
            </a:r>
            <a:br>
              <a:rPr lang="en-US" dirty="0"/>
            </a:br>
            <a:endParaRPr lang="en-US" dirty="0"/>
          </a:p>
        </p:txBody>
      </p:sp>
    </p:spTree>
    <p:extLst>
      <p:ext uri="{BB962C8B-B14F-4D97-AF65-F5344CB8AC3E}">
        <p14:creationId xmlns:p14="http://schemas.microsoft.com/office/powerpoint/2010/main" val="3033290888"/>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5016691"/>
          </a:xfrm>
        </p:spPr>
        <p:txBody>
          <a:bodyPr>
            <a:normAutofit/>
          </a:bodyPr>
          <a:lstStyle/>
          <a:p>
            <a:r>
              <a:rPr lang="en-US" dirty="0" smtClean="0"/>
              <a:t>A </a:t>
            </a:r>
            <a:r>
              <a:rPr lang="en-US" dirty="0"/>
              <a:t>simple bump on the head can cause bleeding into the brain for some people who have severe hemophilia. This rarely happens, but it's one of the most serious complications that can occur. Signs and symptoms include:</a:t>
            </a:r>
          </a:p>
          <a:p>
            <a:r>
              <a:rPr lang="en-US" dirty="0"/>
              <a:t>Painful, prolonged headache</a:t>
            </a:r>
          </a:p>
          <a:p>
            <a:r>
              <a:rPr lang="en-US" dirty="0"/>
              <a:t>Repeated vomiting</a:t>
            </a:r>
          </a:p>
          <a:p>
            <a:r>
              <a:rPr lang="en-US" dirty="0"/>
              <a:t>Sleepiness or lethargy</a:t>
            </a:r>
          </a:p>
          <a:p>
            <a:r>
              <a:rPr lang="en-US" dirty="0"/>
              <a:t>Double vision</a:t>
            </a:r>
          </a:p>
          <a:p>
            <a:r>
              <a:rPr lang="en-US" dirty="0"/>
              <a:t>Sudden weakness or clumsiness</a:t>
            </a:r>
          </a:p>
          <a:p>
            <a:r>
              <a:rPr lang="en-US" dirty="0"/>
              <a:t>Convulsions or seizures</a:t>
            </a:r>
          </a:p>
          <a:p>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r>
              <a:rPr lang="en-US" dirty="0"/>
              <a:t>Bleeding into the brain</a:t>
            </a:r>
            <a:br>
              <a:rPr lang="en-US" dirty="0"/>
            </a:br>
            <a:endParaRPr lang="en-US" dirty="0"/>
          </a:p>
        </p:txBody>
      </p:sp>
    </p:spTree>
    <p:extLst>
      <p:ext uri="{BB962C8B-B14F-4D97-AF65-F5344CB8AC3E}">
        <p14:creationId xmlns:p14="http://schemas.microsoft.com/office/powerpoint/2010/main" val="1211481980"/>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b="1" dirty="0"/>
              <a:t>When to see a doctor</a:t>
            </a:r>
          </a:p>
          <a:p>
            <a:r>
              <a:rPr lang="en-US" dirty="0"/>
              <a:t>Seek emergency care if you or your child experiences:</a:t>
            </a:r>
          </a:p>
          <a:p>
            <a:r>
              <a:rPr lang="en-US" dirty="0"/>
              <a:t>Signs or symptoms of bleeding into the brain</a:t>
            </a:r>
          </a:p>
          <a:p>
            <a:r>
              <a:rPr lang="en-US" dirty="0"/>
              <a:t>An injury in which the bleeding won't stop</a:t>
            </a:r>
          </a:p>
          <a:p>
            <a:r>
              <a:rPr lang="en-US" dirty="0"/>
              <a:t>Swollen joints that are hot to the touch and painful to bend</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4274702514"/>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33400"/>
            <a:ext cx="8229600" cy="5473891"/>
          </a:xfrm>
        </p:spPr>
        <p:txBody>
          <a:bodyPr>
            <a:normAutofit/>
          </a:bodyPr>
          <a:lstStyle/>
          <a:p>
            <a:r>
              <a:rPr lang="en-US" dirty="0" smtClean="0"/>
              <a:t>When </a:t>
            </a:r>
            <a:r>
              <a:rPr lang="en-US" dirty="0"/>
              <a:t>you bleed, your body normally pools blood cells together to form a clot to stop the bleeding. The clotting process is encouraged by certain blood particles. Hemophilia occurs when you have a deficiency in one of these clotting factors.</a:t>
            </a:r>
          </a:p>
          <a:p>
            <a:r>
              <a:rPr lang="en-US" dirty="0"/>
              <a:t>There are several types of hemophilia, and most forms are inherited. However, about 30% of people with hemophilia have no family history of the disorder. In these people, an unexpected change occurs in one of the genes associated with hemophilia.</a:t>
            </a:r>
          </a:p>
          <a:p>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r>
              <a:rPr lang="en-US" dirty="0"/>
              <a:t>Causes</a:t>
            </a:r>
            <a:br>
              <a:rPr lang="en-US" dirty="0"/>
            </a:br>
            <a:endParaRPr lang="en-US" dirty="0"/>
          </a:p>
        </p:txBody>
      </p:sp>
    </p:spTree>
    <p:extLst>
      <p:ext uri="{BB962C8B-B14F-4D97-AF65-F5344CB8AC3E}">
        <p14:creationId xmlns:p14="http://schemas.microsoft.com/office/powerpoint/2010/main" val="2293030518"/>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Acquired hemophilia is a rare variety of the condition that occurs when a person's immune system attacks clotting factors in the blood. It can be associated with:</a:t>
            </a:r>
          </a:p>
          <a:p>
            <a:r>
              <a:rPr lang="en-US" dirty="0"/>
              <a:t>Pregnancy</a:t>
            </a:r>
          </a:p>
          <a:p>
            <a:r>
              <a:rPr lang="en-US" dirty="0"/>
              <a:t>Autoimmune conditions</a:t>
            </a:r>
          </a:p>
          <a:p>
            <a:r>
              <a:rPr lang="en-US" dirty="0"/>
              <a:t>Cancer</a:t>
            </a:r>
          </a:p>
          <a:p>
            <a:r>
              <a:rPr lang="en-US" dirty="0"/>
              <a:t>Multiple sclerosis</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938701381"/>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Hemophilia inheritance</a:t>
            </a:r>
          </a:p>
          <a:p>
            <a:r>
              <a:rPr lang="en-US" dirty="0"/>
              <a:t>In the most common types of hemophilia, the faulty gene is located on the X chromosome. Everyone has two sex chromosomes, one from each parent. A female inherits an X chromosome from her mother and an X chromosome from her father. A male inherits an X chromosome from his mother and a Y chromosome from his father.</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662008039"/>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This means that hemophilia almost always occurs in boys and is passed from mother to son through one of the mother's genes. Most women with the defective gene are simply carriers and experience no signs or symptoms of hemophilia. But some carriers can experience bleeding symptoms if their clotting factors are moderately decreased</a:t>
            </a:r>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3363344324"/>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19200"/>
            <a:ext cx="8229600" cy="4788091"/>
          </a:xfrm>
        </p:spPr>
        <p:txBody>
          <a:bodyPr>
            <a:normAutofit/>
          </a:bodyPr>
          <a:lstStyle/>
          <a:p>
            <a:pPr marL="109728" indent="0">
              <a:buNone/>
            </a:pPr>
            <a:r>
              <a:rPr lang="en-US" b="1" u="sng" dirty="0" smtClean="0"/>
              <a:t>Risk factors</a:t>
            </a:r>
          </a:p>
          <a:p>
            <a:r>
              <a:rPr lang="en-US" dirty="0" smtClean="0"/>
              <a:t>The </a:t>
            </a:r>
            <a:r>
              <a:rPr lang="en-US" dirty="0"/>
              <a:t>biggest risk factor for hemophilia is to have family members who also have the disorder.</a:t>
            </a:r>
          </a:p>
          <a:p>
            <a:pPr marL="109728" indent="0">
              <a:buNone/>
            </a:pPr>
            <a:r>
              <a:rPr lang="en-US" b="1" u="sng" dirty="0"/>
              <a:t>Complications</a:t>
            </a:r>
          </a:p>
          <a:p>
            <a:r>
              <a:rPr lang="en-US" dirty="0"/>
              <a:t>Complications of hemophilia may include:</a:t>
            </a:r>
          </a:p>
          <a:p>
            <a:r>
              <a:rPr lang="en-US" b="1" dirty="0"/>
              <a:t>Deep internal bleeding.</a:t>
            </a:r>
            <a:r>
              <a:rPr lang="en-US" dirty="0"/>
              <a:t> Bleeding that occurs in deep muscle can cause your limbs to swell. The swelling may press on nerves and lead to numbness or pain.</a:t>
            </a:r>
          </a:p>
          <a:p>
            <a:endParaRPr lang="en-US" dirty="0"/>
          </a:p>
        </p:txBody>
      </p:sp>
      <p:sp>
        <p:nvSpPr>
          <p:cNvPr id="3" name="Title 2"/>
          <p:cNvSpPr>
            <a:spLocks noGrp="1"/>
          </p:cNvSpPr>
          <p:nvPr>
            <p:ph type="title"/>
          </p:nvPr>
        </p:nvSpPr>
        <p:spPr/>
        <p:txBody>
          <a:bodyPr>
            <a:normAutofit fontScale="90000"/>
          </a:bodyPr>
          <a:lstStyle/>
          <a:p>
            <a:r>
              <a:rPr lang="en-US" dirty="0"/>
              <a:t>Risk </a:t>
            </a:r>
            <a:r>
              <a:rPr lang="en-US" dirty="0" smtClean="0"/>
              <a:t>factors/complications</a:t>
            </a:r>
            <a:r>
              <a:rPr lang="en-US" dirty="0"/>
              <a:t/>
            </a:r>
            <a:br>
              <a:rPr lang="en-US" dirty="0"/>
            </a:br>
            <a:endParaRPr lang="en-US" dirty="0"/>
          </a:p>
        </p:txBody>
      </p:sp>
    </p:spTree>
    <p:extLst>
      <p:ext uri="{BB962C8B-B14F-4D97-AF65-F5344CB8AC3E}">
        <p14:creationId xmlns:p14="http://schemas.microsoft.com/office/powerpoint/2010/main" val="3994287406"/>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b="1" dirty="0"/>
              <a:t>Damage to joints.</a:t>
            </a:r>
            <a:r>
              <a:rPr lang="en-US" dirty="0"/>
              <a:t> Internal bleeding may also put pressure on your joints, causing severe pain. Left untreated, frequent internal bleeding may cause arthritis or destruction of the joint.</a:t>
            </a:r>
          </a:p>
          <a:p>
            <a:r>
              <a:rPr lang="en-US" b="1" dirty="0"/>
              <a:t>Infection.</a:t>
            </a:r>
            <a:r>
              <a:rPr lang="en-US" dirty="0"/>
              <a:t> People with hemophilia are likelier to have blood transfusions, increasing their risk of receiving contaminated blood products. Blood products became safer after the mid-1980s due to screening of donated blood for hepatitis and HIV.</a:t>
            </a:r>
          </a:p>
          <a:p>
            <a:r>
              <a:rPr lang="en-US" dirty="0" smtClean="0"/>
              <a:t>.</a:t>
            </a:r>
            <a:endParaRPr lang="en-US" dirty="0"/>
          </a:p>
          <a:p>
            <a:endParaRPr lang="en-US" dirty="0"/>
          </a:p>
        </p:txBody>
      </p:sp>
      <p:sp>
        <p:nvSpPr>
          <p:cNvPr id="3" name="Title 2"/>
          <p:cNvSpPr>
            <a:spLocks noGrp="1"/>
          </p:cNvSpPr>
          <p:nvPr>
            <p:ph type="title"/>
          </p:nvPr>
        </p:nvSpPr>
        <p:spPr/>
        <p:txBody>
          <a:bodyPr/>
          <a:lstStyle/>
          <a:p>
            <a:r>
              <a:rPr lang="en-US" dirty="0"/>
              <a:t>complications</a:t>
            </a:r>
          </a:p>
        </p:txBody>
      </p:sp>
    </p:spTree>
    <p:extLst>
      <p:ext uri="{BB962C8B-B14F-4D97-AF65-F5344CB8AC3E}">
        <p14:creationId xmlns:p14="http://schemas.microsoft.com/office/powerpoint/2010/main" val="3403860224"/>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Adverse reaction to clotting factor treatment.</a:t>
            </a:r>
            <a:r>
              <a:rPr lang="en-US" dirty="0"/>
              <a:t> In some people with severe hemophilia, the immune system has a negative reaction to the clotting factors used to treat bleeding. When this happens, the immune system develops proteins (known as inhibitors) that inactivate the clotting factors, making treatment less effective</a:t>
            </a:r>
          </a:p>
        </p:txBody>
      </p:sp>
      <p:sp>
        <p:nvSpPr>
          <p:cNvPr id="3" name="Title 2"/>
          <p:cNvSpPr>
            <a:spLocks noGrp="1"/>
          </p:cNvSpPr>
          <p:nvPr>
            <p:ph type="title"/>
          </p:nvPr>
        </p:nvSpPr>
        <p:spPr/>
        <p:txBody>
          <a:bodyPr/>
          <a:lstStyle/>
          <a:p>
            <a:r>
              <a:rPr lang="en-US" dirty="0" smtClean="0"/>
              <a:t>complications</a:t>
            </a:r>
            <a:endParaRPr lang="en-US" dirty="0"/>
          </a:p>
        </p:txBody>
      </p:sp>
    </p:spTree>
    <p:extLst>
      <p:ext uri="{BB962C8B-B14F-4D97-AF65-F5344CB8AC3E}">
        <p14:creationId xmlns:p14="http://schemas.microsoft.com/office/powerpoint/2010/main" val="1755096951"/>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914400"/>
            <a:ext cx="8839200" cy="5410200"/>
          </a:xfrm>
        </p:spPr>
        <p:txBody>
          <a:bodyPr>
            <a:normAutofit lnSpcReduction="10000"/>
          </a:bodyPr>
          <a:lstStyle/>
          <a:p>
            <a:r>
              <a:rPr lang="en-US" dirty="0" smtClean="0"/>
              <a:t>For </a:t>
            </a:r>
            <a:r>
              <a:rPr lang="en-US" dirty="0"/>
              <a:t>people with a family history of hemophilia, it's possible to determine during pregnancy if the fetus is affected by hemophilia. However, the testing poses some risks to the fetus</a:t>
            </a:r>
            <a:r>
              <a:rPr lang="en-US" dirty="0" smtClean="0"/>
              <a:t>.</a:t>
            </a:r>
            <a:endParaRPr lang="en-US" dirty="0"/>
          </a:p>
          <a:p>
            <a:r>
              <a:rPr lang="en-US" dirty="0"/>
              <a:t>In children and adults, a blood test can reveal a clotting-factor deficiency. Depending on the severity of the deficiency, hemophilia symptoms can first arise at various ages.</a:t>
            </a:r>
          </a:p>
          <a:p>
            <a:r>
              <a:rPr lang="en-US" dirty="0"/>
              <a:t>Severe cases of hemophilia usually are diagnosed within the first year of life. Mild forms may not be apparent until adulthood. Some people first learn that they have hemophilia after they bleed excessively during a surgical procedure</a:t>
            </a:r>
          </a:p>
          <a:p>
            <a:endParaRPr lang="en-US" dirty="0"/>
          </a:p>
        </p:txBody>
      </p:sp>
      <p:sp>
        <p:nvSpPr>
          <p:cNvPr id="3" name="Title 2"/>
          <p:cNvSpPr>
            <a:spLocks noGrp="1"/>
          </p:cNvSpPr>
          <p:nvPr>
            <p:ph type="title"/>
          </p:nvPr>
        </p:nvSpPr>
        <p:spPr/>
        <p:txBody>
          <a:bodyPr>
            <a:normAutofit fontScale="90000"/>
          </a:bodyPr>
          <a:lstStyle/>
          <a:p>
            <a:r>
              <a:rPr lang="en-US" dirty="0"/>
              <a:t>Diagnosis</a:t>
            </a:r>
            <a:br>
              <a:rPr lang="en-US" dirty="0"/>
            </a:br>
            <a:endParaRPr lang="en-US" dirty="0"/>
          </a:p>
        </p:txBody>
      </p:sp>
    </p:spTree>
    <p:extLst>
      <p:ext uri="{BB962C8B-B14F-4D97-AF65-F5344CB8AC3E}">
        <p14:creationId xmlns:p14="http://schemas.microsoft.com/office/powerpoint/2010/main" val="3472293665"/>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5257800"/>
          </a:xfrm>
        </p:spPr>
        <p:txBody>
          <a:bodyPr>
            <a:normAutofit/>
          </a:bodyPr>
          <a:lstStyle/>
          <a:p>
            <a:r>
              <a:rPr lang="en-US" dirty="0" smtClean="0"/>
              <a:t>Several </a:t>
            </a:r>
            <a:r>
              <a:rPr lang="en-US" dirty="0"/>
              <a:t>different types of clotting factors are associated with different varieties of hemophilia. The main treatment for severe hemophilia involves receiving replacement of the specific clotting factor that you need through a tube placed in a vein.</a:t>
            </a:r>
          </a:p>
          <a:p>
            <a:r>
              <a:rPr lang="en-US" dirty="0"/>
              <a:t>This replacement therapy can be given to combat a bleeding episode that's in progress. It can also be administered on a regular schedule at home to help prevent bleeding episodes. Some people receive continuous replacement therapy.</a:t>
            </a:r>
          </a:p>
          <a:p>
            <a:endParaRPr lang="en-US" dirty="0"/>
          </a:p>
        </p:txBody>
      </p:sp>
      <p:sp>
        <p:nvSpPr>
          <p:cNvPr id="3" name="Title 2"/>
          <p:cNvSpPr>
            <a:spLocks noGrp="1"/>
          </p:cNvSpPr>
          <p:nvPr>
            <p:ph type="title"/>
          </p:nvPr>
        </p:nvSpPr>
        <p:spPr/>
        <p:txBody>
          <a:bodyPr>
            <a:normAutofit fontScale="90000"/>
          </a:bodyPr>
          <a:lstStyle/>
          <a:p>
            <a:r>
              <a:rPr lang="en-US" dirty="0"/>
              <a:t>Treatment</a:t>
            </a:r>
            <a:br>
              <a:rPr lang="en-US" dirty="0"/>
            </a:br>
            <a:endParaRPr lang="en-US" dirty="0"/>
          </a:p>
        </p:txBody>
      </p:sp>
    </p:spTree>
    <p:extLst>
      <p:ext uri="{BB962C8B-B14F-4D97-AF65-F5344CB8AC3E}">
        <p14:creationId xmlns:p14="http://schemas.microsoft.com/office/powerpoint/2010/main" val="2427863629"/>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Replacement clotting factor can be made from donated blood. Similar products, called recombinant clotting factors, are manufactured in a laboratory and aren't made from human blood.</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541557766"/>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245291"/>
          </a:xfrm>
        </p:spPr>
        <p:txBody>
          <a:bodyPr>
            <a:normAutofit fontScale="92500" lnSpcReduction="20000"/>
          </a:bodyPr>
          <a:lstStyle/>
          <a:p>
            <a:r>
              <a:rPr lang="en-US" b="1" dirty="0" err="1" smtClean="0"/>
              <a:t>Desmopressin</a:t>
            </a:r>
            <a:r>
              <a:rPr lang="en-US" b="1" dirty="0"/>
              <a:t>.</a:t>
            </a:r>
            <a:r>
              <a:rPr lang="en-US" dirty="0"/>
              <a:t> In some forms of mild hemophilia, this hormone can stimulate your body to release more clotting factor. It can be injected slowly into a vein or provided as a nasal spray.</a:t>
            </a:r>
          </a:p>
          <a:p>
            <a:r>
              <a:rPr lang="en-US" b="1" dirty="0"/>
              <a:t>Clot-preserving medications.</a:t>
            </a:r>
            <a:r>
              <a:rPr lang="en-US" dirty="0"/>
              <a:t> These medications help prevent clots from breaking down.</a:t>
            </a:r>
          </a:p>
          <a:p>
            <a:r>
              <a:rPr lang="en-US" b="1" dirty="0"/>
              <a:t>Fibrin sealants.</a:t>
            </a:r>
            <a:r>
              <a:rPr lang="en-US" dirty="0"/>
              <a:t> These medications can be applied directly to wound sites to promote clotting and healing. Fibrin sealants are especially useful in dental therapy.</a:t>
            </a:r>
          </a:p>
          <a:p>
            <a:r>
              <a:rPr lang="en-US" b="1" dirty="0"/>
              <a:t>Physical therapy.</a:t>
            </a:r>
            <a:r>
              <a:rPr lang="en-US" dirty="0"/>
              <a:t> It can ease signs and symptoms if internal bleeding has damaged your joints. If internal bleeding has caused severe damage, you may need surgery</a:t>
            </a:r>
            <a:r>
              <a:rPr lang="en-US" dirty="0" smtClean="0"/>
              <a:t>.</a:t>
            </a:r>
            <a:endParaRPr lang="en-US" dirty="0"/>
          </a:p>
        </p:txBody>
      </p:sp>
      <p:sp>
        <p:nvSpPr>
          <p:cNvPr id="3" name="Title 2"/>
          <p:cNvSpPr>
            <a:spLocks noGrp="1"/>
          </p:cNvSpPr>
          <p:nvPr>
            <p:ph type="title"/>
          </p:nvPr>
        </p:nvSpPr>
        <p:spPr/>
        <p:txBody>
          <a:bodyPr>
            <a:normAutofit fontScale="90000"/>
          </a:bodyPr>
          <a:lstStyle/>
          <a:p>
            <a:r>
              <a:rPr lang="en-US" dirty="0"/>
              <a:t>Other therapies may include:</a:t>
            </a:r>
            <a:br>
              <a:rPr lang="en-US" dirty="0"/>
            </a:br>
            <a:endParaRPr lang="en-US" dirty="0"/>
          </a:p>
        </p:txBody>
      </p:sp>
    </p:spTree>
    <p:extLst>
      <p:ext uri="{BB962C8B-B14F-4D97-AF65-F5344CB8AC3E}">
        <p14:creationId xmlns:p14="http://schemas.microsoft.com/office/powerpoint/2010/main" val="1899166262"/>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b="1" dirty="0"/>
              <a:t>First aid for minor cuts.</a:t>
            </a:r>
            <a:r>
              <a:rPr lang="en-US" dirty="0"/>
              <a:t> Using pressure and a bandage will generally take care of the bleeding. For small areas of bleeding beneath the skin, use an ice pack. Ice pops can be used to slow down minor bleeding in the mouth.</a:t>
            </a:r>
          </a:p>
          <a:p>
            <a:r>
              <a:rPr lang="en-US" b="1" dirty="0"/>
              <a:t>Vaccinations.</a:t>
            </a:r>
            <a:r>
              <a:rPr lang="en-US" dirty="0"/>
              <a:t> Although blood products are screened, it's still possible for people who rely on them to contract diseases. If you have hemophilia, consider receiving immunization against hepatitis A and B.</a:t>
            </a:r>
          </a:p>
          <a:p>
            <a:endParaRPr lang="en-US" dirty="0"/>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783448929"/>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Thrombocytopenia </a:t>
            </a:r>
            <a:r>
              <a:rPr lang="en-US" dirty="0" err="1" smtClean="0"/>
              <a:t>purpura</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219200"/>
            <a:ext cx="9220200" cy="5638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8292929"/>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304800"/>
            <a:ext cx="91440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4648144"/>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 y="1371600"/>
            <a:ext cx="9067800" cy="524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0265953"/>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 y="457200"/>
            <a:ext cx="8500558"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5027920"/>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838200"/>
            <a:ext cx="89154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0019618"/>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533400"/>
            <a:ext cx="922020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1725700"/>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609600"/>
            <a:ext cx="8763000"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2874971"/>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914400"/>
            <a:ext cx="92202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7277540"/>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990600"/>
            <a:ext cx="937260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2240771"/>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52400"/>
            <a:ext cx="853440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4105918"/>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1481138"/>
            <a:ext cx="868680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9192541"/>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914400"/>
            <a:ext cx="92202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1467913"/>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112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 y="838200"/>
            <a:ext cx="8839200"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7340408"/>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smtClean="0"/>
          </a:p>
          <a:p>
            <a:endParaRPr lang="en-US" dirty="0"/>
          </a:p>
          <a:p>
            <a:endParaRPr lang="en-US" dirty="0" smtClean="0"/>
          </a:p>
          <a:p>
            <a:endParaRPr lang="en-US" dirty="0"/>
          </a:p>
          <a:p>
            <a:pPr marL="109728" indent="0">
              <a:buNone/>
            </a:pPr>
            <a:r>
              <a:rPr lang="en-US" dirty="0" smtClean="0"/>
              <a:t>			Thank </a:t>
            </a:r>
            <a:r>
              <a:rPr lang="en-US" dirty="0"/>
              <a:t>you</a:t>
            </a:r>
          </a:p>
          <a:p>
            <a:endParaRPr lang="en-US" dirty="0"/>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172471398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1982</TotalTime>
  <Words>11143</Words>
  <Application>Microsoft Office PowerPoint</Application>
  <PresentationFormat>On-screen Show (4:3)</PresentationFormat>
  <Paragraphs>1077</Paragraphs>
  <Slides>279</Slides>
  <Notes>0</Notes>
  <HiddenSlides>0</HiddenSlides>
  <MMClips>0</MMClips>
  <ScaleCrop>false</ScaleCrop>
  <HeadingPairs>
    <vt:vector size="4" baseType="variant">
      <vt:variant>
        <vt:lpstr>Theme</vt:lpstr>
      </vt:variant>
      <vt:variant>
        <vt:i4>1</vt:i4>
      </vt:variant>
      <vt:variant>
        <vt:lpstr>Slide Titles</vt:lpstr>
      </vt:variant>
      <vt:variant>
        <vt:i4>279</vt:i4>
      </vt:variant>
    </vt:vector>
  </HeadingPairs>
  <TitlesOfParts>
    <vt:vector size="280" baseType="lpstr">
      <vt:lpstr>Concourse</vt:lpstr>
      <vt:lpstr>PowerPoint Presentation</vt:lpstr>
      <vt:lpstr>INTRODUCTION </vt:lpstr>
      <vt:lpstr>INTRODUCTION CONT’D</vt:lpstr>
      <vt:lpstr>THE BLOOD</vt:lpstr>
      <vt:lpstr>PowerPoint Presentation</vt:lpstr>
      <vt:lpstr>Blood plasma </vt:lpstr>
      <vt:lpstr>PowerPoint Presentation</vt:lpstr>
      <vt:lpstr>Formed elements </vt:lpstr>
      <vt:lpstr>RED BLOOD CELL</vt:lpstr>
      <vt:lpstr>Red Blood Cells </vt:lpstr>
      <vt:lpstr>PowerPoint Presentation</vt:lpstr>
      <vt:lpstr>PowerPoint Presentation</vt:lpstr>
      <vt:lpstr>White Blood Cells</vt:lpstr>
      <vt:lpstr>PowerPoint Presentation</vt:lpstr>
      <vt:lpstr>PowerPoint Presentation</vt:lpstr>
      <vt:lpstr>(a) Polymorphonuclear Leucocytes</vt:lpstr>
      <vt:lpstr>Neutrophils </vt:lpstr>
      <vt:lpstr>Eosinophils </vt:lpstr>
      <vt:lpstr>PowerPoint Presentation</vt:lpstr>
      <vt:lpstr>Basophils</vt:lpstr>
      <vt:lpstr>(b) Mononuclear Leucocytes</vt:lpstr>
      <vt:lpstr>PowerPoint Presentation</vt:lpstr>
      <vt:lpstr>PowerPoint Presentation</vt:lpstr>
      <vt:lpstr>PowerPoint Presentation</vt:lpstr>
      <vt:lpstr>PowerPoint Presentation</vt:lpstr>
      <vt:lpstr>Platelets </vt:lpstr>
      <vt:lpstr>PowerPoint Presentation</vt:lpstr>
      <vt:lpstr>PowerPoint Presentation</vt:lpstr>
      <vt:lpstr>Function of memory cells </vt:lpstr>
      <vt:lpstr>Response of activated lymphocytes </vt:lpstr>
      <vt:lpstr>  ANEMIAS</vt:lpstr>
      <vt:lpstr>PowerPoint Presentation</vt:lpstr>
      <vt:lpstr>Etiologic classification of Anemia</vt:lpstr>
      <vt:lpstr>PowerPoint Presentation</vt:lpstr>
      <vt:lpstr>Classification of anemia cont’d</vt:lpstr>
      <vt:lpstr>Classification of anemia cont’d</vt:lpstr>
      <vt:lpstr>Classification of anemia cont’d</vt:lpstr>
      <vt:lpstr>PowerPoint Presentation</vt:lpstr>
      <vt:lpstr>BLOOD CELL DISORDERS </vt:lpstr>
      <vt:lpstr>Types of anemia</vt:lpstr>
      <vt:lpstr>The Role of Haemoglobin </vt:lpstr>
      <vt:lpstr>Genetic Mutation </vt:lpstr>
      <vt:lpstr>PowerPoint Presentation</vt:lpstr>
      <vt:lpstr>Sickle Cell: Pathophysiology</vt:lpstr>
      <vt:lpstr>FACTORS THAT INCREASE Hgb S POLYMERIZATION</vt:lpstr>
      <vt:lpstr>Symptoms </vt:lpstr>
      <vt:lpstr>PowerPoint Presentation</vt:lpstr>
      <vt:lpstr>PowerPoint Presentation</vt:lpstr>
      <vt:lpstr>PowerPoint Presentation</vt:lpstr>
      <vt:lpstr>When to see a doctor</vt:lpstr>
      <vt:lpstr>PowerPoint Presentation</vt:lpstr>
      <vt:lpstr>Causes</vt:lpstr>
      <vt:lpstr>PowerPoint Presentation</vt:lpstr>
      <vt:lpstr>PowerPoint Presentation</vt:lpstr>
      <vt:lpstr>Diagnosis </vt:lpstr>
      <vt:lpstr>The SICKLE CELL CRISIS</vt:lpstr>
      <vt:lpstr>PowerPoint Presentation</vt:lpstr>
      <vt:lpstr>PowerPoint Presentation</vt:lpstr>
      <vt:lpstr>PowerPoint Presentation</vt:lpstr>
      <vt:lpstr>Tests to detect sickle cell genes before birth </vt:lpstr>
      <vt:lpstr>PowerPoint Presentation</vt:lpstr>
      <vt:lpstr>Treatment </vt:lpstr>
      <vt:lpstr>Treatment cont’d</vt:lpstr>
      <vt:lpstr>Medications </vt:lpstr>
      <vt:lpstr>PowerPoint Presentation</vt:lpstr>
      <vt:lpstr>PowerPoint Presentation</vt:lpstr>
      <vt:lpstr>Assessing stroke risk </vt:lpstr>
      <vt:lpstr>Vaccinations to prevent infections</vt:lpstr>
      <vt:lpstr>Blood transfusions </vt:lpstr>
      <vt:lpstr>PowerPoint Presentation</vt:lpstr>
      <vt:lpstr>Bone marrow transplant</vt:lpstr>
      <vt:lpstr>PowerPoint Presentation</vt:lpstr>
      <vt:lpstr>PowerPoint Presentation</vt:lpstr>
      <vt:lpstr>Treating sickle cell complications </vt:lpstr>
      <vt:lpstr>Experimental treatments </vt:lpstr>
      <vt:lpstr>PowerPoint Presentation</vt:lpstr>
      <vt:lpstr>Iron deficiency anemia</vt:lpstr>
      <vt:lpstr>What Causes Iron Deficiency Anemia? </vt:lpstr>
      <vt:lpstr>PowerPoint Presentation</vt:lpstr>
      <vt:lpstr>What Are the Symptoms?</vt:lpstr>
      <vt:lpstr>PowerPoint Presentation</vt:lpstr>
      <vt:lpstr>How Is It Diagnosed?</vt:lpstr>
      <vt:lpstr>PowerPoint Presentation</vt:lpstr>
      <vt:lpstr>PowerPoint Presentation</vt:lpstr>
      <vt:lpstr>When to see a doctor </vt:lpstr>
      <vt:lpstr>What’s the Treatment? </vt:lpstr>
      <vt:lpstr>PowerPoint Presentation</vt:lpstr>
      <vt:lpstr>PowerPoint Presentation</vt:lpstr>
      <vt:lpstr>Aplastic anemia</vt:lpstr>
      <vt:lpstr>PowerPoint Presentation</vt:lpstr>
      <vt:lpstr>Symptoms </vt:lpstr>
      <vt:lpstr>Causes </vt:lpstr>
      <vt:lpstr>PowerPoint Presentation</vt:lpstr>
      <vt:lpstr>PowerPoint Presentation</vt:lpstr>
      <vt:lpstr>PowerPoint Presentation</vt:lpstr>
      <vt:lpstr>Risk factors</vt:lpstr>
      <vt:lpstr>Prevention</vt:lpstr>
      <vt:lpstr>Diagnosis </vt:lpstr>
      <vt:lpstr>Treatment </vt:lpstr>
      <vt:lpstr>PowerPoint Presentation</vt:lpstr>
      <vt:lpstr>Stem cell transplant </vt:lpstr>
      <vt:lpstr>PowerPoint Presentation</vt:lpstr>
      <vt:lpstr>Immunosuppressants </vt:lpstr>
      <vt:lpstr>PowerPoint Presentation</vt:lpstr>
      <vt:lpstr>PowerPoint Presentation</vt:lpstr>
      <vt:lpstr>PowerPoint Presentation</vt:lpstr>
      <vt:lpstr>Other treatments </vt:lpstr>
      <vt:lpstr>Lifestyle and home remedies </vt:lpstr>
      <vt:lpstr>PowerPoint Presentation</vt:lpstr>
      <vt:lpstr>PowerPoint Presentation</vt:lpstr>
      <vt:lpstr>THALLASEMIA</vt:lpstr>
      <vt:lpstr>PowerPoint Presentation</vt:lpstr>
      <vt:lpstr>Symptoms </vt:lpstr>
      <vt:lpstr>PowerPoint Presentation</vt:lpstr>
      <vt:lpstr>Causes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Prevention </vt:lpstr>
      <vt:lpstr>Diagnosis </vt:lpstr>
      <vt:lpstr>PowerPoint Presentation</vt:lpstr>
      <vt:lpstr>Prenatal testing </vt:lpstr>
      <vt:lpstr>Assisted reproductive technology </vt:lpstr>
      <vt:lpstr>Treatment </vt:lpstr>
      <vt:lpstr>Treatments for mild thalassemia </vt:lpstr>
      <vt:lpstr>Treatments for moderate to severe thalassemia</vt:lpstr>
      <vt:lpstr>PowerPoint Presentation</vt:lpstr>
      <vt:lpstr>Lifestyle and home remedies </vt:lpstr>
      <vt:lpstr>PowerPoint Presentation</vt:lpstr>
      <vt:lpstr>Coping and support </vt:lpstr>
      <vt:lpstr>Preparing for your appointment </vt:lpstr>
      <vt:lpstr>What you can do </vt:lpstr>
      <vt:lpstr>Vitamin deficiency anemia</vt:lpstr>
      <vt:lpstr>PowerPoint Presentation</vt:lpstr>
      <vt:lpstr>Symptoms </vt:lpstr>
      <vt:lpstr>PowerPoint Presentation</vt:lpstr>
      <vt:lpstr>Causes </vt:lpstr>
      <vt:lpstr>PowerPoint Presentation</vt:lpstr>
      <vt:lpstr>PowerPoint Presentation</vt:lpstr>
      <vt:lpstr>PowerPoint Presentation</vt:lpstr>
      <vt:lpstr>PowerPoint Presentation</vt:lpstr>
      <vt:lpstr>PowerPoint Presentation</vt:lpstr>
      <vt:lpstr>Risk factors </vt:lpstr>
      <vt:lpstr>PowerPoint Presentation</vt:lpstr>
      <vt:lpstr>Some risk factors are unique to specific vitamin deficiencies</vt:lpstr>
      <vt:lpstr>PowerPoint Presentation</vt:lpstr>
      <vt:lpstr>Complications </vt:lpstr>
      <vt:lpstr>PowerPoint Presentation</vt:lpstr>
      <vt:lpstr>Prevention </vt:lpstr>
      <vt:lpstr>PowerPoint Presentation</vt:lpstr>
      <vt:lpstr>PowerPoint Presentation</vt:lpstr>
      <vt:lpstr>PowerPoint Presentation</vt:lpstr>
      <vt:lpstr>PowerPoint Presentation</vt:lpstr>
      <vt:lpstr>Diagnosis </vt:lpstr>
      <vt:lpstr>PowerPoint Presentation</vt:lpstr>
      <vt:lpstr>PowerPoint Presentation</vt:lpstr>
      <vt:lpstr>PowerPoint Presentation</vt:lpstr>
      <vt:lpstr>PowerPoint Presentation</vt:lpstr>
      <vt:lpstr>What are blood cancers? </vt:lpstr>
      <vt:lpstr>Types of blood cancers </vt:lpstr>
      <vt:lpstr>Leukemia</vt:lpstr>
      <vt:lpstr>Symptoms </vt:lpstr>
      <vt:lpstr>Causes </vt:lpstr>
      <vt:lpstr>PowerPoint Presentation</vt:lpstr>
      <vt:lpstr>PowerPoint Presentation</vt:lpstr>
      <vt:lpstr>PowerPoint Presentation</vt:lpstr>
      <vt:lpstr>PowerPoint Presentation</vt:lpstr>
      <vt:lpstr>Types of leukemia </vt:lpstr>
      <vt:lpstr>PowerPoint Presentation</vt:lpstr>
      <vt:lpstr>Risk factors </vt:lpstr>
      <vt:lpstr>PowerPoint Presentation</vt:lpstr>
      <vt:lpstr>PowerPoint Presentation</vt:lpstr>
      <vt:lpstr>PowerPoint Presentation</vt:lpstr>
      <vt:lpstr>PowerPoint Presentation</vt:lpstr>
      <vt:lpstr>PowerPoint Presentation</vt:lpstr>
      <vt:lpstr>PowerPoint Presentation</vt:lpstr>
      <vt:lpstr>Risk factors </vt:lpstr>
      <vt:lpstr>PowerPoint Presentation</vt:lpstr>
      <vt:lpstr>PowerPoint Presentation</vt:lpstr>
      <vt:lpstr>Coping and support </vt:lpstr>
      <vt:lpstr>PowerPoint Presentation</vt:lpstr>
      <vt:lpstr>PowerPoint Presentation</vt:lpstr>
      <vt:lpstr>Lymphoma</vt:lpstr>
      <vt:lpstr>Symptoms </vt:lpstr>
      <vt:lpstr>Causes </vt:lpstr>
      <vt:lpstr>Risk factors </vt:lpstr>
      <vt:lpstr>Diagnosis </vt:lpstr>
      <vt:lpstr>PowerPoint Presentation</vt:lpstr>
      <vt:lpstr>Treatment </vt:lpstr>
      <vt:lpstr>PowerPoint Presentation</vt:lpstr>
      <vt:lpstr>PowerPoint Presentation</vt:lpstr>
      <vt:lpstr>PowerPoint Presentation</vt:lpstr>
      <vt:lpstr>Coping and support </vt:lpstr>
      <vt:lpstr>Polycythemia vera</vt:lpstr>
      <vt:lpstr>PowerPoint Presentation</vt:lpstr>
      <vt:lpstr>Symptoms </vt:lpstr>
      <vt:lpstr>PowerPoint Presentation</vt:lpstr>
      <vt:lpstr>PowerPoint Presentation</vt:lpstr>
      <vt:lpstr>PowerPoint Presentation</vt:lpstr>
      <vt:lpstr>PowerPoint Presentation</vt:lpstr>
      <vt:lpstr>Complications </vt:lpstr>
      <vt:lpstr>PowerPoint Presentation</vt:lpstr>
      <vt:lpstr>Diagnosis </vt:lpstr>
      <vt:lpstr>PowerPoint Presentation</vt:lpstr>
      <vt:lpstr>PowerPoint Presentation</vt:lpstr>
      <vt:lpstr>Treatment </vt:lpstr>
      <vt:lpstr>PowerPoint Presentation</vt:lpstr>
      <vt:lpstr>PowerPoint Presentation</vt:lpstr>
      <vt:lpstr>Lifestyle and home remedies </vt:lpstr>
      <vt:lpstr>PowerPoint Presentation</vt:lpstr>
      <vt:lpstr>Infection related blood conditions </vt:lpstr>
      <vt:lpstr>PowerPoint Presentation</vt:lpstr>
      <vt:lpstr>What causes agranulocytosis? </vt:lpstr>
      <vt:lpstr>PowerPoint Presentation</vt:lpstr>
      <vt:lpstr>What are the symptoms of agranulocytosis? </vt:lpstr>
      <vt:lpstr>How is agranulocytosis diagnosed </vt:lpstr>
      <vt:lpstr>How is agranulocytosis treated? </vt:lpstr>
      <vt:lpstr>Treatment cont’d</vt:lpstr>
      <vt:lpstr>Treatment cont’d</vt:lpstr>
      <vt:lpstr>BLEEDING DISORDERS</vt:lpstr>
      <vt:lpstr>Hypoprothrombinemia </vt:lpstr>
      <vt:lpstr>PowerPoint Presentation</vt:lpstr>
      <vt:lpstr>causes</vt:lpstr>
      <vt:lpstr>PowerPoint Presentation</vt:lpstr>
      <vt:lpstr>PowerPoint Presentation</vt:lpstr>
      <vt:lpstr>PowerPoint Presentation</vt:lpstr>
      <vt:lpstr>Diagnosis </vt:lpstr>
      <vt:lpstr>Diagnosis cont’d</vt:lpstr>
      <vt:lpstr>Clinical manifestations</vt:lpstr>
      <vt:lpstr> TREATMENT</vt:lpstr>
      <vt:lpstr>PowerPoint Presentation</vt:lpstr>
      <vt:lpstr>prognosis </vt:lpstr>
      <vt:lpstr>Disseminated intravascular coagulation (DIC) </vt:lpstr>
      <vt:lpstr>PowerPoint Presentation</vt:lpstr>
      <vt:lpstr>PowerPoint Presentation</vt:lpstr>
      <vt:lpstr>PowerPoint Presentation</vt:lpstr>
      <vt:lpstr>diagnosis</vt:lpstr>
      <vt:lpstr>Blood test</vt:lpstr>
      <vt:lpstr>PowerPoint Presentation</vt:lpstr>
      <vt:lpstr>PowerPoint Presentation</vt:lpstr>
      <vt:lpstr>PowerPoint Presentation</vt:lpstr>
      <vt:lpstr>Treatment </vt:lpstr>
      <vt:lpstr>PowerPoint Presentation</vt:lpstr>
      <vt:lpstr>Haemophilia</vt:lpstr>
      <vt:lpstr>PowerPoint Presentation</vt:lpstr>
      <vt:lpstr>Symptoms </vt:lpstr>
      <vt:lpstr>Bleeding into the brain </vt:lpstr>
      <vt:lpstr>PowerPoint Presentation</vt:lpstr>
      <vt:lpstr>Causes </vt:lpstr>
      <vt:lpstr>PowerPoint Presentation</vt:lpstr>
      <vt:lpstr>PowerPoint Presentation</vt:lpstr>
      <vt:lpstr>PowerPoint Presentation</vt:lpstr>
      <vt:lpstr>Risk factors/complications </vt:lpstr>
      <vt:lpstr>complications</vt:lpstr>
      <vt:lpstr>complications</vt:lpstr>
      <vt:lpstr>Diagnosis </vt:lpstr>
      <vt:lpstr>Treatment </vt:lpstr>
      <vt:lpstr>PowerPoint Presentation</vt:lpstr>
      <vt:lpstr>Other therapies may include: </vt:lpstr>
      <vt:lpstr>PowerPoint Presentation</vt:lpstr>
      <vt:lpstr>Thrombocytopenia purpura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Toshiba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HEMATOLOGICAL NOTES</dc:title>
  <dc:creator>HESBON</dc:creator>
  <cp:lastModifiedBy>HESBON</cp:lastModifiedBy>
  <cp:revision>108</cp:revision>
  <dcterms:created xsi:type="dcterms:W3CDTF">2019-09-25T07:31:02Z</dcterms:created>
  <dcterms:modified xsi:type="dcterms:W3CDTF">2020-08-04T12:02:00Z</dcterms:modified>
</cp:coreProperties>
</file>