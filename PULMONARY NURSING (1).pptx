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7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  <p:sldId id="284" r:id="rId19"/>
    <p:sldId id="274" r:id="rId20"/>
    <p:sldId id="275" r:id="rId21"/>
    <p:sldId id="276" r:id="rId22"/>
    <p:sldId id="277" r:id="rId23"/>
    <p:sldId id="278" r:id="rId24"/>
    <p:sldId id="279" r:id="rId25"/>
    <p:sldId id="395" r:id="rId26"/>
    <p:sldId id="280" r:id="rId27"/>
    <p:sldId id="281" r:id="rId28"/>
    <p:sldId id="282" r:id="rId29"/>
    <p:sldId id="283" r:id="rId30"/>
    <p:sldId id="285" r:id="rId31"/>
    <p:sldId id="286" r:id="rId32"/>
    <p:sldId id="287" r:id="rId33"/>
    <p:sldId id="288" r:id="rId34"/>
    <p:sldId id="405" r:id="rId35"/>
    <p:sldId id="289" r:id="rId36"/>
    <p:sldId id="290" r:id="rId37"/>
    <p:sldId id="291" r:id="rId38"/>
    <p:sldId id="292" r:id="rId39"/>
    <p:sldId id="406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94" r:id="rId55"/>
    <p:sldId id="307" r:id="rId56"/>
    <p:sldId id="308" r:id="rId57"/>
    <p:sldId id="309" r:id="rId58"/>
    <p:sldId id="310" r:id="rId59"/>
    <p:sldId id="393" r:id="rId60"/>
    <p:sldId id="311" r:id="rId61"/>
    <p:sldId id="391" r:id="rId62"/>
    <p:sldId id="312" r:id="rId63"/>
    <p:sldId id="392" r:id="rId64"/>
    <p:sldId id="313" r:id="rId65"/>
    <p:sldId id="314" r:id="rId66"/>
    <p:sldId id="315" r:id="rId67"/>
    <p:sldId id="316" r:id="rId68"/>
    <p:sldId id="317" r:id="rId69"/>
    <p:sldId id="390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33" r:id="rId97"/>
    <p:sldId id="334" r:id="rId98"/>
    <p:sldId id="335" r:id="rId99"/>
    <p:sldId id="348" r:id="rId100"/>
    <p:sldId id="349" r:id="rId101"/>
    <p:sldId id="38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88" r:id="rId127"/>
    <p:sldId id="374" r:id="rId128"/>
    <p:sldId id="375" r:id="rId129"/>
    <p:sldId id="376" r:id="rId130"/>
    <p:sldId id="377" r:id="rId131"/>
    <p:sldId id="378" r:id="rId132"/>
    <p:sldId id="379" r:id="rId133"/>
    <p:sldId id="380" r:id="rId134"/>
    <p:sldId id="381" r:id="rId135"/>
    <p:sldId id="382" r:id="rId136"/>
    <p:sldId id="387" r:id="rId137"/>
    <p:sldId id="383" r:id="rId138"/>
    <p:sldId id="384" r:id="rId139"/>
    <p:sldId id="385" r:id="rId140"/>
    <p:sldId id="408" r:id="rId141"/>
    <p:sldId id="347" r:id="rId142"/>
    <p:sldId id="407" r:id="rId143"/>
    <p:sldId id="409" r:id="rId144"/>
    <p:sldId id="396" r:id="rId145"/>
    <p:sldId id="397" r:id="rId146"/>
    <p:sldId id="410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11" r:id="rId1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97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4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53" Type="http://schemas.openxmlformats.org/officeDocument/2006/relationships/slide" Target="slides/slide1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slide" Target="slides/slide150.xml"/><Relationship Id="rId15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917B-9984-4E2D-8C4D-5EA9D81E47BD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6DA5-5EE2-4D90-A577-6E37F323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40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917B-9984-4E2D-8C4D-5EA9D81E47BD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6DA5-5EE2-4D90-A577-6E37F323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624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917B-9984-4E2D-8C4D-5EA9D81E47BD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6DA5-5EE2-4D90-A577-6E37F323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150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917B-9984-4E2D-8C4D-5EA9D81E47BD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6DA5-5EE2-4D90-A577-6E37F323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25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917B-9984-4E2D-8C4D-5EA9D81E47BD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6DA5-5EE2-4D90-A577-6E37F323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178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917B-9984-4E2D-8C4D-5EA9D81E47BD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6DA5-5EE2-4D90-A577-6E37F323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983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917B-9984-4E2D-8C4D-5EA9D81E47BD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6DA5-5EE2-4D90-A577-6E37F323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144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917B-9984-4E2D-8C4D-5EA9D81E47BD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6DA5-5EE2-4D90-A577-6E37F323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349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917B-9984-4E2D-8C4D-5EA9D81E47BD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6DA5-5EE2-4D90-A577-6E37F323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93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917B-9984-4E2D-8C4D-5EA9D81E47BD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6DA5-5EE2-4D90-A577-6E37F323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838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917B-9984-4E2D-8C4D-5EA9D81E47BD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6DA5-5EE2-4D90-A577-6E37F323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445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5917B-9984-4E2D-8C4D-5EA9D81E47BD}" type="datetimeFigureOut">
              <a:rPr lang="en-US" smtClean="0"/>
              <a:t>6/2/2022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66DA5-5EE2-4D90-A577-6E37F323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73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BRONCHIAL ASTHMA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KISUMU KMTC</a:t>
            </a:r>
          </a:p>
          <a:p>
            <a:pPr algn="l"/>
            <a:r>
              <a:rPr lang="en-US" dirty="0"/>
              <a:t>CLASS OF SEPTEMBER 2021</a:t>
            </a:r>
          </a:p>
          <a:p>
            <a:pPr algn="l"/>
            <a:r>
              <a:rPr lang="en-US" dirty="0"/>
              <a:t>PRESENTER; PATRICK OKAMO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958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Bronchial asthma is a chronic inflammatory disease of airways characterized by reversible airway obstruction, increased airway responsiveness to a variety of stimuli, mucosal edema and mucus production. </a:t>
            </a:r>
          </a:p>
        </p:txBody>
      </p:sp>
    </p:spTree>
    <p:extLst>
      <p:ext uri="{BB962C8B-B14F-4D97-AF65-F5344CB8AC3E}">
        <p14:creationId xmlns:p14="http://schemas.microsoft.com/office/powerpoint/2010/main" val="420529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0" y="1056944"/>
            <a:ext cx="10058400" cy="552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38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Genetics </a:t>
            </a:r>
          </a:p>
          <a:p>
            <a:r>
              <a:rPr lang="en-US" sz="3600" dirty="0"/>
              <a:t>Female gender </a:t>
            </a:r>
          </a:p>
          <a:p>
            <a:r>
              <a:rPr lang="en-US" sz="3600" dirty="0"/>
              <a:t>Obesity </a:t>
            </a:r>
          </a:p>
          <a:p>
            <a:r>
              <a:rPr lang="en-US" sz="3600" dirty="0"/>
              <a:t>Race </a:t>
            </a:r>
          </a:p>
          <a:p>
            <a:r>
              <a:rPr lang="en-US" sz="3600" dirty="0"/>
              <a:t>Exposure to respiratory infections while young</a:t>
            </a:r>
          </a:p>
          <a:p>
            <a:r>
              <a:rPr lang="en-US" sz="3600" dirty="0"/>
              <a:t>Exposure to allergens at tender age</a:t>
            </a:r>
          </a:p>
          <a:p>
            <a:endParaRPr lang="en-US" sz="36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063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Air pollution </a:t>
            </a:r>
          </a:p>
          <a:p>
            <a:r>
              <a:rPr lang="en-US" sz="3600" dirty="0"/>
              <a:t>Tobacco smoking</a:t>
            </a:r>
          </a:p>
        </p:txBody>
      </p:sp>
    </p:spTree>
    <p:extLst>
      <p:ext uri="{BB962C8B-B14F-4D97-AF65-F5344CB8AC3E}">
        <p14:creationId xmlns:p14="http://schemas.microsoft.com/office/powerpoint/2010/main" val="4201575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Asthma triggers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Allergens </a:t>
            </a:r>
          </a:p>
          <a:p>
            <a:r>
              <a:rPr lang="en-US" sz="3600" dirty="0"/>
              <a:t>Air Pollutants </a:t>
            </a:r>
          </a:p>
          <a:p>
            <a:r>
              <a:rPr lang="en-US" sz="3600" dirty="0"/>
              <a:t> Respiratory infections </a:t>
            </a:r>
          </a:p>
          <a:p>
            <a:r>
              <a:rPr lang="en-US" sz="3600" dirty="0"/>
              <a:t> Exercise and hyperventilation </a:t>
            </a:r>
          </a:p>
          <a:p>
            <a:r>
              <a:rPr lang="en-US" sz="3600" dirty="0"/>
              <a:t>Weather changes </a:t>
            </a:r>
          </a:p>
          <a:p>
            <a:r>
              <a:rPr lang="en-US" sz="3600" dirty="0"/>
              <a:t> Gases like Sulfur dioxide </a:t>
            </a:r>
          </a:p>
          <a:p>
            <a:r>
              <a:rPr lang="en-US" sz="3600" dirty="0"/>
              <a:t>Food, additives, drugs</a:t>
            </a:r>
          </a:p>
        </p:txBody>
      </p:sp>
    </p:spTree>
    <p:extLst>
      <p:ext uri="{BB962C8B-B14F-4D97-AF65-F5344CB8AC3E}">
        <p14:creationId xmlns:p14="http://schemas.microsoft.com/office/powerpoint/2010/main" val="3582490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Pathophysiology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7928"/>
            <a:ext cx="12192000" cy="5470071"/>
          </a:xfrm>
        </p:spPr>
      </p:pic>
    </p:spTree>
    <p:extLst>
      <p:ext uri="{BB962C8B-B14F-4D97-AF65-F5344CB8AC3E}">
        <p14:creationId xmlns:p14="http://schemas.microsoft.com/office/powerpoint/2010/main" val="2093267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Signs and Symptoms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Coughing </a:t>
            </a:r>
          </a:p>
          <a:p>
            <a:r>
              <a:rPr lang="en-US" sz="3600" dirty="0"/>
              <a:t>Wheezing </a:t>
            </a:r>
          </a:p>
          <a:p>
            <a:r>
              <a:rPr lang="en-US" sz="3600" dirty="0"/>
              <a:t>Tightness in the chest </a:t>
            </a:r>
          </a:p>
          <a:p>
            <a:r>
              <a:rPr lang="en-US" sz="3600" dirty="0"/>
              <a:t>Shortness of breath</a:t>
            </a:r>
          </a:p>
          <a:p>
            <a:r>
              <a:rPr lang="en-US" sz="3600" dirty="0"/>
              <a:t>Tachycardia </a:t>
            </a:r>
          </a:p>
          <a:p>
            <a:r>
              <a:rPr lang="en-US" sz="3600" dirty="0"/>
              <a:t>Diaphoresis </a:t>
            </a:r>
          </a:p>
          <a:p>
            <a:r>
              <a:rPr lang="en-US" sz="3600" dirty="0"/>
              <a:t>Central cyanosis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432986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and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History taking</a:t>
            </a:r>
          </a:p>
          <a:p>
            <a:r>
              <a:rPr lang="en-US" sz="3600" dirty="0"/>
              <a:t>Physical examination</a:t>
            </a:r>
          </a:p>
          <a:p>
            <a:r>
              <a:rPr lang="en-US" sz="3600" dirty="0" err="1"/>
              <a:t>Spirometry</a:t>
            </a:r>
            <a:r>
              <a:rPr lang="en-US" sz="3600" dirty="0"/>
              <a:t> </a:t>
            </a:r>
          </a:p>
          <a:p>
            <a:r>
              <a:rPr lang="en-US" sz="3600" dirty="0"/>
              <a:t>Immunofluorescence </a:t>
            </a:r>
          </a:p>
          <a:p>
            <a:r>
              <a:rPr lang="en-US" sz="3600" dirty="0"/>
              <a:t>Complete blood count</a:t>
            </a:r>
          </a:p>
          <a:p>
            <a:r>
              <a:rPr lang="en-US" sz="3600" dirty="0"/>
              <a:t>Pulse oximetry</a:t>
            </a:r>
          </a:p>
          <a:p>
            <a:r>
              <a:rPr lang="en-US" sz="3600" dirty="0"/>
              <a:t>Arterial blood gas analysis</a:t>
            </a:r>
          </a:p>
        </p:txBody>
      </p:sp>
    </p:spTree>
    <p:extLst>
      <p:ext uri="{BB962C8B-B14F-4D97-AF65-F5344CB8AC3E}">
        <p14:creationId xmlns:p14="http://schemas.microsoft.com/office/powerpoint/2010/main" val="2602744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Medical management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Oxygen therapy</a:t>
            </a:r>
          </a:p>
          <a:p>
            <a:r>
              <a:rPr lang="en-US" sz="3600" dirty="0"/>
              <a:t>Pharmacological management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737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Nursing management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3600" dirty="0"/>
              <a:t>Assess patients respiratory status</a:t>
            </a:r>
          </a:p>
          <a:p>
            <a:r>
              <a:rPr lang="en-US" sz="3600" dirty="0"/>
              <a:t>Assess breath sounds</a:t>
            </a:r>
          </a:p>
          <a:p>
            <a:r>
              <a:rPr lang="en-US" sz="3600" dirty="0"/>
              <a:t>Assess patient level of O</a:t>
            </a:r>
            <a:r>
              <a:rPr lang="en-US" sz="1800" dirty="0"/>
              <a:t>2</a:t>
            </a:r>
            <a:r>
              <a:rPr lang="en-US" sz="3600" dirty="0"/>
              <a:t> saturation using pulse </a:t>
            </a:r>
            <a:r>
              <a:rPr lang="en-US" sz="3600" dirty="0" err="1"/>
              <a:t>oxymeter</a:t>
            </a:r>
            <a:r>
              <a:rPr lang="en-US" sz="3600" dirty="0"/>
              <a:t> </a:t>
            </a:r>
          </a:p>
          <a:p>
            <a:r>
              <a:rPr lang="en-US" sz="3600" dirty="0"/>
              <a:t>Administer medications</a:t>
            </a:r>
          </a:p>
          <a:p>
            <a:r>
              <a:rPr lang="en-US" sz="3600" dirty="0"/>
              <a:t>Maintain patent airway</a:t>
            </a:r>
          </a:p>
          <a:p>
            <a:r>
              <a:rPr lang="en-US" sz="3600" dirty="0"/>
              <a:t>Educate on triggers</a:t>
            </a:r>
          </a:p>
          <a:p>
            <a:r>
              <a:rPr lang="en-US" sz="3600" dirty="0"/>
              <a:t>Provide regular follow-up care</a:t>
            </a:r>
          </a:p>
        </p:txBody>
      </p:sp>
    </p:spTree>
    <p:extLst>
      <p:ext uri="{BB962C8B-B14F-4D97-AF65-F5344CB8AC3E}">
        <p14:creationId xmlns:p14="http://schemas.microsoft.com/office/powerpoint/2010/main" val="3558763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Nursing management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Hydrate the patient</a:t>
            </a:r>
          </a:p>
          <a:p>
            <a:r>
              <a:rPr lang="en-US" sz="3600" dirty="0"/>
              <a:t>Administer oxygen </a:t>
            </a:r>
          </a:p>
        </p:txBody>
      </p:sp>
    </p:spTree>
    <p:extLst>
      <p:ext uri="{BB962C8B-B14F-4D97-AF65-F5344CB8AC3E}">
        <p14:creationId xmlns:p14="http://schemas.microsoft.com/office/powerpoint/2010/main" val="84161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768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Nursing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Impaired gas exchange  related to bronchial obstruction as evidenced by cyanosis</a:t>
            </a:r>
          </a:p>
          <a:p>
            <a:r>
              <a:rPr lang="en-US" sz="3600" dirty="0"/>
              <a:t>Ineffective breathing pattern related to bronchoconstriction as evidence by dyspnea and wheezing.</a:t>
            </a:r>
          </a:p>
          <a:p>
            <a:r>
              <a:rPr lang="en-US" sz="3600" dirty="0"/>
              <a:t>Ineffective airway clearance related to increased mucus production as evidenced by increased mucus in cough.</a:t>
            </a:r>
          </a:p>
        </p:txBody>
      </p:sp>
    </p:spTree>
    <p:extLst>
      <p:ext uri="{BB962C8B-B14F-4D97-AF65-F5344CB8AC3E}">
        <p14:creationId xmlns:p14="http://schemas.microsoft.com/office/powerpoint/2010/main" val="2062241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Complications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Spontaneous pneumothorax</a:t>
            </a:r>
          </a:p>
          <a:p>
            <a:r>
              <a:rPr lang="en-US" sz="3600" dirty="0"/>
              <a:t>Status </a:t>
            </a:r>
            <a:r>
              <a:rPr lang="en-US" sz="3600" dirty="0" err="1"/>
              <a:t>Asthmaticus</a:t>
            </a:r>
            <a:r>
              <a:rPr lang="en-US" sz="3600" dirty="0"/>
              <a:t> </a:t>
            </a:r>
          </a:p>
          <a:p>
            <a:r>
              <a:rPr lang="en-US" sz="3600" dirty="0"/>
              <a:t>Respiratory Failure </a:t>
            </a:r>
          </a:p>
          <a:p>
            <a:r>
              <a:rPr lang="en-US" sz="3600" dirty="0"/>
              <a:t>Pulmonary Emphysema </a:t>
            </a:r>
          </a:p>
        </p:txBody>
      </p:sp>
    </p:spTree>
    <p:extLst>
      <p:ext uri="{BB962C8B-B14F-4D97-AF65-F5344CB8AC3E}">
        <p14:creationId xmlns:p14="http://schemas.microsoft.com/office/powerpoint/2010/main" val="2406332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Suzanne C. </a:t>
            </a:r>
            <a:r>
              <a:rPr lang="en-US" dirty="0" err="1"/>
              <a:t>Smeltzer</a:t>
            </a:r>
            <a:r>
              <a:rPr lang="en-US" dirty="0"/>
              <a:t>, Brenda Bare, Janice L. Hinkle, Kerry H. Cheever (2017): Brunner and </a:t>
            </a:r>
            <a:r>
              <a:rPr lang="en-US" dirty="0" err="1"/>
              <a:t>Suddarth's</a:t>
            </a:r>
            <a:r>
              <a:rPr lang="en-US" dirty="0"/>
              <a:t> Textbook of Medical-Surgical Nursing. 14th Ed. Lippincott Williams &amp;Wilkins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500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Bronchiectasis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375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63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Bronchiectasis is a chronic, irreversible dilation of the bronchi and bronchioles</a:t>
            </a:r>
          </a:p>
        </p:txBody>
      </p:sp>
    </p:spTree>
    <p:extLst>
      <p:ext uri="{BB962C8B-B14F-4D97-AF65-F5344CB8AC3E}">
        <p14:creationId xmlns:p14="http://schemas.microsoft.com/office/powerpoint/2010/main" val="2909322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Connective tissue diseases </a:t>
            </a:r>
            <a:r>
              <a:rPr lang="en-US" sz="3600" dirty="0" err="1"/>
              <a:t>eg</a:t>
            </a:r>
            <a:r>
              <a:rPr lang="en-US" sz="3600" dirty="0"/>
              <a:t> pulmonary fibrosis</a:t>
            </a:r>
          </a:p>
          <a:p>
            <a:r>
              <a:rPr lang="en-US" sz="3600" dirty="0"/>
              <a:t>Retained foreign body</a:t>
            </a:r>
          </a:p>
          <a:p>
            <a:r>
              <a:rPr lang="en-US" sz="3600" dirty="0"/>
              <a:t>Exposure to chemical irritants</a:t>
            </a:r>
          </a:p>
          <a:p>
            <a:r>
              <a:rPr lang="en-US" sz="3600" dirty="0"/>
              <a:t>Smoking</a:t>
            </a:r>
          </a:p>
          <a:p>
            <a:r>
              <a:rPr lang="en-US" sz="3600" dirty="0"/>
              <a:t>Respiratory tract infections such as pneumonia</a:t>
            </a:r>
          </a:p>
          <a:p>
            <a:r>
              <a:rPr lang="en-US" sz="3600" dirty="0"/>
              <a:t>Primary </a:t>
            </a:r>
            <a:r>
              <a:rPr lang="en-US" sz="3600" dirty="0" err="1"/>
              <a:t>ciliary</a:t>
            </a:r>
            <a:r>
              <a:rPr lang="en-US" sz="3600" dirty="0"/>
              <a:t> dyskinesia</a:t>
            </a:r>
          </a:p>
          <a:p>
            <a:r>
              <a:rPr lang="en-US" sz="3600" dirty="0"/>
              <a:t>Immunodeficiency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847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Clinical manifestations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Chronic cough</a:t>
            </a:r>
          </a:p>
          <a:p>
            <a:r>
              <a:rPr lang="en-US" sz="3600" dirty="0"/>
              <a:t>Clubbing</a:t>
            </a:r>
          </a:p>
          <a:p>
            <a:r>
              <a:rPr lang="en-US" sz="3600" dirty="0"/>
              <a:t>Hemoptysis</a:t>
            </a:r>
          </a:p>
          <a:p>
            <a:r>
              <a:rPr lang="en-US" sz="3600" dirty="0"/>
              <a:t>Increased pulmonary infection</a:t>
            </a:r>
          </a:p>
          <a:p>
            <a:r>
              <a:rPr lang="en-US" sz="3600" dirty="0"/>
              <a:t>Wheezing </a:t>
            </a:r>
          </a:p>
          <a:p>
            <a:r>
              <a:rPr lang="en-US" sz="3600" dirty="0"/>
              <a:t>fatigue</a:t>
            </a:r>
          </a:p>
        </p:txBody>
      </p:sp>
    </p:spTree>
    <p:extLst>
      <p:ext uri="{BB962C8B-B14F-4D97-AF65-F5344CB8AC3E}">
        <p14:creationId xmlns:p14="http://schemas.microsoft.com/office/powerpoint/2010/main" val="2798456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History taking</a:t>
            </a:r>
          </a:p>
          <a:p>
            <a:r>
              <a:rPr lang="en-US" sz="3600" dirty="0"/>
              <a:t>Physical examination</a:t>
            </a:r>
          </a:p>
          <a:p>
            <a:r>
              <a:rPr lang="en-US" sz="3600" dirty="0"/>
              <a:t>Chest Ct scan</a:t>
            </a:r>
          </a:p>
          <a:p>
            <a:r>
              <a:rPr lang="en-US" sz="3600" dirty="0"/>
              <a:t>Chest X ray</a:t>
            </a:r>
          </a:p>
        </p:txBody>
      </p:sp>
    </p:spTree>
    <p:extLst>
      <p:ext uri="{BB962C8B-B14F-4D97-AF65-F5344CB8AC3E}">
        <p14:creationId xmlns:p14="http://schemas.microsoft.com/office/powerpoint/2010/main" val="1489001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Postural drainage</a:t>
            </a:r>
          </a:p>
          <a:p>
            <a:r>
              <a:rPr lang="en-US" sz="4000" dirty="0"/>
              <a:t>Chest physiotherapy</a:t>
            </a:r>
          </a:p>
          <a:p>
            <a:r>
              <a:rPr lang="en-US" sz="4000" dirty="0"/>
              <a:t>Smoking cessation</a:t>
            </a:r>
          </a:p>
          <a:p>
            <a:r>
              <a:rPr lang="en-US" sz="4000" dirty="0"/>
              <a:t>Antimicrobial therapy</a:t>
            </a:r>
          </a:p>
          <a:p>
            <a:r>
              <a:rPr lang="en-US" sz="4000" dirty="0"/>
              <a:t>Bronchodilators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358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2722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Nursing managements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3342"/>
            <a:ext cx="10515600" cy="5513294"/>
          </a:xfrm>
        </p:spPr>
        <p:txBody>
          <a:bodyPr/>
          <a:lstStyle/>
          <a:p>
            <a:r>
              <a:rPr lang="en-US" sz="3600" b="1" dirty="0"/>
              <a:t>Smoking cessation.</a:t>
            </a:r>
            <a:r>
              <a:rPr lang="en-US" sz="3600" dirty="0"/>
              <a:t> Patient teaching targets smoking and other factors that increase the production of mucus and hamper its removal.</a:t>
            </a:r>
          </a:p>
          <a:p>
            <a:r>
              <a:rPr lang="en-US" sz="3600" b="1" dirty="0"/>
              <a:t>Bronchodilators.</a:t>
            </a:r>
            <a:r>
              <a:rPr lang="en-US" sz="3600" dirty="0"/>
              <a:t> Administer bronchodilators as prescribed.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0701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149DF-9275-4B97-846A-28DFCD2EC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9616"/>
          </a:xfrm>
        </p:spPr>
        <p:txBody>
          <a:bodyPr>
            <a:normAutofit fontScale="90000"/>
          </a:bodyPr>
          <a:lstStyle/>
          <a:p>
            <a:r>
              <a:rPr lang="en-US" dirty="0"/>
              <a:t>Nursing Mnx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F7A80-4A57-4767-92CD-B194876C3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Postural drainage.</a:t>
            </a:r>
            <a:r>
              <a:rPr lang="en-US" sz="3600" dirty="0"/>
              <a:t> Perform postural drainage with percussion and vibration in the morning and at night as prescribed.</a:t>
            </a:r>
          </a:p>
          <a:p>
            <a:r>
              <a:rPr lang="en-US" sz="3600" b="1" dirty="0"/>
              <a:t>Antibiotics.</a:t>
            </a:r>
            <a:r>
              <a:rPr lang="en-US" sz="3600" dirty="0"/>
              <a:t> Administer antibiotics as prescribed.</a:t>
            </a:r>
          </a:p>
          <a:p>
            <a:r>
              <a:rPr lang="en-US" sz="3600" b="1" dirty="0"/>
              <a:t>Activities.</a:t>
            </a:r>
            <a:r>
              <a:rPr lang="en-US" sz="3600" dirty="0"/>
              <a:t> Encourage alternating activity with rest periods</a:t>
            </a: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0996126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Nursing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Nutritional management</a:t>
            </a:r>
          </a:p>
          <a:p>
            <a:r>
              <a:rPr lang="en-US" sz="4000" dirty="0"/>
              <a:t>Signs of infection</a:t>
            </a:r>
          </a:p>
          <a:p>
            <a:r>
              <a:rPr lang="en-US" sz="4000" dirty="0"/>
              <a:t>Administer oxygen </a:t>
            </a:r>
          </a:p>
        </p:txBody>
      </p:sp>
    </p:spTree>
    <p:extLst>
      <p:ext uri="{BB962C8B-B14F-4D97-AF65-F5344CB8AC3E}">
        <p14:creationId xmlns:p14="http://schemas.microsoft.com/office/powerpoint/2010/main" val="1704679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1663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Nursing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6788"/>
            <a:ext cx="10515600" cy="4980175"/>
          </a:xfrm>
        </p:spPr>
        <p:txBody>
          <a:bodyPr>
            <a:noAutofit/>
          </a:bodyPr>
          <a:lstStyle/>
          <a:p>
            <a:r>
              <a:rPr lang="en-US" sz="3600" dirty="0"/>
              <a:t>Impaired gas exchange related to ventilation-perfusion imbalance as evidenced by cyanosis,</a:t>
            </a:r>
          </a:p>
          <a:p>
            <a:r>
              <a:rPr lang="en-US" sz="3600" dirty="0"/>
              <a:t>Ineffective airway clearance related to increased mucus production as evidenced by production of copious mucus production.</a:t>
            </a:r>
          </a:p>
          <a:p>
            <a:r>
              <a:rPr lang="en-US" sz="3600" dirty="0"/>
              <a:t>Ineffective breathing pattern related to obstruction as evidenced by dyspnea.</a:t>
            </a:r>
          </a:p>
          <a:p>
            <a:r>
              <a:rPr lang="en-US" sz="3600" dirty="0"/>
              <a:t>Activity intolerance related to hypoxemia and ineffective breathing patterns as evidence patient unable to carry out activities of daily living.</a:t>
            </a:r>
          </a:p>
        </p:txBody>
      </p:sp>
    </p:spTree>
    <p:extLst>
      <p:ext uri="{BB962C8B-B14F-4D97-AF65-F5344CB8AC3E}">
        <p14:creationId xmlns:p14="http://schemas.microsoft.com/office/powerpoint/2010/main" val="38560731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Complications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Empyema </a:t>
            </a:r>
          </a:p>
          <a:p>
            <a:r>
              <a:rPr lang="en-US" sz="3600" dirty="0"/>
              <a:t>Atelectasis </a:t>
            </a:r>
          </a:p>
          <a:p>
            <a:r>
              <a:rPr lang="en-US" sz="3600" dirty="0"/>
              <a:t>Pneumonia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4161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Suzanne C. </a:t>
            </a:r>
            <a:r>
              <a:rPr lang="en-US" dirty="0" err="1"/>
              <a:t>Smeltzer</a:t>
            </a:r>
            <a:r>
              <a:rPr lang="en-US" dirty="0"/>
              <a:t>, Brenda Bare, Janice L. Hinkle, Kerry H. Cheever (2017): Brunner and </a:t>
            </a:r>
            <a:r>
              <a:rPr lang="en-US" dirty="0" err="1"/>
              <a:t>Suddarth's</a:t>
            </a:r>
            <a:r>
              <a:rPr lang="en-US" dirty="0"/>
              <a:t> Textbook of Medical-Surgical Nursing. 14th Ed. Lippincott Williams &amp;Wilkins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8607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498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BRONCHOGENIC CARCINOMA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6614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This is malignant neoplasm of the lungs characterized by uncontrolled growth of lung tissue.</a:t>
            </a:r>
          </a:p>
        </p:txBody>
      </p:sp>
    </p:spTree>
    <p:extLst>
      <p:ext uri="{BB962C8B-B14F-4D97-AF65-F5344CB8AC3E}">
        <p14:creationId xmlns:p14="http://schemas.microsoft.com/office/powerpoint/2010/main" val="26249548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Smoking – Both active and passive.</a:t>
            </a:r>
          </a:p>
          <a:p>
            <a:r>
              <a:rPr lang="en-US" sz="3600" dirty="0"/>
              <a:t>Exposure to radiation or radioactive materials such as uranium</a:t>
            </a:r>
          </a:p>
          <a:p>
            <a:r>
              <a:rPr lang="en-US" sz="3600" dirty="0"/>
              <a:t>Chemicals such as coal</a:t>
            </a:r>
          </a:p>
          <a:p>
            <a:r>
              <a:rPr lang="en-US" sz="3600" dirty="0"/>
              <a:t>Exposure to asbestos</a:t>
            </a:r>
          </a:p>
          <a:p>
            <a:endParaRPr lang="en-US" sz="36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4815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60AF-912B-4E61-8463-BB7A1B47C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factors cont.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82D4A-61D8-4180-AFCB-8CC5F442A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Genetics</a:t>
            </a:r>
          </a:p>
          <a:p>
            <a:r>
              <a:rPr lang="en-US" sz="3600" dirty="0"/>
              <a:t>Age</a:t>
            </a:r>
          </a:p>
          <a:p>
            <a:r>
              <a:rPr lang="en-US" sz="3600" dirty="0"/>
              <a:t>Breast cancer</a:t>
            </a:r>
          </a:p>
          <a:p>
            <a:r>
              <a:rPr lang="en-US" sz="3600" dirty="0"/>
              <a:t>Laryngeal cancer</a:t>
            </a:r>
          </a:p>
          <a:p>
            <a:r>
              <a:rPr lang="en-US" sz="3600" dirty="0"/>
              <a:t>Low vegetable and fruits intake</a:t>
            </a: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4907286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5110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9176"/>
            <a:ext cx="10515600" cy="5013698"/>
          </a:xfrm>
        </p:spPr>
        <p:txBody>
          <a:bodyPr>
            <a:normAutofit/>
          </a:bodyPr>
          <a:lstStyle/>
          <a:p>
            <a:r>
              <a:rPr lang="en-US" sz="3600" dirty="0"/>
              <a:t>Chronic chest pain</a:t>
            </a:r>
          </a:p>
          <a:p>
            <a:r>
              <a:rPr lang="en-US" sz="3600" dirty="0"/>
              <a:t>Persistent cough</a:t>
            </a:r>
          </a:p>
          <a:p>
            <a:r>
              <a:rPr lang="en-US" sz="3600" dirty="0"/>
              <a:t>Blood in phlegm</a:t>
            </a:r>
          </a:p>
          <a:p>
            <a:r>
              <a:rPr lang="en-US" sz="3600" dirty="0"/>
              <a:t>Shortness of breath</a:t>
            </a:r>
          </a:p>
          <a:p>
            <a:r>
              <a:rPr lang="en-US" sz="3600" dirty="0"/>
              <a:t>Bone pain</a:t>
            </a:r>
          </a:p>
          <a:p>
            <a:r>
              <a:rPr lang="en-US" sz="3600" dirty="0"/>
              <a:t>Feeling tired</a:t>
            </a:r>
          </a:p>
          <a:p>
            <a:r>
              <a:rPr lang="en-US" sz="3600" dirty="0"/>
              <a:t>Weight loss and loss of appetite</a:t>
            </a:r>
          </a:p>
          <a:p>
            <a:r>
              <a:rPr lang="en-US" sz="3600" dirty="0"/>
              <a:t>pneumothorax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470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Chest x-ray</a:t>
            </a:r>
          </a:p>
          <a:p>
            <a:r>
              <a:rPr lang="en-US" sz="3600" dirty="0"/>
              <a:t>CT scan chest</a:t>
            </a:r>
          </a:p>
          <a:p>
            <a:r>
              <a:rPr lang="en-US" sz="3600" dirty="0"/>
              <a:t>Fine needle biopsy</a:t>
            </a:r>
          </a:p>
          <a:p>
            <a:r>
              <a:rPr lang="en-US" sz="3600" dirty="0"/>
              <a:t>Positron emission tomography</a:t>
            </a:r>
          </a:p>
          <a:p>
            <a:r>
              <a:rPr lang="en-US" sz="3600" dirty="0"/>
              <a:t>Bronchoscopy</a:t>
            </a:r>
          </a:p>
          <a:p>
            <a:r>
              <a:rPr lang="en-US" sz="3600" dirty="0" err="1"/>
              <a:t>Thoracoscopy</a:t>
            </a:r>
            <a:endParaRPr lang="en-US" sz="36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1151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surgical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Radiotherapy</a:t>
            </a:r>
          </a:p>
          <a:p>
            <a:r>
              <a:rPr lang="en-US" sz="3600" dirty="0"/>
              <a:t>Chemotherapy</a:t>
            </a:r>
          </a:p>
          <a:p>
            <a:r>
              <a:rPr lang="en-US" sz="3600" dirty="0"/>
              <a:t>Surgery- lobectomy, pneumonectomy.</a:t>
            </a:r>
          </a:p>
          <a:p>
            <a:r>
              <a:rPr lang="en-US" sz="3600" dirty="0"/>
              <a:t>Thoracocentesis</a:t>
            </a:r>
          </a:p>
        </p:txBody>
      </p:sp>
    </p:spTree>
    <p:extLst>
      <p:ext uri="{BB962C8B-B14F-4D97-AF65-F5344CB8AC3E}">
        <p14:creationId xmlns:p14="http://schemas.microsoft.com/office/powerpoint/2010/main" val="13515146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Nursing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Monitor signs or respiratory failure</a:t>
            </a:r>
          </a:p>
          <a:p>
            <a:r>
              <a:rPr lang="en-US" sz="3600" dirty="0"/>
              <a:t>Administer medication</a:t>
            </a:r>
          </a:p>
          <a:p>
            <a:r>
              <a:rPr lang="en-US" sz="3600" dirty="0"/>
              <a:t>Educate patient on progress of condition</a:t>
            </a:r>
          </a:p>
          <a:p>
            <a:r>
              <a:rPr lang="en-US" sz="3600" dirty="0"/>
              <a:t>Educate on nutrition</a:t>
            </a:r>
          </a:p>
        </p:txBody>
      </p:sp>
    </p:spTree>
    <p:extLst>
      <p:ext uri="{BB962C8B-B14F-4D97-AF65-F5344CB8AC3E}">
        <p14:creationId xmlns:p14="http://schemas.microsoft.com/office/powerpoint/2010/main" val="24583235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55C48-C53F-4C79-84EB-02FAF7208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Nursing management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A2E4E-A3DE-4B05-A2DD-20E804433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Provide psychological support</a:t>
            </a:r>
          </a:p>
          <a:p>
            <a:r>
              <a:rPr lang="en-US" sz="3600" dirty="0"/>
              <a:t>Prepare for procedures</a:t>
            </a:r>
          </a:p>
          <a:p>
            <a:r>
              <a:rPr lang="en-US" sz="3600" dirty="0"/>
              <a:t>Analyze laboratory values to rule out neutropenia</a:t>
            </a:r>
          </a:p>
          <a:p>
            <a:r>
              <a:rPr lang="en-US" sz="3600" dirty="0"/>
              <a:t>Assist with activities of daily living</a:t>
            </a: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1390851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Nursing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Ineffective breathing pattern related reduced lung capacity as evidenced by respiratory distress.</a:t>
            </a:r>
          </a:p>
          <a:p>
            <a:r>
              <a:rPr lang="en-US" sz="3600" dirty="0"/>
              <a:t>Ineffective airway clearance related to secretions as evidenced by cyanosis</a:t>
            </a:r>
          </a:p>
          <a:p>
            <a:r>
              <a:rPr lang="en-US" sz="3600" dirty="0"/>
              <a:t>Acute pain related to trauma to lung tissue as evidenced by patient reporting pain</a:t>
            </a:r>
          </a:p>
        </p:txBody>
      </p:sp>
    </p:spTree>
    <p:extLst>
      <p:ext uri="{BB962C8B-B14F-4D97-AF65-F5344CB8AC3E}">
        <p14:creationId xmlns:p14="http://schemas.microsoft.com/office/powerpoint/2010/main" val="28018415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Anaemia</a:t>
            </a:r>
          </a:p>
          <a:p>
            <a:r>
              <a:rPr lang="en-US" sz="3600" dirty="0"/>
              <a:t>Pleural effusion</a:t>
            </a:r>
          </a:p>
          <a:p>
            <a:r>
              <a:rPr lang="en-US" sz="3600" dirty="0" err="1"/>
              <a:t>Haemo</a:t>
            </a:r>
            <a:r>
              <a:rPr lang="en-US" sz="3600" dirty="0"/>
              <a:t>-pneumothorax</a:t>
            </a:r>
          </a:p>
        </p:txBody>
      </p:sp>
    </p:spTree>
    <p:extLst>
      <p:ext uri="{BB962C8B-B14F-4D97-AF65-F5344CB8AC3E}">
        <p14:creationId xmlns:p14="http://schemas.microsoft.com/office/powerpoint/2010/main" val="5680892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914400">
              <a:buNone/>
            </a:pPr>
            <a:r>
              <a:rPr lang="en-US" dirty="0"/>
              <a:t>Suzanne C. </a:t>
            </a:r>
            <a:r>
              <a:rPr lang="en-US" dirty="0" err="1"/>
              <a:t>Smeltzer</a:t>
            </a:r>
            <a:r>
              <a:rPr lang="en-US" dirty="0"/>
              <a:t>, Brenda Bare, Janice L. Hinkle, Kerry H. Cheever (2017): Brunner and </a:t>
            </a:r>
            <a:r>
              <a:rPr lang="en-US" dirty="0" err="1"/>
              <a:t>Suddarth's</a:t>
            </a:r>
            <a:r>
              <a:rPr lang="en-US" dirty="0"/>
              <a:t> Textbook of Medical-Surgical Nursing. 14th Ed. Lippincott Williams &amp;Wilkins.</a:t>
            </a:r>
          </a:p>
          <a:p>
            <a:pPr marL="0" indent="0">
              <a:buNone/>
            </a:pPr>
            <a:r>
              <a:rPr lang="en-US" dirty="0"/>
              <a:t>Black M.J and Hawks H( 2010) Medical Surgical Nursing 7</a:t>
            </a:r>
            <a:r>
              <a:rPr lang="en-US" baseline="30000" dirty="0"/>
              <a:t>th</a:t>
            </a:r>
            <a:r>
              <a:rPr lang="en-US" dirty="0"/>
              <a:t> Ed.</a:t>
            </a:r>
          </a:p>
        </p:txBody>
      </p:sp>
    </p:spTree>
    <p:extLst>
      <p:ext uri="{BB962C8B-B14F-4D97-AF65-F5344CB8AC3E}">
        <p14:creationId xmlns:p14="http://schemas.microsoft.com/office/powerpoint/2010/main" val="4724520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3071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CHEST INJURY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KMTC KISUMU </a:t>
            </a:r>
          </a:p>
          <a:p>
            <a:pPr algn="l"/>
            <a:r>
              <a:rPr lang="en-US" dirty="0"/>
              <a:t>DEPARTMENT OF NURSING</a:t>
            </a:r>
          </a:p>
          <a:p>
            <a:pPr algn="l"/>
            <a:r>
              <a:rPr lang="en-US" dirty="0"/>
              <a:t>PULMONARY NURSING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0580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 dirty="0"/>
              <a:t>By the end of the lesson, the  learner will be able to: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define chest injury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classify chest injuries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outline various clinical manifestations of chest injuries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outline the diagnosis of chest injury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explain the medical and surgical management of a patient with chest injury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apply the nursing process in management of a patient with chest injury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list complications of chest injuries.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917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000" dirty="0"/>
              <a:t>A chest injury is define as a form of injury to the chest including the ribs, heart and lungs, great vessels, trachea and esophagus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35847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Blunt chest injuries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Penetrating chest injuries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1511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Penetrating chest injuries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374" y="2111912"/>
            <a:ext cx="6820852" cy="3677163"/>
          </a:xfrm>
        </p:spPr>
      </p:pic>
    </p:spTree>
    <p:extLst>
      <p:ext uri="{BB962C8B-B14F-4D97-AF65-F5344CB8AC3E}">
        <p14:creationId xmlns:p14="http://schemas.microsoft.com/office/powerpoint/2010/main" val="1931296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Blunt chest injuries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1511300"/>
            <a:ext cx="9436100" cy="4665663"/>
          </a:xfrm>
        </p:spPr>
      </p:pic>
    </p:spTree>
    <p:extLst>
      <p:ext uri="{BB962C8B-B14F-4D97-AF65-F5344CB8AC3E}">
        <p14:creationId xmlns:p14="http://schemas.microsoft.com/office/powerpoint/2010/main" val="36027558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Causes of blunt trauma injuries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Motor vehicle accident </a:t>
            </a:r>
          </a:p>
          <a:p>
            <a:r>
              <a:rPr lang="en-US" sz="3600" dirty="0"/>
              <a:t>Pedestrian accident </a:t>
            </a:r>
          </a:p>
          <a:p>
            <a:r>
              <a:rPr lang="en-US" sz="3600" dirty="0"/>
              <a:t>Fall </a:t>
            </a:r>
          </a:p>
          <a:p>
            <a:r>
              <a:rPr lang="en-US" sz="3600" dirty="0"/>
              <a:t>Sports injury </a:t>
            </a:r>
          </a:p>
          <a:p>
            <a:r>
              <a:rPr lang="en-US" sz="3600" dirty="0"/>
              <a:t>Assault with blunt object or Altercations  </a:t>
            </a:r>
          </a:p>
          <a:p>
            <a:r>
              <a:rPr lang="en-US" sz="3600" dirty="0"/>
              <a:t>Crush injury </a:t>
            </a:r>
          </a:p>
          <a:p>
            <a:r>
              <a:rPr lang="en-US" sz="3600" dirty="0"/>
              <a:t>Explosion</a:t>
            </a:r>
          </a:p>
        </p:txBody>
      </p:sp>
    </p:spTree>
    <p:extLst>
      <p:ext uri="{BB962C8B-B14F-4D97-AF65-F5344CB8AC3E}">
        <p14:creationId xmlns:p14="http://schemas.microsoft.com/office/powerpoint/2010/main" val="14175550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Causes of penetrating trauma injuries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Gunshot</a:t>
            </a:r>
          </a:p>
          <a:p>
            <a:r>
              <a:rPr lang="en-US" sz="3600" dirty="0"/>
              <a:t>Stab wounds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8373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CHEST INJURIES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825625"/>
            <a:ext cx="9319328" cy="4351338"/>
          </a:xfrm>
        </p:spPr>
      </p:pic>
    </p:spTree>
    <p:extLst>
      <p:ext uri="{BB962C8B-B14F-4D97-AF65-F5344CB8AC3E}">
        <p14:creationId xmlns:p14="http://schemas.microsoft.com/office/powerpoint/2010/main" val="31089834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Clinical manifestations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Dyspnea, respiratory distress </a:t>
            </a:r>
          </a:p>
          <a:p>
            <a:r>
              <a:rPr lang="en-US" sz="3600" dirty="0"/>
              <a:t>Cough with or without </a:t>
            </a:r>
            <a:r>
              <a:rPr lang="en-US" sz="3600" dirty="0" err="1"/>
              <a:t>haemoptysis</a:t>
            </a:r>
            <a:r>
              <a:rPr lang="en-US" sz="3600" dirty="0"/>
              <a:t> </a:t>
            </a:r>
          </a:p>
          <a:p>
            <a:r>
              <a:rPr lang="en-US" sz="3600" dirty="0"/>
              <a:t>Cyanosis of mouth, face, nail beds, mucous membranes </a:t>
            </a:r>
          </a:p>
          <a:p>
            <a:r>
              <a:rPr lang="en-US" sz="3600" dirty="0"/>
              <a:t>Tracheal deviation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9041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AA1F3-CFF9-4772-87A6-0B586074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Ssx</a:t>
            </a:r>
            <a:r>
              <a:rPr lang="en-US" dirty="0"/>
              <a:t>. Cont.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AC0D1-59EF-4B0B-8CD9-DBAB63FC0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Audible air escaping from chest wound </a:t>
            </a:r>
          </a:p>
          <a:p>
            <a:r>
              <a:rPr lang="en-US" sz="3600" dirty="0"/>
              <a:t>Decreased breath sounds on side of injury</a:t>
            </a:r>
          </a:p>
          <a:p>
            <a:r>
              <a:rPr lang="en-US" sz="3600" dirty="0"/>
              <a:t>Decreased Oxygen saturation</a:t>
            </a:r>
          </a:p>
          <a:p>
            <a:r>
              <a:rPr lang="en-US" sz="3600" dirty="0"/>
              <a:t>Fracture ribs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96093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Clinical manifestations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ct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9518"/>
            <a:ext cx="10515600" cy="4657445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Rapid pulse </a:t>
            </a:r>
          </a:p>
          <a:p>
            <a:r>
              <a:rPr lang="en-US" sz="3600" dirty="0"/>
              <a:t>Fracture sternum</a:t>
            </a:r>
          </a:p>
          <a:p>
            <a:r>
              <a:rPr lang="en-US" sz="3600" dirty="0"/>
              <a:t> Decreased BP </a:t>
            </a:r>
          </a:p>
          <a:p>
            <a:r>
              <a:rPr lang="en-US" sz="3600" dirty="0"/>
              <a:t> Narrowed pulse pressure </a:t>
            </a:r>
          </a:p>
          <a:p>
            <a:r>
              <a:rPr lang="en-US" sz="3600" dirty="0"/>
              <a:t>Asymmetric BP values in arms</a:t>
            </a:r>
          </a:p>
          <a:p>
            <a:r>
              <a:rPr lang="en-US" sz="3600" dirty="0"/>
              <a:t>Muffled heart sounds</a:t>
            </a:r>
          </a:p>
          <a:p>
            <a:r>
              <a:rPr lang="en-US" sz="3600" dirty="0"/>
              <a:t>Tracheal deviation</a:t>
            </a:r>
          </a:p>
          <a:p>
            <a:r>
              <a:rPr lang="en-US" sz="3600" dirty="0"/>
              <a:t>Cyanosis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2973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Clinical manifestations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Chest pain</a:t>
            </a:r>
          </a:p>
          <a:p>
            <a:r>
              <a:rPr lang="en-US" sz="3600" dirty="0"/>
              <a:t>Tachycardia</a:t>
            </a:r>
          </a:p>
          <a:p>
            <a:r>
              <a:rPr lang="en-US" sz="3600" dirty="0"/>
              <a:t>Open chest wound</a:t>
            </a:r>
          </a:p>
        </p:txBody>
      </p:sp>
    </p:spTree>
    <p:extLst>
      <p:ext uri="{BB962C8B-B14F-4D97-AF65-F5344CB8AC3E}">
        <p14:creationId xmlns:p14="http://schemas.microsoft.com/office/powerpoint/2010/main" val="5490199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History taking</a:t>
            </a:r>
          </a:p>
          <a:p>
            <a:r>
              <a:rPr lang="en-US" sz="3600" dirty="0"/>
              <a:t>Focused physical examination</a:t>
            </a:r>
          </a:p>
          <a:p>
            <a:r>
              <a:rPr lang="en-US" sz="3600" dirty="0"/>
              <a:t>Chest x-rays</a:t>
            </a:r>
          </a:p>
          <a:p>
            <a:r>
              <a:rPr lang="en-US" sz="3600" dirty="0"/>
              <a:t>Chest CT scans</a:t>
            </a:r>
          </a:p>
          <a:p>
            <a:r>
              <a:rPr lang="en-US" sz="3600" dirty="0"/>
              <a:t>Arterial blood gases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9190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surgical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Secure and support the airway as indicated</a:t>
            </a:r>
          </a:p>
          <a:p>
            <a:r>
              <a:rPr lang="en-US" sz="3600" dirty="0"/>
              <a:t>Administer oxygen as per assessment</a:t>
            </a:r>
          </a:p>
          <a:p>
            <a:r>
              <a:rPr lang="en-US" sz="3600" dirty="0"/>
              <a:t>Monitor ABG/SpO</a:t>
            </a:r>
            <a:r>
              <a:rPr lang="en-US" sz="2000" dirty="0"/>
              <a:t>2</a:t>
            </a:r>
            <a:r>
              <a:rPr lang="en-US" sz="3600" dirty="0"/>
              <a:t> results to determine need for supplemental oxygen, mechanical ventilation.</a:t>
            </a:r>
          </a:p>
        </p:txBody>
      </p:sp>
    </p:spTree>
    <p:extLst>
      <p:ext uri="{BB962C8B-B14F-4D97-AF65-F5344CB8AC3E}">
        <p14:creationId xmlns:p14="http://schemas.microsoft.com/office/powerpoint/2010/main" val="15604010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C18F2-464B-4D82-9F2A-1A4743A94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Med-Surg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mnx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C2E3-EB66-4187-899D-677BEF559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Encourage deep breathing with strong inspiration; give local support to injured area by splinting with hands.</a:t>
            </a:r>
          </a:p>
          <a:p>
            <a:r>
              <a:rPr lang="en-US" sz="3600" dirty="0"/>
              <a:t>Monitor the arterial blood gases to assess acid base disorders</a:t>
            </a:r>
          </a:p>
          <a:p>
            <a:r>
              <a:rPr lang="en-US" sz="3600" dirty="0"/>
              <a:t>Assist with thoracentesis to aspirate blood from pleural space, if being done before a chest tube insertion in pneumothorax and </a:t>
            </a:r>
            <a:r>
              <a:rPr lang="en-US" sz="3600" dirty="0" err="1"/>
              <a:t>haemothorax</a:t>
            </a:r>
            <a:r>
              <a:rPr lang="en-US" sz="3600" dirty="0"/>
              <a:t>. </a:t>
            </a: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9066751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surgical management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Assist with chest tube insertion and set up drainage system for complete and continuous removal of blood and air in the case of </a:t>
            </a:r>
            <a:r>
              <a:rPr lang="en-US" sz="3600" dirty="0" err="1"/>
              <a:t>haemothorax</a:t>
            </a:r>
            <a:r>
              <a:rPr lang="en-US" sz="3600" dirty="0"/>
              <a:t> and pneumothorax.</a:t>
            </a:r>
          </a:p>
          <a:p>
            <a:r>
              <a:rPr lang="en-US" sz="3600" dirty="0"/>
              <a:t>Monitor the blood pressure to assess possible hemorrhage.</a:t>
            </a:r>
          </a:p>
          <a:p>
            <a:r>
              <a:rPr lang="en-US" sz="3600" dirty="0"/>
              <a:t>Secure intravenous line for possible fluid resuscitation.</a:t>
            </a:r>
          </a:p>
          <a:p>
            <a:endParaRPr lang="en-US" sz="36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3576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CA942-2233-4312-909D-E836FEAB1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Med-Surg. Mnx.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A890A-66C6-4D29-B545-6FDCE043B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Obtain urinary output hourly to evaluate tissue perfusion.</a:t>
            </a:r>
          </a:p>
          <a:p>
            <a:r>
              <a:rPr lang="en-US" sz="3600" dirty="0"/>
              <a:t>Administer diuretics as indicated to reduce edema</a:t>
            </a:r>
          </a:p>
          <a:p>
            <a:r>
              <a:rPr lang="en-US" sz="3600" dirty="0"/>
              <a:t>Administer analgesics as indicated to reduce pain</a:t>
            </a:r>
          </a:p>
          <a:p>
            <a:r>
              <a:rPr lang="en-US" sz="3600" dirty="0"/>
              <a:t>Institute ECG monitoring for early detection and treatment of cardiac dysrhythmias.</a:t>
            </a: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7904078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Nursing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Ineffective breathing pattern related to decreased lung expansion as evidenced by dyspnea.</a:t>
            </a:r>
          </a:p>
          <a:p>
            <a:r>
              <a:rPr lang="en-US" sz="3600" dirty="0"/>
              <a:t>Ineffective gaseous exchange related to ventilation perfusion mismatch as evidenced low SpO2.</a:t>
            </a:r>
          </a:p>
        </p:txBody>
      </p:sp>
    </p:spTree>
    <p:extLst>
      <p:ext uri="{BB962C8B-B14F-4D97-AF65-F5344CB8AC3E}">
        <p14:creationId xmlns:p14="http://schemas.microsoft.com/office/powerpoint/2010/main" val="35036065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3DBDF-AED2-4659-82AE-A792221D9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8557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Nursing dx.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B0C8F-F1F5-4175-A3AF-F4ABD553C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Decreased cardiac output related to cardiac tamponade or reduced blood pressure as evidenced by reduced blood pressure.</a:t>
            </a:r>
          </a:p>
          <a:p>
            <a:r>
              <a:rPr lang="en-US" sz="3600" dirty="0"/>
              <a:t>Fluid volume deficit related to massive hemorrhage as evidenced by reduced blood pressure.</a:t>
            </a:r>
          </a:p>
          <a:p>
            <a:r>
              <a:rPr lang="en-US" sz="3600" dirty="0"/>
              <a:t>Acute pain related to trauma as evidenced by patient verbalizing pain.</a:t>
            </a: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41578227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Complications of chest injury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Atelectasis</a:t>
            </a:r>
          </a:p>
          <a:p>
            <a:r>
              <a:rPr lang="en-US" sz="3600" dirty="0"/>
              <a:t>Aspiration</a:t>
            </a:r>
          </a:p>
          <a:p>
            <a:r>
              <a:rPr lang="en-US" sz="3600" dirty="0"/>
              <a:t>Pneumonia</a:t>
            </a:r>
          </a:p>
          <a:p>
            <a:r>
              <a:rPr lang="en-US" sz="3600" dirty="0"/>
              <a:t>Emphysema</a:t>
            </a:r>
          </a:p>
          <a:p>
            <a:r>
              <a:rPr lang="en-US" sz="3600" dirty="0"/>
              <a:t>Respiratory failure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10976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and 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876425"/>
            <a:ext cx="10515600" cy="4351338"/>
          </a:xfrm>
        </p:spPr>
        <p:txBody>
          <a:bodyPr/>
          <a:lstStyle/>
          <a:p>
            <a:pPr marL="914400" indent="-1097280">
              <a:buNone/>
            </a:pPr>
            <a:r>
              <a:rPr lang="en-US" dirty="0"/>
              <a:t>Suzanne C. </a:t>
            </a:r>
            <a:r>
              <a:rPr lang="en-US" dirty="0" err="1"/>
              <a:t>Smeltzer</a:t>
            </a:r>
            <a:r>
              <a:rPr lang="en-US" dirty="0"/>
              <a:t>, Brenda Bare, Janice L. Hinkle, Kerry H. Cheever (2017): Brunner and </a:t>
            </a:r>
            <a:r>
              <a:rPr lang="en-US" dirty="0" err="1"/>
              <a:t>Suddarth's</a:t>
            </a:r>
            <a:r>
              <a:rPr lang="en-US" dirty="0"/>
              <a:t> Textbook of Medical-Surgical Nursing. 14th Ed. Lippincott Williams &amp;Wilkins.</a:t>
            </a:r>
          </a:p>
          <a:p>
            <a:pPr marL="914400" indent="-1463040">
              <a:lnSpc>
                <a:spcPct val="100000"/>
              </a:lnSpc>
              <a:buNone/>
            </a:pPr>
            <a:r>
              <a:rPr lang="en-GB" dirty="0"/>
              <a:t>Basavanthappa B.T. (2015). </a:t>
            </a:r>
            <a:r>
              <a:rPr lang="en-GB" i="1" dirty="0"/>
              <a:t>Medical Surgical Nursing 3</a:t>
            </a:r>
            <a:r>
              <a:rPr lang="en-GB" i="1" baseline="30000" dirty="0"/>
              <a:t>rd</a:t>
            </a:r>
            <a:r>
              <a:rPr lang="en-GB" i="1" dirty="0"/>
              <a:t> Edition Vol. 1 &amp; 2 New Delhi</a:t>
            </a:r>
            <a:r>
              <a:rPr lang="en-GB" dirty="0"/>
              <a:t> Health Science Publisher.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45957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9533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CHRONIC OBSTRUCTIVE PULMONARY DISEASE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YEAR 2 SEMESTER 1</a:t>
            </a:r>
          </a:p>
        </p:txBody>
      </p:sp>
    </p:spTree>
    <p:extLst>
      <p:ext uri="{BB962C8B-B14F-4D97-AF65-F5344CB8AC3E}">
        <p14:creationId xmlns:p14="http://schemas.microsoft.com/office/powerpoint/2010/main" val="4079922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sz="3600" dirty="0"/>
              <a:t>This is disease state characterized by airflow limitation that is not fully reversible</a:t>
            </a:r>
          </a:p>
          <a:p>
            <a:r>
              <a:rPr lang="en-US" sz="3600" dirty="0"/>
              <a:t>In COPD, the airflow limitation is both progressive and associated with an abnormal inflammatory response of the lungs to noxious particles or gases.</a:t>
            </a:r>
          </a:p>
          <a:p>
            <a:pPr marL="0" indent="0">
              <a:buNone/>
            </a:pPr>
            <a:r>
              <a:rPr lang="en-US" sz="3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197405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19D2A-8C8F-4FF7-9CE4-46562B8FB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1322"/>
          </a:xfrm>
        </p:spPr>
        <p:txBody>
          <a:bodyPr/>
          <a:lstStyle/>
          <a:p>
            <a:r>
              <a:rPr lang="en-US" dirty="0"/>
              <a:t>Def. cont.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6078D-3146-44FB-9933-972F6F833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inflammatory response occurs throughout the airways, parenchyma, and pulmonary vasculature. </a:t>
            </a:r>
          </a:p>
          <a:p>
            <a:r>
              <a:rPr lang="en-US" sz="3600" dirty="0"/>
              <a:t>Because of the chronic inflammation and the body’s attempts to repair it, narrowing occurs in the small peripheral airways. Over time, this injury-and-repair process causes scar tissue formation and narrowing of the airway lumen.</a:t>
            </a: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6621405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Chronic bronchitis</a:t>
            </a:r>
          </a:p>
          <a:p>
            <a:r>
              <a:rPr lang="en-US" sz="3600" dirty="0"/>
              <a:t>Emphysema </a:t>
            </a:r>
          </a:p>
        </p:txBody>
      </p:sp>
    </p:spTree>
    <p:extLst>
      <p:ext uri="{BB962C8B-B14F-4D97-AF65-F5344CB8AC3E}">
        <p14:creationId xmlns:p14="http://schemas.microsoft.com/office/powerpoint/2010/main" val="148377760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Chronic bronchitis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Chronic bronchitis, a disease of the airways, is defined as the presence of cough and sputum production for at least 3 months in each of 2 consecutive years.</a:t>
            </a:r>
          </a:p>
          <a:p>
            <a:r>
              <a:rPr lang="en-US" sz="3600" dirty="0"/>
              <a:t> In many cases, smoke or other environmental pollutants irritate the airways, resulting in hyper-secretion of mucus and inflammation.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6758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5451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Chronic bronchitis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1941"/>
            <a:ext cx="10515600" cy="4765022"/>
          </a:xfrm>
        </p:spPr>
        <p:txBody>
          <a:bodyPr>
            <a:normAutofit/>
          </a:bodyPr>
          <a:lstStyle/>
          <a:p>
            <a:r>
              <a:rPr lang="en-US" sz="3600" dirty="0"/>
              <a:t>This constant irritation causes the mucus-secreting glands and goblet cells to increase in number, </a:t>
            </a:r>
            <a:r>
              <a:rPr lang="en-US" sz="3600" dirty="0" err="1"/>
              <a:t>ciliary</a:t>
            </a:r>
            <a:r>
              <a:rPr lang="en-US" sz="3600" dirty="0"/>
              <a:t> function is reduced, and more mucus is produced. </a:t>
            </a:r>
          </a:p>
          <a:p>
            <a:r>
              <a:rPr lang="en-US" sz="3600" dirty="0"/>
              <a:t>The bronchial walls become thickened, the bronchial lumen is narrowed, and mucus may plug the airway </a:t>
            </a:r>
          </a:p>
          <a:p>
            <a:r>
              <a:rPr lang="en-US" sz="3600" dirty="0"/>
              <a:t>Alveoli adjacent to the bronchioles may become damaged and </a:t>
            </a:r>
            <a:r>
              <a:rPr lang="en-US" sz="3600" dirty="0" err="1"/>
              <a:t>fibrosed</a:t>
            </a:r>
            <a:r>
              <a:rPr lang="en-US" sz="3600" dirty="0"/>
              <a:t>, resulting in altered function of the alveolar macrophages. </a:t>
            </a:r>
          </a:p>
        </p:txBody>
      </p:sp>
    </p:spTree>
    <p:extLst>
      <p:ext uri="{BB962C8B-B14F-4D97-AF65-F5344CB8AC3E}">
        <p14:creationId xmlns:p14="http://schemas.microsoft.com/office/powerpoint/2010/main" val="105724877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08000"/>
            <a:ext cx="10541000" cy="600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93142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Emphysema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This is abnormal distention of the air spaces beyond the terminal bronchioles, with destruction of the walls of the alveoli.</a:t>
            </a:r>
          </a:p>
        </p:txBody>
      </p:sp>
    </p:spTree>
    <p:extLst>
      <p:ext uri="{BB962C8B-B14F-4D97-AF65-F5344CB8AC3E}">
        <p14:creationId xmlns:p14="http://schemas.microsoft.com/office/powerpoint/2010/main" val="14018228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12" y="342901"/>
            <a:ext cx="10461812" cy="635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32612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smoking </a:t>
            </a:r>
          </a:p>
          <a:p>
            <a:r>
              <a:rPr lang="en-US" sz="3600" dirty="0"/>
              <a:t>Occupational exposure </a:t>
            </a:r>
          </a:p>
          <a:p>
            <a:r>
              <a:rPr lang="en-US" sz="3600" dirty="0"/>
              <a:t>Ambient air pollution</a:t>
            </a:r>
          </a:p>
          <a:p>
            <a:r>
              <a:rPr lang="en-US" sz="3600" dirty="0"/>
              <a:t> Genetic abnormalities-deficiency of alpha1- antitrypsin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1897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Clinical manifestation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Cough</a:t>
            </a:r>
          </a:p>
          <a:p>
            <a:r>
              <a:rPr lang="en-US" sz="3600" dirty="0"/>
              <a:t>sputum production</a:t>
            </a:r>
          </a:p>
          <a:p>
            <a:r>
              <a:rPr lang="en-US" sz="3600" dirty="0"/>
              <a:t>dyspnea on exertion</a:t>
            </a:r>
          </a:p>
          <a:p>
            <a:r>
              <a:rPr lang="en-US" sz="3600" dirty="0"/>
              <a:t>Unexplained weight loss</a:t>
            </a:r>
          </a:p>
          <a:p>
            <a:r>
              <a:rPr lang="en-US" sz="3600" dirty="0"/>
              <a:t>Recurrent respiratory infections</a:t>
            </a:r>
          </a:p>
          <a:p>
            <a:r>
              <a:rPr lang="en-US" sz="3600" dirty="0"/>
              <a:t>Barrel-shaped chest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40850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Clinical features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2624"/>
            <a:ext cx="10515600" cy="4684339"/>
          </a:xfrm>
        </p:spPr>
        <p:txBody>
          <a:bodyPr/>
          <a:lstStyle/>
          <a:p>
            <a:r>
              <a:rPr lang="en-US" sz="3600" dirty="0"/>
              <a:t>Prolonged expiration during quiet breathing</a:t>
            </a:r>
          </a:p>
          <a:p>
            <a:r>
              <a:rPr lang="en-US" sz="3600" dirty="0"/>
              <a:t>Expiration through pursed lips</a:t>
            </a:r>
          </a:p>
          <a:p>
            <a:r>
              <a:rPr lang="en-US" sz="3600" dirty="0"/>
              <a:t>Assumption of tripod position while breathing</a:t>
            </a:r>
          </a:p>
          <a:p>
            <a:r>
              <a:rPr lang="en-US" sz="3600" dirty="0"/>
              <a:t>Decreased tactile fremitus</a:t>
            </a:r>
          </a:p>
          <a:p>
            <a:r>
              <a:rPr lang="en-US" sz="3600" dirty="0"/>
              <a:t>Hyper-resonance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47249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18" y="376518"/>
            <a:ext cx="11026588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04343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Tripod position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77471"/>
            <a:ext cx="9798424" cy="5472953"/>
          </a:xfrm>
        </p:spPr>
      </p:pic>
    </p:spTree>
    <p:extLst>
      <p:ext uri="{BB962C8B-B14F-4D97-AF65-F5344CB8AC3E}">
        <p14:creationId xmlns:p14="http://schemas.microsoft.com/office/powerpoint/2010/main" val="408381008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Diagnosis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History taking</a:t>
            </a:r>
          </a:p>
          <a:p>
            <a:r>
              <a:rPr lang="en-US" sz="3600" dirty="0"/>
              <a:t>Physical examinations</a:t>
            </a:r>
          </a:p>
          <a:p>
            <a:r>
              <a:rPr lang="en-US" sz="3600" dirty="0" err="1"/>
              <a:t>Spirometry</a:t>
            </a:r>
            <a:endParaRPr lang="en-US" sz="3600" dirty="0"/>
          </a:p>
          <a:p>
            <a:r>
              <a:rPr lang="en-US" sz="3600" dirty="0"/>
              <a:t>Chest x-ray</a:t>
            </a:r>
          </a:p>
          <a:p>
            <a:r>
              <a:rPr lang="en-US" sz="3600" dirty="0"/>
              <a:t>Chest CT scan</a:t>
            </a:r>
          </a:p>
          <a:p>
            <a:r>
              <a:rPr lang="en-US" sz="3600" dirty="0"/>
              <a:t>Arterial blood gases</a:t>
            </a:r>
          </a:p>
        </p:txBody>
      </p:sp>
    </p:spTree>
    <p:extLst>
      <p:ext uri="{BB962C8B-B14F-4D97-AF65-F5344CB8AC3E}">
        <p14:creationId xmlns:p14="http://schemas.microsoft.com/office/powerpoint/2010/main" val="56142082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and surgical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2624"/>
            <a:ext cx="10515600" cy="4684339"/>
          </a:xfrm>
        </p:spPr>
        <p:txBody>
          <a:bodyPr>
            <a:normAutofit/>
          </a:bodyPr>
          <a:lstStyle/>
          <a:p>
            <a:r>
              <a:rPr lang="en-US" sz="3600" dirty="0"/>
              <a:t>Risk reduction</a:t>
            </a:r>
          </a:p>
          <a:p>
            <a:r>
              <a:rPr lang="en-US" sz="3600" dirty="0"/>
              <a:t>Bronchodilators</a:t>
            </a:r>
          </a:p>
          <a:p>
            <a:r>
              <a:rPr lang="en-US" sz="3600" dirty="0"/>
              <a:t>Corticosteroids</a:t>
            </a:r>
          </a:p>
          <a:p>
            <a:r>
              <a:rPr lang="en-US" sz="3600" dirty="0"/>
              <a:t>Oxygen therapy</a:t>
            </a:r>
          </a:p>
          <a:p>
            <a:r>
              <a:rPr lang="en-US" sz="3600" dirty="0"/>
              <a:t>Vaccination</a:t>
            </a:r>
          </a:p>
          <a:p>
            <a:r>
              <a:rPr lang="en-US" sz="3600" dirty="0"/>
              <a:t>Oxygen therapy</a:t>
            </a:r>
          </a:p>
          <a:p>
            <a:r>
              <a:rPr lang="en-US" sz="3600" dirty="0"/>
              <a:t>Lung transplantation</a:t>
            </a:r>
          </a:p>
        </p:txBody>
      </p:sp>
    </p:spTree>
    <p:extLst>
      <p:ext uri="{BB962C8B-B14F-4D97-AF65-F5344CB8AC3E}">
        <p14:creationId xmlns:p14="http://schemas.microsoft.com/office/powerpoint/2010/main" val="28348070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Nursing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5729"/>
            <a:ext cx="10515600" cy="5027146"/>
          </a:xfrm>
        </p:spPr>
        <p:txBody>
          <a:bodyPr>
            <a:noAutofit/>
          </a:bodyPr>
          <a:lstStyle/>
          <a:p>
            <a:r>
              <a:rPr lang="en-US" sz="3600" dirty="0"/>
              <a:t>Adequately hydrate the patient.</a:t>
            </a:r>
          </a:p>
          <a:p>
            <a:r>
              <a:rPr lang="en-US" sz="3600" dirty="0"/>
              <a:t> Teach and encourage the use of diaphragmatic breathing and coughing techniques. </a:t>
            </a:r>
          </a:p>
          <a:p>
            <a:r>
              <a:rPr lang="en-US" sz="3600" dirty="0"/>
              <a:t> Assist in administering nebulizer or MDI. </a:t>
            </a:r>
          </a:p>
          <a:p>
            <a:r>
              <a:rPr lang="en-US" sz="3600" dirty="0"/>
              <a:t>Instruct patient to avoid bronchial irritants such as cigarette smoke, aerosols, extremes of temperature, and fumes. </a:t>
            </a:r>
          </a:p>
          <a:p>
            <a:r>
              <a:rPr lang="en-US" sz="3600" dirty="0"/>
              <a:t> Teach early signs of infection that are to be reported to the clinician immediately</a:t>
            </a:r>
          </a:p>
        </p:txBody>
      </p:sp>
    </p:spTree>
    <p:extLst>
      <p:ext uri="{BB962C8B-B14F-4D97-AF65-F5344CB8AC3E}">
        <p14:creationId xmlns:p14="http://schemas.microsoft.com/office/powerpoint/2010/main" val="83689963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Nursing management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Encourage alternating activity with rest periods</a:t>
            </a:r>
          </a:p>
          <a:p>
            <a:r>
              <a:rPr lang="en-US" sz="3600" dirty="0"/>
              <a:t>Assist with activities of daily living</a:t>
            </a:r>
          </a:p>
          <a:p>
            <a:r>
              <a:rPr lang="en-US" sz="3600" dirty="0"/>
              <a:t>Nutrition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37269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75302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PLEURISY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KMTC YEAR 2 SEMESTER 1</a:t>
            </a:r>
          </a:p>
        </p:txBody>
      </p:sp>
    </p:spTree>
    <p:extLst>
      <p:ext uri="{BB962C8B-B14F-4D97-AF65-F5344CB8AC3E}">
        <p14:creationId xmlns:p14="http://schemas.microsoft.com/office/powerpoint/2010/main" val="155157369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46225"/>
            <a:ext cx="10515600" cy="4351338"/>
          </a:xfrm>
        </p:spPr>
        <p:txBody>
          <a:bodyPr>
            <a:normAutofit/>
          </a:bodyPr>
          <a:lstStyle/>
          <a:p>
            <a:r>
              <a:rPr lang="en-US" sz="3600" dirty="0"/>
              <a:t>Pleurisy (</a:t>
            </a:r>
            <a:r>
              <a:rPr lang="en-US" sz="3600" dirty="0" err="1"/>
              <a:t>pleuritis</a:t>
            </a:r>
            <a:r>
              <a:rPr lang="en-US" sz="3600" dirty="0"/>
              <a:t>) refers to inflammation of both layers of the pleurae (parietal and visceral)</a:t>
            </a:r>
          </a:p>
        </p:txBody>
      </p:sp>
    </p:spTree>
    <p:extLst>
      <p:ext uri="{BB962C8B-B14F-4D97-AF65-F5344CB8AC3E}">
        <p14:creationId xmlns:p14="http://schemas.microsoft.com/office/powerpoint/2010/main" val="86997402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6071"/>
            <a:ext cx="10515600" cy="4670892"/>
          </a:xfrm>
        </p:spPr>
        <p:txBody>
          <a:bodyPr>
            <a:normAutofit/>
          </a:bodyPr>
          <a:lstStyle/>
          <a:p>
            <a:r>
              <a:rPr lang="en-US" sz="3600" dirty="0"/>
              <a:t>Pneumonia </a:t>
            </a:r>
          </a:p>
          <a:p>
            <a:r>
              <a:rPr lang="en-US" sz="3600" dirty="0"/>
              <a:t>Upper respiratory tract infection</a:t>
            </a:r>
          </a:p>
          <a:p>
            <a:r>
              <a:rPr lang="en-US" sz="3600" dirty="0"/>
              <a:t>TB</a:t>
            </a:r>
          </a:p>
          <a:p>
            <a:r>
              <a:rPr lang="en-US" sz="3600" dirty="0"/>
              <a:t>Collagen disease- Systemic lupus </a:t>
            </a:r>
            <a:r>
              <a:rPr lang="en-US" sz="3600" dirty="0" err="1"/>
              <a:t>erythromatosus</a:t>
            </a:r>
            <a:endParaRPr lang="en-US" sz="3600" dirty="0"/>
          </a:p>
          <a:p>
            <a:r>
              <a:rPr lang="en-US" sz="3600" dirty="0"/>
              <a:t>Trauma to the chest</a:t>
            </a:r>
          </a:p>
          <a:p>
            <a:r>
              <a:rPr lang="en-US" sz="3600" dirty="0"/>
              <a:t>Pulmonary infarction </a:t>
            </a:r>
          </a:p>
          <a:p>
            <a:r>
              <a:rPr lang="en-US" sz="3600" dirty="0"/>
              <a:t>Pulmonary embolism</a:t>
            </a:r>
          </a:p>
        </p:txBody>
      </p:sp>
    </p:spTree>
    <p:extLst>
      <p:ext uri="{BB962C8B-B14F-4D97-AF65-F5344CB8AC3E}">
        <p14:creationId xmlns:p14="http://schemas.microsoft.com/office/powerpoint/2010/main" val="282125934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factors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Thoracotomy</a:t>
            </a:r>
          </a:p>
          <a:p>
            <a:r>
              <a:rPr lang="en-US" sz="3600" dirty="0"/>
              <a:t>Bronchogenic carcinoma</a:t>
            </a:r>
          </a:p>
          <a:p>
            <a:r>
              <a:rPr lang="en-US" sz="3600" dirty="0"/>
              <a:t>Drugs such as methotrexate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48552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Clinical manifestations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Chest pain that worsens with breathing coughing or sneezing</a:t>
            </a:r>
          </a:p>
          <a:p>
            <a:r>
              <a:rPr lang="en-US" sz="3600" dirty="0"/>
              <a:t>Shortness of breath</a:t>
            </a:r>
          </a:p>
          <a:p>
            <a:r>
              <a:rPr lang="en-US" sz="3600" dirty="0"/>
              <a:t>Fever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95012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Diagnosis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History taking</a:t>
            </a:r>
          </a:p>
          <a:p>
            <a:r>
              <a:rPr lang="en-US" sz="3600" dirty="0"/>
              <a:t>Physical examination-a pleural friction rub can be heard with the stethoscope</a:t>
            </a:r>
          </a:p>
          <a:p>
            <a:r>
              <a:rPr lang="en-US" sz="3600" dirty="0"/>
              <a:t>Chest x rays</a:t>
            </a:r>
          </a:p>
          <a:p>
            <a:r>
              <a:rPr lang="en-US" sz="3600" dirty="0" err="1"/>
              <a:t>Thoracentesis</a:t>
            </a:r>
            <a:endParaRPr lang="en-US" sz="3600" dirty="0"/>
          </a:p>
          <a:p>
            <a:r>
              <a:rPr lang="en-US" sz="3600" dirty="0" err="1"/>
              <a:t>Thoracoscopy</a:t>
            </a:r>
            <a:endParaRPr lang="en-US" sz="36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2089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management pleurisy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8835"/>
            <a:ext cx="10515600" cy="4738128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Goal of treatment is to eradicate the </a:t>
            </a:r>
            <a:r>
              <a:rPr lang="en-US" sz="3600" dirty="0" err="1"/>
              <a:t>aetiology</a:t>
            </a:r>
            <a:r>
              <a:rPr lang="en-US" sz="3600" dirty="0"/>
              <a:t> </a:t>
            </a:r>
          </a:p>
          <a:p>
            <a:r>
              <a:rPr lang="en-US" sz="3600" dirty="0"/>
              <a:t>Antibiotics for bacterial infections.</a:t>
            </a:r>
          </a:p>
          <a:p>
            <a:r>
              <a:rPr lang="en-US" sz="3600" dirty="0"/>
              <a:t>Antivirals for viral infections.</a:t>
            </a:r>
          </a:p>
          <a:p>
            <a:r>
              <a:rPr lang="en-US" sz="3600" dirty="0"/>
              <a:t>Analgesics for pain management</a:t>
            </a:r>
          </a:p>
          <a:p>
            <a:r>
              <a:rPr lang="en-US" sz="3600" dirty="0"/>
              <a:t>Immunosuppressant for autoimmune disorders</a:t>
            </a:r>
          </a:p>
          <a:p>
            <a:r>
              <a:rPr lang="en-US" sz="3600" dirty="0"/>
              <a:t>Chemotherapy for cancer related cause.</a:t>
            </a:r>
          </a:p>
          <a:p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94676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Nursing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nurse can offer suggestions to enhance comfort, such as turning frequently onto the affected side to splint the chest wall and reduce the stretching of the pleurae</a:t>
            </a:r>
          </a:p>
          <a:p>
            <a:r>
              <a:rPr lang="en-US" sz="3600" dirty="0"/>
              <a:t>The nurse also can teach the patient to use the hands or a pillow to splint the rib cage while coughing</a:t>
            </a:r>
          </a:p>
        </p:txBody>
      </p:sp>
    </p:spTree>
    <p:extLst>
      <p:ext uri="{BB962C8B-B14F-4D97-AF65-F5344CB8AC3E}">
        <p14:creationId xmlns:p14="http://schemas.microsoft.com/office/powerpoint/2010/main" val="37940806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Nursing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Ineffective breathing pattern  related </a:t>
            </a:r>
            <a:r>
              <a:rPr lang="en-US" sz="3600" dirty="0" err="1"/>
              <a:t>pleuritic</a:t>
            </a:r>
            <a:r>
              <a:rPr lang="en-US" sz="3600" dirty="0"/>
              <a:t> pain as evidenced by shortness of breath.</a:t>
            </a:r>
          </a:p>
          <a:p>
            <a:r>
              <a:rPr lang="en-US" sz="3600" dirty="0"/>
              <a:t>Acute pain related to inflammatory process as evidenced by patient reporting pain.</a:t>
            </a:r>
          </a:p>
          <a:p>
            <a:r>
              <a:rPr lang="en-US" sz="3600" dirty="0"/>
              <a:t>Hyperthermia related to inflammatory process as evidenced </a:t>
            </a:r>
            <a:r>
              <a:rPr lang="en-US" sz="3600" dirty="0" err="1"/>
              <a:t>ny</a:t>
            </a:r>
            <a:r>
              <a:rPr lang="en-US" sz="3600" dirty="0"/>
              <a:t> elevated body temperature.</a:t>
            </a:r>
          </a:p>
        </p:txBody>
      </p:sp>
    </p:spTree>
    <p:extLst>
      <p:ext uri="{BB962C8B-B14F-4D97-AF65-F5344CB8AC3E}">
        <p14:creationId xmlns:p14="http://schemas.microsoft.com/office/powerpoint/2010/main" val="375034765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-914400">
              <a:buNone/>
            </a:pPr>
            <a:r>
              <a:rPr lang="en-US" dirty="0"/>
              <a:t>Suzanne C. </a:t>
            </a:r>
            <a:r>
              <a:rPr lang="en-US" dirty="0" err="1"/>
              <a:t>Smeltzer</a:t>
            </a:r>
            <a:r>
              <a:rPr lang="en-US" dirty="0"/>
              <a:t>, Brenda Bare, Janice L. Hinkle, Kerry H. Cheever (2017): Brunner and </a:t>
            </a:r>
            <a:r>
              <a:rPr lang="en-US" dirty="0" err="1"/>
              <a:t>Suddarth's</a:t>
            </a:r>
            <a:r>
              <a:rPr lang="en-US" dirty="0"/>
              <a:t> Textbook of Medical-Surgical Nursing. 14th Ed. Lippincott Williams &amp;Wilkins</a:t>
            </a:r>
          </a:p>
        </p:txBody>
      </p:sp>
    </p:spTree>
    <p:extLst>
      <p:ext uri="{BB962C8B-B14F-4D97-AF65-F5344CB8AC3E}">
        <p14:creationId xmlns:p14="http://schemas.microsoft.com/office/powerpoint/2010/main" val="122555634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Nursing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6071"/>
            <a:ext cx="10515600" cy="4670892"/>
          </a:xfrm>
        </p:spPr>
        <p:txBody>
          <a:bodyPr>
            <a:normAutofit/>
          </a:bodyPr>
          <a:lstStyle/>
          <a:p>
            <a:r>
              <a:rPr lang="en-US" sz="3600" dirty="0"/>
              <a:t>Impaired gas exchange related to ventilation–perfusion inequality as evidenced by cyanosis</a:t>
            </a:r>
          </a:p>
          <a:p>
            <a:r>
              <a:rPr lang="en-US" sz="3600" dirty="0"/>
              <a:t>Ineffective breathing pattern related to bronchoconstriction as evidenced by dyspnea.</a:t>
            </a:r>
          </a:p>
          <a:p>
            <a:r>
              <a:rPr lang="en-US" sz="3600" dirty="0"/>
              <a:t>Activity intolerance RT  fatigue as evidenced by inability to carry out activities of daily living.</a:t>
            </a:r>
          </a:p>
          <a:p>
            <a:r>
              <a:rPr lang="en-US" sz="3600" dirty="0"/>
              <a:t>Imbalanced nutrition related increased metabolism as evidenced </a:t>
            </a:r>
            <a:r>
              <a:rPr lang="en-US" sz="3600" dirty="0" err="1"/>
              <a:t>ny</a:t>
            </a:r>
            <a:r>
              <a:rPr lang="en-US" sz="3600" dirty="0"/>
              <a:t> wasting.</a:t>
            </a:r>
          </a:p>
        </p:txBody>
      </p:sp>
    </p:spTree>
    <p:extLst>
      <p:ext uri="{BB962C8B-B14F-4D97-AF65-F5344CB8AC3E}">
        <p14:creationId xmlns:p14="http://schemas.microsoft.com/office/powerpoint/2010/main" val="318832781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Pneumothorax</a:t>
            </a:r>
          </a:p>
          <a:p>
            <a:r>
              <a:rPr lang="en-US" sz="3600" dirty="0"/>
              <a:t>Atelectasis</a:t>
            </a:r>
          </a:p>
          <a:p>
            <a:r>
              <a:rPr lang="en-US" sz="3600" dirty="0"/>
              <a:t>Bronchogenic carcinoma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11094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Suzanne C. </a:t>
            </a:r>
            <a:r>
              <a:rPr lang="en-US" dirty="0" err="1"/>
              <a:t>Smeltzer</a:t>
            </a:r>
            <a:r>
              <a:rPr lang="en-US" dirty="0"/>
              <a:t>, Brenda Bare, Janice L. Hinkle, Kerry H. Cheever (2017): Brunner and </a:t>
            </a:r>
            <a:r>
              <a:rPr lang="en-US" dirty="0" err="1"/>
              <a:t>Suddarth's</a:t>
            </a:r>
            <a:r>
              <a:rPr lang="en-US" dirty="0"/>
              <a:t> Textbook of Medical-Surgical Nursing. 14th Ed. Lippincott Williams &amp;Wilkins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87658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PNEUMOTHORAX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Year 2 Semester 2</a:t>
            </a:r>
          </a:p>
        </p:txBody>
      </p:sp>
    </p:spTree>
    <p:extLst>
      <p:ext uri="{BB962C8B-B14F-4D97-AF65-F5344CB8AC3E}">
        <p14:creationId xmlns:p14="http://schemas.microsoft.com/office/powerpoint/2010/main" val="16544975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9859"/>
            <a:ext cx="10515600" cy="4617104"/>
          </a:xfrm>
        </p:spPr>
        <p:txBody>
          <a:bodyPr>
            <a:normAutofit/>
          </a:bodyPr>
          <a:lstStyle/>
          <a:p>
            <a:r>
              <a:rPr lang="en-US" sz="3600" dirty="0"/>
              <a:t>By the end of the lecture, the student should be able to;</a:t>
            </a:r>
          </a:p>
          <a:p>
            <a:pPr marL="0" indent="0">
              <a:buNone/>
            </a:pPr>
            <a:r>
              <a:rPr lang="en-US" sz="3600" dirty="0"/>
              <a:t>-define pneumothorax</a:t>
            </a:r>
          </a:p>
          <a:p>
            <a:pPr marL="0" indent="0">
              <a:buNone/>
            </a:pPr>
            <a:r>
              <a:rPr lang="en-US" sz="3600" dirty="0"/>
              <a:t>-outline causes of pneumothorax</a:t>
            </a:r>
          </a:p>
          <a:p>
            <a:pPr marL="0" indent="0">
              <a:buNone/>
            </a:pPr>
            <a:r>
              <a:rPr lang="en-US" sz="3600" dirty="0"/>
              <a:t>-list clinical presentation of pneumothorax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0846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A8392-790F-4F26-9A6C-B654F20EE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1322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Objectives cont</a:t>
            </a:r>
            <a:r>
              <a:rPr lang="en-US" dirty="0"/>
              <a:t>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C48A5-10AA-42E6-8A2F-486EE6696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- state the methods diagnosis of pneumothorax</a:t>
            </a:r>
          </a:p>
          <a:p>
            <a:pPr marL="0" indent="0">
              <a:buNone/>
            </a:pPr>
            <a:r>
              <a:rPr lang="en-US" sz="3600" dirty="0"/>
              <a:t>- outline medical and surgical management of patient with pneumothorax</a:t>
            </a:r>
          </a:p>
          <a:p>
            <a:pPr marL="0" indent="0">
              <a:buNone/>
            </a:pPr>
            <a:r>
              <a:rPr lang="en-US" sz="3600" dirty="0"/>
              <a:t>- apply the nursing process in management of patient with pneumothorax</a:t>
            </a: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53260338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- List complications of pneumothorax</a:t>
            </a:r>
          </a:p>
        </p:txBody>
      </p:sp>
    </p:spTree>
    <p:extLst>
      <p:ext uri="{BB962C8B-B14F-4D97-AF65-F5344CB8AC3E}">
        <p14:creationId xmlns:p14="http://schemas.microsoft.com/office/powerpoint/2010/main" val="403753838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Pneumothorax is presence of air within the pleural space</a:t>
            </a:r>
          </a:p>
        </p:txBody>
      </p:sp>
    </p:spTree>
    <p:extLst>
      <p:ext uri="{BB962C8B-B14F-4D97-AF65-F5344CB8AC3E}">
        <p14:creationId xmlns:p14="http://schemas.microsoft.com/office/powerpoint/2010/main" val="44684114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950" y="853635"/>
            <a:ext cx="7833751" cy="520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34099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Spontaneous</a:t>
            </a:r>
          </a:p>
          <a:p>
            <a:r>
              <a:rPr lang="en-US" sz="3600" dirty="0"/>
              <a:t>Traumatic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8168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types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348" y="1825625"/>
            <a:ext cx="9059594" cy="4351338"/>
          </a:xfrm>
        </p:spPr>
      </p:pic>
    </p:spTree>
    <p:extLst>
      <p:ext uri="{BB962C8B-B14F-4D97-AF65-F5344CB8AC3E}">
        <p14:creationId xmlns:p14="http://schemas.microsoft.com/office/powerpoint/2010/main" val="339876856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 /closed pneumothorax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opening in the lung is very small and hence, it heals rapidly. </a:t>
            </a:r>
          </a:p>
          <a:p>
            <a:r>
              <a:rPr lang="en-US" sz="3600" dirty="0"/>
              <a:t>There is no continuous communication between the lung and the pleural cavity.</a:t>
            </a:r>
          </a:p>
        </p:txBody>
      </p:sp>
    </p:spTree>
    <p:extLst>
      <p:ext uri="{BB962C8B-B14F-4D97-AF65-F5344CB8AC3E}">
        <p14:creationId xmlns:p14="http://schemas.microsoft.com/office/powerpoint/2010/main" val="102832749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 / sucking pneumothorax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ruptured site remains open and There is a communication between the pleural cavity and the bronchus forming the Broncho-pleural fistula.</a:t>
            </a:r>
          </a:p>
        </p:txBody>
      </p:sp>
    </p:spTree>
    <p:extLst>
      <p:ext uri="{BB962C8B-B14F-4D97-AF65-F5344CB8AC3E}">
        <p14:creationId xmlns:p14="http://schemas.microsoft.com/office/powerpoint/2010/main" val="422049116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Tension pneumothorax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communication between the lung and pleural cavity is small and is </a:t>
            </a:r>
            <a:r>
              <a:rPr lang="en-US" sz="3600" dirty="0" err="1"/>
              <a:t>valvular</a:t>
            </a:r>
            <a:r>
              <a:rPr lang="en-US" sz="3600" dirty="0"/>
              <a:t>. </a:t>
            </a:r>
          </a:p>
          <a:p>
            <a:r>
              <a:rPr lang="en-US" sz="3600" dirty="0"/>
              <a:t> It allows air entry during inspiration but prevents it from escaping during expiration.</a:t>
            </a:r>
          </a:p>
        </p:txBody>
      </p:sp>
    </p:spTree>
    <p:extLst>
      <p:ext uri="{BB962C8B-B14F-4D97-AF65-F5344CB8AC3E}">
        <p14:creationId xmlns:p14="http://schemas.microsoft.com/office/powerpoint/2010/main" val="163871698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Spontaneous</a:t>
            </a:r>
          </a:p>
          <a:p>
            <a:pPr marL="0" indent="0">
              <a:buNone/>
            </a:pPr>
            <a:r>
              <a:rPr lang="en-US" sz="3600" b="1" dirty="0"/>
              <a:t>-</a:t>
            </a:r>
            <a:r>
              <a:rPr lang="en-US" sz="3600" dirty="0"/>
              <a:t>Smoking</a:t>
            </a:r>
          </a:p>
          <a:p>
            <a:pPr marL="0" indent="0">
              <a:buNone/>
            </a:pPr>
            <a:r>
              <a:rPr lang="en-US" sz="3600" b="1" dirty="0"/>
              <a:t>-</a:t>
            </a:r>
            <a:r>
              <a:rPr lang="en-US" sz="3600" dirty="0"/>
              <a:t>TB</a:t>
            </a:r>
          </a:p>
          <a:p>
            <a:pPr marL="0" indent="0">
              <a:buNone/>
            </a:pPr>
            <a:r>
              <a:rPr lang="en-US" sz="3600" b="1" dirty="0"/>
              <a:t>-</a:t>
            </a:r>
            <a:r>
              <a:rPr lang="en-US" sz="3600" dirty="0"/>
              <a:t>COPD</a:t>
            </a:r>
          </a:p>
          <a:p>
            <a:pPr marL="0" indent="0">
              <a:buNone/>
            </a:pPr>
            <a:r>
              <a:rPr lang="en-US" sz="3600" dirty="0"/>
              <a:t>-Bronchogenic carcinoma</a:t>
            </a:r>
          </a:p>
          <a:p>
            <a:pPr marL="0" indent="0">
              <a:buNone/>
            </a:pPr>
            <a:r>
              <a:rPr lang="en-US" sz="3600" dirty="0"/>
              <a:t>-Asthma</a:t>
            </a:r>
          </a:p>
          <a:p>
            <a:pPr marL="0" indent="0">
              <a:buNone/>
            </a:pPr>
            <a:r>
              <a:rPr lang="en-US" sz="3600" dirty="0"/>
              <a:t>-Cystic lung disease</a:t>
            </a:r>
          </a:p>
        </p:txBody>
      </p:sp>
    </p:spTree>
    <p:extLst>
      <p:ext uri="{BB962C8B-B14F-4D97-AF65-F5344CB8AC3E}">
        <p14:creationId xmlns:p14="http://schemas.microsoft.com/office/powerpoint/2010/main" val="32359458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Traumatic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Related to cardiothoracic surgeries</a:t>
            </a:r>
          </a:p>
          <a:p>
            <a:r>
              <a:rPr lang="en-US" sz="3600" dirty="0"/>
              <a:t>Chest trauma</a:t>
            </a: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48919947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Dyspnea </a:t>
            </a:r>
          </a:p>
          <a:p>
            <a:r>
              <a:rPr lang="en-US" sz="3600" dirty="0"/>
              <a:t>Accessory muscles of respiration </a:t>
            </a:r>
          </a:p>
          <a:p>
            <a:r>
              <a:rPr lang="en-US" sz="3600" dirty="0"/>
              <a:t>Shift of trachea </a:t>
            </a:r>
          </a:p>
          <a:p>
            <a:r>
              <a:rPr lang="en-US" sz="3600" dirty="0"/>
              <a:t>Shift of mediastinum to opposite side </a:t>
            </a:r>
          </a:p>
        </p:txBody>
      </p:sp>
    </p:spTree>
    <p:extLst>
      <p:ext uri="{BB962C8B-B14F-4D97-AF65-F5344CB8AC3E}">
        <p14:creationId xmlns:p14="http://schemas.microsoft.com/office/powerpoint/2010/main" val="75084523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3306"/>
            <a:ext cx="10515600" cy="4603657"/>
          </a:xfrm>
        </p:spPr>
        <p:txBody>
          <a:bodyPr>
            <a:normAutofit/>
          </a:bodyPr>
          <a:lstStyle/>
          <a:p>
            <a:r>
              <a:rPr lang="en-US" sz="3600" dirty="0"/>
              <a:t>Fullness of chest on the affected side </a:t>
            </a:r>
          </a:p>
          <a:p>
            <a:r>
              <a:rPr lang="en-US" sz="3600" dirty="0"/>
              <a:t>Diminished chest movements</a:t>
            </a:r>
          </a:p>
          <a:p>
            <a:r>
              <a:rPr lang="en-US" sz="3600" dirty="0"/>
              <a:t>Marked diminished vocal fremitus on affected side </a:t>
            </a:r>
          </a:p>
          <a:p>
            <a:r>
              <a:rPr lang="en-US" sz="3600" dirty="0"/>
              <a:t>Reduction in total chest expansion</a:t>
            </a:r>
          </a:p>
          <a:p>
            <a:r>
              <a:rPr lang="en-US" sz="3600" dirty="0"/>
              <a:t>Hyper-resonant on affected pneumothorax</a:t>
            </a:r>
          </a:p>
          <a:p>
            <a:r>
              <a:rPr lang="en-US" sz="3600" dirty="0"/>
              <a:t>Diminished to absent breath sounds</a:t>
            </a:r>
          </a:p>
        </p:txBody>
      </p:sp>
    </p:spTree>
    <p:extLst>
      <p:ext uri="{BB962C8B-B14F-4D97-AF65-F5344CB8AC3E}">
        <p14:creationId xmlns:p14="http://schemas.microsoft.com/office/powerpoint/2010/main" val="333175923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Diagnosis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History taking</a:t>
            </a:r>
          </a:p>
          <a:p>
            <a:r>
              <a:rPr lang="en-US" sz="3600" dirty="0"/>
              <a:t>Physical examination</a:t>
            </a:r>
          </a:p>
          <a:p>
            <a:r>
              <a:rPr lang="en-US" sz="3600" dirty="0"/>
              <a:t>Chest x ray</a:t>
            </a:r>
          </a:p>
          <a:p>
            <a:r>
              <a:rPr lang="en-US" sz="3600" dirty="0"/>
              <a:t>Chest CT scan</a:t>
            </a:r>
          </a:p>
        </p:txBody>
      </p:sp>
    </p:spTree>
    <p:extLst>
      <p:ext uri="{BB962C8B-B14F-4D97-AF65-F5344CB8AC3E}">
        <p14:creationId xmlns:p14="http://schemas.microsoft.com/office/powerpoint/2010/main" val="417057563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surgical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Oxygen administration</a:t>
            </a:r>
          </a:p>
          <a:p>
            <a:r>
              <a:rPr lang="en-US" sz="3600" dirty="0"/>
              <a:t>Simple aspiration</a:t>
            </a:r>
          </a:p>
          <a:p>
            <a:r>
              <a:rPr lang="en-US" sz="3600" dirty="0"/>
              <a:t>Intercostal tube drainage</a:t>
            </a:r>
          </a:p>
        </p:txBody>
      </p:sp>
    </p:spTree>
    <p:extLst>
      <p:ext uri="{BB962C8B-B14F-4D97-AF65-F5344CB8AC3E}">
        <p14:creationId xmlns:p14="http://schemas.microsoft.com/office/powerpoint/2010/main" val="258375688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Nursing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Ineffective breathing pattern related to decreased lung expansion as evidenced by use of accessory respiratory muscles.</a:t>
            </a:r>
          </a:p>
          <a:p>
            <a:r>
              <a:rPr lang="en-US" sz="3600" dirty="0"/>
              <a:t>Impaired gaseous exchange related to decreased oxygen diffusion capacity as evidenced by cyanosis.</a:t>
            </a:r>
          </a:p>
          <a:p>
            <a:r>
              <a:rPr lang="en-US" sz="3600" dirty="0"/>
              <a:t>Acute pain related to trauma to soft tissue as evidenced by patient verbalizing pain.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29982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 err="1"/>
              <a:t>Hydropneumothorax</a:t>
            </a:r>
            <a:endParaRPr lang="en-US" sz="3600" dirty="0"/>
          </a:p>
          <a:p>
            <a:r>
              <a:rPr lang="en-US" sz="3600" dirty="0" err="1"/>
              <a:t>Pyopneumothorax</a:t>
            </a:r>
            <a:endParaRPr lang="en-US" sz="3600" dirty="0"/>
          </a:p>
          <a:p>
            <a:r>
              <a:rPr lang="en-US" sz="3600" dirty="0" err="1"/>
              <a:t>Haemopneumothorax</a:t>
            </a:r>
            <a:endParaRPr lang="en-US" sz="3600" dirty="0"/>
          </a:p>
          <a:p>
            <a:r>
              <a:rPr lang="en-US" sz="3600" dirty="0"/>
              <a:t>Emphysema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31741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indent="-1097280">
              <a:buNone/>
            </a:pPr>
            <a:r>
              <a:rPr lang="en-US" dirty="0"/>
              <a:t>Suzanne C. </a:t>
            </a:r>
            <a:r>
              <a:rPr lang="en-US" dirty="0" err="1"/>
              <a:t>Smeltzer</a:t>
            </a:r>
            <a:r>
              <a:rPr lang="en-US" dirty="0"/>
              <a:t>, Brenda Bare, Janice L. Hinkle, Kerry H. Cheever (2017): Brunner and </a:t>
            </a:r>
            <a:r>
              <a:rPr lang="en-US" dirty="0" err="1"/>
              <a:t>Suddarth's</a:t>
            </a:r>
            <a:r>
              <a:rPr lang="en-US" dirty="0"/>
              <a:t> Textbook of Medical-Surgical Nursing. 14th Ed. Lippincott Williams &amp;Wilkins.</a:t>
            </a:r>
          </a:p>
          <a:p>
            <a:pPr marL="914400" indent="-1463040">
              <a:lnSpc>
                <a:spcPct val="100000"/>
              </a:lnSpc>
              <a:buNone/>
            </a:pPr>
            <a:r>
              <a:rPr lang="en-GB" dirty="0" err="1"/>
              <a:t>Basavanthappa</a:t>
            </a:r>
            <a:r>
              <a:rPr lang="en-GB" dirty="0"/>
              <a:t> B.T. (2015). </a:t>
            </a:r>
            <a:r>
              <a:rPr lang="en-GB" i="1" dirty="0"/>
              <a:t>Medical Surgical Nursing 3</a:t>
            </a:r>
            <a:r>
              <a:rPr lang="en-GB" i="1" baseline="30000" dirty="0"/>
              <a:t>rd</a:t>
            </a:r>
            <a:r>
              <a:rPr lang="en-GB" i="1" dirty="0"/>
              <a:t> Edition Vol. 1 &amp; 2 New Delhi</a:t>
            </a:r>
            <a:r>
              <a:rPr lang="en-GB" dirty="0"/>
              <a:t> Health Science Publisher.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93801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STATUS ASTHMATICUS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68562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YEAR TWO SEMESTER ONE</a:t>
            </a:r>
          </a:p>
          <a:p>
            <a:pPr algn="l"/>
            <a:r>
              <a:rPr lang="en-US" sz="3200" dirty="0"/>
              <a:t>DEPARTMENT OF GENERAL NURSING.</a:t>
            </a:r>
          </a:p>
          <a:p>
            <a:pPr algn="l"/>
            <a:r>
              <a:rPr lang="en-US" sz="3200" dirty="0"/>
              <a:t>PULMONARY NURSING</a:t>
            </a:r>
          </a:p>
          <a:p>
            <a:pPr algn="l"/>
            <a:endParaRPr lang="en-US" sz="3200" dirty="0"/>
          </a:p>
          <a:p>
            <a:pPr algn="l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3183879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9176"/>
            <a:ext cx="10515600" cy="4697787"/>
          </a:xfrm>
        </p:spPr>
        <p:txBody>
          <a:bodyPr>
            <a:noAutofit/>
          </a:bodyPr>
          <a:lstStyle/>
          <a:p>
            <a:r>
              <a:rPr lang="en-US" sz="3600" dirty="0"/>
              <a:t>By the end of the lesson the learner should be able to;</a:t>
            </a:r>
          </a:p>
          <a:p>
            <a:pPr marL="0" indent="0">
              <a:buNone/>
            </a:pPr>
            <a:r>
              <a:rPr lang="en-US" sz="3600" dirty="0"/>
              <a:t>-define status </a:t>
            </a:r>
            <a:r>
              <a:rPr lang="en-US" sz="3600" dirty="0" err="1"/>
              <a:t>asthmaticus</a:t>
            </a:r>
            <a:endParaRPr lang="en-US" sz="3600" dirty="0"/>
          </a:p>
          <a:p>
            <a:pPr marL="0" indent="0">
              <a:buNone/>
            </a:pPr>
            <a:r>
              <a:rPr lang="en-US" sz="3600" dirty="0"/>
              <a:t>-describe the pathophysiology of status </a:t>
            </a:r>
            <a:r>
              <a:rPr lang="en-US" sz="3600" dirty="0" err="1"/>
              <a:t>asthmatus</a:t>
            </a:r>
            <a:endParaRPr lang="en-US" sz="3600" dirty="0"/>
          </a:p>
          <a:p>
            <a:pPr marL="0" indent="0">
              <a:buNone/>
            </a:pPr>
            <a:r>
              <a:rPr lang="en-US" sz="3600" dirty="0"/>
              <a:t>-list the risk factors to status </a:t>
            </a:r>
            <a:r>
              <a:rPr lang="en-US" sz="3600" dirty="0" err="1"/>
              <a:t>asthmaticus</a:t>
            </a:r>
            <a:endParaRPr lang="en-US" sz="3600" dirty="0"/>
          </a:p>
          <a:p>
            <a:pPr marL="0" indent="0">
              <a:buNone/>
            </a:pPr>
            <a:r>
              <a:rPr lang="en-US" sz="3600" dirty="0"/>
              <a:t>-outline the clinical manifestations of status </a:t>
            </a:r>
            <a:r>
              <a:rPr lang="en-US" sz="3600" dirty="0" err="1"/>
              <a:t>asthmaticus</a:t>
            </a:r>
            <a:endParaRPr lang="en-US" sz="3600" dirty="0"/>
          </a:p>
          <a:p>
            <a:pPr marL="0" indent="0">
              <a:buNone/>
            </a:pPr>
            <a:r>
              <a:rPr lang="en-US" sz="3600" dirty="0"/>
              <a:t>-describe the diagnosis of status </a:t>
            </a:r>
            <a:r>
              <a:rPr lang="en-US" sz="3600" dirty="0" err="1"/>
              <a:t>asthmaticus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4855059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Objectives continuation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- </a:t>
            </a:r>
            <a:r>
              <a:rPr lang="en-US" sz="3600" dirty="0"/>
              <a:t>Outline the medical and surgical management of status asthmaticus.</a:t>
            </a:r>
          </a:p>
          <a:p>
            <a:pPr marL="0" indent="0">
              <a:buNone/>
            </a:pPr>
            <a:r>
              <a:rPr lang="en-US" sz="3600" dirty="0"/>
              <a:t>- Apply the nursing process in management of status asthmaticus.</a:t>
            </a:r>
          </a:p>
          <a:p>
            <a:pPr marL="0" indent="0">
              <a:buNone/>
            </a:pPr>
            <a:r>
              <a:rPr lang="en-US" sz="3600" dirty="0"/>
              <a:t>- List complications of status asthmaticus.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0468932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Status </a:t>
            </a:r>
            <a:r>
              <a:rPr lang="en-US" sz="3600" dirty="0" err="1"/>
              <a:t>asthmaticus</a:t>
            </a:r>
            <a:r>
              <a:rPr lang="en-US" sz="3600" dirty="0"/>
              <a:t> is severe and persistent asthma that does not respond to conventional therapy</a:t>
            </a:r>
          </a:p>
        </p:txBody>
      </p:sp>
    </p:spTree>
    <p:extLst>
      <p:ext uri="{BB962C8B-B14F-4D97-AF65-F5344CB8AC3E}">
        <p14:creationId xmlns:p14="http://schemas.microsoft.com/office/powerpoint/2010/main" val="425885863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https://s3.amazonaws.com/healthtap-public/ht-staging/user_answer/reference_image/10057/large/asthma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241300"/>
            <a:ext cx="11087100" cy="617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430519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Pathophysiology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2965"/>
            <a:ext cx="10515600" cy="464399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Acute bronchoconstriction</a:t>
            </a:r>
          </a:p>
          <a:p>
            <a:pPr marL="0" indent="0" algn="ctr">
              <a:buNone/>
            </a:pPr>
            <a:r>
              <a:rPr lang="en-US" sz="3600" dirty="0"/>
              <a:t>↓</a:t>
            </a:r>
          </a:p>
          <a:p>
            <a:pPr marL="0" indent="0" algn="ctr">
              <a:buNone/>
            </a:pPr>
            <a:r>
              <a:rPr lang="en-US" sz="3600" dirty="0"/>
              <a:t>Airway edema </a:t>
            </a:r>
          </a:p>
          <a:p>
            <a:pPr marL="0" indent="0" algn="ctr">
              <a:buNone/>
            </a:pPr>
            <a:r>
              <a:rPr lang="en-US" sz="3600" dirty="0"/>
              <a:t>↓</a:t>
            </a:r>
          </a:p>
          <a:p>
            <a:pPr marL="0" indent="0" algn="ctr">
              <a:buNone/>
            </a:pPr>
            <a:r>
              <a:rPr lang="en-US" sz="3600" dirty="0"/>
              <a:t>Mucus production</a:t>
            </a:r>
          </a:p>
          <a:p>
            <a:pPr marL="0" indent="0" algn="ctr">
              <a:buNone/>
            </a:pPr>
            <a:r>
              <a:rPr lang="en-US" sz="3600" dirty="0"/>
              <a:t>↓</a:t>
            </a:r>
          </a:p>
          <a:p>
            <a:pPr marL="0" indent="0" algn="ctr">
              <a:buNone/>
            </a:pPr>
            <a:r>
              <a:rPr lang="en-US" sz="3600" dirty="0"/>
              <a:t>Airway remodeling </a:t>
            </a:r>
          </a:p>
        </p:txBody>
      </p:sp>
    </p:spTree>
    <p:extLst>
      <p:ext uri="{BB962C8B-B14F-4D97-AF65-F5344CB8AC3E}">
        <p14:creationId xmlns:p14="http://schemas.microsoft.com/office/powerpoint/2010/main" val="245138739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34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factors to status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asthmaticus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7473"/>
            <a:ext cx="10515600" cy="4939832"/>
          </a:xfrm>
        </p:spPr>
        <p:txBody>
          <a:bodyPr>
            <a:noAutofit/>
          </a:bodyPr>
          <a:lstStyle/>
          <a:p>
            <a:r>
              <a:rPr lang="en-US" sz="3600" dirty="0"/>
              <a:t>Infection</a:t>
            </a:r>
          </a:p>
          <a:p>
            <a:r>
              <a:rPr lang="en-US" sz="3600" dirty="0"/>
              <a:t>Anxiety</a:t>
            </a:r>
          </a:p>
          <a:p>
            <a:r>
              <a:rPr lang="en-US" sz="3600" dirty="0"/>
              <a:t>nebulizer abuse</a:t>
            </a:r>
          </a:p>
          <a:p>
            <a:r>
              <a:rPr lang="en-US" sz="3600" dirty="0"/>
              <a:t>Dehydration</a:t>
            </a:r>
          </a:p>
        </p:txBody>
      </p:sp>
    </p:spTree>
    <p:extLst>
      <p:ext uri="{BB962C8B-B14F-4D97-AF65-F5344CB8AC3E}">
        <p14:creationId xmlns:p14="http://schemas.microsoft.com/office/powerpoint/2010/main" val="384739532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260B4-A900-4F1F-BACB-39C36FB9F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4087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factors cont.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E2D9B-F08B-4641-816C-974594DE5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Allergens </a:t>
            </a:r>
          </a:p>
          <a:p>
            <a:r>
              <a:rPr lang="en-US" sz="3600" dirty="0"/>
              <a:t>History of syncope or seizures during acute exacerbation </a:t>
            </a:r>
          </a:p>
          <a:p>
            <a:r>
              <a:rPr lang="en-US" sz="3600" dirty="0"/>
              <a:t>Oxygen saturation below 92% despite supplemental oxygen</a:t>
            </a: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17941332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639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Clinical manifestations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7812"/>
            <a:ext cx="10515600" cy="4859151"/>
          </a:xfrm>
        </p:spPr>
        <p:txBody>
          <a:bodyPr/>
          <a:lstStyle/>
          <a:p>
            <a:r>
              <a:rPr lang="en-US" sz="3600" dirty="0"/>
              <a:t>Labored breathing</a:t>
            </a:r>
          </a:p>
          <a:p>
            <a:r>
              <a:rPr lang="en-US" sz="3600" dirty="0"/>
              <a:t>Prolonged exhalation</a:t>
            </a:r>
          </a:p>
          <a:p>
            <a:r>
              <a:rPr lang="en-US" sz="3600" dirty="0"/>
              <a:t>Engorged neck veins</a:t>
            </a:r>
          </a:p>
          <a:p>
            <a:r>
              <a:rPr lang="en-US" sz="3600" dirty="0"/>
              <a:t>Wheezing.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95246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2687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Clinical manifestations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Diminished breath sounds</a:t>
            </a:r>
          </a:p>
          <a:p>
            <a:r>
              <a:rPr lang="en-US" sz="3600" dirty="0"/>
              <a:t>Tachypnea </a:t>
            </a:r>
          </a:p>
          <a:p>
            <a:r>
              <a:rPr lang="en-US" sz="3600" dirty="0"/>
              <a:t>Impaired mental functioning.</a:t>
            </a:r>
          </a:p>
          <a:p>
            <a:r>
              <a:rPr lang="en-US" sz="3600" dirty="0"/>
              <a:t>Tachycardia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33281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Diagnosis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History taking </a:t>
            </a:r>
          </a:p>
          <a:p>
            <a:r>
              <a:rPr lang="en-US" sz="3600" dirty="0"/>
              <a:t>Physical examination</a:t>
            </a:r>
          </a:p>
          <a:p>
            <a:r>
              <a:rPr lang="en-US" sz="3600" dirty="0"/>
              <a:t>Arterial blood gas analysis</a:t>
            </a:r>
          </a:p>
          <a:p>
            <a:r>
              <a:rPr lang="en-US" sz="3600" dirty="0"/>
              <a:t>Pulse oximetry</a:t>
            </a:r>
          </a:p>
          <a:p>
            <a:r>
              <a:rPr lang="en-US" sz="3600" dirty="0"/>
              <a:t>Pulmonary function tests</a:t>
            </a:r>
          </a:p>
        </p:txBody>
      </p:sp>
    </p:spTree>
    <p:extLst>
      <p:ext uri="{BB962C8B-B14F-4D97-AF65-F5344CB8AC3E}">
        <p14:creationId xmlns:p14="http://schemas.microsoft.com/office/powerpoint/2010/main" val="34853590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Peak flow meter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422400"/>
            <a:ext cx="10452100" cy="5321300"/>
          </a:xfrm>
        </p:spPr>
      </p:pic>
    </p:spTree>
    <p:extLst>
      <p:ext uri="{BB962C8B-B14F-4D97-AF65-F5344CB8AC3E}">
        <p14:creationId xmlns:p14="http://schemas.microsoft.com/office/powerpoint/2010/main" val="304635159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Spirometry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200" y="1690688"/>
            <a:ext cx="9817100" cy="4672012"/>
          </a:xfrm>
        </p:spPr>
      </p:pic>
    </p:spTree>
    <p:extLst>
      <p:ext uri="{BB962C8B-B14F-4D97-AF65-F5344CB8AC3E}">
        <p14:creationId xmlns:p14="http://schemas.microsoft.com/office/powerpoint/2010/main" val="236343806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Medical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8835"/>
            <a:ext cx="10515600" cy="4738128"/>
          </a:xfrm>
        </p:spPr>
        <p:txBody>
          <a:bodyPr>
            <a:normAutofit/>
          </a:bodyPr>
          <a:lstStyle/>
          <a:p>
            <a:r>
              <a:rPr lang="en-US" sz="3600" dirty="0"/>
              <a:t>Oxygen therapy</a:t>
            </a:r>
          </a:p>
          <a:p>
            <a:r>
              <a:rPr lang="en-US" sz="3600" dirty="0"/>
              <a:t>Pharmacological management</a:t>
            </a:r>
          </a:p>
          <a:p>
            <a:r>
              <a:rPr lang="en-US" sz="3600" dirty="0"/>
              <a:t>Fluid therapy </a:t>
            </a:r>
          </a:p>
          <a:p>
            <a:r>
              <a:rPr lang="en-US" sz="3600" dirty="0"/>
              <a:t>Mechanical ventilation</a:t>
            </a:r>
          </a:p>
        </p:txBody>
      </p:sp>
    </p:spTree>
    <p:extLst>
      <p:ext uri="{BB962C8B-B14F-4D97-AF65-F5344CB8AC3E}">
        <p14:creationId xmlns:p14="http://schemas.microsoft.com/office/powerpoint/2010/main" val="43938294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Nebulizer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800" y="1435100"/>
            <a:ext cx="8458200" cy="4741863"/>
          </a:xfrm>
        </p:spPr>
      </p:pic>
    </p:spTree>
    <p:extLst>
      <p:ext uri="{BB962C8B-B14F-4D97-AF65-F5344CB8AC3E}">
        <p14:creationId xmlns:p14="http://schemas.microsoft.com/office/powerpoint/2010/main" val="34336619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05466"/>
            <a:ext cx="10515600" cy="1325563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Nursing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Place the patient on a sitting position</a:t>
            </a:r>
          </a:p>
          <a:p>
            <a:r>
              <a:rPr lang="en-US" sz="3600" dirty="0"/>
              <a:t>Administer oxygen</a:t>
            </a:r>
          </a:p>
          <a:p>
            <a:r>
              <a:rPr lang="en-US" sz="3600" dirty="0"/>
              <a:t>Administer medication</a:t>
            </a:r>
          </a:p>
          <a:p>
            <a:r>
              <a:rPr lang="en-US" sz="3600" dirty="0"/>
              <a:t>Provide psychological support</a:t>
            </a:r>
          </a:p>
          <a:p>
            <a:r>
              <a:rPr lang="en-US" sz="3600" dirty="0"/>
              <a:t>Place patient in a room free from respiratory irritants</a:t>
            </a:r>
          </a:p>
          <a:p>
            <a:r>
              <a:rPr lang="en-US" sz="3600" dirty="0"/>
              <a:t>Provide bed rest</a:t>
            </a:r>
          </a:p>
          <a:p>
            <a:endParaRPr lang="en-US" sz="3200" dirty="0"/>
          </a:p>
          <a:p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7296696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Nursing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Impaired gas exchange related to ventilation–perfusion inequality as evidenced by central cyanosis and change in mental status.</a:t>
            </a:r>
          </a:p>
          <a:p>
            <a:r>
              <a:rPr lang="en-US" sz="3600" dirty="0"/>
              <a:t>Ineffective breathing pattern related to increased mucus production as evidenced by dyspnea</a:t>
            </a:r>
          </a:p>
        </p:txBody>
      </p:sp>
    </p:spTree>
    <p:extLst>
      <p:ext uri="{BB962C8B-B14F-4D97-AF65-F5344CB8AC3E}">
        <p14:creationId xmlns:p14="http://schemas.microsoft.com/office/powerpoint/2010/main" val="273553686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356C4-816E-496C-A9B0-464C6EE59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Nursing Dx. Cont.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82635-B976-4825-9EA5-73956EC03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Ineffective airway clearance related to increased mucus production as evidenced by increased mucus in cough</a:t>
            </a:r>
          </a:p>
          <a:p>
            <a:r>
              <a:rPr lang="en-US" sz="3600" dirty="0"/>
              <a:t>Activity intolerance related to fatigue as evidenced by patient inability to carry out activities of daily living.</a:t>
            </a:r>
          </a:p>
          <a:p>
            <a:pPr marL="0" indent="0">
              <a:buNone/>
            </a:pP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858382477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Complications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Spontaneous pneumothorax</a:t>
            </a:r>
          </a:p>
          <a:p>
            <a:r>
              <a:rPr lang="en-US" sz="3600" dirty="0"/>
              <a:t>Respiratory failure </a:t>
            </a:r>
          </a:p>
          <a:p>
            <a:r>
              <a:rPr lang="en-US" sz="3600" dirty="0"/>
              <a:t>Heart failure </a:t>
            </a:r>
          </a:p>
          <a:p>
            <a:r>
              <a:rPr lang="en-US" sz="3600" dirty="0"/>
              <a:t>Hypoxic brain injury </a:t>
            </a:r>
          </a:p>
          <a:p>
            <a:r>
              <a:rPr lang="en-US" sz="3600" dirty="0"/>
              <a:t>Myocardial infarction</a:t>
            </a:r>
          </a:p>
        </p:txBody>
      </p:sp>
    </p:spTree>
    <p:extLst>
      <p:ext uri="{BB962C8B-B14F-4D97-AF65-F5344CB8AC3E}">
        <p14:creationId xmlns:p14="http://schemas.microsoft.com/office/powerpoint/2010/main" val="3246657002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three priority nursing diagnosis write a nursing care plan for a patient with status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asthmaticus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554775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162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r>
              <a:rPr lang="en-US" dirty="0" err="1"/>
              <a:t>Hinkle,L</a:t>
            </a:r>
            <a:r>
              <a:rPr lang="en-US" dirty="0"/>
              <a:t>., &amp; Cheever, H. (2018). </a:t>
            </a:r>
            <a:r>
              <a:rPr lang="en-US" i="1" dirty="0"/>
              <a:t>Brunner &amp; </a:t>
            </a:r>
            <a:r>
              <a:rPr lang="en-US" i="1" dirty="0" err="1"/>
              <a:t>Suddarth's</a:t>
            </a:r>
            <a:r>
              <a:rPr lang="en-US" i="1" dirty="0"/>
              <a:t> textbook of medical-surgical nursing</a:t>
            </a:r>
            <a:r>
              <a:rPr lang="en-US" dirty="0"/>
              <a:t> (Edition 14.). Wolters Kluwer Health/Lippincott Williams &amp; Wilkins</a:t>
            </a:r>
          </a:p>
          <a:p>
            <a:pPr marL="457200" indent="-457200">
              <a:buNone/>
            </a:pPr>
            <a:r>
              <a:rPr lang="en-GB" dirty="0" err="1"/>
              <a:t>Basavanthappa</a:t>
            </a:r>
            <a:r>
              <a:rPr lang="en-GB" dirty="0"/>
              <a:t>, T. (2015). </a:t>
            </a:r>
            <a:r>
              <a:rPr lang="en-GB" i="1" dirty="0"/>
              <a:t>Medical Surgical Nursing 3</a:t>
            </a:r>
            <a:r>
              <a:rPr lang="en-GB" i="1" baseline="30000" dirty="0"/>
              <a:t>rd</a:t>
            </a:r>
            <a:r>
              <a:rPr lang="en-GB" i="1" dirty="0"/>
              <a:t> Edition Vol. 1 &amp; 2 New Delhi</a:t>
            </a:r>
            <a:r>
              <a:rPr lang="en-GB" dirty="0"/>
              <a:t> Health Science Publisher</a:t>
            </a:r>
          </a:p>
          <a:p>
            <a:pPr marL="457200" indent="-457200">
              <a:buNone/>
            </a:pPr>
            <a:r>
              <a:rPr lang="en-US" dirty="0"/>
              <a:t>American Lung Association, 1740 Broadway, New York, NY 10019- 4374; (212) 315-8700; </a:t>
            </a:r>
            <a:r>
              <a:rPr lang="en-US" u="sng" dirty="0"/>
              <a:t>http://www.lungusa.org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416598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70F79-95DC-4BD1-97CB-B80256513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52334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BRONCHIOLITIS</a:t>
            </a:r>
            <a:endParaRPr lang="en-GB" sz="7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63711771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2687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Bronchiolitis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6071"/>
            <a:ext cx="10515600" cy="4670892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What is it?</a:t>
            </a:r>
          </a:p>
          <a:p>
            <a:pPr algn="l"/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Acute infectious inflammatory disease of the URTI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Lower respiratory tract infection- obstruction of small airways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Infants less than 1 year- severe resp. symptoms due to mucosal oedema. (Boys affected &gt; girls)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Leads to air trapping airway obstruction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Respiratory Syncytial Virus bronchiolitis highly contagious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Most causes are self limiting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935276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7AE51-33A1-436D-A0D0-807D7837E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0981"/>
          </a:xfrm>
        </p:spPr>
        <p:txBody>
          <a:bodyPr/>
          <a:lstStyle/>
          <a:p>
            <a:r>
              <a:rPr lang="en-US" dirty="0"/>
              <a:t>Cont.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EFE87-AFE4-4A79-B488-4ADB8A47E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388"/>
            <a:ext cx="10515600" cy="4751575"/>
          </a:xfrm>
        </p:spPr>
        <p:txBody>
          <a:bodyPr>
            <a:normAutofit/>
          </a:bodyPr>
          <a:lstStyle/>
          <a:p>
            <a:r>
              <a:rPr lang="en-US" sz="3600" dirty="0"/>
              <a:t>Two RSV subtypes A (severe) and B (Structural variations in the G protein)</a:t>
            </a:r>
          </a:p>
          <a:p>
            <a:r>
              <a:rPr lang="en-US" sz="3600" dirty="0"/>
              <a:t>Viral shedding in nasal secretions for 6-21 days after symptoms develop.</a:t>
            </a:r>
          </a:p>
          <a:p>
            <a:r>
              <a:rPr lang="en-US" sz="3600" dirty="0"/>
              <a:t>Complex immunologic mechanisms play a role in RSV bronchiolitis. Type 1 allergic reactions mediated by </a:t>
            </a:r>
            <a:r>
              <a:rPr lang="en-US" sz="3600" dirty="0" err="1"/>
              <a:t>IgE</a:t>
            </a:r>
            <a:r>
              <a:rPr lang="en-US" sz="3600" dirty="0"/>
              <a:t> antibody account for significant bronchiolitis thus breastfed babies (Colostrum-IgA) relatively protected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66640200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CD9AD-A5D6-4E94-9CB6-02653E236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2687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factors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1BDBF-8B72-46BD-98EB-6161C5F5F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7094"/>
            <a:ext cx="10515600" cy="4549869"/>
          </a:xfrm>
        </p:spPr>
        <p:txBody>
          <a:bodyPr>
            <a:normAutofit/>
          </a:bodyPr>
          <a:lstStyle/>
          <a:p>
            <a:r>
              <a:rPr lang="en-US" sz="3600" dirty="0"/>
              <a:t>Low birth weight</a:t>
            </a:r>
          </a:p>
          <a:p>
            <a:r>
              <a:rPr lang="en-US" sz="3600" dirty="0"/>
              <a:t>Lower socio-economic group</a:t>
            </a:r>
          </a:p>
          <a:p>
            <a:r>
              <a:rPr lang="en-US" sz="3600" dirty="0"/>
              <a:t>Parental smoking</a:t>
            </a:r>
          </a:p>
          <a:p>
            <a:r>
              <a:rPr lang="en-US" sz="3600" dirty="0"/>
              <a:t>Crowded condition, day care</a:t>
            </a:r>
          </a:p>
          <a:p>
            <a:r>
              <a:rPr lang="en-US" sz="3600" dirty="0"/>
              <a:t>Chronic lung disease </a:t>
            </a:r>
          </a:p>
          <a:p>
            <a:r>
              <a:rPr lang="en-US" sz="3600" dirty="0"/>
              <a:t>CHD + pulmonary hypertension</a:t>
            </a:r>
          </a:p>
          <a:p>
            <a:r>
              <a:rPr lang="en-US" sz="3600" dirty="0"/>
              <a:t>&lt;3 months old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244756824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B3E27-37A8-4267-A6A7-7944C7D70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Diagnosis/Clinical Manifestation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61730-D630-407D-85FA-8F80CE797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Nasal obstruction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Runny nose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Cough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Fever cough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Apnoea (particularly neonates)</a:t>
            </a: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726122294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BA291-1D3E-4568-BC5F-F30862590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Clinical Manifestation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4A127-F28C-46EB-9A07-F869E83A0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Respiratory Distress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Mild Clinical Signs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Moderate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Severe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Greatest risk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Very young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Prem/LBW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Underlying heart/lung problems</a:t>
            </a: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082185876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74390-94FA-4B2E-97E5-0CAC56F31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4428"/>
          </a:xfrm>
        </p:spPr>
        <p:txBody>
          <a:bodyPr/>
          <a:lstStyle/>
          <a:p>
            <a:r>
              <a:rPr lang="en-US" dirty="0" err="1"/>
              <a:t>Ssx</a:t>
            </a:r>
            <a:r>
              <a:rPr lang="en-US" dirty="0"/>
              <a:t>. Cont.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DACAF-8199-452D-B5EE-E4A66BE90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Coryza – Rhinorrhea, fever</a:t>
            </a:r>
          </a:p>
          <a:p>
            <a:r>
              <a:rPr lang="en-US" sz="3600" dirty="0"/>
              <a:t>Sharp, Dry cough</a:t>
            </a:r>
          </a:p>
          <a:p>
            <a:r>
              <a:rPr lang="en-US" sz="3600" dirty="0"/>
              <a:t>Wheezing</a:t>
            </a:r>
          </a:p>
          <a:p>
            <a:r>
              <a:rPr lang="en-US" sz="3600" dirty="0"/>
              <a:t>Fine inspiratory crackles</a:t>
            </a:r>
          </a:p>
          <a:p>
            <a:r>
              <a:rPr lang="en-US" sz="3600" dirty="0"/>
              <a:t>Progressive breathlessness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04369312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06C39-2422-4FAF-9C45-89D37FD2D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Respiratory Distress (</a:t>
            </a:r>
            <a:r>
              <a:rPr lang="en-US" sz="44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contd</a:t>
            </a:r>
            <a:r>
              <a:rPr lang="en-US" sz="4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E4F40-78EF-4101-83F4-DF6C5C5F0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Rapid, hard and fast breathing. (Very important clinical finding).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Tug/recession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Cyanosis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Flaring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Grunt</a:t>
            </a:r>
          </a:p>
          <a:p>
            <a:pPr marL="0" indent="0">
              <a:buNone/>
            </a:pPr>
            <a:br>
              <a:rPr lang="en-US" sz="2400" dirty="0"/>
            </a:b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517689107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FF64C-F9AB-4901-8BC6-73891D547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Diagnostic Tests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A1D31-E914-4A40-8212-06B0BC730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071"/>
            <a:ext cx="10515600" cy="4986804"/>
          </a:xfrm>
        </p:spPr>
        <p:txBody>
          <a:bodyPr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51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Nil specific</a:t>
            </a:r>
          </a:p>
          <a:p>
            <a:pPr marL="0" indent="0" algn="l">
              <a:buNone/>
            </a:pPr>
            <a:r>
              <a:rPr lang="en-US" sz="51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Consider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51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Naso</a:t>
            </a:r>
            <a:r>
              <a:rPr lang="en-US" sz="51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-Pharyngeal Airway for respiratory viruses – RSA antigen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51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CXR- Hyperinflated lung due to airways obstruction air trapping, focal atelectasis)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51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FBC - Lymphocytosis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51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Blood Culture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51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ABG- &lt; arterial O2, &gt; CO2 tension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51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NONE are routine</a:t>
            </a:r>
          </a:p>
          <a:p>
            <a:pPr marL="0" indent="0">
              <a:buNone/>
            </a:pPr>
            <a:br>
              <a:rPr lang="en-US" sz="2400" dirty="0"/>
            </a:b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05993167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0E61B-1D40-4FE8-957C-4C7DC6DD6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3746"/>
          </a:xfrm>
        </p:spPr>
        <p:txBody>
          <a:bodyPr>
            <a:normAutofit fontScale="90000"/>
          </a:bodyPr>
          <a:lstStyle/>
          <a:p>
            <a:r>
              <a:rPr lang="en-GB" b="0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Differential DX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D3F8D-BBD4-48DC-9D38-1F7CF63C4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6788"/>
            <a:ext cx="10515600" cy="554018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00"/>
                </a:solidFill>
                <a:latin typeface="Calibri" panose="020F0502020204030204" pitchFamily="34" charset="0"/>
              </a:rPr>
              <a:t>Pertussis (Bronchitis)</a:t>
            </a:r>
            <a:endParaRPr lang="en-GB" sz="36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Pneumonia CXR, ? Fever, toxic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Asthma, family hx, no fever,</a:t>
            </a:r>
            <a:b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bronchodilator response, older</a:t>
            </a:r>
            <a:b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children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Heart Failure ? HR, murmurs, Enlarged liver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Pneumothorax CXR, deviated trachea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Foreign Body hx, choking, unilateral signs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rgbClr val="000000"/>
                </a:solidFill>
                <a:latin typeface="Calibri" panose="020F0502020204030204" pitchFamily="34" charset="0"/>
              </a:rPr>
              <a:t>Aspiration syndrome</a:t>
            </a:r>
            <a:endParaRPr lang="en-GB" sz="36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6667318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73597-B212-42BA-A83E-668BE5A3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Mild Bronchiolitis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3A477-FFFE-4302-83CF-A2A24F80A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Feeding normally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Little respiratory distress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Fever less than 385C (50)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No O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requirements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? D/C home</a:t>
            </a:r>
          </a:p>
          <a:p>
            <a:pPr marL="0" indent="0">
              <a:buNone/>
            </a:pPr>
            <a:br>
              <a:rPr lang="en-US" sz="2400" dirty="0"/>
            </a:b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11659198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18F9E-3542-4542-B42B-D222BA683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Moderate Bronchiolitis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205B3-693E-4B6D-83ED-818AA24A1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SOB, poor feeding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Moderate respiratory distress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Short, self limiting </a:t>
            </a:r>
            <a:r>
              <a:rPr lang="en-GB" sz="36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Apnoeas</a:t>
            </a:r>
            <a:endParaRPr lang="en-GB" sz="36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Need O2 to keep </a:t>
            </a:r>
            <a:r>
              <a:rPr lang="en-GB" sz="36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sats</a:t>
            </a:r>
            <a: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GB" sz="36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gt</a:t>
            </a:r>
            <a: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95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Fever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? admit, Paediatrician where possible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O2, IV fluids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Observation </a:t>
            </a:r>
            <a:r>
              <a:rPr lang="en-GB" sz="36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sats</a:t>
            </a:r>
            <a: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NB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NPA CXR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041488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8FF26-496D-44BA-8923-2C6F04AA3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Severe Bronchiolitis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76431-3BA4-443A-AEF3-B5B8A7A7B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14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Unable to feed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Severe respiratory distress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Tiring! Frequent prolonged Apnoea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Maximum O2 UNABLE to </a:t>
            </a:r>
            <a:r>
              <a:rPr lang="en-GB" sz="14400" dirty="0">
                <a:solidFill>
                  <a:srgbClr val="000000"/>
                </a:solidFill>
                <a:latin typeface="Calibri" panose="020F0502020204030204" pitchFamily="34" charset="0"/>
              </a:rPr>
              <a:t>k</a:t>
            </a:r>
            <a:r>
              <a:rPr lang="en-GB" sz="14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eep </a:t>
            </a:r>
            <a:r>
              <a:rPr lang="en-GB" sz="144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sats</a:t>
            </a:r>
            <a:r>
              <a:rPr lang="en-GB" sz="14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Fever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NBM, IV fluids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CXR, ABG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Monitor, intubate, ventilate</a:t>
            </a:r>
          </a:p>
          <a:p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9473623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91C27-CF7B-4635-A4D2-43DD77E37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4428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Management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AEF09-340F-48B6-A79A-4ED85B1F5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9554"/>
            <a:ext cx="10515600" cy="5363320"/>
          </a:xfrm>
        </p:spPr>
        <p:txBody>
          <a:bodyPr>
            <a:normAutofit/>
          </a:bodyPr>
          <a:lstStyle/>
          <a:p>
            <a:r>
              <a:rPr lang="en-US" sz="3600" dirty="0"/>
              <a:t>Supportive (Viral) provide adequate fluid (N/G, I.V) to maintain hydration</a:t>
            </a:r>
          </a:p>
          <a:p>
            <a:r>
              <a:rPr lang="en-US" sz="3600" dirty="0"/>
              <a:t>Monitor for apnea (Infants)</a:t>
            </a:r>
          </a:p>
          <a:p>
            <a:r>
              <a:rPr lang="en-US" sz="3600" dirty="0"/>
              <a:t>Humidified O2 via nasal cannula determined by pulse oximetry</a:t>
            </a:r>
          </a:p>
          <a:p>
            <a:r>
              <a:rPr lang="en-US" sz="3600" dirty="0"/>
              <a:t>Mist, antibiotics</a:t>
            </a:r>
          </a:p>
          <a:p>
            <a:r>
              <a:rPr lang="en-US" sz="3600" dirty="0"/>
              <a:t>Nebulized bronchodilator (Salbutamol/</a:t>
            </a:r>
            <a:r>
              <a:rPr lang="en-US" sz="3600" dirty="0" err="1"/>
              <a:t>Ipatropium</a:t>
            </a:r>
            <a:endParaRPr lang="en-US" sz="3600" dirty="0"/>
          </a:p>
          <a:p>
            <a:r>
              <a:rPr lang="en-US" sz="3600" dirty="0"/>
              <a:t>Good hand hygiene and monoclonal antibody prophylaxis (</a:t>
            </a:r>
            <a:r>
              <a:rPr lang="en-US" sz="3600" dirty="0" err="1"/>
              <a:t>i.m</a:t>
            </a:r>
            <a:r>
              <a:rPr lang="en-US" sz="3600" dirty="0"/>
              <a:t> palivizumab)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96705395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DAA06-2590-4DE8-921C-A97930158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5451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Prognosis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CC8D3-9EE8-46C9-8F95-E30F54A29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Recovery within two weeks</a:t>
            </a:r>
          </a:p>
          <a:p>
            <a:r>
              <a:rPr lang="en-US" sz="3600" dirty="0"/>
              <a:t>Half will have recurrent cough + wheeze</a:t>
            </a:r>
          </a:p>
          <a:p>
            <a:r>
              <a:rPr lang="en-US" sz="3600" dirty="0"/>
              <a:t>Following Adenovirus infection&gt; permanent airways damage (Bronchiolitis obliterans)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609858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1278</TotalTime>
  <Words>3360</Words>
  <Application>Microsoft Office PowerPoint</Application>
  <PresentationFormat>Widescreen</PresentationFormat>
  <Paragraphs>654</Paragraphs>
  <Slides>154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154</vt:i4>
      </vt:variant>
    </vt:vector>
  </HeadingPairs>
  <TitlesOfParts>
    <vt:vector size="160" baseType="lpstr">
      <vt:lpstr>Arial</vt:lpstr>
      <vt:lpstr>Calibri</vt:lpstr>
      <vt:lpstr>Calibri Light</vt:lpstr>
      <vt:lpstr>Times New Roman</vt:lpstr>
      <vt:lpstr>Wingdings</vt:lpstr>
      <vt:lpstr>Office Theme</vt:lpstr>
      <vt:lpstr>BRONCHIAL ASTHMA</vt:lpstr>
      <vt:lpstr>Definition </vt:lpstr>
      <vt:lpstr>PowerPoint Presentation</vt:lpstr>
      <vt:lpstr>Risk factors</vt:lpstr>
      <vt:lpstr>Risk factors</vt:lpstr>
      <vt:lpstr>Asthma triggers </vt:lpstr>
      <vt:lpstr>Pathophysiology </vt:lpstr>
      <vt:lpstr>Signs and Symptoms </vt:lpstr>
      <vt:lpstr>Assessment and diagnosis</vt:lpstr>
      <vt:lpstr>Medical management </vt:lpstr>
      <vt:lpstr>Nursing management </vt:lpstr>
      <vt:lpstr>Nursing management </vt:lpstr>
      <vt:lpstr>PowerPoint Presentation</vt:lpstr>
      <vt:lpstr>Nursing diagnosis</vt:lpstr>
      <vt:lpstr>Complications </vt:lpstr>
      <vt:lpstr>References </vt:lpstr>
      <vt:lpstr>Bronchiectasis </vt:lpstr>
      <vt:lpstr>PowerPoint Presentation</vt:lpstr>
      <vt:lpstr>Definition </vt:lpstr>
      <vt:lpstr>Risk factors</vt:lpstr>
      <vt:lpstr>Clinical manifestations</vt:lpstr>
      <vt:lpstr>Diagnosis</vt:lpstr>
      <vt:lpstr>Medical management</vt:lpstr>
      <vt:lpstr>Nursing managements</vt:lpstr>
      <vt:lpstr>Nursing Mnx</vt:lpstr>
      <vt:lpstr>Nursing management</vt:lpstr>
      <vt:lpstr>Nursing diagnosis</vt:lpstr>
      <vt:lpstr>Complications </vt:lpstr>
      <vt:lpstr>Reference </vt:lpstr>
      <vt:lpstr>PowerPoint Presentation</vt:lpstr>
      <vt:lpstr>BRONCHOGENIC CARCINOMA</vt:lpstr>
      <vt:lpstr>DEFINITION</vt:lpstr>
      <vt:lpstr>Risk factors</vt:lpstr>
      <vt:lpstr>Risk factors cont.</vt:lpstr>
      <vt:lpstr>Signs</vt:lpstr>
      <vt:lpstr>Diagnosis</vt:lpstr>
      <vt:lpstr>Medical surgical management</vt:lpstr>
      <vt:lpstr>Nursing management</vt:lpstr>
      <vt:lpstr>Nursing management</vt:lpstr>
      <vt:lpstr>Nursing diagnosis</vt:lpstr>
      <vt:lpstr>Complications</vt:lpstr>
      <vt:lpstr>references</vt:lpstr>
      <vt:lpstr>PowerPoint Presentation</vt:lpstr>
      <vt:lpstr>CHEST INJURY</vt:lpstr>
      <vt:lpstr>OBJECTIVES</vt:lpstr>
      <vt:lpstr>DEFINITION</vt:lpstr>
      <vt:lpstr>CLASSIFICATION</vt:lpstr>
      <vt:lpstr>Penetrating chest injuries</vt:lpstr>
      <vt:lpstr>Blunt chest injuries</vt:lpstr>
      <vt:lpstr>Causes of blunt trauma injuries</vt:lpstr>
      <vt:lpstr>Causes of penetrating trauma injuries</vt:lpstr>
      <vt:lpstr>TYPES OF CHEST INJURIES</vt:lpstr>
      <vt:lpstr>Clinical manifestations</vt:lpstr>
      <vt:lpstr>Ssx. Cont.</vt:lpstr>
      <vt:lpstr>Clinical manifestations ct</vt:lpstr>
      <vt:lpstr>Clinical manifestations</vt:lpstr>
      <vt:lpstr>Diagnosis</vt:lpstr>
      <vt:lpstr>Medical surgical management</vt:lpstr>
      <vt:lpstr>Med-Surg mnx.</vt:lpstr>
      <vt:lpstr>Medical surgical management </vt:lpstr>
      <vt:lpstr>Med-Surg. Mnx.</vt:lpstr>
      <vt:lpstr>Nursing Diagnosis</vt:lpstr>
      <vt:lpstr>Nursing dx.</vt:lpstr>
      <vt:lpstr>Complications of chest injury</vt:lpstr>
      <vt:lpstr>Reference and further reading</vt:lpstr>
      <vt:lpstr>PowerPoint Presentation</vt:lpstr>
      <vt:lpstr>CHRONIC OBSTRUCTIVE PULMONARY DISEASE</vt:lpstr>
      <vt:lpstr>DEFINITION</vt:lpstr>
      <vt:lpstr>Def. cont.</vt:lpstr>
      <vt:lpstr>Examples </vt:lpstr>
      <vt:lpstr>Chronic bronchitis</vt:lpstr>
      <vt:lpstr>Chronic bronchitis</vt:lpstr>
      <vt:lpstr>PowerPoint Presentation</vt:lpstr>
      <vt:lpstr>Emphysema </vt:lpstr>
      <vt:lpstr>PowerPoint Presentation</vt:lpstr>
      <vt:lpstr>Risk factors</vt:lpstr>
      <vt:lpstr>Clinical manifestation</vt:lpstr>
      <vt:lpstr>Clinical features cont.</vt:lpstr>
      <vt:lpstr>PowerPoint Presentation</vt:lpstr>
      <vt:lpstr>Tripod position</vt:lpstr>
      <vt:lpstr>Diagnosis </vt:lpstr>
      <vt:lpstr>Medical and surgical management</vt:lpstr>
      <vt:lpstr>Nursing management</vt:lpstr>
      <vt:lpstr>Nursing management </vt:lpstr>
      <vt:lpstr>PowerPoint Presentation</vt:lpstr>
      <vt:lpstr>PLEURISY</vt:lpstr>
      <vt:lpstr>DEFINITION</vt:lpstr>
      <vt:lpstr>Risk factors</vt:lpstr>
      <vt:lpstr>Risk factors </vt:lpstr>
      <vt:lpstr>Clinical manifestations</vt:lpstr>
      <vt:lpstr>Diagnosis </vt:lpstr>
      <vt:lpstr>Medical management pleurisy</vt:lpstr>
      <vt:lpstr>Nursing management</vt:lpstr>
      <vt:lpstr>Nursing diagnosis</vt:lpstr>
      <vt:lpstr>references</vt:lpstr>
      <vt:lpstr>Nursing diagnosis</vt:lpstr>
      <vt:lpstr>Complications</vt:lpstr>
      <vt:lpstr>References </vt:lpstr>
      <vt:lpstr>PNEUMOTHORAX</vt:lpstr>
      <vt:lpstr>OBJECTIVES</vt:lpstr>
      <vt:lpstr>Objectives cont.</vt:lpstr>
      <vt:lpstr>objectives</vt:lpstr>
      <vt:lpstr>Definition</vt:lpstr>
      <vt:lpstr>PowerPoint Presentation</vt:lpstr>
      <vt:lpstr>Classification</vt:lpstr>
      <vt:lpstr>Clinical types</vt:lpstr>
      <vt:lpstr>Simple /closed pneumothorax</vt:lpstr>
      <vt:lpstr>Open / sucking pneumothorax</vt:lpstr>
      <vt:lpstr>Tension pneumothorax</vt:lpstr>
      <vt:lpstr>Risk factors</vt:lpstr>
      <vt:lpstr>Traumatic</vt:lpstr>
      <vt:lpstr>Signs</vt:lpstr>
      <vt:lpstr>Signs</vt:lpstr>
      <vt:lpstr>Diagnosis </vt:lpstr>
      <vt:lpstr>Medical surgical management</vt:lpstr>
      <vt:lpstr>Nursing diagnosis</vt:lpstr>
      <vt:lpstr>Complication</vt:lpstr>
      <vt:lpstr>References</vt:lpstr>
      <vt:lpstr>STATUS ASTHMATICUS</vt:lpstr>
      <vt:lpstr>OBJECTIVES</vt:lpstr>
      <vt:lpstr>Objectives continuation </vt:lpstr>
      <vt:lpstr>Definition </vt:lpstr>
      <vt:lpstr>PowerPoint Presentation</vt:lpstr>
      <vt:lpstr>Pathophysiology </vt:lpstr>
      <vt:lpstr>Risk factors to status asthmaticus</vt:lpstr>
      <vt:lpstr>Risk factors cont.</vt:lpstr>
      <vt:lpstr>Clinical manifestations </vt:lpstr>
      <vt:lpstr>Clinical manifestations</vt:lpstr>
      <vt:lpstr>Diagnosis </vt:lpstr>
      <vt:lpstr>Peak flow meter</vt:lpstr>
      <vt:lpstr>Spirometry </vt:lpstr>
      <vt:lpstr>Medical management</vt:lpstr>
      <vt:lpstr>Nebulizer </vt:lpstr>
      <vt:lpstr>Nursing management</vt:lpstr>
      <vt:lpstr>Nursing diagnosis</vt:lpstr>
      <vt:lpstr>Nursing Dx. Cont.</vt:lpstr>
      <vt:lpstr>Complications </vt:lpstr>
      <vt:lpstr>Assignment</vt:lpstr>
      <vt:lpstr>References </vt:lpstr>
      <vt:lpstr>BRONCHIOLITIS</vt:lpstr>
      <vt:lpstr>Bronchiolitis</vt:lpstr>
      <vt:lpstr>Cont.</vt:lpstr>
      <vt:lpstr>Risk factors</vt:lpstr>
      <vt:lpstr>Diagnosis/Clinical Manifestation</vt:lpstr>
      <vt:lpstr>Clinical Manifestation</vt:lpstr>
      <vt:lpstr>Ssx. Cont.</vt:lpstr>
      <vt:lpstr>Respiratory Distress (contd)</vt:lpstr>
      <vt:lpstr>Diagnostic Tests</vt:lpstr>
      <vt:lpstr>Differential DX</vt:lpstr>
      <vt:lpstr>Mild Bronchiolitis</vt:lpstr>
      <vt:lpstr>Moderate Bronchiolitis</vt:lpstr>
      <vt:lpstr>Severe Bronchiolitis</vt:lpstr>
      <vt:lpstr>Management</vt:lpstr>
      <vt:lpstr>Prognosis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BRONCHIAL ASTHMA</dc:title>
  <dc:creator>Admin</dc:creator>
  <cp:lastModifiedBy>Patrick Lumumba</cp:lastModifiedBy>
  <cp:revision>86</cp:revision>
  <dcterms:created xsi:type="dcterms:W3CDTF">2021-02-18T11:54:25Z</dcterms:created>
  <dcterms:modified xsi:type="dcterms:W3CDTF">2022-06-02T20:21:37Z</dcterms:modified>
</cp:coreProperties>
</file>