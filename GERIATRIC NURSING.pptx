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3"/>
  </p:notesMasterIdLst>
  <p:sldIdLst>
    <p:sldId id="256" r:id="rId2"/>
    <p:sldId id="259" r:id="rId3"/>
    <p:sldId id="260" r:id="rId4"/>
    <p:sldId id="265" r:id="rId5"/>
    <p:sldId id="269" r:id="rId6"/>
    <p:sldId id="266" r:id="rId7"/>
    <p:sldId id="267" r:id="rId8"/>
    <p:sldId id="268" r:id="rId9"/>
    <p:sldId id="262" r:id="rId10"/>
    <p:sldId id="263" r:id="rId11"/>
    <p:sldId id="261" r:id="rId12"/>
    <p:sldId id="264" r:id="rId13"/>
    <p:sldId id="270" r:id="rId14"/>
    <p:sldId id="272" r:id="rId15"/>
    <p:sldId id="273" r:id="rId16"/>
    <p:sldId id="274" r:id="rId17"/>
    <p:sldId id="271" r:id="rId18"/>
    <p:sldId id="275" r:id="rId19"/>
    <p:sldId id="276" r:id="rId20"/>
    <p:sldId id="277" r:id="rId21"/>
    <p:sldId id="278" r:id="rId22"/>
    <p:sldId id="279" r:id="rId23"/>
    <p:sldId id="280" r:id="rId24"/>
    <p:sldId id="281" r:id="rId25"/>
    <p:sldId id="282" r:id="rId26"/>
    <p:sldId id="284" r:id="rId27"/>
    <p:sldId id="315" r:id="rId28"/>
    <p:sldId id="316" r:id="rId29"/>
    <p:sldId id="317" r:id="rId30"/>
    <p:sldId id="318" r:id="rId31"/>
    <p:sldId id="283"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19" r:id="rId48"/>
    <p:sldId id="320" r:id="rId49"/>
    <p:sldId id="321" r:id="rId50"/>
    <p:sldId id="322" r:id="rId51"/>
    <p:sldId id="323" r:id="rId52"/>
    <p:sldId id="324" r:id="rId53"/>
    <p:sldId id="325" r:id="rId54"/>
    <p:sldId id="326" r:id="rId55"/>
    <p:sldId id="328" r:id="rId56"/>
    <p:sldId id="329" r:id="rId57"/>
    <p:sldId id="330" r:id="rId58"/>
    <p:sldId id="331" r:id="rId59"/>
    <p:sldId id="332" r:id="rId60"/>
    <p:sldId id="333" r:id="rId61"/>
    <p:sldId id="334" r:id="rId62"/>
    <p:sldId id="335" r:id="rId63"/>
    <p:sldId id="336" r:id="rId64"/>
    <p:sldId id="337" r:id="rId65"/>
    <p:sldId id="338" r:id="rId66"/>
    <p:sldId id="339" r:id="rId67"/>
    <p:sldId id="340" r:id="rId68"/>
    <p:sldId id="341" r:id="rId69"/>
    <p:sldId id="342" r:id="rId70"/>
    <p:sldId id="343" r:id="rId71"/>
    <p:sldId id="344" r:id="rId72"/>
    <p:sldId id="345" r:id="rId73"/>
    <p:sldId id="346" r:id="rId74"/>
    <p:sldId id="347" r:id="rId75"/>
    <p:sldId id="348" r:id="rId76"/>
    <p:sldId id="349" r:id="rId77"/>
    <p:sldId id="350" r:id="rId78"/>
    <p:sldId id="351" r:id="rId79"/>
    <p:sldId id="300" r:id="rId80"/>
    <p:sldId id="301" r:id="rId81"/>
    <p:sldId id="302" r:id="rId82"/>
    <p:sldId id="303" r:id="rId83"/>
    <p:sldId id="304" r:id="rId84"/>
    <p:sldId id="305" r:id="rId85"/>
    <p:sldId id="306" r:id="rId86"/>
    <p:sldId id="371" r:id="rId87"/>
    <p:sldId id="372" r:id="rId88"/>
    <p:sldId id="373" r:id="rId89"/>
    <p:sldId id="374" r:id="rId90"/>
    <p:sldId id="375" r:id="rId91"/>
    <p:sldId id="376" r:id="rId92"/>
    <p:sldId id="377" r:id="rId93"/>
    <p:sldId id="307" r:id="rId94"/>
    <p:sldId id="308" r:id="rId95"/>
    <p:sldId id="309" r:id="rId96"/>
    <p:sldId id="310" r:id="rId97"/>
    <p:sldId id="362" r:id="rId98"/>
    <p:sldId id="363" r:id="rId99"/>
    <p:sldId id="364" r:id="rId100"/>
    <p:sldId id="365" r:id="rId101"/>
    <p:sldId id="366" r:id="rId102"/>
    <p:sldId id="367" r:id="rId103"/>
    <p:sldId id="368" r:id="rId104"/>
    <p:sldId id="369" r:id="rId105"/>
    <p:sldId id="370" r:id="rId106"/>
    <p:sldId id="378" r:id="rId107"/>
    <p:sldId id="379" r:id="rId108"/>
    <p:sldId id="380" r:id="rId109"/>
    <p:sldId id="361" r:id="rId110"/>
    <p:sldId id="359" r:id="rId111"/>
    <p:sldId id="358" r:id="rId112"/>
    <p:sldId id="357" r:id="rId113"/>
    <p:sldId id="356" r:id="rId114"/>
    <p:sldId id="355" r:id="rId115"/>
    <p:sldId id="354" r:id="rId116"/>
    <p:sldId id="353" r:id="rId117"/>
    <p:sldId id="352" r:id="rId118"/>
    <p:sldId id="311" r:id="rId119"/>
    <p:sldId id="312" r:id="rId120"/>
    <p:sldId id="313" r:id="rId121"/>
    <p:sldId id="398" r:id="rId1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987" autoAdjust="0"/>
    <p:restoredTop sz="94660"/>
  </p:normalViewPr>
  <p:slideViewPr>
    <p:cSldViewPr snapToGrid="0">
      <p:cViewPr>
        <p:scale>
          <a:sx n="62" d="100"/>
          <a:sy n="62" d="100"/>
        </p:scale>
        <p:origin x="-1632" y="-3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210693-0A51-4F27-951C-C365333431BF}" type="datetimeFigureOut">
              <a:rPr lang="en-US" smtClean="0"/>
              <a:t>5/5/2022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106E0C-15ED-473B-8BC0-4B09EFAAC979}" type="slidenum">
              <a:rPr lang="en-US" smtClean="0"/>
              <a:t>‹#›</a:t>
            </a:fld>
            <a:endParaRPr lang="en-US"/>
          </a:p>
        </p:txBody>
      </p:sp>
    </p:spTree>
    <p:extLst>
      <p:ext uri="{BB962C8B-B14F-4D97-AF65-F5344CB8AC3E}">
        <p14:creationId xmlns:p14="http://schemas.microsoft.com/office/powerpoint/2010/main" val="836180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l="27069" t="4107" r="25972" b="18563"/>
          <a:stretch/>
        </p:blipFill>
        <p:spPr>
          <a:xfrm>
            <a:off x="5082989" y="220128"/>
            <a:ext cx="2026023" cy="2357718"/>
          </a:xfrm>
          <a:prstGeom prst="rect">
            <a:avLst/>
          </a:prstGeom>
        </p:spPr>
      </p:pic>
      <p:sp>
        <p:nvSpPr>
          <p:cNvPr id="2" name="Title 1"/>
          <p:cNvSpPr>
            <a:spLocks noGrp="1"/>
          </p:cNvSpPr>
          <p:nvPr>
            <p:ph type="ctrTitle" hasCustomPrompt="1"/>
          </p:nvPr>
        </p:nvSpPr>
        <p:spPr>
          <a:xfrm>
            <a:off x="365312" y="3093249"/>
            <a:ext cx="11461376" cy="1173947"/>
          </a:xfrm>
        </p:spPr>
        <p:txBody>
          <a:bodyPr anchor="b">
            <a:normAutofit/>
          </a:bodyPr>
          <a:lstStyle>
            <a:lvl1pPr algn="ctr">
              <a:defRPr sz="4400" b="1" baseline="0">
                <a:latin typeface="Times New Roman" panose="02020603050405020304" pitchFamily="18" charset="0"/>
                <a:cs typeface="Times New Roman" panose="02020603050405020304" pitchFamily="18" charset="0"/>
              </a:defRPr>
            </a:lvl1pPr>
          </a:lstStyle>
          <a:p>
            <a:r>
              <a:rPr lang="en-US" dirty="0"/>
              <a:t>Event Tittle:....................................</a:t>
            </a:r>
          </a:p>
        </p:txBody>
      </p:sp>
      <p:sp>
        <p:nvSpPr>
          <p:cNvPr id="3" name="Subtitle 2"/>
          <p:cNvSpPr>
            <a:spLocks noGrp="1"/>
          </p:cNvSpPr>
          <p:nvPr>
            <p:ph type="subTitle" idx="1" hasCustomPrompt="1"/>
          </p:nvPr>
        </p:nvSpPr>
        <p:spPr>
          <a:xfrm>
            <a:off x="809065" y="4527601"/>
            <a:ext cx="10573871" cy="950023"/>
          </a:xfrm>
        </p:spPr>
        <p:txBody>
          <a:bodyPr/>
          <a:lstStyle>
            <a:lvl1pPr marL="0" indent="0" algn="ctr">
              <a:buNone/>
              <a:defRPr sz="2400" b="1" baseline="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 Date:............................</a:t>
            </a:r>
          </a:p>
        </p:txBody>
      </p:sp>
      <p:sp>
        <p:nvSpPr>
          <p:cNvPr id="4" name="Date Placeholder 3"/>
          <p:cNvSpPr>
            <a:spLocks noGrp="1"/>
          </p:cNvSpPr>
          <p:nvPr>
            <p:ph type="dt" sz="half" idx="10"/>
          </p:nvPr>
        </p:nvSpPr>
        <p:spPr/>
        <p:txBody>
          <a:bodyPr/>
          <a:lstStyle/>
          <a:p>
            <a:fld id="{E201C481-4E3D-4521-9C61-AF62E0730569}" type="datetime1">
              <a:rPr lang="en-US" smtClean="0"/>
              <a:t>5/5/2022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2AFB71-4BE5-44E7-9108-3062C0C91BA0}" type="slidenum">
              <a:rPr lang="en-US" smtClean="0"/>
              <a:t>‹#›</a:t>
            </a:fld>
            <a:endParaRPr lang="en-US"/>
          </a:p>
        </p:txBody>
      </p:sp>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10030" t="82874" r="11012" b="8785"/>
          <a:stretch/>
        </p:blipFill>
        <p:spPr>
          <a:xfrm>
            <a:off x="2918799" y="2608307"/>
            <a:ext cx="6354403" cy="484942"/>
          </a:xfrm>
          <a:prstGeom prst="rect">
            <a:avLst/>
          </a:prstGeom>
        </p:spPr>
      </p:pic>
    </p:spTree>
    <p:extLst>
      <p:ext uri="{BB962C8B-B14F-4D97-AF65-F5344CB8AC3E}">
        <p14:creationId xmlns:p14="http://schemas.microsoft.com/office/powerpoint/2010/main" val="4191067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F4ABB6-66D2-4ECA-92B6-67553A7EA46A}" type="datetime1">
              <a:rPr lang="en-US" smtClean="0"/>
              <a:t>5/5/2022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100298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6E0951A-A12A-471F-AB93-A322D8184B2A}" type="datetime1">
              <a:rPr lang="en-US" smtClean="0"/>
              <a:t>5/5/2022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3236357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733BD06-F463-43D6-9027-F73DE22C4276}" type="datetime1">
              <a:rPr lang="en-US" smtClean="0"/>
              <a:t>5/5/2022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218407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7DF82C-430B-40A4-AFF3-B7548D9689D5}" type="datetime1">
              <a:rPr lang="en-US" smtClean="0"/>
              <a:t>5/5/2022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1755494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B352F18-9E47-4BA2-B81A-2A16197E28E0}" type="datetime1">
              <a:rPr lang="en-US" smtClean="0"/>
              <a:t>5/5/2022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3515092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8C7256-37E1-4435-A623-7DE8DA9AB2FA}" type="datetime1">
              <a:rPr lang="en-US" smtClean="0"/>
              <a:t>5/5/2022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3759808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A680D06-711F-4C4F-ACBC-0836C674E6E8}" type="datetime1">
              <a:rPr lang="en-US" smtClean="0"/>
              <a:t>5/5/2022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2046415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91EB91F-A7B9-4893-BC52-BD4778A6627A}" type="datetime1">
              <a:rPr lang="en-US" smtClean="0"/>
              <a:t>5/5/2022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3344210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7F240F-32D7-4296-B6A9-18F40CD7B540}" type="datetime1">
              <a:rPr lang="en-US" smtClean="0"/>
              <a:t>5/5/2022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1114468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AA16E4-1532-47C3-85F4-9C805063B59C}" type="datetime1">
              <a:rPr lang="en-US" smtClean="0"/>
              <a:t>5/5/2022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2AFB71-4BE5-44E7-9108-3062C0C91BA0}" type="slidenum">
              <a:rPr lang="en-US" smtClean="0"/>
              <a:t>‹#›</a:t>
            </a:fld>
            <a:endParaRPr lang="en-US"/>
          </a:p>
        </p:txBody>
      </p:sp>
    </p:spTree>
    <p:extLst>
      <p:ext uri="{BB962C8B-B14F-4D97-AF65-F5344CB8AC3E}">
        <p14:creationId xmlns:p14="http://schemas.microsoft.com/office/powerpoint/2010/main" val="4100412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104"/>
          </a:xfrm>
          <a:prstGeom prst="rect">
            <a:avLst/>
          </a:prstGeom>
        </p:spPr>
      </p:pic>
      <p:pic>
        <p:nvPicPr>
          <p:cNvPr id="9" name="Picture 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814176" y="6244799"/>
            <a:ext cx="576974" cy="572823"/>
          </a:xfrm>
          <a:prstGeom prst="rect">
            <a:avLst/>
          </a:prstGeom>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5D109E-8748-4FE2-8037-ADF10918C793}" type="datetime1">
              <a:rPr lang="en-US" smtClean="0"/>
              <a:t>5/5/2022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327776"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2AFB71-4BE5-44E7-9108-3062C0C91BA0}" type="slidenum">
              <a:rPr lang="en-US" smtClean="0"/>
              <a:t>‹#›</a:t>
            </a:fld>
            <a:endParaRPr lang="en-US"/>
          </a:p>
        </p:txBody>
      </p:sp>
      <p:sp>
        <p:nvSpPr>
          <p:cNvPr id="8" name="Title Placeholder 1"/>
          <p:cNvSpPr txBox="1">
            <a:spLocks/>
          </p:cNvSpPr>
          <p:nvPr/>
        </p:nvSpPr>
        <p:spPr>
          <a:xfrm>
            <a:off x="1196788" y="6033995"/>
            <a:ext cx="8789894" cy="50730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bg1"/>
                </a:solidFill>
                <a:latin typeface="Times New Roman" panose="02020603050405020304" pitchFamily="18" charset="0"/>
                <a:cs typeface="Times New Roman" panose="02020603050405020304" pitchFamily="18" charset="0"/>
              </a:rPr>
              <a:t>KENYA MEDICAL TRAINING COLLEGE</a:t>
            </a:r>
          </a:p>
        </p:txBody>
      </p:sp>
      <p:sp>
        <p:nvSpPr>
          <p:cNvPr id="10" name="Title 1"/>
          <p:cNvSpPr txBox="1">
            <a:spLocks/>
          </p:cNvSpPr>
          <p:nvPr/>
        </p:nvSpPr>
        <p:spPr>
          <a:xfrm>
            <a:off x="8639982" y="6506046"/>
            <a:ext cx="2243667" cy="326496"/>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600" i="1" dirty="0">
                <a:latin typeface="Times New Roman" panose="02020603050405020304" pitchFamily="18" charset="0"/>
                <a:cs typeface="Times New Roman" panose="02020603050405020304" pitchFamily="18" charset="0"/>
              </a:rPr>
              <a:t>ISO 9001:2015 Certified by</a:t>
            </a:r>
          </a:p>
        </p:txBody>
      </p:sp>
      <p:sp>
        <p:nvSpPr>
          <p:cNvPr id="11" name="Title Placeholder 1"/>
          <p:cNvSpPr txBox="1">
            <a:spLocks/>
          </p:cNvSpPr>
          <p:nvPr/>
        </p:nvSpPr>
        <p:spPr>
          <a:xfrm>
            <a:off x="4038600" y="6408732"/>
            <a:ext cx="2768599" cy="5154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i="1" dirty="0"/>
              <a:t>Training for Better Health</a:t>
            </a:r>
            <a:r>
              <a:rPr lang="en-US" sz="1800" i="1" baseline="0" dirty="0"/>
              <a:t> </a:t>
            </a:r>
            <a:endParaRPr lang="en-US" sz="1800" i="1" dirty="0"/>
          </a:p>
        </p:txBody>
      </p:sp>
      <p:pic>
        <p:nvPicPr>
          <p:cNvPr id="12" name="Picture 11"/>
          <p:cNvPicPr>
            <a:picLocks noChangeAspect="1"/>
          </p:cNvPicPr>
          <p:nvPr/>
        </p:nvPicPr>
        <p:blipFill rotWithShape="1">
          <a:blip r:embed="rId15" cstate="print">
            <a:extLst>
              <a:ext uri="{28A0092B-C50C-407E-A947-70E740481C1C}">
                <a14:useLocalDpi xmlns:a14="http://schemas.microsoft.com/office/drawing/2010/main" val="0"/>
              </a:ext>
            </a:extLst>
          </a:blip>
          <a:srcRect l="24360" r="23578" b="15789"/>
          <a:stretch/>
        </p:blipFill>
        <p:spPr>
          <a:xfrm>
            <a:off x="79667" y="5700777"/>
            <a:ext cx="930551" cy="1063487"/>
          </a:xfrm>
          <a:prstGeom prst="rect">
            <a:avLst/>
          </a:prstGeom>
        </p:spPr>
      </p:pic>
    </p:spTree>
    <p:extLst>
      <p:ext uri="{BB962C8B-B14F-4D97-AF65-F5344CB8AC3E}">
        <p14:creationId xmlns:p14="http://schemas.microsoft.com/office/powerpoint/2010/main" val="4434922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en.wikipedia.org/wiki/File:Sabaa_Nissan_Militiaman.jpg" TargetMode="Externa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en.wikipedia.org/wiki/File:Habibaadansalat.jpg" TargetMode="Externa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320D06-C072-40D0-9C0F-64DB4539F984}"/>
              </a:ext>
            </a:extLst>
          </p:cNvPr>
          <p:cNvSpPr>
            <a:spLocks noGrp="1"/>
          </p:cNvSpPr>
          <p:nvPr>
            <p:ph type="ctrTitle"/>
          </p:nvPr>
        </p:nvSpPr>
        <p:spPr/>
        <p:txBody>
          <a:bodyPr/>
          <a:lstStyle/>
          <a:p>
            <a:r>
              <a:rPr lang="en-US" dirty="0">
                <a:solidFill>
                  <a:schemeClr val="tx2">
                    <a:lumMod val="60000"/>
                    <a:lumOff val="40000"/>
                  </a:schemeClr>
                </a:solidFill>
              </a:rPr>
              <a:t>GERIATRIC NURSING</a:t>
            </a:r>
            <a:endParaRPr lang="en-US" dirty="0"/>
          </a:p>
        </p:txBody>
      </p:sp>
      <p:sp>
        <p:nvSpPr>
          <p:cNvPr id="3" name="Subtitle 2">
            <a:extLst>
              <a:ext uri="{FF2B5EF4-FFF2-40B4-BE49-F238E27FC236}">
                <a16:creationId xmlns:a16="http://schemas.microsoft.com/office/drawing/2014/main" xmlns="" id="{69DAA2EC-BFD4-4CB1-B23E-0EEDD0A69710}"/>
              </a:ext>
            </a:extLst>
          </p:cNvPr>
          <p:cNvSpPr>
            <a:spLocks noGrp="1"/>
          </p:cNvSpPr>
          <p:nvPr>
            <p:ph type="subTitle" idx="1"/>
          </p:nvPr>
        </p:nvSpPr>
        <p:spPr/>
        <p:txBody>
          <a:bodyPr/>
          <a:lstStyle/>
          <a:p>
            <a:r>
              <a:rPr lang="en-US" dirty="0"/>
              <a:t>Deus </a:t>
            </a:r>
            <a:r>
              <a:rPr lang="en-US" dirty="0" err="1"/>
              <a:t>Oendo</a:t>
            </a:r>
            <a:endParaRPr lang="en-US" dirty="0"/>
          </a:p>
        </p:txBody>
      </p:sp>
      <p:sp>
        <p:nvSpPr>
          <p:cNvPr id="4" name="Date Placeholder 3">
            <a:extLst>
              <a:ext uri="{FF2B5EF4-FFF2-40B4-BE49-F238E27FC236}">
                <a16:creationId xmlns:a16="http://schemas.microsoft.com/office/drawing/2014/main" xmlns="" id="{5C3D27BC-D8B5-4D87-B757-1FCACB6CE86D}"/>
              </a:ext>
            </a:extLst>
          </p:cNvPr>
          <p:cNvSpPr>
            <a:spLocks noGrp="1"/>
          </p:cNvSpPr>
          <p:nvPr>
            <p:ph type="dt" sz="half" idx="10"/>
          </p:nvPr>
        </p:nvSpPr>
        <p:spPr/>
        <p:txBody>
          <a:bodyPr/>
          <a:lstStyle/>
          <a:p>
            <a:fld id="{2EB99E52-6F3B-4408-BD2F-33F6364295AC}" type="datetime1">
              <a:rPr lang="en-US" smtClean="0"/>
              <a:t>5/5/2022</a:t>
            </a:fld>
            <a:endParaRPr lang="en-US"/>
          </a:p>
        </p:txBody>
      </p:sp>
      <p:sp>
        <p:nvSpPr>
          <p:cNvPr id="5" name="Slide Number Placeholder 4">
            <a:extLst>
              <a:ext uri="{FF2B5EF4-FFF2-40B4-BE49-F238E27FC236}">
                <a16:creationId xmlns:a16="http://schemas.microsoft.com/office/drawing/2014/main" xmlns="" id="{73695771-4EE1-44D5-B19D-814DE8DA68B1}"/>
              </a:ext>
            </a:extLst>
          </p:cNvPr>
          <p:cNvSpPr>
            <a:spLocks noGrp="1"/>
          </p:cNvSpPr>
          <p:nvPr>
            <p:ph type="sldNum" sz="quarter" idx="12"/>
          </p:nvPr>
        </p:nvSpPr>
        <p:spPr/>
        <p:txBody>
          <a:bodyPr/>
          <a:lstStyle/>
          <a:p>
            <a:fld id="{B92AFB71-4BE5-44E7-9108-3062C0C91BA0}" type="slidenum">
              <a:rPr lang="en-US" smtClean="0"/>
              <a:t>1</a:t>
            </a:fld>
            <a:endParaRPr lang="en-US"/>
          </a:p>
        </p:txBody>
      </p:sp>
    </p:spTree>
    <p:extLst>
      <p:ext uri="{BB962C8B-B14F-4D97-AF65-F5344CB8AC3E}">
        <p14:creationId xmlns:p14="http://schemas.microsoft.com/office/powerpoint/2010/main" val="3033298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65760"/>
            <a:ext cx="8229600" cy="556591"/>
          </a:xfrm>
        </p:spPr>
        <p:txBody>
          <a:bodyPr>
            <a:normAutofit/>
          </a:bodyPr>
          <a:lstStyle/>
          <a:p>
            <a:pPr algn="ctr"/>
            <a:r>
              <a:rPr lang="en-US" sz="3200" b="1" dirty="0">
                <a:solidFill>
                  <a:srgbClr val="002060"/>
                </a:solidFill>
              </a:rPr>
              <a:t>Definition of terms</a:t>
            </a:r>
          </a:p>
        </p:txBody>
      </p:sp>
      <p:sp>
        <p:nvSpPr>
          <p:cNvPr id="3" name="Content Placeholder 2"/>
          <p:cNvSpPr>
            <a:spLocks noGrp="1"/>
          </p:cNvSpPr>
          <p:nvPr>
            <p:ph idx="1"/>
          </p:nvPr>
        </p:nvSpPr>
        <p:spPr>
          <a:xfrm>
            <a:off x="1097279" y="1168842"/>
            <a:ext cx="10066351" cy="4715123"/>
          </a:xfrm>
        </p:spPr>
        <p:txBody>
          <a:bodyPr>
            <a:normAutofit fontScale="92500" lnSpcReduction="20000"/>
          </a:bodyPr>
          <a:lstStyle/>
          <a:p>
            <a:pPr>
              <a:lnSpc>
                <a:spcPct val="150000"/>
              </a:lnSpc>
            </a:pPr>
            <a:r>
              <a:rPr lang="en-US" b="1" dirty="0"/>
              <a:t>Gerontology</a:t>
            </a:r>
            <a:r>
              <a:rPr lang="en-US" dirty="0"/>
              <a:t>: a branch of science that deals with aging and problems of the aged people.</a:t>
            </a:r>
          </a:p>
          <a:p>
            <a:pPr>
              <a:lnSpc>
                <a:spcPct val="150000"/>
              </a:lnSpc>
            </a:pPr>
            <a:r>
              <a:rPr lang="en-US" b="1" dirty="0"/>
              <a:t>Geriatrics</a:t>
            </a:r>
            <a:r>
              <a:rPr lang="en-US" dirty="0"/>
              <a:t>: is the study of medical aspect of old age and application of the knowledge related to biological, biomedical, behavioral and social aspects of aging to the prevention and care of the elderly person.</a:t>
            </a:r>
          </a:p>
          <a:p>
            <a:pPr>
              <a:lnSpc>
                <a:spcPct val="150000"/>
              </a:lnSpc>
            </a:pPr>
            <a:r>
              <a:rPr lang="en-US" b="1" dirty="0"/>
              <a:t>Aging</a:t>
            </a:r>
            <a:r>
              <a:rPr lang="en-US" dirty="0"/>
              <a:t>: total time related changes experienced by an individual which are biological, psychological,  sociological and spiritual. </a:t>
            </a:r>
          </a:p>
          <a:p>
            <a:pPr lvl="1">
              <a:lnSpc>
                <a:spcPct val="150000"/>
              </a:lnSpc>
            </a:pPr>
            <a:r>
              <a:rPr lang="en-US" dirty="0"/>
              <a:t>Slowing of body processes affecting a variety of functions</a:t>
            </a:r>
          </a:p>
        </p:txBody>
      </p:sp>
      <p:sp>
        <p:nvSpPr>
          <p:cNvPr id="4" name="Slide Number Placeholder 3"/>
          <p:cNvSpPr>
            <a:spLocks noGrp="1"/>
          </p:cNvSpPr>
          <p:nvPr>
            <p:ph type="sldNum" sz="quarter" idx="12"/>
          </p:nvPr>
        </p:nvSpPr>
        <p:spPr/>
        <p:txBody>
          <a:bodyPr/>
          <a:lstStyle/>
          <a:p>
            <a:fld id="{4398566B-0D00-4087-9124-BE3A6B87F876}" type="slidenum">
              <a:rPr lang="en-US" smtClean="0"/>
              <a:pPr/>
              <a:t>2</a:t>
            </a:fld>
            <a:endParaRPr lang="en-US" dirty="0"/>
          </a:p>
        </p:txBody>
      </p:sp>
      <p:sp>
        <p:nvSpPr>
          <p:cNvPr id="5" name="Date Placeholder 4">
            <a:extLst>
              <a:ext uri="{FF2B5EF4-FFF2-40B4-BE49-F238E27FC236}">
                <a16:creationId xmlns:a16="http://schemas.microsoft.com/office/drawing/2014/main" xmlns="" id="{8A61B80C-8A76-4369-8197-4A86A7FF411E}"/>
              </a:ext>
            </a:extLst>
          </p:cNvPr>
          <p:cNvSpPr>
            <a:spLocks noGrp="1"/>
          </p:cNvSpPr>
          <p:nvPr>
            <p:ph type="dt" sz="half" idx="10"/>
          </p:nvPr>
        </p:nvSpPr>
        <p:spPr/>
        <p:txBody>
          <a:bodyPr/>
          <a:lstStyle/>
          <a:p>
            <a:fld id="{8B72B7BF-DC3C-4873-BEF5-2AD857D771B5}" type="datetime1">
              <a:rPr lang="en-US" smtClean="0"/>
              <a:t>5/5/2022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6B0C0C-742D-4194-BA39-4D061F0E963D}"/>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29EF44B-4F8C-4A20-BFAD-D4764F1FAEF8}"/>
              </a:ext>
            </a:extLst>
          </p:cNvPr>
          <p:cNvSpPr>
            <a:spLocks noGrp="1"/>
          </p:cNvSpPr>
          <p:nvPr>
            <p:ph idx="1"/>
          </p:nvPr>
        </p:nvSpPr>
        <p:spPr>
          <a:xfrm>
            <a:off x="838200" y="763325"/>
            <a:ext cx="10515600" cy="5413638"/>
          </a:xfrm>
        </p:spPr>
        <p:txBody>
          <a:bodyPr>
            <a:normAutofit fontScale="85000" lnSpcReduction="10000"/>
          </a:bodyPr>
          <a:lstStyle/>
          <a:p>
            <a:pPr>
              <a:lnSpc>
                <a:spcPct val="150000"/>
              </a:lnSpc>
            </a:pPr>
            <a:r>
              <a:rPr lang="en-US" sz="3200" b="1" dirty="0"/>
              <a:t>Ageism</a:t>
            </a:r>
            <a:r>
              <a:rPr lang="en-US" sz="3200" dirty="0"/>
              <a:t>: a process of systematic stereotyping and discrimination against old people because they are old.</a:t>
            </a:r>
          </a:p>
          <a:p>
            <a:pPr>
              <a:lnSpc>
                <a:spcPct val="150000"/>
              </a:lnSpc>
            </a:pPr>
            <a:r>
              <a:rPr lang="en-US" sz="3200" b="1" dirty="0"/>
              <a:t>Gerontophobia</a:t>
            </a:r>
            <a:r>
              <a:rPr lang="en-US" sz="3200" dirty="0"/>
              <a:t>: unreasonable fear and irrational hatred of older people</a:t>
            </a:r>
          </a:p>
          <a:p>
            <a:pPr>
              <a:lnSpc>
                <a:spcPct val="150000"/>
              </a:lnSpc>
            </a:pPr>
            <a:r>
              <a:rPr lang="en-US" sz="3200" b="1" dirty="0"/>
              <a:t>Age</a:t>
            </a:r>
            <a:r>
              <a:rPr lang="en-US" sz="3200" dirty="0"/>
              <a:t>: the length of time that has passed since birth.</a:t>
            </a:r>
          </a:p>
          <a:p>
            <a:pPr>
              <a:lnSpc>
                <a:spcPct val="150000"/>
              </a:lnSpc>
            </a:pPr>
            <a:r>
              <a:rPr lang="en-US" sz="3200" b="1" dirty="0"/>
              <a:t>Life expectancy</a:t>
            </a:r>
            <a:r>
              <a:rPr lang="en-US" sz="3200" dirty="0"/>
              <a:t>: statistically determined number of years that a person at a particular age may expect to life.</a:t>
            </a:r>
          </a:p>
          <a:p>
            <a:pPr>
              <a:lnSpc>
                <a:spcPct val="150000"/>
              </a:lnSpc>
            </a:pPr>
            <a:r>
              <a:rPr lang="en-US" sz="3200" b="1" dirty="0"/>
              <a:t>Lifespan</a:t>
            </a:r>
            <a:r>
              <a:rPr lang="en-US" sz="3200" dirty="0"/>
              <a:t>: longest period of life of an organism known from the study of it.</a:t>
            </a:r>
          </a:p>
          <a:p>
            <a:endParaRPr lang="en-US" dirty="0"/>
          </a:p>
          <a:p>
            <a:endParaRPr lang="en-US" dirty="0"/>
          </a:p>
        </p:txBody>
      </p:sp>
      <p:sp>
        <p:nvSpPr>
          <p:cNvPr id="4" name="Date Placeholder 3">
            <a:extLst>
              <a:ext uri="{FF2B5EF4-FFF2-40B4-BE49-F238E27FC236}">
                <a16:creationId xmlns:a16="http://schemas.microsoft.com/office/drawing/2014/main" xmlns="" id="{80B10734-6A02-4C8D-B759-5F7F4A6C5C1C}"/>
              </a:ext>
            </a:extLst>
          </p:cNvPr>
          <p:cNvSpPr>
            <a:spLocks noGrp="1"/>
          </p:cNvSpPr>
          <p:nvPr>
            <p:ph type="dt" sz="half" idx="10"/>
          </p:nvPr>
        </p:nvSpPr>
        <p:spPr/>
        <p:txBody>
          <a:bodyPr/>
          <a:lstStyle/>
          <a:p>
            <a:fld id="{61850B0D-7A3A-4F3B-9022-E7424C0C497E}" type="datetime1">
              <a:rPr lang="en-US" smtClean="0"/>
              <a:t>5/5/2022</a:t>
            </a:fld>
            <a:endParaRPr lang="en-US"/>
          </a:p>
        </p:txBody>
      </p:sp>
      <p:sp>
        <p:nvSpPr>
          <p:cNvPr id="5" name="Slide Number Placeholder 4">
            <a:extLst>
              <a:ext uri="{FF2B5EF4-FFF2-40B4-BE49-F238E27FC236}">
                <a16:creationId xmlns:a16="http://schemas.microsoft.com/office/drawing/2014/main" xmlns="" id="{8383D1D7-D248-476D-A60F-B894B74C2E8A}"/>
              </a:ext>
            </a:extLst>
          </p:cNvPr>
          <p:cNvSpPr>
            <a:spLocks noGrp="1"/>
          </p:cNvSpPr>
          <p:nvPr>
            <p:ph type="sldNum" sz="quarter" idx="12"/>
          </p:nvPr>
        </p:nvSpPr>
        <p:spPr/>
        <p:txBody>
          <a:bodyPr/>
          <a:lstStyle/>
          <a:p>
            <a:fld id="{B92AFB71-4BE5-44E7-9108-3062C0C91BA0}" type="slidenum">
              <a:rPr lang="en-US" smtClean="0"/>
              <a:t>3</a:t>
            </a:fld>
            <a:endParaRPr lang="en-US"/>
          </a:p>
        </p:txBody>
      </p:sp>
    </p:spTree>
    <p:extLst>
      <p:ext uri="{BB962C8B-B14F-4D97-AF65-F5344CB8AC3E}">
        <p14:creationId xmlns:p14="http://schemas.microsoft.com/office/powerpoint/2010/main" val="3594164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E8E188-9ED1-427A-A4E0-485CB34DAC4D}"/>
              </a:ext>
            </a:extLst>
          </p:cNvPr>
          <p:cNvSpPr>
            <a:spLocks noGrp="1"/>
          </p:cNvSpPr>
          <p:nvPr>
            <p:ph type="title"/>
          </p:nvPr>
        </p:nvSpPr>
        <p:spPr>
          <a:xfrm>
            <a:off x="838200" y="214686"/>
            <a:ext cx="10515600" cy="14312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DC0098A2-AC83-4083-8D73-958BFFDE9526}"/>
              </a:ext>
            </a:extLst>
          </p:cNvPr>
          <p:cNvSpPr>
            <a:spLocks noGrp="1"/>
          </p:cNvSpPr>
          <p:nvPr>
            <p:ph idx="1"/>
          </p:nvPr>
        </p:nvSpPr>
        <p:spPr>
          <a:xfrm>
            <a:off x="838200" y="580445"/>
            <a:ext cx="10515600" cy="5596518"/>
          </a:xfrm>
        </p:spPr>
        <p:txBody>
          <a:bodyPr>
            <a:normAutofit fontScale="85000" lnSpcReduction="10000"/>
          </a:bodyPr>
          <a:lstStyle/>
          <a:p>
            <a:pPr>
              <a:lnSpc>
                <a:spcPct val="150000"/>
              </a:lnSpc>
            </a:pPr>
            <a:r>
              <a:rPr lang="en-US" sz="3200" b="1" dirty="0"/>
              <a:t>Social gerontology: </a:t>
            </a:r>
            <a:r>
              <a:rPr lang="en-US" sz="3200" dirty="0"/>
              <a:t>is concerned mainly with the social aspects of aging versus the biological or psychological. ―Social gerontologists not only draw on research from all the social sciences—sociology, psychology, economics, and political science—they also seek to understand how the biological processes of aging influence the social aspects of aging‖. </a:t>
            </a:r>
          </a:p>
          <a:p>
            <a:pPr>
              <a:lnSpc>
                <a:spcPct val="150000"/>
              </a:lnSpc>
            </a:pPr>
            <a:r>
              <a:rPr lang="en-US" sz="3200" b="1" dirty="0" err="1"/>
              <a:t>Geropsychology</a:t>
            </a:r>
            <a:r>
              <a:rPr lang="en-US" sz="3200" b="1" dirty="0"/>
              <a:t>: </a:t>
            </a:r>
            <a:r>
              <a:rPr lang="en-US" sz="3200" dirty="0"/>
              <a:t>is a branch of psychology concerned with helping older persons and their families maintain wellbeing, overcome problems, and achieve maximum potential during later life. </a:t>
            </a:r>
          </a:p>
        </p:txBody>
      </p:sp>
      <p:sp>
        <p:nvSpPr>
          <p:cNvPr id="4" name="Date Placeholder 3">
            <a:extLst>
              <a:ext uri="{FF2B5EF4-FFF2-40B4-BE49-F238E27FC236}">
                <a16:creationId xmlns:a16="http://schemas.microsoft.com/office/drawing/2014/main" xmlns="" id="{7833E4EC-8866-4C97-873B-6FA2A10A4B44}"/>
              </a:ext>
            </a:extLst>
          </p:cNvPr>
          <p:cNvSpPr>
            <a:spLocks noGrp="1"/>
          </p:cNvSpPr>
          <p:nvPr>
            <p:ph type="dt" sz="half" idx="10"/>
          </p:nvPr>
        </p:nvSpPr>
        <p:spPr/>
        <p:txBody>
          <a:bodyPr/>
          <a:lstStyle/>
          <a:p>
            <a:fld id="{BC86B058-F324-40A9-9D37-01E2CF35CC51}" type="datetime1">
              <a:rPr lang="en-US" smtClean="0"/>
              <a:t>5/5/2022</a:t>
            </a:fld>
            <a:endParaRPr lang="en-US"/>
          </a:p>
        </p:txBody>
      </p:sp>
      <p:sp>
        <p:nvSpPr>
          <p:cNvPr id="5" name="Slide Number Placeholder 4">
            <a:extLst>
              <a:ext uri="{FF2B5EF4-FFF2-40B4-BE49-F238E27FC236}">
                <a16:creationId xmlns:a16="http://schemas.microsoft.com/office/drawing/2014/main" xmlns="" id="{F97FB2D7-1F31-4441-8244-03517B67BC4B}"/>
              </a:ext>
            </a:extLst>
          </p:cNvPr>
          <p:cNvSpPr>
            <a:spLocks noGrp="1"/>
          </p:cNvSpPr>
          <p:nvPr>
            <p:ph type="sldNum" sz="quarter" idx="12"/>
          </p:nvPr>
        </p:nvSpPr>
        <p:spPr/>
        <p:txBody>
          <a:bodyPr/>
          <a:lstStyle/>
          <a:p>
            <a:fld id="{B92AFB71-4BE5-44E7-9108-3062C0C91BA0}" type="slidenum">
              <a:rPr lang="en-US" smtClean="0"/>
              <a:t>4</a:t>
            </a:fld>
            <a:endParaRPr lang="en-US"/>
          </a:p>
        </p:txBody>
      </p:sp>
    </p:spTree>
    <p:extLst>
      <p:ext uri="{BB962C8B-B14F-4D97-AF65-F5344CB8AC3E}">
        <p14:creationId xmlns:p14="http://schemas.microsoft.com/office/powerpoint/2010/main" val="653866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44AE53-9F16-4AC4-A789-78ACC847F8B9}"/>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B2BB05D6-8447-443B-8A5E-515AC2F5AED3}"/>
              </a:ext>
            </a:extLst>
          </p:cNvPr>
          <p:cNvSpPr>
            <a:spLocks noGrp="1"/>
          </p:cNvSpPr>
          <p:nvPr>
            <p:ph idx="1"/>
          </p:nvPr>
        </p:nvSpPr>
        <p:spPr>
          <a:xfrm>
            <a:off x="838200" y="834887"/>
            <a:ext cx="10515600" cy="5342076"/>
          </a:xfrm>
        </p:spPr>
        <p:txBody>
          <a:bodyPr/>
          <a:lstStyle/>
          <a:p>
            <a:pPr>
              <a:lnSpc>
                <a:spcPct val="150000"/>
              </a:lnSpc>
            </a:pPr>
            <a:r>
              <a:rPr lang="en-US" sz="3200" b="1" dirty="0" err="1"/>
              <a:t>Geropharmacology</a:t>
            </a:r>
            <a:r>
              <a:rPr lang="en-US" sz="3200" dirty="0"/>
              <a:t> is the study of pharmacology as it relates to older adults. The credential for a pharmacist certified in </a:t>
            </a:r>
            <a:r>
              <a:rPr lang="en-US" sz="3200" dirty="0" err="1"/>
              <a:t>geropharmacology</a:t>
            </a:r>
            <a:r>
              <a:rPr lang="en-US" sz="3200" dirty="0"/>
              <a:t> is CGP (certified geriatric pharmacist). </a:t>
            </a:r>
          </a:p>
          <a:p>
            <a:pPr>
              <a:lnSpc>
                <a:spcPct val="150000"/>
              </a:lnSpc>
            </a:pPr>
            <a:r>
              <a:rPr lang="en-US" sz="3200" b="1" dirty="0"/>
              <a:t>Financial gerontology </a:t>
            </a:r>
            <a:r>
              <a:rPr lang="en-US" sz="3200" dirty="0"/>
              <a:t>is another emerging subfield that combines knowledge of financial planning and services with a special expertise in the needs of older adults.</a:t>
            </a:r>
          </a:p>
          <a:p>
            <a:endParaRPr lang="en-US" dirty="0"/>
          </a:p>
        </p:txBody>
      </p:sp>
      <p:sp>
        <p:nvSpPr>
          <p:cNvPr id="4" name="Date Placeholder 3">
            <a:extLst>
              <a:ext uri="{FF2B5EF4-FFF2-40B4-BE49-F238E27FC236}">
                <a16:creationId xmlns:a16="http://schemas.microsoft.com/office/drawing/2014/main" xmlns="" id="{F2100350-1506-4099-B742-56D29CBECBA2}"/>
              </a:ext>
            </a:extLst>
          </p:cNvPr>
          <p:cNvSpPr>
            <a:spLocks noGrp="1"/>
          </p:cNvSpPr>
          <p:nvPr>
            <p:ph type="dt" sz="half" idx="10"/>
          </p:nvPr>
        </p:nvSpPr>
        <p:spPr/>
        <p:txBody>
          <a:bodyPr/>
          <a:lstStyle/>
          <a:p>
            <a:fld id="{B41DE5E6-0AB3-46F0-9C31-272E0F01755D}" type="datetime1">
              <a:rPr lang="en-US" smtClean="0"/>
              <a:t>5/5/2022</a:t>
            </a:fld>
            <a:endParaRPr lang="en-US"/>
          </a:p>
        </p:txBody>
      </p:sp>
      <p:sp>
        <p:nvSpPr>
          <p:cNvPr id="5" name="Slide Number Placeholder 4">
            <a:extLst>
              <a:ext uri="{FF2B5EF4-FFF2-40B4-BE49-F238E27FC236}">
                <a16:creationId xmlns:a16="http://schemas.microsoft.com/office/drawing/2014/main" xmlns="" id="{EED261C0-F484-4D47-B979-2D33BAD17F6D}"/>
              </a:ext>
            </a:extLst>
          </p:cNvPr>
          <p:cNvSpPr>
            <a:spLocks noGrp="1"/>
          </p:cNvSpPr>
          <p:nvPr>
            <p:ph type="sldNum" sz="quarter" idx="12"/>
          </p:nvPr>
        </p:nvSpPr>
        <p:spPr/>
        <p:txBody>
          <a:bodyPr/>
          <a:lstStyle/>
          <a:p>
            <a:fld id="{B92AFB71-4BE5-44E7-9108-3062C0C91BA0}" type="slidenum">
              <a:rPr lang="en-US" smtClean="0"/>
              <a:t>5</a:t>
            </a:fld>
            <a:endParaRPr lang="en-US"/>
          </a:p>
        </p:txBody>
      </p:sp>
    </p:spTree>
    <p:extLst>
      <p:ext uri="{BB962C8B-B14F-4D97-AF65-F5344CB8AC3E}">
        <p14:creationId xmlns:p14="http://schemas.microsoft.com/office/powerpoint/2010/main" val="2391733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A38AE5-2897-4E8D-A9AE-63B1E2B4E1CD}"/>
              </a:ext>
            </a:extLst>
          </p:cNvPr>
          <p:cNvSpPr>
            <a:spLocks noGrp="1"/>
          </p:cNvSpPr>
          <p:nvPr>
            <p:ph type="title"/>
          </p:nvPr>
        </p:nvSpPr>
        <p:spPr>
          <a:xfrm>
            <a:off x="838200" y="365126"/>
            <a:ext cx="10515600" cy="787814"/>
          </a:xfrm>
        </p:spPr>
        <p:txBody>
          <a:bodyPr>
            <a:normAutofit/>
          </a:bodyPr>
          <a:lstStyle/>
          <a:p>
            <a:pPr algn="ctr"/>
            <a:r>
              <a:rPr lang="en-US" sz="3200" dirty="0"/>
              <a:t>PRINCIPLES OF GERONTOLOGICAL NURSING </a:t>
            </a:r>
          </a:p>
        </p:txBody>
      </p:sp>
      <p:sp>
        <p:nvSpPr>
          <p:cNvPr id="3" name="Content Placeholder 2">
            <a:extLst>
              <a:ext uri="{FF2B5EF4-FFF2-40B4-BE49-F238E27FC236}">
                <a16:creationId xmlns:a16="http://schemas.microsoft.com/office/drawing/2014/main" xmlns="" id="{579CBB67-8207-477F-BA23-E8E8574739BE}"/>
              </a:ext>
            </a:extLst>
          </p:cNvPr>
          <p:cNvSpPr>
            <a:spLocks noGrp="1"/>
          </p:cNvSpPr>
          <p:nvPr>
            <p:ph idx="1"/>
          </p:nvPr>
        </p:nvSpPr>
        <p:spPr>
          <a:xfrm>
            <a:off x="838200" y="1152940"/>
            <a:ext cx="10515600" cy="5024023"/>
          </a:xfrm>
        </p:spPr>
        <p:txBody>
          <a:bodyPr>
            <a:normAutofit fontScale="85000" lnSpcReduction="10000"/>
          </a:bodyPr>
          <a:lstStyle/>
          <a:p>
            <a:pPr marL="0" indent="0">
              <a:lnSpc>
                <a:spcPct val="150000"/>
              </a:lnSpc>
              <a:buNone/>
            </a:pPr>
            <a:r>
              <a:rPr lang="en-US" dirty="0"/>
              <a:t>The principles of geriatric care include:- </a:t>
            </a:r>
          </a:p>
          <a:p>
            <a:pPr>
              <a:lnSpc>
                <a:spcPct val="150000"/>
              </a:lnSpc>
            </a:pPr>
            <a:r>
              <a:rPr lang="en-US" b="1" dirty="0"/>
              <a:t>Biopsychosocial approach: </a:t>
            </a:r>
            <a:r>
              <a:rPr lang="en-US" dirty="0"/>
              <a:t>the integration of consideration of physical, psychological, and social factors in providing health care</a:t>
            </a:r>
          </a:p>
          <a:p>
            <a:pPr>
              <a:lnSpc>
                <a:spcPct val="150000"/>
              </a:lnSpc>
            </a:pPr>
            <a:r>
              <a:rPr lang="en-US" b="1" dirty="0"/>
              <a:t>Use of multidisciplinary teams: </a:t>
            </a:r>
            <a:r>
              <a:rPr lang="en-US" dirty="0"/>
              <a:t>Importance of chronic illnesses and geriatric syndromes.</a:t>
            </a:r>
          </a:p>
          <a:p>
            <a:pPr>
              <a:lnSpc>
                <a:spcPct val="150000"/>
              </a:lnSpc>
            </a:pPr>
            <a:r>
              <a:rPr lang="en-US" dirty="0"/>
              <a:t> </a:t>
            </a:r>
            <a:r>
              <a:rPr lang="en-US" b="1" dirty="0"/>
              <a:t>Importance of showing respect to older patients.</a:t>
            </a:r>
          </a:p>
          <a:p>
            <a:pPr>
              <a:lnSpc>
                <a:spcPct val="150000"/>
              </a:lnSpc>
            </a:pPr>
            <a:r>
              <a:rPr lang="en-US" dirty="0"/>
              <a:t> </a:t>
            </a:r>
            <a:r>
              <a:rPr lang="en-US" b="1" dirty="0"/>
              <a:t>Goal of maximizing function: </a:t>
            </a:r>
            <a:r>
              <a:rPr lang="en-US" dirty="0"/>
              <a:t>awareness and sensitivity to sensory changes </a:t>
            </a:r>
          </a:p>
          <a:p>
            <a:pPr>
              <a:lnSpc>
                <a:spcPct val="150000"/>
              </a:lnSpc>
            </a:pPr>
            <a:r>
              <a:rPr lang="en-US" b="1" dirty="0"/>
              <a:t>Age-appropriate dosing and avoidance of interactions of multiple medications </a:t>
            </a:r>
          </a:p>
        </p:txBody>
      </p:sp>
      <p:sp>
        <p:nvSpPr>
          <p:cNvPr id="4" name="Date Placeholder 3">
            <a:extLst>
              <a:ext uri="{FF2B5EF4-FFF2-40B4-BE49-F238E27FC236}">
                <a16:creationId xmlns:a16="http://schemas.microsoft.com/office/drawing/2014/main" xmlns="" id="{7D55CC9A-329B-4BDE-89D9-9AD607419647}"/>
              </a:ext>
            </a:extLst>
          </p:cNvPr>
          <p:cNvSpPr>
            <a:spLocks noGrp="1"/>
          </p:cNvSpPr>
          <p:nvPr>
            <p:ph type="dt" sz="half" idx="10"/>
          </p:nvPr>
        </p:nvSpPr>
        <p:spPr/>
        <p:txBody>
          <a:bodyPr/>
          <a:lstStyle/>
          <a:p>
            <a:fld id="{E3B96989-8B4C-4637-8E84-D9C0EE1C1307}" type="datetime1">
              <a:rPr lang="en-US" smtClean="0"/>
              <a:t>5/5/2022</a:t>
            </a:fld>
            <a:endParaRPr lang="en-US"/>
          </a:p>
        </p:txBody>
      </p:sp>
      <p:sp>
        <p:nvSpPr>
          <p:cNvPr id="5" name="Slide Number Placeholder 4">
            <a:extLst>
              <a:ext uri="{FF2B5EF4-FFF2-40B4-BE49-F238E27FC236}">
                <a16:creationId xmlns:a16="http://schemas.microsoft.com/office/drawing/2014/main" xmlns="" id="{8B48483D-6C40-4CCE-8664-4626A4A282C1}"/>
              </a:ext>
            </a:extLst>
          </p:cNvPr>
          <p:cNvSpPr>
            <a:spLocks noGrp="1"/>
          </p:cNvSpPr>
          <p:nvPr>
            <p:ph type="sldNum" sz="quarter" idx="12"/>
          </p:nvPr>
        </p:nvSpPr>
        <p:spPr/>
        <p:txBody>
          <a:bodyPr/>
          <a:lstStyle/>
          <a:p>
            <a:fld id="{B92AFB71-4BE5-44E7-9108-3062C0C91BA0}" type="slidenum">
              <a:rPr lang="en-US" smtClean="0"/>
              <a:t>6</a:t>
            </a:fld>
            <a:endParaRPr lang="en-US"/>
          </a:p>
        </p:txBody>
      </p:sp>
    </p:spTree>
    <p:extLst>
      <p:ext uri="{BB962C8B-B14F-4D97-AF65-F5344CB8AC3E}">
        <p14:creationId xmlns:p14="http://schemas.microsoft.com/office/powerpoint/2010/main" val="4142637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257118-9A4F-4DB5-B41C-39560620EB11}"/>
              </a:ext>
            </a:extLst>
          </p:cNvPr>
          <p:cNvSpPr>
            <a:spLocks noGrp="1"/>
          </p:cNvSpPr>
          <p:nvPr>
            <p:ph type="title"/>
          </p:nvPr>
        </p:nvSpPr>
        <p:spPr>
          <a:xfrm>
            <a:off x="838200" y="365125"/>
            <a:ext cx="10515600" cy="20736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D4C4ED92-6B5F-47A0-87AE-98131B9DD1AF}"/>
              </a:ext>
            </a:extLst>
          </p:cNvPr>
          <p:cNvSpPr>
            <a:spLocks noGrp="1"/>
          </p:cNvSpPr>
          <p:nvPr>
            <p:ph idx="1"/>
          </p:nvPr>
        </p:nvSpPr>
        <p:spPr>
          <a:xfrm>
            <a:off x="838200" y="644056"/>
            <a:ext cx="10515600" cy="5532907"/>
          </a:xfrm>
        </p:spPr>
        <p:txBody>
          <a:bodyPr>
            <a:normAutofit/>
          </a:bodyPr>
          <a:lstStyle/>
          <a:p>
            <a:pPr>
              <a:lnSpc>
                <a:spcPct val="150000"/>
              </a:lnSpc>
            </a:pPr>
            <a:r>
              <a:rPr lang="en-US" sz="3200" b="1" dirty="0"/>
              <a:t>Continuity of care through the different components of geriatric care</a:t>
            </a:r>
          </a:p>
          <a:p>
            <a:pPr>
              <a:lnSpc>
                <a:spcPct val="150000"/>
              </a:lnSpc>
              <a:buFont typeface="Wingdings" panose="05000000000000000000" pitchFamily="2" charset="2"/>
              <a:buChar char="v"/>
            </a:pPr>
            <a:r>
              <a:rPr lang="en-US" sz="3200" dirty="0"/>
              <a:t>Geriatric primary care </a:t>
            </a:r>
          </a:p>
          <a:p>
            <a:pPr>
              <a:lnSpc>
                <a:spcPct val="150000"/>
              </a:lnSpc>
              <a:buFont typeface="Wingdings" panose="05000000000000000000" pitchFamily="2" charset="2"/>
              <a:buChar char="v"/>
            </a:pPr>
            <a:r>
              <a:rPr lang="en-US" sz="3200" dirty="0"/>
              <a:t> Geriatric acute care </a:t>
            </a:r>
          </a:p>
          <a:p>
            <a:pPr>
              <a:lnSpc>
                <a:spcPct val="150000"/>
              </a:lnSpc>
              <a:buFont typeface="Wingdings" panose="05000000000000000000" pitchFamily="2" charset="2"/>
              <a:buChar char="v"/>
            </a:pPr>
            <a:r>
              <a:rPr lang="en-US" sz="3200" dirty="0"/>
              <a:t> Geriatric rehabilitation </a:t>
            </a:r>
          </a:p>
          <a:p>
            <a:pPr>
              <a:lnSpc>
                <a:spcPct val="150000"/>
              </a:lnSpc>
              <a:buFont typeface="Wingdings" panose="05000000000000000000" pitchFamily="2" charset="2"/>
              <a:buChar char="v"/>
            </a:pPr>
            <a:r>
              <a:rPr lang="en-US" sz="3200" dirty="0"/>
              <a:t>Geriatric long-term care</a:t>
            </a:r>
          </a:p>
          <a:p>
            <a:pPr marL="0" indent="0">
              <a:buNone/>
            </a:pPr>
            <a:endParaRPr lang="en-US" dirty="0"/>
          </a:p>
        </p:txBody>
      </p:sp>
      <p:sp>
        <p:nvSpPr>
          <p:cNvPr id="4" name="Date Placeholder 3">
            <a:extLst>
              <a:ext uri="{FF2B5EF4-FFF2-40B4-BE49-F238E27FC236}">
                <a16:creationId xmlns:a16="http://schemas.microsoft.com/office/drawing/2014/main" xmlns="" id="{F9B2A9AF-438C-40B0-8174-E95F5B5EF8FF}"/>
              </a:ext>
            </a:extLst>
          </p:cNvPr>
          <p:cNvSpPr>
            <a:spLocks noGrp="1"/>
          </p:cNvSpPr>
          <p:nvPr>
            <p:ph type="dt" sz="half" idx="10"/>
          </p:nvPr>
        </p:nvSpPr>
        <p:spPr/>
        <p:txBody>
          <a:bodyPr/>
          <a:lstStyle/>
          <a:p>
            <a:fld id="{6F91E0D3-E83E-4B21-8D67-09EB041D7AB3}" type="datetime1">
              <a:rPr lang="en-US" smtClean="0"/>
              <a:t>5/5/2022</a:t>
            </a:fld>
            <a:endParaRPr lang="en-US"/>
          </a:p>
        </p:txBody>
      </p:sp>
      <p:sp>
        <p:nvSpPr>
          <p:cNvPr id="5" name="Slide Number Placeholder 4">
            <a:extLst>
              <a:ext uri="{FF2B5EF4-FFF2-40B4-BE49-F238E27FC236}">
                <a16:creationId xmlns:a16="http://schemas.microsoft.com/office/drawing/2014/main" xmlns="" id="{3F66C404-F989-4751-9C7A-73E3D4D6DE5B}"/>
              </a:ext>
            </a:extLst>
          </p:cNvPr>
          <p:cNvSpPr>
            <a:spLocks noGrp="1"/>
          </p:cNvSpPr>
          <p:nvPr>
            <p:ph type="sldNum" sz="quarter" idx="12"/>
          </p:nvPr>
        </p:nvSpPr>
        <p:spPr/>
        <p:txBody>
          <a:bodyPr/>
          <a:lstStyle/>
          <a:p>
            <a:fld id="{B92AFB71-4BE5-44E7-9108-3062C0C91BA0}" type="slidenum">
              <a:rPr lang="en-US" smtClean="0"/>
              <a:t>7</a:t>
            </a:fld>
            <a:endParaRPr lang="en-US"/>
          </a:p>
        </p:txBody>
      </p:sp>
    </p:spTree>
    <p:extLst>
      <p:ext uri="{BB962C8B-B14F-4D97-AF65-F5344CB8AC3E}">
        <p14:creationId xmlns:p14="http://schemas.microsoft.com/office/powerpoint/2010/main" val="149518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181F24-3E25-466E-BB91-C207F02102F7}"/>
              </a:ext>
            </a:extLst>
          </p:cNvPr>
          <p:cNvSpPr>
            <a:spLocks noGrp="1"/>
          </p:cNvSpPr>
          <p:nvPr>
            <p:ph type="title"/>
          </p:nvPr>
        </p:nvSpPr>
        <p:spPr>
          <a:xfrm>
            <a:off x="838200" y="166977"/>
            <a:ext cx="10515600" cy="15107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766F4B4C-BE60-41EB-9A05-5A922C0FDDAD}"/>
              </a:ext>
            </a:extLst>
          </p:cNvPr>
          <p:cNvSpPr>
            <a:spLocks noGrp="1"/>
          </p:cNvSpPr>
          <p:nvPr>
            <p:ph idx="1"/>
          </p:nvPr>
        </p:nvSpPr>
        <p:spPr>
          <a:xfrm>
            <a:off x="838200" y="636104"/>
            <a:ext cx="10515600" cy="5540859"/>
          </a:xfrm>
        </p:spPr>
        <p:txBody>
          <a:bodyPr>
            <a:normAutofit fontScale="92500"/>
          </a:bodyPr>
          <a:lstStyle/>
          <a:p>
            <a:pPr>
              <a:lnSpc>
                <a:spcPct val="150000"/>
              </a:lnSpc>
            </a:pPr>
            <a:r>
              <a:rPr lang="en-US" sz="3200" b="1" dirty="0"/>
              <a:t>Community based: </a:t>
            </a:r>
            <a:r>
              <a:rPr lang="en-US" sz="3200" dirty="0"/>
              <a:t>Home care , Adult day care/day health care , Respite care</a:t>
            </a:r>
          </a:p>
          <a:p>
            <a:pPr>
              <a:lnSpc>
                <a:spcPct val="150000"/>
              </a:lnSpc>
            </a:pPr>
            <a:r>
              <a:rPr lang="en-US" sz="3200" b="1" dirty="0"/>
              <a:t>Residential Services: </a:t>
            </a:r>
            <a:r>
              <a:rPr lang="en-US" sz="3200" dirty="0"/>
              <a:t>Assisted living, board &amp; care, adult care, or residential care ,Nursing homes o Combinations of levels of care—Continuing care retirement communities</a:t>
            </a:r>
            <a:endParaRPr lang="en-US" sz="3200" b="1" dirty="0"/>
          </a:p>
          <a:p>
            <a:pPr>
              <a:lnSpc>
                <a:spcPct val="150000"/>
              </a:lnSpc>
            </a:pPr>
            <a:r>
              <a:rPr lang="en-US" sz="3200" b="1" dirty="0"/>
              <a:t>Geriatric managed care: </a:t>
            </a:r>
            <a:r>
              <a:rPr lang="en-US" sz="3200" dirty="0"/>
              <a:t>integration of primary, acute, and long term care o Program of All-inclusive Care for the Elderly (PACE)</a:t>
            </a:r>
          </a:p>
        </p:txBody>
      </p:sp>
      <p:sp>
        <p:nvSpPr>
          <p:cNvPr id="4" name="Date Placeholder 3">
            <a:extLst>
              <a:ext uri="{FF2B5EF4-FFF2-40B4-BE49-F238E27FC236}">
                <a16:creationId xmlns:a16="http://schemas.microsoft.com/office/drawing/2014/main" xmlns="" id="{3FCA77DB-BD79-4B3D-A2B3-CA2398305D8B}"/>
              </a:ext>
            </a:extLst>
          </p:cNvPr>
          <p:cNvSpPr>
            <a:spLocks noGrp="1"/>
          </p:cNvSpPr>
          <p:nvPr>
            <p:ph type="dt" sz="half" idx="10"/>
          </p:nvPr>
        </p:nvSpPr>
        <p:spPr/>
        <p:txBody>
          <a:bodyPr/>
          <a:lstStyle/>
          <a:p>
            <a:fld id="{481E3BB8-3CCF-452E-86BD-18DA21610F83}" type="datetime1">
              <a:rPr lang="en-US" smtClean="0"/>
              <a:t>5/5/2022</a:t>
            </a:fld>
            <a:endParaRPr lang="en-US"/>
          </a:p>
        </p:txBody>
      </p:sp>
      <p:sp>
        <p:nvSpPr>
          <p:cNvPr id="5" name="Slide Number Placeholder 4">
            <a:extLst>
              <a:ext uri="{FF2B5EF4-FFF2-40B4-BE49-F238E27FC236}">
                <a16:creationId xmlns:a16="http://schemas.microsoft.com/office/drawing/2014/main" xmlns="" id="{3940924B-4376-4BA4-8704-D2348CCD652A}"/>
              </a:ext>
            </a:extLst>
          </p:cNvPr>
          <p:cNvSpPr>
            <a:spLocks noGrp="1"/>
          </p:cNvSpPr>
          <p:nvPr>
            <p:ph type="sldNum" sz="quarter" idx="12"/>
          </p:nvPr>
        </p:nvSpPr>
        <p:spPr/>
        <p:txBody>
          <a:bodyPr/>
          <a:lstStyle/>
          <a:p>
            <a:fld id="{B92AFB71-4BE5-44E7-9108-3062C0C91BA0}" type="slidenum">
              <a:rPr lang="en-US" smtClean="0"/>
              <a:t>8</a:t>
            </a:fld>
            <a:endParaRPr lang="en-US"/>
          </a:p>
        </p:txBody>
      </p:sp>
    </p:spTree>
    <p:extLst>
      <p:ext uri="{BB962C8B-B14F-4D97-AF65-F5344CB8AC3E}">
        <p14:creationId xmlns:p14="http://schemas.microsoft.com/office/powerpoint/2010/main" val="2431310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8229600" cy="882595"/>
          </a:xfrm>
        </p:spPr>
        <p:txBody>
          <a:bodyPr>
            <a:normAutofit/>
          </a:bodyPr>
          <a:lstStyle/>
          <a:p>
            <a:pPr algn="ctr"/>
            <a:r>
              <a:rPr lang="en-US" sz="3200" b="1" dirty="0">
                <a:effectLst>
                  <a:outerShdw blurRad="38100" dist="38100" dir="2700000" algn="tl">
                    <a:srgbClr val="000000">
                      <a:alpha val="43137"/>
                    </a:srgbClr>
                  </a:outerShdw>
                </a:effectLst>
              </a:rPr>
              <a:t>Aging</a:t>
            </a:r>
            <a:r>
              <a:rPr lang="en-US" sz="3200" dirty="0"/>
              <a:t> </a:t>
            </a:r>
          </a:p>
        </p:txBody>
      </p:sp>
      <p:sp>
        <p:nvSpPr>
          <p:cNvPr id="3" name="Content Placeholder 2"/>
          <p:cNvSpPr>
            <a:spLocks noGrp="1"/>
          </p:cNvSpPr>
          <p:nvPr>
            <p:ph idx="1"/>
          </p:nvPr>
        </p:nvSpPr>
        <p:spPr>
          <a:xfrm>
            <a:off x="1524000" y="685800"/>
            <a:ext cx="9144000" cy="6172200"/>
          </a:xfrm>
        </p:spPr>
        <p:txBody>
          <a:bodyPr>
            <a:normAutofit/>
          </a:bodyPr>
          <a:lstStyle/>
          <a:p>
            <a:pPr>
              <a:lnSpc>
                <a:spcPct val="150000"/>
              </a:lnSpc>
              <a:buNone/>
            </a:pPr>
            <a:r>
              <a:rPr lang="en-US" b="1" dirty="0"/>
              <a:t>Def</a:t>
            </a:r>
            <a:r>
              <a:rPr lang="en-US" dirty="0"/>
              <a:t>: The total time related changes experienced by an individual which are biological, psychological, sociological and spiritual.</a:t>
            </a:r>
          </a:p>
          <a:p>
            <a:pPr algn="ctr">
              <a:lnSpc>
                <a:spcPct val="150000"/>
              </a:lnSpc>
              <a:buNone/>
            </a:pPr>
            <a:r>
              <a:rPr lang="en-US" b="1" i="1" dirty="0"/>
              <a:t>Types of aging</a:t>
            </a:r>
          </a:p>
          <a:p>
            <a:pPr>
              <a:lnSpc>
                <a:spcPct val="150000"/>
              </a:lnSpc>
            </a:pPr>
            <a:r>
              <a:rPr lang="en-US" b="1" dirty="0"/>
              <a:t>Biological aging</a:t>
            </a:r>
            <a:r>
              <a:rPr lang="en-US" dirty="0"/>
              <a:t>: refers to changes in structure and functions of the body that occur over a lifespan. It can be gradual affected by genetic inheritance, external and internal environmental factors.</a:t>
            </a:r>
          </a:p>
        </p:txBody>
      </p:sp>
      <p:sp>
        <p:nvSpPr>
          <p:cNvPr id="4" name="Slide Number Placeholder 3"/>
          <p:cNvSpPr>
            <a:spLocks noGrp="1"/>
          </p:cNvSpPr>
          <p:nvPr>
            <p:ph type="sldNum" sz="quarter" idx="12"/>
          </p:nvPr>
        </p:nvSpPr>
        <p:spPr/>
        <p:txBody>
          <a:bodyPr/>
          <a:lstStyle/>
          <a:p>
            <a:fld id="{4398566B-0D00-4087-9124-BE3A6B87F876}" type="slidenum">
              <a:rPr lang="en-US" smtClean="0"/>
              <a:pPr/>
              <a:t>9</a:t>
            </a:fld>
            <a:endParaRPr lang="en-US" dirty="0"/>
          </a:p>
        </p:txBody>
      </p:sp>
      <p:sp>
        <p:nvSpPr>
          <p:cNvPr id="5" name="Date Placeholder 4">
            <a:extLst>
              <a:ext uri="{FF2B5EF4-FFF2-40B4-BE49-F238E27FC236}">
                <a16:creationId xmlns:a16="http://schemas.microsoft.com/office/drawing/2014/main" xmlns="" id="{F7A9533C-4B31-4856-AF19-11189AE058DE}"/>
              </a:ext>
            </a:extLst>
          </p:cNvPr>
          <p:cNvSpPr>
            <a:spLocks noGrp="1"/>
          </p:cNvSpPr>
          <p:nvPr>
            <p:ph type="dt" sz="half" idx="10"/>
          </p:nvPr>
        </p:nvSpPr>
        <p:spPr/>
        <p:txBody>
          <a:bodyPr/>
          <a:lstStyle/>
          <a:p>
            <a:fld id="{BB137100-50A2-4EEB-AB6F-20CD5FC84E7A}" type="datetime1">
              <a:rPr lang="en-US" smtClean="0"/>
              <a:t>5/5/2022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11A9AE-00C3-4053-B34E-AA1535CE29D8}"/>
              </a:ext>
            </a:extLst>
          </p:cNvPr>
          <p:cNvSpPr>
            <a:spLocks noGrp="1"/>
          </p:cNvSpPr>
          <p:nvPr>
            <p:ph type="title"/>
          </p:nvPr>
        </p:nvSpPr>
        <p:spPr>
          <a:xfrm>
            <a:off x="838200" y="1"/>
            <a:ext cx="10515600" cy="166976"/>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D044AEBC-9459-408C-B24D-2A2D911B4A3F}"/>
              </a:ext>
            </a:extLst>
          </p:cNvPr>
          <p:cNvSpPr>
            <a:spLocks noGrp="1"/>
          </p:cNvSpPr>
          <p:nvPr>
            <p:ph idx="1"/>
          </p:nvPr>
        </p:nvSpPr>
        <p:spPr>
          <a:xfrm>
            <a:off x="1092641" y="477077"/>
            <a:ext cx="10515600" cy="5866862"/>
          </a:xfrm>
        </p:spPr>
        <p:txBody>
          <a:bodyPr/>
          <a:lstStyle/>
          <a:p>
            <a:pPr>
              <a:lnSpc>
                <a:spcPct val="150000"/>
              </a:lnSpc>
            </a:pPr>
            <a:r>
              <a:rPr lang="en-US" b="1" dirty="0"/>
              <a:t>Psychological aging</a:t>
            </a:r>
            <a:r>
              <a:rPr lang="en-US" dirty="0"/>
              <a:t>: behavioral changes in self perception and reaction to biological changes. It is influenced by  conditions of the body e.g. cardiovascular or renal system; changes in the brain that may affect memory, learning, motivation and emotions.</a:t>
            </a:r>
          </a:p>
          <a:p>
            <a:pPr>
              <a:lnSpc>
                <a:spcPct val="150000"/>
              </a:lnSpc>
            </a:pPr>
            <a:r>
              <a:rPr lang="en-US" b="1" dirty="0"/>
              <a:t>Functional aging</a:t>
            </a:r>
            <a:r>
              <a:rPr lang="en-US" dirty="0"/>
              <a:t>: refers to capacity of the individual to function in society compared to that of others in the same age group.</a:t>
            </a:r>
          </a:p>
          <a:p>
            <a:pPr>
              <a:lnSpc>
                <a:spcPct val="150000"/>
              </a:lnSpc>
            </a:pPr>
            <a:r>
              <a:rPr lang="en-US" b="1" dirty="0"/>
              <a:t>Sociological aging</a:t>
            </a:r>
            <a:r>
              <a:rPr lang="en-US" dirty="0"/>
              <a:t>: changes in roles and social habits of individuals in the society. It includes: changes in expectation and social status</a:t>
            </a:r>
          </a:p>
          <a:p>
            <a:endParaRPr lang="en-US" dirty="0"/>
          </a:p>
        </p:txBody>
      </p:sp>
      <p:sp>
        <p:nvSpPr>
          <p:cNvPr id="4" name="Date Placeholder 3">
            <a:extLst>
              <a:ext uri="{FF2B5EF4-FFF2-40B4-BE49-F238E27FC236}">
                <a16:creationId xmlns:a16="http://schemas.microsoft.com/office/drawing/2014/main" xmlns="" id="{3975547C-5618-4AE1-81BC-B23297B0F7C4}"/>
              </a:ext>
            </a:extLst>
          </p:cNvPr>
          <p:cNvSpPr>
            <a:spLocks noGrp="1"/>
          </p:cNvSpPr>
          <p:nvPr>
            <p:ph type="dt" sz="half" idx="10"/>
          </p:nvPr>
        </p:nvSpPr>
        <p:spPr/>
        <p:txBody>
          <a:bodyPr/>
          <a:lstStyle/>
          <a:p>
            <a:fld id="{76BE05E7-234E-4283-A899-4E7C78C53112}" type="datetime1">
              <a:rPr lang="en-US" smtClean="0"/>
              <a:t>5/5/2022</a:t>
            </a:fld>
            <a:endParaRPr lang="en-US"/>
          </a:p>
        </p:txBody>
      </p:sp>
      <p:sp>
        <p:nvSpPr>
          <p:cNvPr id="5" name="Slide Number Placeholder 4">
            <a:extLst>
              <a:ext uri="{FF2B5EF4-FFF2-40B4-BE49-F238E27FC236}">
                <a16:creationId xmlns:a16="http://schemas.microsoft.com/office/drawing/2014/main" xmlns="" id="{CC451E67-BEEA-4481-BD40-15FBCBF4FB8C}"/>
              </a:ext>
            </a:extLst>
          </p:cNvPr>
          <p:cNvSpPr>
            <a:spLocks noGrp="1"/>
          </p:cNvSpPr>
          <p:nvPr>
            <p:ph type="sldNum" sz="quarter" idx="12"/>
          </p:nvPr>
        </p:nvSpPr>
        <p:spPr/>
        <p:txBody>
          <a:bodyPr/>
          <a:lstStyle/>
          <a:p>
            <a:fld id="{B92AFB71-4BE5-44E7-9108-3062C0C91BA0}" type="slidenum">
              <a:rPr lang="en-US" smtClean="0"/>
              <a:t>10</a:t>
            </a:fld>
            <a:endParaRPr lang="en-US"/>
          </a:p>
        </p:txBody>
      </p:sp>
    </p:spTree>
    <p:extLst>
      <p:ext uri="{BB962C8B-B14F-4D97-AF65-F5344CB8AC3E}">
        <p14:creationId xmlns:p14="http://schemas.microsoft.com/office/powerpoint/2010/main" val="3767359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dirty="0"/>
          </a:p>
        </p:txBody>
      </p:sp>
      <p:pic>
        <p:nvPicPr>
          <p:cNvPr id="1026" name="Picture 2" descr="http://upload.wikimedia.org/wikipedia/commons/thumb/5/5a/Sabaa_Nissan_Militiaman.jpg/220px-Sabaa_Nissan_Militiaman.jpg">
            <a:hlinkClick r:id="rId2"/>
          </p:cNvPr>
          <p:cNvPicPr>
            <a:picLocks noGrp="1" noChangeAspect="1" noChangeArrowheads="1"/>
          </p:cNvPicPr>
          <p:nvPr>
            <p:ph type="pic" idx="1"/>
          </p:nvPr>
        </p:nvPicPr>
        <p:blipFill>
          <a:blip r:embed="rId3" cstate="print"/>
          <a:srcRect t="21843" b="21843"/>
          <a:stretch>
            <a:fillRect/>
          </a:stretch>
        </p:blipFill>
        <p:spPr bwMode="auto">
          <a:xfrm>
            <a:off x="1868557" y="457201"/>
            <a:ext cx="7895645" cy="5172322"/>
          </a:xfrm>
          <a:prstGeom prst="rect">
            <a:avLst/>
          </a:prstGeom>
          <a:noFill/>
        </p:spPr>
      </p:pic>
      <p:sp>
        <p:nvSpPr>
          <p:cNvPr id="6" name="Text Placeholder 5"/>
          <p:cNvSpPr>
            <a:spLocks noGrp="1"/>
          </p:cNvSpPr>
          <p:nvPr>
            <p:ph type="body" sz="half" idx="2"/>
          </p:nvPr>
        </p:nvSpPr>
        <p:spPr/>
        <p:txBody>
          <a:bodyPr/>
          <a:lstStyle/>
          <a:p>
            <a:endParaRPr lang="en-US" dirty="0"/>
          </a:p>
        </p:txBody>
      </p:sp>
      <p:sp>
        <p:nvSpPr>
          <p:cNvPr id="5" name="Slide Number Placeholder 4"/>
          <p:cNvSpPr>
            <a:spLocks noGrp="1"/>
          </p:cNvSpPr>
          <p:nvPr>
            <p:ph type="sldNum" sz="quarter" idx="12"/>
          </p:nvPr>
        </p:nvSpPr>
        <p:spPr/>
        <p:txBody>
          <a:bodyPr/>
          <a:lstStyle/>
          <a:p>
            <a:fld id="{4398566B-0D00-4087-9124-BE3A6B87F876}" type="slidenum">
              <a:rPr lang="en-US" smtClean="0"/>
              <a:pPr/>
              <a:t>11</a:t>
            </a:fld>
            <a:endParaRPr lang="en-US" dirty="0"/>
          </a:p>
        </p:txBody>
      </p:sp>
      <p:sp>
        <p:nvSpPr>
          <p:cNvPr id="2" name="Date Placeholder 1">
            <a:extLst>
              <a:ext uri="{FF2B5EF4-FFF2-40B4-BE49-F238E27FC236}">
                <a16:creationId xmlns:a16="http://schemas.microsoft.com/office/drawing/2014/main" xmlns="" id="{046BDD35-52D6-487B-B6EB-9409B0E7B7EE}"/>
              </a:ext>
            </a:extLst>
          </p:cNvPr>
          <p:cNvSpPr>
            <a:spLocks noGrp="1"/>
          </p:cNvSpPr>
          <p:nvPr>
            <p:ph type="dt" sz="half" idx="10"/>
          </p:nvPr>
        </p:nvSpPr>
        <p:spPr/>
        <p:txBody>
          <a:bodyPr/>
          <a:lstStyle/>
          <a:p>
            <a:fld id="{13AC4144-C2A6-48C3-9BD7-04BCF72C6B02}" type="datetime1">
              <a:rPr lang="en-US" smtClean="0"/>
              <a:t>5/5/2022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C37FC5-1C09-4532-98E2-D6491ECB2436}"/>
              </a:ext>
            </a:extLst>
          </p:cNvPr>
          <p:cNvSpPr>
            <a:spLocks noGrp="1"/>
          </p:cNvSpPr>
          <p:nvPr>
            <p:ph type="title"/>
          </p:nvPr>
        </p:nvSpPr>
        <p:spPr>
          <a:xfrm>
            <a:off x="838200" y="381663"/>
            <a:ext cx="10515600" cy="898497"/>
          </a:xfrm>
        </p:spPr>
        <p:txBody>
          <a:bodyPr>
            <a:normAutofit fontScale="90000"/>
          </a:bodyPr>
          <a:lstStyle/>
          <a:p>
            <a:pPr algn="ctr"/>
            <a:r>
              <a:rPr lang="en-US" sz="3200" b="1" dirty="0"/>
              <a:t>Theories of aging</a:t>
            </a:r>
            <a:r>
              <a:rPr lang="en-US" sz="3200" dirty="0"/>
              <a:t/>
            </a:r>
            <a:br>
              <a:rPr lang="en-US" sz="3200" dirty="0"/>
            </a:br>
            <a:endParaRPr lang="en-US" sz="3200" dirty="0"/>
          </a:p>
        </p:txBody>
      </p:sp>
      <p:sp>
        <p:nvSpPr>
          <p:cNvPr id="3" name="Content Placeholder 2">
            <a:extLst>
              <a:ext uri="{FF2B5EF4-FFF2-40B4-BE49-F238E27FC236}">
                <a16:creationId xmlns:a16="http://schemas.microsoft.com/office/drawing/2014/main" xmlns="" id="{5EDA3F96-54A4-4915-8445-380CDEAB35F7}"/>
              </a:ext>
            </a:extLst>
          </p:cNvPr>
          <p:cNvSpPr>
            <a:spLocks noGrp="1"/>
          </p:cNvSpPr>
          <p:nvPr>
            <p:ph idx="1"/>
          </p:nvPr>
        </p:nvSpPr>
        <p:spPr>
          <a:xfrm>
            <a:off x="838200" y="1137037"/>
            <a:ext cx="10515600" cy="5039926"/>
          </a:xfrm>
        </p:spPr>
        <p:txBody>
          <a:bodyPr>
            <a:normAutofit fontScale="92500" lnSpcReduction="10000"/>
          </a:bodyPr>
          <a:lstStyle/>
          <a:p>
            <a:pPr algn="ctr">
              <a:lnSpc>
                <a:spcPct val="150000"/>
              </a:lnSpc>
              <a:buNone/>
            </a:pPr>
            <a:r>
              <a:rPr lang="en-US" sz="3200" b="1" dirty="0"/>
              <a:t>1. Biological /Programmed theories</a:t>
            </a:r>
          </a:p>
          <a:p>
            <a:pPr>
              <a:lnSpc>
                <a:spcPct val="150000"/>
              </a:lnSpc>
              <a:buNone/>
            </a:pPr>
            <a:r>
              <a:rPr lang="en-US" sz="3200" b="1" dirty="0"/>
              <a:t>a) Genetic theory</a:t>
            </a:r>
            <a:r>
              <a:rPr lang="en-US" sz="3200" dirty="0"/>
              <a:t>: Programmed theory of aging by </a:t>
            </a:r>
            <a:r>
              <a:rPr lang="en-US" sz="3200" dirty="0" err="1"/>
              <a:t>Hayflic</a:t>
            </a:r>
            <a:r>
              <a:rPr lang="en-US" sz="3200" dirty="0"/>
              <a:t> 1960. he says that:-</a:t>
            </a:r>
          </a:p>
          <a:p>
            <a:pPr>
              <a:lnSpc>
                <a:spcPct val="150000"/>
              </a:lnSpc>
            </a:pPr>
            <a:r>
              <a:rPr lang="en-US" sz="3200" i="1" dirty="0"/>
              <a:t>Lifespan of animals is pre-determined by a genetic </a:t>
            </a:r>
            <a:r>
              <a:rPr lang="en-US" sz="3200" i="1" dirty="0" err="1"/>
              <a:t>programme</a:t>
            </a:r>
            <a:r>
              <a:rPr lang="en-US" sz="3200" i="1" dirty="0"/>
              <a:t>. Biologic clock of humans has a maximum of 110 years.</a:t>
            </a:r>
          </a:p>
          <a:p>
            <a:pPr>
              <a:lnSpc>
                <a:spcPct val="150000"/>
              </a:lnSpc>
            </a:pPr>
            <a:r>
              <a:rPr lang="en-US" sz="3200" i="1" dirty="0"/>
              <a:t>Normal human cells divided about 50 times after which they stop dividing and shrink and die</a:t>
            </a:r>
            <a:r>
              <a:rPr lang="en-US" sz="3200" dirty="0"/>
              <a:t>.</a:t>
            </a:r>
          </a:p>
          <a:p>
            <a:endParaRPr lang="en-US" dirty="0"/>
          </a:p>
        </p:txBody>
      </p:sp>
      <p:sp>
        <p:nvSpPr>
          <p:cNvPr id="4" name="Date Placeholder 3">
            <a:extLst>
              <a:ext uri="{FF2B5EF4-FFF2-40B4-BE49-F238E27FC236}">
                <a16:creationId xmlns:a16="http://schemas.microsoft.com/office/drawing/2014/main" xmlns="" id="{5F4197C8-4CE5-4EBA-AAAD-61DF0DC9E2FB}"/>
              </a:ext>
            </a:extLst>
          </p:cNvPr>
          <p:cNvSpPr>
            <a:spLocks noGrp="1"/>
          </p:cNvSpPr>
          <p:nvPr>
            <p:ph type="dt" sz="half" idx="10"/>
          </p:nvPr>
        </p:nvSpPr>
        <p:spPr/>
        <p:txBody>
          <a:bodyPr/>
          <a:lstStyle/>
          <a:p>
            <a:fld id="{D3EAA9DF-B34B-4D7B-9844-2B956DC769B9}" type="datetime1">
              <a:rPr lang="en-US" smtClean="0"/>
              <a:t>5/5/2022</a:t>
            </a:fld>
            <a:endParaRPr lang="en-US"/>
          </a:p>
        </p:txBody>
      </p:sp>
      <p:sp>
        <p:nvSpPr>
          <p:cNvPr id="5" name="Slide Number Placeholder 4">
            <a:extLst>
              <a:ext uri="{FF2B5EF4-FFF2-40B4-BE49-F238E27FC236}">
                <a16:creationId xmlns:a16="http://schemas.microsoft.com/office/drawing/2014/main" xmlns="" id="{CC5DF826-4D83-42D8-9C6C-D6DF7E3B0F24}"/>
              </a:ext>
            </a:extLst>
          </p:cNvPr>
          <p:cNvSpPr>
            <a:spLocks noGrp="1"/>
          </p:cNvSpPr>
          <p:nvPr>
            <p:ph type="sldNum" sz="quarter" idx="12"/>
          </p:nvPr>
        </p:nvSpPr>
        <p:spPr/>
        <p:txBody>
          <a:bodyPr/>
          <a:lstStyle/>
          <a:p>
            <a:fld id="{B92AFB71-4BE5-44E7-9108-3062C0C91BA0}" type="slidenum">
              <a:rPr lang="en-US" smtClean="0"/>
              <a:t>12</a:t>
            </a:fld>
            <a:endParaRPr lang="en-US"/>
          </a:p>
        </p:txBody>
      </p:sp>
    </p:spTree>
    <p:extLst>
      <p:ext uri="{BB962C8B-B14F-4D97-AF65-F5344CB8AC3E}">
        <p14:creationId xmlns:p14="http://schemas.microsoft.com/office/powerpoint/2010/main" val="1338412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97DE99-C240-4CAC-85DC-7A8406F214F3}"/>
              </a:ext>
            </a:extLst>
          </p:cNvPr>
          <p:cNvSpPr>
            <a:spLocks noGrp="1"/>
          </p:cNvSpPr>
          <p:nvPr>
            <p:ph type="title"/>
          </p:nvPr>
        </p:nvSpPr>
        <p:spPr>
          <a:xfrm>
            <a:off x="838200" y="119270"/>
            <a:ext cx="10515600" cy="6361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73656344-1DE3-44AE-A2B1-91080A01C966}"/>
              </a:ext>
            </a:extLst>
          </p:cNvPr>
          <p:cNvSpPr>
            <a:spLocks noGrp="1"/>
          </p:cNvSpPr>
          <p:nvPr>
            <p:ph idx="1"/>
          </p:nvPr>
        </p:nvSpPr>
        <p:spPr>
          <a:xfrm>
            <a:off x="838200" y="453224"/>
            <a:ext cx="10515600" cy="5723739"/>
          </a:xfrm>
        </p:spPr>
        <p:txBody>
          <a:bodyPr>
            <a:normAutofit lnSpcReduction="10000"/>
          </a:bodyPr>
          <a:lstStyle/>
          <a:p>
            <a:pPr marL="0" indent="0">
              <a:lnSpc>
                <a:spcPct val="150000"/>
              </a:lnSpc>
              <a:buNone/>
            </a:pPr>
            <a:r>
              <a:rPr lang="en-US" sz="3200" b="1" dirty="0"/>
              <a:t>b) Mutation theory</a:t>
            </a:r>
            <a:r>
              <a:rPr lang="en-US" sz="3200" dirty="0"/>
              <a:t>: states that aging is as a result of mutation of somatic cells or alteration of DNA repair mechanism. In effect, aging is caused by an assortment of genetic diseases, each of which has adverse symptoms only at advanced ages.</a:t>
            </a:r>
            <a:endParaRPr lang="en-US" sz="3200" b="1" dirty="0"/>
          </a:p>
          <a:p>
            <a:pPr marL="0" indent="0">
              <a:lnSpc>
                <a:spcPct val="150000"/>
              </a:lnSpc>
              <a:buNone/>
            </a:pPr>
            <a:r>
              <a:rPr lang="en-US" sz="3200" b="1" dirty="0"/>
              <a:t>c) Wear and tear theories</a:t>
            </a:r>
            <a:r>
              <a:rPr lang="en-US" sz="3200" dirty="0"/>
              <a:t>: says that organs have limited or fixed amount of energy available and will wear out on a scheduled basis. When enough cells wear out , the body does not function well. This process is made worse by:-</a:t>
            </a:r>
          </a:p>
          <a:p>
            <a:endParaRPr lang="en-US" dirty="0"/>
          </a:p>
        </p:txBody>
      </p:sp>
      <p:sp>
        <p:nvSpPr>
          <p:cNvPr id="4" name="Date Placeholder 3">
            <a:extLst>
              <a:ext uri="{FF2B5EF4-FFF2-40B4-BE49-F238E27FC236}">
                <a16:creationId xmlns:a16="http://schemas.microsoft.com/office/drawing/2014/main" xmlns="" id="{52527008-83E7-4125-86D0-3350478404BB}"/>
              </a:ext>
            </a:extLst>
          </p:cNvPr>
          <p:cNvSpPr>
            <a:spLocks noGrp="1"/>
          </p:cNvSpPr>
          <p:nvPr>
            <p:ph type="dt" sz="half" idx="10"/>
          </p:nvPr>
        </p:nvSpPr>
        <p:spPr/>
        <p:txBody>
          <a:bodyPr/>
          <a:lstStyle/>
          <a:p>
            <a:fld id="{16BB9552-9AB5-449C-B669-DD1FB04E9022}" type="datetime1">
              <a:rPr lang="en-US" smtClean="0"/>
              <a:t>5/5/2022</a:t>
            </a:fld>
            <a:endParaRPr lang="en-US"/>
          </a:p>
        </p:txBody>
      </p:sp>
      <p:sp>
        <p:nvSpPr>
          <p:cNvPr id="5" name="Slide Number Placeholder 4">
            <a:extLst>
              <a:ext uri="{FF2B5EF4-FFF2-40B4-BE49-F238E27FC236}">
                <a16:creationId xmlns:a16="http://schemas.microsoft.com/office/drawing/2014/main" xmlns="" id="{0D8E7ED5-E1A1-4BF5-A6B1-7F7E6DF21127}"/>
              </a:ext>
            </a:extLst>
          </p:cNvPr>
          <p:cNvSpPr>
            <a:spLocks noGrp="1"/>
          </p:cNvSpPr>
          <p:nvPr>
            <p:ph type="sldNum" sz="quarter" idx="12"/>
          </p:nvPr>
        </p:nvSpPr>
        <p:spPr/>
        <p:txBody>
          <a:bodyPr/>
          <a:lstStyle/>
          <a:p>
            <a:fld id="{B92AFB71-4BE5-44E7-9108-3062C0C91BA0}" type="slidenum">
              <a:rPr lang="en-US" smtClean="0"/>
              <a:t>13</a:t>
            </a:fld>
            <a:endParaRPr lang="en-US"/>
          </a:p>
        </p:txBody>
      </p:sp>
    </p:spTree>
    <p:extLst>
      <p:ext uri="{BB962C8B-B14F-4D97-AF65-F5344CB8AC3E}">
        <p14:creationId xmlns:p14="http://schemas.microsoft.com/office/powerpoint/2010/main" val="1684153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0"/>
            <a:ext cx="9144000" cy="6858000"/>
          </a:xfrm>
        </p:spPr>
        <p:txBody>
          <a:bodyPr>
            <a:normAutofit/>
          </a:bodyPr>
          <a:lstStyle/>
          <a:p>
            <a:pPr>
              <a:lnSpc>
                <a:spcPct val="150000"/>
              </a:lnSpc>
            </a:pPr>
            <a:r>
              <a:rPr lang="en-US" dirty="0"/>
              <a:t>Harmful stress factors e.g.</a:t>
            </a:r>
          </a:p>
          <a:p>
            <a:pPr lvl="1">
              <a:lnSpc>
                <a:spcPct val="150000"/>
              </a:lnSpc>
            </a:pPr>
            <a:r>
              <a:rPr lang="en-US" dirty="0"/>
              <a:t>smoking,</a:t>
            </a:r>
          </a:p>
          <a:p>
            <a:pPr lvl="1">
              <a:lnSpc>
                <a:spcPct val="150000"/>
              </a:lnSpc>
            </a:pPr>
            <a:r>
              <a:rPr lang="en-US" dirty="0"/>
              <a:t>Poor diet</a:t>
            </a:r>
          </a:p>
          <a:p>
            <a:pPr lvl="1">
              <a:lnSpc>
                <a:spcPct val="150000"/>
              </a:lnSpc>
            </a:pPr>
            <a:r>
              <a:rPr lang="en-US" dirty="0"/>
              <a:t>Muscular strain</a:t>
            </a:r>
          </a:p>
          <a:p>
            <a:pPr lvl="1">
              <a:lnSpc>
                <a:spcPct val="150000"/>
              </a:lnSpc>
            </a:pPr>
            <a:r>
              <a:rPr lang="en-US" dirty="0"/>
              <a:t>Large intake of alcohol</a:t>
            </a:r>
          </a:p>
          <a:p>
            <a:pPr>
              <a:lnSpc>
                <a:spcPct val="150000"/>
              </a:lnSpc>
            </a:pPr>
            <a:r>
              <a:rPr lang="en-US" dirty="0"/>
              <a:t>Theory is supported by-: </a:t>
            </a:r>
          </a:p>
          <a:p>
            <a:pPr lvl="1">
              <a:lnSpc>
                <a:spcPct val="150000"/>
              </a:lnSpc>
            </a:pPr>
            <a:r>
              <a:rPr lang="en-US" dirty="0"/>
              <a:t>Microscopic signs of wear and tear in Striated skeletal muscle, heart muscles and nerve cells</a:t>
            </a:r>
          </a:p>
          <a:p>
            <a:endParaRPr lang="en-US" dirty="0"/>
          </a:p>
        </p:txBody>
      </p:sp>
      <p:sp>
        <p:nvSpPr>
          <p:cNvPr id="4" name="Slide Number Placeholder 3"/>
          <p:cNvSpPr>
            <a:spLocks noGrp="1"/>
          </p:cNvSpPr>
          <p:nvPr>
            <p:ph type="sldNum" sz="quarter" idx="12"/>
          </p:nvPr>
        </p:nvSpPr>
        <p:spPr/>
        <p:txBody>
          <a:bodyPr/>
          <a:lstStyle/>
          <a:p>
            <a:fld id="{4398566B-0D00-4087-9124-BE3A6B87F876}" type="slidenum">
              <a:rPr lang="en-US" smtClean="0"/>
              <a:pPr/>
              <a:t>14</a:t>
            </a:fld>
            <a:endParaRPr lang="en-US" dirty="0"/>
          </a:p>
        </p:txBody>
      </p:sp>
      <p:sp>
        <p:nvSpPr>
          <p:cNvPr id="2" name="Date Placeholder 1">
            <a:extLst>
              <a:ext uri="{FF2B5EF4-FFF2-40B4-BE49-F238E27FC236}">
                <a16:creationId xmlns:a16="http://schemas.microsoft.com/office/drawing/2014/main" xmlns="" id="{9B5A109B-23C2-4FAC-941B-68FC618F082E}"/>
              </a:ext>
            </a:extLst>
          </p:cNvPr>
          <p:cNvSpPr>
            <a:spLocks noGrp="1"/>
          </p:cNvSpPr>
          <p:nvPr>
            <p:ph type="dt" sz="half" idx="10"/>
          </p:nvPr>
        </p:nvSpPr>
        <p:spPr/>
        <p:txBody>
          <a:bodyPr/>
          <a:lstStyle/>
          <a:p>
            <a:fld id="{87C9B40E-09DC-4086-BDDB-79FBA325B9B6}" type="datetime1">
              <a:rPr lang="en-US" smtClean="0"/>
              <a:t>5/5/2022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2617E5-DD7F-4D46-91AB-D1B76FDC7FE9}"/>
              </a:ext>
            </a:extLst>
          </p:cNvPr>
          <p:cNvSpPr>
            <a:spLocks noGrp="1"/>
          </p:cNvSpPr>
          <p:nvPr>
            <p:ph type="title"/>
          </p:nvPr>
        </p:nvSpPr>
        <p:spPr>
          <a:xfrm flipV="1">
            <a:off x="838200" y="246490"/>
            <a:ext cx="10515600" cy="11863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2B9147DF-E77B-4B08-A478-8B2DF6125DFC}"/>
              </a:ext>
            </a:extLst>
          </p:cNvPr>
          <p:cNvSpPr>
            <a:spLocks noGrp="1"/>
          </p:cNvSpPr>
          <p:nvPr>
            <p:ph idx="1"/>
          </p:nvPr>
        </p:nvSpPr>
        <p:spPr>
          <a:xfrm>
            <a:off x="838200" y="524786"/>
            <a:ext cx="10515600" cy="5652177"/>
          </a:xfrm>
        </p:spPr>
        <p:txBody>
          <a:bodyPr>
            <a:normAutofit fontScale="92500" lnSpcReduction="10000"/>
          </a:bodyPr>
          <a:lstStyle/>
          <a:p>
            <a:pPr>
              <a:lnSpc>
                <a:spcPct val="150000"/>
              </a:lnSpc>
            </a:pPr>
            <a:r>
              <a:rPr lang="en-US" sz="3200" dirty="0"/>
              <a:t>The body is likened to a machine that works well in a specified period but will eventually  fail due to wear and tear.</a:t>
            </a:r>
          </a:p>
          <a:p>
            <a:pPr>
              <a:lnSpc>
                <a:spcPct val="150000"/>
              </a:lnSpc>
              <a:buNone/>
            </a:pPr>
            <a:r>
              <a:rPr lang="en-US" sz="3200" b="1" dirty="0"/>
              <a:t>d) Immunity theory</a:t>
            </a:r>
            <a:r>
              <a:rPr lang="en-US" sz="3200" dirty="0"/>
              <a:t>: it is based on knowledge that immune system particularly the thymus and the immuno-component cells of the bone marrow  are affected by the aging process.</a:t>
            </a:r>
          </a:p>
          <a:p>
            <a:pPr>
              <a:lnSpc>
                <a:spcPct val="150000"/>
              </a:lnSpc>
            </a:pPr>
            <a:r>
              <a:rPr lang="en-US" sz="3200" dirty="0"/>
              <a:t>Older people have fewer defense mechanism against foreign organism. They are more susceptible to disease e.g. cancers, infections.</a:t>
            </a:r>
          </a:p>
          <a:p>
            <a:pPr>
              <a:lnSpc>
                <a:spcPct val="150000"/>
              </a:lnSpc>
              <a:buNone/>
            </a:pPr>
            <a:endParaRPr lang="en-US" sz="3200" dirty="0"/>
          </a:p>
          <a:p>
            <a:endParaRPr lang="en-US" dirty="0"/>
          </a:p>
        </p:txBody>
      </p:sp>
      <p:sp>
        <p:nvSpPr>
          <p:cNvPr id="4" name="Date Placeholder 3">
            <a:extLst>
              <a:ext uri="{FF2B5EF4-FFF2-40B4-BE49-F238E27FC236}">
                <a16:creationId xmlns:a16="http://schemas.microsoft.com/office/drawing/2014/main" xmlns="" id="{8E25D7F8-FB32-45DC-BD67-59565AB4AFAF}"/>
              </a:ext>
            </a:extLst>
          </p:cNvPr>
          <p:cNvSpPr>
            <a:spLocks noGrp="1"/>
          </p:cNvSpPr>
          <p:nvPr>
            <p:ph type="dt" sz="half" idx="10"/>
          </p:nvPr>
        </p:nvSpPr>
        <p:spPr/>
        <p:txBody>
          <a:bodyPr/>
          <a:lstStyle/>
          <a:p>
            <a:fld id="{398402BC-5E8A-49B1-98FB-1278FE77501C}" type="datetime1">
              <a:rPr lang="en-US" smtClean="0"/>
              <a:t>5/5/2022</a:t>
            </a:fld>
            <a:endParaRPr lang="en-US"/>
          </a:p>
        </p:txBody>
      </p:sp>
      <p:sp>
        <p:nvSpPr>
          <p:cNvPr id="5" name="Slide Number Placeholder 4">
            <a:extLst>
              <a:ext uri="{FF2B5EF4-FFF2-40B4-BE49-F238E27FC236}">
                <a16:creationId xmlns:a16="http://schemas.microsoft.com/office/drawing/2014/main" xmlns="" id="{542E6C14-53B7-42DE-806F-57590C698DC7}"/>
              </a:ext>
            </a:extLst>
          </p:cNvPr>
          <p:cNvSpPr>
            <a:spLocks noGrp="1"/>
          </p:cNvSpPr>
          <p:nvPr>
            <p:ph type="sldNum" sz="quarter" idx="12"/>
          </p:nvPr>
        </p:nvSpPr>
        <p:spPr/>
        <p:txBody>
          <a:bodyPr/>
          <a:lstStyle/>
          <a:p>
            <a:fld id="{B92AFB71-4BE5-44E7-9108-3062C0C91BA0}" type="slidenum">
              <a:rPr lang="en-US" smtClean="0"/>
              <a:t>15</a:t>
            </a:fld>
            <a:endParaRPr lang="en-US"/>
          </a:p>
        </p:txBody>
      </p:sp>
    </p:spTree>
    <p:extLst>
      <p:ext uri="{BB962C8B-B14F-4D97-AF65-F5344CB8AC3E}">
        <p14:creationId xmlns:p14="http://schemas.microsoft.com/office/powerpoint/2010/main" val="3441312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469127"/>
            <a:ext cx="9144000" cy="5263764"/>
          </a:xfrm>
        </p:spPr>
        <p:txBody>
          <a:bodyPr>
            <a:normAutofit/>
          </a:bodyPr>
          <a:lstStyle/>
          <a:p>
            <a:pPr>
              <a:lnSpc>
                <a:spcPct val="150000"/>
              </a:lnSpc>
            </a:pPr>
            <a:r>
              <a:rPr lang="en-US" sz="3200" dirty="0"/>
              <a:t>Their body also has increased auto-immune responses, i..e. the body reacts against itself producing antibodies against its cells. It also develops antibodies against food, foreign bodies, etc.</a:t>
            </a:r>
          </a:p>
          <a:p>
            <a:pPr>
              <a:lnSpc>
                <a:spcPct val="150000"/>
              </a:lnSpc>
            </a:pPr>
            <a:r>
              <a:rPr lang="en-US" sz="3200" dirty="0"/>
              <a:t>This may explain development of autoimmune disease like lupus, diabetes, rheumatoid arthritis </a:t>
            </a:r>
            <a:r>
              <a:rPr lang="en-US" sz="3200" dirty="0" err="1"/>
              <a:t>e.t.c</a:t>
            </a:r>
            <a:endParaRPr lang="en-US" sz="3200" dirty="0"/>
          </a:p>
        </p:txBody>
      </p:sp>
      <p:sp>
        <p:nvSpPr>
          <p:cNvPr id="4" name="Slide Number Placeholder 3"/>
          <p:cNvSpPr>
            <a:spLocks noGrp="1"/>
          </p:cNvSpPr>
          <p:nvPr>
            <p:ph type="sldNum" sz="quarter" idx="12"/>
          </p:nvPr>
        </p:nvSpPr>
        <p:spPr/>
        <p:txBody>
          <a:bodyPr/>
          <a:lstStyle/>
          <a:p>
            <a:fld id="{4398566B-0D00-4087-9124-BE3A6B87F876}" type="slidenum">
              <a:rPr lang="en-US" smtClean="0"/>
              <a:pPr/>
              <a:t>16</a:t>
            </a:fld>
            <a:endParaRPr lang="en-US" dirty="0"/>
          </a:p>
        </p:txBody>
      </p:sp>
      <p:sp>
        <p:nvSpPr>
          <p:cNvPr id="2" name="Date Placeholder 1">
            <a:extLst>
              <a:ext uri="{FF2B5EF4-FFF2-40B4-BE49-F238E27FC236}">
                <a16:creationId xmlns:a16="http://schemas.microsoft.com/office/drawing/2014/main" xmlns="" id="{ABF8F841-A5E9-4E7C-B630-DAC20449B665}"/>
              </a:ext>
            </a:extLst>
          </p:cNvPr>
          <p:cNvSpPr>
            <a:spLocks noGrp="1"/>
          </p:cNvSpPr>
          <p:nvPr>
            <p:ph type="dt" sz="half" idx="10"/>
          </p:nvPr>
        </p:nvSpPr>
        <p:spPr/>
        <p:txBody>
          <a:bodyPr/>
          <a:lstStyle/>
          <a:p>
            <a:fld id="{FDCDCD0F-B2C6-4B05-93D8-1801CDD8C9CF}" type="datetime1">
              <a:rPr lang="en-US" smtClean="0"/>
              <a:t>5/5/2022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C01464-FE00-4F0E-907A-2703C9DA0BE1}"/>
              </a:ext>
            </a:extLst>
          </p:cNvPr>
          <p:cNvSpPr>
            <a:spLocks noGrp="1"/>
          </p:cNvSpPr>
          <p:nvPr>
            <p:ph type="title"/>
          </p:nvPr>
        </p:nvSpPr>
        <p:spPr>
          <a:xfrm>
            <a:off x="838200" y="365125"/>
            <a:ext cx="10515600" cy="23122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83D94BB6-80DB-4480-9B4D-5974AE3434AA}"/>
              </a:ext>
            </a:extLst>
          </p:cNvPr>
          <p:cNvSpPr>
            <a:spLocks noGrp="1"/>
          </p:cNvSpPr>
          <p:nvPr>
            <p:ph idx="1"/>
          </p:nvPr>
        </p:nvSpPr>
        <p:spPr>
          <a:xfrm>
            <a:off x="838200" y="699715"/>
            <a:ext cx="10515600" cy="5477248"/>
          </a:xfrm>
        </p:spPr>
        <p:txBody>
          <a:bodyPr/>
          <a:lstStyle/>
          <a:p>
            <a:pPr>
              <a:lnSpc>
                <a:spcPct val="150000"/>
              </a:lnSpc>
              <a:buNone/>
            </a:pPr>
            <a:r>
              <a:rPr lang="en-US" b="1" smtClean="0"/>
              <a:t>e) Cross-linkage theory</a:t>
            </a:r>
            <a:r>
              <a:rPr lang="en-US" smtClean="0"/>
              <a:t>: it states that normally separated molecular structures are bound together through chemical reactions. Cross-linkage agent attaches itself to a single strand of a DNA molecule and destroy it.</a:t>
            </a:r>
          </a:p>
          <a:p>
            <a:pPr>
              <a:lnSpc>
                <a:spcPct val="150000"/>
              </a:lnSpc>
            </a:pPr>
            <a:r>
              <a:rPr lang="en-US" smtClean="0"/>
              <a:t>In normal circumstances natural body defense mechanisms would repair the damage. In old age the defense mechanism is weakened. Cross-linkage continues until organs are damaged and end results are mutation of cells that do not function.</a:t>
            </a:r>
          </a:p>
          <a:p>
            <a:endParaRPr lang="en-US" dirty="0"/>
          </a:p>
        </p:txBody>
      </p:sp>
      <p:sp>
        <p:nvSpPr>
          <p:cNvPr id="4" name="Date Placeholder 3">
            <a:extLst>
              <a:ext uri="{FF2B5EF4-FFF2-40B4-BE49-F238E27FC236}">
                <a16:creationId xmlns:a16="http://schemas.microsoft.com/office/drawing/2014/main" xmlns="" id="{A3A452B9-EC03-4495-843D-3D31F1AC772D}"/>
              </a:ext>
            </a:extLst>
          </p:cNvPr>
          <p:cNvSpPr>
            <a:spLocks noGrp="1"/>
          </p:cNvSpPr>
          <p:nvPr>
            <p:ph type="dt" sz="half" idx="10"/>
          </p:nvPr>
        </p:nvSpPr>
        <p:spPr/>
        <p:txBody>
          <a:bodyPr/>
          <a:lstStyle/>
          <a:p>
            <a:fld id="{000F4A8A-4F25-44A5-B49F-C93C8A0F305C}" type="datetime1">
              <a:rPr lang="en-US" smtClean="0"/>
              <a:t>5/5/2022</a:t>
            </a:fld>
            <a:endParaRPr lang="en-US"/>
          </a:p>
        </p:txBody>
      </p:sp>
      <p:sp>
        <p:nvSpPr>
          <p:cNvPr id="5" name="Slide Number Placeholder 4">
            <a:extLst>
              <a:ext uri="{FF2B5EF4-FFF2-40B4-BE49-F238E27FC236}">
                <a16:creationId xmlns:a16="http://schemas.microsoft.com/office/drawing/2014/main" xmlns="" id="{0C3101D5-BF47-4BFC-A2E0-8FC66655C88C}"/>
              </a:ext>
            </a:extLst>
          </p:cNvPr>
          <p:cNvSpPr>
            <a:spLocks noGrp="1"/>
          </p:cNvSpPr>
          <p:nvPr>
            <p:ph type="sldNum" sz="quarter" idx="12"/>
          </p:nvPr>
        </p:nvSpPr>
        <p:spPr/>
        <p:txBody>
          <a:bodyPr/>
          <a:lstStyle/>
          <a:p>
            <a:fld id="{B92AFB71-4BE5-44E7-9108-3062C0C91BA0}" type="slidenum">
              <a:rPr lang="en-US" smtClean="0"/>
              <a:t>17</a:t>
            </a:fld>
            <a:endParaRPr lang="en-US"/>
          </a:p>
        </p:txBody>
      </p:sp>
    </p:spTree>
    <p:extLst>
      <p:ext uri="{BB962C8B-B14F-4D97-AF65-F5344CB8AC3E}">
        <p14:creationId xmlns:p14="http://schemas.microsoft.com/office/powerpoint/2010/main" val="1731428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70E5B6-EF3C-4F53-BF9F-FB2C97EAB436}"/>
              </a:ext>
            </a:extLst>
          </p:cNvPr>
          <p:cNvSpPr>
            <a:spLocks noGrp="1"/>
          </p:cNvSpPr>
          <p:nvPr>
            <p:ph type="title"/>
          </p:nvPr>
        </p:nvSpPr>
        <p:spPr>
          <a:xfrm>
            <a:off x="838200" y="0"/>
            <a:ext cx="10515600" cy="17492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FA012F9E-F33F-4827-8E92-CEB0191516E5}"/>
              </a:ext>
            </a:extLst>
          </p:cNvPr>
          <p:cNvSpPr>
            <a:spLocks noGrp="1"/>
          </p:cNvSpPr>
          <p:nvPr>
            <p:ph idx="1"/>
          </p:nvPr>
        </p:nvSpPr>
        <p:spPr>
          <a:xfrm>
            <a:off x="838200" y="413468"/>
            <a:ext cx="10515600" cy="5763495"/>
          </a:xfrm>
        </p:spPr>
        <p:txBody>
          <a:bodyPr>
            <a:normAutofit fontScale="92500"/>
          </a:bodyPr>
          <a:lstStyle/>
          <a:p>
            <a:pPr>
              <a:lnSpc>
                <a:spcPct val="150000"/>
              </a:lnSpc>
              <a:buNone/>
            </a:pPr>
            <a:r>
              <a:rPr lang="en-US" sz="3200" b="1" dirty="0"/>
              <a:t>e) Cross-linkage theory</a:t>
            </a:r>
            <a:r>
              <a:rPr lang="en-US" sz="3200" dirty="0"/>
              <a:t>: it states that normally separated molecular structures are bound together through chemical reactions. Cross-linkage agent attaches itself to a single strand of a DNA molecule and destroy it.</a:t>
            </a:r>
          </a:p>
          <a:p>
            <a:pPr>
              <a:lnSpc>
                <a:spcPct val="150000"/>
              </a:lnSpc>
            </a:pPr>
            <a:r>
              <a:rPr lang="en-US" sz="3200" dirty="0"/>
              <a:t>In normal circumstances natural body defense mechanisms would repair the damage. In old age the defense mechanism is weakened. Cross-linkage continues until organs are damaged and end results are mutation of cells that do not function.</a:t>
            </a:r>
          </a:p>
          <a:p>
            <a:endParaRPr lang="en-US" dirty="0"/>
          </a:p>
        </p:txBody>
      </p:sp>
      <p:sp>
        <p:nvSpPr>
          <p:cNvPr id="4" name="Date Placeholder 3">
            <a:extLst>
              <a:ext uri="{FF2B5EF4-FFF2-40B4-BE49-F238E27FC236}">
                <a16:creationId xmlns:a16="http://schemas.microsoft.com/office/drawing/2014/main" xmlns="" id="{1FCF4A57-AA77-4B52-A265-B7B91BCA33E1}"/>
              </a:ext>
            </a:extLst>
          </p:cNvPr>
          <p:cNvSpPr>
            <a:spLocks noGrp="1"/>
          </p:cNvSpPr>
          <p:nvPr>
            <p:ph type="dt" sz="half" idx="10"/>
          </p:nvPr>
        </p:nvSpPr>
        <p:spPr/>
        <p:txBody>
          <a:bodyPr/>
          <a:lstStyle/>
          <a:p>
            <a:fld id="{93E9799E-BBCC-4A16-9B39-759F65FD889D}" type="datetime1">
              <a:rPr lang="en-US" smtClean="0"/>
              <a:t>5/5/2022</a:t>
            </a:fld>
            <a:endParaRPr lang="en-US"/>
          </a:p>
        </p:txBody>
      </p:sp>
      <p:sp>
        <p:nvSpPr>
          <p:cNvPr id="5" name="Slide Number Placeholder 4">
            <a:extLst>
              <a:ext uri="{FF2B5EF4-FFF2-40B4-BE49-F238E27FC236}">
                <a16:creationId xmlns:a16="http://schemas.microsoft.com/office/drawing/2014/main" xmlns="" id="{BFE86947-2732-4896-B691-525D43D8E764}"/>
              </a:ext>
            </a:extLst>
          </p:cNvPr>
          <p:cNvSpPr>
            <a:spLocks noGrp="1"/>
          </p:cNvSpPr>
          <p:nvPr>
            <p:ph type="sldNum" sz="quarter" idx="12"/>
          </p:nvPr>
        </p:nvSpPr>
        <p:spPr/>
        <p:txBody>
          <a:bodyPr/>
          <a:lstStyle/>
          <a:p>
            <a:fld id="{B92AFB71-4BE5-44E7-9108-3062C0C91BA0}" type="slidenum">
              <a:rPr lang="en-US" smtClean="0"/>
              <a:t>18</a:t>
            </a:fld>
            <a:endParaRPr lang="en-US"/>
          </a:p>
        </p:txBody>
      </p:sp>
    </p:spTree>
    <p:extLst>
      <p:ext uri="{BB962C8B-B14F-4D97-AF65-F5344CB8AC3E}">
        <p14:creationId xmlns:p14="http://schemas.microsoft.com/office/powerpoint/2010/main" val="803895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86BBBB-3ABA-4C25-A46B-F0CA2EB85577}"/>
              </a:ext>
            </a:extLst>
          </p:cNvPr>
          <p:cNvSpPr>
            <a:spLocks noGrp="1"/>
          </p:cNvSpPr>
          <p:nvPr>
            <p:ph type="title"/>
          </p:nvPr>
        </p:nvSpPr>
        <p:spPr>
          <a:xfrm>
            <a:off x="838200" y="365125"/>
            <a:ext cx="10515600" cy="18351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9EC43A69-ADA7-4E32-884D-6C1D4846F234}"/>
              </a:ext>
            </a:extLst>
          </p:cNvPr>
          <p:cNvSpPr>
            <a:spLocks noGrp="1"/>
          </p:cNvSpPr>
          <p:nvPr>
            <p:ph idx="1"/>
          </p:nvPr>
        </p:nvSpPr>
        <p:spPr>
          <a:xfrm>
            <a:off x="838200" y="747423"/>
            <a:ext cx="10515600" cy="5429540"/>
          </a:xfrm>
        </p:spPr>
        <p:txBody>
          <a:bodyPr>
            <a:normAutofit fontScale="92500" lnSpcReduction="10000"/>
          </a:bodyPr>
          <a:lstStyle/>
          <a:p>
            <a:pPr marL="0" indent="0">
              <a:lnSpc>
                <a:spcPct val="150000"/>
              </a:lnSpc>
              <a:buNone/>
            </a:pPr>
            <a:r>
              <a:rPr lang="en-US" sz="3200" b="1" dirty="0"/>
              <a:t>f) Free radical theory by Harman 1956</a:t>
            </a:r>
            <a:r>
              <a:rPr lang="en-US" sz="3200" dirty="0"/>
              <a:t>: protective mechanisms to  free radicals decline with age. Due to force on poly-unsaturated fats in the cell, unstable free radicals are released and peri-</a:t>
            </a:r>
            <a:r>
              <a:rPr lang="en-US" sz="3200" dirty="0" err="1"/>
              <a:t>oxidised</a:t>
            </a:r>
            <a:r>
              <a:rPr lang="en-US" sz="3200" dirty="0"/>
              <a:t> resulting in destruction of cell structures. Vitamins E, C and serotonin (anti-oxidants) inhibit the production of free radicals and thus delay aging. With age when the free radical molecules attack other cells they damage the cell membranes leading to aging due to accumulated cell damage. Eventually this leads to organ failure</a:t>
            </a:r>
          </a:p>
        </p:txBody>
      </p:sp>
      <p:sp>
        <p:nvSpPr>
          <p:cNvPr id="4" name="Date Placeholder 3">
            <a:extLst>
              <a:ext uri="{FF2B5EF4-FFF2-40B4-BE49-F238E27FC236}">
                <a16:creationId xmlns:a16="http://schemas.microsoft.com/office/drawing/2014/main" xmlns="" id="{11E4B646-0B60-4364-9347-EC814EC6BBF3}"/>
              </a:ext>
            </a:extLst>
          </p:cNvPr>
          <p:cNvSpPr>
            <a:spLocks noGrp="1"/>
          </p:cNvSpPr>
          <p:nvPr>
            <p:ph type="dt" sz="half" idx="10"/>
          </p:nvPr>
        </p:nvSpPr>
        <p:spPr/>
        <p:txBody>
          <a:bodyPr/>
          <a:lstStyle/>
          <a:p>
            <a:fld id="{638F374E-B75E-4441-BB49-E75E7CF35923}" type="datetime1">
              <a:rPr lang="en-US" smtClean="0"/>
              <a:t>5/5/2022</a:t>
            </a:fld>
            <a:endParaRPr lang="en-US"/>
          </a:p>
        </p:txBody>
      </p:sp>
      <p:sp>
        <p:nvSpPr>
          <p:cNvPr id="5" name="Slide Number Placeholder 4">
            <a:extLst>
              <a:ext uri="{FF2B5EF4-FFF2-40B4-BE49-F238E27FC236}">
                <a16:creationId xmlns:a16="http://schemas.microsoft.com/office/drawing/2014/main" xmlns="" id="{5822A8B1-C2AD-4352-8A18-A00995DF52FA}"/>
              </a:ext>
            </a:extLst>
          </p:cNvPr>
          <p:cNvSpPr>
            <a:spLocks noGrp="1"/>
          </p:cNvSpPr>
          <p:nvPr>
            <p:ph type="sldNum" sz="quarter" idx="12"/>
          </p:nvPr>
        </p:nvSpPr>
        <p:spPr/>
        <p:txBody>
          <a:bodyPr/>
          <a:lstStyle/>
          <a:p>
            <a:fld id="{B92AFB71-4BE5-44E7-9108-3062C0C91BA0}" type="slidenum">
              <a:rPr lang="en-US" smtClean="0"/>
              <a:t>19</a:t>
            </a:fld>
            <a:endParaRPr lang="en-US"/>
          </a:p>
        </p:txBody>
      </p:sp>
    </p:spTree>
    <p:extLst>
      <p:ext uri="{BB962C8B-B14F-4D97-AF65-F5344CB8AC3E}">
        <p14:creationId xmlns:p14="http://schemas.microsoft.com/office/powerpoint/2010/main" val="661737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20C603-948F-4CC8-A29C-917403E55936}"/>
              </a:ext>
            </a:extLst>
          </p:cNvPr>
          <p:cNvSpPr>
            <a:spLocks noGrp="1"/>
          </p:cNvSpPr>
          <p:nvPr>
            <p:ph type="title"/>
          </p:nvPr>
        </p:nvSpPr>
        <p:spPr>
          <a:xfrm>
            <a:off x="838200" y="190832"/>
            <a:ext cx="10515600" cy="644056"/>
          </a:xfrm>
        </p:spPr>
        <p:txBody>
          <a:bodyPr>
            <a:normAutofit/>
          </a:bodyPr>
          <a:lstStyle/>
          <a:p>
            <a:pPr algn="ctr"/>
            <a:r>
              <a:rPr lang="en-US" sz="3200" b="1" dirty="0">
                <a:effectLst>
                  <a:outerShdw blurRad="38100" dist="38100" dir="2700000" algn="tl">
                    <a:srgbClr val="000000">
                      <a:alpha val="43137"/>
                    </a:srgbClr>
                  </a:outerShdw>
                </a:effectLst>
              </a:rPr>
              <a:t>2. Psychosocial theories of aging</a:t>
            </a:r>
            <a:endParaRPr lang="en-US" sz="3200" dirty="0"/>
          </a:p>
        </p:txBody>
      </p:sp>
      <p:sp>
        <p:nvSpPr>
          <p:cNvPr id="3" name="Content Placeholder 2">
            <a:extLst>
              <a:ext uri="{FF2B5EF4-FFF2-40B4-BE49-F238E27FC236}">
                <a16:creationId xmlns:a16="http://schemas.microsoft.com/office/drawing/2014/main" xmlns="" id="{7CB648B0-B664-4A95-8A5E-F23FABBE224F}"/>
              </a:ext>
            </a:extLst>
          </p:cNvPr>
          <p:cNvSpPr>
            <a:spLocks noGrp="1"/>
          </p:cNvSpPr>
          <p:nvPr>
            <p:ph idx="1"/>
          </p:nvPr>
        </p:nvSpPr>
        <p:spPr>
          <a:xfrm>
            <a:off x="838200" y="834888"/>
            <a:ext cx="10515600" cy="5342075"/>
          </a:xfrm>
        </p:spPr>
        <p:txBody>
          <a:bodyPr>
            <a:normAutofit fontScale="85000" lnSpcReduction="10000"/>
          </a:bodyPr>
          <a:lstStyle/>
          <a:p>
            <a:pPr marL="0" indent="0">
              <a:lnSpc>
                <a:spcPct val="150000"/>
              </a:lnSpc>
              <a:buNone/>
            </a:pPr>
            <a:r>
              <a:rPr lang="en-US" sz="3300" dirty="0"/>
              <a:t>These don’t explain why aging occurs but rather attempt to explain why older adults have different responses to the aging process.</a:t>
            </a:r>
          </a:p>
          <a:p>
            <a:pPr>
              <a:lnSpc>
                <a:spcPct val="150000"/>
              </a:lnSpc>
              <a:buNone/>
            </a:pPr>
            <a:r>
              <a:rPr lang="en-US" sz="3300" b="1" dirty="0"/>
              <a:t>a) Disengagement theory</a:t>
            </a:r>
            <a:r>
              <a:rPr lang="en-US" sz="3300" dirty="0"/>
              <a:t>: it explains why aging persons separate from mainstream of society. It proposes that older people are systematically separated or disengaged from society because they do not benefit society as a whole. It further says that elderly persons desire to withdraw from society as they age, so that the disengagement is of mutual benefit.</a:t>
            </a:r>
          </a:p>
          <a:p>
            <a:endParaRPr lang="en-US" dirty="0"/>
          </a:p>
        </p:txBody>
      </p:sp>
      <p:sp>
        <p:nvSpPr>
          <p:cNvPr id="4" name="Date Placeholder 3">
            <a:extLst>
              <a:ext uri="{FF2B5EF4-FFF2-40B4-BE49-F238E27FC236}">
                <a16:creationId xmlns:a16="http://schemas.microsoft.com/office/drawing/2014/main" xmlns="" id="{10212E6B-8E96-4001-8B91-315636362CEB}"/>
              </a:ext>
            </a:extLst>
          </p:cNvPr>
          <p:cNvSpPr>
            <a:spLocks noGrp="1"/>
          </p:cNvSpPr>
          <p:nvPr>
            <p:ph type="dt" sz="half" idx="10"/>
          </p:nvPr>
        </p:nvSpPr>
        <p:spPr/>
        <p:txBody>
          <a:bodyPr/>
          <a:lstStyle/>
          <a:p>
            <a:fld id="{6CDD51C4-2542-4FDB-86E7-FE65EB8658FB}" type="datetime1">
              <a:rPr lang="en-US" smtClean="0"/>
              <a:t>5/5/2022</a:t>
            </a:fld>
            <a:endParaRPr lang="en-US"/>
          </a:p>
        </p:txBody>
      </p:sp>
      <p:sp>
        <p:nvSpPr>
          <p:cNvPr id="5" name="Slide Number Placeholder 4">
            <a:extLst>
              <a:ext uri="{FF2B5EF4-FFF2-40B4-BE49-F238E27FC236}">
                <a16:creationId xmlns:a16="http://schemas.microsoft.com/office/drawing/2014/main" xmlns="" id="{3D4B3A03-92C4-4578-93CB-3751AE5301A6}"/>
              </a:ext>
            </a:extLst>
          </p:cNvPr>
          <p:cNvSpPr>
            <a:spLocks noGrp="1"/>
          </p:cNvSpPr>
          <p:nvPr>
            <p:ph type="sldNum" sz="quarter" idx="12"/>
          </p:nvPr>
        </p:nvSpPr>
        <p:spPr/>
        <p:txBody>
          <a:bodyPr/>
          <a:lstStyle/>
          <a:p>
            <a:fld id="{B92AFB71-4BE5-44E7-9108-3062C0C91BA0}" type="slidenum">
              <a:rPr lang="en-US" smtClean="0"/>
              <a:t>20</a:t>
            </a:fld>
            <a:endParaRPr lang="en-US"/>
          </a:p>
        </p:txBody>
      </p:sp>
    </p:spTree>
    <p:extLst>
      <p:ext uri="{BB962C8B-B14F-4D97-AF65-F5344CB8AC3E}">
        <p14:creationId xmlns:p14="http://schemas.microsoft.com/office/powerpoint/2010/main" val="1813813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EB13BF-3DF8-4D2D-85A6-DA0746071E74}"/>
              </a:ext>
            </a:extLst>
          </p:cNvPr>
          <p:cNvSpPr>
            <a:spLocks noGrp="1"/>
          </p:cNvSpPr>
          <p:nvPr>
            <p:ph type="title"/>
          </p:nvPr>
        </p:nvSpPr>
        <p:spPr>
          <a:xfrm>
            <a:off x="838200" y="365126"/>
            <a:ext cx="10515600" cy="127856"/>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59E853A-651F-4A60-9BED-D5A372510AE9}"/>
              </a:ext>
            </a:extLst>
          </p:cNvPr>
          <p:cNvSpPr>
            <a:spLocks noGrp="1"/>
          </p:cNvSpPr>
          <p:nvPr>
            <p:ph idx="1"/>
          </p:nvPr>
        </p:nvSpPr>
        <p:spPr>
          <a:xfrm>
            <a:off x="838200" y="667910"/>
            <a:ext cx="10515600" cy="5509053"/>
          </a:xfrm>
        </p:spPr>
        <p:txBody>
          <a:bodyPr/>
          <a:lstStyle/>
          <a:p>
            <a:pPr marL="0" indent="0">
              <a:lnSpc>
                <a:spcPct val="150000"/>
              </a:lnSpc>
              <a:buNone/>
            </a:pPr>
            <a:r>
              <a:rPr lang="en-US" sz="3200" b="1" dirty="0"/>
              <a:t>b) Activity theory</a:t>
            </a:r>
            <a:r>
              <a:rPr lang="en-US" sz="3200" dirty="0"/>
              <a:t>: it proposes that activity is necessary for successful aging. Active participation in both physical and mental activity helps in maintaining functioning into old age. Purposeful activities and interactions leads to improved self esteem and overall satisfaction with life even at an extended age.</a:t>
            </a:r>
          </a:p>
          <a:p>
            <a:endParaRPr lang="en-US" dirty="0"/>
          </a:p>
        </p:txBody>
      </p:sp>
      <p:sp>
        <p:nvSpPr>
          <p:cNvPr id="4" name="Date Placeholder 3">
            <a:extLst>
              <a:ext uri="{FF2B5EF4-FFF2-40B4-BE49-F238E27FC236}">
                <a16:creationId xmlns:a16="http://schemas.microsoft.com/office/drawing/2014/main" xmlns="" id="{AABFBDB9-E42C-452D-B703-4B9A3098BC16}"/>
              </a:ext>
            </a:extLst>
          </p:cNvPr>
          <p:cNvSpPr>
            <a:spLocks noGrp="1"/>
          </p:cNvSpPr>
          <p:nvPr>
            <p:ph type="dt" sz="half" idx="10"/>
          </p:nvPr>
        </p:nvSpPr>
        <p:spPr/>
        <p:txBody>
          <a:bodyPr/>
          <a:lstStyle/>
          <a:p>
            <a:fld id="{18680B7F-B64A-463D-A025-6A6A61F19FA9}" type="datetime1">
              <a:rPr lang="en-US" smtClean="0"/>
              <a:t>5/5/2022</a:t>
            </a:fld>
            <a:endParaRPr lang="en-US"/>
          </a:p>
        </p:txBody>
      </p:sp>
      <p:sp>
        <p:nvSpPr>
          <p:cNvPr id="5" name="Slide Number Placeholder 4">
            <a:extLst>
              <a:ext uri="{FF2B5EF4-FFF2-40B4-BE49-F238E27FC236}">
                <a16:creationId xmlns:a16="http://schemas.microsoft.com/office/drawing/2014/main" xmlns="" id="{714EA567-4AC1-4F6C-96C0-330BA4B4CCEB}"/>
              </a:ext>
            </a:extLst>
          </p:cNvPr>
          <p:cNvSpPr>
            <a:spLocks noGrp="1"/>
          </p:cNvSpPr>
          <p:nvPr>
            <p:ph type="sldNum" sz="quarter" idx="12"/>
          </p:nvPr>
        </p:nvSpPr>
        <p:spPr/>
        <p:txBody>
          <a:bodyPr/>
          <a:lstStyle/>
          <a:p>
            <a:fld id="{B92AFB71-4BE5-44E7-9108-3062C0C91BA0}" type="slidenum">
              <a:rPr lang="en-US" smtClean="0"/>
              <a:t>21</a:t>
            </a:fld>
            <a:endParaRPr lang="en-US"/>
          </a:p>
        </p:txBody>
      </p:sp>
    </p:spTree>
    <p:extLst>
      <p:ext uri="{BB962C8B-B14F-4D97-AF65-F5344CB8AC3E}">
        <p14:creationId xmlns:p14="http://schemas.microsoft.com/office/powerpoint/2010/main" val="3299088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A7D18D-4E0C-427F-A4E6-AEC96E03D259}"/>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9F3015FA-0DA8-4B7C-98A0-54040D72A729}"/>
              </a:ext>
            </a:extLst>
          </p:cNvPr>
          <p:cNvSpPr>
            <a:spLocks noGrp="1"/>
          </p:cNvSpPr>
          <p:nvPr>
            <p:ph idx="1"/>
          </p:nvPr>
        </p:nvSpPr>
        <p:spPr>
          <a:xfrm>
            <a:off x="838200" y="970059"/>
            <a:ext cx="10515600" cy="5206904"/>
          </a:xfrm>
        </p:spPr>
        <p:txBody>
          <a:bodyPr/>
          <a:lstStyle/>
          <a:p>
            <a:pPr marL="0" indent="0">
              <a:lnSpc>
                <a:spcPct val="150000"/>
              </a:lnSpc>
              <a:buNone/>
            </a:pPr>
            <a:r>
              <a:rPr lang="en-US" sz="3200" b="1" dirty="0"/>
              <a:t>c) Continuity theory</a:t>
            </a:r>
            <a:r>
              <a:rPr lang="en-US" sz="3200" dirty="0"/>
              <a:t>: it states that an individuals characteristic coping strategies are in place long before old age but personality features are also dynamic. Using this theory the best way to predict how a person will adjust to old  age is to examine how the person has adjusted to other changes in life.</a:t>
            </a:r>
          </a:p>
          <a:p>
            <a:endParaRPr lang="en-US" dirty="0"/>
          </a:p>
        </p:txBody>
      </p:sp>
      <p:sp>
        <p:nvSpPr>
          <p:cNvPr id="4" name="Date Placeholder 3">
            <a:extLst>
              <a:ext uri="{FF2B5EF4-FFF2-40B4-BE49-F238E27FC236}">
                <a16:creationId xmlns:a16="http://schemas.microsoft.com/office/drawing/2014/main" xmlns="" id="{26E6E4D0-72C9-4CAB-9120-1B2C907BA989}"/>
              </a:ext>
            </a:extLst>
          </p:cNvPr>
          <p:cNvSpPr>
            <a:spLocks noGrp="1"/>
          </p:cNvSpPr>
          <p:nvPr>
            <p:ph type="dt" sz="half" idx="10"/>
          </p:nvPr>
        </p:nvSpPr>
        <p:spPr/>
        <p:txBody>
          <a:bodyPr/>
          <a:lstStyle/>
          <a:p>
            <a:fld id="{9663A020-DD7C-45E6-9042-D1236F0F9940}" type="datetime1">
              <a:rPr lang="en-US" smtClean="0"/>
              <a:t>5/5/2022</a:t>
            </a:fld>
            <a:endParaRPr lang="en-US"/>
          </a:p>
        </p:txBody>
      </p:sp>
      <p:sp>
        <p:nvSpPr>
          <p:cNvPr id="5" name="Slide Number Placeholder 4">
            <a:extLst>
              <a:ext uri="{FF2B5EF4-FFF2-40B4-BE49-F238E27FC236}">
                <a16:creationId xmlns:a16="http://schemas.microsoft.com/office/drawing/2014/main" xmlns="" id="{DAFC173E-052A-4502-9B0B-0602548B3D17}"/>
              </a:ext>
            </a:extLst>
          </p:cNvPr>
          <p:cNvSpPr>
            <a:spLocks noGrp="1"/>
          </p:cNvSpPr>
          <p:nvPr>
            <p:ph type="sldNum" sz="quarter" idx="12"/>
          </p:nvPr>
        </p:nvSpPr>
        <p:spPr/>
        <p:txBody>
          <a:bodyPr/>
          <a:lstStyle/>
          <a:p>
            <a:fld id="{B92AFB71-4BE5-44E7-9108-3062C0C91BA0}" type="slidenum">
              <a:rPr lang="en-US" smtClean="0"/>
              <a:t>22</a:t>
            </a:fld>
            <a:endParaRPr lang="en-US"/>
          </a:p>
        </p:txBody>
      </p:sp>
    </p:spTree>
    <p:extLst>
      <p:ext uri="{BB962C8B-B14F-4D97-AF65-F5344CB8AC3E}">
        <p14:creationId xmlns:p14="http://schemas.microsoft.com/office/powerpoint/2010/main" val="2724152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FEB6AD-876A-459B-AFD6-A082065F0DCE}"/>
              </a:ext>
            </a:extLst>
          </p:cNvPr>
          <p:cNvSpPr>
            <a:spLocks noGrp="1"/>
          </p:cNvSpPr>
          <p:nvPr>
            <p:ph type="title"/>
          </p:nvPr>
        </p:nvSpPr>
        <p:spPr>
          <a:xfrm>
            <a:off x="838200" y="505473"/>
            <a:ext cx="10515600" cy="17556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00ED788A-9578-4B8C-A15C-98E59A334717}"/>
              </a:ext>
            </a:extLst>
          </p:cNvPr>
          <p:cNvSpPr>
            <a:spLocks noGrp="1"/>
          </p:cNvSpPr>
          <p:nvPr>
            <p:ph idx="1"/>
          </p:nvPr>
        </p:nvSpPr>
        <p:spPr>
          <a:xfrm>
            <a:off x="838200" y="954157"/>
            <a:ext cx="10515600" cy="5222806"/>
          </a:xfrm>
        </p:spPr>
        <p:txBody>
          <a:bodyPr/>
          <a:lstStyle/>
          <a:p>
            <a:pPr marL="0" indent="0">
              <a:lnSpc>
                <a:spcPct val="150000"/>
              </a:lnSpc>
              <a:buNone/>
            </a:pPr>
            <a:r>
              <a:rPr lang="en-US" sz="3200" b="1" dirty="0"/>
              <a:t>d) Sub-culture theory by Rose 1962 – 1965</a:t>
            </a:r>
            <a:r>
              <a:rPr lang="en-US" sz="3200" dirty="0"/>
              <a:t>: it states that old people as a group have their own norms, expectation, beliefs and habits therefore they form a sub-culture. They are less integrated to the society and more integrated among themselves. This serves in improving self image of older people and reduces cultural negative view of aging.</a:t>
            </a:r>
          </a:p>
          <a:p>
            <a:endParaRPr lang="en-US" dirty="0"/>
          </a:p>
        </p:txBody>
      </p:sp>
      <p:sp>
        <p:nvSpPr>
          <p:cNvPr id="4" name="Date Placeholder 3">
            <a:extLst>
              <a:ext uri="{FF2B5EF4-FFF2-40B4-BE49-F238E27FC236}">
                <a16:creationId xmlns:a16="http://schemas.microsoft.com/office/drawing/2014/main" xmlns="" id="{BEF58EBF-3BA8-45C6-B822-EBC99CEFA430}"/>
              </a:ext>
            </a:extLst>
          </p:cNvPr>
          <p:cNvSpPr>
            <a:spLocks noGrp="1"/>
          </p:cNvSpPr>
          <p:nvPr>
            <p:ph type="dt" sz="half" idx="10"/>
          </p:nvPr>
        </p:nvSpPr>
        <p:spPr/>
        <p:txBody>
          <a:bodyPr/>
          <a:lstStyle/>
          <a:p>
            <a:fld id="{EF88E131-E45C-4984-8887-D98A0F1C22F0}" type="datetime1">
              <a:rPr lang="en-US" smtClean="0"/>
              <a:t>5/5/2022</a:t>
            </a:fld>
            <a:endParaRPr lang="en-US"/>
          </a:p>
        </p:txBody>
      </p:sp>
      <p:sp>
        <p:nvSpPr>
          <p:cNvPr id="5" name="Slide Number Placeholder 4">
            <a:extLst>
              <a:ext uri="{FF2B5EF4-FFF2-40B4-BE49-F238E27FC236}">
                <a16:creationId xmlns:a16="http://schemas.microsoft.com/office/drawing/2014/main" xmlns="" id="{8D6BB25C-C132-4248-BE0F-1250ABBFDCCC}"/>
              </a:ext>
            </a:extLst>
          </p:cNvPr>
          <p:cNvSpPr>
            <a:spLocks noGrp="1"/>
          </p:cNvSpPr>
          <p:nvPr>
            <p:ph type="sldNum" sz="quarter" idx="12"/>
          </p:nvPr>
        </p:nvSpPr>
        <p:spPr/>
        <p:txBody>
          <a:bodyPr/>
          <a:lstStyle/>
          <a:p>
            <a:fld id="{B92AFB71-4BE5-44E7-9108-3062C0C91BA0}" type="slidenum">
              <a:rPr lang="en-US" smtClean="0"/>
              <a:t>23</a:t>
            </a:fld>
            <a:endParaRPr lang="en-US"/>
          </a:p>
        </p:txBody>
      </p:sp>
    </p:spTree>
    <p:extLst>
      <p:ext uri="{BB962C8B-B14F-4D97-AF65-F5344CB8AC3E}">
        <p14:creationId xmlns:p14="http://schemas.microsoft.com/office/powerpoint/2010/main" val="1807183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7416FB-155E-4046-83A6-987CA5869295}"/>
              </a:ext>
            </a:extLst>
          </p:cNvPr>
          <p:cNvSpPr>
            <a:spLocks noGrp="1"/>
          </p:cNvSpPr>
          <p:nvPr>
            <p:ph type="title"/>
          </p:nvPr>
        </p:nvSpPr>
        <p:spPr>
          <a:xfrm>
            <a:off x="838200" y="159026"/>
            <a:ext cx="10515600" cy="7951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78989D20-F2FB-4FFC-9D0E-547D1EC55897}"/>
              </a:ext>
            </a:extLst>
          </p:cNvPr>
          <p:cNvSpPr>
            <a:spLocks noGrp="1"/>
          </p:cNvSpPr>
          <p:nvPr>
            <p:ph idx="1"/>
          </p:nvPr>
        </p:nvSpPr>
        <p:spPr>
          <a:xfrm>
            <a:off x="838200" y="349857"/>
            <a:ext cx="10515600" cy="5827106"/>
          </a:xfrm>
        </p:spPr>
        <p:txBody>
          <a:bodyPr>
            <a:normAutofit fontScale="92500"/>
          </a:bodyPr>
          <a:lstStyle/>
          <a:p>
            <a:pPr>
              <a:lnSpc>
                <a:spcPct val="150000"/>
              </a:lnSpc>
              <a:buNone/>
            </a:pPr>
            <a:r>
              <a:rPr lang="en-US" b="1" dirty="0"/>
              <a:t>e) Age stratification theory</a:t>
            </a:r>
            <a:r>
              <a:rPr lang="en-US" dirty="0"/>
              <a:t>: its based on beliefs that:-</a:t>
            </a:r>
          </a:p>
          <a:p>
            <a:pPr lvl="1">
              <a:lnSpc>
                <a:spcPct val="150000"/>
              </a:lnSpc>
            </a:pPr>
            <a:r>
              <a:rPr lang="en-US" sz="2800" dirty="0"/>
              <a:t>Individuals pass through the society in cohort of age, social, biological and psychological.</a:t>
            </a:r>
          </a:p>
          <a:p>
            <a:pPr lvl="1">
              <a:lnSpc>
                <a:spcPct val="150000"/>
              </a:lnSpc>
            </a:pPr>
            <a:r>
              <a:rPr lang="en-US" sz="2800" dirty="0"/>
              <a:t>New cohorts are continuously being born with unique sense of history.</a:t>
            </a:r>
          </a:p>
          <a:p>
            <a:pPr lvl="1">
              <a:lnSpc>
                <a:spcPct val="150000"/>
              </a:lnSpc>
            </a:pPr>
            <a:r>
              <a:rPr lang="en-US" sz="2800" dirty="0"/>
              <a:t>Society itself is continuously changing as are the people and their roles in each strata.</a:t>
            </a:r>
          </a:p>
          <a:p>
            <a:pPr lvl="1">
              <a:lnSpc>
                <a:spcPct val="150000"/>
              </a:lnSpc>
            </a:pPr>
            <a:r>
              <a:rPr lang="en-US" sz="2800" dirty="0"/>
              <a:t>Society can be divided into various strata according to roles and age.</a:t>
            </a:r>
          </a:p>
          <a:p>
            <a:pPr lvl="1">
              <a:lnSpc>
                <a:spcPct val="150000"/>
              </a:lnSpc>
            </a:pPr>
            <a:r>
              <a:rPr lang="en-US" sz="2800" dirty="0"/>
              <a:t>There is a dynamic interplay between individual aging and change.</a:t>
            </a:r>
          </a:p>
          <a:p>
            <a:endParaRPr lang="en-US" dirty="0"/>
          </a:p>
        </p:txBody>
      </p:sp>
      <p:sp>
        <p:nvSpPr>
          <p:cNvPr id="4" name="Date Placeholder 3">
            <a:extLst>
              <a:ext uri="{FF2B5EF4-FFF2-40B4-BE49-F238E27FC236}">
                <a16:creationId xmlns:a16="http://schemas.microsoft.com/office/drawing/2014/main" xmlns="" id="{E96780CC-58C6-47B8-831C-54EEDDD6320C}"/>
              </a:ext>
            </a:extLst>
          </p:cNvPr>
          <p:cNvSpPr>
            <a:spLocks noGrp="1"/>
          </p:cNvSpPr>
          <p:nvPr>
            <p:ph type="dt" sz="half" idx="10"/>
          </p:nvPr>
        </p:nvSpPr>
        <p:spPr/>
        <p:txBody>
          <a:bodyPr/>
          <a:lstStyle/>
          <a:p>
            <a:fld id="{1A029C17-E587-4878-9199-405D3A9780A5}" type="datetime1">
              <a:rPr lang="en-US" smtClean="0"/>
              <a:t>5/5/2022</a:t>
            </a:fld>
            <a:endParaRPr lang="en-US"/>
          </a:p>
        </p:txBody>
      </p:sp>
      <p:sp>
        <p:nvSpPr>
          <p:cNvPr id="5" name="Slide Number Placeholder 4">
            <a:extLst>
              <a:ext uri="{FF2B5EF4-FFF2-40B4-BE49-F238E27FC236}">
                <a16:creationId xmlns:a16="http://schemas.microsoft.com/office/drawing/2014/main" xmlns="" id="{D1194B93-56A3-45F4-A9A9-1CBF97EFD559}"/>
              </a:ext>
            </a:extLst>
          </p:cNvPr>
          <p:cNvSpPr>
            <a:spLocks noGrp="1"/>
          </p:cNvSpPr>
          <p:nvPr>
            <p:ph type="sldNum" sz="quarter" idx="12"/>
          </p:nvPr>
        </p:nvSpPr>
        <p:spPr/>
        <p:txBody>
          <a:bodyPr/>
          <a:lstStyle/>
          <a:p>
            <a:fld id="{B92AFB71-4BE5-44E7-9108-3062C0C91BA0}" type="slidenum">
              <a:rPr lang="en-US" smtClean="0"/>
              <a:t>24</a:t>
            </a:fld>
            <a:endParaRPr lang="en-US"/>
          </a:p>
        </p:txBody>
      </p:sp>
    </p:spTree>
    <p:extLst>
      <p:ext uri="{BB962C8B-B14F-4D97-AF65-F5344CB8AC3E}">
        <p14:creationId xmlns:p14="http://schemas.microsoft.com/office/powerpoint/2010/main" val="2103716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539BE7-8082-4F60-BDBF-00352BCAF521}"/>
              </a:ext>
            </a:extLst>
          </p:cNvPr>
          <p:cNvSpPr>
            <a:spLocks noGrp="1"/>
          </p:cNvSpPr>
          <p:nvPr>
            <p:ph type="title"/>
          </p:nvPr>
        </p:nvSpPr>
        <p:spPr>
          <a:xfrm>
            <a:off x="838200" y="71562"/>
            <a:ext cx="10515600" cy="21468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61985883-55D2-4EC5-821F-AD3482B974D5}"/>
              </a:ext>
            </a:extLst>
          </p:cNvPr>
          <p:cNvSpPr>
            <a:spLocks noGrp="1"/>
          </p:cNvSpPr>
          <p:nvPr>
            <p:ph idx="1"/>
          </p:nvPr>
        </p:nvSpPr>
        <p:spPr>
          <a:xfrm>
            <a:off x="838200" y="469127"/>
            <a:ext cx="10515600" cy="5707836"/>
          </a:xfrm>
        </p:spPr>
        <p:txBody>
          <a:bodyPr>
            <a:normAutofit lnSpcReduction="10000"/>
          </a:bodyPr>
          <a:lstStyle/>
          <a:p>
            <a:pPr>
              <a:lnSpc>
                <a:spcPct val="150000"/>
              </a:lnSpc>
              <a:buNone/>
            </a:pPr>
            <a:r>
              <a:rPr lang="en-US" b="1" dirty="0"/>
              <a:t>f) Personal environment fit theory by Lawton 1985</a:t>
            </a:r>
            <a:r>
              <a:rPr lang="en-US" dirty="0"/>
              <a:t>: it states that aging is as a result of interrelationship between personal competence and environment which is a potential for eliciting behavior from individuals towards and includes:-</a:t>
            </a:r>
          </a:p>
          <a:p>
            <a:pPr lvl="1">
              <a:lnSpc>
                <a:spcPct val="150000"/>
              </a:lnSpc>
            </a:pPr>
            <a:r>
              <a:rPr lang="en-US" dirty="0"/>
              <a:t>Ego strength</a:t>
            </a:r>
          </a:p>
          <a:p>
            <a:pPr lvl="1">
              <a:lnSpc>
                <a:spcPct val="150000"/>
              </a:lnSpc>
            </a:pPr>
            <a:r>
              <a:rPr lang="en-US" dirty="0"/>
              <a:t>Motor skills</a:t>
            </a:r>
          </a:p>
          <a:p>
            <a:pPr lvl="1">
              <a:lnSpc>
                <a:spcPct val="150000"/>
              </a:lnSpc>
            </a:pPr>
            <a:r>
              <a:rPr lang="en-US" dirty="0"/>
              <a:t>Biological health</a:t>
            </a:r>
          </a:p>
          <a:p>
            <a:pPr lvl="1">
              <a:lnSpc>
                <a:spcPct val="150000"/>
              </a:lnSpc>
            </a:pPr>
            <a:r>
              <a:rPr lang="en-US" dirty="0"/>
              <a:t>Cognitive capacity</a:t>
            </a:r>
          </a:p>
          <a:p>
            <a:pPr lvl="1">
              <a:lnSpc>
                <a:spcPct val="150000"/>
              </a:lnSpc>
            </a:pPr>
            <a:r>
              <a:rPr lang="en-US" dirty="0"/>
              <a:t>Sensory perception</a:t>
            </a:r>
          </a:p>
          <a:p>
            <a:endParaRPr lang="en-US" dirty="0"/>
          </a:p>
        </p:txBody>
      </p:sp>
      <p:sp>
        <p:nvSpPr>
          <p:cNvPr id="4" name="Date Placeholder 3">
            <a:extLst>
              <a:ext uri="{FF2B5EF4-FFF2-40B4-BE49-F238E27FC236}">
                <a16:creationId xmlns:a16="http://schemas.microsoft.com/office/drawing/2014/main" xmlns="" id="{96BBCAAC-6032-43B3-AB54-39DF2769D9FE}"/>
              </a:ext>
            </a:extLst>
          </p:cNvPr>
          <p:cNvSpPr>
            <a:spLocks noGrp="1"/>
          </p:cNvSpPr>
          <p:nvPr>
            <p:ph type="dt" sz="half" idx="10"/>
          </p:nvPr>
        </p:nvSpPr>
        <p:spPr/>
        <p:txBody>
          <a:bodyPr/>
          <a:lstStyle/>
          <a:p>
            <a:fld id="{9F1D2041-87C6-404F-937B-1877A8C3E5EF}" type="datetime1">
              <a:rPr lang="en-US" smtClean="0"/>
              <a:t>5/5/2022</a:t>
            </a:fld>
            <a:endParaRPr lang="en-US"/>
          </a:p>
        </p:txBody>
      </p:sp>
      <p:sp>
        <p:nvSpPr>
          <p:cNvPr id="5" name="Slide Number Placeholder 4">
            <a:extLst>
              <a:ext uri="{FF2B5EF4-FFF2-40B4-BE49-F238E27FC236}">
                <a16:creationId xmlns:a16="http://schemas.microsoft.com/office/drawing/2014/main" xmlns="" id="{DED58BCD-C54E-4432-859C-816ABA2E6C8B}"/>
              </a:ext>
            </a:extLst>
          </p:cNvPr>
          <p:cNvSpPr>
            <a:spLocks noGrp="1"/>
          </p:cNvSpPr>
          <p:nvPr>
            <p:ph type="sldNum" sz="quarter" idx="12"/>
          </p:nvPr>
        </p:nvSpPr>
        <p:spPr/>
        <p:txBody>
          <a:bodyPr/>
          <a:lstStyle/>
          <a:p>
            <a:fld id="{B92AFB71-4BE5-44E7-9108-3062C0C91BA0}" type="slidenum">
              <a:rPr lang="en-US" smtClean="0"/>
              <a:t>25</a:t>
            </a:fld>
            <a:endParaRPr lang="en-US"/>
          </a:p>
        </p:txBody>
      </p:sp>
    </p:spTree>
    <p:extLst>
      <p:ext uri="{BB962C8B-B14F-4D97-AF65-F5344CB8AC3E}">
        <p14:creationId xmlns:p14="http://schemas.microsoft.com/office/powerpoint/2010/main" val="3927089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9458" name="Picture 2" descr="http://upload.wikimedia.org/wikipedia/commons/thumb/e/ee/Habibaadansalat.jpg/220px-Habibaadansalat.jpg">
            <a:hlinkClick r:id="rId2"/>
          </p:cNvPr>
          <p:cNvPicPr>
            <a:picLocks noGrp="1" noChangeAspect="1" noChangeArrowheads="1"/>
          </p:cNvPicPr>
          <p:nvPr>
            <p:ph type="pic" idx="1"/>
          </p:nvPr>
        </p:nvPicPr>
        <p:blipFill>
          <a:blip r:embed="rId3" cstate="print"/>
          <a:srcRect t="3652" b="3652"/>
          <a:stretch>
            <a:fillRect/>
          </a:stretch>
        </p:blipFill>
        <p:spPr bwMode="auto">
          <a:xfrm>
            <a:off x="1905000" y="228600"/>
            <a:ext cx="8153400" cy="6248400"/>
          </a:xfrm>
          <a:prstGeom prst="rect">
            <a:avLst/>
          </a:prstGeom>
          <a:noFill/>
        </p:spPr>
      </p:pic>
      <p:sp>
        <p:nvSpPr>
          <p:cNvPr id="4" name="Text Placeholder 3"/>
          <p:cNvSpPr>
            <a:spLocks noGrp="1"/>
          </p:cNvSpPr>
          <p:nvPr>
            <p:ph type="body" sz="half" idx="2"/>
          </p:nvPr>
        </p:nvSpPr>
        <p:spPr/>
        <p:txBody>
          <a:bodyPr/>
          <a:lstStyle/>
          <a:p>
            <a:endParaRPr lang="en-US" dirty="0"/>
          </a:p>
        </p:txBody>
      </p:sp>
      <p:sp>
        <p:nvSpPr>
          <p:cNvPr id="5" name="Slide Number Placeholder 4"/>
          <p:cNvSpPr>
            <a:spLocks noGrp="1"/>
          </p:cNvSpPr>
          <p:nvPr>
            <p:ph type="sldNum" sz="quarter" idx="12"/>
          </p:nvPr>
        </p:nvSpPr>
        <p:spPr/>
        <p:txBody>
          <a:bodyPr/>
          <a:lstStyle/>
          <a:p>
            <a:fld id="{4398566B-0D00-4087-9124-BE3A6B87F876}" type="slidenum">
              <a:rPr lang="en-US" smtClean="0"/>
              <a:pPr/>
              <a:t>26</a:t>
            </a:fld>
            <a:endParaRPr lang="en-US" dirty="0"/>
          </a:p>
        </p:txBody>
      </p:sp>
      <p:sp>
        <p:nvSpPr>
          <p:cNvPr id="3" name="Date Placeholder 2">
            <a:extLst>
              <a:ext uri="{FF2B5EF4-FFF2-40B4-BE49-F238E27FC236}">
                <a16:creationId xmlns:a16="http://schemas.microsoft.com/office/drawing/2014/main" xmlns="" id="{E8F997D5-2058-455A-9D13-70939DFD87FE}"/>
              </a:ext>
            </a:extLst>
          </p:cNvPr>
          <p:cNvSpPr>
            <a:spLocks noGrp="1"/>
          </p:cNvSpPr>
          <p:nvPr>
            <p:ph type="dt" sz="half" idx="10"/>
          </p:nvPr>
        </p:nvSpPr>
        <p:spPr/>
        <p:txBody>
          <a:bodyPr/>
          <a:lstStyle/>
          <a:p>
            <a:fld id="{8094C34B-851E-42F1-B381-6BDF133AFE34}" type="datetime1">
              <a:rPr lang="en-US" smtClean="0"/>
              <a:t>5/5/2022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97E137-F84A-4339-9376-07488986F6E9}"/>
              </a:ext>
            </a:extLst>
          </p:cNvPr>
          <p:cNvSpPr>
            <a:spLocks noGrp="1"/>
          </p:cNvSpPr>
          <p:nvPr>
            <p:ph type="title"/>
          </p:nvPr>
        </p:nvSpPr>
        <p:spPr>
          <a:xfrm>
            <a:off x="838200" y="365125"/>
            <a:ext cx="10515600" cy="851425"/>
          </a:xfrm>
        </p:spPr>
        <p:txBody>
          <a:bodyPr>
            <a:normAutofit fontScale="90000"/>
          </a:bodyPr>
          <a:lstStyle/>
          <a:p>
            <a:pPr algn="ctr"/>
            <a:r>
              <a:rPr lang="en-US" b="1" i="1" dirty="0"/>
              <a:t/>
            </a:r>
            <a:br>
              <a:rPr lang="en-US" b="1" i="1" dirty="0"/>
            </a:br>
            <a:r>
              <a:rPr lang="en-US" sz="3600" b="1" i="1" dirty="0"/>
              <a:t>Stages of old age</a:t>
            </a:r>
            <a:r>
              <a:rPr lang="en-US" b="1" i="1" dirty="0"/>
              <a:t/>
            </a:r>
            <a:br>
              <a:rPr lang="en-US" b="1" i="1" dirty="0"/>
            </a:br>
            <a:endParaRPr lang="en-US" dirty="0"/>
          </a:p>
        </p:txBody>
      </p:sp>
      <p:sp>
        <p:nvSpPr>
          <p:cNvPr id="3" name="Content Placeholder 2">
            <a:extLst>
              <a:ext uri="{FF2B5EF4-FFF2-40B4-BE49-F238E27FC236}">
                <a16:creationId xmlns:a16="http://schemas.microsoft.com/office/drawing/2014/main" xmlns="" id="{BE78B602-86B7-4903-B547-4A8E8B0B4F52}"/>
              </a:ext>
            </a:extLst>
          </p:cNvPr>
          <p:cNvSpPr>
            <a:spLocks noGrp="1"/>
          </p:cNvSpPr>
          <p:nvPr>
            <p:ph idx="1"/>
          </p:nvPr>
        </p:nvSpPr>
        <p:spPr>
          <a:xfrm>
            <a:off x="838200" y="1137037"/>
            <a:ext cx="10515600" cy="5039926"/>
          </a:xfrm>
        </p:spPr>
        <p:txBody>
          <a:bodyPr>
            <a:normAutofit/>
          </a:bodyPr>
          <a:lstStyle/>
          <a:p>
            <a:pPr marL="0" indent="0">
              <a:lnSpc>
                <a:spcPct val="150000"/>
              </a:lnSpc>
              <a:buNone/>
            </a:pPr>
            <a:r>
              <a:rPr lang="en-US" sz="3200" b="1" dirty="0"/>
              <a:t>Stage 1: 55 to 65 years: </a:t>
            </a:r>
            <a:r>
              <a:rPr lang="en-US" sz="3200" dirty="0"/>
              <a:t>late adulthood which is a culmination point for most middle class adults. Responsibilities are more or less stable up to the time of retirement. Financial pressures have eased. Late adulthood is refereed to as the “ stage of the empty nest”. Children have left home or are leaving. It is time to prepare for retirement and post-retirement life.</a:t>
            </a:r>
          </a:p>
          <a:p>
            <a:endParaRPr lang="en-US" dirty="0"/>
          </a:p>
        </p:txBody>
      </p:sp>
      <p:sp>
        <p:nvSpPr>
          <p:cNvPr id="4" name="Date Placeholder 3">
            <a:extLst>
              <a:ext uri="{FF2B5EF4-FFF2-40B4-BE49-F238E27FC236}">
                <a16:creationId xmlns:a16="http://schemas.microsoft.com/office/drawing/2014/main" xmlns="" id="{9B873AF0-398E-4D65-AF2A-69AAD453E35C}"/>
              </a:ext>
            </a:extLst>
          </p:cNvPr>
          <p:cNvSpPr>
            <a:spLocks noGrp="1"/>
          </p:cNvSpPr>
          <p:nvPr>
            <p:ph type="dt" sz="half" idx="10"/>
          </p:nvPr>
        </p:nvSpPr>
        <p:spPr/>
        <p:txBody>
          <a:bodyPr/>
          <a:lstStyle/>
          <a:p>
            <a:fld id="{C7B6EA0D-98A2-4892-81BA-644DCFFC727B}" type="datetime1">
              <a:rPr lang="en-US" smtClean="0"/>
              <a:t>5/5/2022</a:t>
            </a:fld>
            <a:endParaRPr lang="en-US"/>
          </a:p>
        </p:txBody>
      </p:sp>
      <p:sp>
        <p:nvSpPr>
          <p:cNvPr id="5" name="Slide Number Placeholder 4">
            <a:extLst>
              <a:ext uri="{FF2B5EF4-FFF2-40B4-BE49-F238E27FC236}">
                <a16:creationId xmlns:a16="http://schemas.microsoft.com/office/drawing/2014/main" xmlns="" id="{4ED49CF0-5477-48E6-8F3D-E923D9A71F8B}"/>
              </a:ext>
            </a:extLst>
          </p:cNvPr>
          <p:cNvSpPr>
            <a:spLocks noGrp="1"/>
          </p:cNvSpPr>
          <p:nvPr>
            <p:ph type="sldNum" sz="quarter" idx="12"/>
          </p:nvPr>
        </p:nvSpPr>
        <p:spPr/>
        <p:txBody>
          <a:bodyPr/>
          <a:lstStyle/>
          <a:p>
            <a:fld id="{B92AFB71-4BE5-44E7-9108-3062C0C91BA0}" type="slidenum">
              <a:rPr lang="en-US" smtClean="0"/>
              <a:t>27</a:t>
            </a:fld>
            <a:endParaRPr lang="en-US"/>
          </a:p>
        </p:txBody>
      </p:sp>
    </p:spTree>
    <p:extLst>
      <p:ext uri="{BB962C8B-B14F-4D97-AF65-F5344CB8AC3E}">
        <p14:creationId xmlns:p14="http://schemas.microsoft.com/office/powerpoint/2010/main" val="2960178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BC04A8-E257-4FBF-937C-841FFA00135E}"/>
              </a:ext>
            </a:extLst>
          </p:cNvPr>
          <p:cNvSpPr>
            <a:spLocks noGrp="1"/>
          </p:cNvSpPr>
          <p:nvPr>
            <p:ph type="title"/>
          </p:nvPr>
        </p:nvSpPr>
        <p:spPr>
          <a:xfrm>
            <a:off x="838200" y="103368"/>
            <a:ext cx="10515600" cy="278296"/>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0BD44FC8-6E77-42F4-8836-183AC9403379}"/>
              </a:ext>
            </a:extLst>
          </p:cNvPr>
          <p:cNvSpPr>
            <a:spLocks noGrp="1"/>
          </p:cNvSpPr>
          <p:nvPr>
            <p:ph idx="1"/>
          </p:nvPr>
        </p:nvSpPr>
        <p:spPr>
          <a:xfrm>
            <a:off x="838200" y="731520"/>
            <a:ext cx="10515600" cy="5445443"/>
          </a:xfrm>
        </p:spPr>
        <p:txBody>
          <a:bodyPr>
            <a:normAutofit fontScale="85000" lnSpcReduction="10000"/>
          </a:bodyPr>
          <a:lstStyle/>
          <a:p>
            <a:pPr marL="0" indent="0">
              <a:lnSpc>
                <a:spcPct val="150000"/>
              </a:lnSpc>
              <a:buNone/>
            </a:pPr>
            <a:r>
              <a:rPr lang="en-US" sz="3200" b="1" dirty="0"/>
              <a:t>Stage II: 65 to 74 years; </a:t>
            </a:r>
            <a:r>
              <a:rPr lang="en-US" sz="3200" dirty="0"/>
              <a:t>This is the retirement age for most people in the western world. Income drops to half what they used to earn. More health problems and chronic illness. Death is a more frequent visitor. Decade when many women loose their spouses. Friends are lost either due to death or migration to rural areas.</a:t>
            </a:r>
          </a:p>
          <a:p>
            <a:pPr marL="0" indent="0">
              <a:lnSpc>
                <a:spcPct val="150000"/>
              </a:lnSpc>
              <a:buNone/>
            </a:pPr>
            <a:r>
              <a:rPr lang="en-US" sz="3200" dirty="0"/>
              <a:t>It is not easy for old people to make friends. Many older people are unable to care for themselves despite preparation and financial security made earlier. This is mainly due to more health problems thus becoming dependent on the state or their relatives.</a:t>
            </a:r>
          </a:p>
          <a:p>
            <a:pPr marL="0" indent="0">
              <a:lnSpc>
                <a:spcPct val="150000"/>
              </a:lnSpc>
              <a:buNone/>
            </a:pPr>
            <a:endParaRPr lang="en-US" sz="3200" dirty="0"/>
          </a:p>
          <a:p>
            <a:endParaRPr lang="en-US" dirty="0"/>
          </a:p>
        </p:txBody>
      </p:sp>
      <p:sp>
        <p:nvSpPr>
          <p:cNvPr id="4" name="Date Placeholder 3">
            <a:extLst>
              <a:ext uri="{FF2B5EF4-FFF2-40B4-BE49-F238E27FC236}">
                <a16:creationId xmlns:a16="http://schemas.microsoft.com/office/drawing/2014/main" xmlns="" id="{7BFD8D38-ABD3-45E4-B9F7-21DEFA5B5D71}"/>
              </a:ext>
            </a:extLst>
          </p:cNvPr>
          <p:cNvSpPr>
            <a:spLocks noGrp="1"/>
          </p:cNvSpPr>
          <p:nvPr>
            <p:ph type="dt" sz="half" idx="10"/>
          </p:nvPr>
        </p:nvSpPr>
        <p:spPr/>
        <p:txBody>
          <a:bodyPr/>
          <a:lstStyle/>
          <a:p>
            <a:fld id="{D8F0EB78-6F30-4E4E-88FC-BB6EC0808635}" type="datetime1">
              <a:rPr lang="en-US" smtClean="0"/>
              <a:t>5/5/2022</a:t>
            </a:fld>
            <a:endParaRPr lang="en-US"/>
          </a:p>
        </p:txBody>
      </p:sp>
      <p:sp>
        <p:nvSpPr>
          <p:cNvPr id="5" name="Slide Number Placeholder 4">
            <a:extLst>
              <a:ext uri="{FF2B5EF4-FFF2-40B4-BE49-F238E27FC236}">
                <a16:creationId xmlns:a16="http://schemas.microsoft.com/office/drawing/2014/main" xmlns="" id="{5A7D3A8D-B8EF-448F-98C5-84ACB63D5BE5}"/>
              </a:ext>
            </a:extLst>
          </p:cNvPr>
          <p:cNvSpPr>
            <a:spLocks noGrp="1"/>
          </p:cNvSpPr>
          <p:nvPr>
            <p:ph type="sldNum" sz="quarter" idx="12"/>
          </p:nvPr>
        </p:nvSpPr>
        <p:spPr/>
        <p:txBody>
          <a:bodyPr/>
          <a:lstStyle/>
          <a:p>
            <a:fld id="{B92AFB71-4BE5-44E7-9108-3062C0C91BA0}" type="slidenum">
              <a:rPr lang="en-US" smtClean="0"/>
              <a:t>28</a:t>
            </a:fld>
            <a:endParaRPr lang="en-US"/>
          </a:p>
        </p:txBody>
      </p:sp>
    </p:spTree>
    <p:extLst>
      <p:ext uri="{BB962C8B-B14F-4D97-AF65-F5344CB8AC3E}">
        <p14:creationId xmlns:p14="http://schemas.microsoft.com/office/powerpoint/2010/main" val="2509234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111DB8-23F3-43B5-A826-5A8B4BEB2ED0}"/>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50A90C5-2A2E-4748-A634-9AD84F6D4BE0}"/>
              </a:ext>
            </a:extLst>
          </p:cNvPr>
          <p:cNvSpPr>
            <a:spLocks noGrp="1"/>
          </p:cNvSpPr>
          <p:nvPr>
            <p:ph idx="1"/>
          </p:nvPr>
        </p:nvSpPr>
        <p:spPr>
          <a:xfrm>
            <a:off x="838200" y="1224501"/>
            <a:ext cx="10515600" cy="4952462"/>
          </a:xfrm>
        </p:spPr>
        <p:txBody>
          <a:bodyPr/>
          <a:lstStyle/>
          <a:p>
            <a:pPr marL="0" indent="0">
              <a:lnSpc>
                <a:spcPct val="150000"/>
              </a:lnSpc>
              <a:buNone/>
            </a:pPr>
            <a:r>
              <a:rPr lang="en-US" sz="3200" b="1" dirty="0"/>
              <a:t>Stage III: 75 years and over; </a:t>
            </a:r>
            <a:r>
              <a:rPr lang="en-US" sz="3200" dirty="0"/>
              <a:t>this is the stage of dependency. The old person experiences infirmities and chronic conditions. Signs of aging are more evident and the scope of life is more focused. The person focuses on a few significant relationships. The person comes to term with his own death.</a:t>
            </a:r>
          </a:p>
          <a:p>
            <a:endParaRPr lang="en-US" dirty="0"/>
          </a:p>
        </p:txBody>
      </p:sp>
      <p:sp>
        <p:nvSpPr>
          <p:cNvPr id="4" name="Date Placeholder 3">
            <a:extLst>
              <a:ext uri="{FF2B5EF4-FFF2-40B4-BE49-F238E27FC236}">
                <a16:creationId xmlns:a16="http://schemas.microsoft.com/office/drawing/2014/main" xmlns="" id="{E580253C-66EF-41EF-A43A-BA8E73F1A55E}"/>
              </a:ext>
            </a:extLst>
          </p:cNvPr>
          <p:cNvSpPr>
            <a:spLocks noGrp="1"/>
          </p:cNvSpPr>
          <p:nvPr>
            <p:ph type="dt" sz="half" idx="10"/>
          </p:nvPr>
        </p:nvSpPr>
        <p:spPr/>
        <p:txBody>
          <a:bodyPr/>
          <a:lstStyle/>
          <a:p>
            <a:fld id="{E5D8606A-9B19-4031-B04E-6EA0E105D36F}" type="datetime1">
              <a:rPr lang="en-US" smtClean="0"/>
              <a:t>5/5/2022</a:t>
            </a:fld>
            <a:endParaRPr lang="en-US"/>
          </a:p>
        </p:txBody>
      </p:sp>
      <p:sp>
        <p:nvSpPr>
          <p:cNvPr id="5" name="Slide Number Placeholder 4">
            <a:extLst>
              <a:ext uri="{FF2B5EF4-FFF2-40B4-BE49-F238E27FC236}">
                <a16:creationId xmlns:a16="http://schemas.microsoft.com/office/drawing/2014/main" xmlns="" id="{9C620B7F-B83A-497C-B88E-0B8F9A452263}"/>
              </a:ext>
            </a:extLst>
          </p:cNvPr>
          <p:cNvSpPr>
            <a:spLocks noGrp="1"/>
          </p:cNvSpPr>
          <p:nvPr>
            <p:ph type="sldNum" sz="quarter" idx="12"/>
          </p:nvPr>
        </p:nvSpPr>
        <p:spPr/>
        <p:txBody>
          <a:bodyPr/>
          <a:lstStyle/>
          <a:p>
            <a:fld id="{B92AFB71-4BE5-44E7-9108-3062C0C91BA0}" type="slidenum">
              <a:rPr lang="en-US" smtClean="0"/>
              <a:t>29</a:t>
            </a:fld>
            <a:endParaRPr lang="en-US"/>
          </a:p>
        </p:txBody>
      </p:sp>
    </p:spTree>
    <p:extLst>
      <p:ext uri="{BB962C8B-B14F-4D97-AF65-F5344CB8AC3E}">
        <p14:creationId xmlns:p14="http://schemas.microsoft.com/office/powerpoint/2010/main" val="3605888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459686-3C85-49FE-A898-5CFD5A7CB545}"/>
              </a:ext>
            </a:extLst>
          </p:cNvPr>
          <p:cNvSpPr>
            <a:spLocks noGrp="1"/>
          </p:cNvSpPr>
          <p:nvPr>
            <p:ph type="title"/>
          </p:nvPr>
        </p:nvSpPr>
        <p:spPr>
          <a:xfrm>
            <a:off x="838200" y="365126"/>
            <a:ext cx="10515600" cy="652642"/>
          </a:xfrm>
        </p:spPr>
        <p:txBody>
          <a:bodyPr>
            <a:normAutofit/>
          </a:bodyPr>
          <a:lstStyle/>
          <a:p>
            <a:pPr algn="ctr"/>
            <a:r>
              <a:rPr lang="en-US" sz="3200" b="1" dirty="0">
                <a:effectLst>
                  <a:outerShdw blurRad="38100" dist="38100" dir="2700000" algn="tl">
                    <a:srgbClr val="000000">
                      <a:alpha val="43137"/>
                    </a:srgbClr>
                  </a:outerShdw>
                </a:effectLst>
              </a:rPr>
              <a:t>Tasks for old people</a:t>
            </a:r>
            <a:endParaRPr lang="en-US" sz="3200" dirty="0"/>
          </a:p>
        </p:txBody>
      </p:sp>
      <p:sp>
        <p:nvSpPr>
          <p:cNvPr id="3" name="Content Placeholder 2">
            <a:extLst>
              <a:ext uri="{FF2B5EF4-FFF2-40B4-BE49-F238E27FC236}">
                <a16:creationId xmlns:a16="http://schemas.microsoft.com/office/drawing/2014/main" xmlns="" id="{94B21182-22BD-41E7-836E-E12027B1DCAC}"/>
              </a:ext>
            </a:extLst>
          </p:cNvPr>
          <p:cNvSpPr>
            <a:spLocks noGrp="1"/>
          </p:cNvSpPr>
          <p:nvPr>
            <p:ph idx="1"/>
          </p:nvPr>
        </p:nvSpPr>
        <p:spPr>
          <a:xfrm>
            <a:off x="838200" y="1017768"/>
            <a:ext cx="10515600" cy="5159195"/>
          </a:xfrm>
        </p:spPr>
        <p:txBody>
          <a:bodyPr>
            <a:normAutofit fontScale="77500" lnSpcReduction="20000"/>
          </a:bodyPr>
          <a:lstStyle/>
          <a:p>
            <a:pPr marL="514350" indent="-514350">
              <a:lnSpc>
                <a:spcPct val="150000"/>
              </a:lnSpc>
              <a:buFont typeface="+mj-lt"/>
              <a:buAutoNum type="arabicPeriod"/>
            </a:pPr>
            <a:r>
              <a:rPr lang="en-US" sz="3200" dirty="0"/>
              <a:t>Getting along with children and younger or older grandchildren.</a:t>
            </a:r>
          </a:p>
          <a:p>
            <a:pPr marL="514350" indent="-514350">
              <a:lnSpc>
                <a:spcPct val="150000"/>
              </a:lnSpc>
              <a:buFont typeface="+mj-lt"/>
              <a:buAutoNum type="arabicPeriod"/>
            </a:pPr>
            <a:r>
              <a:rPr lang="en-US" sz="3200" dirty="0"/>
              <a:t>Dealing with own death.</a:t>
            </a:r>
          </a:p>
          <a:p>
            <a:pPr marL="514350" indent="-514350">
              <a:lnSpc>
                <a:spcPct val="150000"/>
              </a:lnSpc>
              <a:buFont typeface="+mj-lt"/>
              <a:buAutoNum type="arabicPeriod"/>
            </a:pPr>
            <a:r>
              <a:rPr lang="en-US" sz="3200" dirty="0"/>
              <a:t>Desire to leave a legacy e.g. children, money, works of art, writing, personal possessions.</a:t>
            </a:r>
          </a:p>
          <a:p>
            <a:pPr marL="514350" indent="-514350">
              <a:lnSpc>
                <a:spcPct val="150000"/>
              </a:lnSpc>
              <a:buFont typeface="+mj-lt"/>
              <a:buAutoNum type="arabicPeriod"/>
            </a:pPr>
            <a:r>
              <a:rPr lang="en-US" sz="3200" dirty="0"/>
              <a:t>The older role- the old people enjoy accumulated knowledge, experience and wisdom with the young.</a:t>
            </a:r>
          </a:p>
          <a:p>
            <a:pPr marL="514350" indent="-514350">
              <a:lnSpc>
                <a:spcPct val="150000"/>
              </a:lnSpc>
              <a:buFont typeface="+mj-lt"/>
              <a:buAutoNum type="arabicPeriod"/>
            </a:pPr>
            <a:r>
              <a:rPr lang="en-US" sz="3200" dirty="0"/>
              <a:t>They have attachment to familiar objects</a:t>
            </a:r>
          </a:p>
          <a:p>
            <a:pPr marL="514350" indent="-514350">
              <a:lnSpc>
                <a:spcPct val="150000"/>
              </a:lnSpc>
              <a:buFont typeface="+mj-lt"/>
              <a:buAutoNum type="arabicPeriod"/>
            </a:pPr>
            <a:r>
              <a:rPr lang="en-US" sz="3200" dirty="0"/>
              <a:t>They have changes in the sense of lifestyle, creating curiosity and surprise.</a:t>
            </a:r>
          </a:p>
          <a:p>
            <a:endParaRPr lang="en-US" dirty="0"/>
          </a:p>
        </p:txBody>
      </p:sp>
      <p:sp>
        <p:nvSpPr>
          <p:cNvPr id="4" name="Date Placeholder 3">
            <a:extLst>
              <a:ext uri="{FF2B5EF4-FFF2-40B4-BE49-F238E27FC236}">
                <a16:creationId xmlns:a16="http://schemas.microsoft.com/office/drawing/2014/main" xmlns="" id="{92D068AA-27B6-4B7B-96EA-7A69360902E0}"/>
              </a:ext>
            </a:extLst>
          </p:cNvPr>
          <p:cNvSpPr>
            <a:spLocks noGrp="1"/>
          </p:cNvSpPr>
          <p:nvPr>
            <p:ph type="dt" sz="half" idx="10"/>
          </p:nvPr>
        </p:nvSpPr>
        <p:spPr/>
        <p:txBody>
          <a:bodyPr/>
          <a:lstStyle/>
          <a:p>
            <a:fld id="{79EDB4FA-0599-4366-9FDB-9AAFF4D50805}" type="datetime1">
              <a:rPr lang="en-US" smtClean="0"/>
              <a:t>5/5/2022</a:t>
            </a:fld>
            <a:endParaRPr lang="en-US"/>
          </a:p>
        </p:txBody>
      </p:sp>
      <p:sp>
        <p:nvSpPr>
          <p:cNvPr id="5" name="Slide Number Placeholder 4">
            <a:extLst>
              <a:ext uri="{FF2B5EF4-FFF2-40B4-BE49-F238E27FC236}">
                <a16:creationId xmlns:a16="http://schemas.microsoft.com/office/drawing/2014/main" xmlns="" id="{8A0C464D-E07D-4AB6-BF8B-7BC8CB91A940}"/>
              </a:ext>
            </a:extLst>
          </p:cNvPr>
          <p:cNvSpPr>
            <a:spLocks noGrp="1"/>
          </p:cNvSpPr>
          <p:nvPr>
            <p:ph type="sldNum" sz="quarter" idx="12"/>
          </p:nvPr>
        </p:nvSpPr>
        <p:spPr/>
        <p:txBody>
          <a:bodyPr/>
          <a:lstStyle/>
          <a:p>
            <a:fld id="{B92AFB71-4BE5-44E7-9108-3062C0C91BA0}" type="slidenum">
              <a:rPr lang="en-US" smtClean="0"/>
              <a:t>30</a:t>
            </a:fld>
            <a:endParaRPr lang="en-US"/>
          </a:p>
        </p:txBody>
      </p:sp>
    </p:spTree>
    <p:extLst>
      <p:ext uri="{BB962C8B-B14F-4D97-AF65-F5344CB8AC3E}">
        <p14:creationId xmlns:p14="http://schemas.microsoft.com/office/powerpoint/2010/main" val="3973331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D159BE-9E6F-41D1-A35D-3DA9734C6487}"/>
              </a:ext>
            </a:extLst>
          </p:cNvPr>
          <p:cNvSpPr>
            <a:spLocks noGrp="1"/>
          </p:cNvSpPr>
          <p:nvPr>
            <p:ph type="title"/>
          </p:nvPr>
        </p:nvSpPr>
        <p:spPr>
          <a:xfrm>
            <a:off x="838200" y="159027"/>
            <a:ext cx="10515600" cy="1001864"/>
          </a:xfrm>
        </p:spPr>
        <p:txBody>
          <a:bodyPr>
            <a:normAutofit fontScale="90000"/>
          </a:bodyPr>
          <a:lstStyle/>
          <a:p>
            <a:pPr algn="ctr"/>
            <a:r>
              <a:rPr lang="en-US" b="1" dirty="0"/>
              <a:t>Trends in Aging</a:t>
            </a:r>
            <a:r>
              <a:rPr lang="en-US" dirty="0"/>
              <a:t/>
            </a:r>
            <a:br>
              <a:rPr lang="en-US" dirty="0"/>
            </a:br>
            <a:endParaRPr lang="en-US" dirty="0"/>
          </a:p>
        </p:txBody>
      </p:sp>
      <p:sp>
        <p:nvSpPr>
          <p:cNvPr id="3" name="Content Placeholder 2">
            <a:extLst>
              <a:ext uri="{FF2B5EF4-FFF2-40B4-BE49-F238E27FC236}">
                <a16:creationId xmlns:a16="http://schemas.microsoft.com/office/drawing/2014/main" xmlns="" id="{53506009-0B4A-413A-9B21-2FD737B34754}"/>
              </a:ext>
            </a:extLst>
          </p:cNvPr>
          <p:cNvSpPr>
            <a:spLocks noGrp="1"/>
          </p:cNvSpPr>
          <p:nvPr>
            <p:ph idx="1"/>
          </p:nvPr>
        </p:nvSpPr>
        <p:spPr>
          <a:xfrm>
            <a:off x="838200" y="763325"/>
            <a:ext cx="10515600" cy="5413638"/>
          </a:xfrm>
        </p:spPr>
        <p:txBody>
          <a:bodyPr>
            <a:normAutofit fontScale="92500" lnSpcReduction="20000"/>
          </a:bodyPr>
          <a:lstStyle/>
          <a:p>
            <a:pPr lvl="0">
              <a:lnSpc>
                <a:spcPct val="150000"/>
              </a:lnSpc>
            </a:pPr>
            <a:r>
              <a:rPr lang="en-US" dirty="0"/>
              <a:t>Maximum human lifespan is about 100 years</a:t>
            </a:r>
          </a:p>
          <a:p>
            <a:pPr lvl="0">
              <a:lnSpc>
                <a:spcPct val="150000"/>
              </a:lnSpc>
            </a:pPr>
            <a:r>
              <a:rPr lang="en-US" dirty="0"/>
              <a:t>Average life expectancy has increased: in 1900, it was 47 years, with only 4% of population aged 65 years </a:t>
            </a:r>
          </a:p>
          <a:p>
            <a:pPr lvl="0">
              <a:lnSpc>
                <a:spcPct val="150000"/>
              </a:lnSpc>
            </a:pPr>
            <a:r>
              <a:rPr lang="en-US" dirty="0"/>
              <a:t>Today the average life expectancy is 75 years. 12-13% of population is over 65 years</a:t>
            </a:r>
          </a:p>
          <a:p>
            <a:pPr lvl="0">
              <a:lnSpc>
                <a:spcPct val="150000"/>
              </a:lnSpc>
            </a:pPr>
            <a:r>
              <a:rPr lang="en-US" dirty="0"/>
              <a:t>Reasons for increasing life expectancy are: better prenatal care hence high infant survival rate, better medical care and nutrition etc.</a:t>
            </a:r>
          </a:p>
          <a:p>
            <a:pPr lvl="0">
              <a:lnSpc>
                <a:spcPct val="150000"/>
              </a:lnSpc>
            </a:pPr>
            <a:r>
              <a:rPr lang="en-US" dirty="0"/>
              <a:t>The society’s changing attitude towards the elderly, from negative to positive has also increased life expectancy</a:t>
            </a:r>
          </a:p>
          <a:p>
            <a:endParaRPr lang="en-US" dirty="0"/>
          </a:p>
        </p:txBody>
      </p:sp>
      <p:sp>
        <p:nvSpPr>
          <p:cNvPr id="4" name="Date Placeholder 3">
            <a:extLst>
              <a:ext uri="{FF2B5EF4-FFF2-40B4-BE49-F238E27FC236}">
                <a16:creationId xmlns:a16="http://schemas.microsoft.com/office/drawing/2014/main" xmlns="" id="{7122FAE2-BEDB-4661-8BAC-902384CF706B}"/>
              </a:ext>
            </a:extLst>
          </p:cNvPr>
          <p:cNvSpPr>
            <a:spLocks noGrp="1"/>
          </p:cNvSpPr>
          <p:nvPr>
            <p:ph type="dt" sz="half" idx="10"/>
          </p:nvPr>
        </p:nvSpPr>
        <p:spPr/>
        <p:txBody>
          <a:bodyPr/>
          <a:lstStyle/>
          <a:p>
            <a:fld id="{BA0BCEB4-469F-46A4-9FD2-60755312E4C0}" type="datetime1">
              <a:rPr lang="en-US" smtClean="0"/>
              <a:t>5/5/2022</a:t>
            </a:fld>
            <a:endParaRPr lang="en-US"/>
          </a:p>
        </p:txBody>
      </p:sp>
      <p:sp>
        <p:nvSpPr>
          <p:cNvPr id="5" name="Slide Number Placeholder 4">
            <a:extLst>
              <a:ext uri="{FF2B5EF4-FFF2-40B4-BE49-F238E27FC236}">
                <a16:creationId xmlns:a16="http://schemas.microsoft.com/office/drawing/2014/main" xmlns="" id="{D95BE897-63E1-42F3-BF62-1A74C3D27B1E}"/>
              </a:ext>
            </a:extLst>
          </p:cNvPr>
          <p:cNvSpPr>
            <a:spLocks noGrp="1"/>
          </p:cNvSpPr>
          <p:nvPr>
            <p:ph type="sldNum" sz="quarter" idx="12"/>
          </p:nvPr>
        </p:nvSpPr>
        <p:spPr/>
        <p:txBody>
          <a:bodyPr/>
          <a:lstStyle/>
          <a:p>
            <a:fld id="{B92AFB71-4BE5-44E7-9108-3062C0C91BA0}" type="slidenum">
              <a:rPr lang="en-US" smtClean="0"/>
              <a:t>31</a:t>
            </a:fld>
            <a:endParaRPr lang="en-US"/>
          </a:p>
        </p:txBody>
      </p:sp>
    </p:spTree>
    <p:extLst>
      <p:ext uri="{BB962C8B-B14F-4D97-AF65-F5344CB8AC3E}">
        <p14:creationId xmlns:p14="http://schemas.microsoft.com/office/powerpoint/2010/main" val="1699929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CBDA59-E0E3-4797-8426-98453BC1F3F9}"/>
              </a:ext>
            </a:extLst>
          </p:cNvPr>
          <p:cNvSpPr>
            <a:spLocks noGrp="1"/>
          </p:cNvSpPr>
          <p:nvPr>
            <p:ph type="title"/>
          </p:nvPr>
        </p:nvSpPr>
        <p:spPr>
          <a:xfrm>
            <a:off x="838200" y="103367"/>
            <a:ext cx="10515600" cy="1121135"/>
          </a:xfrm>
        </p:spPr>
        <p:txBody>
          <a:bodyPr>
            <a:normAutofit fontScale="90000"/>
          </a:bodyPr>
          <a:lstStyle/>
          <a:p>
            <a:pPr algn="ctr"/>
            <a:r>
              <a:rPr lang="en-US" sz="3600" b="1" dirty="0"/>
              <a:t/>
            </a:r>
            <a:br>
              <a:rPr lang="en-US" sz="3600" b="1" dirty="0"/>
            </a:br>
            <a:r>
              <a:rPr lang="en-US" sz="3600" b="1" dirty="0"/>
              <a:t>Changes associated with aging</a:t>
            </a:r>
            <a:br>
              <a:rPr lang="en-US" sz="3600" b="1" dirty="0"/>
            </a:br>
            <a:r>
              <a:rPr lang="en-US" sz="3600" b="1" dirty="0"/>
              <a:t>physiological </a:t>
            </a:r>
            <a:r>
              <a:rPr lang="en-US" dirty="0"/>
              <a:t/>
            </a:r>
            <a:br>
              <a:rPr lang="en-US" dirty="0"/>
            </a:br>
            <a:endParaRPr lang="en-US" dirty="0"/>
          </a:p>
        </p:txBody>
      </p:sp>
      <p:sp>
        <p:nvSpPr>
          <p:cNvPr id="3" name="Content Placeholder 2">
            <a:extLst>
              <a:ext uri="{FF2B5EF4-FFF2-40B4-BE49-F238E27FC236}">
                <a16:creationId xmlns:a16="http://schemas.microsoft.com/office/drawing/2014/main" xmlns="" id="{300BE3FC-2595-4BD1-B185-6259B9F2E7AC}"/>
              </a:ext>
            </a:extLst>
          </p:cNvPr>
          <p:cNvSpPr>
            <a:spLocks noGrp="1"/>
          </p:cNvSpPr>
          <p:nvPr>
            <p:ph idx="1"/>
          </p:nvPr>
        </p:nvSpPr>
        <p:spPr>
          <a:xfrm>
            <a:off x="838200" y="1105231"/>
            <a:ext cx="10515600" cy="5071732"/>
          </a:xfrm>
        </p:spPr>
        <p:txBody>
          <a:bodyPr>
            <a:normAutofit lnSpcReduction="10000"/>
          </a:bodyPr>
          <a:lstStyle/>
          <a:p>
            <a:pPr algn="ctr">
              <a:buNone/>
            </a:pPr>
            <a:r>
              <a:rPr lang="en-US" b="1" dirty="0"/>
              <a:t>Cardiovascular changes</a:t>
            </a:r>
          </a:p>
          <a:p>
            <a:pPr>
              <a:lnSpc>
                <a:spcPct val="150000"/>
              </a:lnSpc>
            </a:pPr>
            <a:r>
              <a:rPr lang="en-US" b="1" dirty="0"/>
              <a:t>The heart</a:t>
            </a:r>
            <a:r>
              <a:rPr lang="en-US" dirty="0"/>
              <a:t>: </a:t>
            </a:r>
            <a:r>
              <a:rPr lang="en-US" dirty="0">
                <a:solidFill>
                  <a:srgbClr val="0070C0"/>
                </a:solidFill>
              </a:rPr>
              <a:t>the heart muscles become rigid i.e. they loose elasticity and contract poorly</a:t>
            </a:r>
            <a:r>
              <a:rPr lang="en-US" dirty="0"/>
              <a:t>. This affects the output of the heart especially when the person performs activities e.g. walking or any other exercise.</a:t>
            </a:r>
          </a:p>
          <a:p>
            <a:pPr lvl="1">
              <a:lnSpc>
                <a:spcPct val="150000"/>
              </a:lnSpc>
            </a:pPr>
            <a:r>
              <a:rPr lang="en-US" sz="3100" dirty="0"/>
              <a:t>There is a misplacement of the apex of the heart caused by </a:t>
            </a:r>
            <a:r>
              <a:rPr lang="en-US" sz="3100" dirty="0">
                <a:solidFill>
                  <a:srgbClr val="0070C0"/>
                </a:solidFill>
              </a:rPr>
              <a:t>the back of the old person being bent </a:t>
            </a:r>
            <a:r>
              <a:rPr lang="en-US" sz="3100" dirty="0">
                <a:solidFill>
                  <a:srgbClr val="FF0000"/>
                </a:solidFill>
              </a:rPr>
              <a:t>(kyphoscoliosis). </a:t>
            </a:r>
            <a:r>
              <a:rPr lang="en-US" sz="3100" dirty="0"/>
              <a:t>If you place a stethoscope on the normal area you will miss the apex beat.</a:t>
            </a:r>
          </a:p>
          <a:p>
            <a:pPr marL="0" indent="0">
              <a:lnSpc>
                <a:spcPct val="150000"/>
              </a:lnSpc>
              <a:buNone/>
            </a:pPr>
            <a:endParaRPr lang="en-US" dirty="0"/>
          </a:p>
        </p:txBody>
      </p:sp>
      <p:sp>
        <p:nvSpPr>
          <p:cNvPr id="4" name="Date Placeholder 3">
            <a:extLst>
              <a:ext uri="{FF2B5EF4-FFF2-40B4-BE49-F238E27FC236}">
                <a16:creationId xmlns:a16="http://schemas.microsoft.com/office/drawing/2014/main" xmlns="" id="{01D4A393-EDB0-4795-AFA2-9E361A003FF1}"/>
              </a:ext>
            </a:extLst>
          </p:cNvPr>
          <p:cNvSpPr>
            <a:spLocks noGrp="1"/>
          </p:cNvSpPr>
          <p:nvPr>
            <p:ph type="dt" sz="half" idx="10"/>
          </p:nvPr>
        </p:nvSpPr>
        <p:spPr/>
        <p:txBody>
          <a:bodyPr/>
          <a:lstStyle/>
          <a:p>
            <a:fld id="{FF8A2C47-6DE4-4EAD-8A0C-D469304A795C}" type="datetime1">
              <a:rPr lang="en-US" smtClean="0"/>
              <a:t>5/5/2022</a:t>
            </a:fld>
            <a:endParaRPr lang="en-US"/>
          </a:p>
        </p:txBody>
      </p:sp>
      <p:sp>
        <p:nvSpPr>
          <p:cNvPr id="5" name="Slide Number Placeholder 4">
            <a:extLst>
              <a:ext uri="{FF2B5EF4-FFF2-40B4-BE49-F238E27FC236}">
                <a16:creationId xmlns:a16="http://schemas.microsoft.com/office/drawing/2014/main" xmlns="" id="{FD7D0B3A-DFC4-4884-A41A-722B89B4989C}"/>
              </a:ext>
            </a:extLst>
          </p:cNvPr>
          <p:cNvSpPr>
            <a:spLocks noGrp="1"/>
          </p:cNvSpPr>
          <p:nvPr>
            <p:ph type="sldNum" sz="quarter" idx="12"/>
          </p:nvPr>
        </p:nvSpPr>
        <p:spPr/>
        <p:txBody>
          <a:bodyPr/>
          <a:lstStyle/>
          <a:p>
            <a:fld id="{B92AFB71-4BE5-44E7-9108-3062C0C91BA0}" type="slidenum">
              <a:rPr lang="en-US" smtClean="0"/>
              <a:t>32</a:t>
            </a:fld>
            <a:endParaRPr lang="en-US"/>
          </a:p>
        </p:txBody>
      </p:sp>
    </p:spTree>
    <p:extLst>
      <p:ext uri="{BB962C8B-B14F-4D97-AF65-F5344CB8AC3E}">
        <p14:creationId xmlns:p14="http://schemas.microsoft.com/office/powerpoint/2010/main" val="2964893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75F56A-8E7A-41AB-8051-B581225B299D}"/>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DAD17B2A-CC88-4A84-B622-32AE1D182DD7}"/>
              </a:ext>
            </a:extLst>
          </p:cNvPr>
          <p:cNvSpPr>
            <a:spLocks noGrp="1"/>
          </p:cNvSpPr>
          <p:nvPr>
            <p:ph idx="1"/>
          </p:nvPr>
        </p:nvSpPr>
        <p:spPr>
          <a:xfrm>
            <a:off x="838200" y="818984"/>
            <a:ext cx="10515600" cy="5357979"/>
          </a:xfrm>
        </p:spPr>
        <p:txBody>
          <a:bodyPr>
            <a:normAutofit/>
          </a:bodyPr>
          <a:lstStyle/>
          <a:p>
            <a:pPr lvl="1">
              <a:lnSpc>
                <a:spcPct val="150000"/>
              </a:lnSpc>
            </a:pPr>
            <a:r>
              <a:rPr lang="en-US" sz="3100" dirty="0"/>
              <a:t>Murmurs: most of the aged persons have a diastolic heart murmur heard at the base of the heart. It is due to the hardening of the aortic valve.</a:t>
            </a:r>
          </a:p>
          <a:p>
            <a:pPr lvl="1">
              <a:lnSpc>
                <a:spcPct val="150000"/>
              </a:lnSpc>
            </a:pPr>
            <a:r>
              <a:rPr lang="en-US" sz="3100" dirty="0"/>
              <a:t>Heart rate: does not change with age.</a:t>
            </a:r>
            <a:endParaRPr lang="en-US" b="1" dirty="0"/>
          </a:p>
          <a:p>
            <a:pPr>
              <a:lnSpc>
                <a:spcPct val="150000"/>
              </a:lnSpc>
            </a:pPr>
            <a:r>
              <a:rPr lang="en-US" b="1" dirty="0"/>
              <a:t>Arterial circulation: </a:t>
            </a:r>
            <a:r>
              <a:rPr lang="en-US" dirty="0"/>
              <a:t>Arteries become rigid increasing resistance to the blood flow. This causes a rise in blood pressure in the aged.</a:t>
            </a:r>
          </a:p>
          <a:p>
            <a:endParaRPr lang="en-US" dirty="0"/>
          </a:p>
        </p:txBody>
      </p:sp>
      <p:sp>
        <p:nvSpPr>
          <p:cNvPr id="4" name="Date Placeholder 3">
            <a:extLst>
              <a:ext uri="{FF2B5EF4-FFF2-40B4-BE49-F238E27FC236}">
                <a16:creationId xmlns:a16="http://schemas.microsoft.com/office/drawing/2014/main" xmlns="" id="{5EA6E3CE-C9BC-4E29-8471-333C478FD0F8}"/>
              </a:ext>
            </a:extLst>
          </p:cNvPr>
          <p:cNvSpPr>
            <a:spLocks noGrp="1"/>
          </p:cNvSpPr>
          <p:nvPr>
            <p:ph type="dt" sz="half" idx="10"/>
          </p:nvPr>
        </p:nvSpPr>
        <p:spPr/>
        <p:txBody>
          <a:bodyPr/>
          <a:lstStyle/>
          <a:p>
            <a:fld id="{A3E3B6F9-2476-4887-A21D-72B1442D7998}" type="datetime1">
              <a:rPr lang="en-US" smtClean="0"/>
              <a:t>5/5/2022</a:t>
            </a:fld>
            <a:endParaRPr lang="en-US"/>
          </a:p>
        </p:txBody>
      </p:sp>
      <p:sp>
        <p:nvSpPr>
          <p:cNvPr id="5" name="Slide Number Placeholder 4">
            <a:extLst>
              <a:ext uri="{FF2B5EF4-FFF2-40B4-BE49-F238E27FC236}">
                <a16:creationId xmlns:a16="http://schemas.microsoft.com/office/drawing/2014/main" xmlns="" id="{64E05AE2-FAC6-4FCC-9A7B-C923784444D6}"/>
              </a:ext>
            </a:extLst>
          </p:cNvPr>
          <p:cNvSpPr>
            <a:spLocks noGrp="1"/>
          </p:cNvSpPr>
          <p:nvPr>
            <p:ph type="sldNum" sz="quarter" idx="12"/>
          </p:nvPr>
        </p:nvSpPr>
        <p:spPr/>
        <p:txBody>
          <a:bodyPr/>
          <a:lstStyle/>
          <a:p>
            <a:fld id="{B92AFB71-4BE5-44E7-9108-3062C0C91BA0}" type="slidenum">
              <a:rPr lang="en-US" smtClean="0"/>
              <a:t>33</a:t>
            </a:fld>
            <a:endParaRPr lang="en-US"/>
          </a:p>
        </p:txBody>
      </p:sp>
    </p:spTree>
    <p:extLst>
      <p:ext uri="{BB962C8B-B14F-4D97-AF65-F5344CB8AC3E}">
        <p14:creationId xmlns:p14="http://schemas.microsoft.com/office/powerpoint/2010/main" val="1009100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156091-F722-4E5B-B3F4-0A96465DFF09}"/>
              </a:ext>
            </a:extLst>
          </p:cNvPr>
          <p:cNvSpPr>
            <a:spLocks noGrp="1"/>
          </p:cNvSpPr>
          <p:nvPr>
            <p:ph type="title"/>
          </p:nvPr>
        </p:nvSpPr>
        <p:spPr>
          <a:xfrm>
            <a:off x="838200" y="71562"/>
            <a:ext cx="10515600" cy="20673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CAD8BD3B-DB88-4490-A625-1DE4B3568AF3}"/>
              </a:ext>
            </a:extLst>
          </p:cNvPr>
          <p:cNvSpPr>
            <a:spLocks noGrp="1"/>
          </p:cNvSpPr>
          <p:nvPr>
            <p:ph idx="1"/>
          </p:nvPr>
        </p:nvSpPr>
        <p:spPr>
          <a:xfrm>
            <a:off x="838200" y="437322"/>
            <a:ext cx="10515600" cy="5739641"/>
          </a:xfrm>
        </p:spPr>
        <p:txBody>
          <a:bodyPr>
            <a:normAutofit fontScale="92500" lnSpcReduction="20000"/>
          </a:bodyPr>
          <a:lstStyle/>
          <a:p>
            <a:pPr>
              <a:lnSpc>
                <a:spcPct val="150000"/>
              </a:lnSpc>
            </a:pPr>
            <a:r>
              <a:rPr lang="en-US" sz="3200" b="1" dirty="0"/>
              <a:t>Venous circulation</a:t>
            </a:r>
            <a:r>
              <a:rPr lang="en-US" sz="3200" dirty="0"/>
              <a:t>: this does not change with age unless the person is  sick.</a:t>
            </a:r>
          </a:p>
          <a:p>
            <a:pPr>
              <a:lnSpc>
                <a:spcPct val="150000"/>
              </a:lnSpc>
            </a:pPr>
            <a:r>
              <a:rPr lang="en-US" sz="3200" b="1" dirty="0"/>
              <a:t>Blood pressure</a:t>
            </a:r>
            <a:r>
              <a:rPr lang="en-US" sz="3200" dirty="0"/>
              <a:t>: significant increase in systolic, slight increase in  diastolic, increase in peripheral resistance and pulse pressure.</a:t>
            </a:r>
          </a:p>
          <a:p>
            <a:pPr>
              <a:lnSpc>
                <a:spcPct val="150000"/>
              </a:lnSpc>
            </a:pPr>
            <a:r>
              <a:rPr lang="en-US" sz="3200" b="1" dirty="0"/>
              <a:t>Peripheral blood vessels</a:t>
            </a:r>
            <a:r>
              <a:rPr lang="en-US" sz="3200" dirty="0"/>
              <a:t>: they are easy to palpate  because of increased arterial wall narrowing and loss of connective tissues. They  feel more tortuous and rigid. This causes the extremities of the old people to be cold especially at night and they also get discolored.</a:t>
            </a:r>
          </a:p>
          <a:p>
            <a:pPr>
              <a:lnSpc>
                <a:spcPct val="150000"/>
              </a:lnSpc>
            </a:pPr>
            <a:endParaRPr lang="en-US" sz="3200" dirty="0"/>
          </a:p>
          <a:p>
            <a:endParaRPr lang="en-US" dirty="0"/>
          </a:p>
        </p:txBody>
      </p:sp>
      <p:sp>
        <p:nvSpPr>
          <p:cNvPr id="4" name="Date Placeholder 3">
            <a:extLst>
              <a:ext uri="{FF2B5EF4-FFF2-40B4-BE49-F238E27FC236}">
                <a16:creationId xmlns:a16="http://schemas.microsoft.com/office/drawing/2014/main" xmlns="" id="{EA8B3C3F-9C4E-4679-8767-9FF9C4A89A9C}"/>
              </a:ext>
            </a:extLst>
          </p:cNvPr>
          <p:cNvSpPr>
            <a:spLocks noGrp="1"/>
          </p:cNvSpPr>
          <p:nvPr>
            <p:ph type="dt" sz="half" idx="10"/>
          </p:nvPr>
        </p:nvSpPr>
        <p:spPr/>
        <p:txBody>
          <a:bodyPr/>
          <a:lstStyle/>
          <a:p>
            <a:fld id="{5EE2D550-2E35-468A-83B8-E8CDC24BF239}" type="datetime1">
              <a:rPr lang="en-US" smtClean="0"/>
              <a:t>5/5/2022</a:t>
            </a:fld>
            <a:endParaRPr lang="en-US"/>
          </a:p>
        </p:txBody>
      </p:sp>
      <p:sp>
        <p:nvSpPr>
          <p:cNvPr id="5" name="Slide Number Placeholder 4">
            <a:extLst>
              <a:ext uri="{FF2B5EF4-FFF2-40B4-BE49-F238E27FC236}">
                <a16:creationId xmlns:a16="http://schemas.microsoft.com/office/drawing/2014/main" xmlns="" id="{7A652E54-EA4B-4C06-9C93-77F764FD9449}"/>
              </a:ext>
            </a:extLst>
          </p:cNvPr>
          <p:cNvSpPr>
            <a:spLocks noGrp="1"/>
          </p:cNvSpPr>
          <p:nvPr>
            <p:ph type="sldNum" sz="quarter" idx="12"/>
          </p:nvPr>
        </p:nvSpPr>
        <p:spPr/>
        <p:txBody>
          <a:bodyPr/>
          <a:lstStyle/>
          <a:p>
            <a:fld id="{B92AFB71-4BE5-44E7-9108-3062C0C91BA0}" type="slidenum">
              <a:rPr lang="en-US" smtClean="0"/>
              <a:t>34</a:t>
            </a:fld>
            <a:endParaRPr lang="en-US"/>
          </a:p>
        </p:txBody>
      </p:sp>
    </p:spTree>
    <p:extLst>
      <p:ext uri="{BB962C8B-B14F-4D97-AF65-F5344CB8AC3E}">
        <p14:creationId xmlns:p14="http://schemas.microsoft.com/office/powerpoint/2010/main" val="103075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C6505A-0FF8-489A-92A6-4E00BD065C83}"/>
              </a:ext>
            </a:extLst>
          </p:cNvPr>
          <p:cNvSpPr>
            <a:spLocks noGrp="1"/>
          </p:cNvSpPr>
          <p:nvPr>
            <p:ph type="title"/>
          </p:nvPr>
        </p:nvSpPr>
        <p:spPr>
          <a:xfrm>
            <a:off x="838200" y="119271"/>
            <a:ext cx="10515600" cy="18287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33834FBA-BBA0-41AF-96A1-2B859F0C6B80}"/>
              </a:ext>
            </a:extLst>
          </p:cNvPr>
          <p:cNvSpPr>
            <a:spLocks noGrp="1"/>
          </p:cNvSpPr>
          <p:nvPr>
            <p:ph idx="1"/>
          </p:nvPr>
        </p:nvSpPr>
        <p:spPr>
          <a:xfrm>
            <a:off x="838200" y="636104"/>
            <a:ext cx="10515600" cy="5540859"/>
          </a:xfrm>
        </p:spPr>
        <p:txBody>
          <a:bodyPr>
            <a:normAutofit fontScale="85000" lnSpcReduction="10000"/>
          </a:bodyPr>
          <a:lstStyle/>
          <a:p>
            <a:pPr algn="ctr">
              <a:lnSpc>
                <a:spcPct val="150000"/>
              </a:lnSpc>
              <a:buNone/>
            </a:pPr>
            <a:r>
              <a:rPr lang="en-US" sz="3200" b="1" dirty="0"/>
              <a:t>Respiratory system changes</a:t>
            </a:r>
          </a:p>
          <a:p>
            <a:pPr>
              <a:lnSpc>
                <a:spcPct val="150000"/>
              </a:lnSpc>
            </a:pPr>
            <a:r>
              <a:rPr lang="en-US" sz="3200" b="1" dirty="0"/>
              <a:t>Pulmonary flow and diffusion</a:t>
            </a:r>
            <a:r>
              <a:rPr lang="en-US" sz="3200" dirty="0"/>
              <a:t>: There is decreased blood flow leading to poor gaseous exchange in the lungs, thus decreased diffusion.</a:t>
            </a:r>
          </a:p>
          <a:p>
            <a:pPr>
              <a:lnSpc>
                <a:spcPct val="150000"/>
              </a:lnSpc>
            </a:pPr>
            <a:r>
              <a:rPr lang="en-US" sz="3200" dirty="0"/>
              <a:t>There is increased in residual lung volume </a:t>
            </a:r>
          </a:p>
          <a:p>
            <a:pPr>
              <a:lnSpc>
                <a:spcPct val="150000"/>
              </a:lnSpc>
            </a:pPr>
            <a:r>
              <a:rPr lang="en-US" sz="3200" dirty="0"/>
              <a:t>Reduced vital capacity and decreased cough reflex.</a:t>
            </a:r>
          </a:p>
          <a:p>
            <a:pPr>
              <a:lnSpc>
                <a:spcPct val="150000"/>
              </a:lnSpc>
            </a:pPr>
            <a:r>
              <a:rPr lang="en-US" sz="3200" b="1" dirty="0"/>
              <a:t>Anatomic structure</a:t>
            </a:r>
            <a:r>
              <a:rPr lang="en-US" sz="3200" dirty="0"/>
              <a:t>:  increased anterior-posterior diameter</a:t>
            </a:r>
          </a:p>
          <a:p>
            <a:pPr>
              <a:lnSpc>
                <a:spcPct val="150000"/>
              </a:lnSpc>
            </a:pPr>
            <a:r>
              <a:rPr lang="en-US" sz="3200" b="1" dirty="0"/>
              <a:t>Respiratory accessory muscles</a:t>
            </a:r>
            <a:r>
              <a:rPr lang="en-US" sz="3200" dirty="0"/>
              <a:t>: degeneration and decrease strength; increased rigidity of the chest wall</a:t>
            </a:r>
          </a:p>
          <a:p>
            <a:endParaRPr lang="en-US" dirty="0"/>
          </a:p>
        </p:txBody>
      </p:sp>
      <p:sp>
        <p:nvSpPr>
          <p:cNvPr id="4" name="Date Placeholder 3">
            <a:extLst>
              <a:ext uri="{FF2B5EF4-FFF2-40B4-BE49-F238E27FC236}">
                <a16:creationId xmlns:a16="http://schemas.microsoft.com/office/drawing/2014/main" xmlns="" id="{12DC7702-9D11-45A8-BDFF-20D32BE63275}"/>
              </a:ext>
            </a:extLst>
          </p:cNvPr>
          <p:cNvSpPr>
            <a:spLocks noGrp="1"/>
          </p:cNvSpPr>
          <p:nvPr>
            <p:ph type="dt" sz="half" idx="10"/>
          </p:nvPr>
        </p:nvSpPr>
        <p:spPr/>
        <p:txBody>
          <a:bodyPr/>
          <a:lstStyle/>
          <a:p>
            <a:fld id="{FF06957A-D597-416C-9685-807BAE38B324}" type="datetime1">
              <a:rPr lang="en-US" smtClean="0"/>
              <a:t>5/5/2022</a:t>
            </a:fld>
            <a:endParaRPr lang="en-US"/>
          </a:p>
        </p:txBody>
      </p:sp>
      <p:sp>
        <p:nvSpPr>
          <p:cNvPr id="5" name="Slide Number Placeholder 4">
            <a:extLst>
              <a:ext uri="{FF2B5EF4-FFF2-40B4-BE49-F238E27FC236}">
                <a16:creationId xmlns:a16="http://schemas.microsoft.com/office/drawing/2014/main" xmlns="" id="{F0072629-9E0C-47D0-B831-5CCA6A295666}"/>
              </a:ext>
            </a:extLst>
          </p:cNvPr>
          <p:cNvSpPr>
            <a:spLocks noGrp="1"/>
          </p:cNvSpPr>
          <p:nvPr>
            <p:ph type="sldNum" sz="quarter" idx="12"/>
          </p:nvPr>
        </p:nvSpPr>
        <p:spPr/>
        <p:txBody>
          <a:bodyPr/>
          <a:lstStyle/>
          <a:p>
            <a:fld id="{B92AFB71-4BE5-44E7-9108-3062C0C91BA0}" type="slidenum">
              <a:rPr lang="en-US" smtClean="0"/>
              <a:t>35</a:t>
            </a:fld>
            <a:endParaRPr lang="en-US"/>
          </a:p>
        </p:txBody>
      </p:sp>
    </p:spTree>
    <p:extLst>
      <p:ext uri="{BB962C8B-B14F-4D97-AF65-F5344CB8AC3E}">
        <p14:creationId xmlns:p14="http://schemas.microsoft.com/office/powerpoint/2010/main" val="40973109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28CAB3-C9E6-4387-A17C-497FA2333C8A}"/>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AA694FC1-79B6-409B-9CF2-AA7235D48672}"/>
              </a:ext>
            </a:extLst>
          </p:cNvPr>
          <p:cNvSpPr>
            <a:spLocks noGrp="1"/>
          </p:cNvSpPr>
          <p:nvPr>
            <p:ph idx="1"/>
          </p:nvPr>
        </p:nvSpPr>
        <p:spPr>
          <a:xfrm>
            <a:off x="838200" y="874643"/>
            <a:ext cx="10515600" cy="5302320"/>
          </a:xfrm>
        </p:spPr>
        <p:txBody>
          <a:bodyPr>
            <a:normAutofit fontScale="85000" lnSpcReduction="10000"/>
          </a:bodyPr>
          <a:lstStyle/>
          <a:p>
            <a:pPr algn="ctr">
              <a:lnSpc>
                <a:spcPct val="150000"/>
              </a:lnSpc>
              <a:buNone/>
            </a:pPr>
            <a:r>
              <a:rPr lang="en-US" sz="3200" b="1" dirty="0"/>
              <a:t>Integumentary changes</a:t>
            </a:r>
          </a:p>
          <a:p>
            <a:pPr marL="0" indent="0">
              <a:lnSpc>
                <a:spcPct val="150000"/>
              </a:lnSpc>
              <a:buNone/>
            </a:pPr>
            <a:r>
              <a:rPr lang="en-US" sz="3200" b="1" dirty="0"/>
              <a:t>Texture</a:t>
            </a:r>
            <a:r>
              <a:rPr lang="en-US" sz="3200" dirty="0"/>
              <a:t> : skin looses elasticity, wrinkles and becomes drier. It is cooler to touch and there is reduced sweating.</a:t>
            </a:r>
          </a:p>
          <a:p>
            <a:pPr marL="0" indent="0">
              <a:lnSpc>
                <a:spcPct val="150000"/>
              </a:lnSpc>
              <a:buNone/>
            </a:pPr>
            <a:r>
              <a:rPr lang="en-US" sz="3200" b="1" dirty="0"/>
              <a:t>Fat distribution</a:t>
            </a:r>
            <a:r>
              <a:rPr lang="en-US" sz="3200" dirty="0"/>
              <a:t>: there is less on the extremities but more on the trunk.</a:t>
            </a:r>
          </a:p>
          <a:p>
            <a:pPr marL="0" indent="0">
              <a:lnSpc>
                <a:spcPct val="150000"/>
              </a:lnSpc>
              <a:buNone/>
            </a:pPr>
            <a:r>
              <a:rPr lang="en-US" sz="3200" b="1" dirty="0"/>
              <a:t>Hair color</a:t>
            </a:r>
            <a:r>
              <a:rPr lang="en-US" sz="3200" dirty="0"/>
              <a:t>: white or grey in color.  Hair distribution is thin on the scalp. Women may develop chin and lip hair</a:t>
            </a:r>
          </a:p>
          <a:p>
            <a:pPr marL="0" indent="0">
              <a:lnSpc>
                <a:spcPct val="150000"/>
              </a:lnSpc>
              <a:buNone/>
            </a:pPr>
            <a:r>
              <a:rPr lang="en-US" sz="3200" b="1" dirty="0"/>
              <a:t>Nails</a:t>
            </a:r>
            <a:r>
              <a:rPr lang="en-US" sz="3200" dirty="0"/>
              <a:t>: there is decreased growth rate </a:t>
            </a:r>
          </a:p>
          <a:p>
            <a:endParaRPr lang="en-US" dirty="0"/>
          </a:p>
        </p:txBody>
      </p:sp>
      <p:sp>
        <p:nvSpPr>
          <p:cNvPr id="4" name="Date Placeholder 3">
            <a:extLst>
              <a:ext uri="{FF2B5EF4-FFF2-40B4-BE49-F238E27FC236}">
                <a16:creationId xmlns:a16="http://schemas.microsoft.com/office/drawing/2014/main" xmlns="" id="{BD6CBA9E-FD3A-4A48-B3DF-16067856D7F0}"/>
              </a:ext>
            </a:extLst>
          </p:cNvPr>
          <p:cNvSpPr>
            <a:spLocks noGrp="1"/>
          </p:cNvSpPr>
          <p:nvPr>
            <p:ph type="dt" sz="half" idx="10"/>
          </p:nvPr>
        </p:nvSpPr>
        <p:spPr/>
        <p:txBody>
          <a:bodyPr/>
          <a:lstStyle/>
          <a:p>
            <a:fld id="{506D2D73-B5A8-454B-BB32-5956C6098E94}" type="datetime1">
              <a:rPr lang="en-US" smtClean="0"/>
              <a:t>5/5/2022</a:t>
            </a:fld>
            <a:endParaRPr lang="en-US"/>
          </a:p>
        </p:txBody>
      </p:sp>
      <p:sp>
        <p:nvSpPr>
          <p:cNvPr id="5" name="Slide Number Placeholder 4">
            <a:extLst>
              <a:ext uri="{FF2B5EF4-FFF2-40B4-BE49-F238E27FC236}">
                <a16:creationId xmlns:a16="http://schemas.microsoft.com/office/drawing/2014/main" xmlns="" id="{1B060E15-1662-4433-932F-8609D6F61521}"/>
              </a:ext>
            </a:extLst>
          </p:cNvPr>
          <p:cNvSpPr>
            <a:spLocks noGrp="1"/>
          </p:cNvSpPr>
          <p:nvPr>
            <p:ph type="sldNum" sz="quarter" idx="12"/>
          </p:nvPr>
        </p:nvSpPr>
        <p:spPr/>
        <p:txBody>
          <a:bodyPr/>
          <a:lstStyle/>
          <a:p>
            <a:fld id="{B92AFB71-4BE5-44E7-9108-3062C0C91BA0}" type="slidenum">
              <a:rPr lang="en-US" smtClean="0"/>
              <a:t>36</a:t>
            </a:fld>
            <a:endParaRPr lang="en-US"/>
          </a:p>
        </p:txBody>
      </p:sp>
    </p:spTree>
    <p:extLst>
      <p:ext uri="{BB962C8B-B14F-4D97-AF65-F5344CB8AC3E}">
        <p14:creationId xmlns:p14="http://schemas.microsoft.com/office/powerpoint/2010/main" val="33090967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3F39C7-5E80-4E8C-92D1-9769AA2AEFFD}"/>
              </a:ext>
            </a:extLst>
          </p:cNvPr>
          <p:cNvSpPr>
            <a:spLocks noGrp="1"/>
          </p:cNvSpPr>
          <p:nvPr>
            <p:ph type="title"/>
          </p:nvPr>
        </p:nvSpPr>
        <p:spPr>
          <a:xfrm>
            <a:off x="838200" y="365126"/>
            <a:ext cx="10515600" cy="15171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53981ADA-B171-4A13-B55A-A6691782744E}"/>
              </a:ext>
            </a:extLst>
          </p:cNvPr>
          <p:cNvSpPr>
            <a:spLocks noGrp="1"/>
          </p:cNvSpPr>
          <p:nvPr>
            <p:ph idx="1"/>
          </p:nvPr>
        </p:nvSpPr>
        <p:spPr>
          <a:xfrm>
            <a:off x="838200" y="882595"/>
            <a:ext cx="10515600" cy="5294368"/>
          </a:xfrm>
        </p:spPr>
        <p:txBody>
          <a:bodyPr>
            <a:normAutofit lnSpcReduction="10000"/>
          </a:bodyPr>
          <a:lstStyle/>
          <a:p>
            <a:pPr algn="ctr">
              <a:lnSpc>
                <a:spcPct val="150000"/>
              </a:lnSpc>
              <a:buNone/>
            </a:pPr>
            <a:r>
              <a:rPr lang="en-US" sz="3200" b="1" dirty="0"/>
              <a:t>Genito-urinary  system</a:t>
            </a:r>
          </a:p>
          <a:p>
            <a:pPr marL="0" indent="0">
              <a:lnSpc>
                <a:spcPct val="150000"/>
              </a:lnSpc>
              <a:buNone/>
            </a:pPr>
            <a:r>
              <a:rPr lang="en-US" sz="3200" b="1" dirty="0"/>
              <a:t>Kidney function</a:t>
            </a:r>
            <a:r>
              <a:rPr lang="en-US" sz="3200" dirty="0"/>
              <a:t>: there is reduced glomerular filtration rate due to deceased cardiac output. There is loss of protein due to renal inefficiency.</a:t>
            </a:r>
          </a:p>
          <a:p>
            <a:pPr marL="0" indent="0">
              <a:lnSpc>
                <a:spcPct val="150000"/>
              </a:lnSpc>
              <a:buNone/>
            </a:pPr>
            <a:r>
              <a:rPr lang="en-US" sz="3200" b="1" dirty="0"/>
              <a:t>Renal blood flow</a:t>
            </a:r>
            <a:r>
              <a:rPr lang="en-US" sz="3200" dirty="0"/>
              <a:t>: due to decreased cardiac output, reduction in the filtration rate and renal efficiency. Subsequent loss of proteins from the kidneys may occur.</a:t>
            </a:r>
          </a:p>
          <a:p>
            <a:endParaRPr lang="en-US" dirty="0"/>
          </a:p>
        </p:txBody>
      </p:sp>
      <p:sp>
        <p:nvSpPr>
          <p:cNvPr id="4" name="Date Placeholder 3">
            <a:extLst>
              <a:ext uri="{FF2B5EF4-FFF2-40B4-BE49-F238E27FC236}">
                <a16:creationId xmlns:a16="http://schemas.microsoft.com/office/drawing/2014/main" xmlns="" id="{AA1C8B62-93C6-419C-A8DF-C3DDB2650245}"/>
              </a:ext>
            </a:extLst>
          </p:cNvPr>
          <p:cNvSpPr>
            <a:spLocks noGrp="1"/>
          </p:cNvSpPr>
          <p:nvPr>
            <p:ph type="dt" sz="half" idx="10"/>
          </p:nvPr>
        </p:nvSpPr>
        <p:spPr/>
        <p:txBody>
          <a:bodyPr/>
          <a:lstStyle/>
          <a:p>
            <a:fld id="{E788D56A-3318-495A-B0DF-F818076DEF78}" type="datetime1">
              <a:rPr lang="en-US" smtClean="0"/>
              <a:t>5/5/2022</a:t>
            </a:fld>
            <a:endParaRPr lang="en-US"/>
          </a:p>
        </p:txBody>
      </p:sp>
      <p:sp>
        <p:nvSpPr>
          <p:cNvPr id="5" name="Slide Number Placeholder 4">
            <a:extLst>
              <a:ext uri="{FF2B5EF4-FFF2-40B4-BE49-F238E27FC236}">
                <a16:creationId xmlns:a16="http://schemas.microsoft.com/office/drawing/2014/main" xmlns="" id="{EE6DFC4E-2D07-4AE5-A240-4831F8DE0834}"/>
              </a:ext>
            </a:extLst>
          </p:cNvPr>
          <p:cNvSpPr>
            <a:spLocks noGrp="1"/>
          </p:cNvSpPr>
          <p:nvPr>
            <p:ph type="sldNum" sz="quarter" idx="12"/>
          </p:nvPr>
        </p:nvSpPr>
        <p:spPr/>
        <p:txBody>
          <a:bodyPr/>
          <a:lstStyle/>
          <a:p>
            <a:fld id="{B92AFB71-4BE5-44E7-9108-3062C0C91BA0}" type="slidenum">
              <a:rPr lang="en-US" smtClean="0"/>
              <a:t>37</a:t>
            </a:fld>
            <a:endParaRPr lang="en-US"/>
          </a:p>
        </p:txBody>
      </p:sp>
    </p:spTree>
    <p:extLst>
      <p:ext uri="{BB962C8B-B14F-4D97-AF65-F5344CB8AC3E}">
        <p14:creationId xmlns:p14="http://schemas.microsoft.com/office/powerpoint/2010/main" val="970485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D5DA92-B40D-4745-B61C-FE14B0CDFEF3}"/>
              </a:ext>
            </a:extLst>
          </p:cNvPr>
          <p:cNvSpPr>
            <a:spLocks noGrp="1"/>
          </p:cNvSpPr>
          <p:nvPr>
            <p:ph type="title"/>
          </p:nvPr>
        </p:nvSpPr>
        <p:spPr>
          <a:xfrm>
            <a:off x="838200" y="0"/>
            <a:ext cx="10515600" cy="12722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81E9EBD5-FCDA-464A-8721-011934AA4F6A}"/>
              </a:ext>
            </a:extLst>
          </p:cNvPr>
          <p:cNvSpPr>
            <a:spLocks noGrp="1"/>
          </p:cNvSpPr>
          <p:nvPr>
            <p:ph idx="1"/>
          </p:nvPr>
        </p:nvSpPr>
        <p:spPr>
          <a:xfrm>
            <a:off x="838200" y="246490"/>
            <a:ext cx="10515600" cy="5930473"/>
          </a:xfrm>
        </p:spPr>
        <p:txBody>
          <a:bodyPr>
            <a:normAutofit fontScale="92500" lnSpcReduction="20000"/>
          </a:bodyPr>
          <a:lstStyle/>
          <a:p>
            <a:pPr marL="0" indent="0">
              <a:lnSpc>
                <a:spcPct val="150000"/>
              </a:lnSpc>
              <a:buNone/>
            </a:pPr>
            <a:r>
              <a:rPr lang="en-US" sz="3200" b="1" dirty="0"/>
              <a:t>Micturition</a:t>
            </a:r>
            <a:r>
              <a:rPr lang="en-US" sz="3200" dirty="0"/>
              <a:t>: </a:t>
            </a:r>
            <a:r>
              <a:rPr lang="en-US" sz="3200" b="1" dirty="0"/>
              <a:t>men</a:t>
            </a:r>
            <a:r>
              <a:rPr lang="en-US" sz="3200" dirty="0"/>
              <a:t>- the frequency may increase due to prostatic enlargement. </a:t>
            </a:r>
            <a:r>
              <a:rPr lang="en-US" sz="3200" b="1" dirty="0"/>
              <a:t>Women</a:t>
            </a:r>
            <a:r>
              <a:rPr lang="en-US" sz="3200" dirty="0"/>
              <a:t>: urgency and stress incontinence due to increased perineal muscle tone. Nocturia increases for both men and women. With advanced age incontinence increases.</a:t>
            </a:r>
          </a:p>
          <a:p>
            <a:pPr algn="ctr">
              <a:lnSpc>
                <a:spcPct val="150000"/>
              </a:lnSpc>
              <a:buNone/>
            </a:pPr>
            <a:r>
              <a:rPr lang="en-US" sz="3200" b="1" dirty="0"/>
              <a:t>Reproductive system</a:t>
            </a:r>
          </a:p>
          <a:p>
            <a:pPr marL="0" indent="0">
              <a:lnSpc>
                <a:spcPct val="150000"/>
              </a:lnSpc>
              <a:buNone/>
            </a:pPr>
            <a:r>
              <a:rPr lang="en-US" sz="3200" b="1" dirty="0"/>
              <a:t>Female</a:t>
            </a:r>
            <a:r>
              <a:rPr lang="en-US" sz="3200" dirty="0"/>
              <a:t>: there is reduction in estrogen causing atrophy of the breasts, ovary, uterus, and epithelial lining of the vaginal wall. The vaginal canal narrows and shortens. vaginal secretions reduce and become more alkaline leading to increased rate of vaginitis.</a:t>
            </a:r>
          </a:p>
          <a:p>
            <a:pPr marL="0" indent="0">
              <a:lnSpc>
                <a:spcPct val="150000"/>
              </a:lnSpc>
              <a:buNone/>
            </a:pPr>
            <a:endParaRPr lang="en-US" sz="3200" dirty="0"/>
          </a:p>
          <a:p>
            <a:endParaRPr lang="en-US" dirty="0"/>
          </a:p>
        </p:txBody>
      </p:sp>
      <p:sp>
        <p:nvSpPr>
          <p:cNvPr id="4" name="Date Placeholder 3">
            <a:extLst>
              <a:ext uri="{FF2B5EF4-FFF2-40B4-BE49-F238E27FC236}">
                <a16:creationId xmlns:a16="http://schemas.microsoft.com/office/drawing/2014/main" xmlns="" id="{675000A5-59F8-4E5A-82A4-E06293C4362D}"/>
              </a:ext>
            </a:extLst>
          </p:cNvPr>
          <p:cNvSpPr>
            <a:spLocks noGrp="1"/>
          </p:cNvSpPr>
          <p:nvPr>
            <p:ph type="dt" sz="half" idx="10"/>
          </p:nvPr>
        </p:nvSpPr>
        <p:spPr/>
        <p:txBody>
          <a:bodyPr/>
          <a:lstStyle/>
          <a:p>
            <a:fld id="{9E6928F4-D4F6-46B0-9D8B-473A00E025C4}" type="datetime1">
              <a:rPr lang="en-US" smtClean="0"/>
              <a:t>5/5/2022</a:t>
            </a:fld>
            <a:endParaRPr lang="en-US"/>
          </a:p>
        </p:txBody>
      </p:sp>
      <p:sp>
        <p:nvSpPr>
          <p:cNvPr id="5" name="Slide Number Placeholder 4">
            <a:extLst>
              <a:ext uri="{FF2B5EF4-FFF2-40B4-BE49-F238E27FC236}">
                <a16:creationId xmlns:a16="http://schemas.microsoft.com/office/drawing/2014/main" xmlns="" id="{4FBC53B6-F1C8-4E15-89A4-DAFF8F7FB368}"/>
              </a:ext>
            </a:extLst>
          </p:cNvPr>
          <p:cNvSpPr>
            <a:spLocks noGrp="1"/>
          </p:cNvSpPr>
          <p:nvPr>
            <p:ph type="sldNum" sz="quarter" idx="12"/>
          </p:nvPr>
        </p:nvSpPr>
        <p:spPr/>
        <p:txBody>
          <a:bodyPr/>
          <a:lstStyle/>
          <a:p>
            <a:fld id="{B92AFB71-4BE5-44E7-9108-3062C0C91BA0}" type="slidenum">
              <a:rPr lang="en-US" smtClean="0"/>
              <a:t>38</a:t>
            </a:fld>
            <a:endParaRPr lang="en-US"/>
          </a:p>
        </p:txBody>
      </p:sp>
    </p:spTree>
    <p:extLst>
      <p:ext uri="{BB962C8B-B14F-4D97-AF65-F5344CB8AC3E}">
        <p14:creationId xmlns:p14="http://schemas.microsoft.com/office/powerpoint/2010/main" val="2120137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CA6A2-BEE0-494E-8124-CD1E3F7D62FE}"/>
              </a:ext>
            </a:extLst>
          </p:cNvPr>
          <p:cNvSpPr>
            <a:spLocks noGrp="1"/>
          </p:cNvSpPr>
          <p:nvPr>
            <p:ph type="title"/>
          </p:nvPr>
        </p:nvSpPr>
        <p:spPr>
          <a:xfrm>
            <a:off x="838200" y="71563"/>
            <a:ext cx="10515600" cy="12722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B9F88ADE-29DB-4A1A-B2D2-D4DFB742875F}"/>
              </a:ext>
            </a:extLst>
          </p:cNvPr>
          <p:cNvSpPr>
            <a:spLocks noGrp="1"/>
          </p:cNvSpPr>
          <p:nvPr>
            <p:ph idx="1"/>
          </p:nvPr>
        </p:nvSpPr>
        <p:spPr>
          <a:xfrm>
            <a:off x="838200" y="389614"/>
            <a:ext cx="10515600" cy="5787349"/>
          </a:xfrm>
        </p:spPr>
        <p:txBody>
          <a:bodyPr>
            <a:normAutofit/>
          </a:bodyPr>
          <a:lstStyle/>
          <a:p>
            <a:pPr marL="0" indent="0">
              <a:lnSpc>
                <a:spcPct val="150000"/>
              </a:lnSpc>
              <a:buNone/>
            </a:pPr>
            <a:r>
              <a:rPr lang="en-US" sz="3200" b="1" dirty="0"/>
              <a:t>Men</a:t>
            </a:r>
            <a:r>
              <a:rPr lang="en-US" sz="3200" dirty="0"/>
              <a:t>: there is a decrease in the production of  testosterone leading to decreased sexual drive and lowered fertility. Testes decrease in size, sperm count decreases; and viscosity of seminal fluid diminishes.</a:t>
            </a:r>
          </a:p>
          <a:p>
            <a:pPr algn="ctr">
              <a:lnSpc>
                <a:spcPct val="150000"/>
              </a:lnSpc>
              <a:buNone/>
            </a:pPr>
            <a:r>
              <a:rPr lang="en-US" sz="3200" b="1" dirty="0"/>
              <a:t>Musculoskeletal changes</a:t>
            </a:r>
          </a:p>
          <a:p>
            <a:pPr marL="0" indent="0">
              <a:lnSpc>
                <a:spcPct val="150000"/>
              </a:lnSpc>
              <a:buNone/>
            </a:pPr>
            <a:r>
              <a:rPr lang="en-US" sz="3200" b="1" dirty="0"/>
              <a:t>Muscles</a:t>
            </a:r>
            <a:r>
              <a:rPr lang="en-US" sz="3200" dirty="0"/>
              <a:t>: there is decreased muscle mass all over the body leading to reduced physical strength.</a:t>
            </a:r>
          </a:p>
          <a:p>
            <a:pPr marL="0" indent="0">
              <a:lnSpc>
                <a:spcPct val="150000"/>
              </a:lnSpc>
              <a:buNone/>
            </a:pPr>
            <a:endParaRPr lang="en-US" sz="3200" dirty="0"/>
          </a:p>
          <a:p>
            <a:endParaRPr lang="en-US" dirty="0"/>
          </a:p>
        </p:txBody>
      </p:sp>
      <p:sp>
        <p:nvSpPr>
          <p:cNvPr id="4" name="Date Placeholder 3">
            <a:extLst>
              <a:ext uri="{FF2B5EF4-FFF2-40B4-BE49-F238E27FC236}">
                <a16:creationId xmlns:a16="http://schemas.microsoft.com/office/drawing/2014/main" xmlns="" id="{0A21576E-BAAD-4EE9-84EB-BD3C2BC9CA20}"/>
              </a:ext>
            </a:extLst>
          </p:cNvPr>
          <p:cNvSpPr>
            <a:spLocks noGrp="1"/>
          </p:cNvSpPr>
          <p:nvPr>
            <p:ph type="dt" sz="half" idx="10"/>
          </p:nvPr>
        </p:nvSpPr>
        <p:spPr/>
        <p:txBody>
          <a:bodyPr/>
          <a:lstStyle/>
          <a:p>
            <a:fld id="{DC402984-EC3C-4F8A-8562-547B9E19F928}" type="datetime1">
              <a:rPr lang="en-US" smtClean="0"/>
              <a:t>5/5/2022</a:t>
            </a:fld>
            <a:endParaRPr lang="en-US"/>
          </a:p>
        </p:txBody>
      </p:sp>
      <p:sp>
        <p:nvSpPr>
          <p:cNvPr id="5" name="Slide Number Placeholder 4">
            <a:extLst>
              <a:ext uri="{FF2B5EF4-FFF2-40B4-BE49-F238E27FC236}">
                <a16:creationId xmlns:a16="http://schemas.microsoft.com/office/drawing/2014/main" xmlns="" id="{A7F4D290-70C9-4461-A408-5F46D4A99E5D}"/>
              </a:ext>
            </a:extLst>
          </p:cNvPr>
          <p:cNvSpPr>
            <a:spLocks noGrp="1"/>
          </p:cNvSpPr>
          <p:nvPr>
            <p:ph type="sldNum" sz="quarter" idx="12"/>
          </p:nvPr>
        </p:nvSpPr>
        <p:spPr/>
        <p:txBody>
          <a:bodyPr/>
          <a:lstStyle/>
          <a:p>
            <a:fld id="{B92AFB71-4BE5-44E7-9108-3062C0C91BA0}" type="slidenum">
              <a:rPr lang="en-US" smtClean="0"/>
              <a:t>39</a:t>
            </a:fld>
            <a:endParaRPr lang="en-US"/>
          </a:p>
        </p:txBody>
      </p:sp>
    </p:spTree>
    <p:extLst>
      <p:ext uri="{BB962C8B-B14F-4D97-AF65-F5344CB8AC3E}">
        <p14:creationId xmlns:p14="http://schemas.microsoft.com/office/powerpoint/2010/main" val="1133190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5125C1-9EEF-44ED-9E18-2EB248E129A7}"/>
              </a:ext>
            </a:extLst>
          </p:cNvPr>
          <p:cNvSpPr>
            <a:spLocks noGrp="1"/>
          </p:cNvSpPr>
          <p:nvPr>
            <p:ph type="title"/>
          </p:nvPr>
        </p:nvSpPr>
        <p:spPr>
          <a:xfrm>
            <a:off x="838200" y="135172"/>
            <a:ext cx="10515600" cy="19878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33A611C-4ED5-4C40-804A-EAAA0C92CCD8}"/>
              </a:ext>
            </a:extLst>
          </p:cNvPr>
          <p:cNvSpPr>
            <a:spLocks noGrp="1"/>
          </p:cNvSpPr>
          <p:nvPr>
            <p:ph idx="1"/>
          </p:nvPr>
        </p:nvSpPr>
        <p:spPr>
          <a:xfrm>
            <a:off x="838200" y="524786"/>
            <a:ext cx="10515600" cy="5652177"/>
          </a:xfrm>
        </p:spPr>
        <p:txBody>
          <a:bodyPr>
            <a:normAutofit fontScale="77500" lnSpcReduction="20000"/>
          </a:bodyPr>
          <a:lstStyle/>
          <a:p>
            <a:pPr marL="0" indent="0">
              <a:lnSpc>
                <a:spcPct val="150000"/>
              </a:lnSpc>
              <a:buNone/>
            </a:pPr>
            <a:r>
              <a:rPr lang="en-US" sz="3200" b="1" dirty="0"/>
              <a:t>Bones</a:t>
            </a:r>
            <a:r>
              <a:rPr lang="en-US" sz="3200" dirty="0"/>
              <a:t>: there is reduction in calcium and phosphorous causing the bones to be porous and weak. There is shortening in height due to intervertebral space narrowing.</a:t>
            </a:r>
          </a:p>
          <a:p>
            <a:pPr marL="0" indent="0">
              <a:lnSpc>
                <a:spcPct val="150000"/>
              </a:lnSpc>
              <a:buNone/>
            </a:pPr>
            <a:r>
              <a:rPr lang="en-US" sz="3200" b="1" dirty="0"/>
              <a:t>Joints</a:t>
            </a:r>
            <a:r>
              <a:rPr lang="en-US" sz="3200" dirty="0"/>
              <a:t>: the joints become less flexible  and less mobile and there is reduced range of movements.</a:t>
            </a:r>
          </a:p>
          <a:p>
            <a:pPr algn="ctr">
              <a:lnSpc>
                <a:spcPct val="150000"/>
              </a:lnSpc>
              <a:buNone/>
            </a:pPr>
            <a:r>
              <a:rPr lang="en-US" sz="3200" b="1" dirty="0"/>
              <a:t>Digestive system</a:t>
            </a:r>
            <a:endParaRPr lang="en-US" sz="3200" dirty="0"/>
          </a:p>
          <a:p>
            <a:pPr>
              <a:lnSpc>
                <a:spcPct val="150000"/>
              </a:lnSpc>
            </a:pPr>
            <a:r>
              <a:rPr lang="en-US" sz="3200" dirty="0"/>
              <a:t>There is partial or total loss of the teeth and malocclusion leading to impaired mastication.</a:t>
            </a:r>
          </a:p>
          <a:p>
            <a:pPr marL="0" indent="0">
              <a:lnSpc>
                <a:spcPct val="150000"/>
              </a:lnSpc>
              <a:buNone/>
            </a:pPr>
            <a:r>
              <a:rPr lang="en-US" sz="3200" b="1" dirty="0"/>
              <a:t>Swallowing</a:t>
            </a:r>
            <a:r>
              <a:rPr lang="en-US" sz="3200" dirty="0"/>
              <a:t> is more difficulty as salivary secretions diminish and therefore old people prefer soft diet.</a:t>
            </a:r>
          </a:p>
          <a:p>
            <a:pPr marL="0" indent="0">
              <a:buNone/>
            </a:pPr>
            <a:endParaRPr lang="en-US" dirty="0"/>
          </a:p>
          <a:p>
            <a:endParaRPr lang="en-US" dirty="0"/>
          </a:p>
        </p:txBody>
      </p:sp>
      <p:sp>
        <p:nvSpPr>
          <p:cNvPr id="4" name="Date Placeholder 3">
            <a:extLst>
              <a:ext uri="{FF2B5EF4-FFF2-40B4-BE49-F238E27FC236}">
                <a16:creationId xmlns:a16="http://schemas.microsoft.com/office/drawing/2014/main" xmlns="" id="{499A7079-61C2-4543-B4C2-63F6B8E3A2D5}"/>
              </a:ext>
            </a:extLst>
          </p:cNvPr>
          <p:cNvSpPr>
            <a:spLocks noGrp="1"/>
          </p:cNvSpPr>
          <p:nvPr>
            <p:ph type="dt" sz="half" idx="10"/>
          </p:nvPr>
        </p:nvSpPr>
        <p:spPr/>
        <p:txBody>
          <a:bodyPr/>
          <a:lstStyle/>
          <a:p>
            <a:fld id="{FC392143-987F-4EEF-9310-A16F8CD3448C}" type="datetime1">
              <a:rPr lang="en-US" smtClean="0"/>
              <a:t>5/5/2022</a:t>
            </a:fld>
            <a:endParaRPr lang="en-US"/>
          </a:p>
        </p:txBody>
      </p:sp>
      <p:sp>
        <p:nvSpPr>
          <p:cNvPr id="5" name="Slide Number Placeholder 4">
            <a:extLst>
              <a:ext uri="{FF2B5EF4-FFF2-40B4-BE49-F238E27FC236}">
                <a16:creationId xmlns:a16="http://schemas.microsoft.com/office/drawing/2014/main" xmlns="" id="{786FECE3-C2F1-45F6-9FD7-CA975D087F9F}"/>
              </a:ext>
            </a:extLst>
          </p:cNvPr>
          <p:cNvSpPr>
            <a:spLocks noGrp="1"/>
          </p:cNvSpPr>
          <p:nvPr>
            <p:ph type="sldNum" sz="quarter" idx="12"/>
          </p:nvPr>
        </p:nvSpPr>
        <p:spPr/>
        <p:txBody>
          <a:bodyPr/>
          <a:lstStyle/>
          <a:p>
            <a:fld id="{B92AFB71-4BE5-44E7-9108-3062C0C91BA0}" type="slidenum">
              <a:rPr lang="en-US" smtClean="0"/>
              <a:t>40</a:t>
            </a:fld>
            <a:endParaRPr lang="en-US"/>
          </a:p>
        </p:txBody>
      </p:sp>
    </p:spTree>
    <p:extLst>
      <p:ext uri="{BB962C8B-B14F-4D97-AF65-F5344CB8AC3E}">
        <p14:creationId xmlns:p14="http://schemas.microsoft.com/office/powerpoint/2010/main" val="24542801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59C446-CD7A-47AE-8A66-193BF3768095}"/>
              </a:ext>
            </a:extLst>
          </p:cNvPr>
          <p:cNvSpPr>
            <a:spLocks noGrp="1"/>
          </p:cNvSpPr>
          <p:nvPr>
            <p:ph type="title"/>
          </p:nvPr>
        </p:nvSpPr>
        <p:spPr>
          <a:xfrm>
            <a:off x="838200" y="79514"/>
            <a:ext cx="10515600" cy="20673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6F6686A5-954C-4667-9466-E3B898E69608}"/>
              </a:ext>
            </a:extLst>
          </p:cNvPr>
          <p:cNvSpPr>
            <a:spLocks noGrp="1"/>
          </p:cNvSpPr>
          <p:nvPr>
            <p:ph idx="1"/>
          </p:nvPr>
        </p:nvSpPr>
        <p:spPr>
          <a:xfrm>
            <a:off x="838200" y="508883"/>
            <a:ext cx="10515600" cy="5319423"/>
          </a:xfrm>
        </p:spPr>
        <p:txBody>
          <a:bodyPr>
            <a:normAutofit fontScale="85000" lnSpcReduction="20000"/>
          </a:bodyPr>
          <a:lstStyle/>
          <a:p>
            <a:pPr lvl="1">
              <a:lnSpc>
                <a:spcPct val="150000"/>
              </a:lnSpc>
            </a:pPr>
            <a:r>
              <a:rPr lang="en-US" b="1" dirty="0"/>
              <a:t>Digestion</a:t>
            </a:r>
            <a:r>
              <a:rPr lang="en-US" dirty="0"/>
              <a:t> is decreased due to reduced production of digestive enzymes.</a:t>
            </a:r>
          </a:p>
          <a:p>
            <a:pPr lvl="1">
              <a:lnSpc>
                <a:spcPct val="150000"/>
              </a:lnSpc>
            </a:pPr>
            <a:r>
              <a:rPr lang="en-US" dirty="0"/>
              <a:t>Sluggish </a:t>
            </a:r>
            <a:r>
              <a:rPr lang="en-US" b="1" dirty="0"/>
              <a:t>peristalsis</a:t>
            </a:r>
            <a:r>
              <a:rPr lang="en-US" dirty="0"/>
              <a:t> due to reduced gastrointestinal motility leading to constipation.</a:t>
            </a:r>
          </a:p>
          <a:p>
            <a:pPr lvl="1">
              <a:lnSpc>
                <a:spcPct val="150000"/>
              </a:lnSpc>
            </a:pPr>
            <a:r>
              <a:rPr lang="en-US" b="1" dirty="0"/>
              <a:t>Esophagus</a:t>
            </a:r>
            <a:r>
              <a:rPr lang="en-US" dirty="0"/>
              <a:t>: there is decreased esophageal peristalsis. Increased incidence of hiatus hernia with accompanying gases distention</a:t>
            </a:r>
          </a:p>
          <a:p>
            <a:pPr algn="ctr">
              <a:lnSpc>
                <a:spcPct val="150000"/>
              </a:lnSpc>
              <a:buNone/>
            </a:pPr>
            <a:r>
              <a:rPr lang="en-US" b="1" dirty="0"/>
              <a:t>Nervous system </a:t>
            </a:r>
          </a:p>
          <a:p>
            <a:pPr>
              <a:lnSpc>
                <a:spcPct val="150000"/>
              </a:lnSpc>
            </a:pPr>
            <a:r>
              <a:rPr lang="en-US" dirty="0"/>
              <a:t>There is general decrease in the ability to respond to stimuli. </a:t>
            </a:r>
          </a:p>
          <a:p>
            <a:pPr lvl="1">
              <a:lnSpc>
                <a:spcPct val="150000"/>
              </a:lnSpc>
            </a:pPr>
            <a:r>
              <a:rPr lang="en-US" dirty="0"/>
              <a:t>Reflexes are slowed. </a:t>
            </a:r>
          </a:p>
          <a:p>
            <a:pPr lvl="1">
              <a:lnSpc>
                <a:spcPct val="150000"/>
              </a:lnSpc>
            </a:pPr>
            <a:r>
              <a:rPr lang="en-US" dirty="0"/>
              <a:t>There is decline in ability to learn new skills and experiences. </a:t>
            </a:r>
          </a:p>
          <a:p>
            <a:pPr lvl="1">
              <a:lnSpc>
                <a:spcPct val="150000"/>
              </a:lnSpc>
            </a:pPr>
            <a:r>
              <a:rPr lang="en-US" dirty="0"/>
              <a:t>Older people forget easily . Preservation of memory of past experiences is good. Older people have difficulties making decisions. They have difficulties in remembering  immediate or recent events.</a:t>
            </a:r>
          </a:p>
          <a:p>
            <a:pPr lvl="1"/>
            <a:endParaRPr lang="en-US" dirty="0"/>
          </a:p>
          <a:p>
            <a:endParaRPr lang="en-US" dirty="0"/>
          </a:p>
        </p:txBody>
      </p:sp>
      <p:sp>
        <p:nvSpPr>
          <p:cNvPr id="4" name="Date Placeholder 3">
            <a:extLst>
              <a:ext uri="{FF2B5EF4-FFF2-40B4-BE49-F238E27FC236}">
                <a16:creationId xmlns:a16="http://schemas.microsoft.com/office/drawing/2014/main" xmlns="" id="{DA80F817-AC97-417D-B0E4-87496982774D}"/>
              </a:ext>
            </a:extLst>
          </p:cNvPr>
          <p:cNvSpPr>
            <a:spLocks noGrp="1"/>
          </p:cNvSpPr>
          <p:nvPr>
            <p:ph type="dt" sz="half" idx="10"/>
          </p:nvPr>
        </p:nvSpPr>
        <p:spPr/>
        <p:txBody>
          <a:bodyPr/>
          <a:lstStyle/>
          <a:p>
            <a:fld id="{BEC0DC69-212F-45D8-A523-F43468C16BF7}" type="datetime1">
              <a:rPr lang="en-US" smtClean="0"/>
              <a:t>5/5/2022</a:t>
            </a:fld>
            <a:endParaRPr lang="en-US"/>
          </a:p>
        </p:txBody>
      </p:sp>
      <p:sp>
        <p:nvSpPr>
          <p:cNvPr id="5" name="Slide Number Placeholder 4">
            <a:extLst>
              <a:ext uri="{FF2B5EF4-FFF2-40B4-BE49-F238E27FC236}">
                <a16:creationId xmlns:a16="http://schemas.microsoft.com/office/drawing/2014/main" xmlns="" id="{032A96B7-AD77-466B-BFD8-5DB2F19831C1}"/>
              </a:ext>
            </a:extLst>
          </p:cNvPr>
          <p:cNvSpPr>
            <a:spLocks noGrp="1"/>
          </p:cNvSpPr>
          <p:nvPr>
            <p:ph type="sldNum" sz="quarter" idx="12"/>
          </p:nvPr>
        </p:nvSpPr>
        <p:spPr/>
        <p:txBody>
          <a:bodyPr/>
          <a:lstStyle/>
          <a:p>
            <a:fld id="{B92AFB71-4BE5-44E7-9108-3062C0C91BA0}" type="slidenum">
              <a:rPr lang="en-US" smtClean="0"/>
              <a:t>41</a:t>
            </a:fld>
            <a:endParaRPr lang="en-US"/>
          </a:p>
        </p:txBody>
      </p:sp>
    </p:spTree>
    <p:extLst>
      <p:ext uri="{BB962C8B-B14F-4D97-AF65-F5344CB8AC3E}">
        <p14:creationId xmlns:p14="http://schemas.microsoft.com/office/powerpoint/2010/main" val="2687484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EE993E-D834-4D91-BDD5-CA4E28E76A61}"/>
              </a:ext>
            </a:extLst>
          </p:cNvPr>
          <p:cNvSpPr>
            <a:spLocks noGrp="1"/>
          </p:cNvSpPr>
          <p:nvPr>
            <p:ph type="title"/>
          </p:nvPr>
        </p:nvSpPr>
        <p:spPr>
          <a:xfrm>
            <a:off x="838200" y="365126"/>
            <a:ext cx="10515600" cy="39820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320C6FCD-2EA3-4804-B5DE-ED7559DBADA3}"/>
              </a:ext>
            </a:extLst>
          </p:cNvPr>
          <p:cNvSpPr>
            <a:spLocks noGrp="1"/>
          </p:cNvSpPr>
          <p:nvPr>
            <p:ph idx="1"/>
          </p:nvPr>
        </p:nvSpPr>
        <p:spPr>
          <a:xfrm>
            <a:off x="853440" y="1041621"/>
            <a:ext cx="10515600" cy="5135342"/>
          </a:xfrm>
        </p:spPr>
        <p:txBody>
          <a:bodyPr>
            <a:normAutofit fontScale="77500" lnSpcReduction="20000"/>
          </a:bodyPr>
          <a:lstStyle/>
          <a:p>
            <a:pPr>
              <a:lnSpc>
                <a:spcPct val="160000"/>
              </a:lnSpc>
            </a:pPr>
            <a:r>
              <a:rPr lang="en-US" sz="3200" b="1" dirty="0"/>
              <a:t>Sleep</a:t>
            </a:r>
            <a:r>
              <a:rPr lang="en-US" sz="3200" dirty="0"/>
              <a:t>: the elderly stay in bed longer but sleep less.</a:t>
            </a:r>
          </a:p>
          <a:p>
            <a:pPr>
              <a:lnSpc>
                <a:spcPct val="160000"/>
              </a:lnSpc>
            </a:pPr>
            <a:r>
              <a:rPr lang="en-US" sz="3200" b="1" dirty="0"/>
              <a:t>Vision</a:t>
            </a:r>
            <a:r>
              <a:rPr lang="en-US" sz="3200" dirty="0"/>
              <a:t>: it decrease in accommodation due to hardening of the lens and this requires collection of the lens.</a:t>
            </a:r>
          </a:p>
          <a:p>
            <a:pPr lvl="1">
              <a:lnSpc>
                <a:spcPct val="160000"/>
              </a:lnSpc>
            </a:pPr>
            <a:r>
              <a:rPr lang="en-US" sz="3200" dirty="0"/>
              <a:t>The lens may develop opacity and cataract formation.</a:t>
            </a:r>
          </a:p>
          <a:p>
            <a:pPr lvl="1">
              <a:lnSpc>
                <a:spcPct val="160000"/>
              </a:lnSpc>
            </a:pPr>
            <a:r>
              <a:rPr lang="en-US" sz="3200" dirty="0"/>
              <a:t>There is decreased lacrimation leading to frequent infection of the eyes</a:t>
            </a:r>
          </a:p>
          <a:p>
            <a:pPr lvl="1">
              <a:lnSpc>
                <a:spcPct val="160000"/>
              </a:lnSpc>
            </a:pPr>
            <a:r>
              <a:rPr lang="en-US" sz="3200" dirty="0"/>
              <a:t>There is inability to adapt to darkness resulting from presbyopia.</a:t>
            </a:r>
          </a:p>
          <a:p>
            <a:pPr lvl="1">
              <a:lnSpc>
                <a:spcPct val="160000"/>
              </a:lnSpc>
            </a:pPr>
            <a:r>
              <a:rPr lang="en-US" sz="3200" dirty="0"/>
              <a:t>There is diminished color perception due to loss of cones in retina</a:t>
            </a:r>
          </a:p>
          <a:p>
            <a:pPr lvl="1">
              <a:lnSpc>
                <a:spcPct val="160000"/>
              </a:lnSpc>
            </a:pPr>
            <a:r>
              <a:rPr lang="en-US" sz="3200" dirty="0"/>
              <a:t>Sunken appearance of the eye due to loss of orbital fat.</a:t>
            </a:r>
          </a:p>
          <a:p>
            <a:endParaRPr lang="en-US" dirty="0"/>
          </a:p>
        </p:txBody>
      </p:sp>
      <p:sp>
        <p:nvSpPr>
          <p:cNvPr id="4" name="Date Placeholder 3">
            <a:extLst>
              <a:ext uri="{FF2B5EF4-FFF2-40B4-BE49-F238E27FC236}">
                <a16:creationId xmlns:a16="http://schemas.microsoft.com/office/drawing/2014/main" xmlns="" id="{666D771D-EB8D-490F-8A9B-8DFB5244F890}"/>
              </a:ext>
            </a:extLst>
          </p:cNvPr>
          <p:cNvSpPr>
            <a:spLocks noGrp="1"/>
          </p:cNvSpPr>
          <p:nvPr>
            <p:ph type="dt" sz="half" idx="10"/>
          </p:nvPr>
        </p:nvSpPr>
        <p:spPr/>
        <p:txBody>
          <a:bodyPr/>
          <a:lstStyle/>
          <a:p>
            <a:fld id="{921C1BB5-8104-41CB-9452-27FCA1488DC0}" type="datetime1">
              <a:rPr lang="en-US" smtClean="0"/>
              <a:t>5/5/2022</a:t>
            </a:fld>
            <a:endParaRPr lang="en-US"/>
          </a:p>
        </p:txBody>
      </p:sp>
      <p:sp>
        <p:nvSpPr>
          <p:cNvPr id="5" name="Slide Number Placeholder 4">
            <a:extLst>
              <a:ext uri="{FF2B5EF4-FFF2-40B4-BE49-F238E27FC236}">
                <a16:creationId xmlns:a16="http://schemas.microsoft.com/office/drawing/2014/main" xmlns="" id="{4C554C11-1376-42D6-A948-D72579513046}"/>
              </a:ext>
            </a:extLst>
          </p:cNvPr>
          <p:cNvSpPr>
            <a:spLocks noGrp="1"/>
          </p:cNvSpPr>
          <p:nvPr>
            <p:ph type="sldNum" sz="quarter" idx="12"/>
          </p:nvPr>
        </p:nvSpPr>
        <p:spPr/>
        <p:txBody>
          <a:bodyPr/>
          <a:lstStyle/>
          <a:p>
            <a:fld id="{B92AFB71-4BE5-44E7-9108-3062C0C91BA0}" type="slidenum">
              <a:rPr lang="en-US" smtClean="0"/>
              <a:t>42</a:t>
            </a:fld>
            <a:endParaRPr lang="en-US"/>
          </a:p>
        </p:txBody>
      </p:sp>
    </p:spTree>
    <p:extLst>
      <p:ext uri="{BB962C8B-B14F-4D97-AF65-F5344CB8AC3E}">
        <p14:creationId xmlns:p14="http://schemas.microsoft.com/office/powerpoint/2010/main" val="25106563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E93B77-D6F7-46E2-88FB-0E06F992413C}"/>
              </a:ext>
            </a:extLst>
          </p:cNvPr>
          <p:cNvSpPr>
            <a:spLocks noGrp="1"/>
          </p:cNvSpPr>
          <p:nvPr>
            <p:ph type="title"/>
          </p:nvPr>
        </p:nvSpPr>
        <p:spPr>
          <a:xfrm>
            <a:off x="838200" y="119271"/>
            <a:ext cx="10515600" cy="12721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C507D70D-D410-49BF-81A3-818DC8B0E2C5}"/>
              </a:ext>
            </a:extLst>
          </p:cNvPr>
          <p:cNvSpPr>
            <a:spLocks noGrp="1"/>
          </p:cNvSpPr>
          <p:nvPr>
            <p:ph idx="1"/>
          </p:nvPr>
        </p:nvSpPr>
        <p:spPr>
          <a:xfrm>
            <a:off x="838200" y="421419"/>
            <a:ext cx="10515600" cy="5755544"/>
          </a:xfrm>
        </p:spPr>
        <p:txBody>
          <a:bodyPr/>
          <a:lstStyle/>
          <a:p>
            <a:pPr>
              <a:lnSpc>
                <a:spcPct val="150000"/>
              </a:lnSpc>
            </a:pPr>
            <a:r>
              <a:rPr lang="en-US" sz="3200" b="1" dirty="0"/>
              <a:t>Hearing</a:t>
            </a:r>
            <a:r>
              <a:rPr lang="en-US" sz="3200" dirty="0"/>
              <a:t>: there is progressive decrease in auditory threshold( ability to hear many sounds decrease especially higher frequencies). The reduced ability to hear causes a sense of suspiciousness to develop in some old people.</a:t>
            </a:r>
          </a:p>
          <a:p>
            <a:pPr>
              <a:lnSpc>
                <a:spcPct val="150000"/>
              </a:lnSpc>
            </a:pPr>
            <a:r>
              <a:rPr lang="en-US" sz="3200" b="1" dirty="0"/>
              <a:t>Smell</a:t>
            </a:r>
            <a:r>
              <a:rPr lang="en-US" sz="3200" dirty="0"/>
              <a:t>: there is some decline in sensitivity to usual smells.</a:t>
            </a:r>
          </a:p>
          <a:p>
            <a:pPr>
              <a:lnSpc>
                <a:spcPct val="150000"/>
              </a:lnSpc>
            </a:pPr>
            <a:r>
              <a:rPr lang="en-US" sz="3200" b="1" dirty="0"/>
              <a:t>Taste</a:t>
            </a:r>
            <a:r>
              <a:rPr lang="en-US" sz="3200" dirty="0"/>
              <a:t>: there may be decrease in the number of taste buds on the tongue causing an increased complaints about food.</a:t>
            </a:r>
          </a:p>
          <a:p>
            <a:endParaRPr lang="en-US" dirty="0"/>
          </a:p>
        </p:txBody>
      </p:sp>
      <p:sp>
        <p:nvSpPr>
          <p:cNvPr id="4" name="Date Placeholder 3">
            <a:extLst>
              <a:ext uri="{FF2B5EF4-FFF2-40B4-BE49-F238E27FC236}">
                <a16:creationId xmlns:a16="http://schemas.microsoft.com/office/drawing/2014/main" xmlns="" id="{15918FFC-0133-4B33-9C3B-DA17CFC9BB98}"/>
              </a:ext>
            </a:extLst>
          </p:cNvPr>
          <p:cNvSpPr>
            <a:spLocks noGrp="1"/>
          </p:cNvSpPr>
          <p:nvPr>
            <p:ph type="dt" sz="half" idx="10"/>
          </p:nvPr>
        </p:nvSpPr>
        <p:spPr/>
        <p:txBody>
          <a:bodyPr/>
          <a:lstStyle/>
          <a:p>
            <a:fld id="{A048B8C0-6321-479E-8BAD-AAE4E034510A}" type="datetime1">
              <a:rPr lang="en-US" smtClean="0"/>
              <a:t>5/5/2022</a:t>
            </a:fld>
            <a:endParaRPr lang="en-US"/>
          </a:p>
        </p:txBody>
      </p:sp>
      <p:sp>
        <p:nvSpPr>
          <p:cNvPr id="5" name="Slide Number Placeholder 4">
            <a:extLst>
              <a:ext uri="{FF2B5EF4-FFF2-40B4-BE49-F238E27FC236}">
                <a16:creationId xmlns:a16="http://schemas.microsoft.com/office/drawing/2014/main" xmlns="" id="{1FF11C4D-E3CB-41F9-8BBA-7521911D3666}"/>
              </a:ext>
            </a:extLst>
          </p:cNvPr>
          <p:cNvSpPr>
            <a:spLocks noGrp="1"/>
          </p:cNvSpPr>
          <p:nvPr>
            <p:ph type="sldNum" sz="quarter" idx="12"/>
          </p:nvPr>
        </p:nvSpPr>
        <p:spPr/>
        <p:txBody>
          <a:bodyPr/>
          <a:lstStyle/>
          <a:p>
            <a:fld id="{B92AFB71-4BE5-44E7-9108-3062C0C91BA0}" type="slidenum">
              <a:rPr lang="en-US" smtClean="0"/>
              <a:t>43</a:t>
            </a:fld>
            <a:endParaRPr lang="en-US"/>
          </a:p>
        </p:txBody>
      </p:sp>
    </p:spTree>
    <p:extLst>
      <p:ext uri="{BB962C8B-B14F-4D97-AF65-F5344CB8AC3E}">
        <p14:creationId xmlns:p14="http://schemas.microsoft.com/office/powerpoint/2010/main" val="20335813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92BC12-EE3C-4720-A6D9-8C17F58EB95D}"/>
              </a:ext>
            </a:extLst>
          </p:cNvPr>
          <p:cNvSpPr>
            <a:spLocks noGrp="1"/>
          </p:cNvSpPr>
          <p:nvPr>
            <p:ph type="title"/>
          </p:nvPr>
        </p:nvSpPr>
        <p:spPr>
          <a:xfrm>
            <a:off x="838200" y="159026"/>
            <a:ext cx="10515600" cy="11131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B2C37D1B-48B4-4713-AFB2-0FDDEA698115}"/>
              </a:ext>
            </a:extLst>
          </p:cNvPr>
          <p:cNvSpPr>
            <a:spLocks noGrp="1"/>
          </p:cNvSpPr>
          <p:nvPr>
            <p:ph idx="1"/>
          </p:nvPr>
        </p:nvSpPr>
        <p:spPr>
          <a:xfrm>
            <a:off x="838200" y="803082"/>
            <a:ext cx="10515600" cy="5373881"/>
          </a:xfrm>
        </p:spPr>
        <p:txBody>
          <a:bodyPr/>
          <a:lstStyle/>
          <a:p>
            <a:pPr>
              <a:lnSpc>
                <a:spcPct val="150000"/>
              </a:lnSpc>
            </a:pPr>
            <a:r>
              <a:rPr lang="en-US" sz="3200" b="1" dirty="0"/>
              <a:t>Touch</a:t>
            </a:r>
            <a:r>
              <a:rPr lang="en-US" sz="3200" dirty="0"/>
              <a:t>: there is decreased sensitivity with age but the sense does not diminish. Reduction in flexes and reaction time. Altered ability to adapt to environment. Increased pain threshold.</a:t>
            </a:r>
          </a:p>
          <a:p>
            <a:pPr>
              <a:lnSpc>
                <a:spcPct val="150000"/>
              </a:lnSpc>
            </a:pPr>
            <a:r>
              <a:rPr lang="en-US" sz="3200" b="1" dirty="0" err="1"/>
              <a:t>Propioception</a:t>
            </a:r>
            <a:r>
              <a:rPr lang="en-US" sz="3200" dirty="0"/>
              <a:t>: there is impaired perception of position and relationship to space affecting balance and coordination.</a:t>
            </a:r>
          </a:p>
          <a:p>
            <a:pPr>
              <a:lnSpc>
                <a:spcPct val="150000"/>
              </a:lnSpc>
            </a:pPr>
            <a:endParaRPr lang="en-US" dirty="0"/>
          </a:p>
        </p:txBody>
      </p:sp>
      <p:sp>
        <p:nvSpPr>
          <p:cNvPr id="4" name="Date Placeholder 3">
            <a:extLst>
              <a:ext uri="{FF2B5EF4-FFF2-40B4-BE49-F238E27FC236}">
                <a16:creationId xmlns:a16="http://schemas.microsoft.com/office/drawing/2014/main" xmlns="" id="{F4BD0877-1A05-4E2D-A7EC-FE979A02C4B1}"/>
              </a:ext>
            </a:extLst>
          </p:cNvPr>
          <p:cNvSpPr>
            <a:spLocks noGrp="1"/>
          </p:cNvSpPr>
          <p:nvPr>
            <p:ph type="dt" sz="half" idx="10"/>
          </p:nvPr>
        </p:nvSpPr>
        <p:spPr/>
        <p:txBody>
          <a:bodyPr/>
          <a:lstStyle/>
          <a:p>
            <a:fld id="{63D6CDAA-D151-47EF-8B92-50E7A38C3A8B}" type="datetime1">
              <a:rPr lang="en-US" smtClean="0"/>
              <a:t>5/5/2022</a:t>
            </a:fld>
            <a:endParaRPr lang="en-US"/>
          </a:p>
        </p:txBody>
      </p:sp>
      <p:sp>
        <p:nvSpPr>
          <p:cNvPr id="5" name="Slide Number Placeholder 4">
            <a:extLst>
              <a:ext uri="{FF2B5EF4-FFF2-40B4-BE49-F238E27FC236}">
                <a16:creationId xmlns:a16="http://schemas.microsoft.com/office/drawing/2014/main" xmlns="" id="{69B948D1-F2B6-4B11-A91A-72E12F948960}"/>
              </a:ext>
            </a:extLst>
          </p:cNvPr>
          <p:cNvSpPr>
            <a:spLocks noGrp="1"/>
          </p:cNvSpPr>
          <p:nvPr>
            <p:ph type="sldNum" sz="quarter" idx="12"/>
          </p:nvPr>
        </p:nvSpPr>
        <p:spPr/>
        <p:txBody>
          <a:bodyPr/>
          <a:lstStyle/>
          <a:p>
            <a:fld id="{B92AFB71-4BE5-44E7-9108-3062C0C91BA0}" type="slidenum">
              <a:rPr lang="en-US" smtClean="0"/>
              <a:t>44</a:t>
            </a:fld>
            <a:endParaRPr lang="en-US"/>
          </a:p>
        </p:txBody>
      </p:sp>
    </p:spTree>
    <p:extLst>
      <p:ext uri="{BB962C8B-B14F-4D97-AF65-F5344CB8AC3E}">
        <p14:creationId xmlns:p14="http://schemas.microsoft.com/office/powerpoint/2010/main" val="27338628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372EF6-3063-4A23-8C75-A214BFA8D9FC}"/>
              </a:ext>
            </a:extLst>
          </p:cNvPr>
          <p:cNvSpPr>
            <a:spLocks noGrp="1"/>
          </p:cNvSpPr>
          <p:nvPr>
            <p:ph type="title"/>
          </p:nvPr>
        </p:nvSpPr>
        <p:spPr>
          <a:xfrm>
            <a:off x="838200" y="326003"/>
            <a:ext cx="10515600" cy="707667"/>
          </a:xfrm>
        </p:spPr>
        <p:txBody>
          <a:bodyPr>
            <a:normAutofit/>
          </a:bodyPr>
          <a:lstStyle/>
          <a:p>
            <a:pPr algn="ctr"/>
            <a:r>
              <a:rPr lang="en-US" sz="3200" b="1" dirty="0"/>
              <a:t>2. Psychosocial changes</a:t>
            </a:r>
            <a:endParaRPr lang="en-US" sz="3200" dirty="0"/>
          </a:p>
        </p:txBody>
      </p:sp>
      <p:sp>
        <p:nvSpPr>
          <p:cNvPr id="3" name="Content Placeholder 2">
            <a:extLst>
              <a:ext uri="{FF2B5EF4-FFF2-40B4-BE49-F238E27FC236}">
                <a16:creationId xmlns:a16="http://schemas.microsoft.com/office/drawing/2014/main" xmlns="" id="{21729A7D-6486-4286-B383-43185827C551}"/>
              </a:ext>
            </a:extLst>
          </p:cNvPr>
          <p:cNvSpPr>
            <a:spLocks noGrp="1"/>
          </p:cNvSpPr>
          <p:nvPr>
            <p:ph idx="1"/>
          </p:nvPr>
        </p:nvSpPr>
        <p:spPr>
          <a:xfrm>
            <a:off x="838200" y="1033670"/>
            <a:ext cx="10515600" cy="5143293"/>
          </a:xfrm>
        </p:spPr>
        <p:txBody>
          <a:bodyPr/>
          <a:lstStyle/>
          <a:p>
            <a:pPr>
              <a:lnSpc>
                <a:spcPct val="150000"/>
              </a:lnSpc>
            </a:pPr>
            <a:r>
              <a:rPr lang="en-US" sz="3200" dirty="0"/>
              <a:t>Successful psychological aging is reflected in the ability of the aged to adapt to the physical, social and emotional losses, and to achieve life satisfaction</a:t>
            </a:r>
          </a:p>
          <a:p>
            <a:pPr>
              <a:lnSpc>
                <a:spcPct val="150000"/>
              </a:lnSpc>
            </a:pPr>
            <a:r>
              <a:rPr lang="en-US" sz="3200" dirty="0"/>
              <a:t>Triggers of negative feelings about aging are: fear of aging, retirement and perceived non productivity</a:t>
            </a:r>
          </a:p>
          <a:p>
            <a:endParaRPr lang="en-US" dirty="0"/>
          </a:p>
        </p:txBody>
      </p:sp>
      <p:sp>
        <p:nvSpPr>
          <p:cNvPr id="4" name="Date Placeholder 3">
            <a:extLst>
              <a:ext uri="{FF2B5EF4-FFF2-40B4-BE49-F238E27FC236}">
                <a16:creationId xmlns:a16="http://schemas.microsoft.com/office/drawing/2014/main" xmlns="" id="{B3A3CF6C-85AE-4934-81ED-354E5E87D40D}"/>
              </a:ext>
            </a:extLst>
          </p:cNvPr>
          <p:cNvSpPr>
            <a:spLocks noGrp="1"/>
          </p:cNvSpPr>
          <p:nvPr>
            <p:ph type="dt" sz="half" idx="10"/>
          </p:nvPr>
        </p:nvSpPr>
        <p:spPr/>
        <p:txBody>
          <a:bodyPr/>
          <a:lstStyle/>
          <a:p>
            <a:fld id="{830648CB-15B9-4781-BDB9-7BCFF84CAA4E}" type="datetime1">
              <a:rPr lang="en-US" smtClean="0"/>
              <a:t>5/5/2022</a:t>
            </a:fld>
            <a:endParaRPr lang="en-US"/>
          </a:p>
        </p:txBody>
      </p:sp>
      <p:sp>
        <p:nvSpPr>
          <p:cNvPr id="5" name="Slide Number Placeholder 4">
            <a:extLst>
              <a:ext uri="{FF2B5EF4-FFF2-40B4-BE49-F238E27FC236}">
                <a16:creationId xmlns:a16="http://schemas.microsoft.com/office/drawing/2014/main" xmlns="" id="{6528A8B2-14C9-454D-9CFA-58959B2C3C19}"/>
              </a:ext>
            </a:extLst>
          </p:cNvPr>
          <p:cNvSpPr>
            <a:spLocks noGrp="1"/>
          </p:cNvSpPr>
          <p:nvPr>
            <p:ph type="sldNum" sz="quarter" idx="12"/>
          </p:nvPr>
        </p:nvSpPr>
        <p:spPr/>
        <p:txBody>
          <a:bodyPr/>
          <a:lstStyle/>
          <a:p>
            <a:fld id="{B92AFB71-4BE5-44E7-9108-3062C0C91BA0}" type="slidenum">
              <a:rPr lang="en-US" smtClean="0"/>
              <a:t>45</a:t>
            </a:fld>
            <a:endParaRPr lang="en-US"/>
          </a:p>
        </p:txBody>
      </p:sp>
    </p:spTree>
    <p:extLst>
      <p:ext uri="{BB962C8B-B14F-4D97-AF65-F5344CB8AC3E}">
        <p14:creationId xmlns:p14="http://schemas.microsoft.com/office/powerpoint/2010/main" val="33591080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5BB520-7F89-4784-BE96-F7883C39E5CE}"/>
              </a:ext>
            </a:extLst>
          </p:cNvPr>
          <p:cNvSpPr>
            <a:spLocks noGrp="1"/>
          </p:cNvSpPr>
          <p:nvPr>
            <p:ph type="title"/>
          </p:nvPr>
        </p:nvSpPr>
        <p:spPr>
          <a:xfrm>
            <a:off x="838200" y="151075"/>
            <a:ext cx="10515600" cy="15107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181E7C75-82A7-4EFC-851B-B4F5C7DD81CD}"/>
              </a:ext>
            </a:extLst>
          </p:cNvPr>
          <p:cNvSpPr>
            <a:spLocks noGrp="1"/>
          </p:cNvSpPr>
          <p:nvPr>
            <p:ph idx="1"/>
          </p:nvPr>
        </p:nvSpPr>
        <p:spPr>
          <a:xfrm>
            <a:off x="838200" y="874643"/>
            <a:ext cx="10515600" cy="5302320"/>
          </a:xfrm>
        </p:spPr>
        <p:txBody>
          <a:bodyPr>
            <a:normAutofit lnSpcReduction="10000"/>
          </a:bodyPr>
          <a:lstStyle/>
          <a:p>
            <a:pPr>
              <a:lnSpc>
                <a:spcPct val="150000"/>
              </a:lnSpc>
            </a:pPr>
            <a:r>
              <a:rPr lang="en-US" sz="3200" dirty="0"/>
              <a:t>Encourage early anticipatory plan for retirement (adequate income), develop routines not associated with work</a:t>
            </a:r>
          </a:p>
          <a:p>
            <a:pPr>
              <a:lnSpc>
                <a:spcPct val="150000"/>
              </a:lnSpc>
            </a:pPr>
            <a:r>
              <a:rPr lang="en-US" sz="3200" dirty="0"/>
              <a:t>Identify common stressors (loss, physical changes, disabilities, chronic illness), and coping strategies</a:t>
            </a:r>
          </a:p>
          <a:p>
            <a:pPr>
              <a:lnSpc>
                <a:spcPct val="150000"/>
              </a:lnSpc>
            </a:pPr>
            <a:r>
              <a:rPr lang="en-US" sz="3200" dirty="0"/>
              <a:t>Encourage independence as much as possible, and allow relocation with serious debilitating illnesses, or severe disability</a:t>
            </a:r>
          </a:p>
          <a:p>
            <a:endParaRPr lang="en-US" dirty="0"/>
          </a:p>
        </p:txBody>
      </p:sp>
      <p:sp>
        <p:nvSpPr>
          <p:cNvPr id="4" name="Date Placeholder 3">
            <a:extLst>
              <a:ext uri="{FF2B5EF4-FFF2-40B4-BE49-F238E27FC236}">
                <a16:creationId xmlns:a16="http://schemas.microsoft.com/office/drawing/2014/main" xmlns="" id="{4C41CD90-D68D-4C7C-8DEC-BC8AAFCC8250}"/>
              </a:ext>
            </a:extLst>
          </p:cNvPr>
          <p:cNvSpPr>
            <a:spLocks noGrp="1"/>
          </p:cNvSpPr>
          <p:nvPr>
            <p:ph type="dt" sz="half" idx="10"/>
          </p:nvPr>
        </p:nvSpPr>
        <p:spPr/>
        <p:txBody>
          <a:bodyPr/>
          <a:lstStyle/>
          <a:p>
            <a:fld id="{2C826515-D8A1-41F1-806D-BF5B4999CC22}" type="datetime1">
              <a:rPr lang="en-US" smtClean="0"/>
              <a:t>5/5/2022</a:t>
            </a:fld>
            <a:endParaRPr lang="en-US"/>
          </a:p>
        </p:txBody>
      </p:sp>
      <p:sp>
        <p:nvSpPr>
          <p:cNvPr id="5" name="Slide Number Placeholder 4">
            <a:extLst>
              <a:ext uri="{FF2B5EF4-FFF2-40B4-BE49-F238E27FC236}">
                <a16:creationId xmlns:a16="http://schemas.microsoft.com/office/drawing/2014/main" xmlns="" id="{440E083D-331C-488B-88AA-784245AB86B5}"/>
              </a:ext>
            </a:extLst>
          </p:cNvPr>
          <p:cNvSpPr>
            <a:spLocks noGrp="1"/>
          </p:cNvSpPr>
          <p:nvPr>
            <p:ph type="sldNum" sz="quarter" idx="12"/>
          </p:nvPr>
        </p:nvSpPr>
        <p:spPr/>
        <p:txBody>
          <a:bodyPr/>
          <a:lstStyle/>
          <a:p>
            <a:fld id="{B92AFB71-4BE5-44E7-9108-3062C0C91BA0}" type="slidenum">
              <a:rPr lang="en-US" smtClean="0"/>
              <a:t>46</a:t>
            </a:fld>
            <a:endParaRPr lang="en-US"/>
          </a:p>
        </p:txBody>
      </p:sp>
    </p:spTree>
    <p:extLst>
      <p:ext uri="{BB962C8B-B14F-4D97-AF65-F5344CB8AC3E}">
        <p14:creationId xmlns:p14="http://schemas.microsoft.com/office/powerpoint/2010/main" val="2014764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E2A919-1F13-4A36-9514-736AFB075FA3}"/>
              </a:ext>
            </a:extLst>
          </p:cNvPr>
          <p:cNvSpPr>
            <a:spLocks noGrp="1"/>
          </p:cNvSpPr>
          <p:nvPr>
            <p:ph type="title"/>
          </p:nvPr>
        </p:nvSpPr>
        <p:spPr>
          <a:xfrm>
            <a:off x="838200" y="365125"/>
            <a:ext cx="10515600" cy="1376211"/>
          </a:xfrm>
        </p:spPr>
        <p:txBody>
          <a:bodyPr>
            <a:normAutofit/>
          </a:bodyPr>
          <a:lstStyle/>
          <a:p>
            <a:pPr algn="ctr"/>
            <a:r>
              <a:rPr lang="en-US" sz="3200" b="1" dirty="0"/>
              <a:t>Abnormal conditions common in aging</a:t>
            </a:r>
            <a:endParaRPr lang="en-US" sz="3200" dirty="0"/>
          </a:p>
        </p:txBody>
      </p:sp>
      <p:sp>
        <p:nvSpPr>
          <p:cNvPr id="3" name="Content Placeholder 2">
            <a:extLst>
              <a:ext uri="{FF2B5EF4-FFF2-40B4-BE49-F238E27FC236}">
                <a16:creationId xmlns:a16="http://schemas.microsoft.com/office/drawing/2014/main" xmlns="" id="{1AC01799-3084-4BA9-A9AF-95AF7FB00CAA}"/>
              </a:ext>
            </a:extLst>
          </p:cNvPr>
          <p:cNvSpPr>
            <a:spLocks noGrp="1"/>
          </p:cNvSpPr>
          <p:nvPr>
            <p:ph idx="1"/>
          </p:nvPr>
        </p:nvSpPr>
        <p:spPr>
          <a:xfrm>
            <a:off x="838200" y="1574357"/>
            <a:ext cx="10515600" cy="4602605"/>
          </a:xfrm>
        </p:spPr>
        <p:txBody>
          <a:bodyPr/>
          <a:lstStyle/>
          <a:p>
            <a:pPr marL="0" indent="0" algn="ctr">
              <a:lnSpc>
                <a:spcPct val="150000"/>
              </a:lnSpc>
              <a:buNone/>
            </a:pPr>
            <a:r>
              <a:rPr lang="en-US" sz="3200" b="1" dirty="0"/>
              <a:t>Integumentary conditions</a:t>
            </a:r>
          </a:p>
          <a:p>
            <a:pPr lvl="1">
              <a:lnSpc>
                <a:spcPct val="150000"/>
              </a:lnSpc>
            </a:pPr>
            <a:r>
              <a:rPr lang="en-US" sz="3200" b="1" dirty="0"/>
              <a:t>Basal cell carcinoma</a:t>
            </a:r>
            <a:r>
              <a:rPr lang="en-US" sz="3200" dirty="0"/>
              <a:t>: common in older persons who have spent a lot of time in the sun. Note any pigmented area that is enlarging and is elevated from the skin. It bleeds easily when touched.</a:t>
            </a:r>
          </a:p>
          <a:p>
            <a:endParaRPr lang="en-US" dirty="0"/>
          </a:p>
        </p:txBody>
      </p:sp>
      <p:sp>
        <p:nvSpPr>
          <p:cNvPr id="4" name="Date Placeholder 3">
            <a:extLst>
              <a:ext uri="{FF2B5EF4-FFF2-40B4-BE49-F238E27FC236}">
                <a16:creationId xmlns:a16="http://schemas.microsoft.com/office/drawing/2014/main" xmlns="" id="{0099B50C-6006-45E9-A625-2D87B16E99A0}"/>
              </a:ext>
            </a:extLst>
          </p:cNvPr>
          <p:cNvSpPr>
            <a:spLocks noGrp="1"/>
          </p:cNvSpPr>
          <p:nvPr>
            <p:ph type="dt" sz="half" idx="10"/>
          </p:nvPr>
        </p:nvSpPr>
        <p:spPr/>
        <p:txBody>
          <a:bodyPr/>
          <a:lstStyle/>
          <a:p>
            <a:fld id="{0531ECE7-B90E-4CA8-98D7-7EB16BFFB5D9}" type="datetime1">
              <a:rPr lang="en-US" smtClean="0"/>
              <a:t>5/5/2022</a:t>
            </a:fld>
            <a:endParaRPr lang="en-US"/>
          </a:p>
        </p:txBody>
      </p:sp>
      <p:sp>
        <p:nvSpPr>
          <p:cNvPr id="5" name="Slide Number Placeholder 4">
            <a:extLst>
              <a:ext uri="{FF2B5EF4-FFF2-40B4-BE49-F238E27FC236}">
                <a16:creationId xmlns:a16="http://schemas.microsoft.com/office/drawing/2014/main" xmlns="" id="{C6E96B4B-D22F-449D-85AB-A972A881F176}"/>
              </a:ext>
            </a:extLst>
          </p:cNvPr>
          <p:cNvSpPr>
            <a:spLocks noGrp="1"/>
          </p:cNvSpPr>
          <p:nvPr>
            <p:ph type="sldNum" sz="quarter" idx="12"/>
          </p:nvPr>
        </p:nvSpPr>
        <p:spPr/>
        <p:txBody>
          <a:bodyPr/>
          <a:lstStyle/>
          <a:p>
            <a:fld id="{B92AFB71-4BE5-44E7-9108-3062C0C91BA0}" type="slidenum">
              <a:rPr lang="en-US" smtClean="0"/>
              <a:t>47</a:t>
            </a:fld>
            <a:endParaRPr lang="en-US"/>
          </a:p>
        </p:txBody>
      </p:sp>
    </p:spTree>
    <p:extLst>
      <p:ext uri="{BB962C8B-B14F-4D97-AF65-F5344CB8AC3E}">
        <p14:creationId xmlns:p14="http://schemas.microsoft.com/office/powerpoint/2010/main" val="11951433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4E6DF5-0B2C-4F5C-9800-CC7C7DA80B9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15083FE7-D580-437B-B239-A4C7F2441966}"/>
              </a:ext>
            </a:extLst>
          </p:cNvPr>
          <p:cNvSpPr>
            <a:spLocks noGrp="1"/>
          </p:cNvSpPr>
          <p:nvPr>
            <p:ph idx="1"/>
          </p:nvPr>
        </p:nvSpPr>
        <p:spPr/>
        <p:txBody>
          <a:bodyPr/>
          <a:lstStyle/>
          <a:p>
            <a:pPr>
              <a:lnSpc>
                <a:spcPct val="150000"/>
              </a:lnSpc>
            </a:pPr>
            <a:r>
              <a:rPr lang="en-US" sz="3200" b="1" dirty="0"/>
              <a:t>Decubitus ulcers: </a:t>
            </a:r>
            <a:r>
              <a:rPr lang="en-US" sz="3200" dirty="0"/>
              <a:t>caused by shrinkage of subcutaneous tissue that normally cushions the skin over the bony prominences. The skin of the aged person has a greater risk of breakdown. Extra care should be taken of elderly people who are bed-ridden or confined to wheelchairs.</a:t>
            </a:r>
          </a:p>
          <a:p>
            <a:endParaRPr lang="en-US" dirty="0"/>
          </a:p>
        </p:txBody>
      </p:sp>
      <p:sp>
        <p:nvSpPr>
          <p:cNvPr id="4" name="Date Placeholder 3">
            <a:extLst>
              <a:ext uri="{FF2B5EF4-FFF2-40B4-BE49-F238E27FC236}">
                <a16:creationId xmlns:a16="http://schemas.microsoft.com/office/drawing/2014/main" xmlns="" id="{C2E154AC-F000-4409-BCEE-9142529E3B39}"/>
              </a:ext>
            </a:extLst>
          </p:cNvPr>
          <p:cNvSpPr>
            <a:spLocks noGrp="1"/>
          </p:cNvSpPr>
          <p:nvPr>
            <p:ph type="dt" sz="half" idx="10"/>
          </p:nvPr>
        </p:nvSpPr>
        <p:spPr/>
        <p:txBody>
          <a:bodyPr/>
          <a:lstStyle/>
          <a:p>
            <a:fld id="{138C1C3E-C5DB-435A-97F9-9C0A2AFC51EB}" type="datetime1">
              <a:rPr lang="en-US" smtClean="0"/>
              <a:t>5/5/2022</a:t>
            </a:fld>
            <a:endParaRPr lang="en-US"/>
          </a:p>
        </p:txBody>
      </p:sp>
      <p:sp>
        <p:nvSpPr>
          <p:cNvPr id="5" name="Slide Number Placeholder 4">
            <a:extLst>
              <a:ext uri="{FF2B5EF4-FFF2-40B4-BE49-F238E27FC236}">
                <a16:creationId xmlns:a16="http://schemas.microsoft.com/office/drawing/2014/main" xmlns="" id="{256F905C-C0AB-4725-ADCA-87C7B2F3F727}"/>
              </a:ext>
            </a:extLst>
          </p:cNvPr>
          <p:cNvSpPr>
            <a:spLocks noGrp="1"/>
          </p:cNvSpPr>
          <p:nvPr>
            <p:ph type="sldNum" sz="quarter" idx="12"/>
          </p:nvPr>
        </p:nvSpPr>
        <p:spPr/>
        <p:txBody>
          <a:bodyPr/>
          <a:lstStyle/>
          <a:p>
            <a:fld id="{B92AFB71-4BE5-44E7-9108-3062C0C91BA0}" type="slidenum">
              <a:rPr lang="en-US" smtClean="0"/>
              <a:t>48</a:t>
            </a:fld>
            <a:endParaRPr lang="en-US"/>
          </a:p>
        </p:txBody>
      </p:sp>
    </p:spTree>
    <p:extLst>
      <p:ext uri="{BB962C8B-B14F-4D97-AF65-F5344CB8AC3E}">
        <p14:creationId xmlns:p14="http://schemas.microsoft.com/office/powerpoint/2010/main" val="2035768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2684D3-66F6-4395-B082-6695774B5F3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0D07E68E-C07B-464A-845A-7359BFDEFD7E}"/>
              </a:ext>
            </a:extLst>
          </p:cNvPr>
          <p:cNvSpPr>
            <a:spLocks noGrp="1"/>
          </p:cNvSpPr>
          <p:nvPr>
            <p:ph idx="1"/>
          </p:nvPr>
        </p:nvSpPr>
        <p:spPr/>
        <p:txBody>
          <a:bodyPr/>
          <a:lstStyle/>
          <a:p>
            <a:pPr>
              <a:lnSpc>
                <a:spcPct val="150000"/>
              </a:lnSpc>
            </a:pPr>
            <a:r>
              <a:rPr lang="en-US" sz="3200" b="1" dirty="0"/>
              <a:t>Hypothermia: </a:t>
            </a:r>
            <a:r>
              <a:rPr lang="en-US" sz="3200" dirty="0"/>
              <a:t>occurs due to decreased subcutaneous tissue and fat especially in very thin elder persons. Care should be taken not to expose the older person to extremes of the environment.</a:t>
            </a:r>
          </a:p>
          <a:p>
            <a:endParaRPr lang="en-US" dirty="0"/>
          </a:p>
        </p:txBody>
      </p:sp>
      <p:sp>
        <p:nvSpPr>
          <p:cNvPr id="4" name="Date Placeholder 3">
            <a:extLst>
              <a:ext uri="{FF2B5EF4-FFF2-40B4-BE49-F238E27FC236}">
                <a16:creationId xmlns:a16="http://schemas.microsoft.com/office/drawing/2014/main" xmlns="" id="{D0C1C69D-4298-43D8-89FD-B8DDC6A4FF32}"/>
              </a:ext>
            </a:extLst>
          </p:cNvPr>
          <p:cNvSpPr>
            <a:spLocks noGrp="1"/>
          </p:cNvSpPr>
          <p:nvPr>
            <p:ph type="dt" sz="half" idx="10"/>
          </p:nvPr>
        </p:nvSpPr>
        <p:spPr/>
        <p:txBody>
          <a:bodyPr/>
          <a:lstStyle/>
          <a:p>
            <a:fld id="{1F44F4E4-C1C8-4D90-809E-BA6CA8BAD3CD}" type="datetime1">
              <a:rPr lang="en-US" smtClean="0"/>
              <a:t>5/5/2022</a:t>
            </a:fld>
            <a:endParaRPr lang="en-US"/>
          </a:p>
        </p:txBody>
      </p:sp>
      <p:sp>
        <p:nvSpPr>
          <p:cNvPr id="5" name="Slide Number Placeholder 4">
            <a:extLst>
              <a:ext uri="{FF2B5EF4-FFF2-40B4-BE49-F238E27FC236}">
                <a16:creationId xmlns:a16="http://schemas.microsoft.com/office/drawing/2014/main" xmlns="" id="{D1B19AEC-3A34-4544-ABF2-AE2B1EF3F7A2}"/>
              </a:ext>
            </a:extLst>
          </p:cNvPr>
          <p:cNvSpPr>
            <a:spLocks noGrp="1"/>
          </p:cNvSpPr>
          <p:nvPr>
            <p:ph type="sldNum" sz="quarter" idx="12"/>
          </p:nvPr>
        </p:nvSpPr>
        <p:spPr/>
        <p:txBody>
          <a:bodyPr/>
          <a:lstStyle/>
          <a:p>
            <a:fld id="{B92AFB71-4BE5-44E7-9108-3062C0C91BA0}" type="slidenum">
              <a:rPr lang="en-US" smtClean="0"/>
              <a:t>49</a:t>
            </a:fld>
            <a:endParaRPr lang="en-US"/>
          </a:p>
        </p:txBody>
      </p:sp>
    </p:spTree>
    <p:extLst>
      <p:ext uri="{BB962C8B-B14F-4D97-AF65-F5344CB8AC3E}">
        <p14:creationId xmlns:p14="http://schemas.microsoft.com/office/powerpoint/2010/main" val="23385029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019052-7999-4BB2-A5E0-E13723F23CBD}"/>
              </a:ext>
            </a:extLst>
          </p:cNvPr>
          <p:cNvSpPr>
            <a:spLocks noGrp="1"/>
          </p:cNvSpPr>
          <p:nvPr>
            <p:ph type="title"/>
          </p:nvPr>
        </p:nvSpPr>
        <p:spPr>
          <a:xfrm>
            <a:off x="838200" y="365125"/>
            <a:ext cx="10515600" cy="54927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18562717-9C13-4A53-B053-197620D252E0}"/>
              </a:ext>
            </a:extLst>
          </p:cNvPr>
          <p:cNvSpPr>
            <a:spLocks noGrp="1"/>
          </p:cNvSpPr>
          <p:nvPr>
            <p:ph idx="1"/>
          </p:nvPr>
        </p:nvSpPr>
        <p:spPr>
          <a:xfrm>
            <a:off x="838200" y="1502797"/>
            <a:ext cx="10515600" cy="4674166"/>
          </a:xfrm>
        </p:spPr>
        <p:txBody>
          <a:bodyPr/>
          <a:lstStyle/>
          <a:p>
            <a:pPr marL="0" indent="0">
              <a:lnSpc>
                <a:spcPct val="150000"/>
              </a:lnSpc>
              <a:buNone/>
            </a:pPr>
            <a:r>
              <a:rPr lang="en-US" b="1" dirty="0"/>
              <a:t>         Musculoskeletal system conditions</a:t>
            </a:r>
          </a:p>
          <a:p>
            <a:pPr lvl="1">
              <a:lnSpc>
                <a:spcPct val="150000"/>
              </a:lnSpc>
            </a:pPr>
            <a:r>
              <a:rPr lang="en-US" dirty="0"/>
              <a:t>Osteoporosis</a:t>
            </a:r>
          </a:p>
          <a:p>
            <a:pPr lvl="1">
              <a:lnSpc>
                <a:spcPct val="150000"/>
              </a:lnSpc>
            </a:pPr>
            <a:r>
              <a:rPr lang="en-US" dirty="0"/>
              <a:t>Degenerative joint disease</a:t>
            </a:r>
          </a:p>
          <a:p>
            <a:pPr lvl="1">
              <a:lnSpc>
                <a:spcPct val="150000"/>
              </a:lnSpc>
            </a:pPr>
            <a:r>
              <a:rPr lang="en-US" dirty="0"/>
              <a:t>Rheumatoid arthritis</a:t>
            </a:r>
          </a:p>
          <a:p>
            <a:pPr lvl="1">
              <a:lnSpc>
                <a:spcPct val="150000"/>
              </a:lnSpc>
            </a:pPr>
            <a:r>
              <a:rPr lang="en-US" dirty="0"/>
              <a:t>Bursitis </a:t>
            </a:r>
          </a:p>
          <a:p>
            <a:endParaRPr lang="en-US" dirty="0"/>
          </a:p>
        </p:txBody>
      </p:sp>
      <p:sp>
        <p:nvSpPr>
          <p:cNvPr id="4" name="Date Placeholder 3">
            <a:extLst>
              <a:ext uri="{FF2B5EF4-FFF2-40B4-BE49-F238E27FC236}">
                <a16:creationId xmlns:a16="http://schemas.microsoft.com/office/drawing/2014/main" xmlns="" id="{0E1EA0F3-9F4B-4234-A998-89E622F537B4}"/>
              </a:ext>
            </a:extLst>
          </p:cNvPr>
          <p:cNvSpPr>
            <a:spLocks noGrp="1"/>
          </p:cNvSpPr>
          <p:nvPr>
            <p:ph type="dt" sz="half" idx="10"/>
          </p:nvPr>
        </p:nvSpPr>
        <p:spPr/>
        <p:txBody>
          <a:bodyPr/>
          <a:lstStyle/>
          <a:p>
            <a:fld id="{86888EF3-629B-47D2-8861-A04EECD865C4}" type="datetime1">
              <a:rPr lang="en-US" smtClean="0"/>
              <a:t>5/5/2022</a:t>
            </a:fld>
            <a:endParaRPr lang="en-US"/>
          </a:p>
        </p:txBody>
      </p:sp>
      <p:sp>
        <p:nvSpPr>
          <p:cNvPr id="5" name="Slide Number Placeholder 4">
            <a:extLst>
              <a:ext uri="{FF2B5EF4-FFF2-40B4-BE49-F238E27FC236}">
                <a16:creationId xmlns:a16="http://schemas.microsoft.com/office/drawing/2014/main" xmlns="" id="{47ACD7B1-DFFC-4DF1-B27C-6FF9F6D03559}"/>
              </a:ext>
            </a:extLst>
          </p:cNvPr>
          <p:cNvSpPr>
            <a:spLocks noGrp="1"/>
          </p:cNvSpPr>
          <p:nvPr>
            <p:ph type="sldNum" sz="quarter" idx="12"/>
          </p:nvPr>
        </p:nvSpPr>
        <p:spPr/>
        <p:txBody>
          <a:bodyPr/>
          <a:lstStyle/>
          <a:p>
            <a:fld id="{B92AFB71-4BE5-44E7-9108-3062C0C91BA0}" type="slidenum">
              <a:rPr lang="en-US" smtClean="0"/>
              <a:t>50</a:t>
            </a:fld>
            <a:endParaRPr lang="en-US"/>
          </a:p>
        </p:txBody>
      </p:sp>
    </p:spTree>
    <p:extLst>
      <p:ext uri="{BB962C8B-B14F-4D97-AF65-F5344CB8AC3E}">
        <p14:creationId xmlns:p14="http://schemas.microsoft.com/office/powerpoint/2010/main" val="32726324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609FC6-E223-4A31-B050-1D4AA615B72D}"/>
              </a:ext>
            </a:extLst>
          </p:cNvPr>
          <p:cNvSpPr>
            <a:spLocks noGrp="1"/>
          </p:cNvSpPr>
          <p:nvPr>
            <p:ph type="title"/>
          </p:nvPr>
        </p:nvSpPr>
        <p:spPr>
          <a:xfrm>
            <a:off x="838200" y="365126"/>
            <a:ext cx="10515600" cy="69239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19BAF42-7A13-4579-A120-BE660E97757D}"/>
              </a:ext>
            </a:extLst>
          </p:cNvPr>
          <p:cNvSpPr>
            <a:spLocks noGrp="1"/>
          </p:cNvSpPr>
          <p:nvPr>
            <p:ph idx="1"/>
          </p:nvPr>
        </p:nvSpPr>
        <p:spPr>
          <a:xfrm>
            <a:off x="838200" y="1184744"/>
            <a:ext cx="10515600" cy="4992219"/>
          </a:xfrm>
        </p:spPr>
        <p:txBody>
          <a:bodyPr/>
          <a:lstStyle/>
          <a:p>
            <a:pPr>
              <a:lnSpc>
                <a:spcPct val="150000"/>
              </a:lnSpc>
            </a:pPr>
            <a:r>
              <a:rPr lang="en-US" b="1" dirty="0"/>
              <a:t>Respiratory system conditions</a:t>
            </a:r>
          </a:p>
          <a:p>
            <a:pPr lvl="1">
              <a:lnSpc>
                <a:spcPct val="150000"/>
              </a:lnSpc>
            </a:pPr>
            <a:r>
              <a:rPr lang="en-US" dirty="0"/>
              <a:t>Chronic obstructive  pulmonary disorders e.g. emphysema, asthma, chronic bronchitis</a:t>
            </a:r>
          </a:p>
          <a:p>
            <a:pPr lvl="1">
              <a:lnSpc>
                <a:spcPct val="150000"/>
              </a:lnSpc>
            </a:pPr>
            <a:r>
              <a:rPr lang="en-US" dirty="0"/>
              <a:t>Influenza </a:t>
            </a:r>
          </a:p>
          <a:p>
            <a:pPr lvl="1">
              <a:lnSpc>
                <a:spcPct val="150000"/>
              </a:lnSpc>
            </a:pPr>
            <a:r>
              <a:rPr lang="en-US" dirty="0"/>
              <a:t>Pneumonia,  aspiration pneumonia</a:t>
            </a:r>
          </a:p>
          <a:p>
            <a:pPr lvl="1">
              <a:lnSpc>
                <a:spcPct val="150000"/>
              </a:lnSpc>
            </a:pPr>
            <a:r>
              <a:rPr lang="en-US" dirty="0"/>
              <a:t>Tuberculosis</a:t>
            </a:r>
          </a:p>
          <a:p>
            <a:pPr lvl="1">
              <a:lnSpc>
                <a:spcPct val="150000"/>
              </a:lnSpc>
            </a:pPr>
            <a:r>
              <a:rPr lang="en-US" dirty="0"/>
              <a:t>Lung cancer</a:t>
            </a:r>
          </a:p>
          <a:p>
            <a:endParaRPr lang="en-US" dirty="0"/>
          </a:p>
        </p:txBody>
      </p:sp>
      <p:sp>
        <p:nvSpPr>
          <p:cNvPr id="4" name="Date Placeholder 3">
            <a:extLst>
              <a:ext uri="{FF2B5EF4-FFF2-40B4-BE49-F238E27FC236}">
                <a16:creationId xmlns:a16="http://schemas.microsoft.com/office/drawing/2014/main" xmlns="" id="{688A51B9-51DD-4076-BB48-49906337354A}"/>
              </a:ext>
            </a:extLst>
          </p:cNvPr>
          <p:cNvSpPr>
            <a:spLocks noGrp="1"/>
          </p:cNvSpPr>
          <p:nvPr>
            <p:ph type="dt" sz="half" idx="10"/>
          </p:nvPr>
        </p:nvSpPr>
        <p:spPr/>
        <p:txBody>
          <a:bodyPr/>
          <a:lstStyle/>
          <a:p>
            <a:fld id="{0EBE025A-24C4-419D-9D63-05D43CCB062D}" type="datetime1">
              <a:rPr lang="en-US" smtClean="0"/>
              <a:t>5/5/2022</a:t>
            </a:fld>
            <a:endParaRPr lang="en-US"/>
          </a:p>
        </p:txBody>
      </p:sp>
      <p:sp>
        <p:nvSpPr>
          <p:cNvPr id="5" name="Slide Number Placeholder 4">
            <a:extLst>
              <a:ext uri="{FF2B5EF4-FFF2-40B4-BE49-F238E27FC236}">
                <a16:creationId xmlns:a16="http://schemas.microsoft.com/office/drawing/2014/main" xmlns="" id="{71B94850-831E-4111-B90A-CB24E9A45EA9}"/>
              </a:ext>
            </a:extLst>
          </p:cNvPr>
          <p:cNvSpPr>
            <a:spLocks noGrp="1"/>
          </p:cNvSpPr>
          <p:nvPr>
            <p:ph type="sldNum" sz="quarter" idx="12"/>
          </p:nvPr>
        </p:nvSpPr>
        <p:spPr/>
        <p:txBody>
          <a:bodyPr/>
          <a:lstStyle/>
          <a:p>
            <a:fld id="{B92AFB71-4BE5-44E7-9108-3062C0C91BA0}" type="slidenum">
              <a:rPr lang="en-US" smtClean="0"/>
              <a:t>51</a:t>
            </a:fld>
            <a:endParaRPr lang="en-US"/>
          </a:p>
        </p:txBody>
      </p:sp>
    </p:spTree>
    <p:extLst>
      <p:ext uri="{BB962C8B-B14F-4D97-AF65-F5344CB8AC3E}">
        <p14:creationId xmlns:p14="http://schemas.microsoft.com/office/powerpoint/2010/main" val="28415689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FDA277-24D4-42C7-8B3A-D12791406416}"/>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F461A3FA-90C8-4E60-AB30-6C504A987BD4}"/>
              </a:ext>
            </a:extLst>
          </p:cNvPr>
          <p:cNvSpPr>
            <a:spLocks noGrp="1"/>
          </p:cNvSpPr>
          <p:nvPr>
            <p:ph idx="1"/>
          </p:nvPr>
        </p:nvSpPr>
        <p:spPr>
          <a:xfrm>
            <a:off x="838200" y="1288111"/>
            <a:ext cx="10515600" cy="4888852"/>
          </a:xfrm>
        </p:spPr>
        <p:txBody>
          <a:bodyPr/>
          <a:lstStyle/>
          <a:p>
            <a:pPr marL="0" indent="0" algn="ctr">
              <a:lnSpc>
                <a:spcPct val="150000"/>
              </a:lnSpc>
              <a:buNone/>
            </a:pPr>
            <a:r>
              <a:rPr lang="en-US" sz="3200" b="1" dirty="0"/>
              <a:t>Conditions affecting the CVS</a:t>
            </a:r>
          </a:p>
          <a:p>
            <a:pPr lvl="1">
              <a:lnSpc>
                <a:spcPct val="150000"/>
              </a:lnSpc>
            </a:pPr>
            <a:r>
              <a:rPr lang="en-US" sz="3200" dirty="0"/>
              <a:t>Coronary artery disease, coronary valve disease, heart block, CCF, peripheral vascular disease (arteriosclerosis), occlusive peripheral vascular disorders (thrombosis formation, thrombo-phlebitis, embolus), varicose veins, aneurysm, hypertensive disease.</a:t>
            </a:r>
          </a:p>
          <a:p>
            <a:endParaRPr lang="en-US" dirty="0"/>
          </a:p>
        </p:txBody>
      </p:sp>
      <p:sp>
        <p:nvSpPr>
          <p:cNvPr id="4" name="Date Placeholder 3">
            <a:extLst>
              <a:ext uri="{FF2B5EF4-FFF2-40B4-BE49-F238E27FC236}">
                <a16:creationId xmlns:a16="http://schemas.microsoft.com/office/drawing/2014/main" xmlns="" id="{CCF67F89-5F31-47D6-8BF0-9F4A423C19FE}"/>
              </a:ext>
            </a:extLst>
          </p:cNvPr>
          <p:cNvSpPr>
            <a:spLocks noGrp="1"/>
          </p:cNvSpPr>
          <p:nvPr>
            <p:ph type="dt" sz="half" idx="10"/>
          </p:nvPr>
        </p:nvSpPr>
        <p:spPr/>
        <p:txBody>
          <a:bodyPr/>
          <a:lstStyle/>
          <a:p>
            <a:fld id="{32B4CE89-7236-40A5-B88D-596C4A1A3E82}" type="datetime1">
              <a:rPr lang="en-US" smtClean="0"/>
              <a:t>5/5/2022</a:t>
            </a:fld>
            <a:endParaRPr lang="en-US"/>
          </a:p>
        </p:txBody>
      </p:sp>
      <p:sp>
        <p:nvSpPr>
          <p:cNvPr id="5" name="Slide Number Placeholder 4">
            <a:extLst>
              <a:ext uri="{FF2B5EF4-FFF2-40B4-BE49-F238E27FC236}">
                <a16:creationId xmlns:a16="http://schemas.microsoft.com/office/drawing/2014/main" xmlns="" id="{A304BC02-1AC2-47F3-9956-A9A5492AAED0}"/>
              </a:ext>
            </a:extLst>
          </p:cNvPr>
          <p:cNvSpPr>
            <a:spLocks noGrp="1"/>
          </p:cNvSpPr>
          <p:nvPr>
            <p:ph type="sldNum" sz="quarter" idx="12"/>
          </p:nvPr>
        </p:nvSpPr>
        <p:spPr/>
        <p:txBody>
          <a:bodyPr/>
          <a:lstStyle/>
          <a:p>
            <a:fld id="{B92AFB71-4BE5-44E7-9108-3062C0C91BA0}" type="slidenum">
              <a:rPr lang="en-US" smtClean="0"/>
              <a:t>52</a:t>
            </a:fld>
            <a:endParaRPr lang="en-US"/>
          </a:p>
        </p:txBody>
      </p:sp>
    </p:spTree>
    <p:extLst>
      <p:ext uri="{BB962C8B-B14F-4D97-AF65-F5344CB8AC3E}">
        <p14:creationId xmlns:p14="http://schemas.microsoft.com/office/powerpoint/2010/main" val="28043785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E48811-6D79-4931-B905-322650A9BFB3}"/>
              </a:ext>
            </a:extLst>
          </p:cNvPr>
          <p:cNvSpPr>
            <a:spLocks noGrp="1"/>
          </p:cNvSpPr>
          <p:nvPr>
            <p:ph type="title"/>
          </p:nvPr>
        </p:nvSpPr>
        <p:spPr>
          <a:xfrm>
            <a:off x="838200" y="365125"/>
            <a:ext cx="10515600" cy="4571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0E750241-3E27-4E60-99F5-81B317D62F34}"/>
              </a:ext>
            </a:extLst>
          </p:cNvPr>
          <p:cNvSpPr>
            <a:spLocks noGrp="1"/>
          </p:cNvSpPr>
          <p:nvPr>
            <p:ph idx="1"/>
          </p:nvPr>
        </p:nvSpPr>
        <p:spPr>
          <a:xfrm>
            <a:off x="838200" y="410844"/>
            <a:ext cx="10515600" cy="5766119"/>
          </a:xfrm>
        </p:spPr>
        <p:txBody>
          <a:bodyPr>
            <a:normAutofit lnSpcReduction="10000"/>
          </a:bodyPr>
          <a:lstStyle/>
          <a:p>
            <a:pPr>
              <a:lnSpc>
                <a:spcPct val="160000"/>
              </a:lnSpc>
            </a:pPr>
            <a:r>
              <a:rPr lang="en-US" b="1" dirty="0"/>
              <a:t>Hematopoietic and lymphatic system </a:t>
            </a:r>
          </a:p>
          <a:p>
            <a:pPr lvl="1">
              <a:lnSpc>
                <a:spcPct val="160000"/>
              </a:lnSpc>
            </a:pPr>
            <a:r>
              <a:rPr lang="en-US" dirty="0"/>
              <a:t>Increased plasma viscosity leading to increased risk of vascular occlusion</a:t>
            </a:r>
          </a:p>
          <a:p>
            <a:pPr lvl="1">
              <a:lnSpc>
                <a:spcPct val="160000"/>
              </a:lnSpc>
            </a:pPr>
            <a:r>
              <a:rPr lang="en-US" dirty="0"/>
              <a:t>Decrease in RBCs production leading to increased incidence of anemia.</a:t>
            </a:r>
          </a:p>
          <a:p>
            <a:pPr>
              <a:lnSpc>
                <a:spcPct val="160000"/>
              </a:lnSpc>
            </a:pPr>
            <a:r>
              <a:rPr lang="en-US" dirty="0"/>
              <a:t>Increase in immature T-cells leading to decreased immune response</a:t>
            </a:r>
          </a:p>
          <a:p>
            <a:pPr>
              <a:lnSpc>
                <a:spcPct val="160000"/>
              </a:lnSpc>
              <a:buNone/>
            </a:pPr>
            <a:r>
              <a:rPr lang="en-US" b="1" dirty="0"/>
              <a:t>Conditions affecting endocrine  system</a:t>
            </a:r>
          </a:p>
          <a:p>
            <a:pPr lvl="1">
              <a:lnSpc>
                <a:spcPct val="160000"/>
              </a:lnSpc>
            </a:pPr>
            <a:r>
              <a:rPr lang="en-US" dirty="0"/>
              <a:t>DM, hypoglycemia, hypothyroidism</a:t>
            </a:r>
          </a:p>
          <a:p>
            <a:pPr>
              <a:lnSpc>
                <a:spcPct val="160000"/>
              </a:lnSpc>
              <a:buNone/>
            </a:pPr>
            <a:r>
              <a:rPr lang="en-US" b="1" dirty="0"/>
              <a:t>Conditions affecting  the reproductive system</a:t>
            </a:r>
          </a:p>
          <a:p>
            <a:pPr lvl="1">
              <a:lnSpc>
                <a:spcPct val="160000"/>
              </a:lnSpc>
            </a:pPr>
            <a:r>
              <a:rPr lang="en-US" dirty="0"/>
              <a:t>Prolapse of the uterus, vaginal infections, breast cancer, prostate cancer</a:t>
            </a:r>
          </a:p>
          <a:p>
            <a:pPr marL="0" indent="0">
              <a:lnSpc>
                <a:spcPct val="150000"/>
              </a:lnSpc>
              <a:buNone/>
            </a:pPr>
            <a:endParaRPr lang="en-US" dirty="0"/>
          </a:p>
          <a:p>
            <a:endParaRPr lang="en-US" dirty="0"/>
          </a:p>
        </p:txBody>
      </p:sp>
      <p:sp>
        <p:nvSpPr>
          <p:cNvPr id="4" name="Date Placeholder 3">
            <a:extLst>
              <a:ext uri="{FF2B5EF4-FFF2-40B4-BE49-F238E27FC236}">
                <a16:creationId xmlns:a16="http://schemas.microsoft.com/office/drawing/2014/main" xmlns="" id="{F20D1EFC-5664-4CAA-B29D-E23605DEF164}"/>
              </a:ext>
            </a:extLst>
          </p:cNvPr>
          <p:cNvSpPr>
            <a:spLocks noGrp="1"/>
          </p:cNvSpPr>
          <p:nvPr>
            <p:ph type="dt" sz="half" idx="10"/>
          </p:nvPr>
        </p:nvSpPr>
        <p:spPr/>
        <p:txBody>
          <a:bodyPr/>
          <a:lstStyle/>
          <a:p>
            <a:fld id="{3B2C56AC-AE53-4CF1-AC47-D7BB5B09C265}" type="datetime1">
              <a:rPr lang="en-US" smtClean="0"/>
              <a:t>5/5/2022</a:t>
            </a:fld>
            <a:endParaRPr lang="en-US"/>
          </a:p>
        </p:txBody>
      </p:sp>
      <p:sp>
        <p:nvSpPr>
          <p:cNvPr id="5" name="Slide Number Placeholder 4">
            <a:extLst>
              <a:ext uri="{FF2B5EF4-FFF2-40B4-BE49-F238E27FC236}">
                <a16:creationId xmlns:a16="http://schemas.microsoft.com/office/drawing/2014/main" xmlns="" id="{BDCF2986-DB54-4582-A063-C37D2FCEC6FE}"/>
              </a:ext>
            </a:extLst>
          </p:cNvPr>
          <p:cNvSpPr>
            <a:spLocks noGrp="1"/>
          </p:cNvSpPr>
          <p:nvPr>
            <p:ph type="sldNum" sz="quarter" idx="12"/>
          </p:nvPr>
        </p:nvSpPr>
        <p:spPr/>
        <p:txBody>
          <a:bodyPr/>
          <a:lstStyle/>
          <a:p>
            <a:fld id="{B92AFB71-4BE5-44E7-9108-3062C0C91BA0}" type="slidenum">
              <a:rPr lang="en-US" smtClean="0"/>
              <a:t>53</a:t>
            </a:fld>
            <a:endParaRPr lang="en-US"/>
          </a:p>
        </p:txBody>
      </p:sp>
    </p:spTree>
    <p:extLst>
      <p:ext uri="{BB962C8B-B14F-4D97-AF65-F5344CB8AC3E}">
        <p14:creationId xmlns:p14="http://schemas.microsoft.com/office/powerpoint/2010/main" val="1542722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7006E9-D88B-450F-9C20-DCF56C10F75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45527F9B-1C74-437D-BC5F-F97BA5A10141}"/>
              </a:ext>
            </a:extLst>
          </p:cNvPr>
          <p:cNvSpPr>
            <a:spLocks noGrp="1"/>
          </p:cNvSpPr>
          <p:nvPr>
            <p:ph idx="1"/>
          </p:nvPr>
        </p:nvSpPr>
        <p:spPr/>
        <p:txBody>
          <a:bodyPr/>
          <a:lstStyle/>
          <a:p>
            <a:pPr>
              <a:buNone/>
            </a:pPr>
            <a:r>
              <a:rPr lang="en-US" b="1" dirty="0"/>
              <a:t>Conditions affecting the sensory system</a:t>
            </a:r>
          </a:p>
          <a:p>
            <a:r>
              <a:rPr lang="en-US" dirty="0"/>
              <a:t>Hearing: deafness (temporary or permanent)</a:t>
            </a:r>
          </a:p>
          <a:p>
            <a:pPr lvl="1"/>
            <a:r>
              <a:rPr lang="en-US" dirty="0"/>
              <a:t>Conductive hearing loss</a:t>
            </a:r>
          </a:p>
          <a:p>
            <a:pPr lvl="1"/>
            <a:r>
              <a:rPr lang="en-US" dirty="0"/>
              <a:t>Nerve deafness</a:t>
            </a:r>
          </a:p>
          <a:p>
            <a:pPr lvl="1"/>
            <a:r>
              <a:rPr lang="en-US" dirty="0" err="1"/>
              <a:t>Mennier’s</a:t>
            </a:r>
            <a:r>
              <a:rPr lang="en-US" dirty="0"/>
              <a:t> disease…..</a:t>
            </a:r>
            <a:r>
              <a:rPr lang="en-US" dirty="0" err="1"/>
              <a:t>xterised</a:t>
            </a:r>
            <a:r>
              <a:rPr lang="en-US" dirty="0"/>
              <a:t> by severe vertigo, nausea,  tinnitus</a:t>
            </a:r>
          </a:p>
          <a:p>
            <a:r>
              <a:rPr lang="en-US" dirty="0"/>
              <a:t>Sight: blindness (partial or total)</a:t>
            </a:r>
          </a:p>
          <a:p>
            <a:r>
              <a:rPr lang="en-US" dirty="0"/>
              <a:t>Taste and smell: reduced sensation of sweetness</a:t>
            </a:r>
          </a:p>
          <a:p>
            <a:endParaRPr lang="en-US" dirty="0"/>
          </a:p>
        </p:txBody>
      </p:sp>
      <p:sp>
        <p:nvSpPr>
          <p:cNvPr id="4" name="Date Placeholder 3">
            <a:extLst>
              <a:ext uri="{FF2B5EF4-FFF2-40B4-BE49-F238E27FC236}">
                <a16:creationId xmlns:a16="http://schemas.microsoft.com/office/drawing/2014/main" xmlns="" id="{65991531-A6DC-46A6-A4FB-7221B07AF8AD}"/>
              </a:ext>
            </a:extLst>
          </p:cNvPr>
          <p:cNvSpPr>
            <a:spLocks noGrp="1"/>
          </p:cNvSpPr>
          <p:nvPr>
            <p:ph type="dt" sz="half" idx="10"/>
          </p:nvPr>
        </p:nvSpPr>
        <p:spPr/>
        <p:txBody>
          <a:bodyPr/>
          <a:lstStyle/>
          <a:p>
            <a:fld id="{394F56CA-3304-4356-BC16-BF713CCFD8AA}" type="datetime1">
              <a:rPr lang="en-US" smtClean="0"/>
              <a:t>5/5/2022</a:t>
            </a:fld>
            <a:endParaRPr lang="en-US"/>
          </a:p>
        </p:txBody>
      </p:sp>
      <p:sp>
        <p:nvSpPr>
          <p:cNvPr id="5" name="Slide Number Placeholder 4">
            <a:extLst>
              <a:ext uri="{FF2B5EF4-FFF2-40B4-BE49-F238E27FC236}">
                <a16:creationId xmlns:a16="http://schemas.microsoft.com/office/drawing/2014/main" xmlns="" id="{8018201A-AE04-4A63-AFCA-74E121C5C763}"/>
              </a:ext>
            </a:extLst>
          </p:cNvPr>
          <p:cNvSpPr>
            <a:spLocks noGrp="1"/>
          </p:cNvSpPr>
          <p:nvPr>
            <p:ph type="sldNum" sz="quarter" idx="12"/>
          </p:nvPr>
        </p:nvSpPr>
        <p:spPr/>
        <p:txBody>
          <a:bodyPr/>
          <a:lstStyle/>
          <a:p>
            <a:fld id="{B92AFB71-4BE5-44E7-9108-3062C0C91BA0}" type="slidenum">
              <a:rPr lang="en-US" smtClean="0"/>
              <a:t>54</a:t>
            </a:fld>
            <a:endParaRPr lang="en-US"/>
          </a:p>
        </p:txBody>
      </p:sp>
    </p:spTree>
    <p:extLst>
      <p:ext uri="{BB962C8B-B14F-4D97-AF65-F5344CB8AC3E}">
        <p14:creationId xmlns:p14="http://schemas.microsoft.com/office/powerpoint/2010/main" val="19517929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BB8AF2-EC0E-49C8-A3FB-96CD14618CEF}"/>
              </a:ext>
            </a:extLst>
          </p:cNvPr>
          <p:cNvSpPr>
            <a:spLocks noGrp="1"/>
          </p:cNvSpPr>
          <p:nvPr>
            <p:ph type="title"/>
          </p:nvPr>
        </p:nvSpPr>
        <p:spPr>
          <a:xfrm>
            <a:off x="838200" y="365125"/>
            <a:ext cx="10515600" cy="843473"/>
          </a:xfrm>
        </p:spPr>
        <p:txBody>
          <a:bodyPr>
            <a:normAutofit/>
          </a:bodyPr>
          <a:lstStyle/>
          <a:p>
            <a:pPr algn="ctr"/>
            <a:r>
              <a:rPr lang="en-US" sz="3200" b="1" dirty="0">
                <a:effectLst>
                  <a:outerShdw blurRad="38100" dist="38100" dir="2700000" algn="tl">
                    <a:srgbClr val="000000">
                      <a:alpha val="43137"/>
                    </a:srgbClr>
                  </a:outerShdw>
                </a:effectLst>
              </a:rPr>
              <a:t>Medication and the elderly</a:t>
            </a:r>
            <a:endParaRPr lang="en-US" sz="3200" dirty="0"/>
          </a:p>
        </p:txBody>
      </p:sp>
      <p:sp>
        <p:nvSpPr>
          <p:cNvPr id="3" name="Content Placeholder 2">
            <a:extLst>
              <a:ext uri="{FF2B5EF4-FFF2-40B4-BE49-F238E27FC236}">
                <a16:creationId xmlns:a16="http://schemas.microsoft.com/office/drawing/2014/main" xmlns="" id="{81980E69-7A84-41C8-8B19-3772F1405994}"/>
              </a:ext>
            </a:extLst>
          </p:cNvPr>
          <p:cNvSpPr>
            <a:spLocks noGrp="1"/>
          </p:cNvSpPr>
          <p:nvPr>
            <p:ph idx="1"/>
          </p:nvPr>
        </p:nvSpPr>
        <p:spPr>
          <a:xfrm>
            <a:off x="838200" y="1296063"/>
            <a:ext cx="10515600" cy="4880900"/>
          </a:xfrm>
        </p:spPr>
        <p:txBody>
          <a:bodyPr>
            <a:normAutofit fontScale="92500" lnSpcReduction="10000"/>
          </a:bodyPr>
          <a:lstStyle/>
          <a:p>
            <a:pPr algn="ctr">
              <a:buNone/>
            </a:pPr>
            <a:r>
              <a:rPr lang="en-US" b="1" dirty="0"/>
              <a:t>Pharmacokinetics</a:t>
            </a:r>
          </a:p>
          <a:p>
            <a:pPr algn="ctr">
              <a:lnSpc>
                <a:spcPct val="150000"/>
              </a:lnSpc>
              <a:buNone/>
            </a:pPr>
            <a:r>
              <a:rPr lang="en-US" sz="3200" b="1" i="1" dirty="0"/>
              <a:t>Absorption</a:t>
            </a:r>
          </a:p>
          <a:p>
            <a:pPr>
              <a:lnSpc>
                <a:spcPct val="150000"/>
              </a:lnSpc>
              <a:buNone/>
            </a:pPr>
            <a:r>
              <a:rPr lang="en-US" sz="3200" b="1" dirty="0"/>
              <a:t>Oral medication</a:t>
            </a:r>
          </a:p>
          <a:p>
            <a:pPr>
              <a:lnSpc>
                <a:spcPct val="150000"/>
              </a:lnSpc>
            </a:pPr>
            <a:r>
              <a:rPr lang="en-US" sz="3200" dirty="0"/>
              <a:t>There is reduced gastric acid and enzymes with aging resulting in increased gastric PH. Most medication is designed to dissolve in acid medium, neutral or alkaline gastric results in decreased absorption.</a:t>
            </a:r>
          </a:p>
          <a:p>
            <a:endParaRPr lang="en-US" dirty="0"/>
          </a:p>
        </p:txBody>
      </p:sp>
      <p:sp>
        <p:nvSpPr>
          <p:cNvPr id="4" name="Date Placeholder 3">
            <a:extLst>
              <a:ext uri="{FF2B5EF4-FFF2-40B4-BE49-F238E27FC236}">
                <a16:creationId xmlns:a16="http://schemas.microsoft.com/office/drawing/2014/main" xmlns="" id="{195E33FD-65DB-4E44-B7F6-C8CD7ECD0166}"/>
              </a:ext>
            </a:extLst>
          </p:cNvPr>
          <p:cNvSpPr>
            <a:spLocks noGrp="1"/>
          </p:cNvSpPr>
          <p:nvPr>
            <p:ph type="dt" sz="half" idx="10"/>
          </p:nvPr>
        </p:nvSpPr>
        <p:spPr/>
        <p:txBody>
          <a:bodyPr/>
          <a:lstStyle/>
          <a:p>
            <a:fld id="{607092CA-B478-479E-A2D0-CDBB2E435533}" type="datetime1">
              <a:rPr lang="en-US" smtClean="0"/>
              <a:t>5/5/2022</a:t>
            </a:fld>
            <a:endParaRPr lang="en-US"/>
          </a:p>
        </p:txBody>
      </p:sp>
      <p:sp>
        <p:nvSpPr>
          <p:cNvPr id="5" name="Slide Number Placeholder 4">
            <a:extLst>
              <a:ext uri="{FF2B5EF4-FFF2-40B4-BE49-F238E27FC236}">
                <a16:creationId xmlns:a16="http://schemas.microsoft.com/office/drawing/2014/main" xmlns="" id="{55F290CF-A81F-4A0D-A6C3-65704C37879C}"/>
              </a:ext>
            </a:extLst>
          </p:cNvPr>
          <p:cNvSpPr>
            <a:spLocks noGrp="1"/>
          </p:cNvSpPr>
          <p:nvPr>
            <p:ph type="sldNum" sz="quarter" idx="12"/>
          </p:nvPr>
        </p:nvSpPr>
        <p:spPr/>
        <p:txBody>
          <a:bodyPr/>
          <a:lstStyle/>
          <a:p>
            <a:fld id="{B92AFB71-4BE5-44E7-9108-3062C0C91BA0}" type="slidenum">
              <a:rPr lang="en-US" smtClean="0"/>
              <a:t>55</a:t>
            </a:fld>
            <a:endParaRPr lang="en-US"/>
          </a:p>
        </p:txBody>
      </p:sp>
    </p:spTree>
    <p:extLst>
      <p:ext uri="{BB962C8B-B14F-4D97-AF65-F5344CB8AC3E}">
        <p14:creationId xmlns:p14="http://schemas.microsoft.com/office/powerpoint/2010/main" val="16306323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E41E2A-9127-4DBF-A92E-F41D2611F388}"/>
              </a:ext>
            </a:extLst>
          </p:cNvPr>
          <p:cNvSpPr>
            <a:spLocks noGrp="1"/>
          </p:cNvSpPr>
          <p:nvPr>
            <p:ph type="title"/>
          </p:nvPr>
        </p:nvSpPr>
        <p:spPr>
          <a:xfrm>
            <a:off x="838200" y="365126"/>
            <a:ext cx="10515600" cy="19941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3F812CD0-2190-4D40-A4A2-361E5B27BCC5}"/>
              </a:ext>
            </a:extLst>
          </p:cNvPr>
          <p:cNvSpPr>
            <a:spLocks noGrp="1"/>
          </p:cNvSpPr>
          <p:nvPr>
            <p:ph idx="1"/>
          </p:nvPr>
        </p:nvSpPr>
        <p:spPr>
          <a:xfrm>
            <a:off x="838200" y="707666"/>
            <a:ext cx="10515600" cy="5469297"/>
          </a:xfrm>
        </p:spPr>
        <p:txBody>
          <a:bodyPr>
            <a:normAutofit fontScale="85000" lnSpcReduction="10000"/>
          </a:bodyPr>
          <a:lstStyle/>
          <a:p>
            <a:pPr>
              <a:lnSpc>
                <a:spcPct val="150000"/>
              </a:lnSpc>
            </a:pPr>
            <a:r>
              <a:rPr lang="en-US" sz="3200" dirty="0"/>
              <a:t>Decreased gastric motility leads to slower emptying rate of stomach content. It results in increased length of time. Medication is in contact with stomach lining leading to increased absorption and wearing of the stomach lining.</a:t>
            </a:r>
          </a:p>
          <a:p>
            <a:pPr>
              <a:lnSpc>
                <a:spcPct val="150000"/>
              </a:lnSpc>
            </a:pPr>
            <a:r>
              <a:rPr lang="en-US" sz="3200" dirty="0"/>
              <a:t>Decreased peristalsis leads to delaying transportation and delayed action.</a:t>
            </a:r>
          </a:p>
          <a:p>
            <a:pPr>
              <a:lnSpc>
                <a:spcPct val="150000"/>
              </a:lnSpc>
            </a:pPr>
            <a:r>
              <a:rPr lang="en-US" sz="3200" dirty="0"/>
              <a:t>Changes in cells ability to absorb and transport drugs influence absorption.</a:t>
            </a:r>
          </a:p>
          <a:p>
            <a:pPr>
              <a:lnSpc>
                <a:spcPct val="150000"/>
              </a:lnSpc>
            </a:pPr>
            <a:r>
              <a:rPr lang="en-US" sz="3200" dirty="0"/>
              <a:t>Transfer of medication in cells membrane </a:t>
            </a:r>
          </a:p>
          <a:p>
            <a:endParaRPr lang="en-US" dirty="0"/>
          </a:p>
        </p:txBody>
      </p:sp>
      <p:sp>
        <p:nvSpPr>
          <p:cNvPr id="4" name="Date Placeholder 3">
            <a:extLst>
              <a:ext uri="{FF2B5EF4-FFF2-40B4-BE49-F238E27FC236}">
                <a16:creationId xmlns:a16="http://schemas.microsoft.com/office/drawing/2014/main" xmlns="" id="{E98CE088-1CA3-4C65-9975-7E00EF22594A}"/>
              </a:ext>
            </a:extLst>
          </p:cNvPr>
          <p:cNvSpPr>
            <a:spLocks noGrp="1"/>
          </p:cNvSpPr>
          <p:nvPr>
            <p:ph type="dt" sz="half" idx="10"/>
          </p:nvPr>
        </p:nvSpPr>
        <p:spPr/>
        <p:txBody>
          <a:bodyPr/>
          <a:lstStyle/>
          <a:p>
            <a:fld id="{C5666DDB-A246-4AF3-B23A-6AA6B8B7638A}" type="datetime1">
              <a:rPr lang="en-US" smtClean="0"/>
              <a:t>5/5/2022</a:t>
            </a:fld>
            <a:endParaRPr lang="en-US"/>
          </a:p>
        </p:txBody>
      </p:sp>
      <p:sp>
        <p:nvSpPr>
          <p:cNvPr id="5" name="Slide Number Placeholder 4">
            <a:extLst>
              <a:ext uri="{FF2B5EF4-FFF2-40B4-BE49-F238E27FC236}">
                <a16:creationId xmlns:a16="http://schemas.microsoft.com/office/drawing/2014/main" xmlns="" id="{0E85246B-25CD-4BD6-A114-D983483B8680}"/>
              </a:ext>
            </a:extLst>
          </p:cNvPr>
          <p:cNvSpPr>
            <a:spLocks noGrp="1"/>
          </p:cNvSpPr>
          <p:nvPr>
            <p:ph type="sldNum" sz="quarter" idx="12"/>
          </p:nvPr>
        </p:nvSpPr>
        <p:spPr/>
        <p:txBody>
          <a:bodyPr/>
          <a:lstStyle/>
          <a:p>
            <a:fld id="{B92AFB71-4BE5-44E7-9108-3062C0C91BA0}" type="slidenum">
              <a:rPr lang="en-US" smtClean="0"/>
              <a:t>56</a:t>
            </a:fld>
            <a:endParaRPr lang="en-US"/>
          </a:p>
        </p:txBody>
      </p:sp>
    </p:spTree>
    <p:extLst>
      <p:ext uri="{BB962C8B-B14F-4D97-AF65-F5344CB8AC3E}">
        <p14:creationId xmlns:p14="http://schemas.microsoft.com/office/powerpoint/2010/main" val="12801912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B70118-DCC2-4B28-A993-7EC281CFF8ED}"/>
              </a:ext>
            </a:extLst>
          </p:cNvPr>
          <p:cNvSpPr>
            <a:spLocks noGrp="1"/>
          </p:cNvSpPr>
          <p:nvPr>
            <p:ph type="title"/>
          </p:nvPr>
        </p:nvSpPr>
        <p:spPr>
          <a:xfrm>
            <a:off x="838200" y="111318"/>
            <a:ext cx="10515600" cy="16697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78821444-FB3C-418E-9368-8E343949A666}"/>
              </a:ext>
            </a:extLst>
          </p:cNvPr>
          <p:cNvSpPr>
            <a:spLocks noGrp="1"/>
          </p:cNvSpPr>
          <p:nvPr>
            <p:ph idx="1"/>
          </p:nvPr>
        </p:nvSpPr>
        <p:spPr>
          <a:xfrm>
            <a:off x="838200" y="818984"/>
            <a:ext cx="10515600" cy="5357979"/>
          </a:xfrm>
        </p:spPr>
        <p:txBody>
          <a:bodyPr>
            <a:normAutofit fontScale="92500" lnSpcReduction="20000"/>
          </a:bodyPr>
          <a:lstStyle/>
          <a:p>
            <a:pPr algn="ctr">
              <a:lnSpc>
                <a:spcPct val="150000"/>
              </a:lnSpc>
              <a:buNone/>
            </a:pPr>
            <a:r>
              <a:rPr lang="en-US" b="1" i="1" dirty="0"/>
              <a:t>Distribution</a:t>
            </a:r>
          </a:p>
          <a:p>
            <a:pPr>
              <a:lnSpc>
                <a:spcPct val="150000"/>
              </a:lnSpc>
            </a:pPr>
            <a:r>
              <a:rPr lang="en-US" dirty="0"/>
              <a:t>Aging causes</a:t>
            </a:r>
          </a:p>
          <a:p>
            <a:pPr lvl="1">
              <a:lnSpc>
                <a:spcPct val="150000"/>
              </a:lnSpc>
            </a:pPr>
            <a:r>
              <a:rPr lang="en-US" dirty="0"/>
              <a:t>A decrease in total body mass</a:t>
            </a:r>
          </a:p>
          <a:p>
            <a:pPr lvl="1">
              <a:lnSpc>
                <a:spcPct val="150000"/>
              </a:lnSpc>
            </a:pPr>
            <a:r>
              <a:rPr lang="en-US" dirty="0"/>
              <a:t>A decrease in total lean body mass</a:t>
            </a:r>
          </a:p>
          <a:p>
            <a:pPr lvl="1">
              <a:lnSpc>
                <a:spcPct val="150000"/>
              </a:lnSpc>
            </a:pPr>
            <a:r>
              <a:rPr lang="en-US" dirty="0"/>
              <a:t>Decrease in body water</a:t>
            </a:r>
          </a:p>
          <a:p>
            <a:pPr lvl="1">
              <a:lnSpc>
                <a:spcPct val="150000"/>
              </a:lnSpc>
            </a:pPr>
            <a:r>
              <a:rPr lang="en-US" dirty="0"/>
              <a:t>Increase in total body fat</a:t>
            </a:r>
          </a:p>
          <a:p>
            <a:pPr>
              <a:lnSpc>
                <a:spcPct val="150000"/>
              </a:lnSpc>
              <a:buNone/>
            </a:pPr>
            <a:r>
              <a:rPr lang="en-US" dirty="0"/>
              <a:t>	thus  interfering with distribution of drugs</a:t>
            </a:r>
          </a:p>
          <a:p>
            <a:pPr>
              <a:lnSpc>
                <a:spcPct val="150000"/>
              </a:lnSpc>
            </a:pPr>
            <a:r>
              <a:rPr lang="en-US" dirty="0"/>
              <a:t>Water soluble drug </a:t>
            </a:r>
            <a:r>
              <a:rPr lang="en-US" dirty="0" err="1"/>
              <a:t>e.g</a:t>
            </a:r>
            <a:r>
              <a:rPr lang="en-US" dirty="0"/>
              <a:t> gentamycin, remains in the blood stream longer with high concentration especially with dehydration.</a:t>
            </a:r>
          </a:p>
          <a:p>
            <a:endParaRPr lang="en-US" dirty="0"/>
          </a:p>
        </p:txBody>
      </p:sp>
      <p:sp>
        <p:nvSpPr>
          <p:cNvPr id="4" name="Date Placeholder 3">
            <a:extLst>
              <a:ext uri="{FF2B5EF4-FFF2-40B4-BE49-F238E27FC236}">
                <a16:creationId xmlns:a16="http://schemas.microsoft.com/office/drawing/2014/main" xmlns="" id="{15519A1A-C2B4-4389-81BB-BE9C75DABB82}"/>
              </a:ext>
            </a:extLst>
          </p:cNvPr>
          <p:cNvSpPr>
            <a:spLocks noGrp="1"/>
          </p:cNvSpPr>
          <p:nvPr>
            <p:ph type="dt" sz="half" idx="10"/>
          </p:nvPr>
        </p:nvSpPr>
        <p:spPr/>
        <p:txBody>
          <a:bodyPr/>
          <a:lstStyle/>
          <a:p>
            <a:fld id="{EC0B8BA2-7F36-4853-A9CF-31011D28101C}" type="datetime1">
              <a:rPr lang="en-US" smtClean="0"/>
              <a:t>5/5/2022</a:t>
            </a:fld>
            <a:endParaRPr lang="en-US"/>
          </a:p>
        </p:txBody>
      </p:sp>
      <p:sp>
        <p:nvSpPr>
          <p:cNvPr id="5" name="Slide Number Placeholder 4">
            <a:extLst>
              <a:ext uri="{FF2B5EF4-FFF2-40B4-BE49-F238E27FC236}">
                <a16:creationId xmlns:a16="http://schemas.microsoft.com/office/drawing/2014/main" xmlns="" id="{74E16AA7-9701-4957-87DF-1E3103430878}"/>
              </a:ext>
            </a:extLst>
          </p:cNvPr>
          <p:cNvSpPr>
            <a:spLocks noGrp="1"/>
          </p:cNvSpPr>
          <p:nvPr>
            <p:ph type="sldNum" sz="quarter" idx="12"/>
          </p:nvPr>
        </p:nvSpPr>
        <p:spPr/>
        <p:txBody>
          <a:bodyPr/>
          <a:lstStyle/>
          <a:p>
            <a:fld id="{B92AFB71-4BE5-44E7-9108-3062C0C91BA0}" type="slidenum">
              <a:rPr lang="en-US" smtClean="0"/>
              <a:t>57</a:t>
            </a:fld>
            <a:endParaRPr lang="en-US"/>
          </a:p>
        </p:txBody>
      </p:sp>
    </p:spTree>
    <p:extLst>
      <p:ext uri="{BB962C8B-B14F-4D97-AF65-F5344CB8AC3E}">
        <p14:creationId xmlns:p14="http://schemas.microsoft.com/office/powerpoint/2010/main" val="42750488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A542A4-BE79-4D52-89A2-77752D557B71}"/>
              </a:ext>
            </a:extLst>
          </p:cNvPr>
          <p:cNvSpPr>
            <a:spLocks noGrp="1"/>
          </p:cNvSpPr>
          <p:nvPr>
            <p:ph type="title"/>
          </p:nvPr>
        </p:nvSpPr>
        <p:spPr>
          <a:xfrm>
            <a:off x="838200" y="71562"/>
            <a:ext cx="10515600" cy="21468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77276E7B-004D-4B66-B2CB-CF183EA0F0A6}"/>
              </a:ext>
            </a:extLst>
          </p:cNvPr>
          <p:cNvSpPr>
            <a:spLocks noGrp="1"/>
          </p:cNvSpPr>
          <p:nvPr>
            <p:ph idx="1"/>
          </p:nvPr>
        </p:nvSpPr>
        <p:spPr>
          <a:xfrm>
            <a:off x="838200" y="572494"/>
            <a:ext cx="10515600" cy="5604469"/>
          </a:xfrm>
        </p:spPr>
        <p:txBody>
          <a:bodyPr/>
          <a:lstStyle/>
          <a:p>
            <a:pPr>
              <a:lnSpc>
                <a:spcPct val="150000"/>
              </a:lnSpc>
            </a:pPr>
            <a:r>
              <a:rPr lang="en-US" sz="3200" dirty="0"/>
              <a:t>With increased total body fat; it leads to fat soluble drugs being trapped in body fat reducing levels of the drug in blood stream.</a:t>
            </a:r>
          </a:p>
          <a:p>
            <a:pPr>
              <a:lnSpc>
                <a:spcPct val="150000"/>
              </a:lnSpc>
            </a:pPr>
            <a:r>
              <a:rPr lang="en-US" sz="3200" dirty="0"/>
              <a:t>There is reduced </a:t>
            </a:r>
            <a:r>
              <a:rPr lang="en-US" sz="3200" dirty="0" err="1"/>
              <a:t>H.b</a:t>
            </a:r>
            <a:r>
              <a:rPr lang="en-US" sz="3200" dirty="0"/>
              <a:t> and plasma protein in elderly person leading to decreased available sites for protein bound drugs such as warfarin.</a:t>
            </a:r>
          </a:p>
          <a:p>
            <a:endParaRPr lang="en-US" dirty="0"/>
          </a:p>
        </p:txBody>
      </p:sp>
      <p:sp>
        <p:nvSpPr>
          <p:cNvPr id="4" name="Date Placeholder 3">
            <a:extLst>
              <a:ext uri="{FF2B5EF4-FFF2-40B4-BE49-F238E27FC236}">
                <a16:creationId xmlns:a16="http://schemas.microsoft.com/office/drawing/2014/main" xmlns="" id="{15813F9A-D3DD-4139-90E5-BF389AC6B8D2}"/>
              </a:ext>
            </a:extLst>
          </p:cNvPr>
          <p:cNvSpPr>
            <a:spLocks noGrp="1"/>
          </p:cNvSpPr>
          <p:nvPr>
            <p:ph type="dt" sz="half" idx="10"/>
          </p:nvPr>
        </p:nvSpPr>
        <p:spPr/>
        <p:txBody>
          <a:bodyPr/>
          <a:lstStyle/>
          <a:p>
            <a:fld id="{3BEC1502-92DF-4818-A3F6-0A29846385FF}" type="datetime1">
              <a:rPr lang="en-US" smtClean="0"/>
              <a:t>5/5/2022</a:t>
            </a:fld>
            <a:endParaRPr lang="en-US"/>
          </a:p>
        </p:txBody>
      </p:sp>
      <p:sp>
        <p:nvSpPr>
          <p:cNvPr id="5" name="Slide Number Placeholder 4">
            <a:extLst>
              <a:ext uri="{FF2B5EF4-FFF2-40B4-BE49-F238E27FC236}">
                <a16:creationId xmlns:a16="http://schemas.microsoft.com/office/drawing/2014/main" xmlns="" id="{816455DC-C4B3-4E93-A8D4-7E038E676700}"/>
              </a:ext>
            </a:extLst>
          </p:cNvPr>
          <p:cNvSpPr>
            <a:spLocks noGrp="1"/>
          </p:cNvSpPr>
          <p:nvPr>
            <p:ph type="sldNum" sz="quarter" idx="12"/>
          </p:nvPr>
        </p:nvSpPr>
        <p:spPr/>
        <p:txBody>
          <a:bodyPr/>
          <a:lstStyle/>
          <a:p>
            <a:fld id="{B92AFB71-4BE5-44E7-9108-3062C0C91BA0}" type="slidenum">
              <a:rPr lang="en-US" smtClean="0"/>
              <a:t>58</a:t>
            </a:fld>
            <a:endParaRPr lang="en-US"/>
          </a:p>
        </p:txBody>
      </p:sp>
    </p:spTree>
    <p:extLst>
      <p:ext uri="{BB962C8B-B14F-4D97-AF65-F5344CB8AC3E}">
        <p14:creationId xmlns:p14="http://schemas.microsoft.com/office/powerpoint/2010/main" val="3592734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FDFCEE-8638-492D-A28E-19CC74CA51C2}"/>
              </a:ext>
            </a:extLst>
          </p:cNvPr>
          <p:cNvSpPr>
            <a:spLocks noGrp="1"/>
          </p:cNvSpPr>
          <p:nvPr>
            <p:ph type="title"/>
          </p:nvPr>
        </p:nvSpPr>
        <p:spPr>
          <a:xfrm>
            <a:off x="838200" y="365126"/>
            <a:ext cx="10515600" cy="17556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8FBF4E8D-18AB-4E4E-882E-A4FD1F0855C5}"/>
              </a:ext>
            </a:extLst>
          </p:cNvPr>
          <p:cNvSpPr>
            <a:spLocks noGrp="1"/>
          </p:cNvSpPr>
          <p:nvPr>
            <p:ph idx="1"/>
          </p:nvPr>
        </p:nvSpPr>
        <p:spPr>
          <a:xfrm>
            <a:off x="838200" y="826936"/>
            <a:ext cx="10515600" cy="5350027"/>
          </a:xfrm>
        </p:spPr>
        <p:txBody>
          <a:bodyPr>
            <a:normAutofit lnSpcReduction="10000"/>
          </a:bodyPr>
          <a:lstStyle/>
          <a:p>
            <a:pPr algn="ctr">
              <a:lnSpc>
                <a:spcPct val="150000"/>
              </a:lnSpc>
              <a:buNone/>
            </a:pPr>
            <a:r>
              <a:rPr lang="en-US" sz="3200" b="1" i="1" dirty="0"/>
              <a:t>Metabolism</a:t>
            </a:r>
          </a:p>
          <a:p>
            <a:pPr>
              <a:lnSpc>
                <a:spcPct val="150000"/>
              </a:lnSpc>
            </a:pPr>
            <a:r>
              <a:rPr lang="en-US" sz="3200" dirty="0"/>
              <a:t>There is decreased enzyme production that leads to reduced function resulting in decreased cardiac output.</a:t>
            </a:r>
          </a:p>
          <a:p>
            <a:pPr>
              <a:lnSpc>
                <a:spcPct val="150000"/>
              </a:lnSpc>
            </a:pPr>
            <a:r>
              <a:rPr lang="en-US" sz="3200" dirty="0"/>
              <a:t>There are circulatory changes with reduced blood flow to the liver.</a:t>
            </a:r>
          </a:p>
          <a:p>
            <a:pPr>
              <a:lnSpc>
                <a:spcPct val="150000"/>
              </a:lnSpc>
            </a:pPr>
            <a:r>
              <a:rPr lang="en-US" sz="3200" dirty="0"/>
              <a:t>There is reduced liver effectiveness and speed of metabolism  of drugs. Risk of toxicity increases especially in the elderly.</a:t>
            </a:r>
          </a:p>
          <a:p>
            <a:endParaRPr lang="en-US" dirty="0"/>
          </a:p>
        </p:txBody>
      </p:sp>
      <p:sp>
        <p:nvSpPr>
          <p:cNvPr id="4" name="Date Placeholder 3">
            <a:extLst>
              <a:ext uri="{FF2B5EF4-FFF2-40B4-BE49-F238E27FC236}">
                <a16:creationId xmlns:a16="http://schemas.microsoft.com/office/drawing/2014/main" xmlns="" id="{CD30E540-267F-4688-BF6E-745B6BC71B1B}"/>
              </a:ext>
            </a:extLst>
          </p:cNvPr>
          <p:cNvSpPr>
            <a:spLocks noGrp="1"/>
          </p:cNvSpPr>
          <p:nvPr>
            <p:ph type="dt" sz="half" idx="10"/>
          </p:nvPr>
        </p:nvSpPr>
        <p:spPr/>
        <p:txBody>
          <a:bodyPr/>
          <a:lstStyle/>
          <a:p>
            <a:fld id="{25FA9693-5B37-4D12-AEFE-23B851938774}" type="datetime1">
              <a:rPr lang="en-US" smtClean="0"/>
              <a:t>5/5/2022</a:t>
            </a:fld>
            <a:endParaRPr lang="en-US"/>
          </a:p>
        </p:txBody>
      </p:sp>
      <p:sp>
        <p:nvSpPr>
          <p:cNvPr id="5" name="Slide Number Placeholder 4">
            <a:extLst>
              <a:ext uri="{FF2B5EF4-FFF2-40B4-BE49-F238E27FC236}">
                <a16:creationId xmlns:a16="http://schemas.microsoft.com/office/drawing/2014/main" xmlns="" id="{57C654A0-A5D4-480D-80A2-5D6340024FF2}"/>
              </a:ext>
            </a:extLst>
          </p:cNvPr>
          <p:cNvSpPr>
            <a:spLocks noGrp="1"/>
          </p:cNvSpPr>
          <p:nvPr>
            <p:ph type="sldNum" sz="quarter" idx="12"/>
          </p:nvPr>
        </p:nvSpPr>
        <p:spPr/>
        <p:txBody>
          <a:bodyPr/>
          <a:lstStyle/>
          <a:p>
            <a:fld id="{B92AFB71-4BE5-44E7-9108-3062C0C91BA0}" type="slidenum">
              <a:rPr lang="en-US" smtClean="0"/>
              <a:t>59</a:t>
            </a:fld>
            <a:endParaRPr lang="en-US"/>
          </a:p>
        </p:txBody>
      </p:sp>
    </p:spTree>
    <p:extLst>
      <p:ext uri="{BB962C8B-B14F-4D97-AF65-F5344CB8AC3E}">
        <p14:creationId xmlns:p14="http://schemas.microsoft.com/office/powerpoint/2010/main" val="12507996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AADF85-EAE7-47EC-BD3B-38DC1C0D60BC}"/>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457BC3E9-5D7B-42DE-9E30-D650EBA62188}"/>
              </a:ext>
            </a:extLst>
          </p:cNvPr>
          <p:cNvSpPr>
            <a:spLocks noGrp="1"/>
          </p:cNvSpPr>
          <p:nvPr>
            <p:ph idx="1"/>
          </p:nvPr>
        </p:nvSpPr>
        <p:spPr>
          <a:xfrm>
            <a:off x="838200" y="795130"/>
            <a:ext cx="10515600" cy="5381833"/>
          </a:xfrm>
        </p:spPr>
        <p:txBody>
          <a:bodyPr>
            <a:normAutofit lnSpcReduction="10000"/>
          </a:bodyPr>
          <a:lstStyle/>
          <a:p>
            <a:pPr algn="ctr">
              <a:lnSpc>
                <a:spcPct val="150000"/>
              </a:lnSpc>
              <a:buNone/>
            </a:pPr>
            <a:r>
              <a:rPr lang="en-US" sz="3200" b="1" i="1" dirty="0"/>
              <a:t>Excretion</a:t>
            </a:r>
          </a:p>
          <a:p>
            <a:pPr>
              <a:lnSpc>
                <a:spcPct val="150000"/>
              </a:lnSpc>
            </a:pPr>
            <a:r>
              <a:rPr lang="en-US" sz="3200" dirty="0"/>
              <a:t>Kidney function is decreased. Drug levels in the blood stream increases leading to toxicity.</a:t>
            </a:r>
          </a:p>
          <a:p>
            <a:pPr>
              <a:lnSpc>
                <a:spcPct val="150000"/>
              </a:lnSpc>
            </a:pPr>
            <a:r>
              <a:rPr lang="en-US" sz="3200" dirty="0"/>
              <a:t>Reduced blood flow to the kidney leads to increased toxicity risk. Medications such as digoxin lithium. Cimetidine can diminish renal function and cause retention of other medication. </a:t>
            </a:r>
          </a:p>
          <a:p>
            <a:endParaRPr lang="en-US" dirty="0"/>
          </a:p>
        </p:txBody>
      </p:sp>
      <p:sp>
        <p:nvSpPr>
          <p:cNvPr id="4" name="Date Placeholder 3">
            <a:extLst>
              <a:ext uri="{FF2B5EF4-FFF2-40B4-BE49-F238E27FC236}">
                <a16:creationId xmlns:a16="http://schemas.microsoft.com/office/drawing/2014/main" xmlns="" id="{89A32A80-1CA4-4A6C-AA0C-57BE2EBD3A7C}"/>
              </a:ext>
            </a:extLst>
          </p:cNvPr>
          <p:cNvSpPr>
            <a:spLocks noGrp="1"/>
          </p:cNvSpPr>
          <p:nvPr>
            <p:ph type="dt" sz="half" idx="10"/>
          </p:nvPr>
        </p:nvSpPr>
        <p:spPr/>
        <p:txBody>
          <a:bodyPr/>
          <a:lstStyle/>
          <a:p>
            <a:fld id="{D2EC6EB9-5369-46F1-87C8-94EAC54DB2FD}" type="datetime1">
              <a:rPr lang="en-US" smtClean="0"/>
              <a:t>5/5/2022</a:t>
            </a:fld>
            <a:endParaRPr lang="en-US"/>
          </a:p>
        </p:txBody>
      </p:sp>
      <p:sp>
        <p:nvSpPr>
          <p:cNvPr id="5" name="Slide Number Placeholder 4">
            <a:extLst>
              <a:ext uri="{FF2B5EF4-FFF2-40B4-BE49-F238E27FC236}">
                <a16:creationId xmlns:a16="http://schemas.microsoft.com/office/drawing/2014/main" xmlns="" id="{C0C67F73-E201-405A-A154-7F8B6E5B4CC1}"/>
              </a:ext>
            </a:extLst>
          </p:cNvPr>
          <p:cNvSpPr>
            <a:spLocks noGrp="1"/>
          </p:cNvSpPr>
          <p:nvPr>
            <p:ph type="sldNum" sz="quarter" idx="12"/>
          </p:nvPr>
        </p:nvSpPr>
        <p:spPr/>
        <p:txBody>
          <a:bodyPr/>
          <a:lstStyle/>
          <a:p>
            <a:fld id="{B92AFB71-4BE5-44E7-9108-3062C0C91BA0}" type="slidenum">
              <a:rPr lang="en-US" smtClean="0"/>
              <a:t>60</a:t>
            </a:fld>
            <a:endParaRPr lang="en-US"/>
          </a:p>
        </p:txBody>
      </p:sp>
    </p:spTree>
    <p:extLst>
      <p:ext uri="{BB962C8B-B14F-4D97-AF65-F5344CB8AC3E}">
        <p14:creationId xmlns:p14="http://schemas.microsoft.com/office/powerpoint/2010/main" val="8996715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533692-078D-40D8-A760-7D06CAC03FF7}"/>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D2286430-6CB0-4B5A-A92D-106A24C10748}"/>
              </a:ext>
            </a:extLst>
          </p:cNvPr>
          <p:cNvSpPr>
            <a:spLocks noGrp="1"/>
          </p:cNvSpPr>
          <p:nvPr>
            <p:ph idx="1"/>
          </p:nvPr>
        </p:nvSpPr>
        <p:spPr>
          <a:xfrm>
            <a:off x="838200" y="898497"/>
            <a:ext cx="10515600" cy="5278466"/>
          </a:xfrm>
        </p:spPr>
        <p:txBody>
          <a:bodyPr>
            <a:normAutofit fontScale="92500" lnSpcReduction="10000"/>
          </a:bodyPr>
          <a:lstStyle/>
          <a:p>
            <a:pPr>
              <a:lnSpc>
                <a:spcPct val="150000"/>
              </a:lnSpc>
            </a:pPr>
            <a:r>
              <a:rPr lang="en-US" sz="3200" dirty="0"/>
              <a:t>Alcohol and nicotine affects drug elimination in the elderly person.</a:t>
            </a:r>
          </a:p>
          <a:p>
            <a:pPr>
              <a:lnSpc>
                <a:spcPct val="150000"/>
              </a:lnSpc>
            </a:pPr>
            <a:r>
              <a:rPr lang="en-US" sz="3200" dirty="0"/>
              <a:t>Risk increase with multiple medication.</a:t>
            </a:r>
          </a:p>
          <a:p>
            <a:pPr>
              <a:lnSpc>
                <a:spcPct val="150000"/>
              </a:lnSpc>
            </a:pPr>
            <a:r>
              <a:rPr lang="en-US" sz="3200" dirty="0"/>
              <a:t>Polypharmacy i.e. use of excessive often unnecessary is a common problem with the elderly with prescription during and over the counter drugs resulting in cognitive or behavioral inability. </a:t>
            </a:r>
          </a:p>
          <a:p>
            <a:pPr>
              <a:buNone/>
            </a:pPr>
            <a:r>
              <a:rPr lang="en-US" dirty="0"/>
              <a:t>   </a:t>
            </a:r>
          </a:p>
          <a:p>
            <a:endParaRPr lang="en-US" dirty="0"/>
          </a:p>
        </p:txBody>
      </p:sp>
      <p:sp>
        <p:nvSpPr>
          <p:cNvPr id="4" name="Date Placeholder 3">
            <a:extLst>
              <a:ext uri="{FF2B5EF4-FFF2-40B4-BE49-F238E27FC236}">
                <a16:creationId xmlns:a16="http://schemas.microsoft.com/office/drawing/2014/main" xmlns="" id="{D395DCBF-4F41-4ADE-A841-B9C0CE50C52A}"/>
              </a:ext>
            </a:extLst>
          </p:cNvPr>
          <p:cNvSpPr>
            <a:spLocks noGrp="1"/>
          </p:cNvSpPr>
          <p:nvPr>
            <p:ph type="dt" sz="half" idx="10"/>
          </p:nvPr>
        </p:nvSpPr>
        <p:spPr/>
        <p:txBody>
          <a:bodyPr/>
          <a:lstStyle/>
          <a:p>
            <a:fld id="{0210166F-C709-4284-883C-A579A57B85F9}" type="datetime1">
              <a:rPr lang="en-US" smtClean="0"/>
              <a:t>5/5/2022</a:t>
            </a:fld>
            <a:endParaRPr lang="en-US"/>
          </a:p>
        </p:txBody>
      </p:sp>
      <p:sp>
        <p:nvSpPr>
          <p:cNvPr id="5" name="Slide Number Placeholder 4">
            <a:extLst>
              <a:ext uri="{FF2B5EF4-FFF2-40B4-BE49-F238E27FC236}">
                <a16:creationId xmlns:a16="http://schemas.microsoft.com/office/drawing/2014/main" xmlns="" id="{E024E5A4-F433-4768-B78C-9733BF4D1DC2}"/>
              </a:ext>
            </a:extLst>
          </p:cNvPr>
          <p:cNvSpPr>
            <a:spLocks noGrp="1"/>
          </p:cNvSpPr>
          <p:nvPr>
            <p:ph type="sldNum" sz="quarter" idx="12"/>
          </p:nvPr>
        </p:nvSpPr>
        <p:spPr/>
        <p:txBody>
          <a:bodyPr/>
          <a:lstStyle/>
          <a:p>
            <a:fld id="{B92AFB71-4BE5-44E7-9108-3062C0C91BA0}" type="slidenum">
              <a:rPr lang="en-US" smtClean="0"/>
              <a:t>61</a:t>
            </a:fld>
            <a:endParaRPr lang="en-US"/>
          </a:p>
        </p:txBody>
      </p:sp>
    </p:spTree>
    <p:extLst>
      <p:ext uri="{BB962C8B-B14F-4D97-AF65-F5344CB8AC3E}">
        <p14:creationId xmlns:p14="http://schemas.microsoft.com/office/powerpoint/2010/main" val="30828009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EAC05A-F65B-411A-93E4-D5272257B9A5}"/>
              </a:ext>
            </a:extLst>
          </p:cNvPr>
          <p:cNvSpPr>
            <a:spLocks noGrp="1"/>
          </p:cNvSpPr>
          <p:nvPr>
            <p:ph type="title"/>
          </p:nvPr>
        </p:nvSpPr>
        <p:spPr>
          <a:xfrm>
            <a:off x="838200" y="365126"/>
            <a:ext cx="10515600" cy="557226"/>
          </a:xfrm>
        </p:spPr>
        <p:txBody>
          <a:bodyPr>
            <a:normAutofit/>
          </a:bodyPr>
          <a:lstStyle/>
          <a:p>
            <a:pPr algn="ctr"/>
            <a:r>
              <a:rPr lang="en-US" sz="3200" b="1" i="1" dirty="0">
                <a:effectLst>
                  <a:outerShdw blurRad="38100" dist="38100" dir="2700000" algn="tl">
                    <a:srgbClr val="000000">
                      <a:alpha val="43137"/>
                    </a:srgbClr>
                  </a:outerShdw>
                </a:effectLst>
              </a:rPr>
              <a:t>Possible side effects of drugs </a:t>
            </a:r>
            <a:endParaRPr lang="en-US" sz="3200" dirty="0"/>
          </a:p>
        </p:txBody>
      </p:sp>
      <p:sp>
        <p:nvSpPr>
          <p:cNvPr id="3" name="Content Placeholder 2">
            <a:extLst>
              <a:ext uri="{FF2B5EF4-FFF2-40B4-BE49-F238E27FC236}">
                <a16:creationId xmlns:a16="http://schemas.microsoft.com/office/drawing/2014/main" xmlns="" id="{9473A692-F13E-4747-9CBA-0C7AECE97C5B}"/>
              </a:ext>
            </a:extLst>
          </p:cNvPr>
          <p:cNvSpPr>
            <a:spLocks noGrp="1"/>
          </p:cNvSpPr>
          <p:nvPr>
            <p:ph idx="1"/>
          </p:nvPr>
        </p:nvSpPr>
        <p:spPr>
          <a:xfrm>
            <a:off x="838200" y="858742"/>
            <a:ext cx="10515600" cy="5318222"/>
          </a:xfrm>
        </p:spPr>
        <p:txBody>
          <a:bodyPr>
            <a:normAutofit fontScale="92500" lnSpcReduction="10000"/>
          </a:bodyPr>
          <a:lstStyle/>
          <a:p>
            <a:pPr>
              <a:lnSpc>
                <a:spcPct val="150000"/>
              </a:lnSpc>
            </a:pPr>
            <a:r>
              <a:rPr lang="en-US" b="1" dirty="0"/>
              <a:t>Sedatives and hypnotics: </a:t>
            </a:r>
            <a:r>
              <a:rPr lang="en-US" dirty="0"/>
              <a:t>confusion, delusion, hallucinations, falls, agitation, and altered behavior. They should be given in low doses</a:t>
            </a:r>
          </a:p>
          <a:p>
            <a:pPr>
              <a:lnSpc>
                <a:spcPct val="150000"/>
              </a:lnSpc>
            </a:pPr>
            <a:r>
              <a:rPr lang="en-US" b="1" dirty="0"/>
              <a:t>Analgesics </a:t>
            </a:r>
            <a:r>
              <a:rPr lang="en-US" b="1" dirty="0" err="1"/>
              <a:t>e.g</a:t>
            </a:r>
            <a:r>
              <a:rPr lang="en-US" b="1" dirty="0"/>
              <a:t> </a:t>
            </a:r>
            <a:r>
              <a:rPr lang="en-US" dirty="0"/>
              <a:t>salicylates can cause electrolyte imbalance, bleeding, and nephrotoxicity.</a:t>
            </a:r>
          </a:p>
          <a:p>
            <a:pPr>
              <a:lnSpc>
                <a:spcPct val="150000"/>
              </a:lnSpc>
            </a:pPr>
            <a:r>
              <a:rPr lang="en-US" b="1" dirty="0"/>
              <a:t>Tranquilizers: </a:t>
            </a:r>
            <a:r>
              <a:rPr lang="en-US" dirty="0"/>
              <a:t>hypotension, cerebral depression</a:t>
            </a:r>
          </a:p>
          <a:p>
            <a:pPr>
              <a:lnSpc>
                <a:spcPct val="150000"/>
              </a:lnSpc>
            </a:pPr>
            <a:r>
              <a:rPr lang="en-US" b="1" dirty="0"/>
              <a:t>Central nervous system stimulants</a:t>
            </a:r>
            <a:r>
              <a:rPr lang="en-US" dirty="0"/>
              <a:t>: can cause confusion, paranoia</a:t>
            </a:r>
          </a:p>
          <a:p>
            <a:pPr>
              <a:lnSpc>
                <a:spcPct val="150000"/>
              </a:lnSpc>
            </a:pPr>
            <a:r>
              <a:rPr lang="en-US" b="1" dirty="0"/>
              <a:t>Cardiovascular drugs: </a:t>
            </a:r>
            <a:r>
              <a:rPr lang="en-US" dirty="0"/>
              <a:t>e.g. digitalis; can cause </a:t>
            </a:r>
            <a:r>
              <a:rPr lang="en-US" dirty="0" err="1"/>
              <a:t>dysarrthymias</a:t>
            </a:r>
            <a:r>
              <a:rPr lang="en-US" dirty="0"/>
              <a:t> and gastrointestinal and mental symptoms.</a:t>
            </a:r>
          </a:p>
          <a:p>
            <a:pPr marL="0" indent="0">
              <a:buNone/>
            </a:pPr>
            <a:endParaRPr lang="en-US" dirty="0"/>
          </a:p>
        </p:txBody>
      </p:sp>
      <p:sp>
        <p:nvSpPr>
          <p:cNvPr id="4" name="Date Placeholder 3">
            <a:extLst>
              <a:ext uri="{FF2B5EF4-FFF2-40B4-BE49-F238E27FC236}">
                <a16:creationId xmlns:a16="http://schemas.microsoft.com/office/drawing/2014/main" xmlns="" id="{917FF803-EC3D-4A84-9CDC-3B0450311951}"/>
              </a:ext>
            </a:extLst>
          </p:cNvPr>
          <p:cNvSpPr>
            <a:spLocks noGrp="1"/>
          </p:cNvSpPr>
          <p:nvPr>
            <p:ph type="dt" sz="half" idx="10"/>
          </p:nvPr>
        </p:nvSpPr>
        <p:spPr/>
        <p:txBody>
          <a:bodyPr/>
          <a:lstStyle/>
          <a:p>
            <a:fld id="{98152732-E005-4031-A071-B05E44F67C2B}" type="datetime1">
              <a:rPr lang="en-US" smtClean="0"/>
              <a:t>5/5/2022</a:t>
            </a:fld>
            <a:endParaRPr lang="en-US"/>
          </a:p>
        </p:txBody>
      </p:sp>
      <p:sp>
        <p:nvSpPr>
          <p:cNvPr id="5" name="Slide Number Placeholder 4">
            <a:extLst>
              <a:ext uri="{FF2B5EF4-FFF2-40B4-BE49-F238E27FC236}">
                <a16:creationId xmlns:a16="http://schemas.microsoft.com/office/drawing/2014/main" xmlns="" id="{39A37A4B-C119-497E-A4CF-26A8B4472F07}"/>
              </a:ext>
            </a:extLst>
          </p:cNvPr>
          <p:cNvSpPr>
            <a:spLocks noGrp="1"/>
          </p:cNvSpPr>
          <p:nvPr>
            <p:ph type="sldNum" sz="quarter" idx="12"/>
          </p:nvPr>
        </p:nvSpPr>
        <p:spPr/>
        <p:txBody>
          <a:bodyPr/>
          <a:lstStyle/>
          <a:p>
            <a:fld id="{B92AFB71-4BE5-44E7-9108-3062C0C91BA0}" type="slidenum">
              <a:rPr lang="en-US" smtClean="0"/>
              <a:t>62</a:t>
            </a:fld>
            <a:endParaRPr lang="en-US"/>
          </a:p>
        </p:txBody>
      </p:sp>
    </p:spTree>
    <p:extLst>
      <p:ext uri="{BB962C8B-B14F-4D97-AF65-F5344CB8AC3E}">
        <p14:creationId xmlns:p14="http://schemas.microsoft.com/office/powerpoint/2010/main" val="2550406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E11515-D797-44FD-8EDD-EAEA3F168552}"/>
              </a:ext>
            </a:extLst>
          </p:cNvPr>
          <p:cNvSpPr>
            <a:spLocks noGrp="1"/>
          </p:cNvSpPr>
          <p:nvPr>
            <p:ph type="title"/>
          </p:nvPr>
        </p:nvSpPr>
        <p:spPr>
          <a:xfrm>
            <a:off x="838200" y="95416"/>
            <a:ext cx="10515600" cy="18288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DD447C2C-E6BD-4D03-B574-E51B64F1EA30}"/>
              </a:ext>
            </a:extLst>
          </p:cNvPr>
          <p:cNvSpPr>
            <a:spLocks noGrp="1"/>
          </p:cNvSpPr>
          <p:nvPr>
            <p:ph idx="1"/>
          </p:nvPr>
        </p:nvSpPr>
        <p:spPr>
          <a:xfrm>
            <a:off x="838200" y="477078"/>
            <a:ext cx="10515600" cy="5699885"/>
          </a:xfrm>
        </p:spPr>
        <p:txBody>
          <a:bodyPr/>
          <a:lstStyle/>
          <a:p>
            <a:pPr marL="571500" indent="-571500">
              <a:buNone/>
            </a:pPr>
            <a:r>
              <a:rPr lang="en-US" sz="3200" b="1" dirty="0"/>
              <a:t>NB</a:t>
            </a:r>
            <a:r>
              <a:rPr lang="en-US" sz="3200" dirty="0"/>
              <a:t>: when an elderly person is given drugs to self-medicate, the following should be explained.</a:t>
            </a:r>
          </a:p>
          <a:p>
            <a:pPr marL="571500" indent="-571500">
              <a:buFont typeface="+mj-lt"/>
              <a:buAutoNum type="romanLcPeriod"/>
            </a:pPr>
            <a:r>
              <a:rPr lang="en-US" sz="3200" dirty="0"/>
              <a:t>Explain the action, side effects and dosage of each medication</a:t>
            </a:r>
          </a:p>
          <a:p>
            <a:pPr marL="571500" indent="-571500">
              <a:buFont typeface="+mj-lt"/>
              <a:buAutoNum type="romanLcPeriod"/>
            </a:pPr>
            <a:r>
              <a:rPr lang="en-US" sz="3200" dirty="0"/>
              <a:t>Write out the drugs schedule</a:t>
            </a:r>
          </a:p>
          <a:p>
            <a:pPr marL="571500" indent="-571500">
              <a:buFont typeface="+mj-lt"/>
              <a:buAutoNum type="romanLcPeriod"/>
            </a:pPr>
            <a:r>
              <a:rPr lang="en-US" sz="3200" dirty="0"/>
              <a:t>Encourage use of standard containers rather than safety lids.</a:t>
            </a:r>
          </a:p>
          <a:p>
            <a:pPr marL="571500" indent="-571500">
              <a:buFont typeface="+mj-lt"/>
              <a:buAutoNum type="romanLcPeriod"/>
            </a:pPr>
            <a:r>
              <a:rPr lang="en-US" sz="3200" dirty="0"/>
              <a:t>Destroy old unused medication</a:t>
            </a:r>
          </a:p>
          <a:p>
            <a:pPr marL="571500" indent="-571500">
              <a:buFont typeface="+mj-lt"/>
              <a:buAutoNum type="romanLcPeriod"/>
            </a:pPr>
            <a:r>
              <a:rPr lang="en-US" sz="3200" dirty="0"/>
              <a:t>Periodically review the medication schedule.</a:t>
            </a:r>
          </a:p>
          <a:p>
            <a:pPr marL="571500" indent="-571500">
              <a:buFont typeface="+mj-lt"/>
              <a:buAutoNum type="romanLcPeriod"/>
            </a:pPr>
            <a:r>
              <a:rPr lang="en-US" sz="3200" dirty="0"/>
              <a:t>Discourage the use of over the counter drugs without consultation.</a:t>
            </a:r>
          </a:p>
          <a:p>
            <a:endParaRPr lang="en-US" dirty="0"/>
          </a:p>
        </p:txBody>
      </p:sp>
      <p:sp>
        <p:nvSpPr>
          <p:cNvPr id="4" name="Date Placeholder 3">
            <a:extLst>
              <a:ext uri="{FF2B5EF4-FFF2-40B4-BE49-F238E27FC236}">
                <a16:creationId xmlns:a16="http://schemas.microsoft.com/office/drawing/2014/main" xmlns="" id="{FFCF4836-C546-408B-B317-5E71D4D7C20D}"/>
              </a:ext>
            </a:extLst>
          </p:cNvPr>
          <p:cNvSpPr>
            <a:spLocks noGrp="1"/>
          </p:cNvSpPr>
          <p:nvPr>
            <p:ph type="dt" sz="half" idx="10"/>
          </p:nvPr>
        </p:nvSpPr>
        <p:spPr/>
        <p:txBody>
          <a:bodyPr/>
          <a:lstStyle/>
          <a:p>
            <a:fld id="{24BAB1E5-48CD-479D-9159-E4249FC27419}" type="datetime1">
              <a:rPr lang="en-US" smtClean="0"/>
              <a:t>5/5/2022</a:t>
            </a:fld>
            <a:endParaRPr lang="en-US"/>
          </a:p>
        </p:txBody>
      </p:sp>
      <p:sp>
        <p:nvSpPr>
          <p:cNvPr id="5" name="Slide Number Placeholder 4">
            <a:extLst>
              <a:ext uri="{FF2B5EF4-FFF2-40B4-BE49-F238E27FC236}">
                <a16:creationId xmlns:a16="http://schemas.microsoft.com/office/drawing/2014/main" xmlns="" id="{FA1DF658-2B85-4C19-B403-008F7FBB277B}"/>
              </a:ext>
            </a:extLst>
          </p:cNvPr>
          <p:cNvSpPr>
            <a:spLocks noGrp="1"/>
          </p:cNvSpPr>
          <p:nvPr>
            <p:ph type="sldNum" sz="quarter" idx="12"/>
          </p:nvPr>
        </p:nvSpPr>
        <p:spPr/>
        <p:txBody>
          <a:bodyPr/>
          <a:lstStyle/>
          <a:p>
            <a:fld id="{B92AFB71-4BE5-44E7-9108-3062C0C91BA0}" type="slidenum">
              <a:rPr lang="en-US" smtClean="0"/>
              <a:t>63</a:t>
            </a:fld>
            <a:endParaRPr lang="en-US"/>
          </a:p>
        </p:txBody>
      </p:sp>
    </p:spTree>
    <p:extLst>
      <p:ext uri="{BB962C8B-B14F-4D97-AF65-F5344CB8AC3E}">
        <p14:creationId xmlns:p14="http://schemas.microsoft.com/office/powerpoint/2010/main" val="22065335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9D526D-9792-4B28-870E-9056EBC377D8}"/>
              </a:ext>
            </a:extLst>
          </p:cNvPr>
          <p:cNvSpPr>
            <a:spLocks noGrp="1"/>
          </p:cNvSpPr>
          <p:nvPr>
            <p:ph type="title"/>
          </p:nvPr>
        </p:nvSpPr>
        <p:spPr>
          <a:xfrm>
            <a:off x="838200" y="365126"/>
            <a:ext cx="10515600" cy="628788"/>
          </a:xfrm>
        </p:spPr>
        <p:txBody>
          <a:bodyPr>
            <a:normAutofit/>
          </a:bodyPr>
          <a:lstStyle/>
          <a:p>
            <a:pPr algn="ctr"/>
            <a:r>
              <a:rPr lang="en-US" sz="3200" b="1" dirty="0">
                <a:effectLst>
                  <a:outerShdw blurRad="38100" dist="38100" dir="2700000" algn="tl">
                    <a:srgbClr val="000000">
                      <a:alpha val="43137"/>
                    </a:srgbClr>
                  </a:outerShdw>
                </a:effectLst>
              </a:rPr>
              <a:t>Care of the elderly persons</a:t>
            </a:r>
            <a:endParaRPr lang="en-US" sz="3200" dirty="0"/>
          </a:p>
        </p:txBody>
      </p:sp>
      <p:sp>
        <p:nvSpPr>
          <p:cNvPr id="3" name="Content Placeholder 2">
            <a:extLst>
              <a:ext uri="{FF2B5EF4-FFF2-40B4-BE49-F238E27FC236}">
                <a16:creationId xmlns:a16="http://schemas.microsoft.com/office/drawing/2014/main" xmlns="" id="{1D8A1AC4-61D9-42CC-B562-82E2F6133E99}"/>
              </a:ext>
            </a:extLst>
          </p:cNvPr>
          <p:cNvSpPr>
            <a:spLocks noGrp="1"/>
          </p:cNvSpPr>
          <p:nvPr>
            <p:ph idx="1"/>
          </p:nvPr>
        </p:nvSpPr>
        <p:spPr>
          <a:xfrm>
            <a:off x="838200" y="993914"/>
            <a:ext cx="10515600" cy="5183049"/>
          </a:xfrm>
        </p:spPr>
        <p:txBody>
          <a:bodyPr>
            <a:normAutofit fontScale="92500" lnSpcReduction="20000"/>
          </a:bodyPr>
          <a:lstStyle/>
          <a:p>
            <a:pPr algn="ctr">
              <a:buNone/>
            </a:pPr>
            <a:r>
              <a:rPr lang="en-US" sz="3200" b="1" dirty="0"/>
              <a:t>Care in the community</a:t>
            </a:r>
          </a:p>
          <a:p>
            <a:pPr algn="ctr">
              <a:lnSpc>
                <a:spcPct val="150000"/>
              </a:lnSpc>
              <a:buNone/>
            </a:pPr>
            <a:r>
              <a:rPr lang="en-US" sz="3200" b="1" i="1" dirty="0"/>
              <a:t>1.Family: </a:t>
            </a:r>
          </a:p>
          <a:p>
            <a:pPr>
              <a:lnSpc>
                <a:spcPct val="150000"/>
              </a:lnSpc>
            </a:pPr>
            <a:r>
              <a:rPr lang="en-US" sz="3200" dirty="0"/>
              <a:t>Planning of care is done with family as major care givers. In case of dependency the spouse becomes the primary caregiver. If no spouse is available, then a child becomes the primary caregiver.</a:t>
            </a:r>
          </a:p>
          <a:p>
            <a:pPr>
              <a:lnSpc>
                <a:spcPct val="150000"/>
              </a:lnSpc>
            </a:pPr>
            <a:r>
              <a:rPr lang="en-US" sz="3200" dirty="0"/>
              <a:t>Adult children assume responsibilities for their parents and provide financial, social, psychological support to  their aged parents.</a:t>
            </a:r>
          </a:p>
          <a:p>
            <a:endParaRPr lang="en-US" dirty="0"/>
          </a:p>
        </p:txBody>
      </p:sp>
      <p:sp>
        <p:nvSpPr>
          <p:cNvPr id="4" name="Date Placeholder 3">
            <a:extLst>
              <a:ext uri="{FF2B5EF4-FFF2-40B4-BE49-F238E27FC236}">
                <a16:creationId xmlns:a16="http://schemas.microsoft.com/office/drawing/2014/main" xmlns="" id="{2F054C68-3C75-459D-99D8-CA8142C43B89}"/>
              </a:ext>
            </a:extLst>
          </p:cNvPr>
          <p:cNvSpPr>
            <a:spLocks noGrp="1"/>
          </p:cNvSpPr>
          <p:nvPr>
            <p:ph type="dt" sz="half" idx="10"/>
          </p:nvPr>
        </p:nvSpPr>
        <p:spPr/>
        <p:txBody>
          <a:bodyPr/>
          <a:lstStyle/>
          <a:p>
            <a:fld id="{616D86F2-1F9C-46FF-A221-9F3679AB7698}" type="datetime1">
              <a:rPr lang="en-US" smtClean="0"/>
              <a:t>5/5/2022</a:t>
            </a:fld>
            <a:endParaRPr lang="en-US"/>
          </a:p>
        </p:txBody>
      </p:sp>
      <p:sp>
        <p:nvSpPr>
          <p:cNvPr id="5" name="Slide Number Placeholder 4">
            <a:extLst>
              <a:ext uri="{FF2B5EF4-FFF2-40B4-BE49-F238E27FC236}">
                <a16:creationId xmlns:a16="http://schemas.microsoft.com/office/drawing/2014/main" xmlns="" id="{E4184FC8-25FA-4A8B-BD1C-E01E3C5CB9EA}"/>
              </a:ext>
            </a:extLst>
          </p:cNvPr>
          <p:cNvSpPr>
            <a:spLocks noGrp="1"/>
          </p:cNvSpPr>
          <p:nvPr>
            <p:ph type="sldNum" sz="quarter" idx="12"/>
          </p:nvPr>
        </p:nvSpPr>
        <p:spPr/>
        <p:txBody>
          <a:bodyPr/>
          <a:lstStyle/>
          <a:p>
            <a:fld id="{B92AFB71-4BE5-44E7-9108-3062C0C91BA0}" type="slidenum">
              <a:rPr lang="en-US" smtClean="0"/>
              <a:t>64</a:t>
            </a:fld>
            <a:endParaRPr lang="en-US"/>
          </a:p>
        </p:txBody>
      </p:sp>
    </p:spTree>
    <p:extLst>
      <p:ext uri="{BB962C8B-B14F-4D97-AF65-F5344CB8AC3E}">
        <p14:creationId xmlns:p14="http://schemas.microsoft.com/office/powerpoint/2010/main" val="26879817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3FADDF-98B6-432E-83E0-D37A2FFCDAD9}"/>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10AF3F86-708C-4A37-915D-826377B62A1D}"/>
              </a:ext>
            </a:extLst>
          </p:cNvPr>
          <p:cNvSpPr>
            <a:spLocks noGrp="1"/>
          </p:cNvSpPr>
          <p:nvPr>
            <p:ph idx="1"/>
          </p:nvPr>
        </p:nvSpPr>
        <p:spPr>
          <a:xfrm>
            <a:off x="838200" y="1025718"/>
            <a:ext cx="10515600" cy="5151245"/>
          </a:xfrm>
        </p:spPr>
        <p:txBody>
          <a:bodyPr>
            <a:normAutofit lnSpcReduction="10000"/>
          </a:bodyPr>
          <a:lstStyle/>
          <a:p>
            <a:pPr>
              <a:lnSpc>
                <a:spcPct val="150000"/>
              </a:lnSpc>
            </a:pPr>
            <a:r>
              <a:rPr lang="en-US" sz="3200" dirty="0"/>
              <a:t>Despite the care and support provided by children strains usually appear if care is given over a prolonged period.</a:t>
            </a:r>
          </a:p>
          <a:p>
            <a:pPr>
              <a:lnSpc>
                <a:spcPct val="150000"/>
              </a:lnSpc>
            </a:pPr>
            <a:r>
              <a:rPr lang="en-US" sz="3200" dirty="0"/>
              <a:t>The child-parent relationship declines especially if the parents are in poor health and cold lead to elder abuse with physical violence, personal neglect, financial exploitation, violation of rights, denial of healthcare and self inflicted abuse. </a:t>
            </a:r>
          </a:p>
          <a:p>
            <a:endParaRPr lang="en-US" dirty="0"/>
          </a:p>
        </p:txBody>
      </p:sp>
      <p:sp>
        <p:nvSpPr>
          <p:cNvPr id="4" name="Date Placeholder 3">
            <a:extLst>
              <a:ext uri="{FF2B5EF4-FFF2-40B4-BE49-F238E27FC236}">
                <a16:creationId xmlns:a16="http://schemas.microsoft.com/office/drawing/2014/main" xmlns="" id="{BAEAF941-A3BE-49C7-AEF8-A1B106262BC1}"/>
              </a:ext>
            </a:extLst>
          </p:cNvPr>
          <p:cNvSpPr>
            <a:spLocks noGrp="1"/>
          </p:cNvSpPr>
          <p:nvPr>
            <p:ph type="dt" sz="half" idx="10"/>
          </p:nvPr>
        </p:nvSpPr>
        <p:spPr/>
        <p:txBody>
          <a:bodyPr/>
          <a:lstStyle/>
          <a:p>
            <a:fld id="{4BB00F86-2413-44A7-B841-360ECD8A47FD}" type="datetime1">
              <a:rPr lang="en-US" smtClean="0"/>
              <a:t>5/5/2022</a:t>
            </a:fld>
            <a:endParaRPr lang="en-US"/>
          </a:p>
        </p:txBody>
      </p:sp>
      <p:sp>
        <p:nvSpPr>
          <p:cNvPr id="5" name="Slide Number Placeholder 4">
            <a:extLst>
              <a:ext uri="{FF2B5EF4-FFF2-40B4-BE49-F238E27FC236}">
                <a16:creationId xmlns:a16="http://schemas.microsoft.com/office/drawing/2014/main" xmlns="" id="{3A79263F-06F7-4EF8-A3EB-868285737974}"/>
              </a:ext>
            </a:extLst>
          </p:cNvPr>
          <p:cNvSpPr>
            <a:spLocks noGrp="1"/>
          </p:cNvSpPr>
          <p:nvPr>
            <p:ph type="sldNum" sz="quarter" idx="12"/>
          </p:nvPr>
        </p:nvSpPr>
        <p:spPr/>
        <p:txBody>
          <a:bodyPr/>
          <a:lstStyle/>
          <a:p>
            <a:fld id="{B92AFB71-4BE5-44E7-9108-3062C0C91BA0}" type="slidenum">
              <a:rPr lang="en-US" smtClean="0"/>
              <a:t>65</a:t>
            </a:fld>
            <a:endParaRPr lang="en-US"/>
          </a:p>
        </p:txBody>
      </p:sp>
    </p:spTree>
    <p:extLst>
      <p:ext uri="{BB962C8B-B14F-4D97-AF65-F5344CB8AC3E}">
        <p14:creationId xmlns:p14="http://schemas.microsoft.com/office/powerpoint/2010/main" val="22876216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17ED0B-1FE0-48EB-8927-3E2A1EDC4B9D}"/>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4E4605A0-27E2-4BB1-8281-3D4B1CCFC30A}"/>
              </a:ext>
            </a:extLst>
          </p:cNvPr>
          <p:cNvSpPr>
            <a:spLocks noGrp="1"/>
          </p:cNvSpPr>
          <p:nvPr>
            <p:ph idx="1"/>
          </p:nvPr>
        </p:nvSpPr>
        <p:spPr>
          <a:xfrm>
            <a:off x="838200" y="1319917"/>
            <a:ext cx="10515600" cy="4857046"/>
          </a:xfrm>
        </p:spPr>
        <p:txBody>
          <a:bodyPr/>
          <a:lstStyle/>
          <a:p>
            <a:pPr>
              <a:lnSpc>
                <a:spcPct val="150000"/>
              </a:lnSpc>
            </a:pPr>
            <a:r>
              <a:rPr lang="en-US" sz="3200" dirty="0"/>
              <a:t>Caregivers require professional health in the care of the elderly persons who should explain the aging process and tell the caregivers what to expect.</a:t>
            </a:r>
          </a:p>
          <a:p>
            <a:pPr>
              <a:lnSpc>
                <a:spcPct val="150000"/>
              </a:lnSpc>
            </a:pPr>
            <a:r>
              <a:rPr lang="en-US" sz="3200" dirty="0"/>
              <a:t>Independence of the elderly person should be encouraged as long as possible.</a:t>
            </a:r>
          </a:p>
          <a:p>
            <a:endParaRPr lang="en-US" dirty="0"/>
          </a:p>
        </p:txBody>
      </p:sp>
      <p:sp>
        <p:nvSpPr>
          <p:cNvPr id="4" name="Date Placeholder 3">
            <a:extLst>
              <a:ext uri="{FF2B5EF4-FFF2-40B4-BE49-F238E27FC236}">
                <a16:creationId xmlns:a16="http://schemas.microsoft.com/office/drawing/2014/main" xmlns="" id="{C8D5BF6D-B69D-4E91-B6D6-67B3292119DD}"/>
              </a:ext>
            </a:extLst>
          </p:cNvPr>
          <p:cNvSpPr>
            <a:spLocks noGrp="1"/>
          </p:cNvSpPr>
          <p:nvPr>
            <p:ph type="dt" sz="half" idx="10"/>
          </p:nvPr>
        </p:nvSpPr>
        <p:spPr/>
        <p:txBody>
          <a:bodyPr/>
          <a:lstStyle/>
          <a:p>
            <a:fld id="{D3A33E92-68F0-4091-B0FC-F2C96E3D6702}" type="datetime1">
              <a:rPr lang="en-US" smtClean="0"/>
              <a:t>5/5/2022</a:t>
            </a:fld>
            <a:endParaRPr lang="en-US"/>
          </a:p>
        </p:txBody>
      </p:sp>
      <p:sp>
        <p:nvSpPr>
          <p:cNvPr id="5" name="Slide Number Placeholder 4">
            <a:extLst>
              <a:ext uri="{FF2B5EF4-FFF2-40B4-BE49-F238E27FC236}">
                <a16:creationId xmlns:a16="http://schemas.microsoft.com/office/drawing/2014/main" xmlns="" id="{9A83BCD0-F53D-4A74-9A6D-FBD2B3EB2C17}"/>
              </a:ext>
            </a:extLst>
          </p:cNvPr>
          <p:cNvSpPr>
            <a:spLocks noGrp="1"/>
          </p:cNvSpPr>
          <p:nvPr>
            <p:ph type="sldNum" sz="quarter" idx="12"/>
          </p:nvPr>
        </p:nvSpPr>
        <p:spPr/>
        <p:txBody>
          <a:bodyPr/>
          <a:lstStyle/>
          <a:p>
            <a:fld id="{B92AFB71-4BE5-44E7-9108-3062C0C91BA0}" type="slidenum">
              <a:rPr lang="en-US" smtClean="0"/>
              <a:t>66</a:t>
            </a:fld>
            <a:endParaRPr lang="en-US"/>
          </a:p>
        </p:txBody>
      </p:sp>
    </p:spTree>
    <p:extLst>
      <p:ext uri="{BB962C8B-B14F-4D97-AF65-F5344CB8AC3E}">
        <p14:creationId xmlns:p14="http://schemas.microsoft.com/office/powerpoint/2010/main" val="39926802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E36D5A-9BAB-4AB6-9CC8-0767DA4ABAF2}"/>
              </a:ext>
            </a:extLst>
          </p:cNvPr>
          <p:cNvSpPr>
            <a:spLocks noGrp="1"/>
          </p:cNvSpPr>
          <p:nvPr>
            <p:ph type="title"/>
          </p:nvPr>
        </p:nvSpPr>
        <p:spPr>
          <a:xfrm>
            <a:off x="838200" y="365125"/>
            <a:ext cx="10515600" cy="48566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5E04D41C-03CE-4880-9F92-1DE3AD64D007}"/>
              </a:ext>
            </a:extLst>
          </p:cNvPr>
          <p:cNvSpPr>
            <a:spLocks noGrp="1"/>
          </p:cNvSpPr>
          <p:nvPr>
            <p:ph idx="1"/>
          </p:nvPr>
        </p:nvSpPr>
        <p:spPr>
          <a:xfrm>
            <a:off x="838200" y="1025718"/>
            <a:ext cx="10515600" cy="5151245"/>
          </a:xfrm>
        </p:spPr>
        <p:txBody>
          <a:bodyPr>
            <a:normAutofit fontScale="85000" lnSpcReduction="10000"/>
          </a:bodyPr>
          <a:lstStyle/>
          <a:p>
            <a:pPr marL="0" indent="0" algn="ctr">
              <a:buNone/>
            </a:pPr>
            <a:r>
              <a:rPr lang="en-US" b="1" dirty="0"/>
              <a:t>2. Home environment</a:t>
            </a:r>
          </a:p>
          <a:p>
            <a:pPr>
              <a:lnSpc>
                <a:spcPct val="150000"/>
              </a:lnSpc>
              <a:buNone/>
            </a:pPr>
            <a:r>
              <a:rPr lang="en-US" sz="3200" b="1" i="1" dirty="0"/>
              <a:t>Safety and comfort</a:t>
            </a:r>
          </a:p>
          <a:p>
            <a:pPr>
              <a:lnSpc>
                <a:spcPct val="150000"/>
              </a:lnSpc>
            </a:pPr>
            <a:r>
              <a:rPr lang="en-US" sz="3200" dirty="0"/>
              <a:t>Accidents e.g. falls should be avoided.</a:t>
            </a:r>
          </a:p>
          <a:p>
            <a:pPr>
              <a:lnSpc>
                <a:spcPct val="150000"/>
              </a:lnSpc>
            </a:pPr>
            <a:r>
              <a:rPr lang="en-US" sz="3200" dirty="0"/>
              <a:t>Falls are caused by physical changes in aging e.g. failed vision, loss  of depth perception, loss of balance and cardiovascular change.</a:t>
            </a:r>
          </a:p>
          <a:p>
            <a:pPr>
              <a:lnSpc>
                <a:spcPct val="150000"/>
              </a:lnSpc>
            </a:pPr>
            <a:r>
              <a:rPr lang="en-US" sz="3200" dirty="0"/>
              <a:t>The home should have adequate lighting and minimal glare.</a:t>
            </a:r>
          </a:p>
          <a:p>
            <a:pPr>
              <a:lnSpc>
                <a:spcPct val="150000"/>
              </a:lnSpc>
            </a:pPr>
            <a:r>
              <a:rPr lang="en-US" sz="3200" dirty="0"/>
              <a:t>Supportive bars should be provided in bathrooms</a:t>
            </a:r>
          </a:p>
          <a:p>
            <a:pPr marL="0" indent="0" algn="ctr">
              <a:buNone/>
            </a:pPr>
            <a:r>
              <a:rPr lang="en-US" b="1" dirty="0"/>
              <a:t> </a:t>
            </a:r>
          </a:p>
          <a:p>
            <a:endParaRPr lang="en-US" dirty="0"/>
          </a:p>
        </p:txBody>
      </p:sp>
      <p:sp>
        <p:nvSpPr>
          <p:cNvPr id="4" name="Date Placeholder 3">
            <a:extLst>
              <a:ext uri="{FF2B5EF4-FFF2-40B4-BE49-F238E27FC236}">
                <a16:creationId xmlns:a16="http://schemas.microsoft.com/office/drawing/2014/main" xmlns="" id="{7DA0979D-3B89-41A0-A489-1A9F841C391F}"/>
              </a:ext>
            </a:extLst>
          </p:cNvPr>
          <p:cNvSpPr>
            <a:spLocks noGrp="1"/>
          </p:cNvSpPr>
          <p:nvPr>
            <p:ph type="dt" sz="half" idx="10"/>
          </p:nvPr>
        </p:nvSpPr>
        <p:spPr/>
        <p:txBody>
          <a:bodyPr/>
          <a:lstStyle/>
          <a:p>
            <a:fld id="{78EFBE75-CC39-451D-9A43-EAB76523F0BB}" type="datetime1">
              <a:rPr lang="en-US" smtClean="0"/>
              <a:t>5/5/2022</a:t>
            </a:fld>
            <a:endParaRPr lang="en-US"/>
          </a:p>
        </p:txBody>
      </p:sp>
      <p:sp>
        <p:nvSpPr>
          <p:cNvPr id="5" name="Slide Number Placeholder 4">
            <a:extLst>
              <a:ext uri="{FF2B5EF4-FFF2-40B4-BE49-F238E27FC236}">
                <a16:creationId xmlns:a16="http://schemas.microsoft.com/office/drawing/2014/main" xmlns="" id="{17DE85F2-0D4C-45FB-AD39-BF4C822A4DBB}"/>
              </a:ext>
            </a:extLst>
          </p:cNvPr>
          <p:cNvSpPr>
            <a:spLocks noGrp="1"/>
          </p:cNvSpPr>
          <p:nvPr>
            <p:ph type="sldNum" sz="quarter" idx="12"/>
          </p:nvPr>
        </p:nvSpPr>
        <p:spPr/>
        <p:txBody>
          <a:bodyPr/>
          <a:lstStyle/>
          <a:p>
            <a:fld id="{B92AFB71-4BE5-44E7-9108-3062C0C91BA0}" type="slidenum">
              <a:rPr lang="en-US" smtClean="0"/>
              <a:t>67</a:t>
            </a:fld>
            <a:endParaRPr lang="en-US"/>
          </a:p>
        </p:txBody>
      </p:sp>
    </p:spTree>
    <p:extLst>
      <p:ext uri="{BB962C8B-B14F-4D97-AF65-F5344CB8AC3E}">
        <p14:creationId xmlns:p14="http://schemas.microsoft.com/office/powerpoint/2010/main" val="16119361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767AF4-408F-40F5-8B67-FC2CA20ADD4E}"/>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2C8B5E27-FBA4-4E03-9A5C-D04AA84D869A}"/>
              </a:ext>
            </a:extLst>
          </p:cNvPr>
          <p:cNvSpPr>
            <a:spLocks noGrp="1"/>
          </p:cNvSpPr>
          <p:nvPr>
            <p:ph idx="1"/>
          </p:nvPr>
        </p:nvSpPr>
        <p:spPr>
          <a:xfrm>
            <a:off x="647369" y="681038"/>
            <a:ext cx="10515600" cy="5111488"/>
          </a:xfrm>
        </p:spPr>
        <p:txBody>
          <a:bodyPr>
            <a:normAutofit fontScale="92500"/>
          </a:bodyPr>
          <a:lstStyle/>
          <a:p>
            <a:pPr>
              <a:lnSpc>
                <a:spcPct val="150000"/>
              </a:lnSpc>
              <a:buNone/>
            </a:pPr>
            <a:r>
              <a:rPr lang="en-US" sz="3200" b="1" i="1" dirty="0"/>
              <a:t>Personal space</a:t>
            </a:r>
          </a:p>
          <a:p>
            <a:pPr>
              <a:lnSpc>
                <a:spcPct val="150000"/>
              </a:lnSpc>
            </a:pPr>
            <a:r>
              <a:rPr lang="en-US" sz="3200" dirty="0"/>
              <a:t>Older persons need space of their own where they can get privacy and comfort. This can be a house, room or part of a room. In this space the elder person can keep treasures acquired in a lifetime.</a:t>
            </a:r>
          </a:p>
          <a:p>
            <a:pPr>
              <a:lnSpc>
                <a:spcPct val="150000"/>
              </a:lnSpc>
            </a:pPr>
            <a:r>
              <a:rPr lang="en-US" sz="3200" dirty="0"/>
              <a:t>If she/he is moved another space should be provided and the person should be allowed to hold, touch and enjoy his treasures.</a:t>
            </a:r>
          </a:p>
          <a:p>
            <a:endParaRPr lang="en-US" dirty="0"/>
          </a:p>
        </p:txBody>
      </p:sp>
      <p:sp>
        <p:nvSpPr>
          <p:cNvPr id="4" name="Date Placeholder 3">
            <a:extLst>
              <a:ext uri="{FF2B5EF4-FFF2-40B4-BE49-F238E27FC236}">
                <a16:creationId xmlns:a16="http://schemas.microsoft.com/office/drawing/2014/main" xmlns="" id="{B5BECAC9-6618-4C4F-9B6C-C0F350FB934D}"/>
              </a:ext>
            </a:extLst>
          </p:cNvPr>
          <p:cNvSpPr>
            <a:spLocks noGrp="1"/>
          </p:cNvSpPr>
          <p:nvPr>
            <p:ph type="dt" sz="half" idx="10"/>
          </p:nvPr>
        </p:nvSpPr>
        <p:spPr/>
        <p:txBody>
          <a:bodyPr/>
          <a:lstStyle/>
          <a:p>
            <a:fld id="{22EB7D0F-9F04-4C29-90B9-2C739962E3EC}" type="datetime1">
              <a:rPr lang="en-US" smtClean="0"/>
              <a:t>5/5/2022</a:t>
            </a:fld>
            <a:endParaRPr lang="en-US"/>
          </a:p>
        </p:txBody>
      </p:sp>
      <p:sp>
        <p:nvSpPr>
          <p:cNvPr id="5" name="Slide Number Placeholder 4">
            <a:extLst>
              <a:ext uri="{FF2B5EF4-FFF2-40B4-BE49-F238E27FC236}">
                <a16:creationId xmlns:a16="http://schemas.microsoft.com/office/drawing/2014/main" xmlns="" id="{489992D2-72CE-46BB-ACC3-8ACDBD6F26CA}"/>
              </a:ext>
            </a:extLst>
          </p:cNvPr>
          <p:cNvSpPr>
            <a:spLocks noGrp="1"/>
          </p:cNvSpPr>
          <p:nvPr>
            <p:ph type="sldNum" sz="quarter" idx="12"/>
          </p:nvPr>
        </p:nvSpPr>
        <p:spPr/>
        <p:txBody>
          <a:bodyPr/>
          <a:lstStyle/>
          <a:p>
            <a:fld id="{B92AFB71-4BE5-44E7-9108-3062C0C91BA0}" type="slidenum">
              <a:rPr lang="en-US" smtClean="0"/>
              <a:t>68</a:t>
            </a:fld>
            <a:endParaRPr lang="en-US"/>
          </a:p>
        </p:txBody>
      </p:sp>
    </p:spTree>
    <p:extLst>
      <p:ext uri="{BB962C8B-B14F-4D97-AF65-F5344CB8AC3E}">
        <p14:creationId xmlns:p14="http://schemas.microsoft.com/office/powerpoint/2010/main" val="27792147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D3B567-7535-4EDF-9312-EF11E023AF6D}"/>
              </a:ext>
            </a:extLst>
          </p:cNvPr>
          <p:cNvSpPr>
            <a:spLocks noGrp="1"/>
          </p:cNvSpPr>
          <p:nvPr>
            <p:ph type="title"/>
          </p:nvPr>
        </p:nvSpPr>
        <p:spPr>
          <a:xfrm>
            <a:off x="838200" y="365125"/>
            <a:ext cx="10515600" cy="247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179705DE-6661-4387-B3DB-0F31E42E0A13}"/>
              </a:ext>
            </a:extLst>
          </p:cNvPr>
          <p:cNvSpPr>
            <a:spLocks noGrp="1"/>
          </p:cNvSpPr>
          <p:nvPr>
            <p:ph idx="1"/>
          </p:nvPr>
        </p:nvSpPr>
        <p:spPr>
          <a:xfrm>
            <a:off x="925664" y="874643"/>
            <a:ext cx="10515600" cy="5254612"/>
          </a:xfrm>
        </p:spPr>
        <p:txBody>
          <a:bodyPr>
            <a:normAutofit fontScale="92500" lnSpcReduction="20000"/>
          </a:bodyPr>
          <a:lstStyle/>
          <a:p>
            <a:pPr algn="ctr">
              <a:lnSpc>
                <a:spcPct val="150000"/>
              </a:lnSpc>
              <a:buNone/>
            </a:pPr>
            <a:r>
              <a:rPr lang="en-US" sz="3200" b="1" dirty="0"/>
              <a:t>3. Nutritional needs</a:t>
            </a:r>
          </a:p>
          <a:p>
            <a:pPr>
              <a:lnSpc>
                <a:spcPct val="150000"/>
              </a:lnSpc>
            </a:pPr>
            <a:r>
              <a:rPr lang="en-US" sz="3200" dirty="0"/>
              <a:t>Nutritional needs must be met to prevent the body from deteriorating further.</a:t>
            </a:r>
          </a:p>
          <a:p>
            <a:pPr>
              <a:lnSpc>
                <a:spcPct val="150000"/>
              </a:lnSpc>
            </a:pPr>
            <a:r>
              <a:rPr lang="en-US" sz="3200" dirty="0"/>
              <a:t>1 person needs at least 1 gm of protein per kg body weight added if the person is sick.</a:t>
            </a:r>
          </a:p>
          <a:p>
            <a:pPr>
              <a:lnSpc>
                <a:spcPct val="150000"/>
              </a:lnSpc>
            </a:pPr>
            <a:r>
              <a:rPr lang="en-US" sz="3200" dirty="0"/>
              <a:t>Old people may not experience hunger due to poor taste perception and slowed activity. Nutrients are absorbed slowly and since most people live alone they may fail to cook. </a:t>
            </a:r>
          </a:p>
          <a:p>
            <a:endParaRPr lang="en-US" dirty="0"/>
          </a:p>
        </p:txBody>
      </p:sp>
      <p:sp>
        <p:nvSpPr>
          <p:cNvPr id="4" name="Date Placeholder 3">
            <a:extLst>
              <a:ext uri="{FF2B5EF4-FFF2-40B4-BE49-F238E27FC236}">
                <a16:creationId xmlns:a16="http://schemas.microsoft.com/office/drawing/2014/main" xmlns="" id="{7C835080-9B30-49E6-A62C-CA286A88CF24}"/>
              </a:ext>
            </a:extLst>
          </p:cNvPr>
          <p:cNvSpPr>
            <a:spLocks noGrp="1"/>
          </p:cNvSpPr>
          <p:nvPr>
            <p:ph type="dt" sz="half" idx="10"/>
          </p:nvPr>
        </p:nvSpPr>
        <p:spPr/>
        <p:txBody>
          <a:bodyPr/>
          <a:lstStyle/>
          <a:p>
            <a:fld id="{70822977-425F-4041-9C33-C827A289E72D}" type="datetime1">
              <a:rPr lang="en-US" smtClean="0"/>
              <a:t>5/5/2022</a:t>
            </a:fld>
            <a:endParaRPr lang="en-US"/>
          </a:p>
        </p:txBody>
      </p:sp>
      <p:sp>
        <p:nvSpPr>
          <p:cNvPr id="5" name="Slide Number Placeholder 4">
            <a:extLst>
              <a:ext uri="{FF2B5EF4-FFF2-40B4-BE49-F238E27FC236}">
                <a16:creationId xmlns:a16="http://schemas.microsoft.com/office/drawing/2014/main" xmlns="" id="{D3C439DD-7262-4256-8B9E-A159AFFAE5F6}"/>
              </a:ext>
            </a:extLst>
          </p:cNvPr>
          <p:cNvSpPr>
            <a:spLocks noGrp="1"/>
          </p:cNvSpPr>
          <p:nvPr>
            <p:ph type="sldNum" sz="quarter" idx="12"/>
          </p:nvPr>
        </p:nvSpPr>
        <p:spPr/>
        <p:txBody>
          <a:bodyPr/>
          <a:lstStyle/>
          <a:p>
            <a:fld id="{B92AFB71-4BE5-44E7-9108-3062C0C91BA0}" type="slidenum">
              <a:rPr lang="en-US" smtClean="0"/>
              <a:t>69</a:t>
            </a:fld>
            <a:endParaRPr lang="en-US"/>
          </a:p>
        </p:txBody>
      </p:sp>
    </p:spTree>
    <p:extLst>
      <p:ext uri="{BB962C8B-B14F-4D97-AF65-F5344CB8AC3E}">
        <p14:creationId xmlns:p14="http://schemas.microsoft.com/office/powerpoint/2010/main" val="3948036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C41D40-B4F6-41B3-B52F-2E0B82C062C4}"/>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92826BFC-31A2-4F49-B8E9-E01A5A89D5E8}"/>
              </a:ext>
            </a:extLst>
          </p:cNvPr>
          <p:cNvSpPr>
            <a:spLocks noGrp="1"/>
          </p:cNvSpPr>
          <p:nvPr>
            <p:ph idx="1"/>
          </p:nvPr>
        </p:nvSpPr>
        <p:spPr>
          <a:xfrm>
            <a:off x="838200" y="1025718"/>
            <a:ext cx="10515600" cy="5151245"/>
          </a:xfrm>
        </p:spPr>
        <p:txBody>
          <a:bodyPr/>
          <a:lstStyle/>
          <a:p>
            <a:pPr>
              <a:lnSpc>
                <a:spcPct val="150000"/>
              </a:lnSpc>
            </a:pPr>
            <a:r>
              <a:rPr lang="en-US" sz="3200" dirty="0"/>
              <a:t>They should be encouraged to cook food rich in protein, carbohydrates, minerals, vitamins to meet body requirements and they should take adequate fluids.</a:t>
            </a:r>
          </a:p>
          <a:p>
            <a:pPr>
              <a:lnSpc>
                <a:spcPct val="150000"/>
              </a:lnSpc>
            </a:pPr>
            <a:r>
              <a:rPr lang="en-US" sz="3200" dirty="0"/>
              <a:t>Food should be soft so that the old person  can use his denture  to chew. It should also be soft since sometimes they may have problem with swallowing.</a:t>
            </a:r>
          </a:p>
          <a:p>
            <a:endParaRPr lang="en-US" dirty="0"/>
          </a:p>
        </p:txBody>
      </p:sp>
      <p:sp>
        <p:nvSpPr>
          <p:cNvPr id="4" name="Date Placeholder 3">
            <a:extLst>
              <a:ext uri="{FF2B5EF4-FFF2-40B4-BE49-F238E27FC236}">
                <a16:creationId xmlns:a16="http://schemas.microsoft.com/office/drawing/2014/main" xmlns="" id="{B5BF2BCC-31A3-474B-BF4B-988411DB7525}"/>
              </a:ext>
            </a:extLst>
          </p:cNvPr>
          <p:cNvSpPr>
            <a:spLocks noGrp="1"/>
          </p:cNvSpPr>
          <p:nvPr>
            <p:ph type="dt" sz="half" idx="10"/>
          </p:nvPr>
        </p:nvSpPr>
        <p:spPr/>
        <p:txBody>
          <a:bodyPr/>
          <a:lstStyle/>
          <a:p>
            <a:fld id="{A6692676-1859-49BF-8C03-03AAAF3F255B}" type="datetime1">
              <a:rPr lang="en-US" smtClean="0"/>
              <a:t>5/5/2022</a:t>
            </a:fld>
            <a:endParaRPr lang="en-US"/>
          </a:p>
        </p:txBody>
      </p:sp>
      <p:sp>
        <p:nvSpPr>
          <p:cNvPr id="5" name="Slide Number Placeholder 4">
            <a:extLst>
              <a:ext uri="{FF2B5EF4-FFF2-40B4-BE49-F238E27FC236}">
                <a16:creationId xmlns:a16="http://schemas.microsoft.com/office/drawing/2014/main" xmlns="" id="{2F31CA18-522D-42A0-A7DA-F30D4E2119F5}"/>
              </a:ext>
            </a:extLst>
          </p:cNvPr>
          <p:cNvSpPr>
            <a:spLocks noGrp="1"/>
          </p:cNvSpPr>
          <p:nvPr>
            <p:ph type="sldNum" sz="quarter" idx="12"/>
          </p:nvPr>
        </p:nvSpPr>
        <p:spPr/>
        <p:txBody>
          <a:bodyPr/>
          <a:lstStyle/>
          <a:p>
            <a:fld id="{B92AFB71-4BE5-44E7-9108-3062C0C91BA0}" type="slidenum">
              <a:rPr lang="en-US" smtClean="0"/>
              <a:t>70</a:t>
            </a:fld>
            <a:endParaRPr lang="en-US"/>
          </a:p>
        </p:txBody>
      </p:sp>
    </p:spTree>
    <p:extLst>
      <p:ext uri="{BB962C8B-B14F-4D97-AF65-F5344CB8AC3E}">
        <p14:creationId xmlns:p14="http://schemas.microsoft.com/office/powerpoint/2010/main" val="7085217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62FF3B-6F42-4241-9EED-C80FC76F2312}"/>
              </a:ext>
            </a:extLst>
          </p:cNvPr>
          <p:cNvSpPr>
            <a:spLocks noGrp="1"/>
          </p:cNvSpPr>
          <p:nvPr>
            <p:ph type="title"/>
          </p:nvPr>
        </p:nvSpPr>
        <p:spPr>
          <a:xfrm>
            <a:off x="838200" y="365125"/>
            <a:ext cx="10515600" cy="183515"/>
          </a:xfrm>
        </p:spPr>
        <p:txBody>
          <a:bodyPr>
            <a:normAutofit fontScale="90000"/>
          </a:bodyPr>
          <a:lstStyle/>
          <a:p>
            <a:r>
              <a:rPr lang="en-US" b="1" u="sng" dirty="0"/>
              <a:t/>
            </a:r>
            <a:br>
              <a:rPr lang="en-US" b="1" u="sng" dirty="0"/>
            </a:br>
            <a:endParaRPr lang="en-US" dirty="0"/>
          </a:p>
        </p:txBody>
      </p:sp>
      <p:sp>
        <p:nvSpPr>
          <p:cNvPr id="3" name="Content Placeholder 2">
            <a:extLst>
              <a:ext uri="{FF2B5EF4-FFF2-40B4-BE49-F238E27FC236}">
                <a16:creationId xmlns:a16="http://schemas.microsoft.com/office/drawing/2014/main" xmlns="" id="{9DE1B450-FB46-47B2-8290-D43D96B9FEC3}"/>
              </a:ext>
            </a:extLst>
          </p:cNvPr>
          <p:cNvSpPr>
            <a:spLocks noGrp="1"/>
          </p:cNvSpPr>
          <p:nvPr>
            <p:ph idx="1"/>
          </p:nvPr>
        </p:nvSpPr>
        <p:spPr>
          <a:xfrm>
            <a:off x="838200" y="421419"/>
            <a:ext cx="10515600" cy="5755544"/>
          </a:xfrm>
        </p:spPr>
        <p:txBody>
          <a:bodyPr>
            <a:normAutofit fontScale="92500" lnSpcReduction="20000"/>
          </a:bodyPr>
          <a:lstStyle/>
          <a:p>
            <a:pPr marL="0" indent="0" algn="ctr">
              <a:lnSpc>
                <a:spcPct val="150000"/>
              </a:lnSpc>
              <a:buNone/>
            </a:pPr>
            <a:r>
              <a:rPr lang="en-US" b="1" dirty="0"/>
              <a:t>4. Elimination needs</a:t>
            </a:r>
          </a:p>
          <a:p>
            <a:pPr marL="0" indent="0">
              <a:lnSpc>
                <a:spcPct val="150000"/>
              </a:lnSpc>
              <a:buNone/>
            </a:pPr>
            <a:r>
              <a:rPr lang="en-US" dirty="0"/>
              <a:t>Old people are pre-occupied with their bowel functions and they require reassurance that daily bowel movements may not be necessary.</a:t>
            </a:r>
          </a:p>
          <a:p>
            <a:pPr>
              <a:lnSpc>
                <a:spcPct val="150000"/>
              </a:lnSpc>
              <a:buNone/>
            </a:pPr>
            <a:r>
              <a:rPr lang="en-US" b="1" i="1" dirty="0"/>
              <a:t>Constipation</a:t>
            </a:r>
          </a:p>
          <a:p>
            <a:pPr>
              <a:lnSpc>
                <a:spcPct val="150000"/>
              </a:lnSpc>
            </a:pPr>
            <a:r>
              <a:rPr lang="en-US" dirty="0"/>
              <a:t>Many old people require stimulation to keep their bowels functioning. Some may require laxative or stool softener but care should be taken that an old person does not use them daily and think that he/she cannot do without them.</a:t>
            </a:r>
          </a:p>
          <a:p>
            <a:pPr>
              <a:lnSpc>
                <a:spcPct val="150000"/>
              </a:lnSpc>
            </a:pPr>
            <a:r>
              <a:rPr lang="en-US" dirty="0"/>
              <a:t>Clients should be encouraged to exercise regularly, eat fruits and vegetables and drink plenty of water.</a:t>
            </a:r>
          </a:p>
          <a:p>
            <a:endParaRPr lang="en-US" dirty="0"/>
          </a:p>
        </p:txBody>
      </p:sp>
      <p:sp>
        <p:nvSpPr>
          <p:cNvPr id="4" name="Date Placeholder 3">
            <a:extLst>
              <a:ext uri="{FF2B5EF4-FFF2-40B4-BE49-F238E27FC236}">
                <a16:creationId xmlns:a16="http://schemas.microsoft.com/office/drawing/2014/main" xmlns="" id="{10DCDC5E-930A-4C96-A5E1-5B64844D3A1C}"/>
              </a:ext>
            </a:extLst>
          </p:cNvPr>
          <p:cNvSpPr>
            <a:spLocks noGrp="1"/>
          </p:cNvSpPr>
          <p:nvPr>
            <p:ph type="dt" sz="half" idx="10"/>
          </p:nvPr>
        </p:nvSpPr>
        <p:spPr/>
        <p:txBody>
          <a:bodyPr/>
          <a:lstStyle/>
          <a:p>
            <a:fld id="{43527449-DAAD-4D26-A8F8-CACBAC57701C}" type="datetime1">
              <a:rPr lang="en-US" smtClean="0"/>
              <a:t>5/5/2022</a:t>
            </a:fld>
            <a:endParaRPr lang="en-US"/>
          </a:p>
        </p:txBody>
      </p:sp>
      <p:sp>
        <p:nvSpPr>
          <p:cNvPr id="5" name="Slide Number Placeholder 4">
            <a:extLst>
              <a:ext uri="{FF2B5EF4-FFF2-40B4-BE49-F238E27FC236}">
                <a16:creationId xmlns:a16="http://schemas.microsoft.com/office/drawing/2014/main" xmlns="" id="{4B5F0909-C9DE-40B5-A151-ADC27EF1E5B4}"/>
              </a:ext>
            </a:extLst>
          </p:cNvPr>
          <p:cNvSpPr>
            <a:spLocks noGrp="1"/>
          </p:cNvSpPr>
          <p:nvPr>
            <p:ph type="sldNum" sz="quarter" idx="12"/>
          </p:nvPr>
        </p:nvSpPr>
        <p:spPr/>
        <p:txBody>
          <a:bodyPr/>
          <a:lstStyle/>
          <a:p>
            <a:fld id="{B92AFB71-4BE5-44E7-9108-3062C0C91BA0}" type="slidenum">
              <a:rPr lang="en-US" smtClean="0"/>
              <a:t>71</a:t>
            </a:fld>
            <a:endParaRPr lang="en-US"/>
          </a:p>
        </p:txBody>
      </p:sp>
    </p:spTree>
    <p:extLst>
      <p:ext uri="{BB962C8B-B14F-4D97-AF65-F5344CB8AC3E}">
        <p14:creationId xmlns:p14="http://schemas.microsoft.com/office/powerpoint/2010/main" val="14822049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3D8E67-F7CD-4B25-ACF2-486348D535B4}"/>
              </a:ext>
            </a:extLst>
          </p:cNvPr>
          <p:cNvSpPr>
            <a:spLocks noGrp="1"/>
          </p:cNvSpPr>
          <p:nvPr>
            <p:ph type="title"/>
          </p:nvPr>
        </p:nvSpPr>
        <p:spPr>
          <a:xfrm>
            <a:off x="838200" y="365125"/>
            <a:ext cx="10515600" cy="25507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7792464-F758-4E38-A373-D21C60CA78E6}"/>
              </a:ext>
            </a:extLst>
          </p:cNvPr>
          <p:cNvSpPr>
            <a:spLocks noGrp="1"/>
          </p:cNvSpPr>
          <p:nvPr>
            <p:ph idx="1"/>
          </p:nvPr>
        </p:nvSpPr>
        <p:spPr>
          <a:xfrm>
            <a:off x="838200" y="715617"/>
            <a:ext cx="10515600" cy="5461346"/>
          </a:xfrm>
        </p:spPr>
        <p:txBody>
          <a:bodyPr>
            <a:normAutofit fontScale="92500" lnSpcReduction="20000"/>
          </a:bodyPr>
          <a:lstStyle/>
          <a:p>
            <a:pPr>
              <a:lnSpc>
                <a:spcPct val="150000"/>
              </a:lnSpc>
              <a:buNone/>
            </a:pPr>
            <a:r>
              <a:rPr lang="en-US" b="1" i="1" dirty="0"/>
              <a:t>Bladder and bowel incontinence</a:t>
            </a:r>
          </a:p>
          <a:p>
            <a:pPr>
              <a:lnSpc>
                <a:spcPct val="150000"/>
              </a:lnSpc>
            </a:pPr>
            <a:r>
              <a:rPr lang="en-US" dirty="0"/>
              <a:t>The older person may have difficult in controlling bladder and bowel function. To overcome this, the older person should be retrained to be following regular schedules.</a:t>
            </a:r>
          </a:p>
          <a:p>
            <a:pPr>
              <a:lnSpc>
                <a:spcPct val="150000"/>
              </a:lnSpc>
            </a:pPr>
            <a:r>
              <a:rPr lang="en-US" dirty="0"/>
              <a:t>Retraining is usually welcome since it saves the person from embarrassment.</a:t>
            </a:r>
          </a:p>
          <a:p>
            <a:pPr>
              <a:lnSpc>
                <a:spcPct val="150000"/>
              </a:lnSpc>
            </a:pPr>
            <a:r>
              <a:rPr lang="en-US" dirty="0"/>
              <a:t>To start with trips to the bathroom should be short interval which should be gradually lengthened. Catheters should be avoided as they also introduce infection to the urinary tract.</a:t>
            </a:r>
          </a:p>
          <a:p>
            <a:endParaRPr lang="en-US" dirty="0"/>
          </a:p>
        </p:txBody>
      </p:sp>
      <p:sp>
        <p:nvSpPr>
          <p:cNvPr id="4" name="Date Placeholder 3">
            <a:extLst>
              <a:ext uri="{FF2B5EF4-FFF2-40B4-BE49-F238E27FC236}">
                <a16:creationId xmlns:a16="http://schemas.microsoft.com/office/drawing/2014/main" xmlns="" id="{760C90B5-8CBD-451A-B68F-BCE43C113068}"/>
              </a:ext>
            </a:extLst>
          </p:cNvPr>
          <p:cNvSpPr>
            <a:spLocks noGrp="1"/>
          </p:cNvSpPr>
          <p:nvPr>
            <p:ph type="dt" sz="half" idx="10"/>
          </p:nvPr>
        </p:nvSpPr>
        <p:spPr/>
        <p:txBody>
          <a:bodyPr/>
          <a:lstStyle/>
          <a:p>
            <a:fld id="{CB9B12A2-A5B3-4281-8EC9-4C1E6C780C66}" type="datetime1">
              <a:rPr lang="en-US" smtClean="0"/>
              <a:t>5/5/2022</a:t>
            </a:fld>
            <a:endParaRPr lang="en-US"/>
          </a:p>
        </p:txBody>
      </p:sp>
      <p:sp>
        <p:nvSpPr>
          <p:cNvPr id="5" name="Slide Number Placeholder 4">
            <a:extLst>
              <a:ext uri="{FF2B5EF4-FFF2-40B4-BE49-F238E27FC236}">
                <a16:creationId xmlns:a16="http://schemas.microsoft.com/office/drawing/2014/main" xmlns="" id="{A0B07C4F-40D0-488F-8A61-094A92C5390F}"/>
              </a:ext>
            </a:extLst>
          </p:cNvPr>
          <p:cNvSpPr>
            <a:spLocks noGrp="1"/>
          </p:cNvSpPr>
          <p:nvPr>
            <p:ph type="sldNum" sz="quarter" idx="12"/>
          </p:nvPr>
        </p:nvSpPr>
        <p:spPr/>
        <p:txBody>
          <a:bodyPr/>
          <a:lstStyle/>
          <a:p>
            <a:fld id="{B92AFB71-4BE5-44E7-9108-3062C0C91BA0}" type="slidenum">
              <a:rPr lang="en-US" smtClean="0"/>
              <a:t>72</a:t>
            </a:fld>
            <a:endParaRPr lang="en-US"/>
          </a:p>
        </p:txBody>
      </p:sp>
    </p:spTree>
    <p:extLst>
      <p:ext uri="{BB962C8B-B14F-4D97-AF65-F5344CB8AC3E}">
        <p14:creationId xmlns:p14="http://schemas.microsoft.com/office/powerpoint/2010/main" val="5434127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D7B0DA-096D-4B88-B008-59BA546B9BAC}"/>
              </a:ext>
            </a:extLst>
          </p:cNvPr>
          <p:cNvSpPr>
            <a:spLocks noGrp="1"/>
          </p:cNvSpPr>
          <p:nvPr>
            <p:ph type="title"/>
          </p:nvPr>
        </p:nvSpPr>
        <p:spPr>
          <a:xfrm>
            <a:off x="838200" y="365125"/>
            <a:ext cx="10515600" cy="39024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47536A15-5F92-4377-9ACB-852AAD59FFDF}"/>
              </a:ext>
            </a:extLst>
          </p:cNvPr>
          <p:cNvSpPr>
            <a:spLocks noGrp="1"/>
          </p:cNvSpPr>
          <p:nvPr>
            <p:ph idx="1"/>
          </p:nvPr>
        </p:nvSpPr>
        <p:spPr>
          <a:xfrm>
            <a:off x="838200" y="1144988"/>
            <a:ext cx="10515600" cy="5031975"/>
          </a:xfrm>
        </p:spPr>
        <p:txBody>
          <a:bodyPr/>
          <a:lstStyle/>
          <a:p>
            <a:pPr>
              <a:lnSpc>
                <a:spcPct val="150000"/>
              </a:lnSpc>
              <a:buNone/>
            </a:pPr>
            <a:r>
              <a:rPr lang="en-US" sz="3200" b="1" i="1" dirty="0"/>
              <a:t>Difficult in voiding</a:t>
            </a:r>
          </a:p>
          <a:p>
            <a:pPr>
              <a:lnSpc>
                <a:spcPct val="150000"/>
              </a:lnSpc>
            </a:pPr>
            <a:r>
              <a:rPr lang="en-US" sz="3200" dirty="0"/>
              <a:t>Retention of urine is common in the older people (men) due to enlargement of the prostate gland. Corrective surgery should be organized . Urine output also decreases due to reduction in the glomerular filtration rate.</a:t>
            </a:r>
          </a:p>
          <a:p>
            <a:endParaRPr lang="en-US" dirty="0"/>
          </a:p>
        </p:txBody>
      </p:sp>
      <p:sp>
        <p:nvSpPr>
          <p:cNvPr id="4" name="Date Placeholder 3">
            <a:extLst>
              <a:ext uri="{FF2B5EF4-FFF2-40B4-BE49-F238E27FC236}">
                <a16:creationId xmlns:a16="http://schemas.microsoft.com/office/drawing/2014/main" xmlns="" id="{AF1EE3E3-E9CB-492F-BB22-8BCE7B9225DC}"/>
              </a:ext>
            </a:extLst>
          </p:cNvPr>
          <p:cNvSpPr>
            <a:spLocks noGrp="1"/>
          </p:cNvSpPr>
          <p:nvPr>
            <p:ph type="dt" sz="half" idx="10"/>
          </p:nvPr>
        </p:nvSpPr>
        <p:spPr/>
        <p:txBody>
          <a:bodyPr/>
          <a:lstStyle/>
          <a:p>
            <a:fld id="{C6AD0C74-F7A2-40DF-AF00-27969E4561CB}" type="datetime1">
              <a:rPr lang="en-US" smtClean="0"/>
              <a:t>5/5/2022</a:t>
            </a:fld>
            <a:endParaRPr lang="en-US"/>
          </a:p>
        </p:txBody>
      </p:sp>
      <p:sp>
        <p:nvSpPr>
          <p:cNvPr id="5" name="Slide Number Placeholder 4">
            <a:extLst>
              <a:ext uri="{FF2B5EF4-FFF2-40B4-BE49-F238E27FC236}">
                <a16:creationId xmlns:a16="http://schemas.microsoft.com/office/drawing/2014/main" xmlns="" id="{E8E3C548-1FD9-4FB0-B4B1-3B977948513E}"/>
              </a:ext>
            </a:extLst>
          </p:cNvPr>
          <p:cNvSpPr>
            <a:spLocks noGrp="1"/>
          </p:cNvSpPr>
          <p:nvPr>
            <p:ph type="sldNum" sz="quarter" idx="12"/>
          </p:nvPr>
        </p:nvSpPr>
        <p:spPr/>
        <p:txBody>
          <a:bodyPr/>
          <a:lstStyle/>
          <a:p>
            <a:fld id="{B92AFB71-4BE5-44E7-9108-3062C0C91BA0}" type="slidenum">
              <a:rPr lang="en-US" smtClean="0"/>
              <a:t>73</a:t>
            </a:fld>
            <a:endParaRPr lang="en-US"/>
          </a:p>
        </p:txBody>
      </p:sp>
    </p:spTree>
    <p:extLst>
      <p:ext uri="{BB962C8B-B14F-4D97-AF65-F5344CB8AC3E}">
        <p14:creationId xmlns:p14="http://schemas.microsoft.com/office/powerpoint/2010/main" val="41275168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21E592-49DF-4444-8253-6FE348BEEEA2}"/>
              </a:ext>
            </a:extLst>
          </p:cNvPr>
          <p:cNvSpPr>
            <a:spLocks noGrp="1"/>
          </p:cNvSpPr>
          <p:nvPr>
            <p:ph type="title"/>
          </p:nvPr>
        </p:nvSpPr>
        <p:spPr>
          <a:xfrm>
            <a:off x="838200" y="365126"/>
            <a:ext cx="10515600" cy="39820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6C84E499-0290-43DB-A06B-91FDC3193C78}"/>
              </a:ext>
            </a:extLst>
          </p:cNvPr>
          <p:cNvSpPr>
            <a:spLocks noGrp="1"/>
          </p:cNvSpPr>
          <p:nvPr>
            <p:ph idx="1"/>
          </p:nvPr>
        </p:nvSpPr>
        <p:spPr>
          <a:xfrm>
            <a:off x="750736" y="722181"/>
            <a:ext cx="10515600" cy="5413637"/>
          </a:xfrm>
        </p:spPr>
        <p:txBody>
          <a:bodyPr>
            <a:normAutofit fontScale="77500" lnSpcReduction="20000"/>
          </a:bodyPr>
          <a:lstStyle/>
          <a:p>
            <a:pPr>
              <a:lnSpc>
                <a:spcPct val="170000"/>
              </a:lnSpc>
              <a:buNone/>
            </a:pPr>
            <a:r>
              <a:rPr lang="en-US" sz="3200" b="1" dirty="0"/>
              <a:t>5. Physical hygiene needs</a:t>
            </a:r>
          </a:p>
          <a:p>
            <a:pPr>
              <a:lnSpc>
                <a:spcPct val="170000"/>
              </a:lnSpc>
            </a:pPr>
            <a:r>
              <a:rPr lang="en-US" sz="3200" b="1" i="1" dirty="0"/>
              <a:t>Skin care: </a:t>
            </a:r>
            <a:r>
              <a:rPr lang="en-US" sz="3200" dirty="0"/>
              <a:t>Skin is more delicate and requires better care to avoid infection or breakdown due to pressure. If the older person is incontinent of either urine, stool or both, care should be taken to keep him clean and dry.</a:t>
            </a:r>
          </a:p>
          <a:p>
            <a:pPr>
              <a:lnSpc>
                <a:spcPct val="170000"/>
              </a:lnSpc>
            </a:pPr>
            <a:r>
              <a:rPr lang="en-US" sz="3200" dirty="0"/>
              <a:t>Skin oil or lotion should be used to keep the skin soft and promote peripheral circulation.</a:t>
            </a:r>
          </a:p>
          <a:p>
            <a:pPr>
              <a:lnSpc>
                <a:spcPct val="170000"/>
              </a:lnSpc>
            </a:pPr>
            <a:r>
              <a:rPr lang="en-US" sz="3200" dirty="0"/>
              <a:t>The older person sweat and oil glands are less active so the person can take a bath less often and should use bath oil or mild soap.</a:t>
            </a:r>
          </a:p>
          <a:p>
            <a:pPr>
              <a:lnSpc>
                <a:spcPct val="170000"/>
              </a:lnSpc>
            </a:pPr>
            <a:endParaRPr lang="en-US" sz="3200" dirty="0"/>
          </a:p>
          <a:p>
            <a:endParaRPr lang="en-US" dirty="0"/>
          </a:p>
        </p:txBody>
      </p:sp>
      <p:sp>
        <p:nvSpPr>
          <p:cNvPr id="4" name="Date Placeholder 3">
            <a:extLst>
              <a:ext uri="{FF2B5EF4-FFF2-40B4-BE49-F238E27FC236}">
                <a16:creationId xmlns:a16="http://schemas.microsoft.com/office/drawing/2014/main" xmlns="" id="{46B87DA3-D2CD-4ED1-B1D1-C8CFC4A7A022}"/>
              </a:ext>
            </a:extLst>
          </p:cNvPr>
          <p:cNvSpPr>
            <a:spLocks noGrp="1"/>
          </p:cNvSpPr>
          <p:nvPr>
            <p:ph type="dt" sz="half" idx="10"/>
          </p:nvPr>
        </p:nvSpPr>
        <p:spPr/>
        <p:txBody>
          <a:bodyPr/>
          <a:lstStyle/>
          <a:p>
            <a:fld id="{DAEEE495-C0E0-45C3-8484-CE8245854E72}" type="datetime1">
              <a:rPr lang="en-US" smtClean="0"/>
              <a:t>5/5/2022</a:t>
            </a:fld>
            <a:endParaRPr lang="en-US"/>
          </a:p>
        </p:txBody>
      </p:sp>
      <p:sp>
        <p:nvSpPr>
          <p:cNvPr id="5" name="Slide Number Placeholder 4">
            <a:extLst>
              <a:ext uri="{FF2B5EF4-FFF2-40B4-BE49-F238E27FC236}">
                <a16:creationId xmlns:a16="http://schemas.microsoft.com/office/drawing/2014/main" xmlns="" id="{D866895C-E77C-407A-B500-FE6A28B2C7AE}"/>
              </a:ext>
            </a:extLst>
          </p:cNvPr>
          <p:cNvSpPr>
            <a:spLocks noGrp="1"/>
          </p:cNvSpPr>
          <p:nvPr>
            <p:ph type="sldNum" sz="quarter" idx="12"/>
          </p:nvPr>
        </p:nvSpPr>
        <p:spPr/>
        <p:txBody>
          <a:bodyPr/>
          <a:lstStyle/>
          <a:p>
            <a:fld id="{B92AFB71-4BE5-44E7-9108-3062C0C91BA0}" type="slidenum">
              <a:rPr lang="en-US" smtClean="0"/>
              <a:t>74</a:t>
            </a:fld>
            <a:endParaRPr lang="en-US"/>
          </a:p>
        </p:txBody>
      </p:sp>
    </p:spTree>
    <p:extLst>
      <p:ext uri="{BB962C8B-B14F-4D97-AF65-F5344CB8AC3E}">
        <p14:creationId xmlns:p14="http://schemas.microsoft.com/office/powerpoint/2010/main" val="23526221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12DEB8-48A6-49AF-9D18-D23D0F23BD7A}"/>
              </a:ext>
            </a:extLst>
          </p:cNvPr>
          <p:cNvSpPr>
            <a:spLocks noGrp="1"/>
          </p:cNvSpPr>
          <p:nvPr>
            <p:ph type="title"/>
          </p:nvPr>
        </p:nvSpPr>
        <p:spPr>
          <a:xfrm>
            <a:off x="838200" y="365126"/>
            <a:ext cx="10515600" cy="22327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71FC9015-378D-402F-8297-CC40C783B5A7}"/>
              </a:ext>
            </a:extLst>
          </p:cNvPr>
          <p:cNvSpPr>
            <a:spLocks noGrp="1"/>
          </p:cNvSpPr>
          <p:nvPr>
            <p:ph idx="1"/>
          </p:nvPr>
        </p:nvSpPr>
        <p:spPr>
          <a:xfrm>
            <a:off x="838200" y="652007"/>
            <a:ext cx="10515600" cy="5524956"/>
          </a:xfrm>
        </p:spPr>
        <p:txBody>
          <a:bodyPr>
            <a:normAutofit fontScale="92500" lnSpcReduction="20000"/>
          </a:bodyPr>
          <a:lstStyle/>
          <a:p>
            <a:pPr>
              <a:lnSpc>
                <a:spcPct val="150000"/>
              </a:lnSpc>
            </a:pPr>
            <a:r>
              <a:rPr lang="en-US" sz="3200" b="1" i="1" dirty="0"/>
              <a:t>Oral hygiene: </a:t>
            </a:r>
            <a:r>
              <a:rPr lang="en-US" sz="3200" dirty="0"/>
              <a:t>Older person should be encouraged to take care of the mouth and take care of the dentures.</a:t>
            </a:r>
          </a:p>
          <a:p>
            <a:pPr>
              <a:lnSpc>
                <a:spcPct val="150000"/>
              </a:lnSpc>
            </a:pPr>
            <a:r>
              <a:rPr lang="en-US" sz="3200" b="1" dirty="0"/>
              <a:t>Hair</a:t>
            </a:r>
            <a:r>
              <a:rPr lang="en-US" sz="3200" dirty="0"/>
              <a:t>: should be kept clean and tidy</a:t>
            </a:r>
          </a:p>
          <a:p>
            <a:pPr>
              <a:lnSpc>
                <a:spcPct val="150000"/>
              </a:lnSpc>
            </a:pPr>
            <a:r>
              <a:rPr lang="en-US" sz="3200" b="1" dirty="0"/>
              <a:t>Nails</a:t>
            </a:r>
            <a:r>
              <a:rPr lang="en-US" sz="3200" dirty="0"/>
              <a:t>: finger nails are hard and brittle, so should be kept soft by being rubbed with lotion or being soaked in warm water. Should be cut and kept short.</a:t>
            </a:r>
          </a:p>
          <a:p>
            <a:pPr>
              <a:lnSpc>
                <a:spcPct val="150000"/>
              </a:lnSpc>
            </a:pPr>
            <a:r>
              <a:rPr lang="en-US" sz="3200" b="1" dirty="0"/>
              <a:t>Shaving the male</a:t>
            </a:r>
            <a:r>
              <a:rPr lang="en-US" sz="3200" dirty="0"/>
              <a:t>: assist the older person to shave their beard regularly and ensure their safety.</a:t>
            </a:r>
          </a:p>
          <a:p>
            <a:endParaRPr lang="en-US" dirty="0"/>
          </a:p>
        </p:txBody>
      </p:sp>
      <p:sp>
        <p:nvSpPr>
          <p:cNvPr id="4" name="Date Placeholder 3">
            <a:extLst>
              <a:ext uri="{FF2B5EF4-FFF2-40B4-BE49-F238E27FC236}">
                <a16:creationId xmlns:a16="http://schemas.microsoft.com/office/drawing/2014/main" xmlns="" id="{F1B73D20-99D3-4EE8-B239-D7C5D1E1FD38}"/>
              </a:ext>
            </a:extLst>
          </p:cNvPr>
          <p:cNvSpPr>
            <a:spLocks noGrp="1"/>
          </p:cNvSpPr>
          <p:nvPr>
            <p:ph type="dt" sz="half" idx="10"/>
          </p:nvPr>
        </p:nvSpPr>
        <p:spPr/>
        <p:txBody>
          <a:bodyPr/>
          <a:lstStyle/>
          <a:p>
            <a:fld id="{758F89C4-2BA5-47F0-9841-371CD68113C6}" type="datetime1">
              <a:rPr lang="en-US" smtClean="0"/>
              <a:t>5/5/2022</a:t>
            </a:fld>
            <a:endParaRPr lang="en-US"/>
          </a:p>
        </p:txBody>
      </p:sp>
      <p:sp>
        <p:nvSpPr>
          <p:cNvPr id="5" name="Slide Number Placeholder 4">
            <a:extLst>
              <a:ext uri="{FF2B5EF4-FFF2-40B4-BE49-F238E27FC236}">
                <a16:creationId xmlns:a16="http://schemas.microsoft.com/office/drawing/2014/main" xmlns="" id="{096BF62F-B7E7-4DF1-BC7A-0E97863D5B76}"/>
              </a:ext>
            </a:extLst>
          </p:cNvPr>
          <p:cNvSpPr>
            <a:spLocks noGrp="1"/>
          </p:cNvSpPr>
          <p:nvPr>
            <p:ph type="sldNum" sz="quarter" idx="12"/>
          </p:nvPr>
        </p:nvSpPr>
        <p:spPr/>
        <p:txBody>
          <a:bodyPr/>
          <a:lstStyle/>
          <a:p>
            <a:fld id="{B92AFB71-4BE5-44E7-9108-3062C0C91BA0}" type="slidenum">
              <a:rPr lang="en-US" smtClean="0"/>
              <a:t>75</a:t>
            </a:fld>
            <a:endParaRPr lang="en-US"/>
          </a:p>
        </p:txBody>
      </p:sp>
    </p:spTree>
    <p:extLst>
      <p:ext uri="{BB962C8B-B14F-4D97-AF65-F5344CB8AC3E}">
        <p14:creationId xmlns:p14="http://schemas.microsoft.com/office/powerpoint/2010/main" val="33409159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D0A0D5-8676-47BF-8D0D-94C79D44D577}"/>
              </a:ext>
            </a:extLst>
          </p:cNvPr>
          <p:cNvSpPr>
            <a:spLocks noGrp="1"/>
          </p:cNvSpPr>
          <p:nvPr>
            <p:ph type="title"/>
          </p:nvPr>
        </p:nvSpPr>
        <p:spPr>
          <a:xfrm>
            <a:off x="838200" y="-71562"/>
            <a:ext cx="10515600" cy="30215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0DB92C1-3A5D-4C87-87D8-6ECCD12129EE}"/>
              </a:ext>
            </a:extLst>
          </p:cNvPr>
          <p:cNvSpPr>
            <a:spLocks noGrp="1"/>
          </p:cNvSpPr>
          <p:nvPr>
            <p:ph idx="1"/>
          </p:nvPr>
        </p:nvSpPr>
        <p:spPr>
          <a:xfrm>
            <a:off x="838200" y="477078"/>
            <a:ext cx="10515600" cy="5699885"/>
          </a:xfrm>
        </p:spPr>
        <p:txBody>
          <a:bodyPr/>
          <a:lstStyle/>
          <a:p>
            <a:pPr>
              <a:lnSpc>
                <a:spcPct val="150000"/>
              </a:lnSpc>
            </a:pPr>
            <a:r>
              <a:rPr lang="en-US" sz="3200" b="1" dirty="0"/>
              <a:t>Safety</a:t>
            </a:r>
            <a:r>
              <a:rPr lang="en-US" sz="3200" dirty="0"/>
              <a:t>: loss of </a:t>
            </a:r>
            <a:r>
              <a:rPr lang="en-US" sz="3200" dirty="0" err="1"/>
              <a:t>Propioception</a:t>
            </a:r>
            <a:r>
              <a:rPr lang="en-US" sz="3200" dirty="0"/>
              <a:t> (sensation of body space). Restrains e.g. side rails in beds, adaptive devices for bath tabs and toilets.</a:t>
            </a:r>
          </a:p>
          <a:p>
            <a:pPr>
              <a:lnSpc>
                <a:spcPct val="150000"/>
              </a:lnSpc>
            </a:pPr>
            <a:r>
              <a:rPr lang="en-US" sz="3200" b="1" dirty="0"/>
              <a:t>Communications</a:t>
            </a:r>
            <a:r>
              <a:rPr lang="en-US" sz="3200" dirty="0"/>
              <a:t>: older people experience problems communicating due to their failing sensory system. The is need to be encouraged to communicate and where possible they should not be kept alone in a room.</a:t>
            </a:r>
          </a:p>
          <a:p>
            <a:endParaRPr lang="en-US" dirty="0"/>
          </a:p>
        </p:txBody>
      </p:sp>
      <p:sp>
        <p:nvSpPr>
          <p:cNvPr id="4" name="Date Placeholder 3">
            <a:extLst>
              <a:ext uri="{FF2B5EF4-FFF2-40B4-BE49-F238E27FC236}">
                <a16:creationId xmlns:a16="http://schemas.microsoft.com/office/drawing/2014/main" xmlns="" id="{E4E94D35-5AA6-4817-A181-695154F88C3B}"/>
              </a:ext>
            </a:extLst>
          </p:cNvPr>
          <p:cNvSpPr>
            <a:spLocks noGrp="1"/>
          </p:cNvSpPr>
          <p:nvPr>
            <p:ph type="dt" sz="half" idx="10"/>
          </p:nvPr>
        </p:nvSpPr>
        <p:spPr/>
        <p:txBody>
          <a:bodyPr/>
          <a:lstStyle/>
          <a:p>
            <a:fld id="{711115D2-4E36-49F2-906F-031187C10432}" type="datetime1">
              <a:rPr lang="en-US" smtClean="0"/>
              <a:t>5/5/2022</a:t>
            </a:fld>
            <a:endParaRPr lang="en-US"/>
          </a:p>
        </p:txBody>
      </p:sp>
      <p:sp>
        <p:nvSpPr>
          <p:cNvPr id="5" name="Slide Number Placeholder 4">
            <a:extLst>
              <a:ext uri="{FF2B5EF4-FFF2-40B4-BE49-F238E27FC236}">
                <a16:creationId xmlns:a16="http://schemas.microsoft.com/office/drawing/2014/main" xmlns="" id="{441751AE-96BB-4FCD-9ADF-9318D2A99B67}"/>
              </a:ext>
            </a:extLst>
          </p:cNvPr>
          <p:cNvSpPr>
            <a:spLocks noGrp="1"/>
          </p:cNvSpPr>
          <p:nvPr>
            <p:ph type="sldNum" sz="quarter" idx="12"/>
          </p:nvPr>
        </p:nvSpPr>
        <p:spPr/>
        <p:txBody>
          <a:bodyPr/>
          <a:lstStyle/>
          <a:p>
            <a:fld id="{B92AFB71-4BE5-44E7-9108-3062C0C91BA0}" type="slidenum">
              <a:rPr lang="en-US" smtClean="0"/>
              <a:t>76</a:t>
            </a:fld>
            <a:endParaRPr lang="en-US"/>
          </a:p>
        </p:txBody>
      </p:sp>
    </p:spTree>
    <p:extLst>
      <p:ext uri="{BB962C8B-B14F-4D97-AF65-F5344CB8AC3E}">
        <p14:creationId xmlns:p14="http://schemas.microsoft.com/office/powerpoint/2010/main" val="13332500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16FC93-E5A5-4A78-9B46-92759F50AC85}"/>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8D6BEA43-57E8-4AED-A8F0-39E0ABA6B373}"/>
              </a:ext>
            </a:extLst>
          </p:cNvPr>
          <p:cNvSpPr>
            <a:spLocks noGrp="1"/>
          </p:cNvSpPr>
          <p:nvPr>
            <p:ph idx="1"/>
          </p:nvPr>
        </p:nvSpPr>
        <p:spPr>
          <a:xfrm>
            <a:off x="838200" y="1168842"/>
            <a:ext cx="10515600" cy="5008121"/>
          </a:xfrm>
        </p:spPr>
        <p:txBody>
          <a:bodyPr>
            <a:normAutofit lnSpcReduction="10000"/>
          </a:bodyPr>
          <a:lstStyle/>
          <a:p>
            <a:pPr>
              <a:lnSpc>
                <a:spcPct val="150000"/>
              </a:lnSpc>
            </a:pPr>
            <a:r>
              <a:rPr lang="en-US" sz="3200" b="1" dirty="0"/>
              <a:t>Hearing loss </a:t>
            </a:r>
            <a:r>
              <a:rPr lang="en-US" sz="3200" dirty="0"/>
              <a:t>(presbycusis): starts at 40 and progresses with age. Older people who are hard of hearing should be assessed and mechanical aid should be provided.</a:t>
            </a:r>
          </a:p>
          <a:p>
            <a:pPr>
              <a:lnSpc>
                <a:spcPct val="150000"/>
              </a:lnSpc>
            </a:pPr>
            <a:r>
              <a:rPr lang="en-US" sz="3200" b="1" dirty="0"/>
              <a:t>Vision impairment</a:t>
            </a:r>
            <a:r>
              <a:rPr lang="en-US" sz="3200" dirty="0"/>
              <a:t>; presbyopia: impaired vision due to the aging process. Aids for visually impaired should be provided e.g. large prints in telephone numbers, magnifying glass, spectacles, more night light to help in night blindness.</a:t>
            </a:r>
          </a:p>
          <a:p>
            <a:endParaRPr lang="en-US" dirty="0"/>
          </a:p>
        </p:txBody>
      </p:sp>
      <p:sp>
        <p:nvSpPr>
          <p:cNvPr id="4" name="Date Placeholder 3">
            <a:extLst>
              <a:ext uri="{FF2B5EF4-FFF2-40B4-BE49-F238E27FC236}">
                <a16:creationId xmlns:a16="http://schemas.microsoft.com/office/drawing/2014/main" xmlns="" id="{17BDE302-85A3-42C0-92D7-3A77E9791D40}"/>
              </a:ext>
            </a:extLst>
          </p:cNvPr>
          <p:cNvSpPr>
            <a:spLocks noGrp="1"/>
          </p:cNvSpPr>
          <p:nvPr>
            <p:ph type="dt" sz="half" idx="10"/>
          </p:nvPr>
        </p:nvSpPr>
        <p:spPr/>
        <p:txBody>
          <a:bodyPr/>
          <a:lstStyle/>
          <a:p>
            <a:fld id="{0EFC012B-EA62-44AA-A519-522BA8476063}" type="datetime1">
              <a:rPr lang="en-US" smtClean="0"/>
              <a:t>5/5/2022</a:t>
            </a:fld>
            <a:endParaRPr lang="en-US"/>
          </a:p>
        </p:txBody>
      </p:sp>
      <p:sp>
        <p:nvSpPr>
          <p:cNvPr id="5" name="Slide Number Placeholder 4">
            <a:extLst>
              <a:ext uri="{FF2B5EF4-FFF2-40B4-BE49-F238E27FC236}">
                <a16:creationId xmlns:a16="http://schemas.microsoft.com/office/drawing/2014/main" xmlns="" id="{BA68BC63-D574-4C02-AF98-A1497B8B6052}"/>
              </a:ext>
            </a:extLst>
          </p:cNvPr>
          <p:cNvSpPr>
            <a:spLocks noGrp="1"/>
          </p:cNvSpPr>
          <p:nvPr>
            <p:ph type="sldNum" sz="quarter" idx="12"/>
          </p:nvPr>
        </p:nvSpPr>
        <p:spPr/>
        <p:txBody>
          <a:bodyPr/>
          <a:lstStyle/>
          <a:p>
            <a:fld id="{B92AFB71-4BE5-44E7-9108-3062C0C91BA0}" type="slidenum">
              <a:rPr lang="en-US" smtClean="0"/>
              <a:t>77</a:t>
            </a:fld>
            <a:endParaRPr lang="en-US"/>
          </a:p>
        </p:txBody>
      </p:sp>
    </p:spTree>
    <p:extLst>
      <p:ext uri="{BB962C8B-B14F-4D97-AF65-F5344CB8AC3E}">
        <p14:creationId xmlns:p14="http://schemas.microsoft.com/office/powerpoint/2010/main" val="20856586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B8C186-54CF-46B9-8360-33F566C28D87}"/>
              </a:ext>
            </a:extLst>
          </p:cNvPr>
          <p:cNvSpPr>
            <a:spLocks noGrp="1"/>
          </p:cNvSpPr>
          <p:nvPr>
            <p:ph type="title"/>
          </p:nvPr>
        </p:nvSpPr>
        <p:spPr>
          <a:xfrm>
            <a:off x="838200" y="143124"/>
            <a:ext cx="10515600" cy="19083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C37F71E4-D2EC-478E-B6D1-EA731CC67B15}"/>
              </a:ext>
            </a:extLst>
          </p:cNvPr>
          <p:cNvSpPr>
            <a:spLocks noGrp="1"/>
          </p:cNvSpPr>
          <p:nvPr>
            <p:ph idx="1"/>
          </p:nvPr>
        </p:nvSpPr>
        <p:spPr>
          <a:xfrm>
            <a:off x="838200" y="397565"/>
            <a:ext cx="10515600" cy="5779398"/>
          </a:xfrm>
        </p:spPr>
        <p:txBody>
          <a:bodyPr>
            <a:normAutofit fontScale="92500" lnSpcReduction="20000"/>
          </a:bodyPr>
          <a:lstStyle/>
          <a:p>
            <a:pPr>
              <a:lnSpc>
                <a:spcPct val="150000"/>
              </a:lnSpc>
            </a:pPr>
            <a:r>
              <a:rPr lang="en-US" sz="3200" b="1" dirty="0"/>
              <a:t>Physical activities and exercise</a:t>
            </a:r>
            <a:r>
              <a:rPr lang="en-US" sz="3200" dirty="0"/>
              <a:t>: activity and exercise are very important to the older person to maintain circulation, muscle tone, general health and to prevent deformities that may occur in disease.</a:t>
            </a:r>
          </a:p>
          <a:p>
            <a:pPr>
              <a:lnSpc>
                <a:spcPct val="150000"/>
              </a:lnSpc>
            </a:pPr>
            <a:r>
              <a:rPr lang="en-US" sz="3200" b="1" dirty="0"/>
              <a:t>Emotional support and mental stimulation</a:t>
            </a:r>
            <a:r>
              <a:rPr lang="en-US" sz="3200" dirty="0"/>
              <a:t>: the elderly person should be encouraged to remain self-sufficient and mentally active. This will prevent the person from boredom and depression. The older should be allowed to make decisions affecting  his care.</a:t>
            </a:r>
          </a:p>
          <a:p>
            <a:endParaRPr lang="en-US" dirty="0"/>
          </a:p>
        </p:txBody>
      </p:sp>
      <p:sp>
        <p:nvSpPr>
          <p:cNvPr id="4" name="Date Placeholder 3">
            <a:extLst>
              <a:ext uri="{FF2B5EF4-FFF2-40B4-BE49-F238E27FC236}">
                <a16:creationId xmlns:a16="http://schemas.microsoft.com/office/drawing/2014/main" xmlns="" id="{3FF37800-F232-44DB-8D30-F61A7ECB9E9D}"/>
              </a:ext>
            </a:extLst>
          </p:cNvPr>
          <p:cNvSpPr>
            <a:spLocks noGrp="1"/>
          </p:cNvSpPr>
          <p:nvPr>
            <p:ph type="dt" sz="half" idx="10"/>
          </p:nvPr>
        </p:nvSpPr>
        <p:spPr/>
        <p:txBody>
          <a:bodyPr/>
          <a:lstStyle/>
          <a:p>
            <a:fld id="{C72AE512-A33A-4D01-9F65-870EC2E52A36}" type="datetime1">
              <a:rPr lang="en-US" smtClean="0"/>
              <a:t>5/5/2022</a:t>
            </a:fld>
            <a:endParaRPr lang="en-US"/>
          </a:p>
        </p:txBody>
      </p:sp>
      <p:sp>
        <p:nvSpPr>
          <p:cNvPr id="5" name="Slide Number Placeholder 4">
            <a:extLst>
              <a:ext uri="{FF2B5EF4-FFF2-40B4-BE49-F238E27FC236}">
                <a16:creationId xmlns:a16="http://schemas.microsoft.com/office/drawing/2014/main" xmlns="" id="{4A591682-882E-43D2-AD78-D2F3B789DC06}"/>
              </a:ext>
            </a:extLst>
          </p:cNvPr>
          <p:cNvSpPr>
            <a:spLocks noGrp="1"/>
          </p:cNvSpPr>
          <p:nvPr>
            <p:ph type="sldNum" sz="quarter" idx="12"/>
          </p:nvPr>
        </p:nvSpPr>
        <p:spPr/>
        <p:txBody>
          <a:bodyPr/>
          <a:lstStyle/>
          <a:p>
            <a:fld id="{B92AFB71-4BE5-44E7-9108-3062C0C91BA0}" type="slidenum">
              <a:rPr lang="en-US" smtClean="0"/>
              <a:t>78</a:t>
            </a:fld>
            <a:endParaRPr lang="en-US"/>
          </a:p>
        </p:txBody>
      </p:sp>
    </p:spTree>
    <p:extLst>
      <p:ext uri="{BB962C8B-B14F-4D97-AF65-F5344CB8AC3E}">
        <p14:creationId xmlns:p14="http://schemas.microsoft.com/office/powerpoint/2010/main" val="18532387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1EC314-23F7-4422-B51D-AEE4E421818E}"/>
              </a:ext>
            </a:extLst>
          </p:cNvPr>
          <p:cNvSpPr>
            <a:spLocks noGrp="1"/>
          </p:cNvSpPr>
          <p:nvPr>
            <p:ph type="title"/>
          </p:nvPr>
        </p:nvSpPr>
        <p:spPr>
          <a:xfrm>
            <a:off x="838200" y="246490"/>
            <a:ext cx="10515600" cy="691764"/>
          </a:xfrm>
        </p:spPr>
        <p:txBody>
          <a:bodyPr>
            <a:normAutofit fontScale="90000"/>
          </a:bodyPr>
          <a:lstStyle/>
          <a:p>
            <a:r>
              <a:rPr lang="en-US" sz="3600" b="1" dirty="0"/>
              <a:t/>
            </a:r>
            <a:br>
              <a:rPr lang="en-US" sz="3600" b="1" dirty="0"/>
            </a:br>
            <a:r>
              <a:rPr lang="en-US" sz="3600" b="1" dirty="0"/>
              <a:t>The nursing process and geriatric assessment</a:t>
            </a:r>
            <a:r>
              <a:rPr lang="en-US" dirty="0"/>
              <a:t/>
            </a:r>
            <a:br>
              <a:rPr lang="en-US" dirty="0"/>
            </a:br>
            <a:endParaRPr lang="en-US" dirty="0"/>
          </a:p>
        </p:txBody>
      </p:sp>
      <p:sp>
        <p:nvSpPr>
          <p:cNvPr id="3" name="Content Placeholder 2">
            <a:extLst>
              <a:ext uri="{FF2B5EF4-FFF2-40B4-BE49-F238E27FC236}">
                <a16:creationId xmlns:a16="http://schemas.microsoft.com/office/drawing/2014/main" xmlns="" id="{22B52777-9207-4B98-9F51-A086E6EECFE9}"/>
              </a:ext>
            </a:extLst>
          </p:cNvPr>
          <p:cNvSpPr>
            <a:spLocks noGrp="1"/>
          </p:cNvSpPr>
          <p:nvPr>
            <p:ph idx="1"/>
          </p:nvPr>
        </p:nvSpPr>
        <p:spPr>
          <a:xfrm>
            <a:off x="838200" y="795130"/>
            <a:ext cx="10515600" cy="5381833"/>
          </a:xfrm>
        </p:spPr>
        <p:txBody>
          <a:bodyPr>
            <a:normAutofit fontScale="92500" lnSpcReduction="10000"/>
          </a:bodyPr>
          <a:lstStyle/>
          <a:p>
            <a:pPr marL="0" indent="0" algn="ctr">
              <a:buNone/>
            </a:pPr>
            <a:r>
              <a:rPr lang="en-US" b="1" dirty="0"/>
              <a:t>Assessment</a:t>
            </a:r>
            <a:endParaRPr lang="en-US" dirty="0"/>
          </a:p>
          <a:p>
            <a:pPr lvl="0">
              <a:lnSpc>
                <a:spcPct val="150000"/>
              </a:lnSpc>
            </a:pPr>
            <a:r>
              <a:rPr lang="en-US" sz="3200" dirty="0"/>
              <a:t>Obtain data about the patient/client, family  or the situation</a:t>
            </a:r>
          </a:p>
          <a:p>
            <a:pPr lvl="0">
              <a:lnSpc>
                <a:spcPct val="150000"/>
              </a:lnSpc>
            </a:pPr>
            <a:r>
              <a:rPr lang="en-US" sz="3200" dirty="0"/>
              <a:t>First level assessment on initial contact to determine the perceived health threat, ability to adapt to the threat and immediate actions</a:t>
            </a:r>
          </a:p>
          <a:p>
            <a:pPr lvl="0">
              <a:lnSpc>
                <a:spcPct val="150000"/>
              </a:lnSpc>
            </a:pPr>
            <a:r>
              <a:rPr lang="en-US" sz="3200" dirty="0"/>
              <a:t>Second level assessment continued  throughout time of contact to add depth in understanding the physical, emotional, mental, spiritual, family, and sociocultural characteristics and needs</a:t>
            </a:r>
          </a:p>
          <a:p>
            <a:endParaRPr lang="en-US" dirty="0"/>
          </a:p>
        </p:txBody>
      </p:sp>
      <p:sp>
        <p:nvSpPr>
          <p:cNvPr id="4" name="Date Placeholder 3">
            <a:extLst>
              <a:ext uri="{FF2B5EF4-FFF2-40B4-BE49-F238E27FC236}">
                <a16:creationId xmlns:a16="http://schemas.microsoft.com/office/drawing/2014/main" xmlns="" id="{2EC58298-ADFB-4A02-B173-C347EA72FF5D}"/>
              </a:ext>
            </a:extLst>
          </p:cNvPr>
          <p:cNvSpPr>
            <a:spLocks noGrp="1"/>
          </p:cNvSpPr>
          <p:nvPr>
            <p:ph type="dt" sz="half" idx="10"/>
          </p:nvPr>
        </p:nvSpPr>
        <p:spPr/>
        <p:txBody>
          <a:bodyPr/>
          <a:lstStyle/>
          <a:p>
            <a:fld id="{C63CE4F4-5475-41D7-8058-3F3903D2186D}" type="datetime1">
              <a:rPr lang="en-US" smtClean="0"/>
              <a:t>5/5/2022</a:t>
            </a:fld>
            <a:endParaRPr lang="en-US"/>
          </a:p>
        </p:txBody>
      </p:sp>
      <p:sp>
        <p:nvSpPr>
          <p:cNvPr id="5" name="Slide Number Placeholder 4">
            <a:extLst>
              <a:ext uri="{FF2B5EF4-FFF2-40B4-BE49-F238E27FC236}">
                <a16:creationId xmlns:a16="http://schemas.microsoft.com/office/drawing/2014/main" xmlns="" id="{0D7B8663-EE48-4C44-A1B0-857B081F3B24}"/>
              </a:ext>
            </a:extLst>
          </p:cNvPr>
          <p:cNvSpPr>
            <a:spLocks noGrp="1"/>
          </p:cNvSpPr>
          <p:nvPr>
            <p:ph type="sldNum" sz="quarter" idx="12"/>
          </p:nvPr>
        </p:nvSpPr>
        <p:spPr/>
        <p:txBody>
          <a:bodyPr/>
          <a:lstStyle/>
          <a:p>
            <a:fld id="{B92AFB71-4BE5-44E7-9108-3062C0C91BA0}" type="slidenum">
              <a:rPr lang="en-US" smtClean="0"/>
              <a:t>79</a:t>
            </a:fld>
            <a:endParaRPr lang="en-US"/>
          </a:p>
        </p:txBody>
      </p:sp>
    </p:spTree>
    <p:extLst>
      <p:ext uri="{BB962C8B-B14F-4D97-AF65-F5344CB8AC3E}">
        <p14:creationId xmlns:p14="http://schemas.microsoft.com/office/powerpoint/2010/main" val="34997922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A2F9EB-8503-48F0-8A42-F8D4D3CC6150}"/>
              </a:ext>
            </a:extLst>
          </p:cNvPr>
          <p:cNvSpPr>
            <a:spLocks noGrp="1"/>
          </p:cNvSpPr>
          <p:nvPr>
            <p:ph type="title"/>
          </p:nvPr>
        </p:nvSpPr>
        <p:spPr>
          <a:xfrm>
            <a:off x="838200" y="159026"/>
            <a:ext cx="10515600" cy="14312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051911E4-29A7-470A-898D-DFE9377C9692}"/>
              </a:ext>
            </a:extLst>
          </p:cNvPr>
          <p:cNvSpPr>
            <a:spLocks noGrp="1"/>
          </p:cNvSpPr>
          <p:nvPr>
            <p:ph idx="1"/>
          </p:nvPr>
        </p:nvSpPr>
        <p:spPr>
          <a:xfrm>
            <a:off x="838200" y="500932"/>
            <a:ext cx="10515600" cy="5676031"/>
          </a:xfrm>
        </p:spPr>
        <p:txBody>
          <a:bodyPr>
            <a:normAutofit fontScale="92500" lnSpcReduction="20000"/>
          </a:bodyPr>
          <a:lstStyle/>
          <a:p>
            <a:pPr marL="0" lvl="0" indent="0">
              <a:lnSpc>
                <a:spcPct val="150000"/>
              </a:lnSpc>
              <a:buNone/>
            </a:pPr>
            <a:r>
              <a:rPr lang="en-US" dirty="0"/>
              <a:t>The nursing history should include:</a:t>
            </a:r>
          </a:p>
          <a:p>
            <a:pPr lvl="0">
              <a:lnSpc>
                <a:spcPct val="150000"/>
              </a:lnSpc>
            </a:pPr>
            <a:r>
              <a:rPr lang="en-US" dirty="0"/>
              <a:t>Previous experience- with illness, hospitalization, </a:t>
            </a:r>
          </a:p>
          <a:p>
            <a:pPr lvl="0">
              <a:lnSpc>
                <a:spcPct val="150000"/>
              </a:lnSpc>
            </a:pPr>
            <a:r>
              <a:rPr lang="en-US" dirty="0"/>
              <a:t>Intellectual understanding- interpretation of health problems, treatment regimen, concerns</a:t>
            </a:r>
          </a:p>
          <a:p>
            <a:pPr lvl="0">
              <a:lnSpc>
                <a:spcPct val="150000"/>
              </a:lnSpc>
            </a:pPr>
            <a:r>
              <a:rPr lang="en-US" dirty="0"/>
              <a:t>Education level and communication pattern- language</a:t>
            </a:r>
          </a:p>
          <a:p>
            <a:pPr lvl="0">
              <a:lnSpc>
                <a:spcPct val="150000"/>
              </a:lnSpc>
            </a:pPr>
            <a:r>
              <a:rPr lang="en-US" dirty="0"/>
              <a:t>Occupation and social roles- responsibility, role in society/family</a:t>
            </a:r>
          </a:p>
          <a:p>
            <a:pPr lvl="0">
              <a:lnSpc>
                <a:spcPct val="150000"/>
              </a:lnSpc>
            </a:pPr>
            <a:r>
              <a:rPr lang="en-US" dirty="0"/>
              <a:t>Relationship with others</a:t>
            </a:r>
          </a:p>
          <a:p>
            <a:pPr lvl="0">
              <a:lnSpc>
                <a:spcPct val="150000"/>
              </a:lnSpc>
            </a:pPr>
            <a:r>
              <a:rPr lang="en-US" dirty="0"/>
              <a:t>Expectations- goals and needs related to care</a:t>
            </a:r>
          </a:p>
          <a:p>
            <a:pPr lvl="0">
              <a:lnSpc>
                <a:spcPct val="150000"/>
              </a:lnSpc>
            </a:pPr>
            <a:r>
              <a:rPr lang="en-US" dirty="0"/>
              <a:t>Daily preferences and patterns of living</a:t>
            </a:r>
          </a:p>
          <a:p>
            <a:endParaRPr lang="en-US" dirty="0"/>
          </a:p>
        </p:txBody>
      </p:sp>
      <p:sp>
        <p:nvSpPr>
          <p:cNvPr id="4" name="Date Placeholder 3">
            <a:extLst>
              <a:ext uri="{FF2B5EF4-FFF2-40B4-BE49-F238E27FC236}">
                <a16:creationId xmlns:a16="http://schemas.microsoft.com/office/drawing/2014/main" xmlns="" id="{12D5C662-E478-4600-AAEB-366777EAECD4}"/>
              </a:ext>
            </a:extLst>
          </p:cNvPr>
          <p:cNvSpPr>
            <a:spLocks noGrp="1"/>
          </p:cNvSpPr>
          <p:nvPr>
            <p:ph type="dt" sz="half" idx="10"/>
          </p:nvPr>
        </p:nvSpPr>
        <p:spPr/>
        <p:txBody>
          <a:bodyPr/>
          <a:lstStyle/>
          <a:p>
            <a:fld id="{4DD8C516-9702-4CBF-AB84-45569AE4BE5A}" type="datetime1">
              <a:rPr lang="en-US" smtClean="0"/>
              <a:t>5/5/2022</a:t>
            </a:fld>
            <a:endParaRPr lang="en-US"/>
          </a:p>
        </p:txBody>
      </p:sp>
      <p:sp>
        <p:nvSpPr>
          <p:cNvPr id="5" name="Slide Number Placeholder 4">
            <a:extLst>
              <a:ext uri="{FF2B5EF4-FFF2-40B4-BE49-F238E27FC236}">
                <a16:creationId xmlns:a16="http://schemas.microsoft.com/office/drawing/2014/main" xmlns="" id="{91B9254B-9950-46C9-B100-C342B14FA574}"/>
              </a:ext>
            </a:extLst>
          </p:cNvPr>
          <p:cNvSpPr>
            <a:spLocks noGrp="1"/>
          </p:cNvSpPr>
          <p:nvPr>
            <p:ph type="sldNum" sz="quarter" idx="12"/>
          </p:nvPr>
        </p:nvSpPr>
        <p:spPr/>
        <p:txBody>
          <a:bodyPr/>
          <a:lstStyle/>
          <a:p>
            <a:fld id="{B92AFB71-4BE5-44E7-9108-3062C0C91BA0}" type="slidenum">
              <a:rPr lang="en-US" smtClean="0"/>
              <a:t>80</a:t>
            </a:fld>
            <a:endParaRPr lang="en-US"/>
          </a:p>
        </p:txBody>
      </p:sp>
    </p:spTree>
    <p:extLst>
      <p:ext uri="{BB962C8B-B14F-4D97-AF65-F5344CB8AC3E}">
        <p14:creationId xmlns:p14="http://schemas.microsoft.com/office/powerpoint/2010/main" val="15402613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8E990C-9A51-4858-8366-28648CC4DA67}"/>
              </a:ext>
            </a:extLst>
          </p:cNvPr>
          <p:cNvSpPr>
            <a:spLocks noGrp="1"/>
          </p:cNvSpPr>
          <p:nvPr>
            <p:ph type="title"/>
          </p:nvPr>
        </p:nvSpPr>
        <p:spPr>
          <a:xfrm>
            <a:off x="838200" y="-63610"/>
            <a:ext cx="10515600" cy="27829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7EE225D5-2298-4ACF-A85D-CA5282B3290C}"/>
              </a:ext>
            </a:extLst>
          </p:cNvPr>
          <p:cNvSpPr>
            <a:spLocks noGrp="1"/>
          </p:cNvSpPr>
          <p:nvPr>
            <p:ph idx="1"/>
          </p:nvPr>
        </p:nvSpPr>
        <p:spPr>
          <a:xfrm>
            <a:off x="838200" y="485030"/>
            <a:ext cx="10515600" cy="5691933"/>
          </a:xfrm>
        </p:spPr>
        <p:txBody>
          <a:bodyPr>
            <a:normAutofit fontScale="92500" lnSpcReduction="20000"/>
          </a:bodyPr>
          <a:lstStyle/>
          <a:p>
            <a:pPr marL="0" indent="0" algn="ctr">
              <a:lnSpc>
                <a:spcPct val="150000"/>
              </a:lnSpc>
              <a:buNone/>
            </a:pPr>
            <a:r>
              <a:rPr lang="en-US" b="1" dirty="0"/>
              <a:t>Nursing diagnoses</a:t>
            </a:r>
            <a:endParaRPr lang="en-US" dirty="0"/>
          </a:p>
          <a:p>
            <a:pPr>
              <a:lnSpc>
                <a:spcPct val="150000"/>
              </a:lnSpc>
            </a:pPr>
            <a:r>
              <a:rPr lang="en-US" dirty="0"/>
              <a:t>The following nursing concerns maybe elicited from the nursing health history and physical examination:</a:t>
            </a:r>
          </a:p>
          <a:p>
            <a:pPr lvl="0">
              <a:lnSpc>
                <a:spcPct val="150000"/>
              </a:lnSpc>
            </a:pPr>
            <a:r>
              <a:rPr lang="en-US" dirty="0"/>
              <a:t>Anxiety</a:t>
            </a:r>
          </a:p>
          <a:p>
            <a:pPr lvl="0">
              <a:lnSpc>
                <a:spcPct val="150000"/>
              </a:lnSpc>
            </a:pPr>
            <a:r>
              <a:rPr lang="en-US" dirty="0"/>
              <a:t>Confusion</a:t>
            </a:r>
          </a:p>
          <a:p>
            <a:pPr lvl="0">
              <a:lnSpc>
                <a:spcPct val="150000"/>
              </a:lnSpc>
            </a:pPr>
            <a:r>
              <a:rPr lang="en-US" dirty="0"/>
              <a:t>Impaired coping mechanisms in time of crisis</a:t>
            </a:r>
          </a:p>
          <a:p>
            <a:pPr lvl="0">
              <a:lnSpc>
                <a:spcPct val="150000"/>
              </a:lnSpc>
            </a:pPr>
            <a:r>
              <a:rPr lang="en-US" dirty="0"/>
              <a:t>Maladaptive family processes</a:t>
            </a:r>
          </a:p>
          <a:p>
            <a:pPr lvl="0">
              <a:lnSpc>
                <a:spcPct val="150000"/>
              </a:lnSpc>
            </a:pPr>
            <a:r>
              <a:rPr lang="en-US" dirty="0"/>
              <a:t>Altered level of consciousness</a:t>
            </a:r>
          </a:p>
          <a:p>
            <a:pPr lvl="0">
              <a:lnSpc>
                <a:spcPct val="150000"/>
              </a:lnSpc>
            </a:pPr>
            <a:r>
              <a:rPr lang="en-US" dirty="0"/>
              <a:t>Non-compliance with treatment regimen</a:t>
            </a:r>
          </a:p>
          <a:p>
            <a:endParaRPr lang="en-US" dirty="0"/>
          </a:p>
        </p:txBody>
      </p:sp>
      <p:sp>
        <p:nvSpPr>
          <p:cNvPr id="4" name="Date Placeholder 3">
            <a:extLst>
              <a:ext uri="{FF2B5EF4-FFF2-40B4-BE49-F238E27FC236}">
                <a16:creationId xmlns:a16="http://schemas.microsoft.com/office/drawing/2014/main" xmlns="" id="{E061042F-D1E3-429C-AA05-4D07C49AB45D}"/>
              </a:ext>
            </a:extLst>
          </p:cNvPr>
          <p:cNvSpPr>
            <a:spLocks noGrp="1"/>
          </p:cNvSpPr>
          <p:nvPr>
            <p:ph type="dt" sz="half" idx="10"/>
          </p:nvPr>
        </p:nvSpPr>
        <p:spPr/>
        <p:txBody>
          <a:bodyPr/>
          <a:lstStyle/>
          <a:p>
            <a:fld id="{49F5E25B-ADC3-40CA-9864-BE8EEB36983C}" type="datetime1">
              <a:rPr lang="en-US" smtClean="0"/>
              <a:t>5/5/2022</a:t>
            </a:fld>
            <a:endParaRPr lang="en-US"/>
          </a:p>
        </p:txBody>
      </p:sp>
      <p:sp>
        <p:nvSpPr>
          <p:cNvPr id="5" name="Slide Number Placeholder 4">
            <a:extLst>
              <a:ext uri="{FF2B5EF4-FFF2-40B4-BE49-F238E27FC236}">
                <a16:creationId xmlns:a16="http://schemas.microsoft.com/office/drawing/2014/main" xmlns="" id="{788DCA5F-FDC0-4692-93B9-231E866603E2}"/>
              </a:ext>
            </a:extLst>
          </p:cNvPr>
          <p:cNvSpPr>
            <a:spLocks noGrp="1"/>
          </p:cNvSpPr>
          <p:nvPr>
            <p:ph type="sldNum" sz="quarter" idx="12"/>
          </p:nvPr>
        </p:nvSpPr>
        <p:spPr/>
        <p:txBody>
          <a:bodyPr/>
          <a:lstStyle/>
          <a:p>
            <a:fld id="{B92AFB71-4BE5-44E7-9108-3062C0C91BA0}" type="slidenum">
              <a:rPr lang="en-US" smtClean="0"/>
              <a:t>81</a:t>
            </a:fld>
            <a:endParaRPr lang="en-US"/>
          </a:p>
        </p:txBody>
      </p:sp>
    </p:spTree>
    <p:extLst>
      <p:ext uri="{BB962C8B-B14F-4D97-AF65-F5344CB8AC3E}">
        <p14:creationId xmlns:p14="http://schemas.microsoft.com/office/powerpoint/2010/main" val="22005219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066701-83F0-4647-9470-5B81815626F0}"/>
              </a:ext>
            </a:extLst>
          </p:cNvPr>
          <p:cNvSpPr>
            <a:spLocks noGrp="1"/>
          </p:cNvSpPr>
          <p:nvPr>
            <p:ph type="title"/>
          </p:nvPr>
        </p:nvSpPr>
        <p:spPr>
          <a:xfrm>
            <a:off x="838200" y="87464"/>
            <a:ext cx="10515600" cy="14312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2105C907-881A-4714-A619-95CBE66BC390}"/>
              </a:ext>
            </a:extLst>
          </p:cNvPr>
          <p:cNvSpPr>
            <a:spLocks noGrp="1"/>
          </p:cNvSpPr>
          <p:nvPr>
            <p:ph idx="1"/>
          </p:nvPr>
        </p:nvSpPr>
        <p:spPr>
          <a:xfrm>
            <a:off x="838200" y="437323"/>
            <a:ext cx="10515600" cy="5438692"/>
          </a:xfrm>
        </p:spPr>
        <p:txBody>
          <a:bodyPr>
            <a:normAutofit fontScale="85000" lnSpcReduction="20000"/>
          </a:bodyPr>
          <a:lstStyle/>
          <a:p>
            <a:pPr lvl="0">
              <a:lnSpc>
                <a:spcPct val="150000"/>
              </a:lnSpc>
            </a:pPr>
            <a:r>
              <a:rPr lang="en-US" sz="3200" dirty="0"/>
              <a:t>Pain and impaired comfort</a:t>
            </a:r>
          </a:p>
          <a:p>
            <a:pPr lvl="0">
              <a:lnSpc>
                <a:spcPct val="150000"/>
              </a:lnSpc>
            </a:pPr>
            <a:r>
              <a:rPr lang="en-US" sz="3200" dirty="0"/>
              <a:t>Self-care deficit</a:t>
            </a:r>
          </a:p>
          <a:p>
            <a:pPr lvl="0">
              <a:lnSpc>
                <a:spcPct val="150000"/>
              </a:lnSpc>
            </a:pPr>
            <a:r>
              <a:rPr lang="en-US" sz="3200" dirty="0"/>
              <a:t>Activity intolerance</a:t>
            </a:r>
          </a:p>
          <a:p>
            <a:pPr lvl="0">
              <a:lnSpc>
                <a:spcPct val="150000"/>
              </a:lnSpc>
            </a:pPr>
            <a:r>
              <a:rPr lang="en-US" sz="3200" dirty="0"/>
              <a:t>Impaired mobility</a:t>
            </a:r>
          </a:p>
          <a:p>
            <a:pPr lvl="0">
              <a:lnSpc>
                <a:spcPct val="150000"/>
              </a:lnSpc>
            </a:pPr>
            <a:r>
              <a:rPr lang="en-US" sz="3200" dirty="0"/>
              <a:t>Impaired skin integrity</a:t>
            </a:r>
          </a:p>
          <a:p>
            <a:pPr lvl="0">
              <a:lnSpc>
                <a:spcPct val="150000"/>
              </a:lnSpc>
            </a:pPr>
            <a:r>
              <a:rPr lang="en-US" sz="3200" dirty="0"/>
              <a:t>Impaired sensory perception (blindness, hearing, taste)</a:t>
            </a:r>
          </a:p>
          <a:p>
            <a:pPr lvl="0">
              <a:lnSpc>
                <a:spcPct val="150000"/>
              </a:lnSpc>
            </a:pPr>
            <a:r>
              <a:rPr lang="en-US" sz="3200" dirty="0"/>
              <a:t>Social isolation</a:t>
            </a:r>
          </a:p>
          <a:p>
            <a:pPr lvl="0">
              <a:lnSpc>
                <a:spcPct val="150000"/>
              </a:lnSpc>
            </a:pPr>
            <a:r>
              <a:rPr lang="en-US" sz="3200" dirty="0"/>
              <a:t>Impaired sleep pattern</a:t>
            </a:r>
          </a:p>
          <a:p>
            <a:endParaRPr lang="en-US" dirty="0"/>
          </a:p>
        </p:txBody>
      </p:sp>
      <p:sp>
        <p:nvSpPr>
          <p:cNvPr id="4" name="Date Placeholder 3">
            <a:extLst>
              <a:ext uri="{FF2B5EF4-FFF2-40B4-BE49-F238E27FC236}">
                <a16:creationId xmlns:a16="http://schemas.microsoft.com/office/drawing/2014/main" xmlns="" id="{A939F431-2BE1-4AFF-8FA5-C96461EAD2B8}"/>
              </a:ext>
            </a:extLst>
          </p:cNvPr>
          <p:cNvSpPr>
            <a:spLocks noGrp="1"/>
          </p:cNvSpPr>
          <p:nvPr>
            <p:ph type="dt" sz="half" idx="10"/>
          </p:nvPr>
        </p:nvSpPr>
        <p:spPr/>
        <p:txBody>
          <a:bodyPr/>
          <a:lstStyle/>
          <a:p>
            <a:fld id="{5AE55109-4F24-4E27-8EF6-B947AD5DB5A8}" type="datetime1">
              <a:rPr lang="en-US" smtClean="0"/>
              <a:t>5/5/2022</a:t>
            </a:fld>
            <a:endParaRPr lang="en-US"/>
          </a:p>
        </p:txBody>
      </p:sp>
      <p:sp>
        <p:nvSpPr>
          <p:cNvPr id="5" name="Slide Number Placeholder 4">
            <a:extLst>
              <a:ext uri="{FF2B5EF4-FFF2-40B4-BE49-F238E27FC236}">
                <a16:creationId xmlns:a16="http://schemas.microsoft.com/office/drawing/2014/main" xmlns="" id="{A06C8524-EB5D-4976-B745-E2171CF50024}"/>
              </a:ext>
            </a:extLst>
          </p:cNvPr>
          <p:cNvSpPr>
            <a:spLocks noGrp="1"/>
          </p:cNvSpPr>
          <p:nvPr>
            <p:ph type="sldNum" sz="quarter" idx="12"/>
          </p:nvPr>
        </p:nvSpPr>
        <p:spPr/>
        <p:txBody>
          <a:bodyPr/>
          <a:lstStyle/>
          <a:p>
            <a:fld id="{B92AFB71-4BE5-44E7-9108-3062C0C91BA0}" type="slidenum">
              <a:rPr lang="en-US" smtClean="0"/>
              <a:t>82</a:t>
            </a:fld>
            <a:endParaRPr lang="en-US"/>
          </a:p>
        </p:txBody>
      </p:sp>
    </p:spTree>
    <p:extLst>
      <p:ext uri="{BB962C8B-B14F-4D97-AF65-F5344CB8AC3E}">
        <p14:creationId xmlns:p14="http://schemas.microsoft.com/office/powerpoint/2010/main" val="9764346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B507BD-C28E-41E8-B4C9-35836DCFA09A}"/>
              </a:ext>
            </a:extLst>
          </p:cNvPr>
          <p:cNvSpPr>
            <a:spLocks noGrp="1"/>
          </p:cNvSpPr>
          <p:nvPr>
            <p:ph type="title"/>
          </p:nvPr>
        </p:nvSpPr>
        <p:spPr>
          <a:xfrm>
            <a:off x="838200" y="87464"/>
            <a:ext cx="10515600" cy="22263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4AD4FAEF-BBBA-4B6E-8291-5C5D1DB8AF37}"/>
              </a:ext>
            </a:extLst>
          </p:cNvPr>
          <p:cNvSpPr>
            <a:spLocks noGrp="1"/>
          </p:cNvSpPr>
          <p:nvPr>
            <p:ph idx="1"/>
          </p:nvPr>
        </p:nvSpPr>
        <p:spPr>
          <a:xfrm>
            <a:off x="838200" y="636105"/>
            <a:ext cx="10515600" cy="5239910"/>
          </a:xfrm>
        </p:spPr>
        <p:txBody>
          <a:bodyPr>
            <a:normAutofit fontScale="85000" lnSpcReduction="20000"/>
          </a:bodyPr>
          <a:lstStyle/>
          <a:p>
            <a:pPr marL="0" indent="0" algn="ctr">
              <a:buNone/>
            </a:pPr>
            <a:r>
              <a:rPr lang="en-US" b="1" dirty="0"/>
              <a:t>Nursing interventions</a:t>
            </a:r>
            <a:endParaRPr lang="en-US" dirty="0"/>
          </a:p>
          <a:p>
            <a:pPr marL="0" indent="0">
              <a:lnSpc>
                <a:spcPct val="150000"/>
              </a:lnSpc>
              <a:buNone/>
            </a:pPr>
            <a:r>
              <a:rPr lang="en-US" sz="3200" dirty="0"/>
              <a:t>Interventions are aimed at preventing harm or further dysfunction, or assisting the patient/client to function as effectively as possible within limits imposed by the condition</a:t>
            </a:r>
          </a:p>
          <a:p>
            <a:pPr marL="0" indent="0">
              <a:lnSpc>
                <a:spcPct val="150000"/>
              </a:lnSpc>
              <a:buNone/>
            </a:pPr>
            <a:r>
              <a:rPr lang="en-US" sz="3200" dirty="0"/>
              <a:t>The following actions should be carried out to the patient/family; giving rationale for each action:</a:t>
            </a:r>
          </a:p>
          <a:p>
            <a:pPr lvl="0">
              <a:lnSpc>
                <a:spcPct val="150000"/>
              </a:lnSpc>
            </a:pPr>
            <a:r>
              <a:rPr lang="en-US" sz="3200" dirty="0"/>
              <a:t>Promote self-care by assisting in activities of daily living (feeding, bathing, turning), provision of assistive devices (over-bed table), and availing items for use at patient’s reach</a:t>
            </a:r>
          </a:p>
          <a:p>
            <a:endParaRPr lang="en-US" dirty="0"/>
          </a:p>
        </p:txBody>
      </p:sp>
      <p:sp>
        <p:nvSpPr>
          <p:cNvPr id="4" name="Date Placeholder 3">
            <a:extLst>
              <a:ext uri="{FF2B5EF4-FFF2-40B4-BE49-F238E27FC236}">
                <a16:creationId xmlns:a16="http://schemas.microsoft.com/office/drawing/2014/main" xmlns="" id="{D053F121-0FFE-4696-8392-0F5024C6B05C}"/>
              </a:ext>
            </a:extLst>
          </p:cNvPr>
          <p:cNvSpPr>
            <a:spLocks noGrp="1"/>
          </p:cNvSpPr>
          <p:nvPr>
            <p:ph type="dt" sz="half" idx="10"/>
          </p:nvPr>
        </p:nvSpPr>
        <p:spPr/>
        <p:txBody>
          <a:bodyPr/>
          <a:lstStyle/>
          <a:p>
            <a:fld id="{D90C69A7-EC0B-43EB-A627-7178D78AF175}" type="datetime1">
              <a:rPr lang="en-US" smtClean="0"/>
              <a:t>5/5/2022</a:t>
            </a:fld>
            <a:endParaRPr lang="en-US"/>
          </a:p>
        </p:txBody>
      </p:sp>
      <p:sp>
        <p:nvSpPr>
          <p:cNvPr id="5" name="Slide Number Placeholder 4">
            <a:extLst>
              <a:ext uri="{FF2B5EF4-FFF2-40B4-BE49-F238E27FC236}">
                <a16:creationId xmlns:a16="http://schemas.microsoft.com/office/drawing/2014/main" xmlns="" id="{96930AAA-9E00-4166-AD96-84D568F7A780}"/>
              </a:ext>
            </a:extLst>
          </p:cNvPr>
          <p:cNvSpPr>
            <a:spLocks noGrp="1"/>
          </p:cNvSpPr>
          <p:nvPr>
            <p:ph type="sldNum" sz="quarter" idx="12"/>
          </p:nvPr>
        </p:nvSpPr>
        <p:spPr/>
        <p:txBody>
          <a:bodyPr/>
          <a:lstStyle/>
          <a:p>
            <a:fld id="{B92AFB71-4BE5-44E7-9108-3062C0C91BA0}" type="slidenum">
              <a:rPr lang="en-US" smtClean="0"/>
              <a:t>83</a:t>
            </a:fld>
            <a:endParaRPr lang="en-US"/>
          </a:p>
        </p:txBody>
      </p:sp>
    </p:spTree>
    <p:extLst>
      <p:ext uri="{BB962C8B-B14F-4D97-AF65-F5344CB8AC3E}">
        <p14:creationId xmlns:p14="http://schemas.microsoft.com/office/powerpoint/2010/main" val="12900709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BB4914-1CB8-4C9B-8FBC-B7914CD111E9}"/>
              </a:ext>
            </a:extLst>
          </p:cNvPr>
          <p:cNvSpPr>
            <a:spLocks noGrp="1"/>
          </p:cNvSpPr>
          <p:nvPr>
            <p:ph type="title"/>
          </p:nvPr>
        </p:nvSpPr>
        <p:spPr>
          <a:xfrm>
            <a:off x="838200" y="159026"/>
            <a:ext cx="10515600" cy="13517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4F711F25-6B21-49C4-8755-45B89CA2C4FC}"/>
              </a:ext>
            </a:extLst>
          </p:cNvPr>
          <p:cNvSpPr>
            <a:spLocks noGrp="1"/>
          </p:cNvSpPr>
          <p:nvPr>
            <p:ph idx="1"/>
          </p:nvPr>
        </p:nvSpPr>
        <p:spPr>
          <a:xfrm>
            <a:off x="838200" y="516835"/>
            <a:ext cx="10515600" cy="5660128"/>
          </a:xfrm>
        </p:spPr>
        <p:txBody>
          <a:bodyPr>
            <a:normAutofit fontScale="92500" lnSpcReduction="10000"/>
          </a:bodyPr>
          <a:lstStyle/>
          <a:p>
            <a:pPr lvl="0">
              <a:lnSpc>
                <a:spcPct val="170000"/>
              </a:lnSpc>
            </a:pPr>
            <a:r>
              <a:rPr lang="en-US" sz="3200" dirty="0"/>
              <a:t>Encourage the use of energy saving devices to conserve energy, and increase activity tolerance</a:t>
            </a:r>
          </a:p>
          <a:p>
            <a:pPr lvl="0">
              <a:lnSpc>
                <a:spcPct val="170000"/>
              </a:lnSpc>
            </a:pPr>
            <a:r>
              <a:rPr lang="en-US" sz="3200" dirty="0"/>
              <a:t>Maintain communication with the patient, encourage verbalization of concerns, allow grieving, to prevent isolation and reduce anxiety</a:t>
            </a:r>
          </a:p>
          <a:p>
            <a:pPr lvl="0">
              <a:lnSpc>
                <a:spcPct val="170000"/>
              </a:lnSpc>
            </a:pPr>
            <a:r>
              <a:rPr lang="en-US" sz="3200" dirty="0"/>
              <a:t>Maintain communication with family and significant others, to maintain family processes</a:t>
            </a:r>
          </a:p>
          <a:p>
            <a:endParaRPr lang="en-US" dirty="0"/>
          </a:p>
        </p:txBody>
      </p:sp>
      <p:sp>
        <p:nvSpPr>
          <p:cNvPr id="4" name="Date Placeholder 3">
            <a:extLst>
              <a:ext uri="{FF2B5EF4-FFF2-40B4-BE49-F238E27FC236}">
                <a16:creationId xmlns:a16="http://schemas.microsoft.com/office/drawing/2014/main" xmlns="" id="{B5C48873-1940-403A-B9BF-3C7C8FC87EB0}"/>
              </a:ext>
            </a:extLst>
          </p:cNvPr>
          <p:cNvSpPr>
            <a:spLocks noGrp="1"/>
          </p:cNvSpPr>
          <p:nvPr>
            <p:ph type="dt" sz="half" idx="10"/>
          </p:nvPr>
        </p:nvSpPr>
        <p:spPr/>
        <p:txBody>
          <a:bodyPr/>
          <a:lstStyle/>
          <a:p>
            <a:fld id="{2B6C6E41-D4D6-4B5C-9CCE-BF3A9B7109E4}" type="datetime1">
              <a:rPr lang="en-US" smtClean="0"/>
              <a:t>5/5/2022</a:t>
            </a:fld>
            <a:endParaRPr lang="en-US"/>
          </a:p>
        </p:txBody>
      </p:sp>
      <p:sp>
        <p:nvSpPr>
          <p:cNvPr id="5" name="Slide Number Placeholder 4">
            <a:extLst>
              <a:ext uri="{FF2B5EF4-FFF2-40B4-BE49-F238E27FC236}">
                <a16:creationId xmlns:a16="http://schemas.microsoft.com/office/drawing/2014/main" xmlns="" id="{731F9510-47C9-4859-ACBD-CE41A86DC89F}"/>
              </a:ext>
            </a:extLst>
          </p:cNvPr>
          <p:cNvSpPr>
            <a:spLocks noGrp="1"/>
          </p:cNvSpPr>
          <p:nvPr>
            <p:ph type="sldNum" sz="quarter" idx="12"/>
          </p:nvPr>
        </p:nvSpPr>
        <p:spPr/>
        <p:txBody>
          <a:bodyPr/>
          <a:lstStyle/>
          <a:p>
            <a:fld id="{B92AFB71-4BE5-44E7-9108-3062C0C91BA0}" type="slidenum">
              <a:rPr lang="en-US" smtClean="0"/>
              <a:t>84</a:t>
            </a:fld>
            <a:endParaRPr lang="en-US"/>
          </a:p>
        </p:txBody>
      </p:sp>
    </p:spTree>
    <p:extLst>
      <p:ext uri="{BB962C8B-B14F-4D97-AF65-F5344CB8AC3E}">
        <p14:creationId xmlns:p14="http://schemas.microsoft.com/office/powerpoint/2010/main" val="35158038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44389A-6894-4E9E-919B-8D914A4D79A6}"/>
              </a:ext>
            </a:extLst>
          </p:cNvPr>
          <p:cNvSpPr>
            <a:spLocks noGrp="1"/>
          </p:cNvSpPr>
          <p:nvPr>
            <p:ph type="title"/>
          </p:nvPr>
        </p:nvSpPr>
        <p:spPr>
          <a:xfrm>
            <a:off x="838200" y="365125"/>
            <a:ext cx="10515600" cy="11195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AC0162EB-F4C3-4828-BD69-1D87DAD599D5}"/>
              </a:ext>
            </a:extLst>
          </p:cNvPr>
          <p:cNvSpPr>
            <a:spLocks noGrp="1"/>
          </p:cNvSpPr>
          <p:nvPr>
            <p:ph idx="1"/>
          </p:nvPr>
        </p:nvSpPr>
        <p:spPr>
          <a:xfrm>
            <a:off x="838200" y="580445"/>
            <a:ext cx="10515600" cy="5596518"/>
          </a:xfrm>
        </p:spPr>
        <p:txBody>
          <a:bodyPr>
            <a:normAutofit fontScale="92500"/>
          </a:bodyPr>
          <a:lstStyle/>
          <a:p>
            <a:pPr>
              <a:lnSpc>
                <a:spcPct val="150000"/>
              </a:lnSpc>
            </a:pPr>
            <a:r>
              <a:rPr lang="en-US" sz="3200" dirty="0"/>
              <a:t>Refer the patient to social and welfare support groups, for socio-economic support , to spiritual leader for spiritual nourishment, to a counsellor to increase coping mechanism</a:t>
            </a:r>
          </a:p>
          <a:p>
            <a:pPr lvl="0">
              <a:lnSpc>
                <a:spcPct val="150000"/>
              </a:lnSpc>
            </a:pPr>
            <a:r>
              <a:rPr lang="en-US" sz="3200" dirty="0"/>
              <a:t>Provide walking aids to enhance mobility and prevent accidents</a:t>
            </a:r>
          </a:p>
          <a:p>
            <a:pPr lvl="0">
              <a:lnSpc>
                <a:spcPct val="150000"/>
              </a:lnSpc>
            </a:pPr>
            <a:r>
              <a:rPr lang="en-US" sz="3200" dirty="0"/>
              <a:t>Teach patient/family members on treatment regimen to increase compliance</a:t>
            </a:r>
          </a:p>
          <a:p>
            <a:pPr lvl="0">
              <a:lnSpc>
                <a:spcPct val="150000"/>
              </a:lnSpc>
            </a:pPr>
            <a:r>
              <a:rPr lang="en-US" sz="3200" dirty="0"/>
              <a:t>Manipulation of the environment to promote adaptation</a:t>
            </a:r>
          </a:p>
          <a:p>
            <a:endParaRPr lang="en-US" dirty="0"/>
          </a:p>
        </p:txBody>
      </p:sp>
      <p:sp>
        <p:nvSpPr>
          <p:cNvPr id="4" name="Date Placeholder 3">
            <a:extLst>
              <a:ext uri="{FF2B5EF4-FFF2-40B4-BE49-F238E27FC236}">
                <a16:creationId xmlns:a16="http://schemas.microsoft.com/office/drawing/2014/main" xmlns="" id="{D0FD0217-8780-4946-B915-DFBFBCABF6BD}"/>
              </a:ext>
            </a:extLst>
          </p:cNvPr>
          <p:cNvSpPr>
            <a:spLocks noGrp="1"/>
          </p:cNvSpPr>
          <p:nvPr>
            <p:ph type="dt" sz="half" idx="10"/>
          </p:nvPr>
        </p:nvSpPr>
        <p:spPr/>
        <p:txBody>
          <a:bodyPr/>
          <a:lstStyle/>
          <a:p>
            <a:fld id="{1CAB9B9F-A8E5-4011-ACDB-332604BF58CA}" type="datetime1">
              <a:rPr lang="en-US" smtClean="0"/>
              <a:t>5/5/2022</a:t>
            </a:fld>
            <a:endParaRPr lang="en-US"/>
          </a:p>
        </p:txBody>
      </p:sp>
      <p:sp>
        <p:nvSpPr>
          <p:cNvPr id="5" name="Slide Number Placeholder 4">
            <a:extLst>
              <a:ext uri="{FF2B5EF4-FFF2-40B4-BE49-F238E27FC236}">
                <a16:creationId xmlns:a16="http://schemas.microsoft.com/office/drawing/2014/main" xmlns="" id="{113FF516-CED0-45FC-B71F-BFAC69D4ACF5}"/>
              </a:ext>
            </a:extLst>
          </p:cNvPr>
          <p:cNvSpPr>
            <a:spLocks noGrp="1"/>
          </p:cNvSpPr>
          <p:nvPr>
            <p:ph type="sldNum" sz="quarter" idx="12"/>
          </p:nvPr>
        </p:nvSpPr>
        <p:spPr/>
        <p:txBody>
          <a:bodyPr/>
          <a:lstStyle/>
          <a:p>
            <a:fld id="{B92AFB71-4BE5-44E7-9108-3062C0C91BA0}" type="slidenum">
              <a:rPr lang="en-US" smtClean="0"/>
              <a:t>85</a:t>
            </a:fld>
            <a:endParaRPr lang="en-US"/>
          </a:p>
        </p:txBody>
      </p:sp>
    </p:spTree>
    <p:extLst>
      <p:ext uri="{BB962C8B-B14F-4D97-AF65-F5344CB8AC3E}">
        <p14:creationId xmlns:p14="http://schemas.microsoft.com/office/powerpoint/2010/main" val="39175416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2227FE-75F4-4A87-AE91-0BC09592172C}"/>
              </a:ext>
            </a:extLst>
          </p:cNvPr>
          <p:cNvSpPr>
            <a:spLocks noGrp="1"/>
          </p:cNvSpPr>
          <p:nvPr>
            <p:ph type="title"/>
          </p:nvPr>
        </p:nvSpPr>
        <p:spPr>
          <a:xfrm>
            <a:off x="838200" y="365126"/>
            <a:ext cx="10515600" cy="811668"/>
          </a:xfrm>
        </p:spPr>
        <p:txBody>
          <a:bodyPr>
            <a:normAutofit/>
          </a:bodyPr>
          <a:lstStyle/>
          <a:p>
            <a:r>
              <a:rPr lang="en-US" sz="3200" b="1" dirty="0"/>
              <a:t>Health care settings for providing geriatric care</a:t>
            </a:r>
          </a:p>
        </p:txBody>
      </p:sp>
      <p:sp>
        <p:nvSpPr>
          <p:cNvPr id="3" name="Content Placeholder 2">
            <a:extLst>
              <a:ext uri="{FF2B5EF4-FFF2-40B4-BE49-F238E27FC236}">
                <a16:creationId xmlns:a16="http://schemas.microsoft.com/office/drawing/2014/main" xmlns="" id="{C77F6379-AB75-41D2-B463-179964D96043}"/>
              </a:ext>
            </a:extLst>
          </p:cNvPr>
          <p:cNvSpPr>
            <a:spLocks noGrp="1"/>
          </p:cNvSpPr>
          <p:nvPr>
            <p:ph idx="1"/>
          </p:nvPr>
        </p:nvSpPr>
        <p:spPr>
          <a:xfrm>
            <a:off x="838200" y="1176794"/>
            <a:ext cx="10515600" cy="5000169"/>
          </a:xfrm>
        </p:spPr>
        <p:txBody>
          <a:bodyPr>
            <a:normAutofit/>
          </a:bodyPr>
          <a:lstStyle/>
          <a:p>
            <a:pPr>
              <a:lnSpc>
                <a:spcPct val="150000"/>
              </a:lnSpc>
            </a:pPr>
            <a:r>
              <a:rPr lang="en-US" sz="3200" dirty="0"/>
              <a:t>Geriatric care may be delivered in the following settings: </a:t>
            </a:r>
          </a:p>
          <a:p>
            <a:pPr marL="0" indent="0">
              <a:lnSpc>
                <a:spcPct val="150000"/>
              </a:lnSpc>
              <a:buNone/>
            </a:pPr>
            <a:r>
              <a:rPr lang="en-US" sz="3200" dirty="0"/>
              <a:t> 1. </a:t>
            </a:r>
            <a:r>
              <a:rPr lang="en-US" sz="3200" b="1" dirty="0"/>
              <a:t>Physician's office: </a:t>
            </a:r>
            <a:r>
              <a:rPr lang="en-US" sz="3200" dirty="0"/>
              <a:t>The most common reasons for visits are routine diagnosis and management of acute and chronic problems, health promotion and disease prevention, and pre surgical or postsurgical evaluation</a:t>
            </a:r>
          </a:p>
        </p:txBody>
      </p:sp>
      <p:sp>
        <p:nvSpPr>
          <p:cNvPr id="4" name="Date Placeholder 3">
            <a:extLst>
              <a:ext uri="{FF2B5EF4-FFF2-40B4-BE49-F238E27FC236}">
                <a16:creationId xmlns:a16="http://schemas.microsoft.com/office/drawing/2014/main" xmlns="" id="{99FFEFFC-516F-4C9A-A394-F6F483DBC20E}"/>
              </a:ext>
            </a:extLst>
          </p:cNvPr>
          <p:cNvSpPr>
            <a:spLocks noGrp="1"/>
          </p:cNvSpPr>
          <p:nvPr>
            <p:ph type="dt" sz="half" idx="10"/>
          </p:nvPr>
        </p:nvSpPr>
        <p:spPr/>
        <p:txBody>
          <a:bodyPr/>
          <a:lstStyle/>
          <a:p>
            <a:fld id="{9E8E0743-1FD4-4149-B41F-3358C969FAA3}" type="datetime1">
              <a:rPr lang="en-US" smtClean="0"/>
              <a:t>5/5/2022</a:t>
            </a:fld>
            <a:endParaRPr lang="en-US"/>
          </a:p>
        </p:txBody>
      </p:sp>
      <p:sp>
        <p:nvSpPr>
          <p:cNvPr id="5" name="Slide Number Placeholder 4">
            <a:extLst>
              <a:ext uri="{FF2B5EF4-FFF2-40B4-BE49-F238E27FC236}">
                <a16:creationId xmlns:a16="http://schemas.microsoft.com/office/drawing/2014/main" xmlns="" id="{0AAB2F6F-7579-4416-92AA-8A159BB31C4D}"/>
              </a:ext>
            </a:extLst>
          </p:cNvPr>
          <p:cNvSpPr>
            <a:spLocks noGrp="1"/>
          </p:cNvSpPr>
          <p:nvPr>
            <p:ph type="sldNum" sz="quarter" idx="12"/>
          </p:nvPr>
        </p:nvSpPr>
        <p:spPr/>
        <p:txBody>
          <a:bodyPr/>
          <a:lstStyle/>
          <a:p>
            <a:fld id="{B92AFB71-4BE5-44E7-9108-3062C0C91BA0}" type="slidenum">
              <a:rPr lang="en-US" smtClean="0"/>
              <a:t>86</a:t>
            </a:fld>
            <a:endParaRPr lang="en-US"/>
          </a:p>
        </p:txBody>
      </p:sp>
    </p:spTree>
    <p:extLst>
      <p:ext uri="{BB962C8B-B14F-4D97-AF65-F5344CB8AC3E}">
        <p14:creationId xmlns:p14="http://schemas.microsoft.com/office/powerpoint/2010/main" val="3860610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0A49E9-AC76-4CD1-8840-29E841301793}"/>
              </a:ext>
            </a:extLst>
          </p:cNvPr>
          <p:cNvSpPr>
            <a:spLocks noGrp="1"/>
          </p:cNvSpPr>
          <p:nvPr>
            <p:ph type="title"/>
          </p:nvPr>
        </p:nvSpPr>
        <p:spPr>
          <a:xfrm>
            <a:off x="838200" y="365126"/>
            <a:ext cx="10515600" cy="23917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8CE492C5-91FA-4602-8783-A1711F252F09}"/>
              </a:ext>
            </a:extLst>
          </p:cNvPr>
          <p:cNvSpPr>
            <a:spLocks noGrp="1"/>
          </p:cNvSpPr>
          <p:nvPr>
            <p:ph idx="1"/>
          </p:nvPr>
        </p:nvSpPr>
        <p:spPr>
          <a:xfrm>
            <a:off x="838200" y="1009816"/>
            <a:ext cx="10515600" cy="5167147"/>
          </a:xfrm>
        </p:spPr>
        <p:txBody>
          <a:bodyPr>
            <a:normAutofit/>
          </a:bodyPr>
          <a:lstStyle/>
          <a:p>
            <a:pPr marL="0" indent="0">
              <a:lnSpc>
                <a:spcPct val="150000"/>
              </a:lnSpc>
              <a:buNone/>
            </a:pPr>
            <a:r>
              <a:rPr lang="en-US" sz="3200" b="1" dirty="0"/>
              <a:t>2. Patient’s home: </a:t>
            </a:r>
            <a:r>
              <a:rPr lang="en-US" sz="3200" dirty="0"/>
              <a:t>Home care (see Home Health Care) is most commonly used after hospital discharge, but hospitalization is not a prerequisite. Also, a small but growing number of health care practitioners deliver care for acute and chronic problems and sometimes end-of-life care in a patient's home.</a:t>
            </a:r>
          </a:p>
        </p:txBody>
      </p:sp>
      <p:sp>
        <p:nvSpPr>
          <p:cNvPr id="4" name="Date Placeholder 3">
            <a:extLst>
              <a:ext uri="{FF2B5EF4-FFF2-40B4-BE49-F238E27FC236}">
                <a16:creationId xmlns:a16="http://schemas.microsoft.com/office/drawing/2014/main" xmlns="" id="{7FE30D23-19E9-4981-B311-F18C00D47568}"/>
              </a:ext>
            </a:extLst>
          </p:cNvPr>
          <p:cNvSpPr>
            <a:spLocks noGrp="1"/>
          </p:cNvSpPr>
          <p:nvPr>
            <p:ph type="dt" sz="half" idx="10"/>
          </p:nvPr>
        </p:nvSpPr>
        <p:spPr/>
        <p:txBody>
          <a:bodyPr/>
          <a:lstStyle/>
          <a:p>
            <a:fld id="{D6A76C20-6107-44DC-A26D-A3A48855224D}" type="datetime1">
              <a:rPr lang="en-US" smtClean="0"/>
              <a:t>5/5/2022</a:t>
            </a:fld>
            <a:endParaRPr lang="en-US"/>
          </a:p>
        </p:txBody>
      </p:sp>
      <p:sp>
        <p:nvSpPr>
          <p:cNvPr id="5" name="Slide Number Placeholder 4">
            <a:extLst>
              <a:ext uri="{FF2B5EF4-FFF2-40B4-BE49-F238E27FC236}">
                <a16:creationId xmlns:a16="http://schemas.microsoft.com/office/drawing/2014/main" xmlns="" id="{2B040D75-6AB5-4F2D-A219-907A002DD62D}"/>
              </a:ext>
            </a:extLst>
          </p:cNvPr>
          <p:cNvSpPr>
            <a:spLocks noGrp="1"/>
          </p:cNvSpPr>
          <p:nvPr>
            <p:ph type="sldNum" sz="quarter" idx="12"/>
          </p:nvPr>
        </p:nvSpPr>
        <p:spPr/>
        <p:txBody>
          <a:bodyPr/>
          <a:lstStyle/>
          <a:p>
            <a:fld id="{B92AFB71-4BE5-44E7-9108-3062C0C91BA0}" type="slidenum">
              <a:rPr lang="en-US" smtClean="0"/>
              <a:t>87</a:t>
            </a:fld>
            <a:endParaRPr lang="en-US"/>
          </a:p>
        </p:txBody>
      </p:sp>
    </p:spTree>
    <p:extLst>
      <p:ext uri="{BB962C8B-B14F-4D97-AF65-F5344CB8AC3E}">
        <p14:creationId xmlns:p14="http://schemas.microsoft.com/office/powerpoint/2010/main" val="642146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984856-B531-458F-8CAE-8B105412E056}"/>
              </a:ext>
            </a:extLst>
          </p:cNvPr>
          <p:cNvSpPr>
            <a:spLocks noGrp="1"/>
          </p:cNvSpPr>
          <p:nvPr>
            <p:ph type="title"/>
          </p:nvPr>
        </p:nvSpPr>
        <p:spPr>
          <a:xfrm>
            <a:off x="838200" y="365125"/>
            <a:ext cx="10515600" cy="61288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822E78C-83F9-49CE-BB9B-0B5FC699B9AD}"/>
              </a:ext>
            </a:extLst>
          </p:cNvPr>
          <p:cNvSpPr>
            <a:spLocks noGrp="1"/>
          </p:cNvSpPr>
          <p:nvPr>
            <p:ph idx="1"/>
          </p:nvPr>
        </p:nvSpPr>
        <p:spPr>
          <a:xfrm>
            <a:off x="838200" y="1280160"/>
            <a:ext cx="10515600" cy="4896803"/>
          </a:xfrm>
        </p:spPr>
        <p:txBody>
          <a:bodyPr>
            <a:normAutofit/>
          </a:bodyPr>
          <a:lstStyle/>
          <a:p>
            <a:pPr marL="0" indent="0">
              <a:lnSpc>
                <a:spcPct val="150000"/>
              </a:lnSpc>
              <a:buNone/>
            </a:pPr>
            <a:r>
              <a:rPr lang="en-US" sz="3200" b="1" dirty="0"/>
              <a:t>3. Long-term care facilities: </a:t>
            </a:r>
            <a:r>
              <a:rPr lang="en-US" sz="3200" dirty="0"/>
              <a:t>These facilities include assisted-living facilities, board-and-care facilities, nursing homes, and life-care communities. Whether patients require care in a long-term care facility depends partly on the patient‘s wishes and needs and on the family‘s ability to meet the patient‘s needs.</a:t>
            </a:r>
          </a:p>
        </p:txBody>
      </p:sp>
      <p:sp>
        <p:nvSpPr>
          <p:cNvPr id="4" name="Date Placeholder 3">
            <a:extLst>
              <a:ext uri="{FF2B5EF4-FFF2-40B4-BE49-F238E27FC236}">
                <a16:creationId xmlns:a16="http://schemas.microsoft.com/office/drawing/2014/main" xmlns="" id="{240E6957-CCA3-4ACC-9A15-5EF9B0DB524B}"/>
              </a:ext>
            </a:extLst>
          </p:cNvPr>
          <p:cNvSpPr>
            <a:spLocks noGrp="1"/>
          </p:cNvSpPr>
          <p:nvPr>
            <p:ph type="dt" sz="half" idx="10"/>
          </p:nvPr>
        </p:nvSpPr>
        <p:spPr/>
        <p:txBody>
          <a:bodyPr/>
          <a:lstStyle/>
          <a:p>
            <a:fld id="{B224FB03-FC20-4DC2-80C0-2EF1EDDF7134}" type="datetime1">
              <a:rPr lang="en-US" smtClean="0"/>
              <a:t>5/5/2022</a:t>
            </a:fld>
            <a:endParaRPr lang="en-US"/>
          </a:p>
        </p:txBody>
      </p:sp>
      <p:sp>
        <p:nvSpPr>
          <p:cNvPr id="5" name="Slide Number Placeholder 4">
            <a:extLst>
              <a:ext uri="{FF2B5EF4-FFF2-40B4-BE49-F238E27FC236}">
                <a16:creationId xmlns:a16="http://schemas.microsoft.com/office/drawing/2014/main" xmlns="" id="{E915DCD2-2531-44DF-A365-7D9C75342E21}"/>
              </a:ext>
            </a:extLst>
          </p:cNvPr>
          <p:cNvSpPr>
            <a:spLocks noGrp="1"/>
          </p:cNvSpPr>
          <p:nvPr>
            <p:ph type="sldNum" sz="quarter" idx="12"/>
          </p:nvPr>
        </p:nvSpPr>
        <p:spPr/>
        <p:txBody>
          <a:bodyPr/>
          <a:lstStyle/>
          <a:p>
            <a:fld id="{B92AFB71-4BE5-44E7-9108-3062C0C91BA0}" type="slidenum">
              <a:rPr lang="en-US" smtClean="0"/>
              <a:t>88</a:t>
            </a:fld>
            <a:endParaRPr lang="en-US"/>
          </a:p>
        </p:txBody>
      </p:sp>
    </p:spTree>
    <p:extLst>
      <p:ext uri="{BB962C8B-B14F-4D97-AF65-F5344CB8AC3E}">
        <p14:creationId xmlns:p14="http://schemas.microsoft.com/office/powerpoint/2010/main" val="14840598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527E26-BF92-4206-93B9-510578742945}"/>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9EA8D4EC-9C84-4989-A49B-7934B6F4ED1B}"/>
              </a:ext>
            </a:extLst>
          </p:cNvPr>
          <p:cNvSpPr>
            <a:spLocks noGrp="1"/>
          </p:cNvSpPr>
          <p:nvPr>
            <p:ph idx="1"/>
          </p:nvPr>
        </p:nvSpPr>
        <p:spPr>
          <a:xfrm>
            <a:off x="838200" y="1062300"/>
            <a:ext cx="10515600" cy="4351338"/>
          </a:xfrm>
        </p:spPr>
        <p:txBody>
          <a:bodyPr>
            <a:normAutofit fontScale="85000" lnSpcReduction="10000"/>
          </a:bodyPr>
          <a:lstStyle/>
          <a:p>
            <a:pPr marL="0" indent="0">
              <a:lnSpc>
                <a:spcPct val="150000"/>
              </a:lnSpc>
              <a:buNone/>
            </a:pPr>
            <a:r>
              <a:rPr lang="en-US" sz="3200" b="1" dirty="0"/>
              <a:t>4. Day care facilities: </a:t>
            </a:r>
            <a:r>
              <a:rPr lang="en-US" sz="3200" dirty="0"/>
              <a:t>These facilities provide medical, rehabilitative, cognitive, and social services several hours a day for several days a week. </a:t>
            </a:r>
          </a:p>
          <a:p>
            <a:pPr marL="0" indent="0">
              <a:lnSpc>
                <a:spcPct val="150000"/>
              </a:lnSpc>
              <a:buNone/>
            </a:pPr>
            <a:r>
              <a:rPr lang="en-US" sz="3200" b="1" dirty="0"/>
              <a:t>5.  Hospitals: </a:t>
            </a:r>
            <a:r>
              <a:rPr lang="en-US" sz="3200" dirty="0"/>
              <a:t>Only seriously ill elderly patients should be hospitalized. Hospitalization itself poses risks to elderly patients because of confinement, immobility, diagnostic testing, and treatments.</a:t>
            </a:r>
          </a:p>
        </p:txBody>
      </p:sp>
      <p:sp>
        <p:nvSpPr>
          <p:cNvPr id="4" name="Date Placeholder 3">
            <a:extLst>
              <a:ext uri="{FF2B5EF4-FFF2-40B4-BE49-F238E27FC236}">
                <a16:creationId xmlns:a16="http://schemas.microsoft.com/office/drawing/2014/main" xmlns="" id="{F2242638-1EEC-4DB7-8CC2-D95ECBF45FA9}"/>
              </a:ext>
            </a:extLst>
          </p:cNvPr>
          <p:cNvSpPr>
            <a:spLocks noGrp="1"/>
          </p:cNvSpPr>
          <p:nvPr>
            <p:ph type="dt" sz="half" idx="10"/>
          </p:nvPr>
        </p:nvSpPr>
        <p:spPr/>
        <p:txBody>
          <a:bodyPr/>
          <a:lstStyle/>
          <a:p>
            <a:fld id="{E1B7536C-FA31-4631-8BB8-3D76B8422F8F}" type="datetime1">
              <a:rPr lang="en-US" smtClean="0"/>
              <a:t>5/5/2022</a:t>
            </a:fld>
            <a:endParaRPr lang="en-US"/>
          </a:p>
        </p:txBody>
      </p:sp>
      <p:sp>
        <p:nvSpPr>
          <p:cNvPr id="5" name="Slide Number Placeholder 4">
            <a:extLst>
              <a:ext uri="{FF2B5EF4-FFF2-40B4-BE49-F238E27FC236}">
                <a16:creationId xmlns:a16="http://schemas.microsoft.com/office/drawing/2014/main" xmlns="" id="{D94CB94F-EFAE-4EBC-B662-32366C4B7ABA}"/>
              </a:ext>
            </a:extLst>
          </p:cNvPr>
          <p:cNvSpPr>
            <a:spLocks noGrp="1"/>
          </p:cNvSpPr>
          <p:nvPr>
            <p:ph type="sldNum" sz="quarter" idx="12"/>
          </p:nvPr>
        </p:nvSpPr>
        <p:spPr/>
        <p:txBody>
          <a:bodyPr/>
          <a:lstStyle/>
          <a:p>
            <a:fld id="{B92AFB71-4BE5-44E7-9108-3062C0C91BA0}" type="slidenum">
              <a:rPr lang="en-US" smtClean="0"/>
              <a:t>89</a:t>
            </a:fld>
            <a:endParaRPr lang="en-US"/>
          </a:p>
        </p:txBody>
      </p:sp>
    </p:spTree>
    <p:extLst>
      <p:ext uri="{BB962C8B-B14F-4D97-AF65-F5344CB8AC3E}">
        <p14:creationId xmlns:p14="http://schemas.microsoft.com/office/powerpoint/2010/main" val="41810460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3E6595-FA8A-46CE-8AFF-06B74B846464}"/>
              </a:ext>
            </a:extLst>
          </p:cNvPr>
          <p:cNvSpPr>
            <a:spLocks noGrp="1"/>
          </p:cNvSpPr>
          <p:nvPr>
            <p:ph type="title"/>
          </p:nvPr>
        </p:nvSpPr>
        <p:spPr>
          <a:xfrm>
            <a:off x="838200" y="365125"/>
            <a:ext cx="10515600" cy="247125"/>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4E3D25ED-1127-4BCE-8B67-4BCCF50612FA}"/>
              </a:ext>
            </a:extLst>
          </p:cNvPr>
          <p:cNvSpPr>
            <a:spLocks noGrp="1"/>
          </p:cNvSpPr>
          <p:nvPr>
            <p:ph idx="1"/>
          </p:nvPr>
        </p:nvSpPr>
        <p:spPr>
          <a:xfrm>
            <a:off x="838200" y="978010"/>
            <a:ext cx="10515600" cy="5198953"/>
          </a:xfrm>
        </p:spPr>
        <p:txBody>
          <a:bodyPr>
            <a:normAutofit lnSpcReduction="10000"/>
          </a:bodyPr>
          <a:lstStyle/>
          <a:p>
            <a:pPr marL="0" indent="0">
              <a:lnSpc>
                <a:spcPct val="150000"/>
              </a:lnSpc>
              <a:buNone/>
            </a:pPr>
            <a:r>
              <a:rPr lang="en-US" sz="3200" b="1" dirty="0"/>
              <a:t>6. Hospice: </a:t>
            </a:r>
            <a:r>
              <a:rPr lang="en-US" sz="3200" dirty="0"/>
              <a:t>Hospices provide care for the dying. The goal is to alleviate symptoms and keep people comfortable rather than to cure a disorder. Hospice care can be provided in the home, a nursing home, or an inpatient facility. </a:t>
            </a:r>
          </a:p>
          <a:p>
            <a:pPr marL="0" indent="0">
              <a:lnSpc>
                <a:spcPct val="150000"/>
              </a:lnSpc>
              <a:buNone/>
            </a:pPr>
            <a:r>
              <a:rPr lang="en-US" sz="3200" b="1" dirty="0"/>
              <a:t>7. Senior Communities: </a:t>
            </a:r>
            <a:r>
              <a:rPr lang="en-US" sz="3200" dirty="0"/>
              <a:t>Senior housing is designed for high-functioning elders, defined as those not requiring assistance with ADLs.</a:t>
            </a:r>
          </a:p>
        </p:txBody>
      </p:sp>
      <p:sp>
        <p:nvSpPr>
          <p:cNvPr id="4" name="Date Placeholder 3">
            <a:extLst>
              <a:ext uri="{FF2B5EF4-FFF2-40B4-BE49-F238E27FC236}">
                <a16:creationId xmlns:a16="http://schemas.microsoft.com/office/drawing/2014/main" xmlns="" id="{C8CD0319-120A-49CA-8E1D-05EF410CFD56}"/>
              </a:ext>
            </a:extLst>
          </p:cNvPr>
          <p:cNvSpPr>
            <a:spLocks noGrp="1"/>
          </p:cNvSpPr>
          <p:nvPr>
            <p:ph type="dt" sz="half" idx="10"/>
          </p:nvPr>
        </p:nvSpPr>
        <p:spPr/>
        <p:txBody>
          <a:bodyPr/>
          <a:lstStyle/>
          <a:p>
            <a:fld id="{AE306CB1-849A-4515-8AB2-0AA9F06A9950}" type="datetime1">
              <a:rPr lang="en-US" smtClean="0"/>
              <a:t>5/5/2022</a:t>
            </a:fld>
            <a:endParaRPr lang="en-US"/>
          </a:p>
        </p:txBody>
      </p:sp>
      <p:sp>
        <p:nvSpPr>
          <p:cNvPr id="5" name="Slide Number Placeholder 4">
            <a:extLst>
              <a:ext uri="{FF2B5EF4-FFF2-40B4-BE49-F238E27FC236}">
                <a16:creationId xmlns:a16="http://schemas.microsoft.com/office/drawing/2014/main" xmlns="" id="{8A9E91EB-853F-470C-90E1-34C980DAA6A2}"/>
              </a:ext>
            </a:extLst>
          </p:cNvPr>
          <p:cNvSpPr>
            <a:spLocks noGrp="1"/>
          </p:cNvSpPr>
          <p:nvPr>
            <p:ph type="sldNum" sz="quarter" idx="12"/>
          </p:nvPr>
        </p:nvSpPr>
        <p:spPr/>
        <p:txBody>
          <a:bodyPr/>
          <a:lstStyle/>
          <a:p>
            <a:fld id="{B92AFB71-4BE5-44E7-9108-3062C0C91BA0}" type="slidenum">
              <a:rPr lang="en-US" smtClean="0"/>
              <a:t>90</a:t>
            </a:fld>
            <a:endParaRPr lang="en-US"/>
          </a:p>
        </p:txBody>
      </p:sp>
    </p:spTree>
    <p:extLst>
      <p:ext uri="{BB962C8B-B14F-4D97-AF65-F5344CB8AC3E}">
        <p14:creationId xmlns:p14="http://schemas.microsoft.com/office/powerpoint/2010/main" val="35562270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0D5153-F846-44F0-AE12-A9FA3B8B65EC}"/>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A24709B2-D52C-41C5-AA81-0C17B8195306}"/>
              </a:ext>
            </a:extLst>
          </p:cNvPr>
          <p:cNvSpPr>
            <a:spLocks noGrp="1"/>
          </p:cNvSpPr>
          <p:nvPr>
            <p:ph idx="1"/>
          </p:nvPr>
        </p:nvSpPr>
        <p:spPr>
          <a:xfrm>
            <a:off x="838200" y="681038"/>
            <a:ext cx="10515600" cy="5495925"/>
          </a:xfrm>
        </p:spPr>
        <p:txBody>
          <a:bodyPr>
            <a:normAutofit fontScale="92500" lnSpcReduction="10000"/>
          </a:bodyPr>
          <a:lstStyle/>
          <a:p>
            <a:pPr marL="0" indent="0">
              <a:lnSpc>
                <a:spcPct val="150000"/>
              </a:lnSpc>
              <a:buNone/>
            </a:pPr>
            <a:r>
              <a:rPr lang="en-US" b="1" dirty="0"/>
              <a:t>8. Continuing Care: </a:t>
            </a:r>
            <a:r>
              <a:rPr lang="en-US" dirty="0"/>
              <a:t>Continuing care communities are sometimes called ―</a:t>
            </a:r>
            <a:r>
              <a:rPr lang="en-US" dirty="0">
                <a:solidFill>
                  <a:srgbClr val="C00000"/>
                </a:solidFill>
              </a:rPr>
              <a:t>step care or ―progressive care facilities</a:t>
            </a:r>
            <a:r>
              <a:rPr lang="en-US" dirty="0"/>
              <a:t>. They offer a wide range of options, all the way from independent living to special care. Residents are usually admitted when they live independently.</a:t>
            </a:r>
          </a:p>
          <a:p>
            <a:pPr marL="0" indent="0">
              <a:lnSpc>
                <a:spcPct val="150000"/>
              </a:lnSpc>
              <a:buNone/>
            </a:pPr>
            <a:r>
              <a:rPr lang="en-US" b="1" dirty="0"/>
              <a:t>9.Assisted Living: </a:t>
            </a:r>
            <a:r>
              <a:rPr lang="en-US" dirty="0"/>
              <a:t>Assisted living offers the elderly a place to live outside of their own home, where they can receive basic assistance in one or more of the following areas: housekeeping, meal preparation, 24/7 monitoring, shower assistance, toileting, medication assistance or reminders, transportation, eating, dressing, activities or socialization.</a:t>
            </a:r>
          </a:p>
        </p:txBody>
      </p:sp>
      <p:sp>
        <p:nvSpPr>
          <p:cNvPr id="4" name="Date Placeholder 3">
            <a:extLst>
              <a:ext uri="{FF2B5EF4-FFF2-40B4-BE49-F238E27FC236}">
                <a16:creationId xmlns:a16="http://schemas.microsoft.com/office/drawing/2014/main" xmlns="" id="{7500986F-7699-47F5-8C39-5223BC08084C}"/>
              </a:ext>
            </a:extLst>
          </p:cNvPr>
          <p:cNvSpPr>
            <a:spLocks noGrp="1"/>
          </p:cNvSpPr>
          <p:nvPr>
            <p:ph type="dt" sz="half" idx="10"/>
          </p:nvPr>
        </p:nvSpPr>
        <p:spPr/>
        <p:txBody>
          <a:bodyPr/>
          <a:lstStyle/>
          <a:p>
            <a:fld id="{3BBC18A5-134F-445F-821A-118943175B3C}" type="datetime1">
              <a:rPr lang="en-US" smtClean="0"/>
              <a:t>5/5/2022</a:t>
            </a:fld>
            <a:endParaRPr lang="en-US"/>
          </a:p>
        </p:txBody>
      </p:sp>
      <p:sp>
        <p:nvSpPr>
          <p:cNvPr id="5" name="Slide Number Placeholder 4">
            <a:extLst>
              <a:ext uri="{FF2B5EF4-FFF2-40B4-BE49-F238E27FC236}">
                <a16:creationId xmlns:a16="http://schemas.microsoft.com/office/drawing/2014/main" xmlns="" id="{042EAA46-21A3-4827-B996-48DA654BC5E9}"/>
              </a:ext>
            </a:extLst>
          </p:cNvPr>
          <p:cNvSpPr>
            <a:spLocks noGrp="1"/>
          </p:cNvSpPr>
          <p:nvPr>
            <p:ph type="sldNum" sz="quarter" idx="12"/>
          </p:nvPr>
        </p:nvSpPr>
        <p:spPr/>
        <p:txBody>
          <a:bodyPr/>
          <a:lstStyle/>
          <a:p>
            <a:fld id="{B92AFB71-4BE5-44E7-9108-3062C0C91BA0}" type="slidenum">
              <a:rPr lang="en-US" smtClean="0"/>
              <a:t>91</a:t>
            </a:fld>
            <a:endParaRPr lang="en-US"/>
          </a:p>
        </p:txBody>
      </p:sp>
    </p:spTree>
    <p:extLst>
      <p:ext uri="{BB962C8B-B14F-4D97-AF65-F5344CB8AC3E}">
        <p14:creationId xmlns:p14="http://schemas.microsoft.com/office/powerpoint/2010/main" val="41223004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FE2302-FD44-473E-9DCB-CE6233F4879D}"/>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C79ED01B-2029-430E-ADAB-073FF26F6E6A}"/>
              </a:ext>
            </a:extLst>
          </p:cNvPr>
          <p:cNvSpPr>
            <a:spLocks noGrp="1"/>
          </p:cNvSpPr>
          <p:nvPr>
            <p:ph idx="1"/>
          </p:nvPr>
        </p:nvSpPr>
        <p:spPr>
          <a:xfrm>
            <a:off x="838200" y="1065475"/>
            <a:ext cx="10515600" cy="5111488"/>
          </a:xfrm>
        </p:spPr>
        <p:txBody>
          <a:bodyPr/>
          <a:lstStyle/>
          <a:p>
            <a:pPr marL="0" indent="0">
              <a:lnSpc>
                <a:spcPct val="150000"/>
              </a:lnSpc>
              <a:buNone/>
            </a:pPr>
            <a:r>
              <a:rPr lang="en-US" sz="3200" b="1" dirty="0"/>
              <a:t>10. Board and Care: </a:t>
            </a:r>
            <a:r>
              <a:rPr lang="en-US" sz="3200" dirty="0"/>
              <a:t>Board and care is similar to assisted living in terms of care, although some group homes work with lower functionality seniors than those found in assisted living. This is usually a single-family dwelling which has been converted into a residence for elderly and disabled residents.</a:t>
            </a:r>
          </a:p>
          <a:p>
            <a:pPr marL="0" indent="0">
              <a:buNone/>
            </a:pPr>
            <a:endParaRPr lang="en-US" dirty="0"/>
          </a:p>
        </p:txBody>
      </p:sp>
      <p:sp>
        <p:nvSpPr>
          <p:cNvPr id="4" name="Date Placeholder 3">
            <a:extLst>
              <a:ext uri="{FF2B5EF4-FFF2-40B4-BE49-F238E27FC236}">
                <a16:creationId xmlns:a16="http://schemas.microsoft.com/office/drawing/2014/main" xmlns="" id="{B284A83E-CA76-4BF6-B6F0-B2E2DE833620}"/>
              </a:ext>
            </a:extLst>
          </p:cNvPr>
          <p:cNvSpPr>
            <a:spLocks noGrp="1"/>
          </p:cNvSpPr>
          <p:nvPr>
            <p:ph type="dt" sz="half" idx="10"/>
          </p:nvPr>
        </p:nvSpPr>
        <p:spPr/>
        <p:txBody>
          <a:bodyPr/>
          <a:lstStyle/>
          <a:p>
            <a:fld id="{8D2B2DAA-6814-4062-A26E-72A733BC393C}" type="datetime1">
              <a:rPr lang="en-US" smtClean="0"/>
              <a:t>5/5/2022</a:t>
            </a:fld>
            <a:endParaRPr lang="en-US"/>
          </a:p>
        </p:txBody>
      </p:sp>
      <p:sp>
        <p:nvSpPr>
          <p:cNvPr id="5" name="Slide Number Placeholder 4">
            <a:extLst>
              <a:ext uri="{FF2B5EF4-FFF2-40B4-BE49-F238E27FC236}">
                <a16:creationId xmlns:a16="http://schemas.microsoft.com/office/drawing/2014/main" xmlns="" id="{1758D496-F445-41DF-9BD4-5BED27D350B8}"/>
              </a:ext>
            </a:extLst>
          </p:cNvPr>
          <p:cNvSpPr>
            <a:spLocks noGrp="1"/>
          </p:cNvSpPr>
          <p:nvPr>
            <p:ph type="sldNum" sz="quarter" idx="12"/>
          </p:nvPr>
        </p:nvSpPr>
        <p:spPr/>
        <p:txBody>
          <a:bodyPr/>
          <a:lstStyle/>
          <a:p>
            <a:fld id="{B92AFB71-4BE5-44E7-9108-3062C0C91BA0}" type="slidenum">
              <a:rPr lang="en-US" smtClean="0"/>
              <a:t>92</a:t>
            </a:fld>
            <a:endParaRPr lang="en-US"/>
          </a:p>
        </p:txBody>
      </p:sp>
    </p:spTree>
    <p:extLst>
      <p:ext uri="{BB962C8B-B14F-4D97-AF65-F5344CB8AC3E}">
        <p14:creationId xmlns:p14="http://schemas.microsoft.com/office/powerpoint/2010/main" val="27569624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82A63F-27DD-4AE3-A180-5BC1DED7725E}"/>
              </a:ext>
            </a:extLst>
          </p:cNvPr>
          <p:cNvSpPr>
            <a:spLocks noGrp="1"/>
          </p:cNvSpPr>
          <p:nvPr>
            <p:ph type="title"/>
          </p:nvPr>
        </p:nvSpPr>
        <p:spPr>
          <a:xfrm>
            <a:off x="838200" y="136525"/>
            <a:ext cx="10515600" cy="825583"/>
          </a:xfrm>
        </p:spPr>
        <p:txBody>
          <a:bodyPr>
            <a:normAutofit/>
          </a:bodyPr>
          <a:lstStyle/>
          <a:p>
            <a:pPr algn="ctr"/>
            <a:r>
              <a:rPr lang="en-US" sz="3200" b="1" dirty="0"/>
              <a:t>Social services for elderly persons </a:t>
            </a:r>
            <a:endParaRPr lang="en-US" sz="3200" dirty="0"/>
          </a:p>
        </p:txBody>
      </p:sp>
      <p:sp>
        <p:nvSpPr>
          <p:cNvPr id="3" name="Content Placeholder 2">
            <a:extLst>
              <a:ext uri="{FF2B5EF4-FFF2-40B4-BE49-F238E27FC236}">
                <a16:creationId xmlns:a16="http://schemas.microsoft.com/office/drawing/2014/main" xmlns="" id="{9D77F73C-0248-4CF2-9D50-A8906E760826}"/>
              </a:ext>
            </a:extLst>
          </p:cNvPr>
          <p:cNvSpPr>
            <a:spLocks noGrp="1"/>
          </p:cNvSpPr>
          <p:nvPr>
            <p:ph idx="1"/>
          </p:nvPr>
        </p:nvSpPr>
        <p:spPr>
          <a:xfrm>
            <a:off x="838199" y="829560"/>
            <a:ext cx="11011293" cy="5347404"/>
          </a:xfrm>
        </p:spPr>
        <p:txBody>
          <a:bodyPr>
            <a:normAutofit fontScale="85000" lnSpcReduction="10000"/>
          </a:bodyPr>
          <a:lstStyle/>
          <a:p>
            <a:pPr marL="0" indent="0" algn="ctr">
              <a:lnSpc>
                <a:spcPct val="150000"/>
              </a:lnSpc>
              <a:buNone/>
            </a:pPr>
            <a:r>
              <a:rPr lang="en-US" sz="3200" b="1" dirty="0"/>
              <a:t>Hospice services</a:t>
            </a:r>
            <a:endParaRPr lang="en-US" sz="3200" dirty="0"/>
          </a:p>
          <a:p>
            <a:pPr>
              <a:lnSpc>
                <a:spcPct val="150000"/>
              </a:lnSpc>
            </a:pPr>
            <a:r>
              <a:rPr lang="en-US" sz="3200" dirty="0"/>
              <a:t>A program of supportive and palliative services for the elderly with terminal illnesses</a:t>
            </a:r>
          </a:p>
          <a:p>
            <a:pPr>
              <a:lnSpc>
                <a:spcPct val="150000"/>
              </a:lnSpc>
            </a:pPr>
            <a:r>
              <a:rPr lang="en-US" sz="3200" dirty="0"/>
              <a:t>Services include physical, psychological, social and spiritual care</a:t>
            </a:r>
          </a:p>
          <a:p>
            <a:pPr>
              <a:lnSpc>
                <a:spcPct val="150000"/>
              </a:lnSpc>
            </a:pPr>
            <a:r>
              <a:rPr lang="en-US" sz="3200" dirty="0"/>
              <a:t>Aimed at improving quality of life by focusing on symptom management, pain control, and emotional support</a:t>
            </a:r>
          </a:p>
          <a:p>
            <a:pPr>
              <a:lnSpc>
                <a:spcPct val="150000"/>
              </a:lnSpc>
            </a:pPr>
            <a:r>
              <a:rPr lang="en-US" sz="3200" dirty="0"/>
              <a:t>Medical and nursing services are provided to keep patients free of pain and provide comfort</a:t>
            </a:r>
          </a:p>
          <a:p>
            <a:endParaRPr lang="en-US" dirty="0"/>
          </a:p>
        </p:txBody>
      </p:sp>
      <p:sp>
        <p:nvSpPr>
          <p:cNvPr id="4" name="Date Placeholder 3">
            <a:extLst>
              <a:ext uri="{FF2B5EF4-FFF2-40B4-BE49-F238E27FC236}">
                <a16:creationId xmlns:a16="http://schemas.microsoft.com/office/drawing/2014/main" xmlns="" id="{C5403AE9-BC75-49A2-9FBD-569C51A17B84}"/>
              </a:ext>
            </a:extLst>
          </p:cNvPr>
          <p:cNvSpPr>
            <a:spLocks noGrp="1"/>
          </p:cNvSpPr>
          <p:nvPr>
            <p:ph type="dt" sz="half" idx="10"/>
          </p:nvPr>
        </p:nvSpPr>
        <p:spPr/>
        <p:txBody>
          <a:bodyPr/>
          <a:lstStyle/>
          <a:p>
            <a:fld id="{3DC57774-43B6-4ADC-859C-A1DFF6DC057F}" type="datetime1">
              <a:rPr lang="en-US" smtClean="0"/>
              <a:t>5/5/2022</a:t>
            </a:fld>
            <a:endParaRPr lang="en-US"/>
          </a:p>
        </p:txBody>
      </p:sp>
      <p:sp>
        <p:nvSpPr>
          <p:cNvPr id="5" name="Slide Number Placeholder 4">
            <a:extLst>
              <a:ext uri="{FF2B5EF4-FFF2-40B4-BE49-F238E27FC236}">
                <a16:creationId xmlns:a16="http://schemas.microsoft.com/office/drawing/2014/main" xmlns="" id="{718A4C2D-35E8-411B-A4F4-0A9A28DE6B22}"/>
              </a:ext>
            </a:extLst>
          </p:cNvPr>
          <p:cNvSpPr>
            <a:spLocks noGrp="1"/>
          </p:cNvSpPr>
          <p:nvPr>
            <p:ph type="sldNum" sz="quarter" idx="12"/>
          </p:nvPr>
        </p:nvSpPr>
        <p:spPr/>
        <p:txBody>
          <a:bodyPr/>
          <a:lstStyle/>
          <a:p>
            <a:fld id="{B92AFB71-4BE5-44E7-9108-3062C0C91BA0}" type="slidenum">
              <a:rPr lang="en-US" smtClean="0"/>
              <a:t>93</a:t>
            </a:fld>
            <a:endParaRPr lang="en-US"/>
          </a:p>
        </p:txBody>
      </p:sp>
    </p:spTree>
    <p:extLst>
      <p:ext uri="{BB962C8B-B14F-4D97-AF65-F5344CB8AC3E}">
        <p14:creationId xmlns:p14="http://schemas.microsoft.com/office/powerpoint/2010/main" val="8330871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725112-6274-44DC-B3DB-65C0A87ED294}"/>
              </a:ext>
            </a:extLst>
          </p:cNvPr>
          <p:cNvSpPr>
            <a:spLocks noGrp="1"/>
          </p:cNvSpPr>
          <p:nvPr>
            <p:ph type="title"/>
          </p:nvPr>
        </p:nvSpPr>
        <p:spPr>
          <a:xfrm>
            <a:off x="838200" y="103367"/>
            <a:ext cx="10515600" cy="19878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9CD26625-DB11-47A6-AAC0-67E94C871E71}"/>
              </a:ext>
            </a:extLst>
          </p:cNvPr>
          <p:cNvSpPr>
            <a:spLocks noGrp="1"/>
          </p:cNvSpPr>
          <p:nvPr>
            <p:ph idx="1"/>
          </p:nvPr>
        </p:nvSpPr>
        <p:spPr>
          <a:xfrm>
            <a:off x="838200" y="302150"/>
            <a:ext cx="10515600" cy="5874813"/>
          </a:xfrm>
        </p:spPr>
        <p:txBody>
          <a:bodyPr>
            <a:normAutofit/>
          </a:bodyPr>
          <a:lstStyle/>
          <a:p>
            <a:pPr marL="0" indent="0">
              <a:buNone/>
            </a:pPr>
            <a:r>
              <a:rPr lang="en-US" sz="3200" b="1" dirty="0"/>
              <a:t>                                 Home health care</a:t>
            </a:r>
            <a:endParaRPr lang="en-US" sz="3200" dirty="0"/>
          </a:p>
          <a:p>
            <a:pPr>
              <a:lnSpc>
                <a:spcPct val="150000"/>
              </a:lnSpc>
            </a:pPr>
            <a:r>
              <a:rPr lang="en-US" sz="3200" dirty="0"/>
              <a:t>Service provision for the elderly in their home setting</a:t>
            </a:r>
          </a:p>
          <a:p>
            <a:pPr>
              <a:lnSpc>
                <a:spcPct val="150000"/>
              </a:lnSpc>
            </a:pPr>
            <a:r>
              <a:rPr lang="en-US" sz="3200" dirty="0"/>
              <a:t>For persons with severe illnesses, with complex and labile conditions and at risk of rehospitalization, chronic health problems</a:t>
            </a:r>
          </a:p>
          <a:p>
            <a:pPr>
              <a:lnSpc>
                <a:spcPct val="150000"/>
              </a:lnSpc>
            </a:pPr>
            <a:r>
              <a:rPr lang="en-US" sz="3200" dirty="0"/>
              <a:t>Services include nursing care, follow up, health education on health promotion and illness prevention</a:t>
            </a:r>
          </a:p>
          <a:p>
            <a:endParaRPr lang="en-US" dirty="0"/>
          </a:p>
        </p:txBody>
      </p:sp>
      <p:sp>
        <p:nvSpPr>
          <p:cNvPr id="4" name="Date Placeholder 3">
            <a:extLst>
              <a:ext uri="{FF2B5EF4-FFF2-40B4-BE49-F238E27FC236}">
                <a16:creationId xmlns:a16="http://schemas.microsoft.com/office/drawing/2014/main" xmlns="" id="{F4E1F5AC-1F16-4BD4-81A8-0A71A0017ED4}"/>
              </a:ext>
            </a:extLst>
          </p:cNvPr>
          <p:cNvSpPr>
            <a:spLocks noGrp="1"/>
          </p:cNvSpPr>
          <p:nvPr>
            <p:ph type="dt" sz="half" idx="10"/>
          </p:nvPr>
        </p:nvSpPr>
        <p:spPr/>
        <p:txBody>
          <a:bodyPr/>
          <a:lstStyle/>
          <a:p>
            <a:fld id="{3112E603-CAD3-4A68-BD7C-3BA3BB5360D5}" type="datetime1">
              <a:rPr lang="en-US" smtClean="0"/>
              <a:t>5/5/2022</a:t>
            </a:fld>
            <a:endParaRPr lang="en-US"/>
          </a:p>
        </p:txBody>
      </p:sp>
      <p:sp>
        <p:nvSpPr>
          <p:cNvPr id="5" name="Slide Number Placeholder 4">
            <a:extLst>
              <a:ext uri="{FF2B5EF4-FFF2-40B4-BE49-F238E27FC236}">
                <a16:creationId xmlns:a16="http://schemas.microsoft.com/office/drawing/2014/main" xmlns="" id="{B8A22938-41B8-46AB-AC7F-4F58E8187C54}"/>
              </a:ext>
            </a:extLst>
          </p:cNvPr>
          <p:cNvSpPr>
            <a:spLocks noGrp="1"/>
          </p:cNvSpPr>
          <p:nvPr>
            <p:ph type="sldNum" sz="quarter" idx="12"/>
          </p:nvPr>
        </p:nvSpPr>
        <p:spPr/>
        <p:txBody>
          <a:bodyPr/>
          <a:lstStyle/>
          <a:p>
            <a:fld id="{B92AFB71-4BE5-44E7-9108-3062C0C91BA0}" type="slidenum">
              <a:rPr lang="en-US" smtClean="0"/>
              <a:t>94</a:t>
            </a:fld>
            <a:endParaRPr lang="en-US"/>
          </a:p>
        </p:txBody>
      </p:sp>
    </p:spTree>
    <p:extLst>
      <p:ext uri="{BB962C8B-B14F-4D97-AF65-F5344CB8AC3E}">
        <p14:creationId xmlns:p14="http://schemas.microsoft.com/office/powerpoint/2010/main" val="17507903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29442B-EB79-4D7D-BF89-E83704CC2C19}"/>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AF868CB8-B621-4587-9723-EFA728A81D7E}"/>
              </a:ext>
            </a:extLst>
          </p:cNvPr>
          <p:cNvSpPr>
            <a:spLocks noGrp="1"/>
          </p:cNvSpPr>
          <p:nvPr>
            <p:ph idx="1"/>
          </p:nvPr>
        </p:nvSpPr>
        <p:spPr>
          <a:xfrm>
            <a:off x="838200" y="923828"/>
            <a:ext cx="10515600" cy="5253136"/>
          </a:xfrm>
        </p:spPr>
        <p:txBody>
          <a:bodyPr/>
          <a:lstStyle/>
          <a:p>
            <a:pPr>
              <a:lnSpc>
                <a:spcPct val="150000"/>
              </a:lnSpc>
            </a:pPr>
            <a:r>
              <a:rPr lang="en-US" sz="3200" dirty="0"/>
              <a:t>Home health care visits maybe periodic or intermittent</a:t>
            </a:r>
          </a:p>
          <a:p>
            <a:pPr>
              <a:lnSpc>
                <a:spcPct val="150000"/>
              </a:lnSpc>
            </a:pPr>
            <a:r>
              <a:rPr lang="en-US" sz="3200" dirty="0"/>
              <a:t>Nursing care includes skilled assessment of patient’s physical, psychological, social and environmental status</a:t>
            </a:r>
          </a:p>
          <a:p>
            <a:endParaRPr lang="en-US" dirty="0"/>
          </a:p>
        </p:txBody>
      </p:sp>
      <p:sp>
        <p:nvSpPr>
          <p:cNvPr id="4" name="Date Placeholder 3">
            <a:extLst>
              <a:ext uri="{FF2B5EF4-FFF2-40B4-BE49-F238E27FC236}">
                <a16:creationId xmlns:a16="http://schemas.microsoft.com/office/drawing/2014/main" xmlns="" id="{3B3DAA80-3350-486C-A862-543EDFBAFDB6}"/>
              </a:ext>
            </a:extLst>
          </p:cNvPr>
          <p:cNvSpPr>
            <a:spLocks noGrp="1"/>
          </p:cNvSpPr>
          <p:nvPr>
            <p:ph type="dt" sz="half" idx="10"/>
          </p:nvPr>
        </p:nvSpPr>
        <p:spPr/>
        <p:txBody>
          <a:bodyPr/>
          <a:lstStyle/>
          <a:p>
            <a:fld id="{D5920AFC-5E3F-4910-BD6F-D31FF21A12DA}" type="datetime1">
              <a:rPr lang="en-US" smtClean="0"/>
              <a:t>5/5/2022</a:t>
            </a:fld>
            <a:endParaRPr lang="en-US"/>
          </a:p>
        </p:txBody>
      </p:sp>
      <p:sp>
        <p:nvSpPr>
          <p:cNvPr id="5" name="Slide Number Placeholder 4">
            <a:extLst>
              <a:ext uri="{FF2B5EF4-FFF2-40B4-BE49-F238E27FC236}">
                <a16:creationId xmlns:a16="http://schemas.microsoft.com/office/drawing/2014/main" xmlns="" id="{8472E0F9-F924-4FE3-B3F2-E25950FED6EA}"/>
              </a:ext>
            </a:extLst>
          </p:cNvPr>
          <p:cNvSpPr>
            <a:spLocks noGrp="1"/>
          </p:cNvSpPr>
          <p:nvPr>
            <p:ph type="sldNum" sz="quarter" idx="12"/>
          </p:nvPr>
        </p:nvSpPr>
        <p:spPr/>
        <p:txBody>
          <a:bodyPr/>
          <a:lstStyle/>
          <a:p>
            <a:fld id="{B92AFB71-4BE5-44E7-9108-3062C0C91BA0}" type="slidenum">
              <a:rPr lang="en-US" smtClean="0"/>
              <a:t>95</a:t>
            </a:fld>
            <a:endParaRPr lang="en-US"/>
          </a:p>
        </p:txBody>
      </p:sp>
    </p:spTree>
    <p:extLst>
      <p:ext uri="{BB962C8B-B14F-4D97-AF65-F5344CB8AC3E}">
        <p14:creationId xmlns:p14="http://schemas.microsoft.com/office/powerpoint/2010/main" val="33825036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8986DE-E10D-440F-AA48-567134E5C822}"/>
              </a:ext>
            </a:extLst>
          </p:cNvPr>
          <p:cNvSpPr>
            <a:spLocks noGrp="1"/>
          </p:cNvSpPr>
          <p:nvPr>
            <p:ph type="title"/>
          </p:nvPr>
        </p:nvSpPr>
        <p:spPr>
          <a:xfrm>
            <a:off x="838200" y="365126"/>
            <a:ext cx="10515600" cy="21532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390DD640-9C0E-4BD0-BE04-4967741618B3}"/>
              </a:ext>
            </a:extLst>
          </p:cNvPr>
          <p:cNvSpPr>
            <a:spLocks noGrp="1"/>
          </p:cNvSpPr>
          <p:nvPr>
            <p:ph idx="1"/>
          </p:nvPr>
        </p:nvSpPr>
        <p:spPr>
          <a:xfrm>
            <a:off x="838200" y="580446"/>
            <a:ext cx="11162122" cy="5596517"/>
          </a:xfrm>
        </p:spPr>
        <p:txBody>
          <a:bodyPr/>
          <a:lstStyle/>
          <a:p>
            <a:pPr marL="0" indent="0" algn="ctr">
              <a:lnSpc>
                <a:spcPct val="150000"/>
              </a:lnSpc>
              <a:buNone/>
            </a:pPr>
            <a:r>
              <a:rPr lang="en-US" sz="3200" b="1" dirty="0"/>
              <a:t>Day care services</a:t>
            </a:r>
            <a:endParaRPr lang="en-US" sz="3200" dirty="0"/>
          </a:p>
          <a:p>
            <a:pPr>
              <a:lnSpc>
                <a:spcPct val="150000"/>
              </a:lnSpc>
            </a:pPr>
            <a:r>
              <a:rPr lang="en-US" sz="3200" dirty="0"/>
              <a:t>Adult day services centers provide coordinated services in a community setting</a:t>
            </a:r>
          </a:p>
          <a:p>
            <a:pPr>
              <a:lnSpc>
                <a:spcPct val="150000"/>
              </a:lnSpc>
            </a:pPr>
            <a:r>
              <a:rPr lang="en-US" sz="3200" dirty="0"/>
              <a:t>These are: social, medical, and specialized care (e.g., care for Dementia)</a:t>
            </a:r>
          </a:p>
          <a:p>
            <a:pPr>
              <a:lnSpc>
                <a:spcPct val="150000"/>
              </a:lnSpc>
            </a:pPr>
            <a:r>
              <a:rPr lang="en-US" sz="3200" dirty="0"/>
              <a:t>Participants attend at least 3 to 4 visits per week</a:t>
            </a:r>
          </a:p>
          <a:p>
            <a:endParaRPr lang="en-US" dirty="0"/>
          </a:p>
        </p:txBody>
      </p:sp>
      <p:sp>
        <p:nvSpPr>
          <p:cNvPr id="4" name="Date Placeholder 3">
            <a:extLst>
              <a:ext uri="{FF2B5EF4-FFF2-40B4-BE49-F238E27FC236}">
                <a16:creationId xmlns:a16="http://schemas.microsoft.com/office/drawing/2014/main" xmlns="" id="{B30A6964-FF36-4C7A-B6B9-AC78C4B1F460}"/>
              </a:ext>
            </a:extLst>
          </p:cNvPr>
          <p:cNvSpPr>
            <a:spLocks noGrp="1"/>
          </p:cNvSpPr>
          <p:nvPr>
            <p:ph type="dt" sz="half" idx="10"/>
          </p:nvPr>
        </p:nvSpPr>
        <p:spPr/>
        <p:txBody>
          <a:bodyPr/>
          <a:lstStyle/>
          <a:p>
            <a:fld id="{343A5FCC-2059-4ED1-A3B6-687EE523E29A}" type="datetime1">
              <a:rPr lang="en-US" smtClean="0"/>
              <a:t>5/5/2022</a:t>
            </a:fld>
            <a:endParaRPr lang="en-US"/>
          </a:p>
        </p:txBody>
      </p:sp>
      <p:sp>
        <p:nvSpPr>
          <p:cNvPr id="5" name="Slide Number Placeholder 4">
            <a:extLst>
              <a:ext uri="{FF2B5EF4-FFF2-40B4-BE49-F238E27FC236}">
                <a16:creationId xmlns:a16="http://schemas.microsoft.com/office/drawing/2014/main" xmlns="" id="{81A28C06-CC35-428E-9577-7DD1879AC362}"/>
              </a:ext>
            </a:extLst>
          </p:cNvPr>
          <p:cNvSpPr>
            <a:spLocks noGrp="1"/>
          </p:cNvSpPr>
          <p:nvPr>
            <p:ph type="sldNum" sz="quarter" idx="12"/>
          </p:nvPr>
        </p:nvSpPr>
        <p:spPr/>
        <p:txBody>
          <a:bodyPr/>
          <a:lstStyle/>
          <a:p>
            <a:fld id="{B92AFB71-4BE5-44E7-9108-3062C0C91BA0}" type="slidenum">
              <a:rPr lang="en-US" smtClean="0"/>
              <a:t>96</a:t>
            </a:fld>
            <a:endParaRPr lang="en-US"/>
          </a:p>
        </p:txBody>
      </p:sp>
    </p:spTree>
    <p:extLst>
      <p:ext uri="{BB962C8B-B14F-4D97-AF65-F5344CB8AC3E}">
        <p14:creationId xmlns:p14="http://schemas.microsoft.com/office/powerpoint/2010/main" val="8935040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F07FD6-C85D-45B0-A908-EF9003DE11C9}"/>
              </a:ext>
            </a:extLst>
          </p:cNvPr>
          <p:cNvSpPr>
            <a:spLocks noGrp="1"/>
          </p:cNvSpPr>
          <p:nvPr>
            <p:ph type="title"/>
          </p:nvPr>
        </p:nvSpPr>
        <p:spPr>
          <a:xfrm>
            <a:off x="838200" y="136526"/>
            <a:ext cx="10515600" cy="566684"/>
          </a:xfrm>
        </p:spPr>
        <p:txBody>
          <a:bodyPr>
            <a:normAutofit/>
          </a:bodyPr>
          <a:lstStyle/>
          <a:p>
            <a:pPr algn="ctr"/>
            <a:r>
              <a:rPr lang="en-US" sz="3200" b="1" dirty="0"/>
              <a:t>Assisted living facility type I</a:t>
            </a:r>
          </a:p>
        </p:txBody>
      </p:sp>
      <p:sp>
        <p:nvSpPr>
          <p:cNvPr id="3" name="Content Placeholder 2">
            <a:extLst>
              <a:ext uri="{FF2B5EF4-FFF2-40B4-BE49-F238E27FC236}">
                <a16:creationId xmlns:a16="http://schemas.microsoft.com/office/drawing/2014/main" xmlns="" id="{E9EB6B13-2A54-4131-8289-F8307CA7ED9A}"/>
              </a:ext>
            </a:extLst>
          </p:cNvPr>
          <p:cNvSpPr>
            <a:spLocks noGrp="1"/>
          </p:cNvSpPr>
          <p:nvPr>
            <p:ph idx="1"/>
          </p:nvPr>
        </p:nvSpPr>
        <p:spPr>
          <a:xfrm>
            <a:off x="838200" y="882596"/>
            <a:ext cx="11030146" cy="5294367"/>
          </a:xfrm>
        </p:spPr>
        <p:txBody>
          <a:bodyPr>
            <a:normAutofit lnSpcReduction="10000"/>
          </a:bodyPr>
          <a:lstStyle/>
          <a:p>
            <a:pPr>
              <a:lnSpc>
                <a:spcPct val="150000"/>
              </a:lnSpc>
            </a:pPr>
            <a:r>
              <a:rPr lang="en-US" dirty="0"/>
              <a:t>Resident lives in a licensed facility that provides safe and clean living accommodations and three meals a day. </a:t>
            </a:r>
          </a:p>
          <a:p>
            <a:pPr>
              <a:lnSpc>
                <a:spcPct val="150000"/>
              </a:lnSpc>
            </a:pPr>
            <a:r>
              <a:rPr lang="en-US" dirty="0"/>
              <a:t>Resident may require minimal assistance with ADLs, including significant assistance with up to two ADLs. </a:t>
            </a:r>
          </a:p>
          <a:p>
            <a:pPr>
              <a:lnSpc>
                <a:spcPct val="150000"/>
              </a:lnSpc>
            </a:pPr>
            <a:r>
              <a:rPr lang="en-US" dirty="0"/>
              <a:t>Resident must be able to evacuate the facility under his own power (be mobile). </a:t>
            </a:r>
          </a:p>
          <a:p>
            <a:pPr>
              <a:lnSpc>
                <a:spcPct val="150000"/>
              </a:lnSpc>
            </a:pPr>
            <a:r>
              <a:rPr lang="en-US" dirty="0"/>
              <a:t>Resident must have stable health and free from any communicable disease. </a:t>
            </a:r>
          </a:p>
        </p:txBody>
      </p:sp>
      <p:sp>
        <p:nvSpPr>
          <p:cNvPr id="4" name="Date Placeholder 3">
            <a:extLst>
              <a:ext uri="{FF2B5EF4-FFF2-40B4-BE49-F238E27FC236}">
                <a16:creationId xmlns:a16="http://schemas.microsoft.com/office/drawing/2014/main" xmlns="" id="{249E56DC-E5F3-4AC6-80F4-75D02D6B0303}"/>
              </a:ext>
            </a:extLst>
          </p:cNvPr>
          <p:cNvSpPr>
            <a:spLocks noGrp="1"/>
          </p:cNvSpPr>
          <p:nvPr>
            <p:ph type="dt" sz="half" idx="10"/>
          </p:nvPr>
        </p:nvSpPr>
        <p:spPr/>
        <p:txBody>
          <a:bodyPr/>
          <a:lstStyle/>
          <a:p>
            <a:fld id="{387FA66B-1EC4-40B3-A3B6-B53F05E4D68E}" type="datetime1">
              <a:rPr lang="en-US" smtClean="0"/>
              <a:t>5/5/2022</a:t>
            </a:fld>
            <a:endParaRPr lang="en-US"/>
          </a:p>
        </p:txBody>
      </p:sp>
      <p:sp>
        <p:nvSpPr>
          <p:cNvPr id="5" name="Slide Number Placeholder 4">
            <a:extLst>
              <a:ext uri="{FF2B5EF4-FFF2-40B4-BE49-F238E27FC236}">
                <a16:creationId xmlns:a16="http://schemas.microsoft.com/office/drawing/2014/main" xmlns="" id="{36F09F02-F047-450E-A5B8-A349786BD100}"/>
              </a:ext>
            </a:extLst>
          </p:cNvPr>
          <p:cNvSpPr>
            <a:spLocks noGrp="1"/>
          </p:cNvSpPr>
          <p:nvPr>
            <p:ph type="sldNum" sz="quarter" idx="12"/>
          </p:nvPr>
        </p:nvSpPr>
        <p:spPr/>
        <p:txBody>
          <a:bodyPr/>
          <a:lstStyle/>
          <a:p>
            <a:fld id="{B92AFB71-4BE5-44E7-9108-3062C0C91BA0}" type="slidenum">
              <a:rPr lang="en-US" smtClean="0"/>
              <a:t>97</a:t>
            </a:fld>
            <a:endParaRPr lang="en-US"/>
          </a:p>
        </p:txBody>
      </p:sp>
    </p:spTree>
    <p:extLst>
      <p:ext uri="{BB962C8B-B14F-4D97-AF65-F5344CB8AC3E}">
        <p14:creationId xmlns:p14="http://schemas.microsoft.com/office/powerpoint/2010/main" val="63733879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1DC18D-91E4-473C-9257-881BC33755DD}"/>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08864C7-CE53-4A75-8170-F7BCCB7069FA}"/>
              </a:ext>
            </a:extLst>
          </p:cNvPr>
          <p:cNvSpPr>
            <a:spLocks noGrp="1"/>
          </p:cNvSpPr>
          <p:nvPr>
            <p:ph idx="1"/>
          </p:nvPr>
        </p:nvSpPr>
        <p:spPr>
          <a:xfrm>
            <a:off x="838200" y="681038"/>
            <a:ext cx="10515600" cy="5495925"/>
          </a:xfrm>
        </p:spPr>
        <p:txBody>
          <a:bodyPr/>
          <a:lstStyle/>
          <a:p>
            <a:pPr>
              <a:lnSpc>
                <a:spcPct val="150000"/>
              </a:lnSpc>
            </a:pPr>
            <a:r>
              <a:rPr lang="en-US" dirty="0"/>
              <a:t>Resident may receive assistance with medications or have medications administered by a nurse. </a:t>
            </a:r>
          </a:p>
          <a:p>
            <a:pPr>
              <a:lnSpc>
                <a:spcPct val="150000"/>
              </a:lnSpc>
            </a:pPr>
            <a:r>
              <a:rPr lang="en-US" dirty="0"/>
              <a:t> Resident may receive home health services through individual contract with home health agency. </a:t>
            </a:r>
          </a:p>
          <a:p>
            <a:pPr>
              <a:lnSpc>
                <a:spcPct val="150000"/>
              </a:lnSpc>
            </a:pPr>
            <a:r>
              <a:rPr lang="en-US" dirty="0"/>
              <a:t> Resident receives 24-hour general monitoring, 7 days a week. </a:t>
            </a:r>
          </a:p>
          <a:p>
            <a:pPr>
              <a:lnSpc>
                <a:spcPct val="150000"/>
              </a:lnSpc>
            </a:pPr>
            <a:r>
              <a:rPr lang="en-US" dirty="0"/>
              <a:t>Resident may receive general nursing care according to facility policy.  Resident participates in developing a service plan</a:t>
            </a:r>
          </a:p>
          <a:p>
            <a:endParaRPr lang="en-US" dirty="0"/>
          </a:p>
        </p:txBody>
      </p:sp>
      <p:sp>
        <p:nvSpPr>
          <p:cNvPr id="4" name="Date Placeholder 3">
            <a:extLst>
              <a:ext uri="{FF2B5EF4-FFF2-40B4-BE49-F238E27FC236}">
                <a16:creationId xmlns:a16="http://schemas.microsoft.com/office/drawing/2014/main" xmlns="" id="{7F37C0DC-22A8-4912-8CF1-01DC9463611F}"/>
              </a:ext>
            </a:extLst>
          </p:cNvPr>
          <p:cNvSpPr>
            <a:spLocks noGrp="1"/>
          </p:cNvSpPr>
          <p:nvPr>
            <p:ph type="dt" sz="half" idx="10"/>
          </p:nvPr>
        </p:nvSpPr>
        <p:spPr/>
        <p:txBody>
          <a:bodyPr/>
          <a:lstStyle/>
          <a:p>
            <a:fld id="{62281631-A775-44BD-964A-D920FF19BB01}" type="datetime1">
              <a:rPr lang="en-US" smtClean="0"/>
              <a:t>5/5/2022</a:t>
            </a:fld>
            <a:endParaRPr lang="en-US"/>
          </a:p>
        </p:txBody>
      </p:sp>
      <p:sp>
        <p:nvSpPr>
          <p:cNvPr id="5" name="Slide Number Placeholder 4">
            <a:extLst>
              <a:ext uri="{FF2B5EF4-FFF2-40B4-BE49-F238E27FC236}">
                <a16:creationId xmlns:a16="http://schemas.microsoft.com/office/drawing/2014/main" xmlns="" id="{B425FD56-0735-4852-930D-38849A1FA99F}"/>
              </a:ext>
            </a:extLst>
          </p:cNvPr>
          <p:cNvSpPr>
            <a:spLocks noGrp="1"/>
          </p:cNvSpPr>
          <p:nvPr>
            <p:ph type="sldNum" sz="quarter" idx="12"/>
          </p:nvPr>
        </p:nvSpPr>
        <p:spPr/>
        <p:txBody>
          <a:bodyPr/>
          <a:lstStyle/>
          <a:p>
            <a:fld id="{B92AFB71-4BE5-44E7-9108-3062C0C91BA0}" type="slidenum">
              <a:rPr lang="en-US" smtClean="0"/>
              <a:t>98</a:t>
            </a:fld>
            <a:endParaRPr lang="en-US"/>
          </a:p>
        </p:txBody>
      </p:sp>
    </p:spTree>
    <p:extLst>
      <p:ext uri="{BB962C8B-B14F-4D97-AF65-F5344CB8AC3E}">
        <p14:creationId xmlns:p14="http://schemas.microsoft.com/office/powerpoint/2010/main" val="32866826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E4B98C-3EA5-44DC-81C1-44985CDFF743}"/>
              </a:ext>
            </a:extLst>
          </p:cNvPr>
          <p:cNvSpPr>
            <a:spLocks noGrp="1"/>
          </p:cNvSpPr>
          <p:nvPr>
            <p:ph type="title"/>
          </p:nvPr>
        </p:nvSpPr>
        <p:spPr>
          <a:xfrm>
            <a:off x="838200" y="365125"/>
            <a:ext cx="10515600" cy="437957"/>
          </a:xfrm>
        </p:spPr>
        <p:txBody>
          <a:bodyPr>
            <a:normAutofit fontScale="90000"/>
          </a:bodyPr>
          <a:lstStyle/>
          <a:p>
            <a:pPr algn="ctr"/>
            <a:r>
              <a:rPr lang="en-US" sz="3200" b="1" dirty="0"/>
              <a:t>Assisted living facility type II </a:t>
            </a:r>
          </a:p>
        </p:txBody>
      </p:sp>
      <p:sp>
        <p:nvSpPr>
          <p:cNvPr id="3" name="Content Placeholder 2">
            <a:extLst>
              <a:ext uri="{FF2B5EF4-FFF2-40B4-BE49-F238E27FC236}">
                <a16:creationId xmlns:a16="http://schemas.microsoft.com/office/drawing/2014/main" xmlns="" id="{1BA7CA80-534C-4844-B857-F207566876A5}"/>
              </a:ext>
            </a:extLst>
          </p:cNvPr>
          <p:cNvSpPr>
            <a:spLocks noGrp="1"/>
          </p:cNvSpPr>
          <p:nvPr>
            <p:ph idx="1"/>
          </p:nvPr>
        </p:nvSpPr>
        <p:spPr>
          <a:xfrm>
            <a:off x="838200" y="725864"/>
            <a:ext cx="10515600" cy="5451099"/>
          </a:xfrm>
        </p:spPr>
        <p:txBody>
          <a:bodyPr/>
          <a:lstStyle/>
          <a:p>
            <a:pPr>
              <a:lnSpc>
                <a:spcPct val="150000"/>
              </a:lnSpc>
            </a:pPr>
            <a:r>
              <a:rPr lang="en-US" dirty="0"/>
              <a:t>Resident lives in a licensed facility, permits aging in place. </a:t>
            </a:r>
          </a:p>
          <a:p>
            <a:pPr>
              <a:lnSpc>
                <a:spcPct val="150000"/>
              </a:lnSpc>
            </a:pPr>
            <a:r>
              <a:rPr lang="en-US" dirty="0"/>
              <a:t>Resident may receive full assistance with ADLs. </a:t>
            </a:r>
          </a:p>
          <a:p>
            <a:pPr>
              <a:lnSpc>
                <a:spcPct val="150000"/>
              </a:lnSpc>
            </a:pPr>
            <a:r>
              <a:rPr lang="en-US" dirty="0"/>
              <a:t>Resident may be semi-independent and may require the assist of one person for transfers or to evacuate the facility. </a:t>
            </a:r>
          </a:p>
          <a:p>
            <a:pPr>
              <a:lnSpc>
                <a:spcPct val="150000"/>
              </a:lnSpc>
            </a:pPr>
            <a:r>
              <a:rPr lang="en-US" dirty="0"/>
              <a:t> Resident may receive assistance with medication or have medications administered by a nurse. </a:t>
            </a:r>
          </a:p>
          <a:p>
            <a:pPr>
              <a:lnSpc>
                <a:spcPct val="150000"/>
              </a:lnSpc>
            </a:pPr>
            <a:r>
              <a:rPr lang="en-US" dirty="0"/>
              <a:t> Resident receives general nursing care from facility staff</a:t>
            </a:r>
          </a:p>
        </p:txBody>
      </p:sp>
      <p:sp>
        <p:nvSpPr>
          <p:cNvPr id="4" name="Date Placeholder 3">
            <a:extLst>
              <a:ext uri="{FF2B5EF4-FFF2-40B4-BE49-F238E27FC236}">
                <a16:creationId xmlns:a16="http://schemas.microsoft.com/office/drawing/2014/main" xmlns="" id="{1B4A10A8-182E-48C0-881E-8327A54DC3D3}"/>
              </a:ext>
            </a:extLst>
          </p:cNvPr>
          <p:cNvSpPr>
            <a:spLocks noGrp="1"/>
          </p:cNvSpPr>
          <p:nvPr>
            <p:ph type="dt" sz="half" idx="10"/>
          </p:nvPr>
        </p:nvSpPr>
        <p:spPr/>
        <p:txBody>
          <a:bodyPr/>
          <a:lstStyle/>
          <a:p>
            <a:fld id="{92420E2C-C41C-44DD-8207-EEE672EB6EEE}" type="datetime1">
              <a:rPr lang="en-US" smtClean="0"/>
              <a:t>5/5/2022</a:t>
            </a:fld>
            <a:endParaRPr lang="en-US"/>
          </a:p>
        </p:txBody>
      </p:sp>
      <p:sp>
        <p:nvSpPr>
          <p:cNvPr id="5" name="Slide Number Placeholder 4">
            <a:extLst>
              <a:ext uri="{FF2B5EF4-FFF2-40B4-BE49-F238E27FC236}">
                <a16:creationId xmlns:a16="http://schemas.microsoft.com/office/drawing/2014/main" xmlns="" id="{A1C7739C-75C2-4DBD-A996-D5949B18D54B}"/>
              </a:ext>
            </a:extLst>
          </p:cNvPr>
          <p:cNvSpPr>
            <a:spLocks noGrp="1"/>
          </p:cNvSpPr>
          <p:nvPr>
            <p:ph type="sldNum" sz="quarter" idx="12"/>
          </p:nvPr>
        </p:nvSpPr>
        <p:spPr/>
        <p:txBody>
          <a:bodyPr/>
          <a:lstStyle/>
          <a:p>
            <a:fld id="{B92AFB71-4BE5-44E7-9108-3062C0C91BA0}" type="slidenum">
              <a:rPr lang="en-US" smtClean="0"/>
              <a:t>99</a:t>
            </a:fld>
            <a:endParaRPr lang="en-US"/>
          </a:p>
        </p:txBody>
      </p:sp>
    </p:spTree>
    <p:extLst>
      <p:ext uri="{BB962C8B-B14F-4D97-AF65-F5344CB8AC3E}">
        <p14:creationId xmlns:p14="http://schemas.microsoft.com/office/powerpoint/2010/main" val="40059344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84082E-5F91-4143-84C2-93FD90523513}"/>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808B8DB7-D220-4B3B-BA5F-D991BE172BD3}"/>
              </a:ext>
            </a:extLst>
          </p:cNvPr>
          <p:cNvSpPr>
            <a:spLocks noGrp="1"/>
          </p:cNvSpPr>
          <p:nvPr>
            <p:ph idx="1"/>
          </p:nvPr>
        </p:nvSpPr>
        <p:spPr>
          <a:xfrm>
            <a:off x="838200" y="681038"/>
            <a:ext cx="10515600" cy="5495925"/>
          </a:xfrm>
        </p:spPr>
        <p:txBody>
          <a:bodyPr/>
          <a:lstStyle/>
          <a:p>
            <a:pPr>
              <a:lnSpc>
                <a:spcPct val="150000"/>
              </a:lnSpc>
            </a:pPr>
            <a:r>
              <a:rPr lang="en-US" dirty="0"/>
              <a:t>Resident must be free of communicable diseases that could be transmitted to others through the normal course of activities. </a:t>
            </a:r>
          </a:p>
          <a:p>
            <a:pPr>
              <a:lnSpc>
                <a:spcPct val="150000"/>
              </a:lnSpc>
            </a:pPr>
            <a:r>
              <a:rPr lang="en-US" dirty="0"/>
              <a:t> Resident receives 24 hour individualized personal and health-related services, 7 days a week. </a:t>
            </a:r>
          </a:p>
          <a:p>
            <a:pPr>
              <a:lnSpc>
                <a:spcPct val="150000"/>
              </a:lnSpc>
            </a:pPr>
            <a:r>
              <a:rPr lang="en-US" dirty="0"/>
              <a:t>Resident may receive home health services through individual contract with a home health agency. </a:t>
            </a:r>
          </a:p>
          <a:p>
            <a:pPr>
              <a:lnSpc>
                <a:spcPct val="150000"/>
              </a:lnSpc>
            </a:pPr>
            <a:r>
              <a:rPr lang="en-US" dirty="0"/>
              <a:t> Resident participates in developing a service plan</a:t>
            </a:r>
          </a:p>
        </p:txBody>
      </p:sp>
      <p:sp>
        <p:nvSpPr>
          <p:cNvPr id="4" name="Date Placeholder 3">
            <a:extLst>
              <a:ext uri="{FF2B5EF4-FFF2-40B4-BE49-F238E27FC236}">
                <a16:creationId xmlns:a16="http://schemas.microsoft.com/office/drawing/2014/main" xmlns="" id="{1617E8A2-96FB-49AE-968F-1E810F6F56C1}"/>
              </a:ext>
            </a:extLst>
          </p:cNvPr>
          <p:cNvSpPr>
            <a:spLocks noGrp="1"/>
          </p:cNvSpPr>
          <p:nvPr>
            <p:ph type="dt" sz="half" idx="10"/>
          </p:nvPr>
        </p:nvSpPr>
        <p:spPr/>
        <p:txBody>
          <a:bodyPr/>
          <a:lstStyle/>
          <a:p>
            <a:fld id="{4830D4E4-5331-4E1C-93AF-6A8BD8BC3A17}" type="datetime1">
              <a:rPr lang="en-US" smtClean="0"/>
              <a:t>5/5/2022</a:t>
            </a:fld>
            <a:endParaRPr lang="en-US"/>
          </a:p>
        </p:txBody>
      </p:sp>
      <p:sp>
        <p:nvSpPr>
          <p:cNvPr id="5" name="Slide Number Placeholder 4">
            <a:extLst>
              <a:ext uri="{FF2B5EF4-FFF2-40B4-BE49-F238E27FC236}">
                <a16:creationId xmlns:a16="http://schemas.microsoft.com/office/drawing/2014/main" xmlns="" id="{030ADBD4-6465-4CA1-BCC8-AFE36FF55C70}"/>
              </a:ext>
            </a:extLst>
          </p:cNvPr>
          <p:cNvSpPr>
            <a:spLocks noGrp="1"/>
          </p:cNvSpPr>
          <p:nvPr>
            <p:ph type="sldNum" sz="quarter" idx="12"/>
          </p:nvPr>
        </p:nvSpPr>
        <p:spPr/>
        <p:txBody>
          <a:bodyPr/>
          <a:lstStyle/>
          <a:p>
            <a:fld id="{B92AFB71-4BE5-44E7-9108-3062C0C91BA0}" type="slidenum">
              <a:rPr lang="en-US" smtClean="0"/>
              <a:t>100</a:t>
            </a:fld>
            <a:endParaRPr lang="en-US"/>
          </a:p>
        </p:txBody>
      </p:sp>
    </p:spTree>
    <p:extLst>
      <p:ext uri="{BB962C8B-B14F-4D97-AF65-F5344CB8AC3E}">
        <p14:creationId xmlns:p14="http://schemas.microsoft.com/office/powerpoint/2010/main" val="29058323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2CC934-4A43-4A24-A4DF-B288AEE142D4}"/>
              </a:ext>
            </a:extLst>
          </p:cNvPr>
          <p:cNvSpPr>
            <a:spLocks noGrp="1"/>
          </p:cNvSpPr>
          <p:nvPr>
            <p:ph type="title"/>
          </p:nvPr>
        </p:nvSpPr>
        <p:spPr>
          <a:xfrm>
            <a:off x="838200" y="136526"/>
            <a:ext cx="10515600" cy="693034"/>
          </a:xfrm>
        </p:spPr>
        <p:txBody>
          <a:bodyPr>
            <a:normAutofit fontScale="90000"/>
          </a:bodyPr>
          <a:lstStyle/>
          <a:p>
            <a:pPr algn="ctr"/>
            <a:r>
              <a:rPr lang="en-US" sz="3200" b="1" dirty="0"/>
              <a:t>Small health care facility - type n - (limited to three persons)</a:t>
            </a:r>
          </a:p>
        </p:txBody>
      </p:sp>
      <p:sp>
        <p:nvSpPr>
          <p:cNvPr id="3" name="Content Placeholder 2">
            <a:extLst>
              <a:ext uri="{FF2B5EF4-FFF2-40B4-BE49-F238E27FC236}">
                <a16:creationId xmlns:a16="http://schemas.microsoft.com/office/drawing/2014/main" xmlns="" id="{BAEB248F-9D98-4329-80B4-3FA5DBAE3101}"/>
              </a:ext>
            </a:extLst>
          </p:cNvPr>
          <p:cNvSpPr>
            <a:spLocks noGrp="1"/>
          </p:cNvSpPr>
          <p:nvPr>
            <p:ph idx="1"/>
          </p:nvPr>
        </p:nvSpPr>
        <p:spPr>
          <a:xfrm>
            <a:off x="838200" y="735292"/>
            <a:ext cx="10515600" cy="5441672"/>
          </a:xfrm>
        </p:spPr>
        <p:txBody>
          <a:bodyPr>
            <a:normAutofit/>
          </a:bodyPr>
          <a:lstStyle/>
          <a:p>
            <a:pPr>
              <a:lnSpc>
                <a:spcPct val="150000"/>
              </a:lnSpc>
            </a:pPr>
            <a:r>
              <a:rPr lang="en-US" dirty="0"/>
              <a:t>Resident lives in a licensed home occupied by the owner or operator.</a:t>
            </a:r>
          </a:p>
          <a:p>
            <a:pPr>
              <a:lnSpc>
                <a:spcPct val="150000"/>
              </a:lnSpc>
            </a:pPr>
            <a:r>
              <a:rPr lang="en-US" dirty="0"/>
              <a:t>Resident receives supervised nursing care on a daily basis from a written plan of care. </a:t>
            </a:r>
          </a:p>
          <a:p>
            <a:pPr>
              <a:lnSpc>
                <a:spcPct val="150000"/>
              </a:lnSpc>
            </a:pPr>
            <a:r>
              <a:rPr lang="en-US" dirty="0"/>
              <a:t>Resident receives assistance with medications or receives medication administration by a nurse. </a:t>
            </a:r>
          </a:p>
          <a:p>
            <a:pPr>
              <a:lnSpc>
                <a:spcPct val="150000"/>
              </a:lnSpc>
            </a:pPr>
            <a:r>
              <a:rPr lang="en-US" dirty="0"/>
              <a:t>Resident must be free of communicable diseases and does not require 24 hour nursing care or inpatient</a:t>
            </a:r>
          </a:p>
        </p:txBody>
      </p:sp>
      <p:sp>
        <p:nvSpPr>
          <p:cNvPr id="4" name="Date Placeholder 3">
            <a:extLst>
              <a:ext uri="{FF2B5EF4-FFF2-40B4-BE49-F238E27FC236}">
                <a16:creationId xmlns:a16="http://schemas.microsoft.com/office/drawing/2014/main" xmlns="" id="{DA927F59-E1EF-4D62-9DB5-E213F41C420D}"/>
              </a:ext>
            </a:extLst>
          </p:cNvPr>
          <p:cNvSpPr>
            <a:spLocks noGrp="1"/>
          </p:cNvSpPr>
          <p:nvPr>
            <p:ph type="dt" sz="half" idx="10"/>
          </p:nvPr>
        </p:nvSpPr>
        <p:spPr/>
        <p:txBody>
          <a:bodyPr/>
          <a:lstStyle/>
          <a:p>
            <a:fld id="{271A7F89-25FC-473A-9C55-8444E096DF96}" type="datetime1">
              <a:rPr lang="en-US" smtClean="0"/>
              <a:t>5/5/2022</a:t>
            </a:fld>
            <a:endParaRPr lang="en-US"/>
          </a:p>
        </p:txBody>
      </p:sp>
      <p:sp>
        <p:nvSpPr>
          <p:cNvPr id="5" name="Slide Number Placeholder 4">
            <a:extLst>
              <a:ext uri="{FF2B5EF4-FFF2-40B4-BE49-F238E27FC236}">
                <a16:creationId xmlns:a16="http://schemas.microsoft.com/office/drawing/2014/main" xmlns="" id="{88B48F84-AA18-4812-804C-5BAE54CD5FAD}"/>
              </a:ext>
            </a:extLst>
          </p:cNvPr>
          <p:cNvSpPr>
            <a:spLocks noGrp="1"/>
          </p:cNvSpPr>
          <p:nvPr>
            <p:ph type="sldNum" sz="quarter" idx="12"/>
          </p:nvPr>
        </p:nvSpPr>
        <p:spPr/>
        <p:txBody>
          <a:bodyPr/>
          <a:lstStyle/>
          <a:p>
            <a:fld id="{B92AFB71-4BE5-44E7-9108-3062C0C91BA0}" type="slidenum">
              <a:rPr lang="en-US" smtClean="0"/>
              <a:t>101</a:t>
            </a:fld>
            <a:endParaRPr lang="en-US"/>
          </a:p>
        </p:txBody>
      </p:sp>
    </p:spTree>
    <p:extLst>
      <p:ext uri="{BB962C8B-B14F-4D97-AF65-F5344CB8AC3E}">
        <p14:creationId xmlns:p14="http://schemas.microsoft.com/office/powerpoint/2010/main" val="305374197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DEFDD4-5BE0-4564-8101-56BDF91BAFA2}"/>
              </a:ext>
            </a:extLst>
          </p:cNvPr>
          <p:cNvSpPr>
            <a:spLocks noGrp="1"/>
          </p:cNvSpPr>
          <p:nvPr>
            <p:ph type="title"/>
          </p:nvPr>
        </p:nvSpPr>
        <p:spPr>
          <a:xfrm>
            <a:off x="838200" y="136525"/>
            <a:ext cx="10515600" cy="849437"/>
          </a:xfrm>
        </p:spPr>
        <p:txBody>
          <a:bodyPr>
            <a:normAutofit/>
          </a:bodyPr>
          <a:lstStyle/>
          <a:p>
            <a:pPr algn="ctr"/>
            <a:r>
              <a:rPr lang="en-US" sz="3200" b="1" dirty="0"/>
              <a:t>Intermediate care facilities/nursing facilities</a:t>
            </a:r>
          </a:p>
        </p:txBody>
      </p:sp>
      <p:sp>
        <p:nvSpPr>
          <p:cNvPr id="3" name="Content Placeholder 2">
            <a:extLst>
              <a:ext uri="{FF2B5EF4-FFF2-40B4-BE49-F238E27FC236}">
                <a16:creationId xmlns:a16="http://schemas.microsoft.com/office/drawing/2014/main" xmlns="" id="{2DA95B03-0B57-415E-897D-392EC46C0878}"/>
              </a:ext>
            </a:extLst>
          </p:cNvPr>
          <p:cNvSpPr>
            <a:spLocks noGrp="1"/>
          </p:cNvSpPr>
          <p:nvPr>
            <p:ph idx="1"/>
          </p:nvPr>
        </p:nvSpPr>
        <p:spPr>
          <a:xfrm>
            <a:off x="838200" y="820132"/>
            <a:ext cx="10515600" cy="5356831"/>
          </a:xfrm>
        </p:spPr>
        <p:txBody>
          <a:bodyPr>
            <a:normAutofit/>
          </a:bodyPr>
          <a:lstStyle/>
          <a:p>
            <a:pPr>
              <a:lnSpc>
                <a:spcPct val="150000"/>
              </a:lnSpc>
            </a:pPr>
            <a:r>
              <a:rPr lang="en-US" dirty="0"/>
              <a:t>Resident lives in a licensed facility that provides 24 hour inpatient care to residents who need licensed </a:t>
            </a:r>
          </a:p>
          <a:p>
            <a:pPr>
              <a:lnSpc>
                <a:spcPct val="150000"/>
              </a:lnSpc>
            </a:pPr>
            <a:r>
              <a:rPr lang="en-US" dirty="0"/>
              <a:t>Nursing supervision and supportive care, but do not require continuous nursing care. </a:t>
            </a:r>
          </a:p>
          <a:p>
            <a:pPr>
              <a:lnSpc>
                <a:spcPct val="150000"/>
              </a:lnSpc>
            </a:pPr>
            <a:r>
              <a:rPr lang="en-US" dirty="0"/>
              <a:t>Resident may be semi-independent or dependent. </a:t>
            </a:r>
          </a:p>
          <a:p>
            <a:pPr>
              <a:lnSpc>
                <a:spcPct val="150000"/>
              </a:lnSpc>
            </a:pPr>
            <a:r>
              <a:rPr lang="en-US" dirty="0"/>
              <a:t>Resident may receive full assist with ADL. </a:t>
            </a:r>
          </a:p>
          <a:p>
            <a:pPr>
              <a:lnSpc>
                <a:spcPct val="150000"/>
              </a:lnSpc>
            </a:pPr>
            <a:r>
              <a:rPr lang="en-US" dirty="0"/>
              <a:t>Resident may receive full assist with transfers. </a:t>
            </a:r>
          </a:p>
        </p:txBody>
      </p:sp>
      <p:sp>
        <p:nvSpPr>
          <p:cNvPr id="4" name="Date Placeholder 3">
            <a:extLst>
              <a:ext uri="{FF2B5EF4-FFF2-40B4-BE49-F238E27FC236}">
                <a16:creationId xmlns:a16="http://schemas.microsoft.com/office/drawing/2014/main" xmlns="" id="{0D6FFB21-0CFA-4126-A3CD-EB6F22A13446}"/>
              </a:ext>
            </a:extLst>
          </p:cNvPr>
          <p:cNvSpPr>
            <a:spLocks noGrp="1"/>
          </p:cNvSpPr>
          <p:nvPr>
            <p:ph type="dt" sz="half" idx="10"/>
          </p:nvPr>
        </p:nvSpPr>
        <p:spPr/>
        <p:txBody>
          <a:bodyPr/>
          <a:lstStyle/>
          <a:p>
            <a:fld id="{D23690F6-535E-4675-8270-9A1C342ECBF2}" type="datetime1">
              <a:rPr lang="en-US" smtClean="0"/>
              <a:t>5/5/2022</a:t>
            </a:fld>
            <a:endParaRPr lang="en-US"/>
          </a:p>
        </p:txBody>
      </p:sp>
      <p:sp>
        <p:nvSpPr>
          <p:cNvPr id="5" name="Slide Number Placeholder 4">
            <a:extLst>
              <a:ext uri="{FF2B5EF4-FFF2-40B4-BE49-F238E27FC236}">
                <a16:creationId xmlns:a16="http://schemas.microsoft.com/office/drawing/2014/main" xmlns="" id="{57F62385-D62A-43C7-B7BD-B3CF36DCEE91}"/>
              </a:ext>
            </a:extLst>
          </p:cNvPr>
          <p:cNvSpPr>
            <a:spLocks noGrp="1"/>
          </p:cNvSpPr>
          <p:nvPr>
            <p:ph type="sldNum" sz="quarter" idx="12"/>
          </p:nvPr>
        </p:nvSpPr>
        <p:spPr/>
        <p:txBody>
          <a:bodyPr/>
          <a:lstStyle/>
          <a:p>
            <a:fld id="{B92AFB71-4BE5-44E7-9108-3062C0C91BA0}" type="slidenum">
              <a:rPr lang="en-US" smtClean="0"/>
              <a:t>102</a:t>
            </a:fld>
            <a:endParaRPr lang="en-US"/>
          </a:p>
        </p:txBody>
      </p:sp>
    </p:spTree>
    <p:extLst>
      <p:ext uri="{BB962C8B-B14F-4D97-AF65-F5344CB8AC3E}">
        <p14:creationId xmlns:p14="http://schemas.microsoft.com/office/powerpoint/2010/main" val="34066473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CBD3B3-6450-40C9-B55C-2942DD50658E}"/>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8B775ECE-24A6-475E-B852-440649FD22FA}"/>
              </a:ext>
            </a:extLst>
          </p:cNvPr>
          <p:cNvSpPr>
            <a:spLocks noGrp="1"/>
          </p:cNvSpPr>
          <p:nvPr>
            <p:ph idx="1"/>
          </p:nvPr>
        </p:nvSpPr>
        <p:spPr>
          <a:xfrm>
            <a:off x="697584" y="365126"/>
            <a:ext cx="11373392" cy="5811837"/>
          </a:xfrm>
        </p:spPr>
        <p:txBody>
          <a:bodyPr>
            <a:normAutofit fontScale="92500"/>
          </a:bodyPr>
          <a:lstStyle/>
          <a:p>
            <a:pPr>
              <a:lnSpc>
                <a:spcPct val="150000"/>
              </a:lnSpc>
            </a:pPr>
            <a:r>
              <a:rPr lang="en-US" sz="3200" dirty="0"/>
              <a:t>Resident receives medications from a nurse following a doctor‘s order.</a:t>
            </a:r>
          </a:p>
          <a:p>
            <a:pPr>
              <a:lnSpc>
                <a:spcPct val="150000"/>
              </a:lnSpc>
            </a:pPr>
            <a:r>
              <a:rPr lang="en-US" sz="3200" dirty="0"/>
              <a:t>Resident may receive outpatient rehab services. </a:t>
            </a:r>
          </a:p>
          <a:p>
            <a:pPr>
              <a:lnSpc>
                <a:spcPct val="150000"/>
              </a:lnSpc>
            </a:pPr>
            <a:r>
              <a:rPr lang="en-US" sz="3200" dirty="0"/>
              <a:t>Facility provides licensed nursing coverage 8 hours a day for facilities with less than 35 beds and 16 </a:t>
            </a:r>
          </a:p>
          <a:p>
            <a:pPr>
              <a:lnSpc>
                <a:spcPct val="150000"/>
              </a:lnSpc>
            </a:pPr>
            <a:r>
              <a:rPr lang="en-US" sz="3200" dirty="0"/>
              <a:t>Hours for facilities with 35 or more beds.</a:t>
            </a:r>
          </a:p>
          <a:p>
            <a:pPr>
              <a:lnSpc>
                <a:spcPct val="150000"/>
              </a:lnSpc>
            </a:pPr>
            <a:r>
              <a:rPr lang="en-US" sz="3200" dirty="0"/>
              <a:t>Facilities have run as consultant. </a:t>
            </a:r>
          </a:p>
          <a:p>
            <a:pPr>
              <a:lnSpc>
                <a:spcPct val="150000"/>
              </a:lnSpc>
            </a:pPr>
            <a:r>
              <a:rPr lang="en-US" sz="3200" dirty="0"/>
              <a:t>Resident receives periodic assessments by a licensed practitioner.</a:t>
            </a:r>
          </a:p>
        </p:txBody>
      </p:sp>
      <p:sp>
        <p:nvSpPr>
          <p:cNvPr id="4" name="Date Placeholder 3">
            <a:extLst>
              <a:ext uri="{FF2B5EF4-FFF2-40B4-BE49-F238E27FC236}">
                <a16:creationId xmlns:a16="http://schemas.microsoft.com/office/drawing/2014/main" xmlns="" id="{9B50CA6B-0C60-4CD5-A26E-4336B59B72E7}"/>
              </a:ext>
            </a:extLst>
          </p:cNvPr>
          <p:cNvSpPr>
            <a:spLocks noGrp="1"/>
          </p:cNvSpPr>
          <p:nvPr>
            <p:ph type="dt" sz="half" idx="10"/>
          </p:nvPr>
        </p:nvSpPr>
        <p:spPr/>
        <p:txBody>
          <a:bodyPr/>
          <a:lstStyle/>
          <a:p>
            <a:fld id="{35FAF850-4419-4055-BADB-002577CD3BAD}" type="datetime1">
              <a:rPr lang="en-US" smtClean="0"/>
              <a:t>5/5/2022</a:t>
            </a:fld>
            <a:endParaRPr lang="en-US"/>
          </a:p>
        </p:txBody>
      </p:sp>
      <p:sp>
        <p:nvSpPr>
          <p:cNvPr id="5" name="Slide Number Placeholder 4">
            <a:extLst>
              <a:ext uri="{FF2B5EF4-FFF2-40B4-BE49-F238E27FC236}">
                <a16:creationId xmlns:a16="http://schemas.microsoft.com/office/drawing/2014/main" xmlns="" id="{EF1281AF-520F-4D13-ACC6-C8B5E9035C32}"/>
              </a:ext>
            </a:extLst>
          </p:cNvPr>
          <p:cNvSpPr>
            <a:spLocks noGrp="1"/>
          </p:cNvSpPr>
          <p:nvPr>
            <p:ph type="sldNum" sz="quarter" idx="12"/>
          </p:nvPr>
        </p:nvSpPr>
        <p:spPr/>
        <p:txBody>
          <a:bodyPr/>
          <a:lstStyle/>
          <a:p>
            <a:fld id="{B92AFB71-4BE5-44E7-9108-3062C0C91BA0}" type="slidenum">
              <a:rPr lang="en-US" smtClean="0"/>
              <a:t>103</a:t>
            </a:fld>
            <a:endParaRPr lang="en-US"/>
          </a:p>
        </p:txBody>
      </p:sp>
    </p:spTree>
    <p:extLst>
      <p:ext uri="{BB962C8B-B14F-4D97-AF65-F5344CB8AC3E}">
        <p14:creationId xmlns:p14="http://schemas.microsoft.com/office/powerpoint/2010/main" val="256492929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792019-326D-4F78-A45B-4F9BCC8DB261}"/>
              </a:ext>
            </a:extLst>
          </p:cNvPr>
          <p:cNvSpPr>
            <a:spLocks noGrp="1"/>
          </p:cNvSpPr>
          <p:nvPr>
            <p:ph type="title"/>
          </p:nvPr>
        </p:nvSpPr>
        <p:spPr>
          <a:xfrm>
            <a:off x="838200" y="365126"/>
            <a:ext cx="10515600" cy="517470"/>
          </a:xfrm>
        </p:spPr>
        <p:txBody>
          <a:bodyPr>
            <a:normAutofit fontScale="90000"/>
          </a:bodyPr>
          <a:lstStyle/>
          <a:p>
            <a:pPr algn="ctr"/>
            <a:r>
              <a:rPr lang="en-US" sz="3200" b="1" dirty="0"/>
              <a:t>Hospital</a:t>
            </a:r>
          </a:p>
        </p:txBody>
      </p:sp>
      <p:sp>
        <p:nvSpPr>
          <p:cNvPr id="3" name="Content Placeholder 2">
            <a:extLst>
              <a:ext uri="{FF2B5EF4-FFF2-40B4-BE49-F238E27FC236}">
                <a16:creationId xmlns:a16="http://schemas.microsoft.com/office/drawing/2014/main" xmlns="" id="{8DB44248-FADE-47CF-8F72-0052E990DADF}"/>
              </a:ext>
            </a:extLst>
          </p:cNvPr>
          <p:cNvSpPr>
            <a:spLocks noGrp="1"/>
          </p:cNvSpPr>
          <p:nvPr>
            <p:ph idx="1"/>
          </p:nvPr>
        </p:nvSpPr>
        <p:spPr>
          <a:xfrm>
            <a:off x="838200" y="882596"/>
            <a:ext cx="10515600" cy="5294367"/>
          </a:xfrm>
        </p:spPr>
        <p:txBody>
          <a:bodyPr/>
          <a:lstStyle/>
          <a:p>
            <a:pPr>
              <a:lnSpc>
                <a:spcPct val="150000"/>
              </a:lnSpc>
            </a:pPr>
            <a:r>
              <a:rPr lang="en-US" dirty="0"/>
              <a:t>Patient is admitted to a licensed facility for a short term for a condition that requires treatment. </a:t>
            </a:r>
          </a:p>
          <a:p>
            <a:pPr>
              <a:lnSpc>
                <a:spcPct val="150000"/>
              </a:lnSpc>
            </a:pPr>
            <a:r>
              <a:rPr lang="en-US" dirty="0"/>
              <a:t>Patient receives 24 hour RN care. </a:t>
            </a:r>
          </a:p>
          <a:p>
            <a:pPr>
              <a:lnSpc>
                <a:spcPct val="150000"/>
              </a:lnSpc>
            </a:pPr>
            <a:r>
              <a:rPr lang="en-US" dirty="0"/>
              <a:t>Patient may receive rehab services either inpatient or outpatient.</a:t>
            </a:r>
          </a:p>
          <a:p>
            <a:pPr>
              <a:lnSpc>
                <a:spcPct val="150000"/>
              </a:lnSpc>
            </a:pPr>
            <a:r>
              <a:rPr lang="en-US" dirty="0"/>
              <a:t>Patient may be dependent and require full assist with ADLs. </a:t>
            </a:r>
          </a:p>
          <a:p>
            <a:pPr>
              <a:lnSpc>
                <a:spcPct val="150000"/>
              </a:lnSpc>
            </a:pPr>
            <a:r>
              <a:rPr lang="en-US" dirty="0"/>
              <a:t>Patient receives medications by an RN according to licensed practitioner‘s orders.</a:t>
            </a:r>
          </a:p>
        </p:txBody>
      </p:sp>
      <p:sp>
        <p:nvSpPr>
          <p:cNvPr id="4" name="Date Placeholder 3">
            <a:extLst>
              <a:ext uri="{FF2B5EF4-FFF2-40B4-BE49-F238E27FC236}">
                <a16:creationId xmlns:a16="http://schemas.microsoft.com/office/drawing/2014/main" xmlns="" id="{3F4980BF-28C4-4DE5-85FD-114A6EA8CF54}"/>
              </a:ext>
            </a:extLst>
          </p:cNvPr>
          <p:cNvSpPr>
            <a:spLocks noGrp="1"/>
          </p:cNvSpPr>
          <p:nvPr>
            <p:ph type="dt" sz="half" idx="10"/>
          </p:nvPr>
        </p:nvSpPr>
        <p:spPr/>
        <p:txBody>
          <a:bodyPr/>
          <a:lstStyle/>
          <a:p>
            <a:fld id="{F5F13557-DFE3-438F-85A3-C1AA62E80C0E}" type="datetime1">
              <a:rPr lang="en-US" smtClean="0"/>
              <a:t>5/5/2022</a:t>
            </a:fld>
            <a:endParaRPr lang="en-US"/>
          </a:p>
        </p:txBody>
      </p:sp>
      <p:sp>
        <p:nvSpPr>
          <p:cNvPr id="5" name="Slide Number Placeholder 4">
            <a:extLst>
              <a:ext uri="{FF2B5EF4-FFF2-40B4-BE49-F238E27FC236}">
                <a16:creationId xmlns:a16="http://schemas.microsoft.com/office/drawing/2014/main" xmlns="" id="{72CA65AF-7421-48B2-A438-1EBD2949BE7B}"/>
              </a:ext>
            </a:extLst>
          </p:cNvPr>
          <p:cNvSpPr>
            <a:spLocks noGrp="1"/>
          </p:cNvSpPr>
          <p:nvPr>
            <p:ph type="sldNum" sz="quarter" idx="12"/>
          </p:nvPr>
        </p:nvSpPr>
        <p:spPr/>
        <p:txBody>
          <a:bodyPr/>
          <a:lstStyle/>
          <a:p>
            <a:fld id="{B92AFB71-4BE5-44E7-9108-3062C0C91BA0}" type="slidenum">
              <a:rPr lang="en-US" smtClean="0"/>
              <a:t>104</a:t>
            </a:fld>
            <a:endParaRPr lang="en-US"/>
          </a:p>
        </p:txBody>
      </p:sp>
    </p:spTree>
    <p:extLst>
      <p:ext uri="{BB962C8B-B14F-4D97-AF65-F5344CB8AC3E}">
        <p14:creationId xmlns:p14="http://schemas.microsoft.com/office/powerpoint/2010/main" val="26998192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1783BD-A7B6-493A-AC3E-DAAC0974D2C6}"/>
              </a:ext>
            </a:extLst>
          </p:cNvPr>
          <p:cNvSpPr>
            <a:spLocks noGrp="1"/>
          </p:cNvSpPr>
          <p:nvPr>
            <p:ph type="title"/>
          </p:nvPr>
        </p:nvSpPr>
        <p:spPr>
          <a:xfrm>
            <a:off x="838200" y="365126"/>
            <a:ext cx="10515600" cy="787814"/>
          </a:xfrm>
        </p:spPr>
        <p:txBody>
          <a:bodyPr>
            <a:normAutofit/>
          </a:bodyPr>
          <a:lstStyle/>
          <a:p>
            <a:pPr algn="ctr"/>
            <a:r>
              <a:rPr lang="en-US" sz="3200" b="1" dirty="0"/>
              <a:t>Skilled nursing facility</a:t>
            </a:r>
          </a:p>
        </p:txBody>
      </p:sp>
      <p:sp>
        <p:nvSpPr>
          <p:cNvPr id="3" name="Content Placeholder 2">
            <a:extLst>
              <a:ext uri="{FF2B5EF4-FFF2-40B4-BE49-F238E27FC236}">
                <a16:creationId xmlns:a16="http://schemas.microsoft.com/office/drawing/2014/main" xmlns="" id="{7AF49D21-B51D-4D83-B179-F5D924F18FDC}"/>
              </a:ext>
            </a:extLst>
          </p:cNvPr>
          <p:cNvSpPr>
            <a:spLocks noGrp="1"/>
          </p:cNvSpPr>
          <p:nvPr>
            <p:ph idx="1"/>
          </p:nvPr>
        </p:nvSpPr>
        <p:spPr>
          <a:xfrm>
            <a:off x="838200" y="942680"/>
            <a:ext cx="10515600" cy="5234283"/>
          </a:xfrm>
        </p:spPr>
        <p:txBody>
          <a:bodyPr/>
          <a:lstStyle/>
          <a:p>
            <a:pPr>
              <a:lnSpc>
                <a:spcPct val="150000"/>
              </a:lnSpc>
            </a:pPr>
            <a:r>
              <a:rPr lang="en-US" dirty="0"/>
              <a:t>Resident lives in a licensed facility that provides 24 hour licensed nursing services, eight hour of which is  coverage.</a:t>
            </a:r>
          </a:p>
          <a:p>
            <a:pPr>
              <a:lnSpc>
                <a:spcPct val="150000"/>
              </a:lnSpc>
            </a:pPr>
            <a:r>
              <a:rPr lang="en-US" dirty="0"/>
              <a:t> Resident may be dependent and require total assistance with ADLS</a:t>
            </a:r>
          </a:p>
          <a:p>
            <a:pPr>
              <a:lnSpc>
                <a:spcPct val="150000"/>
              </a:lnSpc>
            </a:pPr>
            <a:r>
              <a:rPr lang="en-US" dirty="0"/>
              <a:t>Resident receives medications by a nurse according to a licensed practitioners order. </a:t>
            </a:r>
          </a:p>
          <a:p>
            <a:pPr>
              <a:lnSpc>
                <a:spcPct val="150000"/>
              </a:lnSpc>
            </a:pPr>
            <a:r>
              <a:rPr lang="en-US" dirty="0"/>
              <a:t>Resident receives required rehab services by the facility.</a:t>
            </a:r>
          </a:p>
        </p:txBody>
      </p:sp>
      <p:sp>
        <p:nvSpPr>
          <p:cNvPr id="4" name="Date Placeholder 3">
            <a:extLst>
              <a:ext uri="{FF2B5EF4-FFF2-40B4-BE49-F238E27FC236}">
                <a16:creationId xmlns:a16="http://schemas.microsoft.com/office/drawing/2014/main" xmlns="" id="{51AC2754-7E70-4088-8C1D-941B40C69BB3}"/>
              </a:ext>
            </a:extLst>
          </p:cNvPr>
          <p:cNvSpPr>
            <a:spLocks noGrp="1"/>
          </p:cNvSpPr>
          <p:nvPr>
            <p:ph type="dt" sz="half" idx="10"/>
          </p:nvPr>
        </p:nvSpPr>
        <p:spPr/>
        <p:txBody>
          <a:bodyPr/>
          <a:lstStyle/>
          <a:p>
            <a:fld id="{9F7F7B81-2FE0-4F7B-AEA4-2F3832F4DE44}" type="datetime1">
              <a:rPr lang="en-US" smtClean="0"/>
              <a:t>5/5/2022</a:t>
            </a:fld>
            <a:endParaRPr lang="en-US"/>
          </a:p>
        </p:txBody>
      </p:sp>
      <p:sp>
        <p:nvSpPr>
          <p:cNvPr id="5" name="Slide Number Placeholder 4">
            <a:extLst>
              <a:ext uri="{FF2B5EF4-FFF2-40B4-BE49-F238E27FC236}">
                <a16:creationId xmlns:a16="http://schemas.microsoft.com/office/drawing/2014/main" xmlns="" id="{07E0D9BE-3100-428D-9FC9-8008930BCF6C}"/>
              </a:ext>
            </a:extLst>
          </p:cNvPr>
          <p:cNvSpPr>
            <a:spLocks noGrp="1"/>
          </p:cNvSpPr>
          <p:nvPr>
            <p:ph type="sldNum" sz="quarter" idx="12"/>
          </p:nvPr>
        </p:nvSpPr>
        <p:spPr/>
        <p:txBody>
          <a:bodyPr/>
          <a:lstStyle/>
          <a:p>
            <a:fld id="{B92AFB71-4BE5-44E7-9108-3062C0C91BA0}" type="slidenum">
              <a:rPr lang="en-US" smtClean="0"/>
              <a:t>105</a:t>
            </a:fld>
            <a:endParaRPr lang="en-US"/>
          </a:p>
        </p:txBody>
      </p:sp>
    </p:spTree>
    <p:extLst>
      <p:ext uri="{BB962C8B-B14F-4D97-AF65-F5344CB8AC3E}">
        <p14:creationId xmlns:p14="http://schemas.microsoft.com/office/powerpoint/2010/main" val="90859155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F82FA8-DF42-41AB-A1A1-B1BF7F53A222}"/>
              </a:ext>
            </a:extLst>
          </p:cNvPr>
          <p:cNvSpPr>
            <a:spLocks noGrp="1"/>
          </p:cNvSpPr>
          <p:nvPr>
            <p:ph type="title"/>
          </p:nvPr>
        </p:nvSpPr>
        <p:spPr>
          <a:xfrm>
            <a:off x="838200" y="122549"/>
            <a:ext cx="10515600" cy="558488"/>
          </a:xfrm>
        </p:spPr>
        <p:txBody>
          <a:bodyPr>
            <a:normAutofit/>
          </a:bodyPr>
          <a:lstStyle/>
          <a:p>
            <a:pPr algn="ctr"/>
            <a:r>
              <a:rPr lang="en-US" sz="3200" b="1" dirty="0"/>
              <a:t>Levels of geriatric care</a:t>
            </a:r>
          </a:p>
        </p:txBody>
      </p:sp>
      <p:sp>
        <p:nvSpPr>
          <p:cNvPr id="3" name="Content Placeholder 2">
            <a:extLst>
              <a:ext uri="{FF2B5EF4-FFF2-40B4-BE49-F238E27FC236}">
                <a16:creationId xmlns:a16="http://schemas.microsoft.com/office/drawing/2014/main" xmlns="" id="{10CFEFBB-99D3-4ACD-9675-EEE795C7FA81}"/>
              </a:ext>
            </a:extLst>
          </p:cNvPr>
          <p:cNvSpPr>
            <a:spLocks noGrp="1"/>
          </p:cNvSpPr>
          <p:nvPr>
            <p:ph idx="1"/>
          </p:nvPr>
        </p:nvSpPr>
        <p:spPr>
          <a:xfrm>
            <a:off x="838200" y="584462"/>
            <a:ext cx="11114988" cy="5592501"/>
          </a:xfrm>
        </p:spPr>
        <p:txBody>
          <a:bodyPr>
            <a:normAutofit/>
          </a:bodyPr>
          <a:lstStyle/>
          <a:p>
            <a:pPr>
              <a:lnSpc>
                <a:spcPct val="150000"/>
              </a:lnSpc>
            </a:pPr>
            <a:r>
              <a:rPr lang="en-US" sz="3200" b="1" dirty="0"/>
              <a:t>LEVEL 0: </a:t>
            </a:r>
            <a:r>
              <a:rPr lang="en-US" sz="3200" dirty="0"/>
              <a:t>Requires hospitalization. Needs can be met through normal ward care e.g. intravenous therapy, observations required less frequently than 4 hourly.</a:t>
            </a:r>
          </a:p>
          <a:p>
            <a:pPr>
              <a:lnSpc>
                <a:spcPct val="150000"/>
              </a:lnSpc>
            </a:pPr>
            <a:r>
              <a:rPr lang="en-US" sz="3200" b="1" dirty="0"/>
              <a:t>LEVEL 1: </a:t>
            </a:r>
            <a:r>
              <a:rPr lang="en-US" sz="3200" dirty="0"/>
              <a:t>Patients recently discharged from a higher level of care. Patients in need of additional monitoring/clinical interventions, clinical input or advice.</a:t>
            </a:r>
          </a:p>
        </p:txBody>
      </p:sp>
      <p:sp>
        <p:nvSpPr>
          <p:cNvPr id="4" name="Date Placeholder 3">
            <a:extLst>
              <a:ext uri="{FF2B5EF4-FFF2-40B4-BE49-F238E27FC236}">
                <a16:creationId xmlns:a16="http://schemas.microsoft.com/office/drawing/2014/main" xmlns="" id="{8FD615F8-B61D-4A86-A04C-00D6A52B591D}"/>
              </a:ext>
            </a:extLst>
          </p:cNvPr>
          <p:cNvSpPr>
            <a:spLocks noGrp="1"/>
          </p:cNvSpPr>
          <p:nvPr>
            <p:ph type="dt" sz="half" idx="10"/>
          </p:nvPr>
        </p:nvSpPr>
        <p:spPr/>
        <p:txBody>
          <a:bodyPr/>
          <a:lstStyle/>
          <a:p>
            <a:fld id="{0A46B13E-B2A5-4029-8ED9-D668CFB9506B}" type="datetime1">
              <a:rPr lang="en-US" smtClean="0"/>
              <a:t>5/5/2022</a:t>
            </a:fld>
            <a:endParaRPr lang="en-US"/>
          </a:p>
        </p:txBody>
      </p:sp>
      <p:sp>
        <p:nvSpPr>
          <p:cNvPr id="5" name="Slide Number Placeholder 4">
            <a:extLst>
              <a:ext uri="{FF2B5EF4-FFF2-40B4-BE49-F238E27FC236}">
                <a16:creationId xmlns:a16="http://schemas.microsoft.com/office/drawing/2014/main" xmlns="" id="{65BC400C-68A2-4F67-8233-2D4F07A15EDE}"/>
              </a:ext>
            </a:extLst>
          </p:cNvPr>
          <p:cNvSpPr>
            <a:spLocks noGrp="1"/>
          </p:cNvSpPr>
          <p:nvPr>
            <p:ph type="sldNum" sz="quarter" idx="12"/>
          </p:nvPr>
        </p:nvSpPr>
        <p:spPr/>
        <p:txBody>
          <a:bodyPr/>
          <a:lstStyle/>
          <a:p>
            <a:fld id="{B92AFB71-4BE5-44E7-9108-3062C0C91BA0}" type="slidenum">
              <a:rPr lang="en-US" smtClean="0"/>
              <a:t>106</a:t>
            </a:fld>
            <a:endParaRPr lang="en-US"/>
          </a:p>
        </p:txBody>
      </p:sp>
    </p:spTree>
    <p:extLst>
      <p:ext uri="{BB962C8B-B14F-4D97-AF65-F5344CB8AC3E}">
        <p14:creationId xmlns:p14="http://schemas.microsoft.com/office/powerpoint/2010/main" val="17755135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99A875-F543-4366-A140-D32532C4A10E}"/>
              </a:ext>
            </a:extLst>
          </p:cNvPr>
          <p:cNvSpPr>
            <a:spLocks noGrp="1"/>
          </p:cNvSpPr>
          <p:nvPr>
            <p:ph type="title"/>
          </p:nvPr>
        </p:nvSpPr>
        <p:spPr>
          <a:xfrm>
            <a:off x="838200" y="94268"/>
            <a:ext cx="10515600" cy="20739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4844E8B6-4A82-43E6-8A59-A151674570EE}"/>
              </a:ext>
            </a:extLst>
          </p:cNvPr>
          <p:cNvSpPr>
            <a:spLocks noGrp="1"/>
          </p:cNvSpPr>
          <p:nvPr>
            <p:ph idx="1"/>
          </p:nvPr>
        </p:nvSpPr>
        <p:spPr>
          <a:xfrm>
            <a:off x="838199" y="575035"/>
            <a:ext cx="11133841" cy="5601928"/>
          </a:xfrm>
        </p:spPr>
        <p:txBody>
          <a:bodyPr>
            <a:normAutofit/>
          </a:bodyPr>
          <a:lstStyle/>
          <a:p>
            <a:pPr marL="0" indent="0">
              <a:lnSpc>
                <a:spcPct val="150000"/>
              </a:lnSpc>
              <a:buNone/>
            </a:pPr>
            <a:r>
              <a:rPr lang="en-US" sz="3200" b="1" dirty="0"/>
              <a:t>LEVEL 2: </a:t>
            </a:r>
            <a:r>
              <a:rPr lang="en-US" sz="3200" dirty="0"/>
              <a:t>Patients needing pre-operative optimization. Patients needing extended postoperative care Patients stepping down to Level 2 care from Level 3. Patients receiving Basic Respiratory Support. Patients receiving Advanced Cardiovascular Support. Patients receiving Renal Support. Patients receiving Neurological Support.</a:t>
            </a:r>
          </a:p>
        </p:txBody>
      </p:sp>
      <p:sp>
        <p:nvSpPr>
          <p:cNvPr id="4" name="Date Placeholder 3">
            <a:extLst>
              <a:ext uri="{FF2B5EF4-FFF2-40B4-BE49-F238E27FC236}">
                <a16:creationId xmlns:a16="http://schemas.microsoft.com/office/drawing/2014/main" xmlns="" id="{0DCAADAC-1C06-4CC9-AC71-0D6EE1B655B2}"/>
              </a:ext>
            </a:extLst>
          </p:cNvPr>
          <p:cNvSpPr>
            <a:spLocks noGrp="1"/>
          </p:cNvSpPr>
          <p:nvPr>
            <p:ph type="dt" sz="half" idx="10"/>
          </p:nvPr>
        </p:nvSpPr>
        <p:spPr/>
        <p:txBody>
          <a:bodyPr/>
          <a:lstStyle/>
          <a:p>
            <a:fld id="{AD4062F0-8645-49DC-B658-86A68B8FB966}" type="datetime1">
              <a:rPr lang="en-US" smtClean="0"/>
              <a:t>5/5/2022</a:t>
            </a:fld>
            <a:endParaRPr lang="en-US"/>
          </a:p>
        </p:txBody>
      </p:sp>
      <p:sp>
        <p:nvSpPr>
          <p:cNvPr id="5" name="Slide Number Placeholder 4">
            <a:extLst>
              <a:ext uri="{FF2B5EF4-FFF2-40B4-BE49-F238E27FC236}">
                <a16:creationId xmlns:a16="http://schemas.microsoft.com/office/drawing/2014/main" xmlns="" id="{2F243457-D330-4E25-8E38-4C0CB50387BC}"/>
              </a:ext>
            </a:extLst>
          </p:cNvPr>
          <p:cNvSpPr>
            <a:spLocks noGrp="1"/>
          </p:cNvSpPr>
          <p:nvPr>
            <p:ph type="sldNum" sz="quarter" idx="12"/>
          </p:nvPr>
        </p:nvSpPr>
        <p:spPr/>
        <p:txBody>
          <a:bodyPr/>
          <a:lstStyle/>
          <a:p>
            <a:fld id="{B92AFB71-4BE5-44E7-9108-3062C0C91BA0}" type="slidenum">
              <a:rPr lang="en-US" smtClean="0"/>
              <a:t>107</a:t>
            </a:fld>
            <a:endParaRPr lang="en-US"/>
          </a:p>
        </p:txBody>
      </p:sp>
    </p:spTree>
    <p:extLst>
      <p:ext uri="{BB962C8B-B14F-4D97-AF65-F5344CB8AC3E}">
        <p14:creationId xmlns:p14="http://schemas.microsoft.com/office/powerpoint/2010/main" val="152410184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F2359B-7AAC-46E4-8E53-2E2F2283FCE1}"/>
              </a:ext>
            </a:extLst>
          </p:cNvPr>
          <p:cNvSpPr>
            <a:spLocks noGrp="1"/>
          </p:cNvSpPr>
          <p:nvPr>
            <p:ph type="title"/>
          </p:nvPr>
        </p:nvSpPr>
        <p:spPr>
          <a:xfrm>
            <a:off x="838200" y="1"/>
            <a:ext cx="10515600" cy="30165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C3FD161E-86DC-4A9D-868F-E8CEFE69F2B9}"/>
              </a:ext>
            </a:extLst>
          </p:cNvPr>
          <p:cNvSpPr>
            <a:spLocks noGrp="1"/>
          </p:cNvSpPr>
          <p:nvPr>
            <p:ph idx="1"/>
          </p:nvPr>
        </p:nvSpPr>
        <p:spPr>
          <a:xfrm>
            <a:off x="631597" y="301658"/>
            <a:ext cx="11312164" cy="5875305"/>
          </a:xfrm>
        </p:spPr>
        <p:txBody>
          <a:bodyPr>
            <a:normAutofit/>
          </a:bodyPr>
          <a:lstStyle/>
          <a:p>
            <a:pPr marL="0" indent="0">
              <a:lnSpc>
                <a:spcPct val="150000"/>
              </a:lnSpc>
              <a:buNone/>
            </a:pPr>
            <a:r>
              <a:rPr lang="en-US" b="1" dirty="0"/>
              <a:t>LEVEL 3: </a:t>
            </a:r>
            <a:r>
              <a:rPr lang="en-US" dirty="0"/>
              <a:t>Patients receiving Advanced Respiratory Support alone.</a:t>
            </a:r>
          </a:p>
          <a:p>
            <a:pPr marL="0" indent="0">
              <a:lnSpc>
                <a:spcPct val="150000"/>
              </a:lnSpc>
              <a:buNone/>
            </a:pPr>
            <a:r>
              <a:rPr lang="en-US" dirty="0"/>
              <a:t> Indicated by one of the following: </a:t>
            </a:r>
          </a:p>
          <a:p>
            <a:pPr marL="0" indent="0">
              <a:lnSpc>
                <a:spcPct val="150000"/>
              </a:lnSpc>
              <a:buNone/>
            </a:pPr>
            <a:r>
              <a:rPr lang="en-US" dirty="0"/>
              <a:t> Invasive mechanical ventilator support applied via a trans laryngeal tracheal tube or applied via a tracheostomy. </a:t>
            </a:r>
          </a:p>
          <a:p>
            <a:pPr marL="0" indent="0">
              <a:lnSpc>
                <a:spcPct val="150000"/>
              </a:lnSpc>
              <a:buNone/>
            </a:pPr>
            <a:r>
              <a:rPr lang="en-US" dirty="0"/>
              <a:t>Bi-level positive airway pressure applied via a trans-laryngeal tracheal tube or applied via a tracheostomy </a:t>
            </a:r>
          </a:p>
          <a:p>
            <a:pPr marL="0" indent="0">
              <a:lnSpc>
                <a:spcPct val="150000"/>
              </a:lnSpc>
              <a:buNone/>
            </a:pPr>
            <a:r>
              <a:rPr lang="en-US" dirty="0"/>
              <a:t>CPAP via a trans-laryngeal tracheal tube. Extracorporeal respiratory support</a:t>
            </a:r>
          </a:p>
        </p:txBody>
      </p:sp>
      <p:sp>
        <p:nvSpPr>
          <p:cNvPr id="4" name="Date Placeholder 3">
            <a:extLst>
              <a:ext uri="{FF2B5EF4-FFF2-40B4-BE49-F238E27FC236}">
                <a16:creationId xmlns:a16="http://schemas.microsoft.com/office/drawing/2014/main" xmlns="" id="{54F6F066-500A-4274-BFDD-263FA681AEF0}"/>
              </a:ext>
            </a:extLst>
          </p:cNvPr>
          <p:cNvSpPr>
            <a:spLocks noGrp="1"/>
          </p:cNvSpPr>
          <p:nvPr>
            <p:ph type="dt" sz="half" idx="10"/>
          </p:nvPr>
        </p:nvSpPr>
        <p:spPr/>
        <p:txBody>
          <a:bodyPr/>
          <a:lstStyle/>
          <a:p>
            <a:fld id="{C3EE2432-D681-4CB6-A6E7-65D2BC33B128}" type="datetime1">
              <a:rPr lang="en-US" smtClean="0"/>
              <a:t>5/5/2022</a:t>
            </a:fld>
            <a:endParaRPr lang="en-US"/>
          </a:p>
        </p:txBody>
      </p:sp>
      <p:sp>
        <p:nvSpPr>
          <p:cNvPr id="5" name="Slide Number Placeholder 4">
            <a:extLst>
              <a:ext uri="{FF2B5EF4-FFF2-40B4-BE49-F238E27FC236}">
                <a16:creationId xmlns:a16="http://schemas.microsoft.com/office/drawing/2014/main" xmlns="" id="{F55D0A29-CC7C-43F2-A61E-277B84FD9041}"/>
              </a:ext>
            </a:extLst>
          </p:cNvPr>
          <p:cNvSpPr>
            <a:spLocks noGrp="1"/>
          </p:cNvSpPr>
          <p:nvPr>
            <p:ph type="sldNum" sz="quarter" idx="12"/>
          </p:nvPr>
        </p:nvSpPr>
        <p:spPr/>
        <p:txBody>
          <a:bodyPr/>
          <a:lstStyle/>
          <a:p>
            <a:fld id="{B92AFB71-4BE5-44E7-9108-3062C0C91BA0}" type="slidenum">
              <a:rPr lang="en-US" smtClean="0"/>
              <a:t>108</a:t>
            </a:fld>
            <a:endParaRPr lang="en-US"/>
          </a:p>
        </p:txBody>
      </p:sp>
    </p:spTree>
    <p:extLst>
      <p:ext uri="{BB962C8B-B14F-4D97-AF65-F5344CB8AC3E}">
        <p14:creationId xmlns:p14="http://schemas.microsoft.com/office/powerpoint/2010/main" val="214421899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64B80F-7D11-4362-AD19-E76759C2BAA5}"/>
              </a:ext>
            </a:extLst>
          </p:cNvPr>
          <p:cNvSpPr>
            <a:spLocks noGrp="1"/>
          </p:cNvSpPr>
          <p:nvPr>
            <p:ph type="title"/>
          </p:nvPr>
        </p:nvSpPr>
        <p:spPr>
          <a:xfrm>
            <a:off x="838200" y="79513"/>
            <a:ext cx="10515600" cy="866692"/>
          </a:xfrm>
        </p:spPr>
        <p:txBody>
          <a:bodyPr>
            <a:normAutofit/>
          </a:bodyPr>
          <a:lstStyle/>
          <a:p>
            <a:r>
              <a:rPr lang="en-US" b="1" dirty="0"/>
              <a:t>Role of a nurse in care of the elderly </a:t>
            </a:r>
            <a:endParaRPr lang="en-US" dirty="0"/>
          </a:p>
        </p:txBody>
      </p:sp>
      <p:sp>
        <p:nvSpPr>
          <p:cNvPr id="3" name="Content Placeholder 2">
            <a:extLst>
              <a:ext uri="{FF2B5EF4-FFF2-40B4-BE49-F238E27FC236}">
                <a16:creationId xmlns:a16="http://schemas.microsoft.com/office/drawing/2014/main" xmlns="" id="{F37AF60F-6C0A-4F9E-B771-61C5CF0E5D67}"/>
              </a:ext>
            </a:extLst>
          </p:cNvPr>
          <p:cNvSpPr>
            <a:spLocks noGrp="1"/>
          </p:cNvSpPr>
          <p:nvPr>
            <p:ph idx="1"/>
          </p:nvPr>
        </p:nvSpPr>
        <p:spPr>
          <a:xfrm>
            <a:off x="527901" y="763571"/>
            <a:ext cx="11444140" cy="5413392"/>
          </a:xfrm>
        </p:spPr>
        <p:txBody>
          <a:bodyPr/>
          <a:lstStyle/>
          <a:p>
            <a:pPr>
              <a:lnSpc>
                <a:spcPct val="150000"/>
              </a:lnSpc>
            </a:pPr>
            <a:r>
              <a:rPr lang="en-US" dirty="0"/>
              <a:t>Nursing interventions are aimed at maintaining the patient‘s physical safety., reducing anxiety and agitation., improving communication., promoting independence in self-care activities., providing for the patient‘s needs for socialization, self-esteem, and intimacy., maintaining adequate nutrition., managing sleep pattern disturbances., and supporting and educating family care givers. Research has demonstrated that when the nurse can provide such support, older adults are able to maintain higher levels of perceived and actual health. </a:t>
            </a:r>
          </a:p>
        </p:txBody>
      </p:sp>
      <p:sp>
        <p:nvSpPr>
          <p:cNvPr id="4" name="Date Placeholder 3">
            <a:extLst>
              <a:ext uri="{FF2B5EF4-FFF2-40B4-BE49-F238E27FC236}">
                <a16:creationId xmlns:a16="http://schemas.microsoft.com/office/drawing/2014/main" xmlns="" id="{0224AB68-F621-4B23-94C9-EE321B942D19}"/>
              </a:ext>
            </a:extLst>
          </p:cNvPr>
          <p:cNvSpPr>
            <a:spLocks noGrp="1"/>
          </p:cNvSpPr>
          <p:nvPr>
            <p:ph type="dt" sz="half" idx="10"/>
          </p:nvPr>
        </p:nvSpPr>
        <p:spPr/>
        <p:txBody>
          <a:bodyPr/>
          <a:lstStyle/>
          <a:p>
            <a:fld id="{AEC4B171-D392-48AE-BFCB-2E464A28C686}" type="datetime1">
              <a:rPr lang="en-US" smtClean="0"/>
              <a:t>5/5/2022</a:t>
            </a:fld>
            <a:endParaRPr lang="en-US"/>
          </a:p>
        </p:txBody>
      </p:sp>
      <p:sp>
        <p:nvSpPr>
          <p:cNvPr id="5" name="Slide Number Placeholder 4">
            <a:extLst>
              <a:ext uri="{FF2B5EF4-FFF2-40B4-BE49-F238E27FC236}">
                <a16:creationId xmlns:a16="http://schemas.microsoft.com/office/drawing/2014/main" xmlns="" id="{B491C320-20F1-4490-ABED-002D0B5F8077}"/>
              </a:ext>
            </a:extLst>
          </p:cNvPr>
          <p:cNvSpPr>
            <a:spLocks noGrp="1"/>
          </p:cNvSpPr>
          <p:nvPr>
            <p:ph type="sldNum" sz="quarter" idx="12"/>
          </p:nvPr>
        </p:nvSpPr>
        <p:spPr/>
        <p:txBody>
          <a:bodyPr/>
          <a:lstStyle/>
          <a:p>
            <a:fld id="{B92AFB71-4BE5-44E7-9108-3062C0C91BA0}" type="slidenum">
              <a:rPr lang="en-US" smtClean="0"/>
              <a:t>109</a:t>
            </a:fld>
            <a:endParaRPr lang="en-US"/>
          </a:p>
        </p:txBody>
      </p:sp>
    </p:spTree>
    <p:extLst>
      <p:ext uri="{BB962C8B-B14F-4D97-AF65-F5344CB8AC3E}">
        <p14:creationId xmlns:p14="http://schemas.microsoft.com/office/powerpoint/2010/main" val="46420382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81F070-9B47-4B28-91D1-C094A92A0714}"/>
              </a:ext>
            </a:extLst>
          </p:cNvPr>
          <p:cNvSpPr>
            <a:spLocks noGrp="1"/>
          </p:cNvSpPr>
          <p:nvPr>
            <p:ph type="title"/>
          </p:nvPr>
        </p:nvSpPr>
        <p:spPr>
          <a:xfrm>
            <a:off x="838200" y="365126"/>
            <a:ext cx="10515600" cy="106214"/>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73759171-EEB8-44D9-B6C0-BBCEED9C2080}"/>
              </a:ext>
            </a:extLst>
          </p:cNvPr>
          <p:cNvSpPr>
            <a:spLocks noGrp="1"/>
          </p:cNvSpPr>
          <p:nvPr>
            <p:ph idx="1"/>
          </p:nvPr>
        </p:nvSpPr>
        <p:spPr>
          <a:xfrm>
            <a:off x="838200" y="471340"/>
            <a:ext cx="10515600" cy="5705623"/>
          </a:xfrm>
        </p:spPr>
        <p:txBody>
          <a:bodyPr>
            <a:normAutofit/>
          </a:bodyPr>
          <a:lstStyle/>
          <a:p>
            <a:pPr marL="0" indent="0">
              <a:lnSpc>
                <a:spcPct val="150000"/>
              </a:lnSpc>
              <a:buNone/>
            </a:pPr>
            <a:r>
              <a:rPr lang="en-US" b="1" dirty="0"/>
              <a:t>Supporting cognitive function: </a:t>
            </a:r>
            <a:r>
              <a:rPr lang="en-US" dirty="0"/>
              <a:t>As the patient‘s cognitive ability declines, the nurse provides a calm predictable environment that helps the person interpret his or her surroundings and activities. Environmental stimuli are limited, and a regular routine is followed. A quite, pleasant manner of speaking, clear and simple explanations, and use of memory aids and ques help to minimize confusion and disorientation and give the patient a sense of security. </a:t>
            </a:r>
          </a:p>
        </p:txBody>
      </p:sp>
      <p:sp>
        <p:nvSpPr>
          <p:cNvPr id="4" name="Date Placeholder 3">
            <a:extLst>
              <a:ext uri="{FF2B5EF4-FFF2-40B4-BE49-F238E27FC236}">
                <a16:creationId xmlns:a16="http://schemas.microsoft.com/office/drawing/2014/main" xmlns="" id="{72A92D29-FAA6-4D9C-B6BA-C8768B49B434}"/>
              </a:ext>
            </a:extLst>
          </p:cNvPr>
          <p:cNvSpPr>
            <a:spLocks noGrp="1"/>
          </p:cNvSpPr>
          <p:nvPr>
            <p:ph type="dt" sz="half" idx="10"/>
          </p:nvPr>
        </p:nvSpPr>
        <p:spPr/>
        <p:txBody>
          <a:bodyPr/>
          <a:lstStyle/>
          <a:p>
            <a:fld id="{03F39747-392F-49D1-ABB4-5BDCD07655C1}" type="datetime1">
              <a:rPr lang="en-US" smtClean="0"/>
              <a:t>5/5/2022</a:t>
            </a:fld>
            <a:endParaRPr lang="en-US"/>
          </a:p>
        </p:txBody>
      </p:sp>
      <p:sp>
        <p:nvSpPr>
          <p:cNvPr id="5" name="Slide Number Placeholder 4">
            <a:extLst>
              <a:ext uri="{FF2B5EF4-FFF2-40B4-BE49-F238E27FC236}">
                <a16:creationId xmlns:a16="http://schemas.microsoft.com/office/drawing/2014/main" xmlns="" id="{846724BE-D310-480C-BAD6-DA748EA9FB0B}"/>
              </a:ext>
            </a:extLst>
          </p:cNvPr>
          <p:cNvSpPr>
            <a:spLocks noGrp="1"/>
          </p:cNvSpPr>
          <p:nvPr>
            <p:ph type="sldNum" sz="quarter" idx="12"/>
          </p:nvPr>
        </p:nvSpPr>
        <p:spPr/>
        <p:txBody>
          <a:bodyPr/>
          <a:lstStyle/>
          <a:p>
            <a:fld id="{B92AFB71-4BE5-44E7-9108-3062C0C91BA0}" type="slidenum">
              <a:rPr lang="en-US" smtClean="0"/>
              <a:t>110</a:t>
            </a:fld>
            <a:endParaRPr lang="en-US"/>
          </a:p>
        </p:txBody>
      </p:sp>
    </p:spTree>
    <p:extLst>
      <p:ext uri="{BB962C8B-B14F-4D97-AF65-F5344CB8AC3E}">
        <p14:creationId xmlns:p14="http://schemas.microsoft.com/office/powerpoint/2010/main" val="11996396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A1BE29-E458-4312-9BA1-557DD6948721}"/>
              </a:ext>
            </a:extLst>
          </p:cNvPr>
          <p:cNvSpPr>
            <a:spLocks noGrp="1"/>
          </p:cNvSpPr>
          <p:nvPr>
            <p:ph type="title"/>
          </p:nvPr>
        </p:nvSpPr>
        <p:spPr>
          <a:xfrm>
            <a:off x="838200" y="365126"/>
            <a:ext cx="10515600" cy="382298"/>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5A292F3-47DF-42F3-9BCF-3C448FA77AEE}"/>
              </a:ext>
            </a:extLst>
          </p:cNvPr>
          <p:cNvSpPr>
            <a:spLocks noGrp="1"/>
          </p:cNvSpPr>
          <p:nvPr>
            <p:ph idx="1"/>
          </p:nvPr>
        </p:nvSpPr>
        <p:spPr>
          <a:xfrm>
            <a:off x="838200" y="509047"/>
            <a:ext cx="10515600" cy="5667916"/>
          </a:xfrm>
        </p:spPr>
        <p:txBody>
          <a:bodyPr>
            <a:normAutofit lnSpcReduction="10000"/>
          </a:bodyPr>
          <a:lstStyle/>
          <a:p>
            <a:pPr>
              <a:lnSpc>
                <a:spcPct val="150000"/>
              </a:lnSpc>
            </a:pPr>
            <a:r>
              <a:rPr lang="en-US" b="1" dirty="0"/>
              <a:t>Promoting physical safety: </a:t>
            </a:r>
            <a:r>
              <a:rPr lang="en-US" dirty="0"/>
              <a:t>A safe environment allows the patient to move about as freely as possible and relieves the family of constant worry about safety. To prevent falls and other injuries, all obvious hazards are removed. Nightlights are helpful. The patient‘s intake of medications and food is monitored. Smoking is allowed only with supervision. A hazard-free environment allows the patient maximum independence and a sense of autonomy. Because of a short attention span and forgetfulness, wondering </a:t>
            </a:r>
            <a:r>
              <a:rPr lang="en-US" dirty="0" err="1"/>
              <a:t>behaviour</a:t>
            </a:r>
            <a:r>
              <a:rPr lang="en-US" dirty="0"/>
              <a:t> can often be reduced by gently persuading or distracting the patient. </a:t>
            </a:r>
          </a:p>
        </p:txBody>
      </p:sp>
      <p:sp>
        <p:nvSpPr>
          <p:cNvPr id="4" name="Date Placeholder 3">
            <a:extLst>
              <a:ext uri="{FF2B5EF4-FFF2-40B4-BE49-F238E27FC236}">
                <a16:creationId xmlns:a16="http://schemas.microsoft.com/office/drawing/2014/main" xmlns="" id="{1B172F4C-28EC-41DA-997C-14735855848D}"/>
              </a:ext>
            </a:extLst>
          </p:cNvPr>
          <p:cNvSpPr>
            <a:spLocks noGrp="1"/>
          </p:cNvSpPr>
          <p:nvPr>
            <p:ph type="dt" sz="half" idx="10"/>
          </p:nvPr>
        </p:nvSpPr>
        <p:spPr/>
        <p:txBody>
          <a:bodyPr/>
          <a:lstStyle/>
          <a:p>
            <a:fld id="{FC6D0E47-83CD-4750-94BE-E19C46535326}" type="datetime1">
              <a:rPr lang="en-US" smtClean="0"/>
              <a:t>5/5/2022</a:t>
            </a:fld>
            <a:endParaRPr lang="en-US"/>
          </a:p>
        </p:txBody>
      </p:sp>
      <p:sp>
        <p:nvSpPr>
          <p:cNvPr id="5" name="Slide Number Placeholder 4">
            <a:extLst>
              <a:ext uri="{FF2B5EF4-FFF2-40B4-BE49-F238E27FC236}">
                <a16:creationId xmlns:a16="http://schemas.microsoft.com/office/drawing/2014/main" xmlns="" id="{85D9AA5D-DCAE-4B5A-9F06-92486D14837D}"/>
              </a:ext>
            </a:extLst>
          </p:cNvPr>
          <p:cNvSpPr>
            <a:spLocks noGrp="1"/>
          </p:cNvSpPr>
          <p:nvPr>
            <p:ph type="sldNum" sz="quarter" idx="12"/>
          </p:nvPr>
        </p:nvSpPr>
        <p:spPr/>
        <p:txBody>
          <a:bodyPr/>
          <a:lstStyle/>
          <a:p>
            <a:fld id="{B92AFB71-4BE5-44E7-9108-3062C0C91BA0}" type="slidenum">
              <a:rPr lang="en-US" smtClean="0"/>
              <a:t>111</a:t>
            </a:fld>
            <a:endParaRPr lang="en-US"/>
          </a:p>
        </p:txBody>
      </p:sp>
    </p:spTree>
    <p:extLst>
      <p:ext uri="{BB962C8B-B14F-4D97-AF65-F5344CB8AC3E}">
        <p14:creationId xmlns:p14="http://schemas.microsoft.com/office/powerpoint/2010/main" val="3387067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2AE908-71BD-47F7-8F77-E898F994D982}"/>
              </a:ext>
            </a:extLst>
          </p:cNvPr>
          <p:cNvSpPr>
            <a:spLocks noGrp="1"/>
          </p:cNvSpPr>
          <p:nvPr>
            <p:ph type="title"/>
          </p:nvPr>
        </p:nvSpPr>
        <p:spPr>
          <a:xfrm>
            <a:off x="838200" y="365126"/>
            <a:ext cx="10515600" cy="31591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E67DAE1B-69EB-41B0-96F9-1478C59B07B6}"/>
              </a:ext>
            </a:extLst>
          </p:cNvPr>
          <p:cNvSpPr>
            <a:spLocks noGrp="1"/>
          </p:cNvSpPr>
          <p:nvPr>
            <p:ph idx="1"/>
          </p:nvPr>
        </p:nvSpPr>
        <p:spPr>
          <a:xfrm>
            <a:off x="838200" y="471340"/>
            <a:ext cx="10515600" cy="5705623"/>
          </a:xfrm>
        </p:spPr>
        <p:txBody>
          <a:bodyPr/>
          <a:lstStyle/>
          <a:p>
            <a:pPr marL="0" indent="0">
              <a:lnSpc>
                <a:spcPct val="150000"/>
              </a:lnSpc>
              <a:buNone/>
            </a:pPr>
            <a:r>
              <a:rPr lang="en-US" dirty="0"/>
              <a:t> </a:t>
            </a:r>
            <a:r>
              <a:rPr lang="en-US" b="1" dirty="0"/>
              <a:t>Reducing anxiety and agitation: </a:t>
            </a:r>
            <a:r>
              <a:rPr lang="en-US" dirty="0"/>
              <a:t>Despite profound cognitive losses, the patient will, at times, be aware of his or her rapidly diminishing abilities. The patient still need constant emotional support that reinforces a positive self-image. When losses of skills occur, goals are adjusted to fit the patient‘s declining ability. The environment should be kept uncluttered, familiar, and noise free. Excitement and confusion can be upsetting and may precipitate and combative, agitated state known as a catastrophic reaction (over reaction to excessive stimulation)</a:t>
            </a:r>
          </a:p>
        </p:txBody>
      </p:sp>
      <p:sp>
        <p:nvSpPr>
          <p:cNvPr id="4" name="Date Placeholder 3">
            <a:extLst>
              <a:ext uri="{FF2B5EF4-FFF2-40B4-BE49-F238E27FC236}">
                <a16:creationId xmlns:a16="http://schemas.microsoft.com/office/drawing/2014/main" xmlns="" id="{8E9A9A75-2E53-496D-A9F8-F290A3416880}"/>
              </a:ext>
            </a:extLst>
          </p:cNvPr>
          <p:cNvSpPr>
            <a:spLocks noGrp="1"/>
          </p:cNvSpPr>
          <p:nvPr>
            <p:ph type="dt" sz="half" idx="10"/>
          </p:nvPr>
        </p:nvSpPr>
        <p:spPr/>
        <p:txBody>
          <a:bodyPr/>
          <a:lstStyle/>
          <a:p>
            <a:fld id="{48110681-8956-45FF-B48E-608AE2D7210B}" type="datetime1">
              <a:rPr lang="en-US" smtClean="0"/>
              <a:t>5/5/2022</a:t>
            </a:fld>
            <a:endParaRPr lang="en-US"/>
          </a:p>
        </p:txBody>
      </p:sp>
      <p:sp>
        <p:nvSpPr>
          <p:cNvPr id="5" name="Slide Number Placeholder 4">
            <a:extLst>
              <a:ext uri="{FF2B5EF4-FFF2-40B4-BE49-F238E27FC236}">
                <a16:creationId xmlns:a16="http://schemas.microsoft.com/office/drawing/2014/main" xmlns="" id="{048494CD-4C95-4C76-BEE1-80F1131BE427}"/>
              </a:ext>
            </a:extLst>
          </p:cNvPr>
          <p:cNvSpPr>
            <a:spLocks noGrp="1"/>
          </p:cNvSpPr>
          <p:nvPr>
            <p:ph type="sldNum" sz="quarter" idx="12"/>
          </p:nvPr>
        </p:nvSpPr>
        <p:spPr/>
        <p:txBody>
          <a:bodyPr/>
          <a:lstStyle/>
          <a:p>
            <a:fld id="{B92AFB71-4BE5-44E7-9108-3062C0C91BA0}" type="slidenum">
              <a:rPr lang="en-US" smtClean="0"/>
              <a:t>112</a:t>
            </a:fld>
            <a:endParaRPr lang="en-US"/>
          </a:p>
        </p:txBody>
      </p:sp>
    </p:spTree>
    <p:extLst>
      <p:ext uri="{BB962C8B-B14F-4D97-AF65-F5344CB8AC3E}">
        <p14:creationId xmlns:p14="http://schemas.microsoft.com/office/powerpoint/2010/main" val="11748362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2C2A8D-0551-4E8C-BCDD-F5F86BEA3A39}"/>
              </a:ext>
            </a:extLst>
          </p:cNvPr>
          <p:cNvSpPr>
            <a:spLocks noGrp="1"/>
          </p:cNvSpPr>
          <p:nvPr>
            <p:ph type="title"/>
          </p:nvPr>
        </p:nvSpPr>
        <p:spPr>
          <a:xfrm>
            <a:off x="838200" y="365125"/>
            <a:ext cx="10515600" cy="43795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9F630D8C-2AF7-416B-A241-871941F4F36C}"/>
              </a:ext>
            </a:extLst>
          </p:cNvPr>
          <p:cNvSpPr>
            <a:spLocks noGrp="1"/>
          </p:cNvSpPr>
          <p:nvPr>
            <p:ph idx="1"/>
          </p:nvPr>
        </p:nvSpPr>
        <p:spPr>
          <a:xfrm>
            <a:off x="838200" y="1049572"/>
            <a:ext cx="10515600" cy="5127391"/>
          </a:xfrm>
        </p:spPr>
        <p:txBody>
          <a:bodyPr>
            <a:normAutofit/>
          </a:bodyPr>
          <a:lstStyle/>
          <a:p>
            <a:pPr>
              <a:lnSpc>
                <a:spcPct val="150000"/>
              </a:lnSpc>
            </a:pPr>
            <a:r>
              <a:rPr lang="en-US" sz="3200" b="1" dirty="0"/>
              <a:t>Improving communication: </a:t>
            </a:r>
            <a:r>
              <a:rPr lang="en-US" sz="3200" dirty="0"/>
              <a:t>To promote the patient‘s interpretation of messages, the nurse should remain unhurried and reduce noises and distractions. Use of clear, easy to understand sentences to convey messages is essential because patients frequently forget the meaning of words or have difficulty organizing and expressing thoughts</a:t>
            </a:r>
          </a:p>
        </p:txBody>
      </p:sp>
      <p:sp>
        <p:nvSpPr>
          <p:cNvPr id="4" name="Date Placeholder 3">
            <a:extLst>
              <a:ext uri="{FF2B5EF4-FFF2-40B4-BE49-F238E27FC236}">
                <a16:creationId xmlns:a16="http://schemas.microsoft.com/office/drawing/2014/main" xmlns="" id="{7FBC4138-8B6D-416F-A6DE-F7BDF0678148}"/>
              </a:ext>
            </a:extLst>
          </p:cNvPr>
          <p:cNvSpPr>
            <a:spLocks noGrp="1"/>
          </p:cNvSpPr>
          <p:nvPr>
            <p:ph type="dt" sz="half" idx="10"/>
          </p:nvPr>
        </p:nvSpPr>
        <p:spPr/>
        <p:txBody>
          <a:bodyPr/>
          <a:lstStyle/>
          <a:p>
            <a:fld id="{C0A190F3-EF7A-44C9-89AF-62C220A85F12}" type="datetime1">
              <a:rPr lang="en-US" smtClean="0"/>
              <a:t>5/5/2022</a:t>
            </a:fld>
            <a:endParaRPr lang="en-US"/>
          </a:p>
        </p:txBody>
      </p:sp>
      <p:sp>
        <p:nvSpPr>
          <p:cNvPr id="5" name="Slide Number Placeholder 4">
            <a:extLst>
              <a:ext uri="{FF2B5EF4-FFF2-40B4-BE49-F238E27FC236}">
                <a16:creationId xmlns:a16="http://schemas.microsoft.com/office/drawing/2014/main" xmlns="" id="{67203F2B-DA25-4A2C-8221-93E0B721B964}"/>
              </a:ext>
            </a:extLst>
          </p:cNvPr>
          <p:cNvSpPr>
            <a:spLocks noGrp="1"/>
          </p:cNvSpPr>
          <p:nvPr>
            <p:ph type="sldNum" sz="quarter" idx="12"/>
          </p:nvPr>
        </p:nvSpPr>
        <p:spPr/>
        <p:txBody>
          <a:bodyPr/>
          <a:lstStyle/>
          <a:p>
            <a:fld id="{B92AFB71-4BE5-44E7-9108-3062C0C91BA0}" type="slidenum">
              <a:rPr lang="en-US" smtClean="0"/>
              <a:t>113</a:t>
            </a:fld>
            <a:endParaRPr lang="en-US"/>
          </a:p>
        </p:txBody>
      </p:sp>
    </p:spTree>
    <p:extLst>
      <p:ext uri="{BB962C8B-B14F-4D97-AF65-F5344CB8AC3E}">
        <p14:creationId xmlns:p14="http://schemas.microsoft.com/office/powerpoint/2010/main" val="10271529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F13542-73A6-47FF-88CA-355EE6C066F2}"/>
              </a:ext>
            </a:extLst>
          </p:cNvPr>
          <p:cNvSpPr>
            <a:spLocks noGrp="1"/>
          </p:cNvSpPr>
          <p:nvPr>
            <p:ph type="title"/>
          </p:nvPr>
        </p:nvSpPr>
        <p:spPr>
          <a:xfrm>
            <a:off x="838200" y="-63610"/>
            <a:ext cx="10515600" cy="24649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6624BC10-5075-490A-A191-623418970B7F}"/>
              </a:ext>
            </a:extLst>
          </p:cNvPr>
          <p:cNvSpPr>
            <a:spLocks noGrp="1"/>
          </p:cNvSpPr>
          <p:nvPr>
            <p:ph idx="1"/>
          </p:nvPr>
        </p:nvSpPr>
        <p:spPr>
          <a:xfrm>
            <a:off x="405353" y="182880"/>
            <a:ext cx="11397006" cy="5994083"/>
          </a:xfrm>
        </p:spPr>
        <p:txBody>
          <a:bodyPr>
            <a:normAutofit/>
          </a:bodyPr>
          <a:lstStyle/>
          <a:p>
            <a:r>
              <a:rPr lang="en-US" b="1" dirty="0"/>
              <a:t>Providing for socialization and intimacy needs: </a:t>
            </a:r>
            <a:r>
              <a:rPr lang="en-US" dirty="0"/>
              <a:t>Because socialization with friends and family can be comforting, visits, letters and phone calls are encouraged. Visits should be brief and non stressful; limiting visitors to one or two at a time helps reduce overstimulation. Recreation is important, and people are encouraged to participate in simple activities. Realistic goals for activities that provide satisfaction are appropriate. Hobbies and activities such as walking, exercising and socializing can improve quality of life. The </a:t>
            </a:r>
            <a:r>
              <a:rPr lang="en-US" dirty="0" err="1"/>
              <a:t>non-judgemental</a:t>
            </a:r>
            <a:r>
              <a:rPr lang="en-US" dirty="0"/>
              <a:t> friendliness of a pet can stimulate comfort and provide contentment. Care of plants and pets can be satisfying and an outlet for energy. Elderly with their spouses can continue their sexual activity. They must be encouraged to talk regarding any sexual concerns. Simple expressions of love such as holding, touching are often </a:t>
            </a:r>
            <a:r>
              <a:rPr lang="en-US" dirty="0" err="1"/>
              <a:t>meaningfu</a:t>
            </a:r>
            <a:endParaRPr lang="en-US" dirty="0"/>
          </a:p>
        </p:txBody>
      </p:sp>
      <p:sp>
        <p:nvSpPr>
          <p:cNvPr id="4" name="Date Placeholder 3">
            <a:extLst>
              <a:ext uri="{FF2B5EF4-FFF2-40B4-BE49-F238E27FC236}">
                <a16:creationId xmlns:a16="http://schemas.microsoft.com/office/drawing/2014/main" xmlns="" id="{CAD28C14-EA22-43A6-AE26-2D056453D0A1}"/>
              </a:ext>
            </a:extLst>
          </p:cNvPr>
          <p:cNvSpPr>
            <a:spLocks noGrp="1"/>
          </p:cNvSpPr>
          <p:nvPr>
            <p:ph type="dt" sz="half" idx="10"/>
          </p:nvPr>
        </p:nvSpPr>
        <p:spPr/>
        <p:txBody>
          <a:bodyPr/>
          <a:lstStyle/>
          <a:p>
            <a:fld id="{4FD7BFF0-8758-4AF7-AD3B-1C3478C13A74}" type="datetime1">
              <a:rPr lang="en-US" smtClean="0"/>
              <a:t>5/5/2022</a:t>
            </a:fld>
            <a:endParaRPr lang="en-US"/>
          </a:p>
        </p:txBody>
      </p:sp>
      <p:sp>
        <p:nvSpPr>
          <p:cNvPr id="5" name="Slide Number Placeholder 4">
            <a:extLst>
              <a:ext uri="{FF2B5EF4-FFF2-40B4-BE49-F238E27FC236}">
                <a16:creationId xmlns:a16="http://schemas.microsoft.com/office/drawing/2014/main" xmlns="" id="{9D2C2034-BE11-4208-A7F1-AEBAF49FA463}"/>
              </a:ext>
            </a:extLst>
          </p:cNvPr>
          <p:cNvSpPr>
            <a:spLocks noGrp="1"/>
          </p:cNvSpPr>
          <p:nvPr>
            <p:ph type="sldNum" sz="quarter" idx="12"/>
          </p:nvPr>
        </p:nvSpPr>
        <p:spPr/>
        <p:txBody>
          <a:bodyPr/>
          <a:lstStyle/>
          <a:p>
            <a:fld id="{B92AFB71-4BE5-44E7-9108-3062C0C91BA0}" type="slidenum">
              <a:rPr lang="en-US" smtClean="0"/>
              <a:t>114</a:t>
            </a:fld>
            <a:endParaRPr lang="en-US"/>
          </a:p>
        </p:txBody>
      </p:sp>
    </p:spTree>
    <p:extLst>
      <p:ext uri="{BB962C8B-B14F-4D97-AF65-F5344CB8AC3E}">
        <p14:creationId xmlns:p14="http://schemas.microsoft.com/office/powerpoint/2010/main" val="11292802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989425-2817-470F-B48C-3F608C03E6AC}"/>
              </a:ext>
            </a:extLst>
          </p:cNvPr>
          <p:cNvSpPr>
            <a:spLocks noGrp="1"/>
          </p:cNvSpPr>
          <p:nvPr>
            <p:ph type="title"/>
          </p:nvPr>
        </p:nvSpPr>
        <p:spPr>
          <a:xfrm>
            <a:off x="838200" y="197964"/>
            <a:ext cx="10515600" cy="263950"/>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1753A2C5-EB44-4B8E-BF24-76247B100D53}"/>
              </a:ext>
            </a:extLst>
          </p:cNvPr>
          <p:cNvSpPr>
            <a:spLocks noGrp="1"/>
          </p:cNvSpPr>
          <p:nvPr>
            <p:ph idx="1"/>
          </p:nvPr>
        </p:nvSpPr>
        <p:spPr>
          <a:xfrm>
            <a:off x="838200" y="829559"/>
            <a:ext cx="10515600" cy="5347404"/>
          </a:xfrm>
        </p:spPr>
        <p:txBody>
          <a:bodyPr>
            <a:normAutofit/>
          </a:bodyPr>
          <a:lstStyle/>
          <a:p>
            <a:pPr>
              <a:lnSpc>
                <a:spcPct val="150000"/>
              </a:lnSpc>
            </a:pPr>
            <a:r>
              <a:rPr lang="en-US" b="1" dirty="0"/>
              <a:t>Providing adequate nutrition: </a:t>
            </a:r>
            <a:r>
              <a:rPr lang="en-US" dirty="0"/>
              <a:t>mealtime can be pleasant social occasion or a time of upset and distress, and it should be kept simple, calm without confrontations. People prefer foods that are appetizing and tastes good. To avoid playing with food, serve one dish at a time. Food is cut into small pieces to avoid choking. Liquids may be easier to swallow if they are converted to </a:t>
            </a:r>
            <a:r>
              <a:rPr lang="en-US" dirty="0" err="1"/>
              <a:t>gelatine</a:t>
            </a:r>
            <a:r>
              <a:rPr lang="en-US" dirty="0"/>
              <a:t>. Hot foods and beverages are served warm to prevent burns.</a:t>
            </a:r>
          </a:p>
        </p:txBody>
      </p:sp>
      <p:sp>
        <p:nvSpPr>
          <p:cNvPr id="4" name="Date Placeholder 3">
            <a:extLst>
              <a:ext uri="{FF2B5EF4-FFF2-40B4-BE49-F238E27FC236}">
                <a16:creationId xmlns:a16="http://schemas.microsoft.com/office/drawing/2014/main" xmlns="" id="{8B6391DD-AE59-41F5-B9CC-A8CCB760F034}"/>
              </a:ext>
            </a:extLst>
          </p:cNvPr>
          <p:cNvSpPr>
            <a:spLocks noGrp="1"/>
          </p:cNvSpPr>
          <p:nvPr>
            <p:ph type="dt" sz="half" idx="10"/>
          </p:nvPr>
        </p:nvSpPr>
        <p:spPr/>
        <p:txBody>
          <a:bodyPr/>
          <a:lstStyle/>
          <a:p>
            <a:fld id="{86724FC6-101A-4950-ACD5-8E4ACDDA11AC}" type="datetime1">
              <a:rPr lang="en-US" smtClean="0"/>
              <a:t>5/5/2022</a:t>
            </a:fld>
            <a:endParaRPr lang="en-US"/>
          </a:p>
        </p:txBody>
      </p:sp>
      <p:sp>
        <p:nvSpPr>
          <p:cNvPr id="5" name="Slide Number Placeholder 4">
            <a:extLst>
              <a:ext uri="{FF2B5EF4-FFF2-40B4-BE49-F238E27FC236}">
                <a16:creationId xmlns:a16="http://schemas.microsoft.com/office/drawing/2014/main" xmlns="" id="{6D913B68-EA3B-4015-BCD7-7198A29320B3}"/>
              </a:ext>
            </a:extLst>
          </p:cNvPr>
          <p:cNvSpPr>
            <a:spLocks noGrp="1"/>
          </p:cNvSpPr>
          <p:nvPr>
            <p:ph type="sldNum" sz="quarter" idx="12"/>
          </p:nvPr>
        </p:nvSpPr>
        <p:spPr/>
        <p:txBody>
          <a:bodyPr/>
          <a:lstStyle/>
          <a:p>
            <a:fld id="{B92AFB71-4BE5-44E7-9108-3062C0C91BA0}" type="slidenum">
              <a:rPr lang="en-US" smtClean="0"/>
              <a:t>115</a:t>
            </a:fld>
            <a:endParaRPr lang="en-US"/>
          </a:p>
        </p:txBody>
      </p:sp>
    </p:spTree>
    <p:extLst>
      <p:ext uri="{BB962C8B-B14F-4D97-AF65-F5344CB8AC3E}">
        <p14:creationId xmlns:p14="http://schemas.microsoft.com/office/powerpoint/2010/main" val="138100204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138DCC-7F51-42A8-BBA6-94345831302E}"/>
              </a:ext>
            </a:extLst>
          </p:cNvPr>
          <p:cNvSpPr>
            <a:spLocks noGrp="1"/>
          </p:cNvSpPr>
          <p:nvPr>
            <p:ph type="title"/>
          </p:nvPr>
        </p:nvSpPr>
        <p:spPr>
          <a:xfrm>
            <a:off x="838200" y="365125"/>
            <a:ext cx="10515600" cy="50156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762B848E-6C8D-4F1F-86EC-6E9D00508CB4}"/>
              </a:ext>
            </a:extLst>
          </p:cNvPr>
          <p:cNvSpPr>
            <a:spLocks noGrp="1"/>
          </p:cNvSpPr>
          <p:nvPr>
            <p:ph idx="1"/>
          </p:nvPr>
        </p:nvSpPr>
        <p:spPr>
          <a:xfrm>
            <a:off x="838200" y="1049572"/>
            <a:ext cx="10515600" cy="5127391"/>
          </a:xfrm>
        </p:spPr>
        <p:txBody>
          <a:bodyPr>
            <a:normAutofit lnSpcReduction="10000"/>
          </a:bodyPr>
          <a:lstStyle/>
          <a:p>
            <a:pPr>
              <a:lnSpc>
                <a:spcPct val="150000"/>
              </a:lnSpc>
            </a:pPr>
            <a:r>
              <a:rPr lang="en-US" b="1" dirty="0"/>
              <a:t>Promoting balanced activity and rest: </a:t>
            </a:r>
            <a:r>
              <a:rPr lang="en-US" dirty="0"/>
              <a:t>Many people complain with sleep disturbances and wandering </a:t>
            </a:r>
            <a:r>
              <a:rPr lang="en-US" dirty="0" err="1"/>
              <a:t>behaviours</a:t>
            </a:r>
            <a:r>
              <a:rPr lang="en-US" dirty="0"/>
              <a:t> that may be inappropriate. These </a:t>
            </a:r>
            <a:r>
              <a:rPr lang="en-US" dirty="0" err="1"/>
              <a:t>behaviours</a:t>
            </a:r>
            <a:r>
              <a:rPr lang="en-US" dirty="0"/>
              <a:t> are most likely to occur when there are unmet physical or psychological needs. Caregivers must identify the needs of the patient who are exhibiting these </a:t>
            </a:r>
            <a:r>
              <a:rPr lang="en-US" dirty="0" err="1"/>
              <a:t>behaviours</a:t>
            </a:r>
            <a:r>
              <a:rPr lang="en-US" dirty="0"/>
              <a:t> because further health decline may occur if these are not corrected. During the day time physical activity can be encouraged and long durations of sleep during the day time are discouraged. </a:t>
            </a:r>
          </a:p>
        </p:txBody>
      </p:sp>
      <p:sp>
        <p:nvSpPr>
          <p:cNvPr id="4" name="Date Placeholder 3">
            <a:extLst>
              <a:ext uri="{FF2B5EF4-FFF2-40B4-BE49-F238E27FC236}">
                <a16:creationId xmlns:a16="http://schemas.microsoft.com/office/drawing/2014/main" xmlns="" id="{7D28E2BF-8367-477A-B31A-0F096DD0A989}"/>
              </a:ext>
            </a:extLst>
          </p:cNvPr>
          <p:cNvSpPr>
            <a:spLocks noGrp="1"/>
          </p:cNvSpPr>
          <p:nvPr>
            <p:ph type="dt" sz="half" idx="10"/>
          </p:nvPr>
        </p:nvSpPr>
        <p:spPr/>
        <p:txBody>
          <a:bodyPr/>
          <a:lstStyle/>
          <a:p>
            <a:fld id="{2243FBFF-1ED0-4CA6-A9EB-87974CCC72CC}" type="datetime1">
              <a:rPr lang="en-US" smtClean="0"/>
              <a:t>5/5/2022</a:t>
            </a:fld>
            <a:endParaRPr lang="en-US"/>
          </a:p>
        </p:txBody>
      </p:sp>
      <p:sp>
        <p:nvSpPr>
          <p:cNvPr id="5" name="Slide Number Placeholder 4">
            <a:extLst>
              <a:ext uri="{FF2B5EF4-FFF2-40B4-BE49-F238E27FC236}">
                <a16:creationId xmlns:a16="http://schemas.microsoft.com/office/drawing/2014/main" xmlns="" id="{299F8145-67A0-4A8F-8E55-7B5061E7D2FC}"/>
              </a:ext>
            </a:extLst>
          </p:cNvPr>
          <p:cNvSpPr>
            <a:spLocks noGrp="1"/>
          </p:cNvSpPr>
          <p:nvPr>
            <p:ph type="sldNum" sz="quarter" idx="12"/>
          </p:nvPr>
        </p:nvSpPr>
        <p:spPr/>
        <p:txBody>
          <a:bodyPr/>
          <a:lstStyle/>
          <a:p>
            <a:fld id="{B92AFB71-4BE5-44E7-9108-3062C0C91BA0}" type="slidenum">
              <a:rPr lang="en-US" smtClean="0"/>
              <a:t>116</a:t>
            </a:fld>
            <a:endParaRPr lang="en-US"/>
          </a:p>
        </p:txBody>
      </p:sp>
    </p:spTree>
    <p:extLst>
      <p:ext uri="{BB962C8B-B14F-4D97-AF65-F5344CB8AC3E}">
        <p14:creationId xmlns:p14="http://schemas.microsoft.com/office/powerpoint/2010/main" val="373515401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6A82FB-5A0C-4CFA-B059-50585630945D}"/>
              </a:ext>
            </a:extLst>
          </p:cNvPr>
          <p:cNvSpPr>
            <a:spLocks noGrp="1"/>
          </p:cNvSpPr>
          <p:nvPr>
            <p:ph type="title"/>
          </p:nvPr>
        </p:nvSpPr>
        <p:spPr>
          <a:xfrm>
            <a:off x="838200" y="365125"/>
            <a:ext cx="10515600" cy="23122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8B1DA4AA-7F23-4BCB-8BA6-55FCBB7E3AA7}"/>
              </a:ext>
            </a:extLst>
          </p:cNvPr>
          <p:cNvSpPr>
            <a:spLocks noGrp="1"/>
          </p:cNvSpPr>
          <p:nvPr>
            <p:ph idx="1"/>
          </p:nvPr>
        </p:nvSpPr>
        <p:spPr>
          <a:xfrm>
            <a:off x="838200" y="691763"/>
            <a:ext cx="10515600" cy="5485200"/>
          </a:xfrm>
        </p:spPr>
        <p:txBody>
          <a:bodyPr/>
          <a:lstStyle/>
          <a:p>
            <a:pPr>
              <a:lnSpc>
                <a:spcPct val="150000"/>
              </a:lnSpc>
            </a:pPr>
            <a:r>
              <a:rPr lang="en-US" b="1" dirty="0"/>
              <a:t>Supporting home and community based care: </a:t>
            </a:r>
            <a:r>
              <a:rPr lang="en-US" dirty="0"/>
              <a:t>The emotional burden on the families of elderly are enormous. The physical health is often stable and mental degeneration is gradual. Family members may be faced with difficult decisions. Anger and agitation exhibited by the older adults are often misunderstood by the family members. Abuse and neglect of the older adults must be avoided and they have to be constantly supervised on the minor and major ailments for immediate medical help is mandatory</a:t>
            </a:r>
          </a:p>
        </p:txBody>
      </p:sp>
      <p:sp>
        <p:nvSpPr>
          <p:cNvPr id="4" name="Date Placeholder 3">
            <a:extLst>
              <a:ext uri="{FF2B5EF4-FFF2-40B4-BE49-F238E27FC236}">
                <a16:creationId xmlns:a16="http://schemas.microsoft.com/office/drawing/2014/main" xmlns="" id="{DEBDF8C9-61F9-4F8D-87E6-09F651637724}"/>
              </a:ext>
            </a:extLst>
          </p:cNvPr>
          <p:cNvSpPr>
            <a:spLocks noGrp="1"/>
          </p:cNvSpPr>
          <p:nvPr>
            <p:ph type="dt" sz="half" idx="10"/>
          </p:nvPr>
        </p:nvSpPr>
        <p:spPr/>
        <p:txBody>
          <a:bodyPr/>
          <a:lstStyle/>
          <a:p>
            <a:fld id="{D956D3A7-8BCD-4771-BAC7-72F5A105D265}" type="datetime1">
              <a:rPr lang="en-US" smtClean="0"/>
              <a:t>5/5/2022</a:t>
            </a:fld>
            <a:endParaRPr lang="en-US"/>
          </a:p>
        </p:txBody>
      </p:sp>
      <p:sp>
        <p:nvSpPr>
          <p:cNvPr id="5" name="Slide Number Placeholder 4">
            <a:extLst>
              <a:ext uri="{FF2B5EF4-FFF2-40B4-BE49-F238E27FC236}">
                <a16:creationId xmlns:a16="http://schemas.microsoft.com/office/drawing/2014/main" xmlns="" id="{7D4306C6-4DFE-47F8-884F-DFBA6495C155}"/>
              </a:ext>
            </a:extLst>
          </p:cNvPr>
          <p:cNvSpPr>
            <a:spLocks noGrp="1"/>
          </p:cNvSpPr>
          <p:nvPr>
            <p:ph type="sldNum" sz="quarter" idx="12"/>
          </p:nvPr>
        </p:nvSpPr>
        <p:spPr/>
        <p:txBody>
          <a:bodyPr/>
          <a:lstStyle/>
          <a:p>
            <a:fld id="{B92AFB71-4BE5-44E7-9108-3062C0C91BA0}" type="slidenum">
              <a:rPr lang="en-US" smtClean="0"/>
              <a:t>117</a:t>
            </a:fld>
            <a:endParaRPr lang="en-US"/>
          </a:p>
        </p:txBody>
      </p:sp>
    </p:spTree>
    <p:extLst>
      <p:ext uri="{BB962C8B-B14F-4D97-AF65-F5344CB8AC3E}">
        <p14:creationId xmlns:p14="http://schemas.microsoft.com/office/powerpoint/2010/main" val="45406395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1FADB7-DA6D-4237-89FE-4B7EB6B271A2}"/>
              </a:ext>
            </a:extLst>
          </p:cNvPr>
          <p:cNvSpPr>
            <a:spLocks noGrp="1"/>
          </p:cNvSpPr>
          <p:nvPr>
            <p:ph type="title"/>
          </p:nvPr>
        </p:nvSpPr>
        <p:spPr>
          <a:xfrm>
            <a:off x="838200" y="365125"/>
            <a:ext cx="10515600" cy="573129"/>
          </a:xfrm>
        </p:spPr>
        <p:txBody>
          <a:bodyPr>
            <a:normAutofit/>
          </a:bodyPr>
          <a:lstStyle/>
          <a:p>
            <a:pPr algn="ctr"/>
            <a:endParaRPr lang="en-US" sz="3200" dirty="0"/>
          </a:p>
        </p:txBody>
      </p:sp>
      <p:sp>
        <p:nvSpPr>
          <p:cNvPr id="3" name="Content Placeholder 2">
            <a:extLst>
              <a:ext uri="{FF2B5EF4-FFF2-40B4-BE49-F238E27FC236}">
                <a16:creationId xmlns:a16="http://schemas.microsoft.com/office/drawing/2014/main" xmlns="" id="{00A32E5C-99DA-4E61-85BD-B4788CFD5602}"/>
              </a:ext>
            </a:extLst>
          </p:cNvPr>
          <p:cNvSpPr>
            <a:spLocks noGrp="1"/>
          </p:cNvSpPr>
          <p:nvPr>
            <p:ph idx="1"/>
          </p:nvPr>
        </p:nvSpPr>
        <p:spPr>
          <a:xfrm>
            <a:off x="838200" y="938254"/>
            <a:ext cx="10515600" cy="5238709"/>
          </a:xfrm>
        </p:spPr>
        <p:txBody>
          <a:bodyPr>
            <a:normAutofit lnSpcReduction="10000"/>
          </a:bodyPr>
          <a:lstStyle/>
          <a:p>
            <a:pPr marL="0" lvl="0" indent="0">
              <a:lnSpc>
                <a:spcPct val="150000"/>
              </a:lnSpc>
              <a:buNone/>
            </a:pPr>
            <a:r>
              <a:rPr lang="en-US" sz="3200" b="1" dirty="0"/>
              <a:t>Caregiver assessment- </a:t>
            </a:r>
            <a:r>
              <a:rPr lang="en-US" sz="3200" dirty="0"/>
              <a:t>identify key caregiver, assess the role of the caregiver and the relationship to the patient, identify needs of the care giver, and include caregiver in planning for care of the person at home</a:t>
            </a:r>
          </a:p>
          <a:p>
            <a:pPr marL="0" lvl="0" indent="0">
              <a:lnSpc>
                <a:spcPct val="150000"/>
              </a:lnSpc>
              <a:buNone/>
            </a:pPr>
            <a:r>
              <a:rPr lang="en-US" sz="3200" b="1" dirty="0"/>
              <a:t>Providing information- </a:t>
            </a:r>
            <a:r>
              <a:rPr lang="en-US" sz="3200" dirty="0"/>
              <a:t>explain and provide information to patient and client, and communicate effectively to develop cost effective plans of care and achieve positive client outcomes</a:t>
            </a:r>
          </a:p>
          <a:p>
            <a:pPr marL="0" indent="0">
              <a:buNone/>
            </a:pPr>
            <a:endParaRPr lang="en-US" dirty="0"/>
          </a:p>
          <a:p>
            <a:endParaRPr lang="en-US" dirty="0"/>
          </a:p>
        </p:txBody>
      </p:sp>
      <p:sp>
        <p:nvSpPr>
          <p:cNvPr id="4" name="Date Placeholder 3">
            <a:extLst>
              <a:ext uri="{FF2B5EF4-FFF2-40B4-BE49-F238E27FC236}">
                <a16:creationId xmlns:a16="http://schemas.microsoft.com/office/drawing/2014/main" xmlns="" id="{26BA7E6C-E83D-459C-A001-6BB997B9B17E}"/>
              </a:ext>
            </a:extLst>
          </p:cNvPr>
          <p:cNvSpPr>
            <a:spLocks noGrp="1"/>
          </p:cNvSpPr>
          <p:nvPr>
            <p:ph type="dt" sz="half" idx="10"/>
          </p:nvPr>
        </p:nvSpPr>
        <p:spPr/>
        <p:txBody>
          <a:bodyPr/>
          <a:lstStyle/>
          <a:p>
            <a:fld id="{D6821F79-556F-4C37-A959-AD06B44AF5AE}" type="datetime1">
              <a:rPr lang="en-US" smtClean="0"/>
              <a:t>5/5/2022</a:t>
            </a:fld>
            <a:endParaRPr lang="en-US"/>
          </a:p>
        </p:txBody>
      </p:sp>
      <p:sp>
        <p:nvSpPr>
          <p:cNvPr id="5" name="Slide Number Placeholder 4">
            <a:extLst>
              <a:ext uri="{FF2B5EF4-FFF2-40B4-BE49-F238E27FC236}">
                <a16:creationId xmlns:a16="http://schemas.microsoft.com/office/drawing/2014/main" xmlns="" id="{356C34E2-C6B5-4C1A-A22D-23044F227913}"/>
              </a:ext>
            </a:extLst>
          </p:cNvPr>
          <p:cNvSpPr>
            <a:spLocks noGrp="1"/>
          </p:cNvSpPr>
          <p:nvPr>
            <p:ph type="sldNum" sz="quarter" idx="12"/>
          </p:nvPr>
        </p:nvSpPr>
        <p:spPr/>
        <p:txBody>
          <a:bodyPr/>
          <a:lstStyle/>
          <a:p>
            <a:fld id="{B92AFB71-4BE5-44E7-9108-3062C0C91BA0}" type="slidenum">
              <a:rPr lang="en-US" smtClean="0"/>
              <a:t>118</a:t>
            </a:fld>
            <a:endParaRPr lang="en-US"/>
          </a:p>
        </p:txBody>
      </p:sp>
    </p:spTree>
    <p:extLst>
      <p:ext uri="{BB962C8B-B14F-4D97-AF65-F5344CB8AC3E}">
        <p14:creationId xmlns:p14="http://schemas.microsoft.com/office/powerpoint/2010/main" val="107322509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D2469A-C2C4-4AD5-BD7B-77CBE47BCB54}"/>
              </a:ext>
            </a:extLst>
          </p:cNvPr>
          <p:cNvSpPr>
            <a:spLocks noGrp="1"/>
          </p:cNvSpPr>
          <p:nvPr>
            <p:ph type="title"/>
          </p:nvPr>
        </p:nvSpPr>
        <p:spPr>
          <a:xfrm>
            <a:off x="838200" y="365126"/>
            <a:ext cx="10515600" cy="223272"/>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BC10D05D-FB27-4726-BA74-11F7DC28DF38}"/>
              </a:ext>
            </a:extLst>
          </p:cNvPr>
          <p:cNvSpPr>
            <a:spLocks noGrp="1"/>
          </p:cNvSpPr>
          <p:nvPr>
            <p:ph idx="1"/>
          </p:nvPr>
        </p:nvSpPr>
        <p:spPr>
          <a:xfrm>
            <a:off x="838200" y="811033"/>
            <a:ext cx="10515600" cy="5365930"/>
          </a:xfrm>
        </p:spPr>
        <p:txBody>
          <a:bodyPr/>
          <a:lstStyle/>
          <a:p>
            <a:pPr>
              <a:lnSpc>
                <a:spcPct val="150000"/>
              </a:lnSpc>
            </a:pPr>
            <a:r>
              <a:rPr lang="en-US" sz="3200" b="1" dirty="0"/>
              <a:t>Linking caregivers to resources- </a:t>
            </a:r>
            <a:r>
              <a:rPr lang="en-US" sz="3200" dirty="0"/>
              <a:t>identify and link patient/caregiver to support groups which help by sharing experiences, information, understanding, and acceptance, and suggest solutions to common problems and concerns. Identify formal support system which provide housing health coverages, finances and respite care (adult day care, home health care, assisted living services)</a:t>
            </a:r>
          </a:p>
          <a:p>
            <a:endParaRPr lang="en-US" dirty="0"/>
          </a:p>
        </p:txBody>
      </p:sp>
      <p:sp>
        <p:nvSpPr>
          <p:cNvPr id="4" name="Date Placeholder 3">
            <a:extLst>
              <a:ext uri="{FF2B5EF4-FFF2-40B4-BE49-F238E27FC236}">
                <a16:creationId xmlns:a16="http://schemas.microsoft.com/office/drawing/2014/main" xmlns="" id="{3E177B27-605D-4FB7-B9F1-3A304120F1C5}"/>
              </a:ext>
            </a:extLst>
          </p:cNvPr>
          <p:cNvSpPr>
            <a:spLocks noGrp="1"/>
          </p:cNvSpPr>
          <p:nvPr>
            <p:ph type="dt" sz="half" idx="10"/>
          </p:nvPr>
        </p:nvSpPr>
        <p:spPr/>
        <p:txBody>
          <a:bodyPr/>
          <a:lstStyle/>
          <a:p>
            <a:fld id="{A4130CB2-A78B-4CD6-98B8-540644C18030}" type="datetime1">
              <a:rPr lang="en-US" smtClean="0"/>
              <a:t>5/5/2022</a:t>
            </a:fld>
            <a:endParaRPr lang="en-US"/>
          </a:p>
        </p:txBody>
      </p:sp>
      <p:sp>
        <p:nvSpPr>
          <p:cNvPr id="5" name="Slide Number Placeholder 4">
            <a:extLst>
              <a:ext uri="{FF2B5EF4-FFF2-40B4-BE49-F238E27FC236}">
                <a16:creationId xmlns:a16="http://schemas.microsoft.com/office/drawing/2014/main" xmlns="" id="{FF713FF0-A59C-455D-9D20-D82050F920AF}"/>
              </a:ext>
            </a:extLst>
          </p:cNvPr>
          <p:cNvSpPr>
            <a:spLocks noGrp="1"/>
          </p:cNvSpPr>
          <p:nvPr>
            <p:ph type="sldNum" sz="quarter" idx="12"/>
          </p:nvPr>
        </p:nvSpPr>
        <p:spPr/>
        <p:txBody>
          <a:bodyPr/>
          <a:lstStyle/>
          <a:p>
            <a:fld id="{B92AFB71-4BE5-44E7-9108-3062C0C91BA0}" type="slidenum">
              <a:rPr lang="en-US" smtClean="0"/>
              <a:t>119</a:t>
            </a:fld>
            <a:endParaRPr lang="en-US"/>
          </a:p>
        </p:txBody>
      </p:sp>
    </p:spTree>
    <p:extLst>
      <p:ext uri="{BB962C8B-B14F-4D97-AF65-F5344CB8AC3E}">
        <p14:creationId xmlns:p14="http://schemas.microsoft.com/office/powerpoint/2010/main" val="4005396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B68120-093D-4098-B975-3946506F68EA}"/>
              </a:ext>
            </a:extLst>
          </p:cNvPr>
          <p:cNvSpPr>
            <a:spLocks noGrp="1"/>
          </p:cNvSpPr>
          <p:nvPr>
            <p:ph type="title"/>
          </p:nvPr>
        </p:nvSpPr>
        <p:spPr>
          <a:xfrm>
            <a:off x="838200" y="365125"/>
            <a:ext cx="10515600" cy="231223"/>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13F14AB3-F6FA-4842-AEFA-1B0217A72C70}"/>
              </a:ext>
            </a:extLst>
          </p:cNvPr>
          <p:cNvSpPr>
            <a:spLocks noGrp="1"/>
          </p:cNvSpPr>
          <p:nvPr>
            <p:ph idx="1"/>
          </p:nvPr>
        </p:nvSpPr>
        <p:spPr>
          <a:xfrm>
            <a:off x="838200" y="811033"/>
            <a:ext cx="10515600" cy="5365930"/>
          </a:xfrm>
        </p:spPr>
        <p:txBody>
          <a:bodyPr/>
          <a:lstStyle/>
          <a:p>
            <a:pPr lvl="0">
              <a:lnSpc>
                <a:spcPct val="150000"/>
              </a:lnSpc>
            </a:pPr>
            <a:r>
              <a:rPr lang="en-US" sz="3200" b="1" dirty="0"/>
              <a:t>Reduction of burden and distress- </a:t>
            </a:r>
            <a:r>
              <a:rPr lang="en-US" sz="3200" dirty="0"/>
              <a:t>offer/refer for comprehensive counselling sessions, home visiting, and enhancement of social support</a:t>
            </a:r>
          </a:p>
          <a:p>
            <a:pPr lvl="0">
              <a:lnSpc>
                <a:spcPct val="150000"/>
              </a:lnSpc>
            </a:pPr>
            <a:r>
              <a:rPr lang="en-US" sz="3200" b="1" dirty="0"/>
              <a:t>Intervention to improve competence and confidence- </a:t>
            </a:r>
            <a:r>
              <a:rPr lang="en-US" sz="3200" dirty="0"/>
              <a:t>teach caregiver how to design and carry out plans that focus on medical and psychosocial problems. Teach how to manage specific patient problem</a:t>
            </a:r>
          </a:p>
          <a:p>
            <a:endParaRPr lang="en-US" dirty="0"/>
          </a:p>
        </p:txBody>
      </p:sp>
      <p:sp>
        <p:nvSpPr>
          <p:cNvPr id="4" name="Date Placeholder 3">
            <a:extLst>
              <a:ext uri="{FF2B5EF4-FFF2-40B4-BE49-F238E27FC236}">
                <a16:creationId xmlns:a16="http://schemas.microsoft.com/office/drawing/2014/main" xmlns="" id="{2D335811-2484-432C-ABD2-3693036584EB}"/>
              </a:ext>
            </a:extLst>
          </p:cNvPr>
          <p:cNvSpPr>
            <a:spLocks noGrp="1"/>
          </p:cNvSpPr>
          <p:nvPr>
            <p:ph type="dt" sz="half" idx="10"/>
          </p:nvPr>
        </p:nvSpPr>
        <p:spPr/>
        <p:txBody>
          <a:bodyPr/>
          <a:lstStyle/>
          <a:p>
            <a:fld id="{3E06FE56-2392-4A1F-840F-293D5CDA01D9}" type="datetime1">
              <a:rPr lang="en-US" smtClean="0"/>
              <a:t>5/5/2022</a:t>
            </a:fld>
            <a:endParaRPr lang="en-US"/>
          </a:p>
        </p:txBody>
      </p:sp>
      <p:sp>
        <p:nvSpPr>
          <p:cNvPr id="5" name="Slide Number Placeholder 4">
            <a:extLst>
              <a:ext uri="{FF2B5EF4-FFF2-40B4-BE49-F238E27FC236}">
                <a16:creationId xmlns:a16="http://schemas.microsoft.com/office/drawing/2014/main" xmlns="" id="{2383072B-8D32-4A7C-A860-16F8B480C417}"/>
              </a:ext>
            </a:extLst>
          </p:cNvPr>
          <p:cNvSpPr>
            <a:spLocks noGrp="1"/>
          </p:cNvSpPr>
          <p:nvPr>
            <p:ph type="sldNum" sz="quarter" idx="12"/>
          </p:nvPr>
        </p:nvSpPr>
        <p:spPr/>
        <p:txBody>
          <a:bodyPr/>
          <a:lstStyle/>
          <a:p>
            <a:fld id="{B92AFB71-4BE5-44E7-9108-3062C0C91BA0}" type="slidenum">
              <a:rPr lang="en-US" smtClean="0"/>
              <a:t>120</a:t>
            </a:fld>
            <a:endParaRPr lang="en-US"/>
          </a:p>
        </p:txBody>
      </p:sp>
    </p:spTree>
    <p:extLst>
      <p:ext uri="{BB962C8B-B14F-4D97-AF65-F5344CB8AC3E}">
        <p14:creationId xmlns:p14="http://schemas.microsoft.com/office/powerpoint/2010/main" val="61037559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398566B-0D00-4087-9124-BE3A6B87F876}" type="slidenum">
              <a:rPr lang="en-US" smtClean="0"/>
              <a:pPr/>
              <a:t>121</a:t>
            </a:fld>
            <a:endParaRPr lang="en-US" dirty="0"/>
          </a:p>
        </p:txBody>
      </p:sp>
      <p:sp>
        <p:nvSpPr>
          <p:cNvPr id="2" name="Date Placeholder 1">
            <a:extLst>
              <a:ext uri="{FF2B5EF4-FFF2-40B4-BE49-F238E27FC236}">
                <a16:creationId xmlns:a16="http://schemas.microsoft.com/office/drawing/2014/main" xmlns="" id="{41CFB3CA-B8B6-4F5A-82FA-EC2153B2C35D}"/>
              </a:ext>
            </a:extLst>
          </p:cNvPr>
          <p:cNvSpPr>
            <a:spLocks noGrp="1"/>
          </p:cNvSpPr>
          <p:nvPr>
            <p:ph type="dt" sz="half" idx="10"/>
          </p:nvPr>
        </p:nvSpPr>
        <p:spPr/>
        <p:txBody>
          <a:bodyPr/>
          <a:lstStyle/>
          <a:p>
            <a:fld id="{7F448ADB-F131-4AB6-8AFF-CCC2566A7BEA}" type="datetime1">
              <a:rPr lang="en-US" smtClean="0"/>
              <a:t>5/5/2022</a:t>
            </a:fld>
            <a:endParaRPr lang="en-US"/>
          </a:p>
        </p:txBody>
      </p:sp>
      <p:sp>
        <p:nvSpPr>
          <p:cNvPr id="3" name="Title 2"/>
          <p:cNvSpPr>
            <a:spLocks noGrp="1"/>
          </p:cNvSpPr>
          <p:nvPr>
            <p:ph type="ctrTitle"/>
          </p:nvPr>
        </p:nvSpPr>
        <p:spPr>
          <a:xfrm flipH="1">
            <a:off x="1173480" y="3337560"/>
            <a:ext cx="8961120" cy="899156"/>
          </a:xfrm>
        </p:spPr>
        <p:txBody>
          <a:bodyPr/>
          <a:lstStyle/>
          <a:p>
            <a:r>
              <a:rPr lang="en-US" dirty="0" smtClean="0"/>
              <a:t>THE END</a:t>
            </a:r>
            <a:endParaRPr lang="en-US" dirty="0"/>
          </a:p>
        </p:txBody>
      </p:sp>
      <p:sp>
        <p:nvSpPr>
          <p:cNvPr id="7" name="Subtitle 6"/>
          <p:cNvSpPr>
            <a:spLocks noGrp="1"/>
          </p:cNvSpPr>
          <p:nvPr>
            <p:ph type="subTitle" idx="1"/>
          </p:nvPr>
        </p:nvSpPr>
        <p:spPr/>
        <p:txBody>
          <a:bodyPr/>
          <a:lstStyle/>
          <a:p>
            <a:r>
              <a:rPr lang="en-US" dirty="0" smtClean="0"/>
              <a:t>THANK YOU FOR LISTENING</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P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Theme1" id="{3AABBD34-5AA0-4000-82F6-7EBFDA04D499}" vid="{935284F6-DC41-4BC8-B503-F3E488B7F0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575</TotalTime>
  <Words>7744</Words>
  <Application>Microsoft Office PowerPoint</Application>
  <PresentationFormat>Custom</PresentationFormat>
  <Paragraphs>669</Paragraphs>
  <Slides>121</Slides>
  <Notes>0</Notes>
  <HiddenSlides>0</HiddenSlides>
  <MMClips>0</MMClips>
  <ScaleCrop>false</ScaleCrop>
  <HeadingPairs>
    <vt:vector size="4" baseType="variant">
      <vt:variant>
        <vt:lpstr>Theme</vt:lpstr>
      </vt:variant>
      <vt:variant>
        <vt:i4>1</vt:i4>
      </vt:variant>
      <vt:variant>
        <vt:lpstr>Slide Titles</vt:lpstr>
      </vt:variant>
      <vt:variant>
        <vt:i4>121</vt:i4>
      </vt:variant>
    </vt:vector>
  </HeadingPairs>
  <TitlesOfParts>
    <vt:vector size="122" baseType="lpstr">
      <vt:lpstr>Theme1</vt:lpstr>
      <vt:lpstr>GERIATRIC NURSING</vt:lpstr>
      <vt:lpstr>Definition of terms</vt:lpstr>
      <vt:lpstr>PowerPoint Presentation</vt:lpstr>
      <vt:lpstr>PowerPoint Presentation</vt:lpstr>
      <vt:lpstr>PowerPoint Presentation</vt:lpstr>
      <vt:lpstr>PRINCIPLES OF GERONTOLOGICAL NURSING </vt:lpstr>
      <vt:lpstr>PowerPoint Presentation</vt:lpstr>
      <vt:lpstr>PowerPoint Presentation</vt:lpstr>
      <vt:lpstr>Aging </vt:lpstr>
      <vt:lpstr>PowerPoint Presentation</vt:lpstr>
      <vt:lpstr>PowerPoint Presentation</vt:lpstr>
      <vt:lpstr>Theories of aging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Psychosocial theories of aging</vt:lpstr>
      <vt:lpstr>PowerPoint Presentation</vt:lpstr>
      <vt:lpstr>PowerPoint Presentation</vt:lpstr>
      <vt:lpstr>PowerPoint Presentation</vt:lpstr>
      <vt:lpstr>PowerPoint Presentation</vt:lpstr>
      <vt:lpstr>PowerPoint Presentation</vt:lpstr>
      <vt:lpstr>PowerPoint Presentation</vt:lpstr>
      <vt:lpstr> Stages of old age </vt:lpstr>
      <vt:lpstr>PowerPoint Presentation</vt:lpstr>
      <vt:lpstr>PowerPoint Presentation</vt:lpstr>
      <vt:lpstr>Tasks for old people</vt:lpstr>
      <vt:lpstr>Trends in Aging </vt:lpstr>
      <vt:lpstr> Changes associated with aging physiological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Psychosocial changes</vt:lpstr>
      <vt:lpstr>PowerPoint Presentation</vt:lpstr>
      <vt:lpstr>Abnormal conditions common in aging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Medication and the elderly</vt:lpstr>
      <vt:lpstr>PowerPoint Presentation</vt:lpstr>
      <vt:lpstr>PowerPoint Presentation</vt:lpstr>
      <vt:lpstr>PowerPoint Presentation</vt:lpstr>
      <vt:lpstr>PowerPoint Presentation</vt:lpstr>
      <vt:lpstr>PowerPoint Presentation</vt:lpstr>
      <vt:lpstr>PowerPoint Presentation</vt:lpstr>
      <vt:lpstr>Possible side effects of drugs </vt:lpstr>
      <vt:lpstr>PowerPoint Presentation</vt:lpstr>
      <vt:lpstr>Care of the elderly persons</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The nursing process and geriatric assessment </vt:lpstr>
      <vt:lpstr>PowerPoint Presentation</vt:lpstr>
      <vt:lpstr>PowerPoint Presentation</vt:lpstr>
      <vt:lpstr>PowerPoint Presentation</vt:lpstr>
      <vt:lpstr>PowerPoint Presentation</vt:lpstr>
      <vt:lpstr>PowerPoint Presentation</vt:lpstr>
      <vt:lpstr>PowerPoint Presentation</vt:lpstr>
      <vt:lpstr>Health care settings for providing geriatric care</vt:lpstr>
      <vt:lpstr>PowerPoint Presentation</vt:lpstr>
      <vt:lpstr>PowerPoint Presentation</vt:lpstr>
      <vt:lpstr>PowerPoint Presentation</vt:lpstr>
      <vt:lpstr>PowerPoint Presentation</vt:lpstr>
      <vt:lpstr>PowerPoint Presentation</vt:lpstr>
      <vt:lpstr>PowerPoint Presentation</vt:lpstr>
      <vt:lpstr>Social services for elderly persons </vt:lpstr>
      <vt:lpstr>PowerPoint Presentation</vt:lpstr>
      <vt:lpstr>PowerPoint Presentation</vt:lpstr>
      <vt:lpstr>PowerPoint Presentation</vt:lpstr>
      <vt:lpstr>Assisted living facility type I</vt:lpstr>
      <vt:lpstr>PowerPoint Presentation</vt:lpstr>
      <vt:lpstr>Assisted living facility type II </vt:lpstr>
      <vt:lpstr>PowerPoint Presentation</vt:lpstr>
      <vt:lpstr>Small health care facility - type n - (limited to three persons)</vt:lpstr>
      <vt:lpstr>Intermediate care facilities/nursing facilities</vt:lpstr>
      <vt:lpstr>PowerPoint Presentation</vt:lpstr>
      <vt:lpstr>Hospital</vt:lpstr>
      <vt:lpstr>Skilled nursing facility</vt:lpstr>
      <vt:lpstr>Levels of geriatric care</vt:lpstr>
      <vt:lpstr>PowerPoint Presentation</vt:lpstr>
      <vt:lpstr>PowerPoint Presentation</vt:lpstr>
      <vt:lpstr>Role of a nurse in care of the elderly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GERIATRIC NURSING</dc:title>
  <dc:creator>user</dc:creator>
  <cp:lastModifiedBy>newborn otwori</cp:lastModifiedBy>
  <cp:revision>42</cp:revision>
  <dcterms:created xsi:type="dcterms:W3CDTF">2021-01-27T06:02:34Z</dcterms:created>
  <dcterms:modified xsi:type="dcterms:W3CDTF">2022-05-05T02:34:43Z</dcterms:modified>
</cp:coreProperties>
</file>