
<file path=[Content_Types].xml><?xml version="1.0" encoding="utf-8"?>
<Types xmlns="http://schemas.openxmlformats.org/package/2006/content-types">
  <Default Extension="rels" ContentType="application/vnd.openxmlformats-package.relationships+xml"/>
  <Default Extension="xml" ContentType="application/xml"/>
  <Default Extension="gif" ContentType="image/gif"/>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Slides/notesSlide1.xml" ContentType="application/vnd.openxmlformats-officedocument.presentationml.notes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Slides/notesSlide2.xml" ContentType="application/vnd.openxmlformats-officedocument.presentationml.notes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notesSlides/notesSlide3.xml" ContentType="application/vnd.openxmlformats-officedocument.presentationml.notesSlide+xml"/>
  <Override PartName="/ppt/slides/slide354.xml" ContentType="application/vnd.openxmlformats-officedocument.presentationml.slide+xml"/>
  <Override PartName="/ppt/notesSlides/notesSlide4.xml" ContentType="application/vnd.openxmlformats-officedocument.presentationml.notesSlide+xml"/>
  <Override PartName="/ppt/slides/slide355.xml" ContentType="application/vnd.openxmlformats-officedocument.presentationml.slide+xml"/>
  <Override PartName="/ppt/notesSlides/notesSlide5.xml" ContentType="application/vnd.openxmlformats-officedocument.presentationml.notes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notesSlides/notesSlide6.xml" ContentType="application/vnd.openxmlformats-officedocument.presentationml.notesSlide+xml"/>
  <Override PartName="/ppt/slides/slide463.xml" ContentType="application/vnd.openxmlformats-officedocument.presentationml.slide+xml"/>
  <Override PartName="/ppt/notesSlides/notesSlide7.xml" ContentType="application/vnd.openxmlformats-officedocument.presentationml.notesSlide+xml"/>
  <Override PartName="/ppt/slides/slide464.xml" ContentType="application/vnd.openxmlformats-officedocument.presentationml.slide+xml"/>
  <Override PartName="/ppt/notesSlides/notesSlide8.xml" ContentType="application/vnd.openxmlformats-officedocument.presentationml.notes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notesSlides/notesSlide9.xml" ContentType="application/vnd.openxmlformats-officedocument.presentationml.notesSlide+xml"/>
  <Override PartName="/ppt/slides/slide469.xml" ContentType="application/vnd.openxmlformats-officedocument.presentationml.slide+xml"/>
  <Override PartName="/ppt/slides/slide470.xml" ContentType="application/vnd.openxmlformats-officedocument.presentationml.slide+xml"/>
  <Override PartName="/ppt/notesSlides/notesSlide10.xml" ContentType="application/vnd.openxmlformats-officedocument.presentationml.notesSlide+xml"/>
  <Override PartName="/ppt/slides/slide471.xml" ContentType="application/vnd.openxmlformats-officedocument.presentationml.slide+xml"/>
  <Override PartName="/ppt/notesSlides/notesSlide11.xml" ContentType="application/vnd.openxmlformats-officedocument.presentationml.notes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notesSlides/notesSlide12.xml" ContentType="application/vnd.openxmlformats-officedocument.presentationml.notesSlide+xml"/>
  <Override PartName="/ppt/slides/slide479.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notesSlides/notesSlide13.xml" ContentType="application/vnd.openxmlformats-officedocument.presentationml.notes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notesSlides/notesSlide14.xml" ContentType="application/vnd.openxmlformats-officedocument.presentationml.notesSlide+xml"/>
  <Override PartName="/ppt/slides/slide488.xml" ContentType="application/vnd.openxmlformats-officedocument.presentationml.slide+xml"/>
  <Override PartName="/ppt/notesSlides/notesSlide15.xml" ContentType="application/vnd.openxmlformats-officedocument.presentationml.notesSlide+xml"/>
  <Override PartName="/ppt/slides/slide489.xml" ContentType="application/vnd.openxmlformats-officedocument.presentationml.slide+xml"/>
  <Override PartName="/ppt/slides/slide490.xml" ContentType="application/vnd.openxmlformats-officedocument.presentationml.slide+xml"/>
  <Override PartName="/ppt/notesSlides/notesSlide16.xml" ContentType="application/vnd.openxmlformats-officedocument.presentationml.notes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notesSlides/notesSlide17.xml" ContentType="application/vnd.openxmlformats-officedocument.presentationml.notesSlide+xml"/>
  <Override PartName="/ppt/slides/slide494.xml" ContentType="application/vnd.openxmlformats-officedocument.presentationml.slide+xml"/>
  <Override PartName="/ppt/notesSlides/notesSlide18.xml" ContentType="application/vnd.openxmlformats-officedocument.presentationml.notes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slides/slide623.xml" ContentType="application/vnd.openxmlformats-officedocument.presentationml.slide+xml"/>
  <Override PartName="/ppt/slides/slide624.xml" ContentType="application/vnd.openxmlformats-officedocument.presentationml.slide+xml"/>
  <Override PartName="/ppt/slides/slide625.xml" ContentType="application/vnd.openxmlformats-officedocument.presentationml.slide+xml"/>
  <Override PartName="/ppt/slides/slide626.xml" ContentType="application/vnd.openxmlformats-officedocument.presentationml.slide+xml"/>
  <Override PartName="/ppt/slides/slide627.xml" ContentType="application/vnd.openxmlformats-officedocument.presentationml.slide+xml"/>
  <Override PartName="/ppt/slides/slide628.xml" ContentType="application/vnd.openxmlformats-officedocument.presentationml.slide+xml"/>
  <Override PartName="/ppt/slides/slide629.xml" ContentType="application/vnd.openxmlformats-officedocument.presentationml.slide+xml"/>
  <Override PartName="/ppt/slides/slide630.xml" ContentType="application/vnd.openxmlformats-officedocument.presentationml.slide+xml"/>
  <Override PartName="/ppt/slides/slide631.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 id="608" r:id="rId354"/>
    <p:sldId id="609" r:id="rId355"/>
    <p:sldId id="610" r:id="rId356"/>
    <p:sldId id="611" r:id="rId357"/>
    <p:sldId id="612" r:id="rId358"/>
    <p:sldId id="613" r:id="rId359"/>
    <p:sldId id="614" r:id="rId360"/>
    <p:sldId id="615" r:id="rId361"/>
    <p:sldId id="616" r:id="rId362"/>
    <p:sldId id="617" r:id="rId363"/>
    <p:sldId id="618" r:id="rId364"/>
    <p:sldId id="619" r:id="rId365"/>
    <p:sldId id="620" r:id="rId366"/>
    <p:sldId id="621" r:id="rId367"/>
    <p:sldId id="622" r:id="rId368"/>
    <p:sldId id="623" r:id="rId369"/>
    <p:sldId id="624" r:id="rId370"/>
    <p:sldId id="625" r:id="rId371"/>
    <p:sldId id="626" r:id="rId372"/>
    <p:sldId id="627" r:id="rId373"/>
    <p:sldId id="628" r:id="rId374"/>
    <p:sldId id="629" r:id="rId375"/>
    <p:sldId id="630" r:id="rId376"/>
    <p:sldId id="631" r:id="rId377"/>
    <p:sldId id="632" r:id="rId378"/>
    <p:sldId id="633" r:id="rId379"/>
    <p:sldId id="634" r:id="rId380"/>
    <p:sldId id="635" r:id="rId381"/>
    <p:sldId id="636" r:id="rId382"/>
    <p:sldId id="637" r:id="rId383"/>
    <p:sldId id="638" r:id="rId384"/>
    <p:sldId id="639" r:id="rId385"/>
    <p:sldId id="640" r:id="rId386"/>
    <p:sldId id="641" r:id="rId387"/>
    <p:sldId id="642" r:id="rId388"/>
    <p:sldId id="643" r:id="rId389"/>
    <p:sldId id="644" r:id="rId390"/>
    <p:sldId id="645" r:id="rId391"/>
    <p:sldId id="646" r:id="rId392"/>
    <p:sldId id="647" r:id="rId393"/>
    <p:sldId id="648" r:id="rId394"/>
    <p:sldId id="649" r:id="rId395"/>
    <p:sldId id="650" r:id="rId396"/>
    <p:sldId id="651" r:id="rId397"/>
    <p:sldId id="652" r:id="rId398"/>
    <p:sldId id="653" r:id="rId399"/>
    <p:sldId id="654" r:id="rId400"/>
    <p:sldId id="655" r:id="rId401"/>
    <p:sldId id="656" r:id="rId402"/>
    <p:sldId id="657" r:id="rId403"/>
    <p:sldId id="658" r:id="rId404"/>
    <p:sldId id="659" r:id="rId405"/>
    <p:sldId id="660" r:id="rId406"/>
    <p:sldId id="661" r:id="rId407"/>
    <p:sldId id="662" r:id="rId408"/>
    <p:sldId id="663" r:id="rId409"/>
    <p:sldId id="664" r:id="rId410"/>
    <p:sldId id="665" r:id="rId411"/>
    <p:sldId id="666" r:id="rId412"/>
    <p:sldId id="667" r:id="rId413"/>
    <p:sldId id="668" r:id="rId414"/>
    <p:sldId id="669" r:id="rId415"/>
    <p:sldId id="670" r:id="rId416"/>
    <p:sldId id="671" r:id="rId417"/>
    <p:sldId id="672" r:id="rId418"/>
    <p:sldId id="673" r:id="rId419"/>
    <p:sldId id="674" r:id="rId420"/>
    <p:sldId id="675" r:id="rId421"/>
    <p:sldId id="676" r:id="rId422"/>
    <p:sldId id="677" r:id="rId423"/>
    <p:sldId id="678" r:id="rId424"/>
    <p:sldId id="679" r:id="rId425"/>
    <p:sldId id="680" r:id="rId426"/>
    <p:sldId id="681" r:id="rId427"/>
    <p:sldId id="682" r:id="rId428"/>
    <p:sldId id="683" r:id="rId429"/>
    <p:sldId id="684" r:id="rId430"/>
    <p:sldId id="685" r:id="rId431"/>
    <p:sldId id="686" r:id="rId432"/>
    <p:sldId id="687" r:id="rId433"/>
    <p:sldId id="688" r:id="rId434"/>
    <p:sldId id="689" r:id="rId435"/>
    <p:sldId id="690" r:id="rId436"/>
    <p:sldId id="691" r:id="rId437"/>
    <p:sldId id="692" r:id="rId438"/>
    <p:sldId id="693" r:id="rId439"/>
    <p:sldId id="694" r:id="rId440"/>
    <p:sldId id="695" r:id="rId441"/>
    <p:sldId id="696" r:id="rId442"/>
    <p:sldId id="697" r:id="rId443"/>
    <p:sldId id="698" r:id="rId444"/>
    <p:sldId id="699" r:id="rId445"/>
    <p:sldId id="700" r:id="rId446"/>
    <p:sldId id="701" r:id="rId447"/>
    <p:sldId id="702" r:id="rId448"/>
    <p:sldId id="703" r:id="rId449"/>
    <p:sldId id="704" r:id="rId450"/>
    <p:sldId id="705" r:id="rId451"/>
    <p:sldId id="706" r:id="rId452"/>
    <p:sldId id="707" r:id="rId453"/>
    <p:sldId id="708" r:id="rId454"/>
    <p:sldId id="709" r:id="rId455"/>
    <p:sldId id="710" r:id="rId456"/>
    <p:sldId id="711" r:id="rId457"/>
    <p:sldId id="712" r:id="rId458"/>
    <p:sldId id="713" r:id="rId459"/>
    <p:sldId id="714" r:id="rId460"/>
    <p:sldId id="715" r:id="rId461"/>
    <p:sldId id="716" r:id="rId462"/>
    <p:sldId id="717" r:id="rId463"/>
    <p:sldId id="718" r:id="rId464"/>
    <p:sldId id="719" r:id="rId465"/>
    <p:sldId id="720" r:id="rId466"/>
    <p:sldId id="721" r:id="rId467"/>
    <p:sldId id="722" r:id="rId468"/>
    <p:sldId id="723" r:id="rId469"/>
    <p:sldId id="724" r:id="rId470"/>
    <p:sldId id="725" r:id="rId471"/>
    <p:sldId id="726" r:id="rId472"/>
    <p:sldId id="727" r:id="rId473"/>
    <p:sldId id="728" r:id="rId474"/>
    <p:sldId id="729" r:id="rId475"/>
    <p:sldId id="730" r:id="rId476"/>
    <p:sldId id="731" r:id="rId477"/>
    <p:sldId id="732" r:id="rId478"/>
    <p:sldId id="733" r:id="rId479"/>
    <p:sldId id="734" r:id="rId480"/>
    <p:sldId id="735" r:id="rId481"/>
    <p:sldId id="736" r:id="rId482"/>
    <p:sldId id="737" r:id="rId483"/>
    <p:sldId id="738" r:id="rId484"/>
    <p:sldId id="739" r:id="rId485"/>
    <p:sldId id="740" r:id="rId486"/>
    <p:sldId id="741" r:id="rId487"/>
    <p:sldId id="742" r:id="rId488"/>
    <p:sldId id="743" r:id="rId489"/>
    <p:sldId id="744" r:id="rId490"/>
    <p:sldId id="745" r:id="rId491"/>
    <p:sldId id="746" r:id="rId492"/>
    <p:sldId id="747" r:id="rId493"/>
    <p:sldId id="748" r:id="rId494"/>
    <p:sldId id="749" r:id="rId495"/>
    <p:sldId id="750" r:id="rId496"/>
    <p:sldId id="751" r:id="rId497"/>
    <p:sldId id="752" r:id="rId498"/>
    <p:sldId id="753" r:id="rId499"/>
    <p:sldId id="754" r:id="rId500"/>
    <p:sldId id="755" r:id="rId501"/>
    <p:sldId id="756" r:id="rId502"/>
    <p:sldId id="757" r:id="rId503"/>
    <p:sldId id="758" r:id="rId504"/>
    <p:sldId id="759" r:id="rId505"/>
    <p:sldId id="760" r:id="rId506"/>
    <p:sldId id="761" r:id="rId507"/>
    <p:sldId id="762" r:id="rId508"/>
    <p:sldId id="763" r:id="rId509"/>
    <p:sldId id="764" r:id="rId510"/>
    <p:sldId id="765" r:id="rId511"/>
    <p:sldId id="766" r:id="rId512"/>
    <p:sldId id="767" r:id="rId513"/>
    <p:sldId id="768" r:id="rId514"/>
    <p:sldId id="769" r:id="rId515"/>
    <p:sldId id="770" r:id="rId516"/>
    <p:sldId id="771" r:id="rId517"/>
    <p:sldId id="772" r:id="rId518"/>
    <p:sldId id="773" r:id="rId519"/>
    <p:sldId id="774" r:id="rId520"/>
    <p:sldId id="775" r:id="rId521"/>
    <p:sldId id="776" r:id="rId522"/>
    <p:sldId id="777" r:id="rId523"/>
    <p:sldId id="778" r:id="rId524"/>
    <p:sldId id="779" r:id="rId525"/>
    <p:sldId id="780" r:id="rId526"/>
    <p:sldId id="781" r:id="rId527"/>
    <p:sldId id="782" r:id="rId528"/>
    <p:sldId id="783" r:id="rId529"/>
    <p:sldId id="784" r:id="rId530"/>
    <p:sldId id="785" r:id="rId531"/>
    <p:sldId id="786" r:id="rId532"/>
    <p:sldId id="787" r:id="rId533"/>
    <p:sldId id="788" r:id="rId534"/>
    <p:sldId id="789" r:id="rId535"/>
    <p:sldId id="790" r:id="rId536"/>
    <p:sldId id="791" r:id="rId537"/>
    <p:sldId id="792" r:id="rId538"/>
    <p:sldId id="793" r:id="rId539"/>
    <p:sldId id="794" r:id="rId540"/>
    <p:sldId id="795" r:id="rId541"/>
    <p:sldId id="796" r:id="rId542"/>
    <p:sldId id="797" r:id="rId543"/>
    <p:sldId id="798" r:id="rId544"/>
    <p:sldId id="799" r:id="rId545"/>
    <p:sldId id="800" r:id="rId546"/>
    <p:sldId id="801" r:id="rId547"/>
    <p:sldId id="802" r:id="rId548"/>
    <p:sldId id="803" r:id="rId549"/>
    <p:sldId id="804" r:id="rId550"/>
    <p:sldId id="805" r:id="rId551"/>
    <p:sldId id="806" r:id="rId552"/>
    <p:sldId id="807" r:id="rId553"/>
    <p:sldId id="808" r:id="rId554"/>
    <p:sldId id="809" r:id="rId555"/>
    <p:sldId id="810" r:id="rId556"/>
    <p:sldId id="811" r:id="rId557"/>
    <p:sldId id="812" r:id="rId558"/>
    <p:sldId id="813" r:id="rId559"/>
    <p:sldId id="814" r:id="rId560"/>
    <p:sldId id="815" r:id="rId561"/>
    <p:sldId id="816" r:id="rId562"/>
    <p:sldId id="817" r:id="rId563"/>
    <p:sldId id="818" r:id="rId564"/>
    <p:sldId id="819" r:id="rId565"/>
    <p:sldId id="820" r:id="rId566"/>
    <p:sldId id="821" r:id="rId567"/>
    <p:sldId id="822" r:id="rId568"/>
    <p:sldId id="823" r:id="rId569"/>
    <p:sldId id="824" r:id="rId570"/>
    <p:sldId id="825" r:id="rId571"/>
    <p:sldId id="826" r:id="rId572"/>
    <p:sldId id="827" r:id="rId573"/>
    <p:sldId id="828" r:id="rId574"/>
    <p:sldId id="829" r:id="rId575"/>
    <p:sldId id="830" r:id="rId576"/>
    <p:sldId id="831" r:id="rId577"/>
    <p:sldId id="832" r:id="rId578"/>
    <p:sldId id="833" r:id="rId579"/>
    <p:sldId id="834" r:id="rId580"/>
    <p:sldId id="835" r:id="rId581"/>
    <p:sldId id="836" r:id="rId582"/>
    <p:sldId id="837" r:id="rId583"/>
    <p:sldId id="838" r:id="rId584"/>
    <p:sldId id="839" r:id="rId585"/>
    <p:sldId id="840" r:id="rId586"/>
    <p:sldId id="841" r:id="rId587"/>
    <p:sldId id="842" r:id="rId588"/>
    <p:sldId id="843" r:id="rId589"/>
    <p:sldId id="844" r:id="rId590"/>
    <p:sldId id="845" r:id="rId591"/>
    <p:sldId id="846" r:id="rId592"/>
    <p:sldId id="847" r:id="rId593"/>
    <p:sldId id="848" r:id="rId594"/>
    <p:sldId id="849" r:id="rId595"/>
    <p:sldId id="850" r:id="rId596"/>
    <p:sldId id="851" r:id="rId597"/>
    <p:sldId id="852" r:id="rId598"/>
    <p:sldId id="853" r:id="rId599"/>
    <p:sldId id="854" r:id="rId600"/>
    <p:sldId id="855" r:id="rId601"/>
    <p:sldId id="856" r:id="rId602"/>
    <p:sldId id="857" r:id="rId603"/>
    <p:sldId id="858" r:id="rId604"/>
    <p:sldId id="859" r:id="rId605"/>
    <p:sldId id="860" r:id="rId606"/>
    <p:sldId id="861" r:id="rId607"/>
    <p:sldId id="862" r:id="rId608"/>
    <p:sldId id="863" r:id="rId609"/>
    <p:sldId id="864" r:id="rId610"/>
    <p:sldId id="865" r:id="rId611"/>
    <p:sldId id="866" r:id="rId612"/>
    <p:sldId id="867" r:id="rId613"/>
    <p:sldId id="868" r:id="rId614"/>
    <p:sldId id="869" r:id="rId615"/>
    <p:sldId id="870" r:id="rId616"/>
    <p:sldId id="871" r:id="rId617"/>
    <p:sldId id="872" r:id="rId618"/>
    <p:sldId id="873" r:id="rId619"/>
    <p:sldId id="874" r:id="rId620"/>
    <p:sldId id="875" r:id="rId621"/>
    <p:sldId id="876" r:id="rId622"/>
    <p:sldId id="877" r:id="rId623"/>
    <p:sldId id="878" r:id="rId624"/>
    <p:sldId id="879" r:id="rId625"/>
    <p:sldId id="880" r:id="rId626"/>
    <p:sldId id="881" r:id="rId627"/>
    <p:sldId id="882" r:id="rId628"/>
    <p:sldId id="883" r:id="rId629"/>
    <p:sldId id="884" r:id="rId630"/>
    <p:sldId id="885" r:id="rId631"/>
    <p:sldId id="886" r:id="rId632"/>
    <p:sldId id="887" r:id="rId633"/>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lastView="sldThumbnailView">
  <p:normalViewPr horzBarState="maximized">
    <p:restoredLeft sz="14995" autoAdjust="0"/>
    <p:restoredTop sz="94660"/>
  </p:normalViewPr>
  <p:slideViewPr>
    <p:cSldViewPr snapToGrid="0">
      <p:cViewPr varScale="1">
        <p:scale>
          <a:sx n="67" d="100"/>
          <a:sy n="67" d="100"/>
        </p:scale>
        <p:origin x="644" y="44"/>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70" Type="http://schemas.openxmlformats.org/officeDocument/2006/relationships/slide" Target="slides/slide68.xml"/><Relationship Id="rId71"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77" Type="http://schemas.openxmlformats.org/officeDocument/2006/relationships/slide" Target="slides/slide75.xml"/><Relationship Id="rId78" Type="http://schemas.openxmlformats.org/officeDocument/2006/relationships/slide" Target="slides/slide76.xml"/><Relationship Id="rId79" Type="http://schemas.openxmlformats.org/officeDocument/2006/relationships/slide" Target="slides/slide77.xml"/><Relationship Id="rId80" Type="http://schemas.openxmlformats.org/officeDocument/2006/relationships/slide" Target="slides/slide78.xml"/><Relationship Id="rId81" Type="http://schemas.openxmlformats.org/officeDocument/2006/relationships/slide" Target="slides/slide79.xml"/><Relationship Id="rId82" Type="http://schemas.openxmlformats.org/officeDocument/2006/relationships/slide" Target="slides/slide80.xml"/><Relationship Id="rId83" Type="http://schemas.openxmlformats.org/officeDocument/2006/relationships/slide" Target="slides/slide81.xml"/><Relationship Id="rId84" Type="http://schemas.openxmlformats.org/officeDocument/2006/relationships/slide" Target="slides/slide82.xml"/><Relationship Id="rId85" Type="http://schemas.openxmlformats.org/officeDocument/2006/relationships/slide" Target="slides/slide83.xml"/><Relationship Id="rId86" Type="http://schemas.openxmlformats.org/officeDocument/2006/relationships/slide" Target="slides/slide84.xml"/><Relationship Id="rId87" Type="http://schemas.openxmlformats.org/officeDocument/2006/relationships/slide" Target="slides/slide85.xml"/><Relationship Id="rId88" Type="http://schemas.openxmlformats.org/officeDocument/2006/relationships/slide" Target="slides/slide86.xml"/><Relationship Id="rId89" Type="http://schemas.openxmlformats.org/officeDocument/2006/relationships/slide" Target="slides/slide87.xml"/><Relationship Id="rId90" Type="http://schemas.openxmlformats.org/officeDocument/2006/relationships/slide" Target="slides/slide88.xml"/><Relationship Id="rId91" Type="http://schemas.openxmlformats.org/officeDocument/2006/relationships/slide" Target="slides/slide89.xml"/><Relationship Id="rId92" Type="http://schemas.openxmlformats.org/officeDocument/2006/relationships/slide" Target="slides/slide90.xml"/><Relationship Id="rId93" Type="http://schemas.openxmlformats.org/officeDocument/2006/relationships/slide" Target="slides/slide91.xml"/><Relationship Id="rId94" Type="http://schemas.openxmlformats.org/officeDocument/2006/relationships/slide" Target="slides/slide92.xml"/><Relationship Id="rId95" Type="http://schemas.openxmlformats.org/officeDocument/2006/relationships/slide" Target="slides/slide93.xml"/><Relationship Id="rId96" Type="http://schemas.openxmlformats.org/officeDocument/2006/relationships/slide" Target="slides/slide94.xml"/><Relationship Id="rId97" Type="http://schemas.openxmlformats.org/officeDocument/2006/relationships/slide" Target="slides/slide95.xml"/><Relationship Id="rId98" Type="http://schemas.openxmlformats.org/officeDocument/2006/relationships/slide" Target="slides/slide96.xml"/><Relationship Id="rId99" Type="http://schemas.openxmlformats.org/officeDocument/2006/relationships/slide" Target="slides/slide97.xml"/><Relationship Id="rId100" Type="http://schemas.openxmlformats.org/officeDocument/2006/relationships/slide" Target="slides/slide98.xml"/><Relationship Id="rId101" Type="http://schemas.openxmlformats.org/officeDocument/2006/relationships/slide" Target="slides/slide99.xml"/><Relationship Id="rId102" Type="http://schemas.openxmlformats.org/officeDocument/2006/relationships/slide" Target="slides/slide100.xml"/><Relationship Id="rId103" Type="http://schemas.openxmlformats.org/officeDocument/2006/relationships/slide" Target="slides/slide101.xml"/><Relationship Id="rId104" Type="http://schemas.openxmlformats.org/officeDocument/2006/relationships/slide" Target="slides/slide102.xml"/><Relationship Id="rId105" Type="http://schemas.openxmlformats.org/officeDocument/2006/relationships/slide" Target="slides/slide103.xml"/><Relationship Id="rId106" Type="http://schemas.openxmlformats.org/officeDocument/2006/relationships/slide" Target="slides/slide104.xml"/><Relationship Id="rId107" Type="http://schemas.openxmlformats.org/officeDocument/2006/relationships/slide" Target="slides/slide105.xml"/><Relationship Id="rId108" Type="http://schemas.openxmlformats.org/officeDocument/2006/relationships/slide" Target="slides/slide106.xml"/><Relationship Id="rId109" Type="http://schemas.openxmlformats.org/officeDocument/2006/relationships/slide" Target="slides/slide107.xml"/><Relationship Id="rId110" Type="http://schemas.openxmlformats.org/officeDocument/2006/relationships/slide" Target="slides/slide108.xml"/><Relationship Id="rId111" Type="http://schemas.openxmlformats.org/officeDocument/2006/relationships/slide" Target="slides/slide109.xml"/><Relationship Id="rId112" Type="http://schemas.openxmlformats.org/officeDocument/2006/relationships/slide" Target="slides/slide110.xml"/><Relationship Id="rId113" Type="http://schemas.openxmlformats.org/officeDocument/2006/relationships/slide" Target="slides/slide111.xml"/><Relationship Id="rId114" Type="http://schemas.openxmlformats.org/officeDocument/2006/relationships/slide" Target="slides/slide112.xml"/><Relationship Id="rId115" Type="http://schemas.openxmlformats.org/officeDocument/2006/relationships/slide" Target="slides/slide113.xml"/><Relationship Id="rId116" Type="http://schemas.openxmlformats.org/officeDocument/2006/relationships/slide" Target="slides/slide114.xml"/><Relationship Id="rId117" Type="http://schemas.openxmlformats.org/officeDocument/2006/relationships/slide" Target="slides/slide115.xml"/><Relationship Id="rId118" Type="http://schemas.openxmlformats.org/officeDocument/2006/relationships/slide" Target="slides/slide116.xml"/><Relationship Id="rId119" Type="http://schemas.openxmlformats.org/officeDocument/2006/relationships/slide" Target="slides/slide117.xml"/><Relationship Id="rId120" Type="http://schemas.openxmlformats.org/officeDocument/2006/relationships/slide" Target="slides/slide118.xml"/><Relationship Id="rId121" Type="http://schemas.openxmlformats.org/officeDocument/2006/relationships/slide" Target="slides/slide119.xml"/><Relationship Id="rId122" Type="http://schemas.openxmlformats.org/officeDocument/2006/relationships/slide" Target="slides/slide120.xml"/><Relationship Id="rId123" Type="http://schemas.openxmlformats.org/officeDocument/2006/relationships/slide" Target="slides/slide121.xml"/><Relationship Id="rId124" Type="http://schemas.openxmlformats.org/officeDocument/2006/relationships/slide" Target="slides/slide122.xml"/><Relationship Id="rId125" Type="http://schemas.openxmlformats.org/officeDocument/2006/relationships/slide" Target="slides/slide123.xml"/><Relationship Id="rId126" Type="http://schemas.openxmlformats.org/officeDocument/2006/relationships/slide" Target="slides/slide124.xml"/><Relationship Id="rId127" Type="http://schemas.openxmlformats.org/officeDocument/2006/relationships/slide" Target="slides/slide125.xml"/><Relationship Id="rId128" Type="http://schemas.openxmlformats.org/officeDocument/2006/relationships/slide" Target="slides/slide126.xml"/><Relationship Id="rId129" Type="http://schemas.openxmlformats.org/officeDocument/2006/relationships/slide" Target="slides/slide127.xml"/><Relationship Id="rId130" Type="http://schemas.openxmlformats.org/officeDocument/2006/relationships/slide" Target="slides/slide128.xml"/><Relationship Id="rId131" Type="http://schemas.openxmlformats.org/officeDocument/2006/relationships/slide" Target="slides/slide129.xml"/><Relationship Id="rId132" Type="http://schemas.openxmlformats.org/officeDocument/2006/relationships/slide" Target="slides/slide130.xml"/><Relationship Id="rId133" Type="http://schemas.openxmlformats.org/officeDocument/2006/relationships/slide" Target="slides/slide131.xml"/><Relationship Id="rId134" Type="http://schemas.openxmlformats.org/officeDocument/2006/relationships/slide" Target="slides/slide132.xml"/><Relationship Id="rId135" Type="http://schemas.openxmlformats.org/officeDocument/2006/relationships/slide" Target="slides/slide133.xml"/><Relationship Id="rId136" Type="http://schemas.openxmlformats.org/officeDocument/2006/relationships/slide" Target="slides/slide134.xml"/><Relationship Id="rId137" Type="http://schemas.openxmlformats.org/officeDocument/2006/relationships/slide" Target="slides/slide135.xml"/><Relationship Id="rId138" Type="http://schemas.openxmlformats.org/officeDocument/2006/relationships/slide" Target="slides/slide136.xml"/><Relationship Id="rId139" Type="http://schemas.openxmlformats.org/officeDocument/2006/relationships/slide" Target="slides/slide137.xml"/><Relationship Id="rId140" Type="http://schemas.openxmlformats.org/officeDocument/2006/relationships/slide" Target="slides/slide138.xml"/><Relationship Id="rId141" Type="http://schemas.openxmlformats.org/officeDocument/2006/relationships/slide" Target="slides/slide139.xml"/><Relationship Id="rId142" Type="http://schemas.openxmlformats.org/officeDocument/2006/relationships/slide" Target="slides/slide140.xml"/><Relationship Id="rId143" Type="http://schemas.openxmlformats.org/officeDocument/2006/relationships/slide" Target="slides/slide141.xml"/><Relationship Id="rId144" Type="http://schemas.openxmlformats.org/officeDocument/2006/relationships/slide" Target="slides/slide142.xml"/><Relationship Id="rId145" Type="http://schemas.openxmlformats.org/officeDocument/2006/relationships/slide" Target="slides/slide143.xml"/><Relationship Id="rId146" Type="http://schemas.openxmlformats.org/officeDocument/2006/relationships/slide" Target="slides/slide144.xml"/><Relationship Id="rId147" Type="http://schemas.openxmlformats.org/officeDocument/2006/relationships/slide" Target="slides/slide145.xml"/><Relationship Id="rId148" Type="http://schemas.openxmlformats.org/officeDocument/2006/relationships/slide" Target="slides/slide146.xml"/><Relationship Id="rId149" Type="http://schemas.openxmlformats.org/officeDocument/2006/relationships/slide" Target="slides/slide147.xml"/><Relationship Id="rId150" Type="http://schemas.openxmlformats.org/officeDocument/2006/relationships/slide" Target="slides/slide148.xml"/><Relationship Id="rId151" Type="http://schemas.openxmlformats.org/officeDocument/2006/relationships/slide" Target="slides/slide149.xml"/><Relationship Id="rId152" Type="http://schemas.openxmlformats.org/officeDocument/2006/relationships/slide" Target="slides/slide150.xml"/><Relationship Id="rId153" Type="http://schemas.openxmlformats.org/officeDocument/2006/relationships/slide" Target="slides/slide151.xml"/><Relationship Id="rId154" Type="http://schemas.openxmlformats.org/officeDocument/2006/relationships/slide" Target="slides/slide152.xml"/><Relationship Id="rId155" Type="http://schemas.openxmlformats.org/officeDocument/2006/relationships/slide" Target="slides/slide153.xml"/><Relationship Id="rId156" Type="http://schemas.openxmlformats.org/officeDocument/2006/relationships/slide" Target="slides/slide154.xml"/><Relationship Id="rId157" Type="http://schemas.openxmlformats.org/officeDocument/2006/relationships/slide" Target="slides/slide155.xml"/><Relationship Id="rId158" Type="http://schemas.openxmlformats.org/officeDocument/2006/relationships/slide" Target="slides/slide156.xml"/><Relationship Id="rId159" Type="http://schemas.openxmlformats.org/officeDocument/2006/relationships/slide" Target="slides/slide157.xml"/><Relationship Id="rId160" Type="http://schemas.openxmlformats.org/officeDocument/2006/relationships/slide" Target="slides/slide158.xml"/><Relationship Id="rId161" Type="http://schemas.openxmlformats.org/officeDocument/2006/relationships/slide" Target="slides/slide159.xml"/><Relationship Id="rId162" Type="http://schemas.openxmlformats.org/officeDocument/2006/relationships/slide" Target="slides/slide160.xml"/><Relationship Id="rId163" Type="http://schemas.openxmlformats.org/officeDocument/2006/relationships/slide" Target="slides/slide161.xml"/><Relationship Id="rId164" Type="http://schemas.openxmlformats.org/officeDocument/2006/relationships/slide" Target="slides/slide162.xml"/><Relationship Id="rId165" Type="http://schemas.openxmlformats.org/officeDocument/2006/relationships/slide" Target="slides/slide163.xml"/><Relationship Id="rId166" Type="http://schemas.openxmlformats.org/officeDocument/2006/relationships/slide" Target="slides/slide164.xml"/><Relationship Id="rId167" Type="http://schemas.openxmlformats.org/officeDocument/2006/relationships/slide" Target="slides/slide165.xml"/><Relationship Id="rId168" Type="http://schemas.openxmlformats.org/officeDocument/2006/relationships/slide" Target="slides/slide166.xml"/><Relationship Id="rId169" Type="http://schemas.openxmlformats.org/officeDocument/2006/relationships/slide" Target="slides/slide167.xml"/><Relationship Id="rId170" Type="http://schemas.openxmlformats.org/officeDocument/2006/relationships/slide" Target="slides/slide168.xml"/><Relationship Id="rId171" Type="http://schemas.openxmlformats.org/officeDocument/2006/relationships/slide" Target="slides/slide169.xml"/><Relationship Id="rId172" Type="http://schemas.openxmlformats.org/officeDocument/2006/relationships/slide" Target="slides/slide170.xml"/><Relationship Id="rId173" Type="http://schemas.openxmlformats.org/officeDocument/2006/relationships/slide" Target="slides/slide171.xml"/><Relationship Id="rId174" Type="http://schemas.openxmlformats.org/officeDocument/2006/relationships/slide" Target="slides/slide172.xml"/><Relationship Id="rId175" Type="http://schemas.openxmlformats.org/officeDocument/2006/relationships/slide" Target="slides/slide173.xml"/><Relationship Id="rId176" Type="http://schemas.openxmlformats.org/officeDocument/2006/relationships/slide" Target="slides/slide174.xml"/><Relationship Id="rId177" Type="http://schemas.openxmlformats.org/officeDocument/2006/relationships/slide" Target="slides/slide175.xml"/><Relationship Id="rId178" Type="http://schemas.openxmlformats.org/officeDocument/2006/relationships/slide" Target="slides/slide176.xml"/><Relationship Id="rId179" Type="http://schemas.openxmlformats.org/officeDocument/2006/relationships/slide" Target="slides/slide177.xml"/><Relationship Id="rId180" Type="http://schemas.openxmlformats.org/officeDocument/2006/relationships/slide" Target="slides/slide178.xml"/><Relationship Id="rId181" Type="http://schemas.openxmlformats.org/officeDocument/2006/relationships/slide" Target="slides/slide179.xml"/><Relationship Id="rId182" Type="http://schemas.openxmlformats.org/officeDocument/2006/relationships/slide" Target="slides/slide180.xml"/><Relationship Id="rId183" Type="http://schemas.openxmlformats.org/officeDocument/2006/relationships/slide" Target="slides/slide181.xml"/><Relationship Id="rId184" Type="http://schemas.openxmlformats.org/officeDocument/2006/relationships/slide" Target="slides/slide182.xml"/><Relationship Id="rId185" Type="http://schemas.openxmlformats.org/officeDocument/2006/relationships/slide" Target="slides/slide183.xml"/><Relationship Id="rId186" Type="http://schemas.openxmlformats.org/officeDocument/2006/relationships/slide" Target="slides/slide184.xml"/><Relationship Id="rId187" Type="http://schemas.openxmlformats.org/officeDocument/2006/relationships/slide" Target="slides/slide185.xml"/><Relationship Id="rId188" Type="http://schemas.openxmlformats.org/officeDocument/2006/relationships/slide" Target="slides/slide186.xml"/><Relationship Id="rId189" Type="http://schemas.openxmlformats.org/officeDocument/2006/relationships/slide" Target="slides/slide187.xml"/><Relationship Id="rId190" Type="http://schemas.openxmlformats.org/officeDocument/2006/relationships/slide" Target="slides/slide188.xml"/><Relationship Id="rId191" Type="http://schemas.openxmlformats.org/officeDocument/2006/relationships/slide" Target="slides/slide189.xml"/><Relationship Id="rId192" Type="http://schemas.openxmlformats.org/officeDocument/2006/relationships/slide" Target="slides/slide190.xml"/><Relationship Id="rId193" Type="http://schemas.openxmlformats.org/officeDocument/2006/relationships/slide" Target="slides/slide191.xml"/><Relationship Id="rId194" Type="http://schemas.openxmlformats.org/officeDocument/2006/relationships/slide" Target="slides/slide192.xml"/><Relationship Id="rId195" Type="http://schemas.openxmlformats.org/officeDocument/2006/relationships/slide" Target="slides/slide193.xml"/><Relationship Id="rId196" Type="http://schemas.openxmlformats.org/officeDocument/2006/relationships/slide" Target="slides/slide194.xml"/><Relationship Id="rId197" Type="http://schemas.openxmlformats.org/officeDocument/2006/relationships/slide" Target="slides/slide195.xml"/><Relationship Id="rId198" Type="http://schemas.openxmlformats.org/officeDocument/2006/relationships/slide" Target="slides/slide196.xml"/><Relationship Id="rId199" Type="http://schemas.openxmlformats.org/officeDocument/2006/relationships/slide" Target="slides/slide197.xml"/><Relationship Id="rId200" Type="http://schemas.openxmlformats.org/officeDocument/2006/relationships/slide" Target="slides/slide198.xml"/><Relationship Id="rId201" Type="http://schemas.openxmlformats.org/officeDocument/2006/relationships/slide" Target="slides/slide199.xml"/><Relationship Id="rId202" Type="http://schemas.openxmlformats.org/officeDocument/2006/relationships/slide" Target="slides/slide200.xml"/><Relationship Id="rId203" Type="http://schemas.openxmlformats.org/officeDocument/2006/relationships/slide" Target="slides/slide201.xml"/><Relationship Id="rId204" Type="http://schemas.openxmlformats.org/officeDocument/2006/relationships/slide" Target="slides/slide202.xml"/><Relationship Id="rId205" Type="http://schemas.openxmlformats.org/officeDocument/2006/relationships/slide" Target="slides/slide203.xml"/><Relationship Id="rId206" Type="http://schemas.openxmlformats.org/officeDocument/2006/relationships/slide" Target="slides/slide204.xml"/><Relationship Id="rId207" Type="http://schemas.openxmlformats.org/officeDocument/2006/relationships/slide" Target="slides/slide205.xml"/><Relationship Id="rId208" Type="http://schemas.openxmlformats.org/officeDocument/2006/relationships/slide" Target="slides/slide206.xml"/><Relationship Id="rId209" Type="http://schemas.openxmlformats.org/officeDocument/2006/relationships/slide" Target="slides/slide207.xml"/><Relationship Id="rId210" Type="http://schemas.openxmlformats.org/officeDocument/2006/relationships/slide" Target="slides/slide208.xml"/><Relationship Id="rId211" Type="http://schemas.openxmlformats.org/officeDocument/2006/relationships/slide" Target="slides/slide209.xml"/><Relationship Id="rId212" Type="http://schemas.openxmlformats.org/officeDocument/2006/relationships/slide" Target="slides/slide210.xml"/><Relationship Id="rId213" Type="http://schemas.openxmlformats.org/officeDocument/2006/relationships/slide" Target="slides/slide211.xml"/><Relationship Id="rId214" Type="http://schemas.openxmlformats.org/officeDocument/2006/relationships/slide" Target="slides/slide212.xml"/><Relationship Id="rId215" Type="http://schemas.openxmlformats.org/officeDocument/2006/relationships/slide" Target="slides/slide213.xml"/><Relationship Id="rId216" Type="http://schemas.openxmlformats.org/officeDocument/2006/relationships/slide" Target="slides/slide214.xml"/><Relationship Id="rId217" Type="http://schemas.openxmlformats.org/officeDocument/2006/relationships/slide" Target="slides/slide215.xml"/><Relationship Id="rId218" Type="http://schemas.openxmlformats.org/officeDocument/2006/relationships/slide" Target="slides/slide216.xml"/><Relationship Id="rId219" Type="http://schemas.openxmlformats.org/officeDocument/2006/relationships/slide" Target="slides/slide217.xml"/><Relationship Id="rId220" Type="http://schemas.openxmlformats.org/officeDocument/2006/relationships/slide" Target="slides/slide218.xml"/><Relationship Id="rId221" Type="http://schemas.openxmlformats.org/officeDocument/2006/relationships/slide" Target="slides/slide219.xml"/><Relationship Id="rId222" Type="http://schemas.openxmlformats.org/officeDocument/2006/relationships/slide" Target="slides/slide220.xml"/><Relationship Id="rId223" Type="http://schemas.openxmlformats.org/officeDocument/2006/relationships/slide" Target="slides/slide221.xml"/><Relationship Id="rId224" Type="http://schemas.openxmlformats.org/officeDocument/2006/relationships/slide" Target="slides/slide222.xml"/><Relationship Id="rId225" Type="http://schemas.openxmlformats.org/officeDocument/2006/relationships/slide" Target="slides/slide223.xml"/><Relationship Id="rId226" Type="http://schemas.openxmlformats.org/officeDocument/2006/relationships/slide" Target="slides/slide224.xml"/><Relationship Id="rId227" Type="http://schemas.openxmlformats.org/officeDocument/2006/relationships/slide" Target="slides/slide225.xml"/><Relationship Id="rId228" Type="http://schemas.openxmlformats.org/officeDocument/2006/relationships/slide" Target="slides/slide226.xml"/><Relationship Id="rId229" Type="http://schemas.openxmlformats.org/officeDocument/2006/relationships/slide" Target="slides/slide227.xml"/><Relationship Id="rId230" Type="http://schemas.openxmlformats.org/officeDocument/2006/relationships/slide" Target="slides/slide228.xml"/><Relationship Id="rId231" Type="http://schemas.openxmlformats.org/officeDocument/2006/relationships/slide" Target="slides/slide229.xml"/><Relationship Id="rId232" Type="http://schemas.openxmlformats.org/officeDocument/2006/relationships/slide" Target="slides/slide230.xml"/><Relationship Id="rId233" Type="http://schemas.openxmlformats.org/officeDocument/2006/relationships/slide" Target="slides/slide231.xml"/><Relationship Id="rId234" Type="http://schemas.openxmlformats.org/officeDocument/2006/relationships/slide" Target="slides/slide232.xml"/><Relationship Id="rId235" Type="http://schemas.openxmlformats.org/officeDocument/2006/relationships/slide" Target="slides/slide233.xml"/><Relationship Id="rId236" Type="http://schemas.openxmlformats.org/officeDocument/2006/relationships/slide" Target="slides/slide234.xml"/><Relationship Id="rId237" Type="http://schemas.openxmlformats.org/officeDocument/2006/relationships/slide" Target="slides/slide235.xml"/><Relationship Id="rId238" Type="http://schemas.openxmlformats.org/officeDocument/2006/relationships/slide" Target="slides/slide236.xml"/><Relationship Id="rId239" Type="http://schemas.openxmlformats.org/officeDocument/2006/relationships/slide" Target="slides/slide237.xml"/><Relationship Id="rId240" Type="http://schemas.openxmlformats.org/officeDocument/2006/relationships/slide" Target="slides/slide238.xml"/><Relationship Id="rId241" Type="http://schemas.openxmlformats.org/officeDocument/2006/relationships/slide" Target="slides/slide239.xml"/><Relationship Id="rId242" Type="http://schemas.openxmlformats.org/officeDocument/2006/relationships/slide" Target="slides/slide240.xml"/><Relationship Id="rId243" Type="http://schemas.openxmlformats.org/officeDocument/2006/relationships/slide" Target="slides/slide241.xml"/><Relationship Id="rId244" Type="http://schemas.openxmlformats.org/officeDocument/2006/relationships/slide" Target="slides/slide242.xml"/><Relationship Id="rId245" Type="http://schemas.openxmlformats.org/officeDocument/2006/relationships/slide" Target="slides/slide243.xml"/><Relationship Id="rId246" Type="http://schemas.openxmlformats.org/officeDocument/2006/relationships/slide" Target="slides/slide244.xml"/><Relationship Id="rId247" Type="http://schemas.openxmlformats.org/officeDocument/2006/relationships/slide" Target="slides/slide245.xml"/><Relationship Id="rId248" Type="http://schemas.openxmlformats.org/officeDocument/2006/relationships/slide" Target="slides/slide246.xml"/><Relationship Id="rId249" Type="http://schemas.openxmlformats.org/officeDocument/2006/relationships/slide" Target="slides/slide247.xml"/><Relationship Id="rId250" Type="http://schemas.openxmlformats.org/officeDocument/2006/relationships/slide" Target="slides/slide248.xml"/><Relationship Id="rId251" Type="http://schemas.openxmlformats.org/officeDocument/2006/relationships/slide" Target="slides/slide249.xml"/><Relationship Id="rId252" Type="http://schemas.openxmlformats.org/officeDocument/2006/relationships/slide" Target="slides/slide250.xml"/><Relationship Id="rId253" Type="http://schemas.openxmlformats.org/officeDocument/2006/relationships/slide" Target="slides/slide251.xml"/><Relationship Id="rId254" Type="http://schemas.openxmlformats.org/officeDocument/2006/relationships/slide" Target="slides/slide252.xml"/><Relationship Id="rId255" Type="http://schemas.openxmlformats.org/officeDocument/2006/relationships/slide" Target="slides/slide253.xml"/><Relationship Id="rId256" Type="http://schemas.openxmlformats.org/officeDocument/2006/relationships/slide" Target="slides/slide254.xml"/><Relationship Id="rId257" Type="http://schemas.openxmlformats.org/officeDocument/2006/relationships/slide" Target="slides/slide255.xml"/><Relationship Id="rId258" Type="http://schemas.openxmlformats.org/officeDocument/2006/relationships/slide" Target="slides/slide256.xml"/><Relationship Id="rId259" Type="http://schemas.openxmlformats.org/officeDocument/2006/relationships/slide" Target="slides/slide257.xml"/><Relationship Id="rId260" Type="http://schemas.openxmlformats.org/officeDocument/2006/relationships/slide" Target="slides/slide258.xml"/><Relationship Id="rId261" Type="http://schemas.openxmlformats.org/officeDocument/2006/relationships/slide" Target="slides/slide259.xml"/><Relationship Id="rId262" Type="http://schemas.openxmlformats.org/officeDocument/2006/relationships/slide" Target="slides/slide260.xml"/><Relationship Id="rId263" Type="http://schemas.openxmlformats.org/officeDocument/2006/relationships/slide" Target="slides/slide261.xml"/><Relationship Id="rId264" Type="http://schemas.openxmlformats.org/officeDocument/2006/relationships/slide" Target="slides/slide262.xml"/><Relationship Id="rId265" Type="http://schemas.openxmlformats.org/officeDocument/2006/relationships/slide" Target="slides/slide263.xml"/><Relationship Id="rId266" Type="http://schemas.openxmlformats.org/officeDocument/2006/relationships/slide" Target="slides/slide264.xml"/><Relationship Id="rId267" Type="http://schemas.openxmlformats.org/officeDocument/2006/relationships/slide" Target="slides/slide265.xml"/><Relationship Id="rId268" Type="http://schemas.openxmlformats.org/officeDocument/2006/relationships/slide" Target="slides/slide266.xml"/><Relationship Id="rId269" Type="http://schemas.openxmlformats.org/officeDocument/2006/relationships/slide" Target="slides/slide267.xml"/><Relationship Id="rId270" Type="http://schemas.openxmlformats.org/officeDocument/2006/relationships/slide" Target="slides/slide268.xml"/><Relationship Id="rId271" Type="http://schemas.openxmlformats.org/officeDocument/2006/relationships/slide" Target="slides/slide269.xml"/><Relationship Id="rId272" Type="http://schemas.openxmlformats.org/officeDocument/2006/relationships/slide" Target="slides/slide270.xml"/><Relationship Id="rId273" Type="http://schemas.openxmlformats.org/officeDocument/2006/relationships/slide" Target="slides/slide271.xml"/><Relationship Id="rId274" Type="http://schemas.openxmlformats.org/officeDocument/2006/relationships/slide" Target="slides/slide272.xml"/><Relationship Id="rId275" Type="http://schemas.openxmlformats.org/officeDocument/2006/relationships/slide" Target="slides/slide273.xml"/><Relationship Id="rId276" Type="http://schemas.openxmlformats.org/officeDocument/2006/relationships/slide" Target="slides/slide274.xml"/><Relationship Id="rId277" Type="http://schemas.openxmlformats.org/officeDocument/2006/relationships/slide" Target="slides/slide275.xml"/><Relationship Id="rId278" Type="http://schemas.openxmlformats.org/officeDocument/2006/relationships/slide" Target="slides/slide276.xml"/><Relationship Id="rId279" Type="http://schemas.openxmlformats.org/officeDocument/2006/relationships/slide" Target="slides/slide277.xml"/><Relationship Id="rId280" Type="http://schemas.openxmlformats.org/officeDocument/2006/relationships/slide" Target="slides/slide278.xml"/><Relationship Id="rId281" Type="http://schemas.openxmlformats.org/officeDocument/2006/relationships/slide" Target="slides/slide279.xml"/><Relationship Id="rId282" Type="http://schemas.openxmlformats.org/officeDocument/2006/relationships/slide" Target="slides/slide280.xml"/><Relationship Id="rId283" Type="http://schemas.openxmlformats.org/officeDocument/2006/relationships/slide" Target="slides/slide281.xml"/><Relationship Id="rId284" Type="http://schemas.openxmlformats.org/officeDocument/2006/relationships/slide" Target="slides/slide282.xml"/><Relationship Id="rId285" Type="http://schemas.openxmlformats.org/officeDocument/2006/relationships/slide" Target="slides/slide283.xml"/><Relationship Id="rId286" Type="http://schemas.openxmlformats.org/officeDocument/2006/relationships/slide" Target="slides/slide284.xml"/><Relationship Id="rId287" Type="http://schemas.openxmlformats.org/officeDocument/2006/relationships/slide" Target="slides/slide285.xml"/><Relationship Id="rId288" Type="http://schemas.openxmlformats.org/officeDocument/2006/relationships/slide" Target="slides/slide286.xml"/><Relationship Id="rId289" Type="http://schemas.openxmlformats.org/officeDocument/2006/relationships/slide" Target="slides/slide287.xml"/><Relationship Id="rId290" Type="http://schemas.openxmlformats.org/officeDocument/2006/relationships/slide" Target="slides/slide288.xml"/><Relationship Id="rId291" Type="http://schemas.openxmlformats.org/officeDocument/2006/relationships/slide" Target="slides/slide289.xml"/><Relationship Id="rId292" Type="http://schemas.openxmlformats.org/officeDocument/2006/relationships/slide" Target="slides/slide290.xml"/><Relationship Id="rId293" Type="http://schemas.openxmlformats.org/officeDocument/2006/relationships/slide" Target="slides/slide291.xml"/><Relationship Id="rId294" Type="http://schemas.openxmlformats.org/officeDocument/2006/relationships/slide" Target="slides/slide292.xml"/><Relationship Id="rId295" Type="http://schemas.openxmlformats.org/officeDocument/2006/relationships/slide" Target="slides/slide293.xml"/><Relationship Id="rId296" Type="http://schemas.openxmlformats.org/officeDocument/2006/relationships/slide" Target="slides/slide294.xml"/><Relationship Id="rId297" Type="http://schemas.openxmlformats.org/officeDocument/2006/relationships/slide" Target="slides/slide295.xml"/><Relationship Id="rId298" Type="http://schemas.openxmlformats.org/officeDocument/2006/relationships/slide" Target="slides/slide296.xml"/><Relationship Id="rId299" Type="http://schemas.openxmlformats.org/officeDocument/2006/relationships/slide" Target="slides/slide297.xml"/><Relationship Id="rId300" Type="http://schemas.openxmlformats.org/officeDocument/2006/relationships/slide" Target="slides/slide298.xml"/><Relationship Id="rId301" Type="http://schemas.openxmlformats.org/officeDocument/2006/relationships/slide" Target="slides/slide299.xml"/><Relationship Id="rId302" Type="http://schemas.openxmlformats.org/officeDocument/2006/relationships/slide" Target="slides/slide300.xml"/><Relationship Id="rId303" Type="http://schemas.openxmlformats.org/officeDocument/2006/relationships/slide" Target="slides/slide301.xml"/><Relationship Id="rId304" Type="http://schemas.openxmlformats.org/officeDocument/2006/relationships/slide" Target="slides/slide302.xml"/><Relationship Id="rId305" Type="http://schemas.openxmlformats.org/officeDocument/2006/relationships/slide" Target="slides/slide303.xml"/><Relationship Id="rId306" Type="http://schemas.openxmlformats.org/officeDocument/2006/relationships/slide" Target="slides/slide304.xml"/><Relationship Id="rId307" Type="http://schemas.openxmlformats.org/officeDocument/2006/relationships/slide" Target="slides/slide305.xml"/><Relationship Id="rId308" Type="http://schemas.openxmlformats.org/officeDocument/2006/relationships/slide" Target="slides/slide306.xml"/><Relationship Id="rId309" Type="http://schemas.openxmlformats.org/officeDocument/2006/relationships/slide" Target="slides/slide307.xml"/><Relationship Id="rId310" Type="http://schemas.openxmlformats.org/officeDocument/2006/relationships/slide" Target="slides/slide308.xml"/><Relationship Id="rId311" Type="http://schemas.openxmlformats.org/officeDocument/2006/relationships/slide" Target="slides/slide309.xml"/><Relationship Id="rId312" Type="http://schemas.openxmlformats.org/officeDocument/2006/relationships/slide" Target="slides/slide310.xml"/><Relationship Id="rId313" Type="http://schemas.openxmlformats.org/officeDocument/2006/relationships/slide" Target="slides/slide311.xml"/><Relationship Id="rId314" Type="http://schemas.openxmlformats.org/officeDocument/2006/relationships/slide" Target="slides/slide312.xml"/><Relationship Id="rId315" Type="http://schemas.openxmlformats.org/officeDocument/2006/relationships/slide" Target="slides/slide313.xml"/><Relationship Id="rId316" Type="http://schemas.openxmlformats.org/officeDocument/2006/relationships/slide" Target="slides/slide314.xml"/><Relationship Id="rId317" Type="http://schemas.openxmlformats.org/officeDocument/2006/relationships/slide" Target="slides/slide315.xml"/><Relationship Id="rId318" Type="http://schemas.openxmlformats.org/officeDocument/2006/relationships/slide" Target="slides/slide316.xml"/><Relationship Id="rId319" Type="http://schemas.openxmlformats.org/officeDocument/2006/relationships/slide" Target="slides/slide317.xml"/><Relationship Id="rId320" Type="http://schemas.openxmlformats.org/officeDocument/2006/relationships/slide" Target="slides/slide318.xml"/><Relationship Id="rId321" Type="http://schemas.openxmlformats.org/officeDocument/2006/relationships/slide" Target="slides/slide319.xml"/><Relationship Id="rId322" Type="http://schemas.openxmlformats.org/officeDocument/2006/relationships/slide" Target="slides/slide320.xml"/><Relationship Id="rId323" Type="http://schemas.openxmlformats.org/officeDocument/2006/relationships/slide" Target="slides/slide321.xml"/><Relationship Id="rId324" Type="http://schemas.openxmlformats.org/officeDocument/2006/relationships/slide" Target="slides/slide322.xml"/><Relationship Id="rId325" Type="http://schemas.openxmlformats.org/officeDocument/2006/relationships/slide" Target="slides/slide323.xml"/><Relationship Id="rId326" Type="http://schemas.openxmlformats.org/officeDocument/2006/relationships/slide" Target="slides/slide324.xml"/><Relationship Id="rId327" Type="http://schemas.openxmlformats.org/officeDocument/2006/relationships/slide" Target="slides/slide325.xml"/><Relationship Id="rId328" Type="http://schemas.openxmlformats.org/officeDocument/2006/relationships/slide" Target="slides/slide326.xml"/><Relationship Id="rId329" Type="http://schemas.openxmlformats.org/officeDocument/2006/relationships/slide" Target="slides/slide327.xml"/><Relationship Id="rId330" Type="http://schemas.openxmlformats.org/officeDocument/2006/relationships/slide" Target="slides/slide328.xml"/><Relationship Id="rId331" Type="http://schemas.openxmlformats.org/officeDocument/2006/relationships/slide" Target="slides/slide329.xml"/><Relationship Id="rId332" Type="http://schemas.openxmlformats.org/officeDocument/2006/relationships/slide" Target="slides/slide330.xml"/><Relationship Id="rId333" Type="http://schemas.openxmlformats.org/officeDocument/2006/relationships/slide" Target="slides/slide331.xml"/><Relationship Id="rId334" Type="http://schemas.openxmlformats.org/officeDocument/2006/relationships/slide" Target="slides/slide332.xml"/><Relationship Id="rId335" Type="http://schemas.openxmlformats.org/officeDocument/2006/relationships/slide" Target="slides/slide333.xml"/><Relationship Id="rId336" Type="http://schemas.openxmlformats.org/officeDocument/2006/relationships/slide" Target="slides/slide334.xml"/><Relationship Id="rId337" Type="http://schemas.openxmlformats.org/officeDocument/2006/relationships/slide" Target="slides/slide335.xml"/><Relationship Id="rId338" Type="http://schemas.openxmlformats.org/officeDocument/2006/relationships/slide" Target="slides/slide336.xml"/><Relationship Id="rId339" Type="http://schemas.openxmlformats.org/officeDocument/2006/relationships/slide" Target="slides/slide337.xml"/><Relationship Id="rId340" Type="http://schemas.openxmlformats.org/officeDocument/2006/relationships/slide" Target="slides/slide338.xml"/><Relationship Id="rId341" Type="http://schemas.openxmlformats.org/officeDocument/2006/relationships/slide" Target="slides/slide339.xml"/><Relationship Id="rId342" Type="http://schemas.openxmlformats.org/officeDocument/2006/relationships/slide" Target="slides/slide340.xml"/><Relationship Id="rId343" Type="http://schemas.openxmlformats.org/officeDocument/2006/relationships/slide" Target="slides/slide341.xml"/><Relationship Id="rId344" Type="http://schemas.openxmlformats.org/officeDocument/2006/relationships/slide" Target="slides/slide342.xml"/><Relationship Id="rId345" Type="http://schemas.openxmlformats.org/officeDocument/2006/relationships/slide" Target="slides/slide343.xml"/><Relationship Id="rId346" Type="http://schemas.openxmlformats.org/officeDocument/2006/relationships/slide" Target="slides/slide344.xml"/><Relationship Id="rId347" Type="http://schemas.openxmlformats.org/officeDocument/2006/relationships/slide" Target="slides/slide345.xml"/><Relationship Id="rId348" Type="http://schemas.openxmlformats.org/officeDocument/2006/relationships/slide" Target="slides/slide346.xml"/><Relationship Id="rId349" Type="http://schemas.openxmlformats.org/officeDocument/2006/relationships/slide" Target="slides/slide347.xml"/><Relationship Id="rId350" Type="http://schemas.openxmlformats.org/officeDocument/2006/relationships/slide" Target="slides/slide348.xml"/><Relationship Id="rId351" Type="http://schemas.openxmlformats.org/officeDocument/2006/relationships/slide" Target="slides/slide349.xml"/><Relationship Id="rId352" Type="http://schemas.openxmlformats.org/officeDocument/2006/relationships/slide" Target="slides/slide350.xml"/><Relationship Id="rId353" Type="http://schemas.openxmlformats.org/officeDocument/2006/relationships/slide" Target="slides/slide351.xml"/><Relationship Id="rId354" Type="http://schemas.openxmlformats.org/officeDocument/2006/relationships/slide" Target="slides/slide352.xml"/><Relationship Id="rId355" Type="http://schemas.openxmlformats.org/officeDocument/2006/relationships/slide" Target="slides/slide353.xml"/><Relationship Id="rId356" Type="http://schemas.openxmlformats.org/officeDocument/2006/relationships/slide" Target="slides/slide354.xml"/><Relationship Id="rId357" Type="http://schemas.openxmlformats.org/officeDocument/2006/relationships/slide" Target="slides/slide355.xml"/><Relationship Id="rId358" Type="http://schemas.openxmlformats.org/officeDocument/2006/relationships/slide" Target="slides/slide356.xml"/><Relationship Id="rId359" Type="http://schemas.openxmlformats.org/officeDocument/2006/relationships/slide" Target="slides/slide357.xml"/><Relationship Id="rId360" Type="http://schemas.openxmlformats.org/officeDocument/2006/relationships/slide" Target="slides/slide358.xml"/><Relationship Id="rId361" Type="http://schemas.openxmlformats.org/officeDocument/2006/relationships/slide" Target="slides/slide359.xml"/><Relationship Id="rId362" Type="http://schemas.openxmlformats.org/officeDocument/2006/relationships/slide" Target="slides/slide360.xml"/><Relationship Id="rId363" Type="http://schemas.openxmlformats.org/officeDocument/2006/relationships/slide" Target="slides/slide361.xml"/><Relationship Id="rId364" Type="http://schemas.openxmlformats.org/officeDocument/2006/relationships/slide" Target="slides/slide362.xml"/><Relationship Id="rId365" Type="http://schemas.openxmlformats.org/officeDocument/2006/relationships/slide" Target="slides/slide363.xml"/><Relationship Id="rId366" Type="http://schemas.openxmlformats.org/officeDocument/2006/relationships/slide" Target="slides/slide364.xml"/><Relationship Id="rId367" Type="http://schemas.openxmlformats.org/officeDocument/2006/relationships/slide" Target="slides/slide365.xml"/><Relationship Id="rId368" Type="http://schemas.openxmlformats.org/officeDocument/2006/relationships/slide" Target="slides/slide366.xml"/><Relationship Id="rId369" Type="http://schemas.openxmlformats.org/officeDocument/2006/relationships/slide" Target="slides/slide367.xml"/><Relationship Id="rId370" Type="http://schemas.openxmlformats.org/officeDocument/2006/relationships/slide" Target="slides/slide368.xml"/><Relationship Id="rId371" Type="http://schemas.openxmlformats.org/officeDocument/2006/relationships/slide" Target="slides/slide369.xml"/><Relationship Id="rId372" Type="http://schemas.openxmlformats.org/officeDocument/2006/relationships/slide" Target="slides/slide370.xml"/><Relationship Id="rId373" Type="http://schemas.openxmlformats.org/officeDocument/2006/relationships/slide" Target="slides/slide371.xml"/><Relationship Id="rId374" Type="http://schemas.openxmlformats.org/officeDocument/2006/relationships/slide" Target="slides/slide372.xml"/><Relationship Id="rId375" Type="http://schemas.openxmlformats.org/officeDocument/2006/relationships/slide" Target="slides/slide373.xml"/><Relationship Id="rId376" Type="http://schemas.openxmlformats.org/officeDocument/2006/relationships/slide" Target="slides/slide374.xml"/><Relationship Id="rId377" Type="http://schemas.openxmlformats.org/officeDocument/2006/relationships/slide" Target="slides/slide375.xml"/><Relationship Id="rId378" Type="http://schemas.openxmlformats.org/officeDocument/2006/relationships/slide" Target="slides/slide376.xml"/><Relationship Id="rId379" Type="http://schemas.openxmlformats.org/officeDocument/2006/relationships/slide" Target="slides/slide377.xml"/><Relationship Id="rId380" Type="http://schemas.openxmlformats.org/officeDocument/2006/relationships/slide" Target="slides/slide378.xml"/><Relationship Id="rId381" Type="http://schemas.openxmlformats.org/officeDocument/2006/relationships/slide" Target="slides/slide379.xml"/><Relationship Id="rId382" Type="http://schemas.openxmlformats.org/officeDocument/2006/relationships/slide" Target="slides/slide380.xml"/><Relationship Id="rId383" Type="http://schemas.openxmlformats.org/officeDocument/2006/relationships/slide" Target="slides/slide381.xml"/><Relationship Id="rId384" Type="http://schemas.openxmlformats.org/officeDocument/2006/relationships/slide" Target="slides/slide382.xml"/><Relationship Id="rId385" Type="http://schemas.openxmlformats.org/officeDocument/2006/relationships/slide" Target="slides/slide383.xml"/><Relationship Id="rId386" Type="http://schemas.openxmlformats.org/officeDocument/2006/relationships/slide" Target="slides/slide384.xml"/><Relationship Id="rId387" Type="http://schemas.openxmlformats.org/officeDocument/2006/relationships/slide" Target="slides/slide385.xml"/><Relationship Id="rId388" Type="http://schemas.openxmlformats.org/officeDocument/2006/relationships/slide" Target="slides/slide386.xml"/><Relationship Id="rId389" Type="http://schemas.openxmlformats.org/officeDocument/2006/relationships/slide" Target="slides/slide387.xml"/><Relationship Id="rId390" Type="http://schemas.openxmlformats.org/officeDocument/2006/relationships/slide" Target="slides/slide388.xml"/><Relationship Id="rId391" Type="http://schemas.openxmlformats.org/officeDocument/2006/relationships/slide" Target="slides/slide389.xml"/><Relationship Id="rId392" Type="http://schemas.openxmlformats.org/officeDocument/2006/relationships/slide" Target="slides/slide390.xml"/><Relationship Id="rId393" Type="http://schemas.openxmlformats.org/officeDocument/2006/relationships/slide" Target="slides/slide391.xml"/><Relationship Id="rId394" Type="http://schemas.openxmlformats.org/officeDocument/2006/relationships/slide" Target="slides/slide392.xml"/><Relationship Id="rId395" Type="http://schemas.openxmlformats.org/officeDocument/2006/relationships/slide" Target="slides/slide393.xml"/><Relationship Id="rId396" Type="http://schemas.openxmlformats.org/officeDocument/2006/relationships/slide" Target="slides/slide394.xml"/><Relationship Id="rId397" Type="http://schemas.openxmlformats.org/officeDocument/2006/relationships/slide" Target="slides/slide395.xml"/><Relationship Id="rId398" Type="http://schemas.openxmlformats.org/officeDocument/2006/relationships/slide" Target="slides/slide396.xml"/><Relationship Id="rId399" Type="http://schemas.openxmlformats.org/officeDocument/2006/relationships/slide" Target="slides/slide397.xml"/><Relationship Id="rId400" Type="http://schemas.openxmlformats.org/officeDocument/2006/relationships/slide" Target="slides/slide398.xml"/><Relationship Id="rId401" Type="http://schemas.openxmlformats.org/officeDocument/2006/relationships/slide" Target="slides/slide399.xml"/><Relationship Id="rId402" Type="http://schemas.openxmlformats.org/officeDocument/2006/relationships/slide" Target="slides/slide400.xml"/><Relationship Id="rId403" Type="http://schemas.openxmlformats.org/officeDocument/2006/relationships/slide" Target="slides/slide401.xml"/><Relationship Id="rId404" Type="http://schemas.openxmlformats.org/officeDocument/2006/relationships/slide" Target="slides/slide402.xml"/><Relationship Id="rId405" Type="http://schemas.openxmlformats.org/officeDocument/2006/relationships/slide" Target="slides/slide403.xml"/><Relationship Id="rId406" Type="http://schemas.openxmlformats.org/officeDocument/2006/relationships/slide" Target="slides/slide404.xml"/><Relationship Id="rId407" Type="http://schemas.openxmlformats.org/officeDocument/2006/relationships/slide" Target="slides/slide405.xml"/><Relationship Id="rId408" Type="http://schemas.openxmlformats.org/officeDocument/2006/relationships/slide" Target="slides/slide406.xml"/><Relationship Id="rId409" Type="http://schemas.openxmlformats.org/officeDocument/2006/relationships/slide" Target="slides/slide407.xml"/><Relationship Id="rId410" Type="http://schemas.openxmlformats.org/officeDocument/2006/relationships/slide" Target="slides/slide408.xml"/><Relationship Id="rId411" Type="http://schemas.openxmlformats.org/officeDocument/2006/relationships/slide" Target="slides/slide409.xml"/><Relationship Id="rId412" Type="http://schemas.openxmlformats.org/officeDocument/2006/relationships/slide" Target="slides/slide410.xml"/><Relationship Id="rId413" Type="http://schemas.openxmlformats.org/officeDocument/2006/relationships/slide" Target="slides/slide411.xml"/><Relationship Id="rId414" Type="http://schemas.openxmlformats.org/officeDocument/2006/relationships/slide" Target="slides/slide412.xml"/><Relationship Id="rId415" Type="http://schemas.openxmlformats.org/officeDocument/2006/relationships/slide" Target="slides/slide413.xml"/><Relationship Id="rId416" Type="http://schemas.openxmlformats.org/officeDocument/2006/relationships/slide" Target="slides/slide414.xml"/><Relationship Id="rId417" Type="http://schemas.openxmlformats.org/officeDocument/2006/relationships/slide" Target="slides/slide415.xml"/><Relationship Id="rId418" Type="http://schemas.openxmlformats.org/officeDocument/2006/relationships/slide" Target="slides/slide416.xml"/><Relationship Id="rId419" Type="http://schemas.openxmlformats.org/officeDocument/2006/relationships/slide" Target="slides/slide417.xml"/><Relationship Id="rId420" Type="http://schemas.openxmlformats.org/officeDocument/2006/relationships/slide" Target="slides/slide418.xml"/><Relationship Id="rId421" Type="http://schemas.openxmlformats.org/officeDocument/2006/relationships/slide" Target="slides/slide419.xml"/><Relationship Id="rId422" Type="http://schemas.openxmlformats.org/officeDocument/2006/relationships/slide" Target="slides/slide420.xml"/><Relationship Id="rId423" Type="http://schemas.openxmlformats.org/officeDocument/2006/relationships/slide" Target="slides/slide421.xml"/><Relationship Id="rId424" Type="http://schemas.openxmlformats.org/officeDocument/2006/relationships/slide" Target="slides/slide422.xml"/><Relationship Id="rId425" Type="http://schemas.openxmlformats.org/officeDocument/2006/relationships/slide" Target="slides/slide423.xml"/><Relationship Id="rId426" Type="http://schemas.openxmlformats.org/officeDocument/2006/relationships/slide" Target="slides/slide424.xml"/><Relationship Id="rId427" Type="http://schemas.openxmlformats.org/officeDocument/2006/relationships/slide" Target="slides/slide425.xml"/><Relationship Id="rId428" Type="http://schemas.openxmlformats.org/officeDocument/2006/relationships/slide" Target="slides/slide426.xml"/><Relationship Id="rId429" Type="http://schemas.openxmlformats.org/officeDocument/2006/relationships/slide" Target="slides/slide427.xml"/><Relationship Id="rId430" Type="http://schemas.openxmlformats.org/officeDocument/2006/relationships/slide" Target="slides/slide428.xml"/><Relationship Id="rId431" Type="http://schemas.openxmlformats.org/officeDocument/2006/relationships/slide" Target="slides/slide429.xml"/><Relationship Id="rId432" Type="http://schemas.openxmlformats.org/officeDocument/2006/relationships/slide" Target="slides/slide430.xml"/><Relationship Id="rId433" Type="http://schemas.openxmlformats.org/officeDocument/2006/relationships/slide" Target="slides/slide431.xml"/><Relationship Id="rId434" Type="http://schemas.openxmlformats.org/officeDocument/2006/relationships/slide" Target="slides/slide432.xml"/><Relationship Id="rId435" Type="http://schemas.openxmlformats.org/officeDocument/2006/relationships/slide" Target="slides/slide433.xml"/><Relationship Id="rId436" Type="http://schemas.openxmlformats.org/officeDocument/2006/relationships/slide" Target="slides/slide434.xml"/><Relationship Id="rId437" Type="http://schemas.openxmlformats.org/officeDocument/2006/relationships/slide" Target="slides/slide435.xml"/><Relationship Id="rId438" Type="http://schemas.openxmlformats.org/officeDocument/2006/relationships/slide" Target="slides/slide436.xml"/><Relationship Id="rId439" Type="http://schemas.openxmlformats.org/officeDocument/2006/relationships/slide" Target="slides/slide437.xml"/><Relationship Id="rId440" Type="http://schemas.openxmlformats.org/officeDocument/2006/relationships/slide" Target="slides/slide438.xml"/><Relationship Id="rId441" Type="http://schemas.openxmlformats.org/officeDocument/2006/relationships/slide" Target="slides/slide439.xml"/><Relationship Id="rId442" Type="http://schemas.openxmlformats.org/officeDocument/2006/relationships/slide" Target="slides/slide440.xml"/><Relationship Id="rId443" Type="http://schemas.openxmlformats.org/officeDocument/2006/relationships/slide" Target="slides/slide441.xml"/><Relationship Id="rId444" Type="http://schemas.openxmlformats.org/officeDocument/2006/relationships/slide" Target="slides/slide442.xml"/><Relationship Id="rId445" Type="http://schemas.openxmlformats.org/officeDocument/2006/relationships/slide" Target="slides/slide443.xml"/><Relationship Id="rId446" Type="http://schemas.openxmlformats.org/officeDocument/2006/relationships/slide" Target="slides/slide444.xml"/><Relationship Id="rId447" Type="http://schemas.openxmlformats.org/officeDocument/2006/relationships/slide" Target="slides/slide445.xml"/><Relationship Id="rId448" Type="http://schemas.openxmlformats.org/officeDocument/2006/relationships/slide" Target="slides/slide446.xml"/><Relationship Id="rId449" Type="http://schemas.openxmlformats.org/officeDocument/2006/relationships/slide" Target="slides/slide447.xml"/><Relationship Id="rId450" Type="http://schemas.openxmlformats.org/officeDocument/2006/relationships/slide" Target="slides/slide448.xml"/><Relationship Id="rId451" Type="http://schemas.openxmlformats.org/officeDocument/2006/relationships/slide" Target="slides/slide449.xml"/><Relationship Id="rId452" Type="http://schemas.openxmlformats.org/officeDocument/2006/relationships/slide" Target="slides/slide450.xml"/><Relationship Id="rId453" Type="http://schemas.openxmlformats.org/officeDocument/2006/relationships/slide" Target="slides/slide451.xml"/><Relationship Id="rId454" Type="http://schemas.openxmlformats.org/officeDocument/2006/relationships/slide" Target="slides/slide452.xml"/><Relationship Id="rId455" Type="http://schemas.openxmlformats.org/officeDocument/2006/relationships/slide" Target="slides/slide453.xml"/><Relationship Id="rId456" Type="http://schemas.openxmlformats.org/officeDocument/2006/relationships/slide" Target="slides/slide454.xml"/><Relationship Id="rId457" Type="http://schemas.openxmlformats.org/officeDocument/2006/relationships/slide" Target="slides/slide455.xml"/><Relationship Id="rId458" Type="http://schemas.openxmlformats.org/officeDocument/2006/relationships/slide" Target="slides/slide456.xml"/><Relationship Id="rId459" Type="http://schemas.openxmlformats.org/officeDocument/2006/relationships/slide" Target="slides/slide457.xml"/><Relationship Id="rId460" Type="http://schemas.openxmlformats.org/officeDocument/2006/relationships/slide" Target="slides/slide458.xml"/><Relationship Id="rId461" Type="http://schemas.openxmlformats.org/officeDocument/2006/relationships/slide" Target="slides/slide459.xml"/><Relationship Id="rId462" Type="http://schemas.openxmlformats.org/officeDocument/2006/relationships/slide" Target="slides/slide460.xml"/><Relationship Id="rId463" Type="http://schemas.openxmlformats.org/officeDocument/2006/relationships/slide" Target="slides/slide461.xml"/><Relationship Id="rId464" Type="http://schemas.openxmlformats.org/officeDocument/2006/relationships/slide" Target="slides/slide462.xml"/><Relationship Id="rId465" Type="http://schemas.openxmlformats.org/officeDocument/2006/relationships/slide" Target="slides/slide463.xml"/><Relationship Id="rId466" Type="http://schemas.openxmlformats.org/officeDocument/2006/relationships/slide" Target="slides/slide464.xml"/><Relationship Id="rId467" Type="http://schemas.openxmlformats.org/officeDocument/2006/relationships/slide" Target="slides/slide465.xml"/><Relationship Id="rId468" Type="http://schemas.openxmlformats.org/officeDocument/2006/relationships/slide" Target="slides/slide466.xml"/><Relationship Id="rId469" Type="http://schemas.openxmlformats.org/officeDocument/2006/relationships/slide" Target="slides/slide467.xml"/><Relationship Id="rId470" Type="http://schemas.openxmlformats.org/officeDocument/2006/relationships/slide" Target="slides/slide468.xml"/><Relationship Id="rId471" Type="http://schemas.openxmlformats.org/officeDocument/2006/relationships/slide" Target="slides/slide469.xml"/><Relationship Id="rId472" Type="http://schemas.openxmlformats.org/officeDocument/2006/relationships/slide" Target="slides/slide470.xml"/><Relationship Id="rId473" Type="http://schemas.openxmlformats.org/officeDocument/2006/relationships/slide" Target="slides/slide471.xml"/><Relationship Id="rId474" Type="http://schemas.openxmlformats.org/officeDocument/2006/relationships/slide" Target="slides/slide472.xml"/><Relationship Id="rId475" Type="http://schemas.openxmlformats.org/officeDocument/2006/relationships/slide" Target="slides/slide473.xml"/><Relationship Id="rId476" Type="http://schemas.openxmlformats.org/officeDocument/2006/relationships/slide" Target="slides/slide474.xml"/><Relationship Id="rId477" Type="http://schemas.openxmlformats.org/officeDocument/2006/relationships/slide" Target="slides/slide475.xml"/><Relationship Id="rId478" Type="http://schemas.openxmlformats.org/officeDocument/2006/relationships/slide" Target="slides/slide476.xml"/><Relationship Id="rId479" Type="http://schemas.openxmlformats.org/officeDocument/2006/relationships/slide" Target="slides/slide477.xml"/><Relationship Id="rId480" Type="http://schemas.openxmlformats.org/officeDocument/2006/relationships/slide" Target="slides/slide478.xml"/><Relationship Id="rId481" Type="http://schemas.openxmlformats.org/officeDocument/2006/relationships/slide" Target="slides/slide479.xml"/><Relationship Id="rId482" Type="http://schemas.openxmlformats.org/officeDocument/2006/relationships/slide" Target="slides/slide480.xml"/><Relationship Id="rId483" Type="http://schemas.openxmlformats.org/officeDocument/2006/relationships/slide" Target="slides/slide481.xml"/><Relationship Id="rId484" Type="http://schemas.openxmlformats.org/officeDocument/2006/relationships/slide" Target="slides/slide482.xml"/><Relationship Id="rId485" Type="http://schemas.openxmlformats.org/officeDocument/2006/relationships/slide" Target="slides/slide483.xml"/><Relationship Id="rId486" Type="http://schemas.openxmlformats.org/officeDocument/2006/relationships/slide" Target="slides/slide484.xml"/><Relationship Id="rId487" Type="http://schemas.openxmlformats.org/officeDocument/2006/relationships/slide" Target="slides/slide485.xml"/><Relationship Id="rId488" Type="http://schemas.openxmlformats.org/officeDocument/2006/relationships/slide" Target="slides/slide486.xml"/><Relationship Id="rId489" Type="http://schemas.openxmlformats.org/officeDocument/2006/relationships/slide" Target="slides/slide487.xml"/><Relationship Id="rId490" Type="http://schemas.openxmlformats.org/officeDocument/2006/relationships/slide" Target="slides/slide488.xml"/><Relationship Id="rId491" Type="http://schemas.openxmlformats.org/officeDocument/2006/relationships/slide" Target="slides/slide489.xml"/><Relationship Id="rId492" Type="http://schemas.openxmlformats.org/officeDocument/2006/relationships/slide" Target="slides/slide490.xml"/><Relationship Id="rId493" Type="http://schemas.openxmlformats.org/officeDocument/2006/relationships/slide" Target="slides/slide491.xml"/><Relationship Id="rId494" Type="http://schemas.openxmlformats.org/officeDocument/2006/relationships/slide" Target="slides/slide492.xml"/><Relationship Id="rId495" Type="http://schemas.openxmlformats.org/officeDocument/2006/relationships/slide" Target="slides/slide493.xml"/><Relationship Id="rId496" Type="http://schemas.openxmlformats.org/officeDocument/2006/relationships/slide" Target="slides/slide494.xml"/><Relationship Id="rId497" Type="http://schemas.openxmlformats.org/officeDocument/2006/relationships/slide" Target="slides/slide495.xml"/><Relationship Id="rId498" Type="http://schemas.openxmlformats.org/officeDocument/2006/relationships/slide" Target="slides/slide496.xml"/><Relationship Id="rId499" Type="http://schemas.openxmlformats.org/officeDocument/2006/relationships/slide" Target="slides/slide497.xml"/><Relationship Id="rId500" Type="http://schemas.openxmlformats.org/officeDocument/2006/relationships/slide" Target="slides/slide498.xml"/><Relationship Id="rId501" Type="http://schemas.openxmlformats.org/officeDocument/2006/relationships/slide" Target="slides/slide499.xml"/><Relationship Id="rId502" Type="http://schemas.openxmlformats.org/officeDocument/2006/relationships/slide" Target="slides/slide500.xml"/><Relationship Id="rId503" Type="http://schemas.openxmlformats.org/officeDocument/2006/relationships/slide" Target="slides/slide501.xml"/><Relationship Id="rId504" Type="http://schemas.openxmlformats.org/officeDocument/2006/relationships/slide" Target="slides/slide502.xml"/><Relationship Id="rId505" Type="http://schemas.openxmlformats.org/officeDocument/2006/relationships/slide" Target="slides/slide503.xml"/><Relationship Id="rId506" Type="http://schemas.openxmlformats.org/officeDocument/2006/relationships/slide" Target="slides/slide504.xml"/><Relationship Id="rId507" Type="http://schemas.openxmlformats.org/officeDocument/2006/relationships/slide" Target="slides/slide505.xml"/><Relationship Id="rId508" Type="http://schemas.openxmlformats.org/officeDocument/2006/relationships/slide" Target="slides/slide506.xml"/><Relationship Id="rId509" Type="http://schemas.openxmlformats.org/officeDocument/2006/relationships/slide" Target="slides/slide507.xml"/><Relationship Id="rId510" Type="http://schemas.openxmlformats.org/officeDocument/2006/relationships/slide" Target="slides/slide508.xml"/><Relationship Id="rId511" Type="http://schemas.openxmlformats.org/officeDocument/2006/relationships/slide" Target="slides/slide509.xml"/><Relationship Id="rId512" Type="http://schemas.openxmlformats.org/officeDocument/2006/relationships/slide" Target="slides/slide510.xml"/><Relationship Id="rId513" Type="http://schemas.openxmlformats.org/officeDocument/2006/relationships/slide" Target="slides/slide511.xml"/><Relationship Id="rId514" Type="http://schemas.openxmlformats.org/officeDocument/2006/relationships/slide" Target="slides/slide512.xml"/><Relationship Id="rId515" Type="http://schemas.openxmlformats.org/officeDocument/2006/relationships/slide" Target="slides/slide513.xml"/><Relationship Id="rId516" Type="http://schemas.openxmlformats.org/officeDocument/2006/relationships/slide" Target="slides/slide514.xml"/><Relationship Id="rId517" Type="http://schemas.openxmlformats.org/officeDocument/2006/relationships/slide" Target="slides/slide515.xml"/><Relationship Id="rId518" Type="http://schemas.openxmlformats.org/officeDocument/2006/relationships/slide" Target="slides/slide516.xml"/><Relationship Id="rId519" Type="http://schemas.openxmlformats.org/officeDocument/2006/relationships/slide" Target="slides/slide517.xml"/><Relationship Id="rId520" Type="http://schemas.openxmlformats.org/officeDocument/2006/relationships/slide" Target="slides/slide518.xml"/><Relationship Id="rId521" Type="http://schemas.openxmlformats.org/officeDocument/2006/relationships/slide" Target="slides/slide519.xml"/><Relationship Id="rId522" Type="http://schemas.openxmlformats.org/officeDocument/2006/relationships/slide" Target="slides/slide520.xml"/><Relationship Id="rId523" Type="http://schemas.openxmlformats.org/officeDocument/2006/relationships/slide" Target="slides/slide521.xml"/><Relationship Id="rId524" Type="http://schemas.openxmlformats.org/officeDocument/2006/relationships/slide" Target="slides/slide522.xml"/><Relationship Id="rId525" Type="http://schemas.openxmlformats.org/officeDocument/2006/relationships/slide" Target="slides/slide523.xml"/><Relationship Id="rId526" Type="http://schemas.openxmlformats.org/officeDocument/2006/relationships/slide" Target="slides/slide524.xml"/><Relationship Id="rId527" Type="http://schemas.openxmlformats.org/officeDocument/2006/relationships/slide" Target="slides/slide525.xml"/><Relationship Id="rId528" Type="http://schemas.openxmlformats.org/officeDocument/2006/relationships/slide" Target="slides/slide526.xml"/><Relationship Id="rId529" Type="http://schemas.openxmlformats.org/officeDocument/2006/relationships/slide" Target="slides/slide527.xml"/><Relationship Id="rId530" Type="http://schemas.openxmlformats.org/officeDocument/2006/relationships/slide" Target="slides/slide528.xml"/><Relationship Id="rId531" Type="http://schemas.openxmlformats.org/officeDocument/2006/relationships/slide" Target="slides/slide529.xml"/><Relationship Id="rId532" Type="http://schemas.openxmlformats.org/officeDocument/2006/relationships/slide" Target="slides/slide530.xml"/><Relationship Id="rId533" Type="http://schemas.openxmlformats.org/officeDocument/2006/relationships/slide" Target="slides/slide531.xml"/><Relationship Id="rId534" Type="http://schemas.openxmlformats.org/officeDocument/2006/relationships/slide" Target="slides/slide532.xml"/><Relationship Id="rId535" Type="http://schemas.openxmlformats.org/officeDocument/2006/relationships/slide" Target="slides/slide533.xml"/><Relationship Id="rId536" Type="http://schemas.openxmlformats.org/officeDocument/2006/relationships/slide" Target="slides/slide534.xml"/><Relationship Id="rId537" Type="http://schemas.openxmlformats.org/officeDocument/2006/relationships/slide" Target="slides/slide535.xml"/><Relationship Id="rId538" Type="http://schemas.openxmlformats.org/officeDocument/2006/relationships/slide" Target="slides/slide536.xml"/><Relationship Id="rId539" Type="http://schemas.openxmlformats.org/officeDocument/2006/relationships/slide" Target="slides/slide537.xml"/><Relationship Id="rId540" Type="http://schemas.openxmlformats.org/officeDocument/2006/relationships/slide" Target="slides/slide538.xml"/><Relationship Id="rId541" Type="http://schemas.openxmlformats.org/officeDocument/2006/relationships/slide" Target="slides/slide539.xml"/><Relationship Id="rId542" Type="http://schemas.openxmlformats.org/officeDocument/2006/relationships/slide" Target="slides/slide540.xml"/><Relationship Id="rId543" Type="http://schemas.openxmlformats.org/officeDocument/2006/relationships/slide" Target="slides/slide541.xml"/><Relationship Id="rId544" Type="http://schemas.openxmlformats.org/officeDocument/2006/relationships/slide" Target="slides/slide542.xml"/><Relationship Id="rId545" Type="http://schemas.openxmlformats.org/officeDocument/2006/relationships/slide" Target="slides/slide543.xml"/><Relationship Id="rId546" Type="http://schemas.openxmlformats.org/officeDocument/2006/relationships/slide" Target="slides/slide544.xml"/><Relationship Id="rId547" Type="http://schemas.openxmlformats.org/officeDocument/2006/relationships/slide" Target="slides/slide545.xml"/><Relationship Id="rId548" Type="http://schemas.openxmlformats.org/officeDocument/2006/relationships/slide" Target="slides/slide546.xml"/><Relationship Id="rId549" Type="http://schemas.openxmlformats.org/officeDocument/2006/relationships/slide" Target="slides/slide547.xml"/><Relationship Id="rId550" Type="http://schemas.openxmlformats.org/officeDocument/2006/relationships/slide" Target="slides/slide548.xml"/><Relationship Id="rId551" Type="http://schemas.openxmlformats.org/officeDocument/2006/relationships/slide" Target="slides/slide549.xml"/><Relationship Id="rId552" Type="http://schemas.openxmlformats.org/officeDocument/2006/relationships/slide" Target="slides/slide550.xml"/><Relationship Id="rId553" Type="http://schemas.openxmlformats.org/officeDocument/2006/relationships/slide" Target="slides/slide551.xml"/><Relationship Id="rId554" Type="http://schemas.openxmlformats.org/officeDocument/2006/relationships/slide" Target="slides/slide552.xml"/><Relationship Id="rId555" Type="http://schemas.openxmlformats.org/officeDocument/2006/relationships/slide" Target="slides/slide553.xml"/><Relationship Id="rId556" Type="http://schemas.openxmlformats.org/officeDocument/2006/relationships/slide" Target="slides/slide554.xml"/><Relationship Id="rId557" Type="http://schemas.openxmlformats.org/officeDocument/2006/relationships/slide" Target="slides/slide555.xml"/><Relationship Id="rId558" Type="http://schemas.openxmlformats.org/officeDocument/2006/relationships/slide" Target="slides/slide556.xml"/><Relationship Id="rId559" Type="http://schemas.openxmlformats.org/officeDocument/2006/relationships/slide" Target="slides/slide557.xml"/><Relationship Id="rId560" Type="http://schemas.openxmlformats.org/officeDocument/2006/relationships/slide" Target="slides/slide558.xml"/><Relationship Id="rId561" Type="http://schemas.openxmlformats.org/officeDocument/2006/relationships/slide" Target="slides/slide559.xml"/><Relationship Id="rId562" Type="http://schemas.openxmlformats.org/officeDocument/2006/relationships/slide" Target="slides/slide560.xml"/><Relationship Id="rId563" Type="http://schemas.openxmlformats.org/officeDocument/2006/relationships/slide" Target="slides/slide561.xml"/><Relationship Id="rId564" Type="http://schemas.openxmlformats.org/officeDocument/2006/relationships/slide" Target="slides/slide562.xml"/><Relationship Id="rId565" Type="http://schemas.openxmlformats.org/officeDocument/2006/relationships/slide" Target="slides/slide563.xml"/><Relationship Id="rId566" Type="http://schemas.openxmlformats.org/officeDocument/2006/relationships/slide" Target="slides/slide564.xml"/><Relationship Id="rId567" Type="http://schemas.openxmlformats.org/officeDocument/2006/relationships/slide" Target="slides/slide565.xml"/><Relationship Id="rId568" Type="http://schemas.openxmlformats.org/officeDocument/2006/relationships/slide" Target="slides/slide566.xml"/><Relationship Id="rId569" Type="http://schemas.openxmlformats.org/officeDocument/2006/relationships/slide" Target="slides/slide567.xml"/><Relationship Id="rId570" Type="http://schemas.openxmlformats.org/officeDocument/2006/relationships/slide" Target="slides/slide568.xml"/><Relationship Id="rId571" Type="http://schemas.openxmlformats.org/officeDocument/2006/relationships/slide" Target="slides/slide569.xml"/><Relationship Id="rId572" Type="http://schemas.openxmlformats.org/officeDocument/2006/relationships/slide" Target="slides/slide570.xml"/><Relationship Id="rId573" Type="http://schemas.openxmlformats.org/officeDocument/2006/relationships/slide" Target="slides/slide571.xml"/><Relationship Id="rId574" Type="http://schemas.openxmlformats.org/officeDocument/2006/relationships/slide" Target="slides/slide572.xml"/><Relationship Id="rId575" Type="http://schemas.openxmlformats.org/officeDocument/2006/relationships/slide" Target="slides/slide573.xml"/><Relationship Id="rId576" Type="http://schemas.openxmlformats.org/officeDocument/2006/relationships/slide" Target="slides/slide574.xml"/><Relationship Id="rId577" Type="http://schemas.openxmlformats.org/officeDocument/2006/relationships/slide" Target="slides/slide575.xml"/><Relationship Id="rId578" Type="http://schemas.openxmlformats.org/officeDocument/2006/relationships/slide" Target="slides/slide576.xml"/><Relationship Id="rId579" Type="http://schemas.openxmlformats.org/officeDocument/2006/relationships/slide" Target="slides/slide577.xml"/><Relationship Id="rId580" Type="http://schemas.openxmlformats.org/officeDocument/2006/relationships/slide" Target="slides/slide578.xml"/><Relationship Id="rId581" Type="http://schemas.openxmlformats.org/officeDocument/2006/relationships/slide" Target="slides/slide579.xml"/><Relationship Id="rId582" Type="http://schemas.openxmlformats.org/officeDocument/2006/relationships/slide" Target="slides/slide580.xml"/><Relationship Id="rId583" Type="http://schemas.openxmlformats.org/officeDocument/2006/relationships/slide" Target="slides/slide581.xml"/><Relationship Id="rId584" Type="http://schemas.openxmlformats.org/officeDocument/2006/relationships/slide" Target="slides/slide582.xml"/><Relationship Id="rId585" Type="http://schemas.openxmlformats.org/officeDocument/2006/relationships/slide" Target="slides/slide583.xml"/><Relationship Id="rId586" Type="http://schemas.openxmlformats.org/officeDocument/2006/relationships/slide" Target="slides/slide584.xml"/><Relationship Id="rId587" Type="http://schemas.openxmlformats.org/officeDocument/2006/relationships/slide" Target="slides/slide585.xml"/><Relationship Id="rId588" Type="http://schemas.openxmlformats.org/officeDocument/2006/relationships/slide" Target="slides/slide586.xml"/><Relationship Id="rId589" Type="http://schemas.openxmlformats.org/officeDocument/2006/relationships/slide" Target="slides/slide587.xml"/><Relationship Id="rId590" Type="http://schemas.openxmlformats.org/officeDocument/2006/relationships/slide" Target="slides/slide588.xml"/><Relationship Id="rId591" Type="http://schemas.openxmlformats.org/officeDocument/2006/relationships/slide" Target="slides/slide589.xml"/><Relationship Id="rId592" Type="http://schemas.openxmlformats.org/officeDocument/2006/relationships/slide" Target="slides/slide590.xml"/><Relationship Id="rId593" Type="http://schemas.openxmlformats.org/officeDocument/2006/relationships/slide" Target="slides/slide591.xml"/><Relationship Id="rId594" Type="http://schemas.openxmlformats.org/officeDocument/2006/relationships/slide" Target="slides/slide592.xml"/><Relationship Id="rId595" Type="http://schemas.openxmlformats.org/officeDocument/2006/relationships/slide" Target="slides/slide593.xml"/><Relationship Id="rId596" Type="http://schemas.openxmlformats.org/officeDocument/2006/relationships/slide" Target="slides/slide594.xml"/><Relationship Id="rId597" Type="http://schemas.openxmlformats.org/officeDocument/2006/relationships/slide" Target="slides/slide595.xml"/><Relationship Id="rId598" Type="http://schemas.openxmlformats.org/officeDocument/2006/relationships/slide" Target="slides/slide596.xml"/><Relationship Id="rId599" Type="http://schemas.openxmlformats.org/officeDocument/2006/relationships/slide" Target="slides/slide597.xml"/><Relationship Id="rId600" Type="http://schemas.openxmlformats.org/officeDocument/2006/relationships/slide" Target="slides/slide598.xml"/><Relationship Id="rId601" Type="http://schemas.openxmlformats.org/officeDocument/2006/relationships/slide" Target="slides/slide599.xml"/><Relationship Id="rId602" Type="http://schemas.openxmlformats.org/officeDocument/2006/relationships/slide" Target="slides/slide600.xml"/><Relationship Id="rId603" Type="http://schemas.openxmlformats.org/officeDocument/2006/relationships/slide" Target="slides/slide601.xml"/><Relationship Id="rId604" Type="http://schemas.openxmlformats.org/officeDocument/2006/relationships/slide" Target="slides/slide602.xml"/><Relationship Id="rId605" Type="http://schemas.openxmlformats.org/officeDocument/2006/relationships/slide" Target="slides/slide603.xml"/><Relationship Id="rId606" Type="http://schemas.openxmlformats.org/officeDocument/2006/relationships/slide" Target="slides/slide604.xml"/><Relationship Id="rId607" Type="http://schemas.openxmlformats.org/officeDocument/2006/relationships/slide" Target="slides/slide605.xml"/><Relationship Id="rId608" Type="http://schemas.openxmlformats.org/officeDocument/2006/relationships/slide" Target="slides/slide606.xml"/><Relationship Id="rId609" Type="http://schemas.openxmlformats.org/officeDocument/2006/relationships/slide" Target="slides/slide607.xml"/><Relationship Id="rId610" Type="http://schemas.openxmlformats.org/officeDocument/2006/relationships/slide" Target="slides/slide608.xml"/><Relationship Id="rId611" Type="http://schemas.openxmlformats.org/officeDocument/2006/relationships/slide" Target="slides/slide609.xml"/><Relationship Id="rId612" Type="http://schemas.openxmlformats.org/officeDocument/2006/relationships/slide" Target="slides/slide610.xml"/><Relationship Id="rId613" Type="http://schemas.openxmlformats.org/officeDocument/2006/relationships/slide" Target="slides/slide611.xml"/><Relationship Id="rId614" Type="http://schemas.openxmlformats.org/officeDocument/2006/relationships/slide" Target="slides/slide612.xml"/><Relationship Id="rId615" Type="http://schemas.openxmlformats.org/officeDocument/2006/relationships/slide" Target="slides/slide613.xml"/><Relationship Id="rId616" Type="http://schemas.openxmlformats.org/officeDocument/2006/relationships/slide" Target="slides/slide614.xml"/><Relationship Id="rId617" Type="http://schemas.openxmlformats.org/officeDocument/2006/relationships/slide" Target="slides/slide615.xml"/><Relationship Id="rId618" Type="http://schemas.openxmlformats.org/officeDocument/2006/relationships/slide" Target="slides/slide616.xml"/><Relationship Id="rId619" Type="http://schemas.openxmlformats.org/officeDocument/2006/relationships/slide" Target="slides/slide617.xml"/><Relationship Id="rId620" Type="http://schemas.openxmlformats.org/officeDocument/2006/relationships/slide" Target="slides/slide618.xml"/><Relationship Id="rId621" Type="http://schemas.openxmlformats.org/officeDocument/2006/relationships/slide" Target="slides/slide619.xml"/><Relationship Id="rId622" Type="http://schemas.openxmlformats.org/officeDocument/2006/relationships/slide" Target="slides/slide620.xml"/><Relationship Id="rId623" Type="http://schemas.openxmlformats.org/officeDocument/2006/relationships/slide" Target="slides/slide621.xml"/><Relationship Id="rId624" Type="http://schemas.openxmlformats.org/officeDocument/2006/relationships/slide" Target="slides/slide622.xml"/><Relationship Id="rId625" Type="http://schemas.openxmlformats.org/officeDocument/2006/relationships/slide" Target="slides/slide623.xml"/><Relationship Id="rId626" Type="http://schemas.openxmlformats.org/officeDocument/2006/relationships/slide" Target="slides/slide624.xml"/><Relationship Id="rId627" Type="http://schemas.openxmlformats.org/officeDocument/2006/relationships/slide" Target="slides/slide625.xml"/><Relationship Id="rId628" Type="http://schemas.openxmlformats.org/officeDocument/2006/relationships/slide" Target="slides/slide626.xml"/><Relationship Id="rId629" Type="http://schemas.openxmlformats.org/officeDocument/2006/relationships/slide" Target="slides/slide627.xml"/><Relationship Id="rId630" Type="http://schemas.openxmlformats.org/officeDocument/2006/relationships/slide" Target="slides/slide628.xml"/><Relationship Id="rId631" Type="http://schemas.openxmlformats.org/officeDocument/2006/relationships/slide" Target="slides/slide629.xml"/><Relationship Id="rId632" Type="http://schemas.openxmlformats.org/officeDocument/2006/relationships/slide" Target="slides/slide630.xml"/><Relationship Id="rId633" Type="http://schemas.openxmlformats.org/officeDocument/2006/relationships/slide" Target="slides/slide631.xml"/><Relationship Id="rId634" Type="http://schemas.openxmlformats.org/officeDocument/2006/relationships/tableStyles" Target="tableStyles.xml"/><Relationship Id="rId635" Type="http://schemas.openxmlformats.org/officeDocument/2006/relationships/presProps" Target="presProps.xml"/><Relationship Id="rId636" Type="http://schemas.openxmlformats.org/officeDocument/2006/relationships/viewProps" Target="viewProps.xml"/><Relationship Id="rId63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327" name=""/>
        <p:cNvGrpSpPr/>
        <p:nvPr/>
      </p:nvGrpSpPr>
      <p:grpSpPr>
        <a:xfrm>
          <a:off x="0" y="0"/>
          <a:ext cx="0" cy="0"/>
          <a:chOff x="0" y="0"/>
          <a:chExt cx="0" cy="0"/>
        </a:xfrm>
      </p:grpSpPr>
      <p:sp>
        <p:nvSpPr>
          <p:cNvPr id="1049880"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US"/>
          </a:p>
        </p:txBody>
      </p:sp>
      <p:sp>
        <p:nvSpPr>
          <p:cNvPr id="1049881" name="Date Placeholder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28E64E30-9D13-4A3C-9831-31711DC224DF}" type="datetimeFigureOut">
              <a:rPr lang="en-US" smtClean="0"/>
              <a:t>5/29/2023</a:t>
            </a:fld>
            <a:endParaRPr lang="en-US"/>
          </a:p>
        </p:txBody>
      </p:sp>
      <p:sp>
        <p:nvSpPr>
          <p:cNvPr id="1049882" name="Slide Image Placeholder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lang="en-US"/>
          </a:p>
        </p:txBody>
      </p:sp>
      <p:sp>
        <p:nvSpPr>
          <p:cNvPr id="1049883" name="Notes Placeholder 4"/>
          <p:cNvSpPr>
            <a:spLocks noGrp="1"/>
          </p:cNvSpPr>
          <p:nvPr>
            <p:ph type="body" sz="quarter" idx="3"/>
          </p:nvPr>
        </p:nvSpPr>
        <p:spPr>
          <a:xfrm>
            <a:off x="685800" y="4400550"/>
            <a:ext cx="5486400" cy="3600450"/>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884" name="Footer Placeholder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lang="en-US"/>
          </a:p>
        </p:txBody>
      </p:sp>
      <p:sp>
        <p:nvSpPr>
          <p:cNvPr id="1049885" name="Slide Number Placeholder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F5004AFD-7120-494D-9E29-61AB133D438F}" type="slidenum">
              <a:rPr lang="en-US" smtClean="0"/>
              <a:t>‹#›</a:t>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10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5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35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35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462.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463.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464.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468.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47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47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478.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484.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487.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488.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490.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493.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49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667" name=""/>
        <p:cNvGrpSpPr/>
        <p:nvPr/>
      </p:nvGrpSpPr>
      <p:grpSpPr>
        <a:xfrm>
          <a:off x="0" y="0"/>
          <a:ext cx="0" cy="0"/>
          <a:chOff x="0" y="0"/>
          <a:chExt cx="0" cy="0"/>
        </a:xfrm>
      </p:grpSpPr>
      <p:sp>
        <p:nvSpPr>
          <p:cNvPr id="1048625" name="Slide Image Placeholder 1"/>
          <p:cNvSpPr>
            <a:spLocks noChangeAspect="1" noRot="1" noGrp="1"/>
          </p:cNvSpPr>
          <p:nvPr>
            <p:ph type="sldImg"/>
          </p:nvPr>
        </p:nvSpPr>
        <p:spPr/>
      </p:sp>
      <p:sp>
        <p:nvSpPr>
          <p:cNvPr id="1048626" name="Notes Placeholder 2"/>
          <p:cNvSpPr>
            <a:spLocks noGrp="1"/>
          </p:cNvSpPr>
          <p:nvPr>
            <p:ph type="body" idx="1"/>
          </p:nvPr>
        </p:nvSpPr>
        <p:spPr/>
        <p:txBody>
          <a:bodyPr>
            <a:normAutofit/>
          </a:bodyPr>
          <a:p>
            <a:endParaRPr dirty="0" lang="en-US"/>
          </a:p>
        </p:txBody>
      </p:sp>
      <p:sp>
        <p:nvSpPr>
          <p:cNvPr id="1048627" name="Slide Number Placeholder 3"/>
          <p:cNvSpPr>
            <a:spLocks noGrp="1"/>
          </p:cNvSpPr>
          <p:nvPr>
            <p:ph type="sldNum" sz="quarter" idx="10"/>
          </p:nvPr>
        </p:nvSpPr>
        <p:spPr/>
        <p:txBody>
          <a:bodyPr/>
          <a:p>
            <a:fld id="{B0089C54-DBDA-446B-8983-8430041E021D}" type="slidenum">
              <a:rPr lang="en-US" smtClean="0"/>
              <a:t>11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761" name=""/>
        <p:cNvGrpSpPr/>
        <p:nvPr/>
      </p:nvGrpSpPr>
      <p:grpSpPr>
        <a:xfrm>
          <a:off x="0" y="0"/>
          <a:ext cx="0" cy="0"/>
          <a:chOff x="0" y="0"/>
          <a:chExt cx="0" cy="0"/>
        </a:xfrm>
      </p:grpSpPr>
      <p:sp>
        <p:nvSpPr>
          <p:cNvPr id="1048793" name="Slide Image Placeholder 1"/>
          <p:cNvSpPr>
            <a:spLocks noChangeAspect="1" noRot="1" noGrp="1"/>
          </p:cNvSpPr>
          <p:nvPr>
            <p:ph type="sldImg"/>
          </p:nvPr>
        </p:nvSpPr>
        <p:spPr/>
      </p:sp>
      <p:sp>
        <p:nvSpPr>
          <p:cNvPr id="1048794" name="Notes Placeholder 2"/>
          <p:cNvSpPr>
            <a:spLocks noGrp="1"/>
          </p:cNvSpPr>
          <p:nvPr>
            <p:ph type="body" idx="1"/>
          </p:nvPr>
        </p:nvSpPr>
        <p:spPr/>
        <p:txBody>
          <a:bodyPr>
            <a:normAutofit/>
          </a:bodyPr>
          <a:p>
            <a:endParaRPr dirty="0" lang="en-US"/>
          </a:p>
        </p:txBody>
      </p:sp>
      <p:sp>
        <p:nvSpPr>
          <p:cNvPr id="1048795" name="Slide Number Placeholder 3"/>
          <p:cNvSpPr>
            <a:spLocks noGrp="1"/>
          </p:cNvSpPr>
          <p:nvPr>
            <p:ph type="sldNum" sz="quarter" idx="10"/>
          </p:nvPr>
        </p:nvSpPr>
        <p:spPr/>
        <p:txBody>
          <a:bodyPr/>
          <a:p>
            <a:fld id="{82989E68-169D-44CE-A38E-4D3C8C4A72D4}" type="slidenum">
              <a:rPr lang="en-US" smtClean="0"/>
              <a:t>102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015" name=""/>
        <p:cNvGrpSpPr/>
        <p:nvPr/>
      </p:nvGrpSpPr>
      <p:grpSpPr>
        <a:xfrm>
          <a:off x="0" y="0"/>
          <a:ext cx="0" cy="0"/>
          <a:chOff x="0" y="0"/>
          <a:chExt cx="0" cy="0"/>
        </a:xfrm>
      </p:grpSpPr>
      <p:sp>
        <p:nvSpPr>
          <p:cNvPr id="1049283" name="Rectangle 7"/>
          <p:cNvSpPr>
            <a:spLocks noGrp="1" noChangeArrowheads="1"/>
          </p:cNvSpPr>
          <p:nvPr>
            <p:ph type="sldNum" sz="quarter" idx="5"/>
          </p:nvPr>
        </p:nvSpPr>
        <p:spPr/>
        <p:txBody>
          <a:bodyPr/>
          <a:p>
            <a:fld id="{D1F25ED1-58E3-425A-B3A4-EC07DBB9BD72}" type="slidenum">
              <a:rPr altLang="en-US" lang="en-US"/>
              <a:t>353</a:t>
            </a:fld>
            <a:endParaRPr altLang="en-US" lang="en-US"/>
          </a:p>
        </p:txBody>
      </p:sp>
      <p:sp>
        <p:nvSpPr>
          <p:cNvPr id="1049284" name="Rectangle 2"/>
          <p:cNvSpPr>
            <a:spLocks noChangeAspect="1" noRot="1" noGrp="1" noChangeArrowheads="1" noTextEdit="1"/>
          </p:cNvSpPr>
          <p:nvPr>
            <p:ph type="sldImg"/>
          </p:nvPr>
        </p:nvSpPr>
        <p:spPr/>
      </p:sp>
      <p:sp>
        <p:nvSpPr>
          <p:cNvPr id="1049285" name="Rectangle 3"/>
          <p:cNvSpPr>
            <a:spLocks noGrp="1" noChangeArrowheads="1"/>
          </p:cNvSpPr>
          <p:nvPr>
            <p:ph type="body" idx="1"/>
          </p:nvPr>
        </p:nvSpPr>
        <p:spPr/>
        <p:txBody>
          <a:bodyPr/>
          <a:p>
            <a:endParaRPr altLang="en-US"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018" name=""/>
        <p:cNvGrpSpPr/>
        <p:nvPr/>
      </p:nvGrpSpPr>
      <p:grpSpPr>
        <a:xfrm>
          <a:off x="0" y="0"/>
          <a:ext cx="0" cy="0"/>
          <a:chOff x="0" y="0"/>
          <a:chExt cx="0" cy="0"/>
        </a:xfrm>
      </p:grpSpPr>
      <p:sp>
        <p:nvSpPr>
          <p:cNvPr id="1049289" name="Rectangle 7"/>
          <p:cNvSpPr>
            <a:spLocks noGrp="1" noChangeArrowheads="1"/>
          </p:cNvSpPr>
          <p:nvPr>
            <p:ph type="sldNum" sz="quarter" idx="5"/>
          </p:nvPr>
        </p:nvSpPr>
        <p:spPr/>
        <p:txBody>
          <a:bodyPr/>
          <a:p>
            <a:fld id="{5F422DF7-D32E-48D0-8C38-5E7BBB3FCA46}" type="slidenum">
              <a:rPr altLang="en-US" lang="en-US"/>
              <a:t>354</a:t>
            </a:fld>
            <a:endParaRPr altLang="en-US" lang="en-US"/>
          </a:p>
        </p:txBody>
      </p:sp>
      <p:sp>
        <p:nvSpPr>
          <p:cNvPr id="1049290" name="Rectangle 2"/>
          <p:cNvSpPr>
            <a:spLocks noChangeAspect="1" noRot="1" noGrp="1" noChangeArrowheads="1" noTextEdit="1"/>
          </p:cNvSpPr>
          <p:nvPr>
            <p:ph type="sldImg"/>
          </p:nvPr>
        </p:nvSpPr>
        <p:spPr/>
      </p:sp>
      <p:sp>
        <p:nvSpPr>
          <p:cNvPr id="1049291" name="Rectangle 3"/>
          <p:cNvSpPr>
            <a:spLocks noGrp="1" noChangeArrowheads="1"/>
          </p:cNvSpPr>
          <p:nvPr>
            <p:ph type="body" idx="1"/>
          </p:nvPr>
        </p:nvSpPr>
        <p:spPr/>
        <p:txBody>
          <a:bodyPr/>
          <a:p>
            <a:endParaRPr altLang="en-US"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021" name=""/>
        <p:cNvGrpSpPr/>
        <p:nvPr/>
      </p:nvGrpSpPr>
      <p:grpSpPr>
        <a:xfrm>
          <a:off x="0" y="0"/>
          <a:ext cx="0" cy="0"/>
          <a:chOff x="0" y="0"/>
          <a:chExt cx="0" cy="0"/>
        </a:xfrm>
      </p:grpSpPr>
      <p:sp>
        <p:nvSpPr>
          <p:cNvPr id="1049293" name="Rectangle 7"/>
          <p:cNvSpPr>
            <a:spLocks noGrp="1" noChangeArrowheads="1"/>
          </p:cNvSpPr>
          <p:nvPr>
            <p:ph type="sldNum" sz="quarter" idx="5"/>
          </p:nvPr>
        </p:nvSpPr>
        <p:spPr/>
        <p:txBody>
          <a:bodyPr/>
          <a:p>
            <a:fld id="{1919579A-A0E3-4AC6-A66F-C8737480DBA8}" type="slidenum">
              <a:rPr altLang="en-US" lang="en-US"/>
              <a:t>355</a:t>
            </a:fld>
            <a:endParaRPr altLang="en-US" lang="en-US"/>
          </a:p>
        </p:txBody>
      </p:sp>
      <p:sp>
        <p:nvSpPr>
          <p:cNvPr id="1049294" name="Rectangle 2"/>
          <p:cNvSpPr>
            <a:spLocks noChangeAspect="1" noRot="1" noGrp="1" noChangeArrowheads="1" noTextEdit="1"/>
          </p:cNvSpPr>
          <p:nvPr>
            <p:ph type="sldImg"/>
          </p:nvPr>
        </p:nvSpPr>
        <p:spPr/>
      </p:sp>
      <p:sp>
        <p:nvSpPr>
          <p:cNvPr id="1049295" name="Rectangle 3"/>
          <p:cNvSpPr>
            <a:spLocks noGrp="1" noChangeArrowheads="1"/>
          </p:cNvSpPr>
          <p:nvPr>
            <p:ph type="body" idx="1"/>
          </p:nvPr>
        </p:nvSpPr>
        <p:spPr/>
        <p:txBody>
          <a:bodyPr/>
          <a:p>
            <a:endParaRPr altLang="en-US"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130" name=""/>
        <p:cNvGrpSpPr/>
        <p:nvPr/>
      </p:nvGrpSpPr>
      <p:grpSpPr>
        <a:xfrm>
          <a:off x="0" y="0"/>
          <a:ext cx="0" cy="0"/>
          <a:chOff x="0" y="0"/>
          <a:chExt cx="0" cy="0"/>
        </a:xfrm>
      </p:grpSpPr>
      <p:sp>
        <p:nvSpPr>
          <p:cNvPr id="1049467" name="Slide Image Placeholder 1"/>
          <p:cNvSpPr>
            <a:spLocks noChangeAspect="1" noRot="1" noGrp="1" noTextEdit="1"/>
          </p:cNvSpPr>
          <p:nvPr>
            <p:ph type="sldImg"/>
          </p:nvPr>
        </p:nvSpPr>
        <p:spPr/>
      </p:sp>
      <p:sp>
        <p:nvSpPr>
          <p:cNvPr id="1049468" name="Notes Placeholder 2"/>
          <p:cNvSpPr>
            <a:spLocks noGrp="1"/>
          </p:cNvSpPr>
          <p:nvPr>
            <p:ph type="body" idx="1"/>
          </p:nvPr>
        </p:nvSpPr>
        <p:spPr>
          <a:noFill/>
        </p:spPr>
        <p:txBody>
          <a:bodyPr/>
          <a:p>
            <a:pPr eaLnBrk="1" hangingPunct="1"/>
            <a:endParaRPr altLang="en-US" lang="en-US"/>
          </a:p>
        </p:txBody>
      </p:sp>
      <p:sp>
        <p:nvSpPr>
          <p:cNvPr id="1049469" name="Slide Number Placeholder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pPr eaLnBrk="1" hangingPunct="1"/>
            <a:fld id="{237724BD-17F6-4D45-9C8D-4905CB86C5E5}" type="slidenum">
              <a:rPr altLang="en-US" lang="en-US"/>
              <a:pPr eaLnBrk="1" hangingPunct="1"/>
              <a:t>462</a:t>
            </a:fld>
            <a:endParaRPr altLang="en-US"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133" name=""/>
        <p:cNvGrpSpPr/>
        <p:nvPr/>
      </p:nvGrpSpPr>
      <p:grpSpPr>
        <a:xfrm>
          <a:off x="0" y="0"/>
          <a:ext cx="0" cy="0"/>
          <a:chOff x="0" y="0"/>
          <a:chExt cx="0" cy="0"/>
        </a:xfrm>
      </p:grpSpPr>
      <p:sp>
        <p:nvSpPr>
          <p:cNvPr id="1049471" name="Slide Image Placeholder 1"/>
          <p:cNvSpPr>
            <a:spLocks noChangeAspect="1" noRot="1" noGrp="1" noTextEdit="1"/>
          </p:cNvSpPr>
          <p:nvPr>
            <p:ph type="sldImg"/>
          </p:nvPr>
        </p:nvSpPr>
        <p:spPr/>
      </p:sp>
      <p:sp>
        <p:nvSpPr>
          <p:cNvPr id="1049472" name="Notes Placeholder 2"/>
          <p:cNvSpPr>
            <a:spLocks noGrp="1"/>
          </p:cNvSpPr>
          <p:nvPr>
            <p:ph type="body" idx="1"/>
          </p:nvPr>
        </p:nvSpPr>
        <p:spPr>
          <a:noFill/>
        </p:spPr>
        <p:txBody>
          <a:bodyPr/>
          <a:p>
            <a:pPr eaLnBrk="1" hangingPunct="1"/>
            <a:endParaRPr altLang="en-US" lang="en-US"/>
          </a:p>
        </p:txBody>
      </p:sp>
      <p:sp>
        <p:nvSpPr>
          <p:cNvPr id="1049473" name="Slide Number Placeholder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pPr eaLnBrk="1" hangingPunct="1"/>
            <a:fld id="{58524AC2-13B5-4254-BAC0-01DE859427AC}" type="slidenum">
              <a:rPr altLang="en-US" lang="en-US"/>
              <a:pPr eaLnBrk="1" hangingPunct="1"/>
              <a:t>463</a:t>
            </a:fld>
            <a:endParaRPr altLang="en-US"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136" name=""/>
        <p:cNvGrpSpPr/>
        <p:nvPr/>
      </p:nvGrpSpPr>
      <p:grpSpPr>
        <a:xfrm>
          <a:off x="0" y="0"/>
          <a:ext cx="0" cy="0"/>
          <a:chOff x="0" y="0"/>
          <a:chExt cx="0" cy="0"/>
        </a:xfrm>
      </p:grpSpPr>
      <p:sp>
        <p:nvSpPr>
          <p:cNvPr id="1049475" name="Slide Image Placeholder 1"/>
          <p:cNvSpPr>
            <a:spLocks noChangeAspect="1" noRot="1" noGrp="1" noTextEdit="1"/>
          </p:cNvSpPr>
          <p:nvPr>
            <p:ph type="sldImg"/>
          </p:nvPr>
        </p:nvSpPr>
        <p:spPr/>
      </p:sp>
      <p:sp>
        <p:nvSpPr>
          <p:cNvPr id="1049476" name="Notes Placeholder 2"/>
          <p:cNvSpPr>
            <a:spLocks noGrp="1"/>
          </p:cNvSpPr>
          <p:nvPr>
            <p:ph type="body" idx="1"/>
          </p:nvPr>
        </p:nvSpPr>
        <p:spPr>
          <a:noFill/>
        </p:spPr>
        <p:txBody>
          <a:bodyPr/>
          <a:p>
            <a:pPr eaLnBrk="1" hangingPunct="1"/>
            <a:endParaRPr altLang="en-US" lang="en-US"/>
          </a:p>
        </p:txBody>
      </p:sp>
      <p:sp>
        <p:nvSpPr>
          <p:cNvPr id="1049477" name="Slide Number Placeholder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pPr eaLnBrk="1" hangingPunct="1"/>
            <a:fld id="{254C27DF-25C9-4ADB-AD39-FC77C432D9A1}" type="slidenum">
              <a:rPr altLang="en-US" lang="en-US"/>
              <a:pPr eaLnBrk="1" hangingPunct="1"/>
              <a:t>464</a:t>
            </a:fld>
            <a:endParaRPr altLang="en-US"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144" name=""/>
        <p:cNvGrpSpPr/>
        <p:nvPr/>
      </p:nvGrpSpPr>
      <p:grpSpPr>
        <a:xfrm>
          <a:off x="0" y="0"/>
          <a:ext cx="0" cy="0"/>
          <a:chOff x="0" y="0"/>
          <a:chExt cx="0" cy="0"/>
        </a:xfrm>
      </p:grpSpPr>
      <p:sp>
        <p:nvSpPr>
          <p:cNvPr id="1049507"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pPr eaLnBrk="1" hangingPunct="1"/>
            <a:fld id="{2829CAB0-0D9D-40E0-9F0B-629186BD6DE0}" type="slidenum">
              <a:rPr altLang="en-US" lang="en-US"/>
              <a:pPr eaLnBrk="1" hangingPunct="1"/>
              <a:t>468</a:t>
            </a:fld>
            <a:endParaRPr altLang="en-US" lang="en-US"/>
          </a:p>
        </p:txBody>
      </p:sp>
      <p:sp>
        <p:nvSpPr>
          <p:cNvPr id="1049508" name="Rectangle 2"/>
          <p:cNvSpPr>
            <a:spLocks noChangeAspect="1" noRot="1" noGrp="1" noChangeArrowheads="1" noTextEdit="1"/>
          </p:cNvSpPr>
          <p:nvPr>
            <p:ph type="sldImg"/>
          </p:nvPr>
        </p:nvSpPr>
        <p:spPr/>
      </p:sp>
      <p:sp>
        <p:nvSpPr>
          <p:cNvPr id="1049509" name="Rectangle 3"/>
          <p:cNvSpPr>
            <a:spLocks noGrp="1" noChangeArrowheads="1"/>
          </p:cNvSpPr>
          <p:nvPr>
            <p:ph type="body" idx="1"/>
          </p:nvPr>
        </p:nvSpPr>
        <p:spPr>
          <a:noFill/>
        </p:spPr>
        <p:txBody>
          <a:bodyPr/>
          <a:p>
            <a:pPr eaLnBrk="1" hangingPunct="1"/>
            <a:endParaRPr altLang="en-US"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148" name=""/>
        <p:cNvGrpSpPr/>
        <p:nvPr/>
      </p:nvGrpSpPr>
      <p:grpSpPr>
        <a:xfrm>
          <a:off x="0" y="0"/>
          <a:ext cx="0" cy="0"/>
          <a:chOff x="0" y="0"/>
          <a:chExt cx="0" cy="0"/>
        </a:xfrm>
      </p:grpSpPr>
      <p:sp>
        <p:nvSpPr>
          <p:cNvPr id="1049512" name="Slide Image Placeholder 1"/>
          <p:cNvSpPr>
            <a:spLocks noChangeAspect="1" noRot="1" noGrp="1" noTextEdit="1"/>
          </p:cNvSpPr>
          <p:nvPr>
            <p:ph type="sldImg"/>
          </p:nvPr>
        </p:nvSpPr>
        <p:spPr/>
      </p:sp>
      <p:sp>
        <p:nvSpPr>
          <p:cNvPr id="1049513" name="Notes Placeholder 2"/>
          <p:cNvSpPr>
            <a:spLocks noGrp="1"/>
          </p:cNvSpPr>
          <p:nvPr>
            <p:ph type="body" idx="1"/>
          </p:nvPr>
        </p:nvSpPr>
        <p:spPr>
          <a:noFill/>
        </p:spPr>
        <p:txBody>
          <a:bodyPr/>
          <a:p>
            <a:pPr eaLnBrk="1" hangingPunct="1"/>
            <a:endParaRPr altLang="en-US" lang="en-US"/>
          </a:p>
        </p:txBody>
      </p:sp>
      <p:sp>
        <p:nvSpPr>
          <p:cNvPr id="1049514" name="Slide Number Placeholder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pPr eaLnBrk="1" hangingPunct="1"/>
            <a:fld id="{077FC917-AC4A-4E84-8D8B-713AB9740B5A}" type="slidenum">
              <a:rPr altLang="en-US" lang="en-US"/>
              <a:pPr eaLnBrk="1" hangingPunct="1"/>
              <a:t>470</a:t>
            </a:fld>
            <a:endParaRPr altLang="en-US"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151" name=""/>
        <p:cNvGrpSpPr/>
        <p:nvPr/>
      </p:nvGrpSpPr>
      <p:grpSpPr>
        <a:xfrm>
          <a:off x="0" y="0"/>
          <a:ext cx="0" cy="0"/>
          <a:chOff x="0" y="0"/>
          <a:chExt cx="0" cy="0"/>
        </a:xfrm>
      </p:grpSpPr>
      <p:sp>
        <p:nvSpPr>
          <p:cNvPr id="1049516"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pPr eaLnBrk="1" hangingPunct="1"/>
            <a:fld id="{F309B221-5598-45B0-9C1B-BC5D8B369720}" type="slidenum">
              <a:rPr altLang="en-US" lang="en-US"/>
              <a:pPr eaLnBrk="1" hangingPunct="1"/>
              <a:t>471</a:t>
            </a:fld>
            <a:endParaRPr altLang="en-US" lang="en-US"/>
          </a:p>
        </p:txBody>
      </p:sp>
      <p:sp>
        <p:nvSpPr>
          <p:cNvPr id="1049517" name="Rectangle 2"/>
          <p:cNvSpPr>
            <a:spLocks noChangeAspect="1" noRot="1" noGrp="1" noChangeArrowheads="1" noTextEdit="1"/>
          </p:cNvSpPr>
          <p:nvPr>
            <p:ph type="sldImg"/>
          </p:nvPr>
        </p:nvSpPr>
        <p:spPr/>
      </p:sp>
      <p:sp>
        <p:nvSpPr>
          <p:cNvPr id="1049518" name="Rectangle 3"/>
          <p:cNvSpPr>
            <a:spLocks noGrp="1" noChangeArrowheads="1"/>
          </p:cNvSpPr>
          <p:nvPr>
            <p:ph type="body" idx="1"/>
          </p:nvPr>
        </p:nvSpPr>
        <p:spPr>
          <a:noFill/>
        </p:spPr>
        <p:txBody>
          <a:bodyPr/>
          <a:p>
            <a:pPr eaLnBrk="1" hangingPunct="1"/>
            <a:endParaRPr altLang="en-US"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161" name=""/>
        <p:cNvGrpSpPr/>
        <p:nvPr/>
      </p:nvGrpSpPr>
      <p:grpSpPr>
        <a:xfrm>
          <a:off x="0" y="0"/>
          <a:ext cx="0" cy="0"/>
          <a:chOff x="0" y="0"/>
          <a:chExt cx="0" cy="0"/>
        </a:xfrm>
      </p:grpSpPr>
      <p:sp>
        <p:nvSpPr>
          <p:cNvPr id="1049546"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pPr eaLnBrk="1" hangingPunct="1"/>
            <a:fld id="{34843071-D10C-403F-83BE-52D95E7E2000}" type="slidenum">
              <a:rPr altLang="en-US" lang="en-US"/>
              <a:pPr eaLnBrk="1" hangingPunct="1"/>
              <a:t>478</a:t>
            </a:fld>
            <a:endParaRPr altLang="en-US" lang="en-US"/>
          </a:p>
        </p:txBody>
      </p:sp>
      <p:sp>
        <p:nvSpPr>
          <p:cNvPr id="1049547" name="Rectangle 2"/>
          <p:cNvSpPr>
            <a:spLocks noChangeAspect="1" noRot="1" noGrp="1" noChangeArrowheads="1" noTextEdit="1"/>
          </p:cNvSpPr>
          <p:nvPr>
            <p:ph type="sldImg"/>
          </p:nvPr>
        </p:nvSpPr>
        <p:spPr/>
      </p:sp>
      <p:sp>
        <p:nvSpPr>
          <p:cNvPr id="1049548" name="Rectangle 3"/>
          <p:cNvSpPr>
            <a:spLocks noGrp="1" noChangeArrowheads="1"/>
          </p:cNvSpPr>
          <p:nvPr>
            <p:ph type="body" idx="1"/>
          </p:nvPr>
        </p:nvSpPr>
        <p:spPr>
          <a:noFill/>
        </p:spPr>
        <p:txBody>
          <a:bodyPr/>
          <a:p>
            <a:pPr eaLnBrk="1" hangingPunct="1"/>
            <a:endParaRPr altLang="en-US"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169" name=""/>
        <p:cNvGrpSpPr/>
        <p:nvPr/>
      </p:nvGrpSpPr>
      <p:grpSpPr>
        <a:xfrm>
          <a:off x="0" y="0"/>
          <a:ext cx="0" cy="0"/>
          <a:chOff x="0" y="0"/>
          <a:chExt cx="0" cy="0"/>
        </a:xfrm>
      </p:grpSpPr>
      <p:sp>
        <p:nvSpPr>
          <p:cNvPr id="1049560"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pPr eaLnBrk="1" hangingPunct="1"/>
            <a:fld id="{D40923B7-DF06-4121-9D33-CED979C7F4FF}" type="slidenum">
              <a:rPr altLang="en-US" lang="en-US"/>
              <a:pPr eaLnBrk="1" hangingPunct="1"/>
              <a:t>484</a:t>
            </a:fld>
            <a:endParaRPr altLang="en-US" lang="en-US"/>
          </a:p>
        </p:txBody>
      </p:sp>
      <p:sp>
        <p:nvSpPr>
          <p:cNvPr id="1049561" name="Rectangle 2"/>
          <p:cNvSpPr>
            <a:spLocks noChangeAspect="1" noRot="1" noGrp="1" noChangeArrowheads="1" noTextEdit="1"/>
          </p:cNvSpPr>
          <p:nvPr>
            <p:ph type="sldImg"/>
          </p:nvPr>
        </p:nvSpPr>
        <p:spPr/>
      </p:sp>
      <p:sp>
        <p:nvSpPr>
          <p:cNvPr id="1049562" name="Rectangle 3"/>
          <p:cNvSpPr>
            <a:spLocks noGrp="1" noChangeArrowheads="1"/>
          </p:cNvSpPr>
          <p:nvPr>
            <p:ph type="body" idx="1"/>
          </p:nvPr>
        </p:nvSpPr>
        <p:spPr>
          <a:noFill/>
        </p:spPr>
        <p:txBody>
          <a:bodyPr/>
          <a:p>
            <a:pPr eaLnBrk="1" hangingPunct="1"/>
            <a:endParaRPr altLang="en-US"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175" name=""/>
        <p:cNvGrpSpPr/>
        <p:nvPr/>
      </p:nvGrpSpPr>
      <p:grpSpPr>
        <a:xfrm>
          <a:off x="0" y="0"/>
          <a:ext cx="0" cy="0"/>
          <a:chOff x="0" y="0"/>
          <a:chExt cx="0" cy="0"/>
        </a:xfrm>
      </p:grpSpPr>
      <p:sp>
        <p:nvSpPr>
          <p:cNvPr id="1049598"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pPr eaLnBrk="1" hangingPunct="1"/>
            <a:fld id="{56D7630D-B7AA-4B84-9EF9-7255D0FD6775}" type="slidenum">
              <a:rPr altLang="en-US" lang="en-US"/>
              <a:pPr eaLnBrk="1" hangingPunct="1"/>
              <a:t>487</a:t>
            </a:fld>
            <a:endParaRPr altLang="en-US" lang="en-US"/>
          </a:p>
        </p:txBody>
      </p:sp>
      <p:sp>
        <p:nvSpPr>
          <p:cNvPr id="1049599" name="Rectangle 2"/>
          <p:cNvSpPr>
            <a:spLocks noChangeAspect="1" noRot="1" noGrp="1" noChangeArrowheads="1" noTextEdit="1"/>
          </p:cNvSpPr>
          <p:nvPr>
            <p:ph type="sldImg"/>
          </p:nvPr>
        </p:nvSpPr>
        <p:spPr/>
      </p:sp>
      <p:sp>
        <p:nvSpPr>
          <p:cNvPr id="1049600" name="Rectangle 3"/>
          <p:cNvSpPr>
            <a:spLocks noGrp="1" noChangeArrowheads="1"/>
          </p:cNvSpPr>
          <p:nvPr>
            <p:ph type="body" idx="1"/>
          </p:nvPr>
        </p:nvSpPr>
        <p:spPr>
          <a:noFill/>
        </p:spPr>
        <p:txBody>
          <a:bodyPr/>
          <a:p>
            <a:pPr eaLnBrk="1" hangingPunct="1"/>
            <a:endParaRPr altLang="en-US"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178" name=""/>
        <p:cNvGrpSpPr/>
        <p:nvPr/>
      </p:nvGrpSpPr>
      <p:grpSpPr>
        <a:xfrm>
          <a:off x="0" y="0"/>
          <a:ext cx="0" cy="0"/>
          <a:chOff x="0" y="0"/>
          <a:chExt cx="0" cy="0"/>
        </a:xfrm>
      </p:grpSpPr>
      <p:sp>
        <p:nvSpPr>
          <p:cNvPr id="104960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pPr eaLnBrk="1" hangingPunct="1"/>
            <a:fld id="{6C914A41-1D33-44D8-819A-EAE3869FFCF0}" type="slidenum">
              <a:rPr altLang="en-US" lang="en-US"/>
              <a:pPr eaLnBrk="1" hangingPunct="1"/>
              <a:t>488</a:t>
            </a:fld>
            <a:endParaRPr altLang="en-US" lang="en-US"/>
          </a:p>
        </p:txBody>
      </p:sp>
      <p:sp>
        <p:nvSpPr>
          <p:cNvPr id="1049603" name="Rectangle 2"/>
          <p:cNvSpPr>
            <a:spLocks noChangeAspect="1" noRot="1" noGrp="1" noChangeArrowheads="1" noTextEdit="1"/>
          </p:cNvSpPr>
          <p:nvPr>
            <p:ph type="sldImg"/>
          </p:nvPr>
        </p:nvSpPr>
        <p:spPr/>
      </p:sp>
      <p:sp>
        <p:nvSpPr>
          <p:cNvPr id="1049604" name="Rectangle 3"/>
          <p:cNvSpPr>
            <a:spLocks noGrp="1" noChangeArrowheads="1"/>
          </p:cNvSpPr>
          <p:nvPr>
            <p:ph type="body" idx="1"/>
          </p:nvPr>
        </p:nvSpPr>
        <p:spPr>
          <a:noFill/>
        </p:spPr>
        <p:txBody>
          <a:bodyPr/>
          <a:p>
            <a:pPr eaLnBrk="1" hangingPunct="1"/>
            <a:endParaRPr altLang="en-US"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182" name=""/>
        <p:cNvGrpSpPr/>
        <p:nvPr/>
      </p:nvGrpSpPr>
      <p:grpSpPr>
        <a:xfrm>
          <a:off x="0" y="0"/>
          <a:ext cx="0" cy="0"/>
          <a:chOff x="0" y="0"/>
          <a:chExt cx="0" cy="0"/>
        </a:xfrm>
      </p:grpSpPr>
      <p:sp>
        <p:nvSpPr>
          <p:cNvPr id="1049608"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pPr eaLnBrk="1" hangingPunct="1"/>
            <a:fld id="{0BD59B60-5A57-4A72-B550-56F6C5786FD2}" type="slidenum">
              <a:rPr altLang="en-US" lang="en-US"/>
              <a:pPr eaLnBrk="1" hangingPunct="1"/>
              <a:t>490</a:t>
            </a:fld>
            <a:endParaRPr altLang="en-US" lang="en-US"/>
          </a:p>
        </p:txBody>
      </p:sp>
      <p:sp>
        <p:nvSpPr>
          <p:cNvPr id="1049609" name="Rectangle 2"/>
          <p:cNvSpPr>
            <a:spLocks noChangeAspect="1" noRot="1" noGrp="1" noChangeArrowheads="1" noTextEdit="1"/>
          </p:cNvSpPr>
          <p:nvPr>
            <p:ph type="sldImg"/>
          </p:nvPr>
        </p:nvSpPr>
        <p:spPr/>
      </p:sp>
      <p:sp>
        <p:nvSpPr>
          <p:cNvPr id="1049610" name="Rectangle 3"/>
          <p:cNvSpPr>
            <a:spLocks noGrp="1" noChangeArrowheads="1"/>
          </p:cNvSpPr>
          <p:nvPr>
            <p:ph type="body" idx="1"/>
          </p:nvPr>
        </p:nvSpPr>
        <p:spPr>
          <a:noFill/>
        </p:spPr>
        <p:txBody>
          <a:bodyPr/>
          <a:p>
            <a:pPr eaLnBrk="1" hangingPunct="1"/>
            <a:endParaRPr altLang="en-US"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187" name=""/>
        <p:cNvGrpSpPr/>
        <p:nvPr/>
      </p:nvGrpSpPr>
      <p:grpSpPr>
        <a:xfrm>
          <a:off x="0" y="0"/>
          <a:ext cx="0" cy="0"/>
          <a:chOff x="0" y="0"/>
          <a:chExt cx="0" cy="0"/>
        </a:xfrm>
      </p:grpSpPr>
      <p:sp>
        <p:nvSpPr>
          <p:cNvPr id="1049616" name="Slide Image Placeholder 1"/>
          <p:cNvSpPr>
            <a:spLocks noChangeAspect="1" noRot="1" noGrp="1" noTextEdit="1"/>
          </p:cNvSpPr>
          <p:nvPr>
            <p:ph type="sldImg"/>
          </p:nvPr>
        </p:nvSpPr>
        <p:spPr/>
      </p:sp>
      <p:sp>
        <p:nvSpPr>
          <p:cNvPr id="1049617" name="Notes Placeholder 2"/>
          <p:cNvSpPr>
            <a:spLocks noGrp="1"/>
          </p:cNvSpPr>
          <p:nvPr>
            <p:ph type="body" idx="1"/>
          </p:nvPr>
        </p:nvSpPr>
        <p:spPr>
          <a:noFill/>
        </p:spPr>
        <p:txBody>
          <a:bodyPr/>
          <a:p>
            <a:pPr eaLnBrk="1" hangingPunct="1"/>
            <a:endParaRPr altLang="en-US" lang="en-US"/>
          </a:p>
        </p:txBody>
      </p:sp>
      <p:sp>
        <p:nvSpPr>
          <p:cNvPr id="1049618" name="Slide Number Placeholder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pPr eaLnBrk="1" hangingPunct="1"/>
            <a:fld id="{FE2C7CA7-BEFB-4F1A-84AC-F9F486BA3913}" type="slidenum">
              <a:rPr altLang="en-US" lang="en-US"/>
              <a:pPr eaLnBrk="1" hangingPunct="1"/>
              <a:t>493</a:t>
            </a:fld>
            <a:endParaRPr altLang="en-US"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190" name=""/>
        <p:cNvGrpSpPr/>
        <p:nvPr/>
      </p:nvGrpSpPr>
      <p:grpSpPr>
        <a:xfrm>
          <a:off x="0" y="0"/>
          <a:ext cx="0" cy="0"/>
          <a:chOff x="0" y="0"/>
          <a:chExt cx="0" cy="0"/>
        </a:xfrm>
      </p:grpSpPr>
      <p:sp>
        <p:nvSpPr>
          <p:cNvPr id="1049620"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pPr eaLnBrk="1" hangingPunct="1"/>
            <a:fld id="{762B6D79-7900-4E5C-B81B-CCF6F3F777A5}" type="slidenum">
              <a:rPr altLang="en-US" lang="en-US"/>
              <a:pPr eaLnBrk="1" hangingPunct="1"/>
              <a:t>494</a:t>
            </a:fld>
            <a:endParaRPr altLang="en-US" lang="en-US"/>
          </a:p>
        </p:txBody>
      </p:sp>
      <p:sp>
        <p:nvSpPr>
          <p:cNvPr id="1049621" name="Rectangle 2"/>
          <p:cNvSpPr>
            <a:spLocks noChangeAspect="1" noRot="1" noGrp="1" noChangeArrowheads="1" noTextEdit="1"/>
          </p:cNvSpPr>
          <p:nvPr>
            <p:ph type="sldImg"/>
          </p:nvPr>
        </p:nvSpPr>
        <p:spPr/>
      </p:sp>
      <p:sp>
        <p:nvSpPr>
          <p:cNvPr id="1049622" name="Rectangle 3"/>
          <p:cNvSpPr>
            <a:spLocks noGrp="1" noChangeArrowheads="1"/>
          </p:cNvSpPr>
          <p:nvPr>
            <p:ph type="body" idx="1"/>
          </p:nvPr>
        </p:nvSpPr>
        <p:spPr>
          <a:noFill/>
        </p:spPr>
        <p:txBody>
          <a:bodyPr/>
          <a:p>
            <a:pPr eaLnBrk="1" hangingPunct="1"/>
            <a:endParaRPr altLang="en-US"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653" name=""/>
        <p:cNvGrpSpPr/>
        <p:nvPr/>
      </p:nvGrpSpPr>
      <p:grpSpPr>
        <a:xfrm>
          <a:off x="0" y="0"/>
          <a:ext cx="0" cy="0"/>
          <a:chOff x="0" y="0"/>
          <a:chExt cx="0" cy="0"/>
        </a:xfrm>
      </p:grpSpPr>
      <p:sp>
        <p:nvSpPr>
          <p:cNvPr id="1048596"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1048597" name="Subtitle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p>
        </p:txBody>
      </p:sp>
      <p:sp>
        <p:nvSpPr>
          <p:cNvPr id="1048598" name="Date Placeholder 3"/>
          <p:cNvSpPr>
            <a:spLocks noGrp="1"/>
          </p:cNvSpPr>
          <p:nvPr>
            <p:ph type="dt" sz="half" idx="10"/>
          </p:nvPr>
        </p:nvSpPr>
        <p:spPr/>
        <p:txBody>
          <a:bodyPr/>
          <a:p>
            <a:fld id="{6061A21B-52D3-4948-9D63-FBADC0A4B26C}" type="datetimeFigureOut">
              <a:rPr lang="en-US" smtClean="0"/>
              <a:t>5/29/2023</a:t>
            </a:fld>
            <a:endParaRPr lang="en-US"/>
          </a:p>
        </p:txBody>
      </p:sp>
      <p:sp>
        <p:nvSpPr>
          <p:cNvPr id="1048599" name="Footer Placeholder 4"/>
          <p:cNvSpPr>
            <a:spLocks noGrp="1"/>
          </p:cNvSpPr>
          <p:nvPr>
            <p:ph type="ftr" sz="quarter" idx="11"/>
          </p:nvPr>
        </p:nvSpPr>
        <p:spPr/>
        <p:txBody>
          <a:bodyPr/>
          <a:p>
            <a:endParaRPr lang="en-US"/>
          </a:p>
        </p:txBody>
      </p:sp>
      <p:sp>
        <p:nvSpPr>
          <p:cNvPr id="1048600" name="Slide Number Placeholder 5"/>
          <p:cNvSpPr>
            <a:spLocks noGrp="1"/>
          </p:cNvSpPr>
          <p:nvPr>
            <p:ph type="sldNum" sz="quarter" idx="12"/>
          </p:nvPr>
        </p:nvSpPr>
        <p:spPr/>
        <p:txBody>
          <a:bodyPr/>
          <a:p>
            <a:fld id="{017E44C1-0F21-4E72-AE8E-9569923A935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566" name=""/>
        <p:cNvGrpSpPr/>
        <p:nvPr/>
      </p:nvGrpSpPr>
      <p:grpSpPr>
        <a:xfrm>
          <a:off x="0" y="0"/>
          <a:ext cx="0" cy="0"/>
          <a:chOff x="0" y="0"/>
          <a:chExt cx="0" cy="0"/>
        </a:xfrm>
      </p:grpSpPr>
      <p:sp>
        <p:nvSpPr>
          <p:cNvPr id="1048581" name="Title 1"/>
          <p:cNvSpPr>
            <a:spLocks noGrp="1"/>
          </p:cNvSpPr>
          <p:nvPr>
            <p:ph type="title"/>
          </p:nvPr>
        </p:nvSpPr>
        <p:spPr/>
        <p:txBody>
          <a:bodyPr/>
          <a:p>
            <a:r>
              <a:rPr lang="en-US"/>
              <a:t>Click to edit Master title style</a:t>
            </a:r>
          </a:p>
        </p:txBody>
      </p:sp>
      <p:sp>
        <p:nvSpPr>
          <p:cNvPr id="1048582" name="Content Placeholder 2"/>
          <p:cNvSpPr>
            <a:spLocks noGrp="1"/>
          </p:cNvSpPr>
          <p:nvPr>
            <p:ph idx="1"/>
          </p:nvPr>
        </p:nvSpPr>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3" name="Date Placeholder 3"/>
          <p:cNvSpPr>
            <a:spLocks noGrp="1"/>
          </p:cNvSpPr>
          <p:nvPr>
            <p:ph type="dt" sz="half" idx="10"/>
          </p:nvPr>
        </p:nvSpPr>
        <p:spPr/>
        <p:txBody>
          <a:bodyPr/>
          <a:p>
            <a:fld id="{6061A21B-52D3-4948-9D63-FBADC0A4B26C}" type="datetimeFigureOut">
              <a:rPr lang="en-US" smtClean="0"/>
              <a:t>5/29/2023</a:t>
            </a:fld>
            <a:endParaRPr lang="en-US"/>
          </a:p>
        </p:txBody>
      </p:sp>
      <p:sp>
        <p:nvSpPr>
          <p:cNvPr id="1048584" name="Footer Placeholder 4"/>
          <p:cNvSpPr>
            <a:spLocks noGrp="1"/>
          </p:cNvSpPr>
          <p:nvPr>
            <p:ph type="ftr" sz="quarter" idx="11"/>
          </p:nvPr>
        </p:nvSpPr>
        <p:spPr/>
        <p:txBody>
          <a:bodyPr/>
          <a:p>
            <a:endParaRPr lang="en-US"/>
          </a:p>
        </p:txBody>
      </p:sp>
      <p:sp>
        <p:nvSpPr>
          <p:cNvPr id="1048585" name="Slide Number Placeholder 5"/>
          <p:cNvSpPr>
            <a:spLocks noGrp="1"/>
          </p:cNvSpPr>
          <p:nvPr>
            <p:ph type="sldNum" sz="quarter" idx="12"/>
          </p:nvPr>
        </p:nvSpPr>
        <p:spPr/>
        <p:txBody>
          <a:bodyPr/>
          <a:p>
            <a:fld id="{017E44C1-0F21-4E72-AE8E-9569923A935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719" name=""/>
        <p:cNvGrpSpPr/>
        <p:nvPr/>
      </p:nvGrpSpPr>
      <p:grpSpPr>
        <a:xfrm>
          <a:off x="0" y="0"/>
          <a:ext cx="0" cy="0"/>
          <a:chOff x="0" y="0"/>
          <a:chExt cx="0" cy="0"/>
        </a:xfrm>
      </p:grpSpPr>
      <p:sp>
        <p:nvSpPr>
          <p:cNvPr id="1048720"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1048721" name="Text Placeholder 2"/>
          <p:cNvSpPr>
            <a:spLocks noGrp="1"/>
          </p:cNvSpPr>
          <p:nvPr>
            <p:ph type="body" idx="1"/>
          </p:nvPr>
        </p:nvSpPr>
        <p:spPr>
          <a:xfrm>
            <a:off x="831850" y="4589463"/>
            <a:ext cx="10515600" cy="1500187"/>
          </a:xfrm>
        </p:spPr>
        <p:txBody>
          <a:bodyPr/>
          <a:lstStyle>
            <a:lvl1pPr indent="0" marL="0">
              <a:buNone/>
              <a:defRPr sz="2400">
                <a:solidFill>
                  <a:schemeClr val="tx1">
                    <a:tint val="75000"/>
                  </a:schemeClr>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lang="en-US"/>
              <a:t>Click to edit Master text styles</a:t>
            </a:r>
          </a:p>
        </p:txBody>
      </p:sp>
      <p:sp>
        <p:nvSpPr>
          <p:cNvPr id="1048722" name="Date Placeholder 3"/>
          <p:cNvSpPr>
            <a:spLocks noGrp="1"/>
          </p:cNvSpPr>
          <p:nvPr>
            <p:ph type="dt" sz="half" idx="10"/>
          </p:nvPr>
        </p:nvSpPr>
        <p:spPr/>
        <p:txBody>
          <a:bodyPr/>
          <a:p>
            <a:fld id="{6061A21B-52D3-4948-9D63-FBADC0A4B26C}" type="datetimeFigureOut">
              <a:rPr lang="en-US" smtClean="0"/>
              <a:t>5/29/2023</a:t>
            </a:fld>
            <a:endParaRPr lang="en-US"/>
          </a:p>
        </p:txBody>
      </p:sp>
      <p:sp>
        <p:nvSpPr>
          <p:cNvPr id="1048723" name="Footer Placeholder 4"/>
          <p:cNvSpPr>
            <a:spLocks noGrp="1"/>
          </p:cNvSpPr>
          <p:nvPr>
            <p:ph type="ftr" sz="quarter" idx="11"/>
          </p:nvPr>
        </p:nvSpPr>
        <p:spPr/>
        <p:txBody>
          <a:bodyPr/>
          <a:p>
            <a:endParaRPr lang="en-US"/>
          </a:p>
        </p:txBody>
      </p:sp>
      <p:sp>
        <p:nvSpPr>
          <p:cNvPr id="1048724" name="Slide Number Placeholder 5"/>
          <p:cNvSpPr>
            <a:spLocks noGrp="1"/>
          </p:cNvSpPr>
          <p:nvPr>
            <p:ph type="sldNum" sz="quarter" idx="12"/>
          </p:nvPr>
        </p:nvSpPr>
        <p:spPr/>
        <p:txBody>
          <a:bodyPr/>
          <a:p>
            <a:fld id="{017E44C1-0F21-4E72-AE8E-9569923A935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798" name=""/>
        <p:cNvGrpSpPr/>
        <p:nvPr/>
      </p:nvGrpSpPr>
      <p:grpSpPr>
        <a:xfrm>
          <a:off x="0" y="0"/>
          <a:ext cx="0" cy="0"/>
          <a:chOff x="0" y="0"/>
          <a:chExt cx="0" cy="0"/>
        </a:xfrm>
      </p:grpSpPr>
      <p:sp>
        <p:nvSpPr>
          <p:cNvPr id="1048861" name="Title 1"/>
          <p:cNvSpPr>
            <a:spLocks noGrp="1"/>
          </p:cNvSpPr>
          <p:nvPr>
            <p:ph type="title"/>
          </p:nvPr>
        </p:nvSpPr>
        <p:spPr/>
        <p:txBody>
          <a:bodyPr/>
          <a:p>
            <a:r>
              <a:rPr lang="en-US"/>
              <a:t>Click to edit Master title style</a:t>
            </a:r>
          </a:p>
        </p:txBody>
      </p:sp>
      <p:sp>
        <p:nvSpPr>
          <p:cNvPr id="1048862" name="Content Placeholder 2"/>
          <p:cNvSpPr>
            <a:spLocks noGrp="1"/>
          </p:cNvSpPr>
          <p:nvPr>
            <p:ph sz="half" idx="1"/>
          </p:nvPr>
        </p:nvSpPr>
        <p:spPr>
          <a:xfrm>
            <a:off x="838200" y="1825625"/>
            <a:ext cx="5181600" cy="435133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63" name="Content Placeholder 3"/>
          <p:cNvSpPr>
            <a:spLocks noGrp="1"/>
          </p:cNvSpPr>
          <p:nvPr>
            <p:ph sz="half" idx="2"/>
          </p:nvPr>
        </p:nvSpPr>
        <p:spPr>
          <a:xfrm>
            <a:off x="6172200" y="1825625"/>
            <a:ext cx="5181600" cy="435133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64" name="Date Placeholder 4"/>
          <p:cNvSpPr>
            <a:spLocks noGrp="1"/>
          </p:cNvSpPr>
          <p:nvPr>
            <p:ph type="dt" sz="half" idx="10"/>
          </p:nvPr>
        </p:nvSpPr>
        <p:spPr/>
        <p:txBody>
          <a:bodyPr/>
          <a:p>
            <a:fld id="{6061A21B-52D3-4948-9D63-FBADC0A4B26C}" type="datetimeFigureOut">
              <a:rPr lang="en-US" smtClean="0"/>
              <a:t>5/29/2023</a:t>
            </a:fld>
            <a:endParaRPr lang="en-US"/>
          </a:p>
        </p:txBody>
      </p:sp>
      <p:sp>
        <p:nvSpPr>
          <p:cNvPr id="1048865" name="Footer Placeholder 5"/>
          <p:cNvSpPr>
            <a:spLocks noGrp="1"/>
          </p:cNvSpPr>
          <p:nvPr>
            <p:ph type="ftr" sz="quarter" idx="11"/>
          </p:nvPr>
        </p:nvSpPr>
        <p:spPr/>
        <p:txBody>
          <a:bodyPr/>
          <a:p>
            <a:endParaRPr lang="en-US"/>
          </a:p>
        </p:txBody>
      </p:sp>
      <p:sp>
        <p:nvSpPr>
          <p:cNvPr id="1048866" name="Slide Number Placeholder 6"/>
          <p:cNvSpPr>
            <a:spLocks noGrp="1"/>
          </p:cNvSpPr>
          <p:nvPr>
            <p:ph type="sldNum" sz="quarter" idx="12"/>
          </p:nvPr>
        </p:nvSpPr>
        <p:spPr/>
        <p:txBody>
          <a:bodyPr/>
          <a:p>
            <a:fld id="{017E44C1-0F21-4E72-AE8E-9569923A935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325" name=""/>
        <p:cNvGrpSpPr/>
        <p:nvPr/>
      </p:nvGrpSpPr>
      <p:grpSpPr>
        <a:xfrm>
          <a:off x="0" y="0"/>
          <a:ext cx="0" cy="0"/>
          <a:chOff x="0" y="0"/>
          <a:chExt cx="0" cy="0"/>
        </a:xfrm>
      </p:grpSpPr>
      <p:sp>
        <p:nvSpPr>
          <p:cNvPr id="1049866" name="Title 1"/>
          <p:cNvSpPr>
            <a:spLocks noGrp="1"/>
          </p:cNvSpPr>
          <p:nvPr>
            <p:ph type="title"/>
          </p:nvPr>
        </p:nvSpPr>
        <p:spPr>
          <a:xfrm>
            <a:off x="839788" y="365125"/>
            <a:ext cx="10515600" cy="1325563"/>
          </a:xfrm>
        </p:spPr>
        <p:txBody>
          <a:bodyPr/>
          <a:p>
            <a:r>
              <a:rPr lang="en-US"/>
              <a:t>Click to edit Master title style</a:t>
            </a:r>
          </a:p>
        </p:txBody>
      </p:sp>
      <p:sp>
        <p:nvSpPr>
          <p:cNvPr id="1049867" name="Text Placeholder 2"/>
          <p:cNvSpPr>
            <a:spLocks noGrp="1"/>
          </p:cNvSpPr>
          <p:nvPr>
            <p:ph type="body" idx="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9868" name="Content Placeholder 3"/>
          <p:cNvSpPr>
            <a:spLocks noGrp="1"/>
          </p:cNvSpPr>
          <p:nvPr>
            <p:ph sz="half" idx="2"/>
          </p:nvPr>
        </p:nvSpPr>
        <p:spPr>
          <a:xfrm>
            <a:off x="839788" y="2505075"/>
            <a:ext cx="5157787" cy="368458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869" name="Text Placeholder 4"/>
          <p:cNvSpPr>
            <a:spLocks noGrp="1"/>
          </p:cNvSpPr>
          <p:nvPr>
            <p:ph type="body" sz="quarter" idx="3"/>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9870" name="Content Placeholder 5"/>
          <p:cNvSpPr>
            <a:spLocks noGrp="1"/>
          </p:cNvSpPr>
          <p:nvPr>
            <p:ph sz="quarter" idx="4"/>
          </p:nvPr>
        </p:nvSpPr>
        <p:spPr>
          <a:xfrm>
            <a:off x="6172200" y="2505075"/>
            <a:ext cx="5183188" cy="368458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871" name="Date Placeholder 6"/>
          <p:cNvSpPr>
            <a:spLocks noGrp="1"/>
          </p:cNvSpPr>
          <p:nvPr>
            <p:ph type="dt" sz="half" idx="10"/>
          </p:nvPr>
        </p:nvSpPr>
        <p:spPr/>
        <p:txBody>
          <a:bodyPr/>
          <a:p>
            <a:fld id="{6061A21B-52D3-4948-9D63-FBADC0A4B26C}" type="datetimeFigureOut">
              <a:rPr lang="en-US" smtClean="0"/>
              <a:t>5/29/2023</a:t>
            </a:fld>
            <a:endParaRPr lang="en-US"/>
          </a:p>
        </p:txBody>
      </p:sp>
      <p:sp>
        <p:nvSpPr>
          <p:cNvPr id="1049872" name="Footer Placeholder 7"/>
          <p:cNvSpPr>
            <a:spLocks noGrp="1"/>
          </p:cNvSpPr>
          <p:nvPr>
            <p:ph type="ftr" sz="quarter" idx="11"/>
          </p:nvPr>
        </p:nvSpPr>
        <p:spPr/>
        <p:txBody>
          <a:bodyPr/>
          <a:p>
            <a:endParaRPr lang="en-US"/>
          </a:p>
        </p:txBody>
      </p:sp>
      <p:sp>
        <p:nvSpPr>
          <p:cNvPr id="1049873" name="Slide Number Placeholder 8"/>
          <p:cNvSpPr>
            <a:spLocks noGrp="1"/>
          </p:cNvSpPr>
          <p:nvPr>
            <p:ph type="sldNum" sz="quarter" idx="12"/>
          </p:nvPr>
        </p:nvSpPr>
        <p:spPr/>
        <p:txBody>
          <a:bodyPr/>
          <a:p>
            <a:fld id="{017E44C1-0F21-4E72-AE8E-9569923A935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321" name=""/>
        <p:cNvGrpSpPr/>
        <p:nvPr/>
      </p:nvGrpSpPr>
      <p:grpSpPr>
        <a:xfrm>
          <a:off x="0" y="0"/>
          <a:ext cx="0" cy="0"/>
          <a:chOff x="0" y="0"/>
          <a:chExt cx="0" cy="0"/>
        </a:xfrm>
      </p:grpSpPr>
      <p:sp>
        <p:nvSpPr>
          <p:cNvPr id="1049846" name="Title 1"/>
          <p:cNvSpPr>
            <a:spLocks noGrp="1"/>
          </p:cNvSpPr>
          <p:nvPr>
            <p:ph type="title"/>
          </p:nvPr>
        </p:nvSpPr>
        <p:spPr/>
        <p:txBody>
          <a:bodyPr/>
          <a:p>
            <a:r>
              <a:rPr lang="en-US"/>
              <a:t>Click to edit Master title style</a:t>
            </a:r>
          </a:p>
        </p:txBody>
      </p:sp>
      <p:sp>
        <p:nvSpPr>
          <p:cNvPr id="1049847" name="Date Placeholder 2"/>
          <p:cNvSpPr>
            <a:spLocks noGrp="1"/>
          </p:cNvSpPr>
          <p:nvPr>
            <p:ph type="dt" sz="half" idx="10"/>
          </p:nvPr>
        </p:nvSpPr>
        <p:spPr/>
        <p:txBody>
          <a:bodyPr/>
          <a:p>
            <a:fld id="{6061A21B-52D3-4948-9D63-FBADC0A4B26C}" type="datetimeFigureOut">
              <a:rPr lang="en-US" smtClean="0"/>
              <a:t>5/29/2023</a:t>
            </a:fld>
            <a:endParaRPr lang="en-US"/>
          </a:p>
        </p:txBody>
      </p:sp>
      <p:sp>
        <p:nvSpPr>
          <p:cNvPr id="1049848" name="Footer Placeholder 3"/>
          <p:cNvSpPr>
            <a:spLocks noGrp="1"/>
          </p:cNvSpPr>
          <p:nvPr>
            <p:ph type="ftr" sz="quarter" idx="11"/>
          </p:nvPr>
        </p:nvSpPr>
        <p:spPr/>
        <p:txBody>
          <a:bodyPr/>
          <a:p>
            <a:endParaRPr lang="en-US"/>
          </a:p>
        </p:txBody>
      </p:sp>
      <p:sp>
        <p:nvSpPr>
          <p:cNvPr id="1049849" name="Slide Number Placeholder 4"/>
          <p:cNvSpPr>
            <a:spLocks noGrp="1"/>
          </p:cNvSpPr>
          <p:nvPr>
            <p:ph type="sldNum" sz="quarter" idx="12"/>
          </p:nvPr>
        </p:nvSpPr>
        <p:spPr/>
        <p:txBody>
          <a:bodyPr/>
          <a:p>
            <a:fld id="{017E44C1-0F21-4E72-AE8E-9569923A935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663" name=""/>
        <p:cNvGrpSpPr/>
        <p:nvPr/>
      </p:nvGrpSpPr>
      <p:grpSpPr>
        <a:xfrm>
          <a:off x="0" y="0"/>
          <a:ext cx="0" cy="0"/>
          <a:chOff x="0" y="0"/>
          <a:chExt cx="0" cy="0"/>
        </a:xfrm>
      </p:grpSpPr>
      <p:sp>
        <p:nvSpPr>
          <p:cNvPr id="1048619" name="Date Placeholder 1"/>
          <p:cNvSpPr>
            <a:spLocks noGrp="1"/>
          </p:cNvSpPr>
          <p:nvPr>
            <p:ph type="dt" sz="half" idx="10"/>
          </p:nvPr>
        </p:nvSpPr>
        <p:spPr/>
        <p:txBody>
          <a:bodyPr/>
          <a:p>
            <a:fld id="{6061A21B-52D3-4948-9D63-FBADC0A4B26C}" type="datetimeFigureOut">
              <a:rPr lang="en-US" smtClean="0"/>
              <a:t>5/29/2023</a:t>
            </a:fld>
            <a:endParaRPr lang="en-US"/>
          </a:p>
        </p:txBody>
      </p:sp>
      <p:sp>
        <p:nvSpPr>
          <p:cNvPr id="1048620" name="Footer Placeholder 2"/>
          <p:cNvSpPr>
            <a:spLocks noGrp="1"/>
          </p:cNvSpPr>
          <p:nvPr>
            <p:ph type="ftr" sz="quarter" idx="11"/>
          </p:nvPr>
        </p:nvSpPr>
        <p:spPr/>
        <p:txBody>
          <a:bodyPr/>
          <a:p>
            <a:endParaRPr lang="en-US"/>
          </a:p>
        </p:txBody>
      </p:sp>
      <p:sp>
        <p:nvSpPr>
          <p:cNvPr id="1048621" name="Slide Number Placeholder 3"/>
          <p:cNvSpPr>
            <a:spLocks noGrp="1"/>
          </p:cNvSpPr>
          <p:nvPr>
            <p:ph type="sldNum" sz="quarter" idx="12"/>
          </p:nvPr>
        </p:nvSpPr>
        <p:spPr/>
        <p:txBody>
          <a:bodyPr/>
          <a:p>
            <a:fld id="{017E44C1-0F21-4E72-AE8E-9569923A935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326" name=""/>
        <p:cNvGrpSpPr/>
        <p:nvPr/>
      </p:nvGrpSpPr>
      <p:grpSpPr>
        <a:xfrm>
          <a:off x="0" y="0"/>
          <a:ext cx="0" cy="0"/>
          <a:chOff x="0" y="0"/>
          <a:chExt cx="0" cy="0"/>
        </a:xfrm>
      </p:grpSpPr>
      <p:sp>
        <p:nvSpPr>
          <p:cNvPr id="1049874"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1049875"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876"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9877" name="Date Placeholder 4"/>
          <p:cNvSpPr>
            <a:spLocks noGrp="1"/>
          </p:cNvSpPr>
          <p:nvPr>
            <p:ph type="dt" sz="half" idx="10"/>
          </p:nvPr>
        </p:nvSpPr>
        <p:spPr/>
        <p:txBody>
          <a:bodyPr/>
          <a:p>
            <a:fld id="{6061A21B-52D3-4948-9D63-FBADC0A4B26C}" type="datetimeFigureOut">
              <a:rPr lang="en-US" smtClean="0"/>
              <a:t>5/29/2023</a:t>
            </a:fld>
            <a:endParaRPr lang="en-US"/>
          </a:p>
        </p:txBody>
      </p:sp>
      <p:sp>
        <p:nvSpPr>
          <p:cNvPr id="1049878" name="Footer Placeholder 5"/>
          <p:cNvSpPr>
            <a:spLocks noGrp="1"/>
          </p:cNvSpPr>
          <p:nvPr>
            <p:ph type="ftr" sz="quarter" idx="11"/>
          </p:nvPr>
        </p:nvSpPr>
        <p:spPr/>
        <p:txBody>
          <a:bodyPr/>
          <a:p>
            <a:endParaRPr lang="en-US"/>
          </a:p>
        </p:txBody>
      </p:sp>
      <p:sp>
        <p:nvSpPr>
          <p:cNvPr id="1049879" name="Slide Number Placeholder 6"/>
          <p:cNvSpPr>
            <a:spLocks noGrp="1"/>
          </p:cNvSpPr>
          <p:nvPr>
            <p:ph type="sldNum" sz="quarter" idx="12"/>
          </p:nvPr>
        </p:nvSpPr>
        <p:spPr/>
        <p:txBody>
          <a:bodyPr/>
          <a:p>
            <a:fld id="{017E44C1-0F21-4E72-AE8E-9569923A935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323" name=""/>
        <p:cNvGrpSpPr/>
        <p:nvPr/>
      </p:nvGrpSpPr>
      <p:grpSpPr>
        <a:xfrm>
          <a:off x="0" y="0"/>
          <a:ext cx="0" cy="0"/>
          <a:chOff x="0" y="0"/>
          <a:chExt cx="0" cy="0"/>
        </a:xfrm>
      </p:grpSpPr>
      <p:sp>
        <p:nvSpPr>
          <p:cNvPr id="1049855"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1049856" name="Picture Placeholder 2"/>
          <p:cNvSpPr>
            <a:spLocks noGrp="1"/>
          </p:cNvSpPr>
          <p:nvPr>
            <p:ph type="pic" idx="1"/>
          </p:nvPr>
        </p:nvSpPr>
        <p:spPr>
          <a:xfrm>
            <a:off x="5183188" y="987425"/>
            <a:ext cx="6172200" cy="4873625"/>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9857"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9858" name="Date Placeholder 4"/>
          <p:cNvSpPr>
            <a:spLocks noGrp="1"/>
          </p:cNvSpPr>
          <p:nvPr>
            <p:ph type="dt" sz="half" idx="10"/>
          </p:nvPr>
        </p:nvSpPr>
        <p:spPr/>
        <p:txBody>
          <a:bodyPr/>
          <a:p>
            <a:fld id="{6061A21B-52D3-4948-9D63-FBADC0A4B26C}" type="datetimeFigureOut">
              <a:rPr lang="en-US" smtClean="0"/>
              <a:t>5/29/2023</a:t>
            </a:fld>
            <a:endParaRPr lang="en-US"/>
          </a:p>
        </p:txBody>
      </p:sp>
      <p:sp>
        <p:nvSpPr>
          <p:cNvPr id="1049859" name="Footer Placeholder 5"/>
          <p:cNvSpPr>
            <a:spLocks noGrp="1"/>
          </p:cNvSpPr>
          <p:nvPr>
            <p:ph type="ftr" sz="quarter" idx="11"/>
          </p:nvPr>
        </p:nvSpPr>
        <p:spPr/>
        <p:txBody>
          <a:bodyPr/>
          <a:p>
            <a:endParaRPr lang="en-US"/>
          </a:p>
        </p:txBody>
      </p:sp>
      <p:sp>
        <p:nvSpPr>
          <p:cNvPr id="1049860" name="Slide Number Placeholder 6"/>
          <p:cNvSpPr>
            <a:spLocks noGrp="1"/>
          </p:cNvSpPr>
          <p:nvPr>
            <p:ph type="sldNum" sz="quarter" idx="12"/>
          </p:nvPr>
        </p:nvSpPr>
        <p:spPr/>
        <p:txBody>
          <a:bodyPr/>
          <a:p>
            <a:fld id="{017E44C1-0F21-4E72-AE8E-9569923A935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324" name=""/>
        <p:cNvGrpSpPr/>
        <p:nvPr/>
      </p:nvGrpSpPr>
      <p:grpSpPr>
        <a:xfrm>
          <a:off x="0" y="0"/>
          <a:ext cx="0" cy="0"/>
          <a:chOff x="0" y="0"/>
          <a:chExt cx="0" cy="0"/>
        </a:xfrm>
      </p:grpSpPr>
      <p:sp>
        <p:nvSpPr>
          <p:cNvPr id="1049861" name="Title 1"/>
          <p:cNvSpPr>
            <a:spLocks noGrp="1"/>
          </p:cNvSpPr>
          <p:nvPr>
            <p:ph type="title"/>
          </p:nvPr>
        </p:nvSpPr>
        <p:spPr/>
        <p:txBody>
          <a:bodyPr/>
          <a:p>
            <a:r>
              <a:rPr lang="en-US"/>
              <a:t>Click to edit Master title style</a:t>
            </a:r>
          </a:p>
        </p:txBody>
      </p:sp>
      <p:sp>
        <p:nvSpPr>
          <p:cNvPr id="1049862" name="Vertical Text Placeholder 2"/>
          <p:cNvSpPr>
            <a:spLocks noGrp="1"/>
          </p:cNvSpPr>
          <p:nvPr>
            <p:ph type="body" orient="vert" idx="1"/>
          </p:nvPr>
        </p:nvSpPr>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863" name="Date Placeholder 3"/>
          <p:cNvSpPr>
            <a:spLocks noGrp="1"/>
          </p:cNvSpPr>
          <p:nvPr>
            <p:ph type="dt" sz="half" idx="10"/>
          </p:nvPr>
        </p:nvSpPr>
        <p:spPr/>
        <p:txBody>
          <a:bodyPr/>
          <a:p>
            <a:fld id="{6061A21B-52D3-4948-9D63-FBADC0A4B26C}" type="datetimeFigureOut">
              <a:rPr lang="en-US" smtClean="0"/>
              <a:t>5/29/2023</a:t>
            </a:fld>
            <a:endParaRPr lang="en-US"/>
          </a:p>
        </p:txBody>
      </p:sp>
      <p:sp>
        <p:nvSpPr>
          <p:cNvPr id="1049864" name="Footer Placeholder 4"/>
          <p:cNvSpPr>
            <a:spLocks noGrp="1"/>
          </p:cNvSpPr>
          <p:nvPr>
            <p:ph type="ftr" sz="quarter" idx="11"/>
          </p:nvPr>
        </p:nvSpPr>
        <p:spPr/>
        <p:txBody>
          <a:bodyPr/>
          <a:p>
            <a:endParaRPr lang="en-US"/>
          </a:p>
        </p:txBody>
      </p:sp>
      <p:sp>
        <p:nvSpPr>
          <p:cNvPr id="1049865" name="Slide Number Placeholder 5"/>
          <p:cNvSpPr>
            <a:spLocks noGrp="1"/>
          </p:cNvSpPr>
          <p:nvPr>
            <p:ph type="sldNum" sz="quarter" idx="12"/>
          </p:nvPr>
        </p:nvSpPr>
        <p:spPr/>
        <p:txBody>
          <a:bodyPr/>
          <a:p>
            <a:fld id="{017E44C1-0F21-4E72-AE8E-9569923A935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322" name=""/>
        <p:cNvGrpSpPr/>
        <p:nvPr/>
      </p:nvGrpSpPr>
      <p:grpSpPr>
        <a:xfrm>
          <a:off x="0" y="0"/>
          <a:ext cx="0" cy="0"/>
          <a:chOff x="0" y="0"/>
          <a:chExt cx="0" cy="0"/>
        </a:xfrm>
      </p:grpSpPr>
      <p:sp>
        <p:nvSpPr>
          <p:cNvPr id="1049850" name="Vertical Title 1"/>
          <p:cNvSpPr>
            <a:spLocks noGrp="1"/>
          </p:cNvSpPr>
          <p:nvPr>
            <p:ph type="title" orient="vert"/>
          </p:nvPr>
        </p:nvSpPr>
        <p:spPr>
          <a:xfrm>
            <a:off x="8724900" y="365125"/>
            <a:ext cx="2628900" cy="5811838"/>
          </a:xfrm>
        </p:spPr>
        <p:txBody>
          <a:bodyPr vert="eaVert"/>
          <a:p>
            <a:r>
              <a:rPr lang="en-US"/>
              <a:t>Click to edit Master title style</a:t>
            </a:r>
          </a:p>
        </p:txBody>
      </p:sp>
      <p:sp>
        <p:nvSpPr>
          <p:cNvPr id="1049851" name="Vertical Text Placeholder 2"/>
          <p:cNvSpPr>
            <a:spLocks noGrp="1"/>
          </p:cNvSpPr>
          <p:nvPr>
            <p:ph type="body" orient="vert" idx="1"/>
          </p:nvPr>
        </p:nvSpPr>
        <p:spPr>
          <a:xfrm>
            <a:off x="838200" y="365125"/>
            <a:ext cx="7734300" cy="5811838"/>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852" name="Date Placeholder 3"/>
          <p:cNvSpPr>
            <a:spLocks noGrp="1"/>
          </p:cNvSpPr>
          <p:nvPr>
            <p:ph type="dt" sz="half" idx="10"/>
          </p:nvPr>
        </p:nvSpPr>
        <p:spPr/>
        <p:txBody>
          <a:bodyPr/>
          <a:p>
            <a:fld id="{6061A21B-52D3-4948-9D63-FBADC0A4B26C}" type="datetimeFigureOut">
              <a:rPr lang="en-US" smtClean="0"/>
              <a:t>5/29/2023</a:t>
            </a:fld>
            <a:endParaRPr lang="en-US"/>
          </a:p>
        </p:txBody>
      </p:sp>
      <p:sp>
        <p:nvSpPr>
          <p:cNvPr id="1049853" name="Footer Placeholder 4"/>
          <p:cNvSpPr>
            <a:spLocks noGrp="1"/>
          </p:cNvSpPr>
          <p:nvPr>
            <p:ph type="ftr" sz="quarter" idx="11"/>
          </p:nvPr>
        </p:nvSpPr>
        <p:spPr/>
        <p:txBody>
          <a:bodyPr/>
          <a:p>
            <a:endParaRPr lang="en-US"/>
          </a:p>
        </p:txBody>
      </p:sp>
      <p:sp>
        <p:nvSpPr>
          <p:cNvPr id="1049854" name="Slide Number Placeholder 5"/>
          <p:cNvSpPr>
            <a:spLocks noGrp="1"/>
          </p:cNvSpPr>
          <p:nvPr>
            <p:ph type="sldNum" sz="quarter" idx="12"/>
          </p:nvPr>
        </p:nvSpPr>
        <p:spPr/>
        <p:txBody>
          <a:bodyPr/>
          <a:p>
            <a:fld id="{017E44C1-0F21-4E72-AE8E-9569923A935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554"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p:spPr>
        <p:txBody>
          <a:bodyPr anchor="ctr" bIns="45720" lIns="91440" rIns="91440" rtlCol="0" tIns="45720" vert="horz">
            <a:normAutofit/>
          </a:bodyPr>
          <a:p>
            <a:r>
              <a:rPr lang="en-US"/>
              <a:t>Click to edit Master title style</a:t>
            </a:r>
          </a:p>
        </p:txBody>
      </p:sp>
      <p:sp>
        <p:nvSpPr>
          <p:cNvPr id="1048577" name="Text Placeholder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838200" y="6356350"/>
            <a:ext cx="2743200" cy="365125"/>
          </a:xfrm>
          <a:prstGeom prst="rect"/>
        </p:spPr>
        <p:txBody>
          <a:bodyPr anchor="ctr" bIns="45720" lIns="91440" rIns="91440" rtlCol="0" tIns="45720" vert="horz"/>
          <a:lstStyle>
            <a:lvl1pPr algn="l">
              <a:defRPr sz="1200">
                <a:solidFill>
                  <a:schemeClr val="tx1">
                    <a:tint val="75000"/>
                  </a:schemeClr>
                </a:solidFill>
              </a:defRPr>
            </a:lvl1pPr>
          </a:lstStyle>
          <a:p>
            <a:fld id="{6061A21B-52D3-4948-9D63-FBADC0A4B26C}" type="datetimeFigureOut">
              <a:rPr lang="en-US" smtClean="0"/>
              <a:t>5/29/2023</a:t>
            </a:fld>
            <a:endParaRPr lang="en-US"/>
          </a:p>
        </p:txBody>
      </p:sp>
      <p:sp>
        <p:nvSpPr>
          <p:cNvPr id="1048579" name="Footer Placeholder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a:defRPr sz="1200">
                <a:solidFill>
                  <a:schemeClr val="tx1">
                    <a:tint val="75000"/>
                  </a:schemeClr>
                </a:solidFill>
              </a:defRPr>
            </a:lvl1pPr>
          </a:lstStyle>
          <a:p>
            <a:fld id="{017E44C1-0F21-4E72-AE8E-9569923A9350}"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hyperlink" Target="https://www.sciencedirect.com/science/article/pii/0165614787900411" TargetMode="External"/><Relationship Id="rId2" Type="http://schemas.openxmlformats.org/officeDocument/2006/relationships/hyperlink" Target="https://www.addictioneducation.co.uk/receptorreg2001.pdf" TargetMode="External"/><Relationship Id="rId3" Type="http://schemas.openxmlformats.org/officeDocument/2006/relationships/hyperlink" Target="https://www.resmedjournal.com/article/S0954-6111(04)00416-0/abstract" TargetMode="External"/><Relationship Id="rId4"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image" Target="../media/image4.gif"/><Relationship Id="rId2"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xml.rels><?xml version="1.0" encoding="UTF-8" standalone="yes"?>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2.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8.xml.rels><?xml version="1.0" encoding="UTF-8" standalone="yes"?>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2.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488.xml.rels><?xml version="1.0" encoding="UTF-8" standalone="yes"?>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5.xml.rels><?xml version="1.0" encoding="UTF-8" standalone="yes"?>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2.xml"/></Relationships>
</file>

<file path=ppt/slides/_rels/slide6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654" name=""/>
        <p:cNvGrpSpPr/>
        <p:nvPr/>
      </p:nvGrpSpPr>
      <p:grpSpPr>
        <a:xfrm>
          <a:off x="0" y="0"/>
          <a:ext cx="0" cy="0"/>
          <a:chOff x="0" y="0"/>
          <a:chExt cx="0" cy="0"/>
        </a:xfrm>
      </p:grpSpPr>
      <p:sp>
        <p:nvSpPr>
          <p:cNvPr id="1048601" name="Title 1"/>
          <p:cNvSpPr>
            <a:spLocks noGrp="1"/>
          </p:cNvSpPr>
          <p:nvPr>
            <p:ph type="ctrTitle"/>
          </p:nvPr>
        </p:nvSpPr>
        <p:spPr/>
        <p:txBody>
          <a:bodyPr/>
          <a:p>
            <a:r>
              <a:t>PHARMACOLOGY</a:t>
            </a:r>
          </a:p>
        </p:txBody>
      </p:sp>
      <p:sp>
        <p:nvSpPr>
          <p:cNvPr id="1048602" name="Subtitle 2"/>
          <p:cNvSpPr>
            <a:spLocks noGrp="1"/>
          </p:cNvSpPr>
          <p:nvPr>
            <p:ph type="subTitle" idx="1"/>
          </p:nvPr>
        </p:nvSpPr>
        <p:spPr/>
        <p:txBody>
          <a:bodyPr/>
          <a:p>
            <a:r>
              <a:t>SINDANI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55" name=""/>
        <p:cNvGrpSpPr/>
        <p:nvPr/>
      </p:nvGrpSpPr>
      <p:grpSpPr>
        <a:xfrm>
          <a:off x="0" y="0"/>
          <a:ext cx="0" cy="0"/>
          <a:chOff x="0" y="0"/>
          <a:chExt cx="0" cy="0"/>
        </a:xfrm>
      </p:grpSpPr>
      <p:sp>
        <p:nvSpPr>
          <p:cNvPr id="1048603" name="Subtitle 2"/>
          <p:cNvSpPr>
            <a:spLocks noGrp="1"/>
          </p:cNvSpPr>
          <p:nvPr>
            <p:ph type="subTitle" idx="1"/>
          </p:nvPr>
        </p:nvSpPr>
        <p:spPr/>
        <p:txBody>
          <a:bodyPr/>
          <a:p/>
          <a:p>
            <a:r>
              <a:t>LECTURER</a:t>
            </a:r>
          </a:p>
          <a:p>
            <a:r>
              <a:t>SINDANI</a:t>
            </a:r>
          </a:p>
          <a:p/>
        </p:txBody>
      </p:sp>
      <p:sp>
        <p:nvSpPr>
          <p:cNvPr id="1048604" name="Title 1"/>
          <p:cNvSpPr>
            <a:spLocks noGrp="1"/>
          </p:cNvSpPr>
          <p:nvPr>
            <p:ph type="ctrTitle"/>
          </p:nvPr>
        </p:nvSpPr>
        <p:spPr/>
        <p:txBody>
          <a:bodyPr/>
          <a:p>
            <a:r>
              <a:rPr b="1">
                <a:latin typeface="Cambria"/>
                <a:ea typeface="Times New Roman"/>
              </a:rPr>
              <a:t>Module 26: Pharmacology 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56" name=""/>
        <p:cNvGrpSpPr/>
        <p:nvPr/>
      </p:nvGrpSpPr>
      <p:grpSpPr>
        <a:xfrm>
          <a:off x="0" y="0"/>
          <a:ext cx="0" cy="0"/>
          <a:chOff x="0" y="0"/>
          <a:chExt cx="0" cy="0"/>
        </a:xfrm>
      </p:grpSpPr>
      <p:sp>
        <p:nvSpPr>
          <p:cNvPr id="1048605" name="Title 1"/>
          <p:cNvSpPr>
            <a:spLocks noGrp="1"/>
          </p:cNvSpPr>
          <p:nvPr>
            <p:ph type="title"/>
          </p:nvPr>
        </p:nvSpPr>
        <p:spPr/>
        <p:txBody>
          <a:bodyPr>
            <a:normAutofit fontScale="90909"/>
          </a:bodyPr>
          <a:p>
            <a:r>
              <a:rPr b="1">
                <a:latin typeface="Cambria"/>
                <a:ea typeface="Times New Roman"/>
              </a:rPr>
              <a:t>INTRO’</a:t>
            </a:r>
            <a:br>
              <a:rPr b="1">
                <a:ea typeface="Times New Roman"/>
              </a:rPr>
            </a:br>
          </a:p>
        </p:txBody>
      </p:sp>
      <p:sp>
        <p:nvSpPr>
          <p:cNvPr id="1048606" name="Content Placeholder 2"/>
          <p:cNvSpPr>
            <a:spLocks noGrp="1"/>
          </p:cNvSpPr>
          <p:nvPr>
            <p:ph idx="1"/>
          </p:nvPr>
        </p:nvSpPr>
        <p:spPr/>
        <p:txBody>
          <a:bodyPr>
            <a:normAutofit fontScale="95833" lnSpcReduction="10000"/>
          </a:bodyPr>
          <a:p>
            <a:pPr algn="just" marL="0">
              <a:lnSpc>
                <a:spcPct val="150000"/>
              </a:lnSpc>
              <a:spcBef>
                <a:spcPts val="0"/>
              </a:spcBef>
            </a:pPr>
            <a:r>
              <a:rPr b="1" sz="2400">
                <a:solidFill>
                  <a:srgbClr val="000000"/>
                </a:solidFill>
                <a:latin typeface="Times New Roman"/>
                <a:ea typeface="Calibri"/>
              </a:rPr>
              <a:t>Code		: 	PHA 1203</a:t>
            </a:r>
            <a:endParaRPr sz="2400">
              <a:latin typeface="Times New Roman"/>
              <a:ea typeface="Calibri"/>
            </a:endParaRPr>
          </a:p>
          <a:p>
            <a:pPr algn="just" marL="0">
              <a:lnSpc>
                <a:spcPct val="150000"/>
              </a:lnSpc>
              <a:spcBef>
                <a:spcPts val="0"/>
              </a:spcBef>
            </a:pPr>
            <a:r>
              <a:rPr b="1" sz="2400">
                <a:solidFill>
                  <a:srgbClr val="000000"/>
                </a:solidFill>
                <a:latin typeface="Times New Roman"/>
                <a:ea typeface="Calibri"/>
              </a:rPr>
              <a:t>Hours		: 	30</a:t>
            </a:r>
            <a:endParaRPr sz="2400">
              <a:latin typeface="Times New Roman"/>
              <a:ea typeface="Calibri"/>
            </a:endParaRPr>
          </a:p>
          <a:p>
            <a:pPr algn="just" marL="0">
              <a:lnSpc>
                <a:spcPct val="150000"/>
              </a:lnSpc>
              <a:spcBef>
                <a:spcPts val="0"/>
              </a:spcBef>
            </a:pPr>
            <a:r>
              <a:rPr b="1" sz="2400">
                <a:solidFill>
                  <a:srgbClr val="000000"/>
                </a:solidFill>
                <a:latin typeface="Times New Roman"/>
                <a:ea typeface="Calibri"/>
              </a:rPr>
              <a:t>Credits	: 	3</a:t>
            </a:r>
            <a:endParaRPr sz="2400">
              <a:latin typeface="Times New Roman"/>
              <a:ea typeface="Calibri"/>
            </a:endParaRPr>
          </a:p>
          <a:p>
            <a:pPr algn="just" marL="0">
              <a:lnSpc>
                <a:spcPct val="150000"/>
              </a:lnSpc>
              <a:spcBef>
                <a:spcPts val="0"/>
              </a:spcBef>
            </a:pPr>
            <a:r>
              <a:rPr b="1" sz="2400">
                <a:solidFill>
                  <a:srgbClr val="000000"/>
                </a:solidFill>
                <a:latin typeface="Times New Roman"/>
                <a:ea typeface="Calibri"/>
              </a:rPr>
              <a:t> </a:t>
            </a:r>
            <a:endParaRPr sz="2400">
              <a:latin typeface="Times New Roman"/>
              <a:ea typeface="Calibri"/>
            </a:endParaRPr>
          </a:p>
          <a:p>
            <a:pPr algn="just" marL="0">
              <a:lnSpc>
                <a:spcPct val="150000"/>
              </a:lnSpc>
              <a:spcBef>
                <a:spcPts val="0"/>
              </a:spcBef>
            </a:pPr>
            <a:r>
              <a:rPr b="1" sz="2400">
                <a:solidFill>
                  <a:srgbClr val="000000"/>
                </a:solidFill>
                <a:latin typeface="Times New Roman"/>
                <a:ea typeface="Calibri"/>
              </a:rPr>
              <a:t>Module Competence</a:t>
            </a:r>
            <a:endParaRPr sz="2400">
              <a:latin typeface="Times New Roman"/>
              <a:ea typeface="Calibri"/>
            </a:endParaRPr>
          </a:p>
          <a:p>
            <a:pPr algn="just" marL="0">
              <a:lnSpc>
                <a:spcPct val="150000"/>
              </a:lnSpc>
              <a:spcBef>
                <a:spcPts val="0"/>
              </a:spcBef>
            </a:pPr>
            <a:r>
              <a:rPr sz="2400">
                <a:solidFill>
                  <a:srgbClr val="000000"/>
                </a:solidFill>
                <a:latin typeface="Times New Roman"/>
                <a:ea typeface="Calibri"/>
              </a:rPr>
              <a:t>This module is designed to enable the learner administer pharmacological agents to clients and patients in order to prevent illnesses, treat diseases and promote health.</a:t>
            </a:r>
            <a:endParaRPr sz="2400">
              <a:latin typeface="Times New Roman"/>
              <a:ea typeface="Calibri"/>
            </a:endParaRPr>
          </a:p>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657" name=""/>
        <p:cNvGrpSpPr/>
        <p:nvPr/>
      </p:nvGrpSpPr>
      <p:grpSpPr>
        <a:xfrm>
          <a:off x="0" y="0"/>
          <a:ext cx="0" cy="0"/>
          <a:chOff x="0" y="0"/>
          <a:chExt cx="0" cy="0"/>
        </a:xfrm>
      </p:grpSpPr>
      <p:sp>
        <p:nvSpPr>
          <p:cNvPr id="1048607" name="Title 1"/>
          <p:cNvSpPr>
            <a:spLocks noGrp="1"/>
          </p:cNvSpPr>
          <p:nvPr>
            <p:ph type="title"/>
          </p:nvPr>
        </p:nvSpPr>
        <p:spPr/>
        <p:txBody>
          <a:bodyPr>
            <a:normAutofit/>
          </a:bodyPr>
          <a:p>
            <a:r>
              <a:rPr b="1">
                <a:solidFill>
                  <a:srgbClr val="000000"/>
                </a:solidFill>
                <a:latin typeface="Times New Roman"/>
                <a:ea typeface="Calibri"/>
              </a:rPr>
              <a:t>Module Outcomes</a:t>
            </a:r>
          </a:p>
        </p:txBody>
      </p:sp>
      <p:sp>
        <p:nvSpPr>
          <p:cNvPr id="1048608" name="Content Placeholder 2"/>
          <p:cNvSpPr>
            <a:spLocks noGrp="1"/>
          </p:cNvSpPr>
          <p:nvPr>
            <p:ph sz="quarter" idx="1"/>
          </p:nvPr>
        </p:nvSpPr>
        <p:spPr>
          <a:xfrm>
            <a:off x="1981204" y="1417643"/>
            <a:ext cx="8305795" cy="5364160"/>
          </a:xfrm>
        </p:spPr>
        <p:txBody>
          <a:bodyPr>
            <a:normAutofit fontScale="72222" lnSpcReduction="20000"/>
          </a:bodyPr>
          <a:p>
            <a:pPr algn="just" marL="0">
              <a:lnSpc>
                <a:spcPct val="150000"/>
              </a:lnSpc>
              <a:spcBef>
                <a:spcPts val="0"/>
              </a:spcBef>
            </a:pPr>
            <a:r>
              <a:rPr>
                <a:solidFill>
                  <a:srgbClr val="000000"/>
                </a:solidFill>
                <a:latin typeface="Times New Roman"/>
                <a:ea typeface="Calibri"/>
              </a:rPr>
              <a:t>By the end of this module, the learner should;</a:t>
            </a:r>
            <a:endParaRPr>
              <a:latin typeface="Times New Roman"/>
              <a:ea typeface="Calibri"/>
            </a:endParaRPr>
          </a:p>
          <a:p>
            <a:pPr algn="just" indent="-342900" marL="342900">
              <a:lnSpc>
                <a:spcPct val="150000"/>
              </a:lnSpc>
              <a:spcBef>
                <a:spcPts val="0"/>
              </a:spcBef>
              <a:buFont typeface="+mj-lt"/>
              <a:buAutoNum type="arabicPeriod"/>
            </a:pPr>
            <a:r>
              <a:rPr>
                <a:solidFill>
                  <a:srgbClr val="000000"/>
                </a:solidFill>
                <a:latin typeface="Times New Roman"/>
                <a:ea typeface="Calibri"/>
              </a:rPr>
              <a:t>Apply knowledge on pharmacokinetics and pharmacodynamics in educating clients/patients </a:t>
            </a:r>
            <a:r>
              <a:rPr>
                <a:solidFill>
                  <a:srgbClr val="000000"/>
                </a:solidFill>
                <a:latin typeface="Times New Roman"/>
                <a:ea typeface="Calibri"/>
              </a:rPr>
              <a:t> </a:t>
            </a:r>
            <a:endParaRPr>
              <a:latin typeface="Times New Roman"/>
              <a:ea typeface="Calibri"/>
            </a:endParaRPr>
          </a:p>
          <a:p>
            <a:pPr algn="just" indent="-342900" marL="342900">
              <a:lnSpc>
                <a:spcPct val="150000"/>
              </a:lnSpc>
              <a:spcBef>
                <a:spcPts val="0"/>
              </a:spcBef>
              <a:buFont typeface="+mj-lt"/>
              <a:buAutoNum type="arabicPeriod"/>
            </a:pPr>
            <a:r>
              <a:rPr>
                <a:solidFill>
                  <a:srgbClr val="000000"/>
                </a:solidFill>
                <a:latin typeface="Times New Roman"/>
                <a:ea typeface="Calibri"/>
              </a:rPr>
              <a:t>Administer antibiotics to clients with microbial infections</a:t>
            </a:r>
            <a:endParaRPr>
              <a:latin typeface="Times New Roman"/>
              <a:ea typeface="Calibri"/>
            </a:endParaRPr>
          </a:p>
          <a:p>
            <a:pPr algn="just" indent="-342900" marL="342900">
              <a:lnSpc>
                <a:spcPct val="150000"/>
              </a:lnSpc>
              <a:spcBef>
                <a:spcPts val="0"/>
              </a:spcBef>
              <a:buFont typeface="+mj-lt"/>
              <a:buAutoNum type="arabicPeriod"/>
            </a:pPr>
            <a:r>
              <a:rPr>
                <a:solidFill>
                  <a:srgbClr val="000000"/>
                </a:solidFill>
                <a:latin typeface="Times New Roman"/>
                <a:ea typeface="Calibri"/>
              </a:rPr>
              <a:t>Monitor patients on cytotoxic agents for side effects</a:t>
            </a:r>
            <a:endParaRPr>
              <a:latin typeface="Times New Roman"/>
              <a:ea typeface="Calibri"/>
            </a:endParaRPr>
          </a:p>
          <a:p>
            <a:pPr algn="just" indent="-342900" marL="342900">
              <a:lnSpc>
                <a:spcPct val="150000"/>
              </a:lnSpc>
              <a:spcBef>
                <a:spcPts val="0"/>
              </a:spcBef>
              <a:buFont typeface="+mj-lt"/>
              <a:buAutoNum type="arabicPeriod"/>
            </a:pPr>
            <a:r>
              <a:rPr>
                <a:solidFill>
                  <a:srgbClr val="000000"/>
                </a:solidFill>
                <a:latin typeface="Times New Roman"/>
                <a:ea typeface="Calibri"/>
              </a:rPr>
              <a:t>Administer antihistamines to clients with allergic/ hypersensitivity reactions</a:t>
            </a:r>
            <a:endParaRPr>
              <a:latin typeface="Times New Roman"/>
              <a:ea typeface="Calibri"/>
            </a:endParaRPr>
          </a:p>
          <a:p>
            <a:pPr algn="just" indent="-342900" marL="342900">
              <a:lnSpc>
                <a:spcPct val="150000"/>
              </a:lnSpc>
              <a:spcBef>
                <a:spcPts val="0"/>
              </a:spcBef>
              <a:buFont typeface="+mj-lt"/>
              <a:buAutoNum type="arabicPeriod"/>
            </a:pPr>
            <a:r>
              <a:rPr>
                <a:solidFill>
                  <a:srgbClr val="000000"/>
                </a:solidFill>
                <a:latin typeface="Times New Roman"/>
                <a:ea typeface="Calibri"/>
              </a:rPr>
              <a:t>Administer analgesics to clients with inflammatory and painful conditions</a:t>
            </a:r>
            <a:endParaRPr>
              <a:latin typeface="Times New Roman"/>
              <a:ea typeface="Calibri"/>
            </a:endParaRPr>
          </a:p>
          <a:p>
            <a:pPr algn="just" indent="-342900" marL="342900">
              <a:lnSpc>
                <a:spcPct val="150000"/>
              </a:lnSpc>
              <a:spcBef>
                <a:spcPts val="0"/>
              </a:spcBef>
              <a:buFont typeface="+mj-lt"/>
              <a:buAutoNum type="arabicPeriod"/>
            </a:pPr>
            <a:r>
              <a:rPr>
                <a:solidFill>
                  <a:srgbClr val="000000"/>
                </a:solidFill>
                <a:latin typeface="Times New Roman"/>
                <a:ea typeface="Calibri"/>
              </a:rPr>
              <a:t>Administer and monitor patients on steroid therapy</a:t>
            </a:r>
            <a:endParaRPr>
              <a:latin typeface="Times New Roman"/>
              <a:ea typeface="Calibri"/>
            </a:endParaRPr>
          </a:p>
          <a:p>
            <a:pPr algn="just" indent="-342900" marL="342900">
              <a:lnSpc>
                <a:spcPct val="150000"/>
              </a:lnSpc>
              <a:spcBef>
                <a:spcPts val="0"/>
              </a:spcBef>
              <a:buFont typeface="+mj-lt"/>
              <a:buAutoNum type="arabicPeriod"/>
            </a:pPr>
            <a:r>
              <a:rPr>
                <a:solidFill>
                  <a:srgbClr val="000000"/>
                </a:solidFill>
                <a:latin typeface="Times New Roman"/>
                <a:ea typeface="Calibri"/>
              </a:rPr>
              <a:t>Administer bronchodilator agents to patients with obstructive airway disorders</a:t>
            </a:r>
            <a:endParaRPr>
              <a:latin typeface="Times New Roman"/>
              <a:ea typeface="Calibri"/>
            </a:endParaRPr>
          </a:p>
          <a:p>
            <a:pPr algn="just" indent="0" marL="0">
              <a:lnSpc>
                <a:spcPct val="150000"/>
              </a:lnSpc>
              <a:spcBef>
                <a:spcPts val="0"/>
              </a:spcBef>
              <a:buNone/>
            </a:pPr>
            <a:r>
              <a:rPr>
                <a:solidFill>
                  <a:srgbClr val="000000"/>
                </a:solidFill>
                <a:latin typeface="Times New Roman"/>
                <a:ea typeface="Calibri"/>
              </a:rPr>
              <a:t>8.    Administer anticoagulants to clients  </a:t>
            </a:r>
            <a:endParaRPr>
              <a:latin typeface="Times New Roman"/>
              <a:ea typeface="Calibri"/>
            </a:endParaRPr>
          </a:p>
          <a:p>
            <a:pPr algn="just" indent="0" marL="0">
              <a:lnSpc>
                <a:spcPct val="150000"/>
              </a:lnSpc>
              <a:spcBef>
                <a:spcPts val="0"/>
              </a:spcBef>
              <a:buNone/>
            </a:pPr>
            <a:r>
              <a:rPr>
                <a:solidFill>
                  <a:srgbClr val="000000"/>
                </a:solidFill>
                <a:latin typeface="Times New Roman"/>
                <a:ea typeface="Calibri"/>
              </a:rPr>
              <a:t>9. Administer haematinics to clients with anaemia</a:t>
            </a:r>
            <a:endParaRPr>
              <a:latin typeface="Times New Roman"/>
              <a:ea typeface="Calibri"/>
            </a:endParaRPr>
          </a:p>
          <a:p>
            <a:pPr indent="0" marL="0">
              <a:buNone/>
            </a:pPr>
            <a:r>
              <a:rPr>
                <a:solidFill>
                  <a:srgbClr val="000000"/>
                </a:solidFill>
                <a:latin typeface="Times New Roman"/>
                <a:ea typeface="Calibri"/>
              </a:rPr>
              <a:t>10 Administer diuretics to clients with fluid overload.</a:t>
            </a:r>
            <a:r>
              <a:rPr b="1" sz="1800">
                <a:solidFill>
                  <a:srgbClr val="000000"/>
                </a:solidFill>
                <a:latin typeface="Times New Roman"/>
                <a:ea typeface="Calibri"/>
              </a:rPr>
              <a:t>	</a:t>
            </a:r>
          </a:p>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658" name=""/>
        <p:cNvGrpSpPr/>
        <p:nvPr/>
      </p:nvGrpSpPr>
      <p:grpSpPr>
        <a:xfrm>
          <a:off x="0" y="0"/>
          <a:ext cx="0" cy="0"/>
          <a:chOff x="0" y="0"/>
          <a:chExt cx="0" cy="0"/>
        </a:xfrm>
      </p:grpSpPr>
      <p:sp>
        <p:nvSpPr>
          <p:cNvPr id="1048609" name="Title 1"/>
          <p:cNvSpPr>
            <a:spLocks noGrp="1"/>
          </p:cNvSpPr>
          <p:nvPr>
            <p:ph type="title"/>
          </p:nvPr>
        </p:nvSpPr>
        <p:spPr/>
        <p:txBody>
          <a:bodyPr/>
          <a:p>
            <a:r>
              <a:t>Course Reference Books</a:t>
            </a:r>
          </a:p>
        </p:txBody>
      </p:sp>
      <p:sp>
        <p:nvSpPr>
          <p:cNvPr id="1048610" name="Content Placeholder 2"/>
          <p:cNvSpPr>
            <a:spLocks noGrp="1"/>
          </p:cNvSpPr>
          <p:nvPr>
            <p:ph sz="quarter" idx="1"/>
          </p:nvPr>
        </p:nvSpPr>
        <p:spPr>
          <a:xfrm>
            <a:off x="1524004" y="1447795"/>
            <a:ext cx="9144000" cy="5181604"/>
          </a:xfrm>
        </p:spPr>
        <p:txBody>
          <a:bodyPr>
            <a:normAutofit/>
          </a:bodyPr>
          <a:p>
            <a:r>
              <a:rPr sz="3200"/>
              <a:t>GREENSTEIN, B., 2009. </a:t>
            </a:r>
            <a:r>
              <a:rPr sz="3200" i="1"/>
              <a:t>Trounce’s</a:t>
            </a:r>
            <a:r>
              <a:rPr sz="3200" i="1"/>
              <a:t> Clinical pharmacology for Nurses.</a:t>
            </a:r>
            <a:r>
              <a:rPr sz="3200"/>
              <a:t> 18</a:t>
            </a:r>
            <a:r>
              <a:rPr baseline="30000" sz="3200"/>
              <a:t>th</a:t>
            </a:r>
            <a:r>
              <a:rPr sz="3200"/>
              <a:t> ed. </a:t>
            </a:r>
            <a:r>
              <a:rPr sz="3200"/>
              <a:t>Uk</a:t>
            </a:r>
            <a:r>
              <a:rPr sz="3200"/>
              <a:t>. Elsevier</a:t>
            </a:r>
            <a:endParaRPr sz="3200"/>
          </a:p>
          <a:p>
            <a:r>
              <a:rPr sz="3200"/>
              <a:t> LEHNE, R., 2013.</a:t>
            </a:r>
            <a:r>
              <a:rPr sz="3200" i="1"/>
              <a:t>Pharmacology for nursing care</a:t>
            </a:r>
            <a:r>
              <a:rPr sz="3200"/>
              <a:t>.8</a:t>
            </a:r>
            <a:r>
              <a:rPr baseline="30000" sz="3200"/>
              <a:t>th</a:t>
            </a:r>
            <a:r>
              <a:rPr sz="3200"/>
              <a:t> ed.USA. Elsevier Saunders</a:t>
            </a:r>
            <a:endParaRPr sz="3200"/>
          </a:p>
          <a:p>
            <a:r>
              <a:rPr sz="3200"/>
              <a:t> TRIPATHI, KD.,2003. </a:t>
            </a:r>
            <a:r>
              <a:rPr sz="3200" i="1"/>
              <a:t>Essentials of Medical Pharmacology</a:t>
            </a:r>
            <a:r>
              <a:rPr sz="3200"/>
              <a:t>. 5</a:t>
            </a:r>
            <a:r>
              <a:rPr baseline="30000" sz="3200"/>
              <a:t>th</a:t>
            </a:r>
            <a:r>
              <a:rPr sz="3200"/>
              <a:t> ed. New Delhi. </a:t>
            </a:r>
            <a:r>
              <a:rPr sz="3200"/>
              <a:t>Jaypee</a:t>
            </a:r>
            <a:endParaRPr sz="3200"/>
          </a:p>
          <a:p>
            <a:r>
              <a:rPr sz="3200"/>
              <a:t>ANY PHARMACOLOGY FOR NURSES BOOK IN LIBRARY</a:t>
            </a:r>
            <a:endParaRPr sz="3200"/>
          </a:p>
          <a:p>
            <a:r>
              <a:rPr sz="3200"/>
              <a:t>DRUG INDEX</a:t>
            </a:r>
            <a:endParaRPr sz="3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659" name=""/>
        <p:cNvGrpSpPr/>
        <p:nvPr/>
      </p:nvGrpSpPr>
      <p:grpSpPr>
        <a:xfrm>
          <a:off x="0" y="0"/>
          <a:ext cx="0" cy="0"/>
          <a:chOff x="0" y="0"/>
          <a:chExt cx="0" cy="0"/>
        </a:xfrm>
      </p:grpSpPr>
      <p:sp>
        <p:nvSpPr>
          <p:cNvPr id="1048611" name="Title 1"/>
          <p:cNvSpPr>
            <a:spLocks noGrp="1"/>
          </p:cNvSpPr>
          <p:nvPr>
            <p:ph type="title"/>
          </p:nvPr>
        </p:nvSpPr>
        <p:spPr/>
        <p:txBody>
          <a:bodyPr>
            <a:normAutofit/>
          </a:bodyPr>
          <a:p>
            <a:r>
              <a:rPr sz="4900">
                <a:solidFill>
                  <a:srgbClr val="000000"/>
                </a:solidFill>
                <a:latin typeface="Times New Roman"/>
                <a:ea typeface="Calibri"/>
              </a:rPr>
              <a:t>Introduction to pharmacology</a:t>
            </a:r>
            <a:r>
              <a:t>(4Hrs)</a:t>
            </a:r>
          </a:p>
        </p:txBody>
      </p:sp>
      <p:sp>
        <p:nvSpPr>
          <p:cNvPr id="1048612" name="Content Placeholder 2"/>
          <p:cNvSpPr>
            <a:spLocks noGrp="1"/>
          </p:cNvSpPr>
          <p:nvPr>
            <p:ph sz="quarter" idx="1"/>
          </p:nvPr>
        </p:nvSpPr>
        <p:spPr>
          <a:xfrm>
            <a:off x="1828800" y="1676395"/>
            <a:ext cx="8382004" cy="4343400"/>
          </a:xfrm>
        </p:spPr>
        <p:txBody>
          <a:bodyPr>
            <a:normAutofit/>
          </a:bodyPr>
          <a:p>
            <a:r>
              <a:rPr>
                <a:solidFill>
                  <a:srgbClr val="000000"/>
                </a:solidFill>
                <a:latin typeface="Times New Roman"/>
                <a:ea typeface="Calibri"/>
              </a:rPr>
              <a:t>definition of terms, drug names, sources of drugs, dose dosage and dosage forms, routes of drug administration, the principles of pharmacokinetics and pharmacokinetics, concept of critical threshold and drug half-life, drugs and pregnancy, </a:t>
            </a:r>
            <a:r>
              <a:rPr>
                <a:solidFill>
                  <a:srgbClr val="000000"/>
                </a:solidFill>
                <a:latin typeface="Times New Roman"/>
                <a:ea typeface="Calibri"/>
              </a:rPr>
              <a:t>pediatrics</a:t>
            </a:r>
            <a:r>
              <a:rPr>
                <a:solidFill>
                  <a:srgbClr val="000000"/>
                </a:solidFill>
                <a:latin typeface="Times New Roman"/>
                <a:ea typeface="Calibri"/>
              </a:rPr>
              <a:t> considerations in pharmacotherapy, geriatrics consideration in pharmacotherapy, fundamentals of pharmacology, drug tolerance and physiological dependence, the role of a nurse in pharmacotherapy</a:t>
            </a:r>
            <a:endParaRPr sz="4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660" name=""/>
        <p:cNvGrpSpPr/>
        <p:nvPr/>
      </p:nvGrpSpPr>
      <p:grpSpPr>
        <a:xfrm>
          <a:off x="0" y="0"/>
          <a:ext cx="0" cy="0"/>
          <a:chOff x="0" y="0"/>
          <a:chExt cx="0" cy="0"/>
        </a:xfrm>
      </p:grpSpPr>
      <p:sp>
        <p:nvSpPr>
          <p:cNvPr id="1048613" name="Title 1"/>
          <p:cNvSpPr>
            <a:spLocks noGrp="1"/>
          </p:cNvSpPr>
          <p:nvPr>
            <p:ph type="title"/>
          </p:nvPr>
        </p:nvSpPr>
        <p:spPr>
          <a:xfrm>
            <a:off x="1981204" y="152404"/>
            <a:ext cx="8229600" cy="792160"/>
          </a:xfrm>
        </p:spPr>
        <p:txBody>
          <a:bodyPr/>
          <a:p>
            <a:r>
              <a:t>INTRODUCTION</a:t>
            </a:r>
          </a:p>
        </p:txBody>
      </p:sp>
      <p:sp>
        <p:nvSpPr>
          <p:cNvPr id="1048614" name="Content Placeholder 2"/>
          <p:cNvSpPr>
            <a:spLocks noGrp="1"/>
          </p:cNvSpPr>
          <p:nvPr>
            <p:ph sz="quarter" idx="1"/>
          </p:nvPr>
        </p:nvSpPr>
        <p:spPr>
          <a:xfrm>
            <a:off x="838204" y="914400"/>
            <a:ext cx="10925179" cy="5791195"/>
          </a:xfrm>
        </p:spPr>
        <p:txBody>
          <a:bodyPr>
            <a:noAutofit/>
          </a:bodyPr>
          <a:p>
            <a:pPr>
              <a:buNone/>
            </a:pPr>
            <a:r>
              <a:rPr b="1"/>
              <a:t>What is Pharmacology</a:t>
            </a:r>
            <a:r>
              <a:t>  -  </a:t>
            </a:r>
          </a:p>
          <a:p>
            <a:pPr lvl="1"/>
            <a:r>
              <a:rPr sz="2800"/>
              <a:t>The science of drugs</a:t>
            </a:r>
            <a:endParaRPr sz="2800"/>
          </a:p>
          <a:p>
            <a:r>
              <a:rPr b="1"/>
              <a:t>What is a Drug</a:t>
            </a:r>
            <a:r>
              <a:t> –</a:t>
            </a:r>
          </a:p>
          <a:p>
            <a:pPr lvl="1"/>
            <a:r>
              <a:t>Chemicals or substances used to bring about changes or explore physiological or pathological states for the benefits of patients</a:t>
            </a:r>
          </a:p>
          <a:p>
            <a:pPr lvl="1"/>
            <a:r>
              <a:t>“Any substance that brings about a change in biologic function through its chemical actions</a:t>
            </a:r>
          </a:p>
          <a:p>
            <a:pPr lvl="1"/>
            <a:r>
              <a:t>‘’are chemicals that </a:t>
            </a:r>
            <a:r>
              <a:rPr b="1"/>
              <a:t>alter physiochemical processes </a:t>
            </a:r>
            <a:r>
              <a:t>in body cells.’’</a:t>
            </a:r>
          </a:p>
          <a:p>
            <a:pPr lvl="1"/>
            <a:r>
              <a:t>‘’chemical substance used in the treatment, cure, prevention, or diagnosis of disease or used to otherwise enhance physical or mental well-being."</a:t>
            </a:r>
          </a:p>
          <a:p>
            <a:pPr indent="0" marL="0">
              <a:buNone/>
            </a:pPr>
            <a:r>
              <a:rPr b="1"/>
              <a:t>Therefore the Def of pharmacology</a:t>
            </a:r>
            <a:r>
              <a:t> is– </a:t>
            </a:r>
          </a:p>
          <a:p>
            <a:pPr lvl="1"/>
            <a:r>
              <a:rPr sz="2800"/>
              <a:t>The study of interaction of administered chemical molecules (drugs) with living systems</a:t>
            </a:r>
            <a:endParaRPr sz="2800"/>
          </a:p>
        </p:txBody>
      </p:sp>
      <p:pic>
        <p:nvPicPr>
          <p:cNvPr id="2097152" name="Picture 2"/>
          <p:cNvPicPr>
            <a:picLocks noChangeAspect="1" noChangeArrowheads="1"/>
          </p:cNvPicPr>
          <p:nvPr/>
        </p:nvPicPr>
        <p:blipFill>
          <a:blip xmlns:r="http://schemas.openxmlformats.org/officeDocument/2006/relationships" r:embed="rId1" cstate="print"/>
          <a:srcRect/>
          <a:stretch>
            <a:fillRect/>
          </a:stretch>
        </p:blipFill>
        <p:spPr bwMode="auto">
          <a:xfrm>
            <a:off x="8039104" y="152404"/>
            <a:ext cx="2514600" cy="2133595"/>
          </a:xfrm>
          <a:prstGeom prst="rect"/>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661" name=""/>
        <p:cNvGrpSpPr/>
        <p:nvPr/>
      </p:nvGrpSpPr>
      <p:grpSpPr>
        <a:xfrm>
          <a:off x="0" y="0"/>
          <a:ext cx="0" cy="0"/>
          <a:chOff x="0" y="0"/>
          <a:chExt cx="0" cy="0"/>
        </a:xfrm>
      </p:grpSpPr>
      <p:sp>
        <p:nvSpPr>
          <p:cNvPr id="1048615" name="Title 1"/>
          <p:cNvSpPr>
            <a:spLocks noGrp="1"/>
          </p:cNvSpPr>
          <p:nvPr>
            <p:ph type="title"/>
          </p:nvPr>
        </p:nvSpPr>
        <p:spPr/>
        <p:txBody>
          <a:bodyPr/>
          <a:p>
            <a:r>
              <a:t>Introduction </a:t>
            </a:r>
            <a:r>
              <a:t>cont</a:t>
            </a:r>
            <a:r>
              <a:t>’</a:t>
            </a:r>
          </a:p>
        </p:txBody>
      </p:sp>
      <p:sp>
        <p:nvSpPr>
          <p:cNvPr id="1048616" name="Content Placeholder 2"/>
          <p:cNvSpPr>
            <a:spLocks noGrp="1"/>
          </p:cNvSpPr>
          <p:nvPr>
            <p:ph sz="quarter" idx="1"/>
          </p:nvPr>
        </p:nvSpPr>
        <p:spPr>
          <a:xfrm>
            <a:off x="2133595" y="1447795"/>
            <a:ext cx="8077195" cy="5029200"/>
          </a:xfrm>
        </p:spPr>
        <p:txBody>
          <a:bodyPr>
            <a:noAutofit/>
          </a:bodyPr>
          <a:p>
            <a:pPr indent="0" marL="0">
              <a:buNone/>
            </a:pPr>
            <a:r>
              <a:rPr b="1" sz="3200"/>
              <a:t>Clinical pharmacology</a:t>
            </a:r>
            <a:r>
              <a:rPr sz="3200"/>
              <a:t> – </a:t>
            </a:r>
            <a:endParaRPr sz="3200"/>
          </a:p>
          <a:p>
            <a:pPr lvl="1"/>
            <a:r>
              <a:rPr sz="2800"/>
              <a:t>The scientific study of drugs in man. </a:t>
            </a:r>
            <a:endParaRPr sz="2800"/>
          </a:p>
          <a:p>
            <a:pPr lvl="2"/>
            <a:r>
              <a:rPr sz="2400"/>
              <a:t>Includes study of how drugs interact with the body, evaluating efficacy and safety and adverse effects</a:t>
            </a:r>
            <a:endParaRPr sz="2400"/>
          </a:p>
          <a:p>
            <a:endParaRPr sz="3200"/>
          </a:p>
          <a:p>
            <a:pPr>
              <a:buNone/>
            </a:pPr>
            <a:r>
              <a:rPr sz="3200"/>
              <a:t>NB </a:t>
            </a:r>
            <a:r>
              <a:rPr b="1" sz="3200" i="1"/>
              <a:t>Aim of drug therapy is to prevent, cure or control various diseases</a:t>
            </a:r>
            <a:r>
              <a:rPr sz="3200"/>
              <a:t>. </a:t>
            </a:r>
            <a:endParaRPr sz="3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662" name=""/>
        <p:cNvGrpSpPr/>
        <p:nvPr/>
      </p:nvGrpSpPr>
      <p:grpSpPr>
        <a:xfrm>
          <a:off x="0" y="0"/>
          <a:ext cx="0" cy="0"/>
          <a:chOff x="0" y="0"/>
          <a:chExt cx="0" cy="0"/>
        </a:xfrm>
      </p:grpSpPr>
      <p:sp>
        <p:nvSpPr>
          <p:cNvPr id="1048617" name="Title 1"/>
          <p:cNvSpPr>
            <a:spLocks noGrp="1"/>
          </p:cNvSpPr>
          <p:nvPr>
            <p:ph type="title"/>
          </p:nvPr>
        </p:nvSpPr>
        <p:spPr/>
        <p:txBody>
          <a:bodyPr>
            <a:normAutofit/>
          </a:bodyPr>
          <a:p>
            <a:r>
              <a:t>HISTORY AND DRUG DEVELOPMENT</a:t>
            </a:r>
          </a:p>
        </p:txBody>
      </p:sp>
      <p:sp>
        <p:nvSpPr>
          <p:cNvPr id="1048618" name="Content Placeholder 2"/>
          <p:cNvSpPr>
            <a:spLocks noGrp="1"/>
          </p:cNvSpPr>
          <p:nvPr>
            <p:ph sz="quarter" idx="1"/>
          </p:nvPr>
        </p:nvSpPr>
        <p:spPr>
          <a:xfrm>
            <a:off x="390520" y="1219195"/>
            <a:ext cx="10896604" cy="5333995"/>
          </a:xfrm>
        </p:spPr>
        <p:txBody>
          <a:bodyPr>
            <a:noAutofit/>
          </a:bodyPr>
          <a:p>
            <a:r>
              <a:rPr sz="3200"/>
              <a:t>Initially, medicinally useful drugs were discovered by accident from natural substances </a:t>
            </a:r>
            <a:r>
              <a:rPr sz="3200"/>
              <a:t>e.g</a:t>
            </a:r>
            <a:r>
              <a:rPr sz="3200"/>
              <a:t> Penicillin, quinine</a:t>
            </a:r>
            <a:endParaRPr sz="3200"/>
          </a:p>
          <a:p>
            <a:endParaRPr sz="3200"/>
          </a:p>
          <a:p>
            <a:r>
              <a:rPr sz="3200"/>
              <a:t>Today, new drugs are introduced by modifying an existing natural or synthetic drug to increase potency or absorption and decrease unwanted effects. </a:t>
            </a:r>
            <a:r>
              <a:rPr sz="3200"/>
              <a:t>E.g</a:t>
            </a:r>
            <a:r>
              <a:rPr sz="3200"/>
              <a:t> opium poppy – morphine – pethidine is derived</a:t>
            </a:r>
            <a:endParaRPr sz="3200"/>
          </a:p>
          <a:p>
            <a:endParaRPr sz="3200"/>
          </a:p>
          <a:p>
            <a:r>
              <a:rPr sz="3200"/>
              <a:t>New drugs are also developed from understanding physiological processes therefore developing drugs that act on or counter act this process. </a:t>
            </a:r>
            <a:r>
              <a:rPr sz="3200"/>
              <a:t>Eg</a:t>
            </a:r>
            <a:r>
              <a:rPr sz="3200"/>
              <a:t> use of </a:t>
            </a:r>
            <a:r>
              <a:rPr sz="3200"/>
              <a:t>salbutamal</a:t>
            </a:r>
            <a:r>
              <a:rPr sz="3200"/>
              <a:t> for Asthma</a:t>
            </a:r>
            <a:endParaRPr sz="3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664" name=""/>
        <p:cNvGrpSpPr/>
        <p:nvPr/>
      </p:nvGrpSpPr>
      <p:grpSpPr>
        <a:xfrm>
          <a:off x="0" y="0"/>
          <a:ext cx="0" cy="0"/>
          <a:chOff x="0" y="0"/>
          <a:chExt cx="0" cy="0"/>
        </a:xfrm>
      </p:grpSpPr>
      <p:sp>
        <p:nvSpPr>
          <p:cNvPr id="1048622" name="Content Placeholder 2"/>
          <p:cNvSpPr>
            <a:spLocks noGrp="1"/>
          </p:cNvSpPr>
          <p:nvPr>
            <p:ph sz="quarter" idx="4294967295"/>
          </p:nvPr>
        </p:nvSpPr>
        <p:spPr>
          <a:xfrm>
            <a:off x="666754" y="304795"/>
            <a:ext cx="10810879" cy="5715000"/>
          </a:xfrm>
        </p:spPr>
        <p:txBody>
          <a:bodyPr>
            <a:normAutofit/>
          </a:bodyPr>
          <a:p>
            <a:r>
              <a:rPr sz="3200"/>
              <a:t>Once a drug </a:t>
            </a:r>
            <a:r>
              <a:rPr b="1" sz="3200"/>
              <a:t>is identified</a:t>
            </a:r>
            <a:r>
              <a:rPr sz="3200"/>
              <a:t>, it should be rigorously </a:t>
            </a:r>
            <a:r>
              <a:rPr b="1" sz="3200"/>
              <a:t>tested</a:t>
            </a:r>
            <a:r>
              <a:rPr sz="3200"/>
              <a:t> to ensure it is not teratogenic, carcinogenic or otherwise harmful.</a:t>
            </a:r>
            <a:endParaRPr sz="3200"/>
          </a:p>
          <a:p>
            <a:endParaRPr sz="3200"/>
          </a:p>
          <a:p>
            <a:r>
              <a:rPr sz="3200"/>
              <a:t>The drug is </a:t>
            </a:r>
            <a:r>
              <a:rPr b="1" sz="3200"/>
              <a:t>then tested on humans on strictly controlled clinical trials</a:t>
            </a:r>
            <a:r>
              <a:rPr sz="3200"/>
              <a:t> in collaboration with pharmaceutical companies and medical professions. Nurses play a big role in clinical  trials and must be aware of the regulations</a:t>
            </a:r>
            <a:endParaRPr sz="3200"/>
          </a:p>
          <a:p>
            <a:endParaRPr sz="3200"/>
          </a:p>
          <a:p>
            <a:r>
              <a:rPr sz="3200"/>
              <a:t>If the drug passes the test, </a:t>
            </a:r>
            <a:r>
              <a:rPr b="1" sz="3200"/>
              <a:t>it is granted a license by the regulatory body </a:t>
            </a:r>
            <a:r>
              <a:rPr sz="3200"/>
              <a:t>to be prescribed</a:t>
            </a:r>
            <a:endParaRPr sz="3200"/>
          </a:p>
          <a:p>
            <a:endParaRPr sz="3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665" name=""/>
        <p:cNvGrpSpPr/>
        <p:nvPr/>
      </p:nvGrpSpPr>
      <p:grpSpPr>
        <a:xfrm>
          <a:off x="0" y="0"/>
          <a:ext cx="0" cy="0"/>
          <a:chOff x="0" y="0"/>
          <a:chExt cx="0" cy="0"/>
        </a:xfrm>
      </p:grpSpPr>
      <p:sp>
        <p:nvSpPr>
          <p:cNvPr id="1048623" name="Title 4"/>
          <p:cNvSpPr>
            <a:spLocks noGrp="1"/>
          </p:cNvSpPr>
          <p:nvPr>
            <p:ph type="title"/>
          </p:nvPr>
        </p:nvSpPr>
        <p:spPr>
          <a:xfrm>
            <a:off x="2057400" y="228600"/>
            <a:ext cx="8077195" cy="1143000"/>
          </a:xfrm>
        </p:spPr>
        <p:txBody>
          <a:bodyPr>
            <a:normAutofit/>
          </a:bodyPr>
          <a:p>
            <a:r>
              <a:rPr sz="3200"/>
              <a:t>TERMINOLOGIES USED IN PHARMACOLOGY</a:t>
            </a:r>
            <a:endParaRPr sz="3200"/>
          </a:p>
        </p:txBody>
      </p:sp>
      <p:sp>
        <p:nvSpPr>
          <p:cNvPr id="1048624" name="Content Placeholder 2"/>
          <p:cNvSpPr>
            <a:spLocks noGrp="1"/>
          </p:cNvSpPr>
          <p:nvPr>
            <p:ph sz="quarter" idx="1"/>
          </p:nvPr>
        </p:nvSpPr>
        <p:spPr>
          <a:xfrm>
            <a:off x="371475" y="1285875"/>
            <a:ext cx="11325229" cy="5267329"/>
          </a:xfrm>
        </p:spPr>
        <p:txBody>
          <a:bodyPr>
            <a:normAutofit/>
          </a:bodyPr>
          <a:p>
            <a:pPr>
              <a:buNone/>
            </a:pPr>
          </a:p>
          <a:p>
            <a:r>
              <a:rPr b="1" sz="3200"/>
              <a:t>Pharmacokinetics </a:t>
            </a:r>
            <a:r>
              <a:rPr sz="3200"/>
              <a:t>-  Refers to </a:t>
            </a:r>
            <a:r>
              <a:rPr sz="3200" u="sng"/>
              <a:t>how the body deals with the drug</a:t>
            </a:r>
            <a:r>
              <a:rPr sz="3200"/>
              <a:t>.. </a:t>
            </a:r>
            <a:r>
              <a:rPr b="1" sz="3200" i="1">
                <a:solidFill>
                  <a:srgbClr val="FF0000"/>
                </a:solidFill>
              </a:rPr>
              <a:t>it includes absorption, transport, distribution</a:t>
            </a:r>
            <a:r>
              <a:t>,</a:t>
            </a:r>
            <a:r>
              <a:rPr sz="3200"/>
              <a:t> </a:t>
            </a:r>
            <a:r>
              <a:rPr b="1" i="1">
                <a:solidFill>
                  <a:srgbClr val="FF0000"/>
                </a:solidFill>
              </a:rPr>
              <a:t>b</a:t>
            </a:r>
            <a:r>
              <a:rPr b="1" sz="3200" i="1">
                <a:solidFill>
                  <a:srgbClr val="FF0000"/>
                </a:solidFill>
              </a:rPr>
              <a:t>iotransformation (metabolism ), elimination and excretion.</a:t>
            </a:r>
            <a:endParaRPr b="1" sz="3200" i="1">
              <a:solidFill>
                <a:srgbClr val="FF0000"/>
              </a:solidFill>
            </a:endParaRPr>
          </a:p>
          <a:p>
            <a:endParaRPr b="1" sz="3200" i="1">
              <a:solidFill>
                <a:srgbClr val="FF0000"/>
              </a:solidFill>
            </a:endParaRPr>
          </a:p>
          <a:p>
            <a:r>
              <a:rPr b="1" sz="3200"/>
              <a:t>Pharmacodynamics </a:t>
            </a:r>
            <a:r>
              <a:rPr sz="3200"/>
              <a:t>-  Refers to the effects of the drug in the body (</a:t>
            </a:r>
            <a:r>
              <a:rPr sz="3200" u="sng"/>
              <a:t>what the drug does to the body</a:t>
            </a:r>
            <a:r>
              <a:rPr sz="3200"/>
              <a:t>). </a:t>
            </a:r>
            <a:r>
              <a:rPr b="1" sz="3200" i="1">
                <a:solidFill>
                  <a:srgbClr val="FF0000"/>
                </a:solidFill>
              </a:rPr>
              <a:t>It includes receptor binding, mechanism of action, effects of drug</a:t>
            </a:r>
            <a:r>
              <a:rPr sz="3200"/>
              <a:t> – desirable and undesirable and duration of action</a:t>
            </a:r>
            <a:endParaRPr sz="3200"/>
          </a:p>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668" name=""/>
        <p:cNvGrpSpPr/>
        <p:nvPr/>
      </p:nvGrpSpPr>
      <p:grpSpPr>
        <a:xfrm>
          <a:off x="0" y="0"/>
          <a:ext cx="0" cy="0"/>
          <a:chOff x="0" y="0"/>
          <a:chExt cx="0" cy="0"/>
        </a:xfrm>
      </p:grpSpPr>
      <p:sp>
        <p:nvSpPr>
          <p:cNvPr id="1048628" name="Content Placeholder 2"/>
          <p:cNvSpPr>
            <a:spLocks noGrp="1"/>
          </p:cNvSpPr>
          <p:nvPr>
            <p:ph sz="quarter" idx="4294967295"/>
          </p:nvPr>
        </p:nvSpPr>
        <p:spPr>
          <a:xfrm>
            <a:off x="352429" y="304795"/>
            <a:ext cx="11106145" cy="6553204"/>
          </a:xfrm>
        </p:spPr>
        <p:txBody>
          <a:bodyPr>
            <a:normAutofit/>
          </a:bodyPr>
          <a:p>
            <a:r>
              <a:rPr b="1" sz="3200"/>
              <a:t>Drug interactions </a:t>
            </a:r>
            <a:r>
              <a:rPr sz="3200"/>
              <a:t>– refers to when 2 or more drugs are given simultaneously. </a:t>
            </a:r>
            <a:r>
              <a:rPr b="1" sz="3200">
                <a:latin typeface="Calibri"/>
                <a:ea typeface="Calibri"/>
                <a:cs typeface="Times New Roman"/>
              </a:rPr>
              <a:t>Alteration in the duration /magnitude of the pharmacological effect  of a drug by </a:t>
            </a:r>
            <a:r>
              <a:rPr b="1">
                <a:latin typeface="Calibri"/>
                <a:ea typeface="Calibri"/>
                <a:cs typeface="Times New Roman"/>
              </a:rPr>
              <a:t>a</a:t>
            </a:r>
            <a:r>
              <a:rPr b="1" sz="3200">
                <a:latin typeface="Calibri"/>
                <a:ea typeface="Calibri"/>
                <a:cs typeface="Times New Roman"/>
              </a:rPr>
              <a:t>nother drug /substance </a:t>
            </a:r>
            <a:r>
              <a:rPr sz="3200"/>
              <a:t>Their can be either</a:t>
            </a:r>
            <a:endParaRPr sz="3200"/>
          </a:p>
          <a:p>
            <a:pPr lvl="1"/>
            <a:r>
              <a:rPr b="1" sz="2800"/>
              <a:t>Synergism</a:t>
            </a:r>
            <a:r>
              <a:rPr sz="2800"/>
              <a:t> ( when the action of one drug is facilitated or increased by another)  </a:t>
            </a:r>
            <a:r>
              <a:rPr sz="2800"/>
              <a:t>i.e</a:t>
            </a:r>
            <a:r>
              <a:rPr sz="2800"/>
              <a:t> </a:t>
            </a:r>
            <a:r>
              <a:rPr sz="2800">
                <a:latin typeface="Calibri"/>
                <a:ea typeface="Calibri"/>
                <a:cs typeface="Times New Roman"/>
              </a:rPr>
              <a:t>additive </a:t>
            </a:r>
            <a:r>
              <a:rPr sz="2800"/>
              <a:t>or </a:t>
            </a:r>
            <a:endParaRPr sz="2800"/>
          </a:p>
          <a:p>
            <a:pPr lvl="1"/>
            <a:r>
              <a:rPr b="1" sz="2800"/>
              <a:t>Antagonism</a:t>
            </a:r>
            <a:r>
              <a:rPr sz="2800"/>
              <a:t> ( when one drug decreases or inhibits the action of another)</a:t>
            </a:r>
            <a:endParaRPr sz="2800"/>
          </a:p>
          <a:p>
            <a:r>
              <a:rPr b="1" sz="3200"/>
              <a:t>Adverse drug reactions </a:t>
            </a:r>
            <a:r>
              <a:rPr sz="3200"/>
              <a:t>– Unwanted/undesired effects of a drug. They are monitored to gauge dose regimen, assist in scheduling, determining appropriate dug route and formulation</a:t>
            </a:r>
            <a:endParaRPr sz="3200"/>
          </a:p>
          <a:p>
            <a:r>
              <a:rPr b="1" sz="3200"/>
              <a:t>Dose</a:t>
            </a:r>
            <a:r>
              <a:rPr sz="3200"/>
              <a:t> - Quantity of drug used to get the desired effect without causing harmful side effects.</a:t>
            </a:r>
            <a:endParaRPr sz="3200"/>
          </a:p>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669" name=""/>
        <p:cNvGrpSpPr/>
        <p:nvPr/>
      </p:nvGrpSpPr>
      <p:grpSpPr>
        <a:xfrm>
          <a:off x="0" y="0"/>
          <a:ext cx="0" cy="0"/>
          <a:chOff x="0" y="0"/>
          <a:chExt cx="0" cy="0"/>
        </a:xfrm>
      </p:grpSpPr>
      <p:sp>
        <p:nvSpPr>
          <p:cNvPr id="1048629" name="Rectangle 1"/>
          <p:cNvSpPr/>
          <p:nvPr/>
        </p:nvSpPr>
        <p:spPr>
          <a:xfrm>
            <a:off x="604832" y="181956"/>
            <a:ext cx="10982329" cy="6098540"/>
          </a:xfrm>
          <a:prstGeom prst="rect"/>
        </p:spPr>
        <p:txBody>
          <a:bodyPr wrap="square">
            <a:spAutoFit/>
          </a:bodyPr>
          <a:p>
            <a:r>
              <a:rPr b="1" sz="3200"/>
              <a:t>Indications</a:t>
            </a:r>
            <a:endParaRPr b="1" sz="3200"/>
          </a:p>
          <a:p>
            <a:r>
              <a:rPr sz="3200"/>
              <a:t>“The reasons for administering a medication or performing a treatment”</a:t>
            </a:r>
            <a:endParaRPr sz="3200"/>
          </a:p>
          <a:p>
            <a:r>
              <a:rPr b="1" sz="3200"/>
              <a:t>Contra-indications</a:t>
            </a:r>
            <a:endParaRPr b="1" sz="3200"/>
          </a:p>
          <a:p>
            <a:r>
              <a:rPr sz="3200"/>
              <a:t>“Factor that prevents the use of a medication or treatment (e.g., Allergies)”</a:t>
            </a:r>
            <a:endParaRPr sz="3200"/>
          </a:p>
          <a:p>
            <a:r>
              <a:rPr b="1" sz="3200"/>
              <a:t>Effects (therapeutic effect)</a:t>
            </a:r>
            <a:endParaRPr b="1" sz="3200"/>
          </a:p>
          <a:p>
            <a:r>
              <a:rPr sz="3200"/>
              <a:t>“The desired results of administration of a medication”</a:t>
            </a:r>
            <a:endParaRPr sz="3200"/>
          </a:p>
          <a:p>
            <a:r>
              <a:rPr b="1" sz="3200"/>
              <a:t>Duration</a:t>
            </a:r>
            <a:endParaRPr b="1" sz="3200"/>
          </a:p>
          <a:p>
            <a:r>
              <a:rPr sz="3200"/>
              <a:t>“The time a drug concentration is sufficient to elicit a therapeutic response”</a:t>
            </a:r>
            <a:endParaRPr sz="3200"/>
          </a:p>
          <a:p>
            <a:r>
              <a:rPr b="1" sz="3200"/>
              <a:t>Onset</a:t>
            </a:r>
            <a:endParaRPr b="1" sz="3200"/>
          </a:p>
          <a:p>
            <a:r>
              <a:rPr sz="3200"/>
              <a:t>“The time it takes for the drug to elicit a therapeutic response”</a:t>
            </a:r>
            <a:endParaRPr sz="3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670" name=""/>
        <p:cNvGrpSpPr/>
        <p:nvPr/>
      </p:nvGrpSpPr>
      <p:grpSpPr>
        <a:xfrm>
          <a:off x="0" y="0"/>
          <a:ext cx="0" cy="0"/>
          <a:chOff x="0" y="0"/>
          <a:chExt cx="0" cy="0"/>
        </a:xfrm>
      </p:grpSpPr>
      <p:sp>
        <p:nvSpPr>
          <p:cNvPr id="1048630" name="TextBox 2"/>
          <p:cNvSpPr txBox="1"/>
          <p:nvPr/>
        </p:nvSpPr>
        <p:spPr>
          <a:xfrm>
            <a:off x="428625" y="304669"/>
            <a:ext cx="11182354" cy="6119368"/>
          </a:xfrm>
          <a:prstGeom prst="rect"/>
          <a:noFill/>
        </p:spPr>
        <p:txBody>
          <a:bodyPr wrap="square">
            <a:spAutoFit/>
          </a:bodyPr>
          <a:p>
            <a:pPr algn="just">
              <a:lnSpc>
                <a:spcPct val="106000"/>
              </a:lnSpc>
              <a:spcAft>
                <a:spcPts val="800"/>
              </a:spcAft>
            </a:pPr>
            <a:r>
              <a:rPr b="1" sz="3200">
                <a:latin typeface="Calibri"/>
                <a:ea typeface="Calibri"/>
                <a:cs typeface="Times New Roman"/>
              </a:rPr>
              <a:t>Over the counter drugs-non prescription drugs  sold directly to the public without requiring a  prescription –safe and used for minor symptoms</a:t>
            </a:r>
            <a:endParaRPr sz="3200">
              <a:latin typeface="Calibri"/>
              <a:ea typeface="Calibri"/>
              <a:cs typeface="Times New Roman"/>
            </a:endParaRPr>
          </a:p>
          <a:p>
            <a:r>
              <a:rPr b="1" sz="3200">
                <a:latin typeface="Calibri"/>
                <a:ea typeface="Calibri"/>
                <a:cs typeface="Times New Roman"/>
              </a:rPr>
              <a:t>Tolerance –</a:t>
            </a:r>
            <a:r>
              <a:rPr sz="3200">
                <a:latin typeface="Calibri"/>
                <a:ea typeface="Calibri"/>
                <a:cs typeface="Times New Roman"/>
              </a:rPr>
              <a:t>repeated or prolonged administration of some drugs result in tolerance ,hence the </a:t>
            </a:r>
            <a:r>
              <a:rPr sz="3200">
                <a:solidFill>
                  <a:srgbClr val="FF0000"/>
                </a:solidFill>
                <a:latin typeface="Calibri"/>
                <a:ea typeface="Calibri"/>
                <a:cs typeface="Times New Roman"/>
              </a:rPr>
              <a:t>body adapts to the continued presence of the drug</a:t>
            </a:r>
            <a:endParaRPr sz="3200">
              <a:solidFill>
                <a:srgbClr val="FF0000"/>
              </a:solidFill>
              <a:latin typeface="Calibri"/>
              <a:ea typeface="Calibri"/>
              <a:cs typeface="Times New Roman"/>
            </a:endParaRPr>
          </a:p>
          <a:p>
            <a:pPr algn="just">
              <a:lnSpc>
                <a:spcPct val="106000"/>
              </a:lnSpc>
              <a:spcAft>
                <a:spcPts val="800"/>
              </a:spcAft>
            </a:pPr>
            <a:r>
              <a:rPr b="1" sz="3200">
                <a:latin typeface="Calibri"/>
                <a:ea typeface="Calibri"/>
                <a:cs typeface="Times New Roman"/>
              </a:rPr>
              <a:t>Potency</a:t>
            </a:r>
            <a:r>
              <a:rPr sz="3200">
                <a:latin typeface="Calibri"/>
                <a:ea typeface="Calibri"/>
                <a:cs typeface="Times New Roman"/>
              </a:rPr>
              <a:t>-refers to the amount of drug needed to produce an effect such as relief of pain</a:t>
            </a:r>
            <a:endParaRPr sz="3200">
              <a:latin typeface="Calibri"/>
              <a:ea typeface="Calibri"/>
              <a:cs typeface="Times New Roman"/>
            </a:endParaRPr>
          </a:p>
          <a:p>
            <a:pPr algn="just">
              <a:lnSpc>
                <a:spcPct val="106000"/>
              </a:lnSpc>
              <a:spcAft>
                <a:spcPts val="800"/>
              </a:spcAft>
            </a:pPr>
            <a:r>
              <a:rPr b="1" sz="3200">
                <a:latin typeface="Calibri"/>
                <a:ea typeface="Calibri"/>
                <a:cs typeface="Times New Roman"/>
              </a:rPr>
              <a:t>Efficacy –</a:t>
            </a:r>
            <a:r>
              <a:rPr sz="3200">
                <a:latin typeface="Calibri"/>
                <a:ea typeface="Calibri"/>
                <a:cs typeface="Times New Roman"/>
              </a:rPr>
              <a:t>refer to the potential maximum therapeutic response that</a:t>
            </a:r>
            <a:r>
              <a:rPr b="1" sz="3200">
                <a:latin typeface="Calibri"/>
                <a:ea typeface="Calibri"/>
                <a:cs typeface="Times New Roman"/>
              </a:rPr>
              <a:t> </a:t>
            </a:r>
            <a:r>
              <a:rPr sz="3200">
                <a:latin typeface="Calibri"/>
                <a:ea typeface="Calibri"/>
                <a:cs typeface="Times New Roman"/>
              </a:rPr>
              <a:t>drugs can produce</a:t>
            </a:r>
            <a:r>
              <a:rPr b="1" sz="3200">
                <a:latin typeface="Calibri"/>
                <a:ea typeface="Calibri"/>
                <a:cs typeface="Times New Roman"/>
              </a:rPr>
              <a:t> </a:t>
            </a:r>
            <a:endParaRPr sz="3200">
              <a:latin typeface="Calibri"/>
              <a:ea typeface="Calibri"/>
              <a:cs typeface="Times New Roman"/>
            </a:endParaRPr>
          </a:p>
          <a:p>
            <a:pPr algn="just">
              <a:lnSpc>
                <a:spcPct val="106000"/>
              </a:lnSpc>
              <a:spcAft>
                <a:spcPts val="800"/>
              </a:spcAft>
            </a:pPr>
            <a:r>
              <a:rPr b="1" sz="3200">
                <a:solidFill>
                  <a:srgbClr val="000000"/>
                </a:solidFill>
                <a:latin typeface="Calibri"/>
                <a:ea typeface="Calibri"/>
                <a:cs typeface="Times New Roman"/>
              </a:rPr>
              <a:t>Plasma half life t1/2</a:t>
            </a:r>
            <a:r>
              <a:rPr sz="3200">
                <a:solidFill>
                  <a:srgbClr val="000000"/>
                </a:solidFill>
                <a:latin typeface="Calibri"/>
                <a:ea typeface="Calibri"/>
                <a:cs typeface="Times New Roman"/>
              </a:rPr>
              <a:t> it’s the time taken for the plasma concentration of a drug to be reduced to half its value.</a:t>
            </a:r>
            <a:endParaRPr sz="3200">
              <a:latin typeface="Calibri"/>
              <a:ea typeface="Calibri"/>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671" name=""/>
        <p:cNvGrpSpPr/>
        <p:nvPr/>
      </p:nvGrpSpPr>
      <p:grpSpPr>
        <a:xfrm>
          <a:off x="0" y="0"/>
          <a:ext cx="0" cy="0"/>
          <a:chOff x="0" y="0"/>
          <a:chExt cx="0" cy="0"/>
        </a:xfrm>
      </p:grpSpPr>
      <p:sp>
        <p:nvSpPr>
          <p:cNvPr id="1048631" name="TextBox 2"/>
          <p:cNvSpPr txBox="1"/>
          <p:nvPr/>
        </p:nvSpPr>
        <p:spPr>
          <a:xfrm>
            <a:off x="495304" y="446972"/>
            <a:ext cx="10972800" cy="6332982"/>
          </a:xfrm>
          <a:prstGeom prst="rect"/>
          <a:noFill/>
        </p:spPr>
        <p:txBody>
          <a:bodyPr wrap="square">
            <a:spAutoFit/>
          </a:bodyPr>
          <a:p>
            <a:pPr algn="just">
              <a:lnSpc>
                <a:spcPct val="106000"/>
              </a:lnSpc>
              <a:spcAft>
                <a:spcPts val="800"/>
              </a:spcAft>
            </a:pPr>
            <a:r>
              <a:rPr b="1" sz="3600">
                <a:latin typeface="Calibri"/>
                <a:ea typeface="Calibri"/>
                <a:cs typeface="Times New Roman"/>
              </a:rPr>
              <a:t>Teratogenicity</a:t>
            </a:r>
            <a:r>
              <a:rPr sz="3600">
                <a:latin typeface="Calibri"/>
                <a:ea typeface="Calibri"/>
                <a:cs typeface="Times New Roman"/>
              </a:rPr>
              <a:t> –ability of a drug to </a:t>
            </a:r>
            <a:r>
              <a:rPr sz="3600">
                <a:solidFill>
                  <a:srgbClr val="FF0000"/>
                </a:solidFill>
                <a:latin typeface="Calibri"/>
                <a:ea typeface="Calibri"/>
                <a:cs typeface="Times New Roman"/>
              </a:rPr>
              <a:t>cause abnormalities in the fetus when administered to pregnant mothers </a:t>
            </a:r>
            <a:r>
              <a:rPr sz="3600">
                <a:latin typeface="Calibri"/>
                <a:ea typeface="Calibri"/>
                <a:cs typeface="Times New Roman"/>
              </a:rPr>
              <a:t>especially in the first trimester </a:t>
            </a:r>
            <a:r>
              <a:rPr sz="3600">
                <a:latin typeface="Calibri"/>
                <a:ea typeface="Calibri"/>
                <a:cs typeface="Times New Roman"/>
              </a:rPr>
              <a:t>e.g</a:t>
            </a:r>
            <a:r>
              <a:rPr sz="3600">
                <a:latin typeface="Calibri"/>
                <a:ea typeface="Calibri"/>
                <a:cs typeface="Times New Roman"/>
              </a:rPr>
              <a:t> tetracycline deformed teeth</a:t>
            </a:r>
            <a:endParaRPr sz="3600">
              <a:latin typeface="Calibri"/>
              <a:ea typeface="Calibri"/>
              <a:cs typeface="Times New Roman"/>
            </a:endParaRPr>
          </a:p>
          <a:p>
            <a:pPr algn="just">
              <a:lnSpc>
                <a:spcPct val="106000"/>
              </a:lnSpc>
              <a:spcAft>
                <a:spcPts val="800"/>
              </a:spcAft>
            </a:pPr>
            <a:r>
              <a:rPr b="1" sz="3600">
                <a:latin typeface="Calibri"/>
                <a:ea typeface="Calibri"/>
                <a:cs typeface="Times New Roman"/>
              </a:rPr>
              <a:t>Carcinogenicity –</a:t>
            </a:r>
            <a:r>
              <a:rPr sz="3600">
                <a:latin typeface="Calibri"/>
                <a:ea typeface="Calibri"/>
                <a:cs typeface="Times New Roman"/>
              </a:rPr>
              <a:t>ability of a drug to cause cancers </a:t>
            </a:r>
            <a:r>
              <a:rPr sz="3600">
                <a:latin typeface="Calibri"/>
                <a:ea typeface="Calibri"/>
                <a:cs typeface="Times New Roman"/>
              </a:rPr>
              <a:t>e.g</a:t>
            </a:r>
            <a:r>
              <a:rPr sz="3600">
                <a:latin typeface="Calibri"/>
                <a:ea typeface="Calibri"/>
                <a:cs typeface="Times New Roman"/>
              </a:rPr>
              <a:t> radioactive isotopes</a:t>
            </a:r>
            <a:endParaRPr sz="3600">
              <a:latin typeface="Calibri"/>
              <a:ea typeface="Calibri"/>
              <a:cs typeface="Times New Roman"/>
            </a:endParaRPr>
          </a:p>
          <a:p>
            <a:pPr algn="just">
              <a:lnSpc>
                <a:spcPct val="106000"/>
              </a:lnSpc>
              <a:spcAft>
                <a:spcPts val="800"/>
              </a:spcAft>
            </a:pPr>
            <a:r>
              <a:rPr b="1" sz="3600">
                <a:latin typeface="Calibri"/>
                <a:ea typeface="Calibri"/>
                <a:cs typeface="Times New Roman"/>
              </a:rPr>
              <a:t>Pharmacopeia –</a:t>
            </a:r>
            <a:r>
              <a:rPr sz="3600">
                <a:latin typeface="Calibri"/>
                <a:ea typeface="Calibri"/>
                <a:cs typeface="Times New Roman"/>
              </a:rPr>
              <a:t>is an official document containing list of drugs which have established their use</a:t>
            </a:r>
            <a:endParaRPr b="1" sz="3600">
              <a:latin typeface="Calibri"/>
              <a:ea typeface="Calibri"/>
              <a:cs typeface="Times New Roman"/>
            </a:endParaRPr>
          </a:p>
          <a:p>
            <a:pPr algn="just">
              <a:lnSpc>
                <a:spcPct val="106000"/>
              </a:lnSpc>
              <a:spcAft>
                <a:spcPts val="800"/>
              </a:spcAft>
            </a:pPr>
            <a:r>
              <a:rPr b="1" sz="3600">
                <a:latin typeface="Calibri"/>
                <a:ea typeface="Calibri"/>
                <a:cs typeface="Times New Roman"/>
              </a:rPr>
              <a:t>Potentiation</a:t>
            </a:r>
            <a:r>
              <a:rPr sz="3600">
                <a:latin typeface="Calibri"/>
                <a:ea typeface="Calibri"/>
                <a:cs typeface="Times New Roman"/>
              </a:rPr>
              <a:t> –combined effect of two drugs is more than summation of </a:t>
            </a:r>
            <a:r>
              <a:rPr sz="3600">
                <a:latin typeface="Calibri"/>
                <a:ea typeface="Calibri"/>
                <a:cs typeface="Times New Roman"/>
              </a:rPr>
              <a:t>of</a:t>
            </a:r>
            <a:r>
              <a:rPr sz="3600">
                <a:latin typeface="Calibri"/>
                <a:ea typeface="Calibri"/>
                <a:cs typeface="Times New Roman"/>
              </a:rPr>
              <a:t> their individual effect   </a:t>
            </a:r>
            <a:endParaRPr sz="3600">
              <a:latin typeface="Calibri"/>
              <a:ea typeface="Calibri"/>
              <a:cs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672" name=""/>
        <p:cNvGrpSpPr/>
        <p:nvPr/>
      </p:nvGrpSpPr>
      <p:grpSpPr>
        <a:xfrm>
          <a:off x="0" y="0"/>
          <a:ext cx="0" cy="0"/>
          <a:chOff x="0" y="0"/>
          <a:chExt cx="0" cy="0"/>
        </a:xfrm>
      </p:grpSpPr>
      <p:sp>
        <p:nvSpPr>
          <p:cNvPr id="1048632" name="TextBox 2"/>
          <p:cNvSpPr txBox="1"/>
          <p:nvPr/>
        </p:nvSpPr>
        <p:spPr>
          <a:xfrm>
            <a:off x="585787" y="414951"/>
            <a:ext cx="11020420" cy="6388100"/>
          </a:xfrm>
          <a:prstGeom prst="rect"/>
          <a:noFill/>
        </p:spPr>
        <p:txBody>
          <a:bodyPr wrap="square">
            <a:spAutoFit/>
          </a:bodyPr>
          <a:p>
            <a:pPr algn="just">
              <a:lnSpc>
                <a:spcPct val="106000"/>
              </a:lnSpc>
              <a:spcAft>
                <a:spcPts val="800"/>
              </a:spcAft>
            </a:pPr>
            <a:r>
              <a:rPr b="1" sz="3200">
                <a:solidFill>
                  <a:srgbClr val="5B9BD5"/>
                </a:solidFill>
                <a:latin typeface="Calibri"/>
                <a:ea typeface="Calibri"/>
                <a:cs typeface="Times New Roman"/>
              </a:rPr>
              <a:t>Idiosyncracy</a:t>
            </a:r>
            <a:r>
              <a:rPr b="1" sz="3200">
                <a:solidFill>
                  <a:srgbClr val="5B9BD5"/>
                </a:solidFill>
                <a:latin typeface="Calibri"/>
                <a:ea typeface="Calibri"/>
                <a:cs typeface="Times New Roman"/>
              </a:rPr>
              <a:t>-</a:t>
            </a:r>
            <a:r>
              <a:rPr sz="3200">
                <a:latin typeface="Calibri"/>
                <a:ea typeface="Calibri"/>
                <a:cs typeface="Times New Roman"/>
              </a:rPr>
              <a:t>genetically determined abnormal reaction to a drug</a:t>
            </a:r>
            <a:endParaRPr sz="3200">
              <a:latin typeface="Calibri"/>
              <a:ea typeface="Calibri"/>
              <a:cs typeface="Times New Roman"/>
            </a:endParaRPr>
          </a:p>
          <a:p>
            <a:pPr algn="just">
              <a:lnSpc>
                <a:spcPct val="106000"/>
              </a:lnSpc>
              <a:spcAft>
                <a:spcPts val="800"/>
              </a:spcAft>
            </a:pPr>
            <a:r>
              <a:rPr sz="3200">
                <a:solidFill>
                  <a:srgbClr val="0070C0"/>
                </a:solidFill>
                <a:latin typeface="Calibri"/>
                <a:ea typeface="Calibri"/>
                <a:cs typeface="Times New Roman"/>
              </a:rPr>
              <a:t>Allergic reaction-</a:t>
            </a:r>
            <a:r>
              <a:rPr sz="3200">
                <a:latin typeface="Calibri"/>
                <a:ea typeface="Calibri"/>
                <a:cs typeface="Times New Roman"/>
              </a:rPr>
              <a:t>immunologically mediated reaction   </a:t>
            </a:r>
            <a:endParaRPr b="1" sz="3200">
              <a:latin typeface="Calibri"/>
              <a:ea typeface="Calibri"/>
              <a:cs typeface="Times New Roman"/>
            </a:endParaRPr>
          </a:p>
          <a:p>
            <a:pPr algn="just">
              <a:lnSpc>
                <a:spcPct val="106000"/>
              </a:lnSpc>
              <a:spcAft>
                <a:spcPts val="800"/>
              </a:spcAft>
            </a:pPr>
            <a:r>
              <a:rPr b="1" sz="3200">
                <a:latin typeface="Calibri"/>
                <a:ea typeface="Calibri"/>
                <a:cs typeface="Times New Roman"/>
              </a:rPr>
              <a:t>Drug dependency-</a:t>
            </a:r>
            <a:r>
              <a:rPr sz="3200">
                <a:latin typeface="Calibri"/>
                <a:ea typeface="Calibri"/>
                <a:cs typeface="Times New Roman"/>
              </a:rPr>
              <a:t>it’s a state of compulsive use of drugs though the person knows the effects of</a:t>
            </a:r>
            <a:r>
              <a:rPr b="1" sz="3200">
                <a:latin typeface="Calibri"/>
                <a:ea typeface="Calibri"/>
                <a:cs typeface="Times New Roman"/>
              </a:rPr>
              <a:t> </a:t>
            </a:r>
            <a:r>
              <a:rPr sz="3200">
                <a:latin typeface="Calibri"/>
                <a:ea typeface="Calibri"/>
                <a:cs typeface="Times New Roman"/>
              </a:rPr>
              <a:t>its use/</a:t>
            </a:r>
            <a:r>
              <a:rPr sz="3200">
                <a:latin typeface="Calibri"/>
                <a:ea typeface="Calibri"/>
                <a:cs typeface="Times New Roman"/>
              </a:rPr>
              <a:t>drud</a:t>
            </a:r>
            <a:r>
              <a:rPr sz="3200">
                <a:latin typeface="Calibri"/>
                <a:ea typeface="Calibri"/>
                <a:cs typeface="Times New Roman"/>
              </a:rPr>
              <a:t> addiction</a:t>
            </a:r>
            <a:endParaRPr sz="3200">
              <a:latin typeface="Calibri"/>
              <a:ea typeface="Calibri"/>
              <a:cs typeface="Times New Roman"/>
            </a:endParaRPr>
          </a:p>
          <a:p>
            <a:pPr algn="just">
              <a:lnSpc>
                <a:spcPct val="106000"/>
              </a:lnSpc>
              <a:spcAft>
                <a:spcPts val="800"/>
              </a:spcAft>
            </a:pPr>
            <a:r>
              <a:rPr sz="3200">
                <a:solidFill>
                  <a:srgbClr val="0070C0"/>
                </a:solidFill>
                <a:latin typeface="Calibri"/>
                <a:ea typeface="Calibri"/>
                <a:cs typeface="Times New Roman"/>
              </a:rPr>
              <a:t>Psychologic dependence-</a:t>
            </a:r>
            <a:r>
              <a:rPr sz="3200">
                <a:latin typeface="Calibri"/>
                <a:ea typeface="Calibri"/>
                <a:cs typeface="Times New Roman"/>
              </a:rPr>
              <a:t>compulsive drug seeking </a:t>
            </a:r>
            <a:r>
              <a:rPr sz="3200">
                <a:latin typeface="Calibri"/>
                <a:ea typeface="Calibri"/>
                <a:cs typeface="Times New Roman"/>
              </a:rPr>
              <a:t>behavour</a:t>
            </a:r>
            <a:r>
              <a:rPr sz="3200">
                <a:latin typeface="Calibri"/>
                <a:ea typeface="Calibri"/>
                <a:cs typeface="Times New Roman"/>
              </a:rPr>
              <a:t> to obtain its pleasurable effect </a:t>
            </a:r>
            <a:r>
              <a:rPr sz="3200">
                <a:latin typeface="Calibri"/>
                <a:ea typeface="Calibri"/>
                <a:cs typeface="Times New Roman"/>
              </a:rPr>
              <a:t>e.g</a:t>
            </a:r>
            <a:r>
              <a:rPr sz="3200">
                <a:latin typeface="Calibri"/>
                <a:ea typeface="Calibri"/>
                <a:cs typeface="Times New Roman"/>
              </a:rPr>
              <a:t> cigarette smoking </a:t>
            </a:r>
            <a:endParaRPr sz="3200">
              <a:latin typeface="Calibri"/>
              <a:ea typeface="Calibri"/>
              <a:cs typeface="Times New Roman"/>
            </a:endParaRPr>
          </a:p>
          <a:p>
            <a:pPr algn="just">
              <a:lnSpc>
                <a:spcPct val="106000"/>
              </a:lnSpc>
              <a:spcAft>
                <a:spcPts val="800"/>
              </a:spcAft>
            </a:pPr>
            <a:r>
              <a:rPr sz="3200">
                <a:solidFill>
                  <a:srgbClr val="0070C0"/>
                </a:solidFill>
                <a:latin typeface="Calibri"/>
                <a:ea typeface="Calibri"/>
                <a:cs typeface="Times New Roman"/>
              </a:rPr>
              <a:t>Physical dependence</a:t>
            </a:r>
            <a:r>
              <a:rPr sz="3200">
                <a:latin typeface="Calibri"/>
                <a:ea typeface="Calibri"/>
                <a:cs typeface="Times New Roman"/>
              </a:rPr>
              <a:t>-occurs when withdrawal produces adverse effect  </a:t>
            </a:r>
            <a:r>
              <a:rPr sz="3200">
                <a:latin typeface="Calibri"/>
                <a:ea typeface="Calibri"/>
                <a:cs typeface="Times New Roman"/>
              </a:rPr>
              <a:t>e.g</a:t>
            </a:r>
            <a:r>
              <a:rPr sz="3200">
                <a:latin typeface="Calibri"/>
                <a:ea typeface="Calibri"/>
                <a:cs typeface="Times New Roman"/>
              </a:rPr>
              <a:t> alcohol, opioids and barbiturates</a:t>
            </a:r>
            <a:endParaRPr sz="3200">
              <a:latin typeface="Calibri"/>
              <a:ea typeface="Calibri"/>
              <a:cs typeface="Times New Roman"/>
            </a:endParaRPr>
          </a:p>
          <a:p>
            <a:pPr algn="just">
              <a:lnSpc>
                <a:spcPct val="106000"/>
              </a:lnSpc>
              <a:spcAft>
                <a:spcPts val="800"/>
              </a:spcAft>
            </a:pPr>
            <a:r>
              <a:rPr b="1" sz="3200">
                <a:latin typeface="Calibri"/>
                <a:ea typeface="Calibri"/>
                <a:cs typeface="Times New Roman"/>
              </a:rPr>
              <a:t>Intolerance –inability of a person to tolerate a drug and is unpredictable –in two forms</a:t>
            </a:r>
            <a:r>
              <a:rPr b="1" sz="2000">
                <a:latin typeface="Calibri"/>
                <a:ea typeface="Calibri"/>
                <a:cs typeface="Times New Roman"/>
              </a:rPr>
              <a:t>  </a:t>
            </a:r>
            <a:endParaRPr sz="2000">
              <a:latin typeface="Calibri"/>
              <a:ea typeface="Calibri"/>
              <a:cs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673" name=""/>
        <p:cNvGrpSpPr/>
        <p:nvPr/>
      </p:nvGrpSpPr>
      <p:grpSpPr>
        <a:xfrm>
          <a:off x="0" y="0"/>
          <a:ext cx="0" cy="0"/>
          <a:chOff x="0" y="0"/>
          <a:chExt cx="0" cy="0"/>
        </a:xfrm>
      </p:grpSpPr>
      <p:sp>
        <p:nvSpPr>
          <p:cNvPr id="1048633" name="TextBox 2"/>
          <p:cNvSpPr txBox="1"/>
          <p:nvPr/>
        </p:nvSpPr>
        <p:spPr>
          <a:xfrm>
            <a:off x="485775" y="391873"/>
            <a:ext cx="11077570" cy="6966966"/>
          </a:xfrm>
          <a:prstGeom prst="rect"/>
          <a:noFill/>
        </p:spPr>
        <p:txBody>
          <a:bodyPr wrap="square">
            <a:spAutoFit/>
          </a:bodyPr>
          <a:p>
            <a:pPr algn="just">
              <a:lnSpc>
                <a:spcPct val="106000"/>
              </a:lnSpc>
              <a:spcAft>
                <a:spcPts val="800"/>
              </a:spcAft>
            </a:pPr>
            <a:r>
              <a:rPr b="1" sz="3200">
                <a:latin typeface="Calibri"/>
                <a:ea typeface="Calibri"/>
                <a:cs typeface="Times New Roman"/>
              </a:rPr>
              <a:t>Pharmacognosy </a:t>
            </a:r>
            <a:r>
              <a:rPr sz="3200">
                <a:latin typeface="Calibri"/>
                <a:ea typeface="Calibri"/>
                <a:cs typeface="Times New Roman"/>
              </a:rPr>
              <a:t>–Is the science of identification of drugs. </a:t>
            </a:r>
            <a:r>
              <a:rPr sz="3200">
                <a:latin typeface="Times New Roman"/>
                <a:cs typeface="Times New Roman"/>
              </a:rPr>
              <a:t>The study of drugs that come from natural sources e.g. plants, animals and minerals as well as search for new drugs from natural sources.</a:t>
            </a:r>
            <a:endParaRPr sz="3200">
              <a:latin typeface="Times New Roman"/>
              <a:cs typeface="Times New Roman"/>
            </a:endParaRPr>
          </a:p>
          <a:p>
            <a:pPr algn="just">
              <a:lnSpc>
                <a:spcPct val="106000"/>
              </a:lnSpc>
              <a:spcAft>
                <a:spcPts val="800"/>
              </a:spcAft>
            </a:pPr>
            <a:endParaRPr sz="3200">
              <a:latin typeface="Calibri"/>
              <a:ea typeface="Calibri"/>
              <a:cs typeface="Times New Roman"/>
            </a:endParaRPr>
          </a:p>
          <a:p>
            <a:pPr algn="just">
              <a:lnSpc>
                <a:spcPct val="106000"/>
              </a:lnSpc>
              <a:spcAft>
                <a:spcPts val="800"/>
              </a:spcAft>
            </a:pPr>
            <a:r>
              <a:rPr b="1" sz="3200">
                <a:latin typeface="Calibri"/>
                <a:ea typeface="Calibri"/>
                <a:cs typeface="Times New Roman"/>
              </a:rPr>
              <a:t>Therapeutic actions-actions </a:t>
            </a:r>
            <a:r>
              <a:rPr sz="3200">
                <a:latin typeface="Calibri"/>
                <a:ea typeface="Calibri"/>
                <a:cs typeface="Times New Roman"/>
              </a:rPr>
              <a:t>useful in management of diseases </a:t>
            </a:r>
            <a:endParaRPr sz="3200">
              <a:latin typeface="Calibri"/>
              <a:ea typeface="Calibri"/>
              <a:cs typeface="Times New Roman"/>
            </a:endParaRPr>
          </a:p>
          <a:p>
            <a:pPr algn="just">
              <a:lnSpc>
                <a:spcPct val="106000"/>
              </a:lnSpc>
              <a:spcAft>
                <a:spcPts val="800"/>
              </a:spcAft>
            </a:pPr>
            <a:r>
              <a:rPr b="1" sz="3200">
                <a:latin typeface="Calibri"/>
                <a:ea typeface="Calibri"/>
                <a:cs typeface="Times New Roman"/>
              </a:rPr>
              <a:t>Side effects</a:t>
            </a:r>
            <a:r>
              <a:rPr sz="3200">
                <a:latin typeface="Calibri"/>
                <a:ea typeface="Calibri"/>
                <a:cs typeface="Times New Roman"/>
              </a:rPr>
              <a:t>-</a:t>
            </a:r>
            <a:r>
              <a:rPr b="1" sz="3200">
                <a:latin typeface="Calibri"/>
                <a:ea typeface="Calibri"/>
                <a:cs typeface="Times New Roman"/>
              </a:rPr>
              <a:t>unwanted effects</a:t>
            </a:r>
            <a:r>
              <a:rPr sz="3200">
                <a:latin typeface="Calibri"/>
                <a:ea typeface="Calibri"/>
                <a:cs typeface="Times New Roman"/>
              </a:rPr>
              <a:t> of a drug seen with therapeutic dose of the drug-predictable ,common and can occur in all people </a:t>
            </a:r>
            <a:r>
              <a:rPr sz="3200">
                <a:latin typeface="Calibri"/>
                <a:ea typeface="Calibri"/>
                <a:cs typeface="Times New Roman"/>
              </a:rPr>
              <a:t>e.g</a:t>
            </a:r>
            <a:r>
              <a:rPr sz="3200">
                <a:latin typeface="Calibri"/>
                <a:ea typeface="Calibri"/>
                <a:cs typeface="Times New Roman"/>
              </a:rPr>
              <a:t> hypoglycemia due to insulin </a:t>
            </a:r>
            <a:r>
              <a:rPr sz="3200">
                <a:latin typeface="Calibri"/>
                <a:ea typeface="Calibri"/>
                <a:cs typeface="Times New Roman"/>
              </a:rPr>
              <a:t>adm</a:t>
            </a:r>
            <a:endParaRPr sz="3200">
              <a:latin typeface="Calibri"/>
              <a:ea typeface="Calibri"/>
              <a:cs typeface="Times New Roman"/>
            </a:endParaRPr>
          </a:p>
          <a:p>
            <a:pPr algn="just">
              <a:lnSpc>
                <a:spcPct val="106000"/>
              </a:lnSpc>
              <a:spcAft>
                <a:spcPts val="800"/>
              </a:spcAft>
            </a:pPr>
            <a:endParaRPr sz="3200">
              <a:latin typeface="Calibri"/>
              <a:ea typeface="Calibri"/>
              <a:cs typeface="Times New Roman"/>
            </a:endParaRPr>
          </a:p>
          <a:p>
            <a:pPr algn="just">
              <a:lnSpc>
                <a:spcPct val="106000"/>
              </a:lnSpc>
              <a:spcAft>
                <a:spcPts val="800"/>
              </a:spcAft>
            </a:pPr>
            <a:r>
              <a:rPr b="1" sz="3200">
                <a:latin typeface="Calibri"/>
                <a:ea typeface="Calibri"/>
                <a:cs typeface="Times New Roman"/>
              </a:rPr>
              <a:t>Toxic effects</a:t>
            </a:r>
            <a:r>
              <a:rPr sz="3200">
                <a:latin typeface="Calibri"/>
                <a:ea typeface="Calibri"/>
                <a:cs typeface="Times New Roman"/>
              </a:rPr>
              <a:t> –unwanted effects produced by </a:t>
            </a:r>
            <a:r>
              <a:rPr b="1" sz="3200">
                <a:latin typeface="Calibri"/>
                <a:ea typeface="Calibri"/>
                <a:cs typeface="Times New Roman"/>
              </a:rPr>
              <a:t>higher doses</a:t>
            </a:r>
            <a:r>
              <a:rPr sz="3200">
                <a:latin typeface="Calibri"/>
                <a:ea typeface="Calibri"/>
                <a:cs typeface="Times New Roman"/>
              </a:rPr>
              <a:t> of a drug and can be serious </a:t>
            </a:r>
            <a:endParaRPr sz="3200">
              <a:latin typeface="Calibri"/>
              <a:ea typeface="Calibri"/>
              <a:cs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674" name=""/>
        <p:cNvGrpSpPr/>
        <p:nvPr/>
      </p:nvGrpSpPr>
      <p:grpSpPr>
        <a:xfrm>
          <a:off x="0" y="0"/>
          <a:ext cx="0" cy="0"/>
          <a:chOff x="0" y="0"/>
          <a:chExt cx="0" cy="0"/>
        </a:xfrm>
      </p:grpSpPr>
      <p:sp>
        <p:nvSpPr>
          <p:cNvPr id="1048634" name="Rectangle 2"/>
          <p:cNvSpPr/>
          <p:nvPr/>
        </p:nvSpPr>
        <p:spPr>
          <a:xfrm>
            <a:off x="95254" y="76195"/>
            <a:ext cx="12020545" cy="5958840"/>
          </a:xfrm>
          <a:prstGeom prst="rect"/>
        </p:spPr>
        <p:txBody>
          <a:bodyPr wrap="square">
            <a:spAutoFit/>
          </a:bodyPr>
          <a:p>
            <a:r>
              <a:rPr sz="2400"/>
              <a:t>SOURCES OF DRUGS; The sources of drugs could be natural or synthetic ,</a:t>
            </a:r>
            <a:endParaRPr sz="2400"/>
          </a:p>
          <a:p>
            <a:r>
              <a:rPr b="1" sz="2400"/>
              <a:t>NATURAL SOURCES:</a:t>
            </a:r>
            <a:endParaRPr b="1" sz="2400"/>
          </a:p>
          <a:p>
            <a:pPr indent="-285750" marL="285750">
              <a:buFont typeface="Arial"/>
              <a:buChar char="•"/>
            </a:pPr>
            <a:r>
              <a:rPr b="1" sz="2400"/>
              <a:t>PLANTS</a:t>
            </a:r>
            <a:r>
              <a:rPr sz="2400"/>
              <a:t>,e.g</a:t>
            </a:r>
            <a:r>
              <a:rPr sz="2400"/>
              <a:t> Atropine ,Morphine ,Quinine, </a:t>
            </a:r>
            <a:r>
              <a:rPr sz="2400"/>
              <a:t>digoxine,pilocarpine,physostigmine</a:t>
            </a:r>
            <a:r>
              <a:rPr sz="2400"/>
              <a:t>.</a:t>
            </a:r>
            <a:endParaRPr sz="2400"/>
          </a:p>
          <a:p>
            <a:pPr indent="-285750" marL="285750">
              <a:buFont typeface="Arial"/>
              <a:buChar char="•"/>
            </a:pPr>
            <a:r>
              <a:rPr b="1" sz="2400"/>
              <a:t>ANIMALS </a:t>
            </a:r>
            <a:r>
              <a:rPr sz="2400"/>
              <a:t>e.g</a:t>
            </a:r>
            <a:r>
              <a:rPr sz="2400"/>
              <a:t> . Insulin ,heparin ,gonadotrophins and antitoxic sera.</a:t>
            </a:r>
            <a:endParaRPr sz="2400"/>
          </a:p>
          <a:p>
            <a:pPr indent="-285750" marL="285750">
              <a:buFont typeface="Arial"/>
              <a:buChar char="•"/>
            </a:pPr>
            <a:r>
              <a:rPr b="1" sz="2400"/>
              <a:t>MINERALS</a:t>
            </a:r>
            <a:r>
              <a:rPr sz="2400"/>
              <a:t>,Magnesium</a:t>
            </a:r>
            <a:r>
              <a:rPr sz="2400"/>
              <a:t> </a:t>
            </a:r>
            <a:r>
              <a:rPr sz="2400"/>
              <a:t>sulphate</a:t>
            </a:r>
            <a:r>
              <a:rPr sz="2400"/>
              <a:t> , </a:t>
            </a:r>
            <a:r>
              <a:rPr sz="2400"/>
              <a:t>Aluminium</a:t>
            </a:r>
            <a:r>
              <a:rPr sz="2400"/>
              <a:t> hydroxide, iron ,</a:t>
            </a:r>
            <a:r>
              <a:rPr sz="2400"/>
              <a:t>sulphur</a:t>
            </a:r>
            <a:r>
              <a:rPr sz="2400"/>
              <a:t> and radio active isotopes.</a:t>
            </a:r>
            <a:endParaRPr sz="2400"/>
          </a:p>
          <a:p>
            <a:pPr indent="-285750" marL="285750">
              <a:buFont typeface="Arial"/>
              <a:buChar char="•"/>
            </a:pPr>
            <a:r>
              <a:rPr b="1" sz="2400"/>
              <a:t>MICROORGANISMS ,</a:t>
            </a:r>
            <a:r>
              <a:rPr sz="2400"/>
              <a:t>Antibacterial agents are obtained from some bacteria and </a:t>
            </a:r>
            <a:r>
              <a:rPr sz="2400"/>
              <a:t>fungi.we</a:t>
            </a:r>
            <a:r>
              <a:rPr sz="2400"/>
              <a:t> thus have </a:t>
            </a:r>
            <a:r>
              <a:rPr sz="2400"/>
              <a:t>pencillins,cephalosporins,tetracycline</a:t>
            </a:r>
            <a:r>
              <a:rPr sz="2400"/>
              <a:t> and other antibiotics.</a:t>
            </a:r>
            <a:endParaRPr sz="2400"/>
          </a:p>
          <a:p>
            <a:pPr indent="-285750" marL="285750">
              <a:buFont typeface="Arial"/>
              <a:buChar char="•"/>
            </a:pPr>
            <a:r>
              <a:rPr b="1" sz="2400"/>
              <a:t>HUMAN: </a:t>
            </a:r>
            <a:r>
              <a:rPr sz="2400"/>
              <a:t>some drugs are obtained from man ,</a:t>
            </a:r>
            <a:r>
              <a:rPr sz="2400"/>
              <a:t>e.g</a:t>
            </a:r>
            <a:r>
              <a:rPr sz="2400"/>
              <a:t> Immunoglobulin from </a:t>
            </a:r>
            <a:r>
              <a:rPr sz="2400"/>
              <a:t>blood,growth</a:t>
            </a:r>
            <a:r>
              <a:rPr sz="2400"/>
              <a:t> hormone from anterior pituitary and chorionic gonadotrophins from the urine of pregnant woman.</a:t>
            </a:r>
            <a:endParaRPr sz="2400"/>
          </a:p>
          <a:p>
            <a:r>
              <a:rPr b="1" sz="2400"/>
              <a:t>SYNTHETIC :</a:t>
            </a:r>
            <a:endParaRPr b="1" sz="2400"/>
          </a:p>
          <a:p>
            <a:pPr indent="-285750" marL="285750">
              <a:buFont typeface="Arial"/>
              <a:buChar char="•"/>
            </a:pPr>
            <a:r>
              <a:rPr sz="2400"/>
              <a:t>Most drugs are now synthesized .</a:t>
            </a:r>
            <a:r>
              <a:rPr sz="2400"/>
              <a:t>e.g</a:t>
            </a:r>
            <a:r>
              <a:rPr sz="2400"/>
              <a:t> </a:t>
            </a:r>
            <a:r>
              <a:rPr sz="2400"/>
              <a:t>quinolones,omeprazole,sulfonamides,pancuronium,neostigmine</a:t>
            </a:r>
            <a:r>
              <a:rPr sz="2400"/>
              <a:t>.</a:t>
            </a:r>
            <a:endParaRPr sz="2400"/>
          </a:p>
          <a:p>
            <a:pPr indent="-285750" marL="285750">
              <a:buFont typeface="Arial"/>
              <a:buChar char="•"/>
            </a:pPr>
            <a:r>
              <a:rPr sz="2400"/>
              <a:t>Many drugs are obtained from cell culture ,</a:t>
            </a:r>
            <a:r>
              <a:rPr sz="2400"/>
              <a:t>e.g</a:t>
            </a:r>
            <a:r>
              <a:rPr sz="2400"/>
              <a:t> </a:t>
            </a:r>
            <a:r>
              <a:rPr sz="2400"/>
              <a:t>urokinase</a:t>
            </a:r>
            <a:r>
              <a:rPr sz="2400"/>
              <a:t> from cultured kidney cells.</a:t>
            </a:r>
            <a:endParaRPr sz="2400"/>
          </a:p>
          <a:p>
            <a:pPr indent="-285750" marL="285750">
              <a:buFont typeface="Arial"/>
              <a:buChar char="•"/>
            </a:pPr>
            <a:r>
              <a:rPr sz="2400"/>
              <a:t>Some are now produced by recombinant DNA technology ,</a:t>
            </a:r>
            <a:r>
              <a:rPr sz="2400"/>
              <a:t>e.g</a:t>
            </a:r>
            <a:r>
              <a:rPr sz="2400"/>
              <a:t> human insulin, tissue </a:t>
            </a:r>
            <a:r>
              <a:rPr sz="2400"/>
              <a:t>plasmogen</a:t>
            </a:r>
            <a:r>
              <a:rPr sz="2400"/>
              <a:t> activator and </a:t>
            </a:r>
            <a:endParaRPr sz="2400"/>
          </a:p>
          <a:p>
            <a:pPr indent="-285750" marL="285750">
              <a:buFont typeface="Arial"/>
              <a:buChar char="•"/>
            </a:pPr>
            <a:r>
              <a:rPr sz="2400"/>
              <a:t>Some drugs by </a:t>
            </a:r>
            <a:r>
              <a:rPr sz="2400"/>
              <a:t>Hybridoma</a:t>
            </a:r>
            <a:r>
              <a:rPr sz="2400"/>
              <a:t> technique, </a:t>
            </a:r>
            <a:r>
              <a:rPr sz="2400"/>
              <a:t>e.g</a:t>
            </a:r>
            <a:r>
              <a:rPr sz="2400"/>
              <a:t> monoclonal antibodies.</a:t>
            </a:r>
            <a:endParaRPr sz="2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675" name=""/>
        <p:cNvGrpSpPr/>
        <p:nvPr/>
      </p:nvGrpSpPr>
      <p:grpSpPr>
        <a:xfrm>
          <a:off x="0" y="0"/>
          <a:ext cx="0" cy="0"/>
          <a:chOff x="0" y="0"/>
          <a:chExt cx="0" cy="0"/>
        </a:xfrm>
      </p:grpSpPr>
      <p:sp>
        <p:nvSpPr>
          <p:cNvPr id="1048635" name="Rectangle 1"/>
          <p:cNvSpPr/>
          <p:nvPr/>
        </p:nvSpPr>
        <p:spPr>
          <a:xfrm>
            <a:off x="357187" y="304795"/>
            <a:ext cx="11477620" cy="5958840"/>
          </a:xfrm>
          <a:prstGeom prst="rect"/>
        </p:spPr>
        <p:txBody>
          <a:bodyPr wrap="square">
            <a:spAutoFit/>
          </a:bodyPr>
          <a:p>
            <a:r>
              <a:rPr b="1" sz="2400"/>
              <a:t>Properties of Ideal Drug</a:t>
            </a:r>
            <a:endParaRPr b="1" sz="2400"/>
          </a:p>
          <a:p>
            <a:pPr indent="-285750" marL="285750">
              <a:buFont typeface="Arial"/>
              <a:buChar char="•"/>
            </a:pPr>
            <a:r>
              <a:rPr b="1" sz="2400">
                <a:solidFill>
                  <a:srgbClr val="FF0000"/>
                </a:solidFill>
              </a:rPr>
              <a:t>Effectiveness</a:t>
            </a:r>
            <a:r>
              <a:rPr b="1" sz="2400"/>
              <a:t>: A drug that elicits the response it was meant to</a:t>
            </a:r>
            <a:endParaRPr b="1" sz="2400"/>
          </a:p>
          <a:p>
            <a:pPr indent="-285750" marL="285750">
              <a:buFont typeface="Arial"/>
              <a:buChar char="•"/>
            </a:pPr>
            <a:r>
              <a:rPr b="1" sz="2400">
                <a:solidFill>
                  <a:srgbClr val="FF0000"/>
                </a:solidFill>
              </a:rPr>
              <a:t>Safety: </a:t>
            </a:r>
            <a:r>
              <a:rPr sz="2400">
                <a:solidFill>
                  <a:srgbClr val="FF0000"/>
                </a:solidFill>
              </a:rPr>
              <a:t> </a:t>
            </a:r>
            <a:r>
              <a:rPr b="1" sz="2400"/>
              <a:t>Safe even at high concentrations and for long periods of administration (no such thing)</a:t>
            </a:r>
            <a:endParaRPr b="1" sz="2400"/>
          </a:p>
          <a:p>
            <a:pPr indent="-285750" marL="285750">
              <a:buFont typeface="Arial"/>
              <a:buChar char="•"/>
            </a:pPr>
            <a:r>
              <a:rPr b="1" sz="2400">
                <a:solidFill>
                  <a:srgbClr val="FF0000"/>
                </a:solidFill>
              </a:rPr>
              <a:t>No habit forming aspects</a:t>
            </a:r>
            <a:endParaRPr b="1" sz="2400">
              <a:solidFill>
                <a:srgbClr val="FF0000"/>
              </a:solidFill>
            </a:endParaRPr>
          </a:p>
          <a:p>
            <a:pPr indent="-285750" marL="285750">
              <a:buFont typeface="Arial"/>
              <a:buChar char="•"/>
            </a:pPr>
            <a:r>
              <a:rPr b="1" sz="2400">
                <a:solidFill>
                  <a:srgbClr val="FF0000"/>
                </a:solidFill>
              </a:rPr>
              <a:t>No side effects </a:t>
            </a:r>
            <a:r>
              <a:rPr b="1" sz="2400"/>
              <a:t>(resp. failure, immune reaction, </a:t>
            </a:r>
            <a:r>
              <a:rPr b="1" sz="2400"/>
              <a:t>etc</a:t>
            </a:r>
            <a:r>
              <a:rPr b="1" sz="2400"/>
              <a:t>…)</a:t>
            </a:r>
            <a:endParaRPr b="1" sz="2400"/>
          </a:p>
          <a:p>
            <a:pPr indent="-285750" marL="285750">
              <a:buFont typeface="Arial"/>
              <a:buChar char="•"/>
            </a:pPr>
            <a:r>
              <a:rPr b="1" sz="2400">
                <a:solidFill>
                  <a:srgbClr val="FF0000"/>
                </a:solidFill>
              </a:rPr>
              <a:t>Selectivity: </a:t>
            </a:r>
            <a:r>
              <a:rPr b="1" sz="2400"/>
              <a:t>Selective for specific reaction with no side effects</a:t>
            </a:r>
            <a:endParaRPr b="1" sz="2400"/>
          </a:p>
          <a:p>
            <a:pPr indent="-285750" marL="285750">
              <a:buFont typeface="Arial"/>
              <a:buChar char="•"/>
            </a:pPr>
            <a:r>
              <a:rPr b="1" sz="2400">
                <a:solidFill>
                  <a:srgbClr val="FF0000"/>
                </a:solidFill>
              </a:rPr>
              <a:t>Reversible action- </a:t>
            </a:r>
            <a:r>
              <a:rPr b="1" sz="2400" i="1"/>
              <a:t>removal w/</a:t>
            </a:r>
            <a:r>
              <a:rPr b="1" sz="2400" i="1"/>
              <a:t>i</a:t>
            </a:r>
            <a:r>
              <a:rPr b="1" sz="2400" i="1"/>
              <a:t> specific time (1/2 life is short but potent during that time)</a:t>
            </a:r>
            <a:endParaRPr b="1" sz="2400" i="1"/>
          </a:p>
          <a:p>
            <a:pPr indent="-285750" marL="285750">
              <a:buFont typeface="Arial"/>
              <a:buChar char="•"/>
            </a:pPr>
            <a:r>
              <a:rPr b="1" sz="2400">
                <a:solidFill>
                  <a:srgbClr val="FF0000"/>
                </a:solidFill>
              </a:rPr>
              <a:t>Predictability</a:t>
            </a:r>
            <a:r>
              <a:rPr b="1" sz="2400"/>
              <a:t>- </a:t>
            </a:r>
            <a:r>
              <a:rPr b="1" sz="2400" i="1"/>
              <a:t>know how patient will respond</a:t>
            </a:r>
            <a:endParaRPr b="1" sz="2400" i="1"/>
          </a:p>
          <a:p>
            <a:pPr indent="-285750" marL="285750">
              <a:buFont typeface="Arial"/>
              <a:buChar char="•"/>
            </a:pPr>
            <a:r>
              <a:rPr b="1" sz="2400">
                <a:solidFill>
                  <a:srgbClr val="FF0000"/>
                </a:solidFill>
              </a:rPr>
              <a:t>Ease of Administration</a:t>
            </a:r>
            <a:r>
              <a:rPr b="1" sz="2400" i="1">
                <a:solidFill>
                  <a:srgbClr val="FF0000"/>
                </a:solidFill>
              </a:rPr>
              <a:t>- </a:t>
            </a:r>
            <a:r>
              <a:rPr b="1" sz="2400" i="1"/>
              <a:t>number of doses low and easy to administer (</a:t>
            </a:r>
            <a:r>
              <a:rPr b="1" sz="2400" i="1"/>
              <a:t>inc.</a:t>
            </a:r>
            <a:r>
              <a:rPr b="1" sz="2400" i="1"/>
              <a:t> compliance &amp; decrease errors)</a:t>
            </a:r>
            <a:endParaRPr b="1" sz="2400" i="1"/>
          </a:p>
          <a:p>
            <a:pPr indent="-285750" marL="285750">
              <a:buFont typeface="Arial"/>
              <a:buChar char="•"/>
            </a:pPr>
            <a:r>
              <a:rPr b="1" sz="2400">
                <a:solidFill>
                  <a:srgbClr val="FF0000"/>
                </a:solidFill>
              </a:rPr>
              <a:t>Freedom from drug interactions- </a:t>
            </a:r>
            <a:r>
              <a:rPr b="1" sz="2400" i="1"/>
              <a:t>should not augment or decrease action of other drugs or have adverse combined effects</a:t>
            </a:r>
            <a:endParaRPr b="1" sz="2400" i="1"/>
          </a:p>
          <a:p>
            <a:pPr indent="-285750" marL="285750">
              <a:buFont typeface="Arial"/>
              <a:buChar char="•"/>
            </a:pPr>
            <a:r>
              <a:rPr b="1" sz="2400">
                <a:solidFill>
                  <a:srgbClr val="FF0000"/>
                </a:solidFill>
              </a:rPr>
              <a:t>Low Cost- </a:t>
            </a:r>
            <a:r>
              <a:rPr b="1" sz="2400" i="1"/>
              <a:t>easy to afford (especially with chronic illness)</a:t>
            </a:r>
            <a:endParaRPr b="1" sz="2400" i="1"/>
          </a:p>
          <a:p>
            <a:pPr indent="-285750" marL="285750">
              <a:buFont typeface="Arial"/>
              <a:buChar char="•"/>
            </a:pPr>
            <a:r>
              <a:rPr b="1" sz="2400">
                <a:solidFill>
                  <a:srgbClr val="FF0000"/>
                </a:solidFill>
              </a:rPr>
              <a:t>Chemical Stability- </a:t>
            </a:r>
            <a:r>
              <a:rPr b="1" sz="2400" i="1"/>
              <a:t>no lose of effectiveness with storage</a:t>
            </a:r>
            <a:endParaRPr b="1" sz="2400" i="1"/>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676" name=""/>
        <p:cNvGrpSpPr/>
        <p:nvPr/>
      </p:nvGrpSpPr>
      <p:grpSpPr>
        <a:xfrm>
          <a:off x="0" y="0"/>
          <a:ext cx="0" cy="0"/>
          <a:chOff x="0" y="0"/>
          <a:chExt cx="0" cy="0"/>
        </a:xfrm>
      </p:grpSpPr>
      <p:sp>
        <p:nvSpPr>
          <p:cNvPr id="1048636" name="Title 1"/>
          <p:cNvSpPr>
            <a:spLocks noGrp="1"/>
          </p:cNvSpPr>
          <p:nvPr>
            <p:ph type="title"/>
          </p:nvPr>
        </p:nvSpPr>
        <p:spPr>
          <a:xfrm>
            <a:off x="2438404" y="0"/>
            <a:ext cx="7772400" cy="685800"/>
          </a:xfrm>
        </p:spPr>
        <p:txBody>
          <a:bodyPr>
            <a:normAutofit fontScale="90000"/>
          </a:bodyPr>
          <a:p>
            <a:r>
              <a:rPr b="1"/>
              <a:t>Drug Nomenclature</a:t>
            </a:r>
            <a:endParaRPr b="1"/>
          </a:p>
        </p:txBody>
      </p:sp>
      <p:sp>
        <p:nvSpPr>
          <p:cNvPr id="1048637" name="Content Placeholder 2"/>
          <p:cNvSpPr>
            <a:spLocks noGrp="1"/>
          </p:cNvSpPr>
          <p:nvPr>
            <p:ph sz="quarter" idx="1"/>
          </p:nvPr>
        </p:nvSpPr>
        <p:spPr>
          <a:xfrm>
            <a:off x="400050" y="609604"/>
            <a:ext cx="11258550" cy="6248395"/>
          </a:xfrm>
        </p:spPr>
        <p:txBody>
          <a:bodyPr>
            <a:normAutofit/>
          </a:bodyPr>
          <a:p>
            <a:pPr>
              <a:buNone/>
            </a:pPr>
            <a:r>
              <a:t> </a:t>
            </a:r>
            <a:r>
              <a:rPr sz="3200"/>
              <a:t>Drugs have 3 names:</a:t>
            </a:r>
            <a:endParaRPr sz="3200"/>
          </a:p>
          <a:p>
            <a:r>
              <a:rPr b="1" sz="3200"/>
              <a:t>Chemical name </a:t>
            </a:r>
            <a:r>
              <a:rPr sz="3200"/>
              <a:t>– describes chemical substance in drugs </a:t>
            </a:r>
            <a:r>
              <a:rPr sz="3200"/>
              <a:t>e.g</a:t>
            </a:r>
            <a:r>
              <a:rPr sz="3200"/>
              <a:t> </a:t>
            </a:r>
            <a:r>
              <a:rPr b="1"/>
              <a:t>2-methyl-5-nitroimidazole-l-ethanol</a:t>
            </a:r>
            <a:r>
              <a:t> is metronidazole</a:t>
            </a:r>
          </a:p>
          <a:p>
            <a:r>
              <a:rPr b="1"/>
              <a:t>Non proprietary name /official/approved name</a:t>
            </a:r>
            <a:r>
              <a:rPr sz="3200"/>
              <a:t>– The name accepted by a competent scientific body. The names are kept uniform and regulated by international pharmaceutical bodies. </a:t>
            </a:r>
            <a:r>
              <a:rPr sz="3200"/>
              <a:t>E.g</a:t>
            </a:r>
            <a:r>
              <a:rPr sz="3200"/>
              <a:t> </a:t>
            </a:r>
            <a:r>
              <a:rPr sz="3200"/>
              <a:t>Paracetamal</a:t>
            </a:r>
            <a:r>
              <a:rPr sz="3200"/>
              <a:t>, </a:t>
            </a:r>
            <a:r>
              <a:rPr sz="3200"/>
              <a:t>Asprin</a:t>
            </a:r>
            <a:r>
              <a:rPr sz="3200"/>
              <a:t>, </a:t>
            </a:r>
            <a:r>
              <a:rPr sz="3200"/>
              <a:t>chlopheniramine</a:t>
            </a:r>
            <a:endParaRPr sz="3200"/>
          </a:p>
          <a:p>
            <a:r>
              <a:rPr b="1" sz="3200"/>
              <a:t>Proprietary/brand name/trade name</a:t>
            </a:r>
            <a:r>
              <a:rPr sz="3200"/>
              <a:t>– The name assigned by manufacturer and its his trademark </a:t>
            </a:r>
            <a:r>
              <a:rPr sz="3200"/>
              <a:t>e.g</a:t>
            </a:r>
            <a:r>
              <a:rPr sz="3200"/>
              <a:t> Panadol, </a:t>
            </a:r>
            <a:r>
              <a:rPr sz="3200"/>
              <a:t>Hedex</a:t>
            </a:r>
            <a:r>
              <a:rPr sz="3200"/>
              <a:t>, </a:t>
            </a:r>
            <a:r>
              <a:rPr sz="3200"/>
              <a:t>Maramoja</a:t>
            </a:r>
            <a:r>
              <a:rPr sz="3200"/>
              <a:t>, </a:t>
            </a:r>
            <a:r>
              <a:rPr sz="3200"/>
              <a:t>Piriton</a:t>
            </a:r>
            <a:endParaRPr sz="3200"/>
          </a:p>
          <a:p>
            <a:pPr>
              <a:buNone/>
            </a:pPr>
            <a:r>
              <a:rPr b="1" sz="3200">
                <a:solidFill>
                  <a:srgbClr val="FF0000"/>
                </a:solidFill>
              </a:rPr>
              <a:t>YOU ARE REQUIRED TO KNOW THE APPROVED NAMES</a:t>
            </a:r>
            <a:endParaRPr b="1" sz="3200">
              <a:solidFill>
                <a:srgbClr val="FF0000"/>
              </a:solidFill>
            </a:endParaRPr>
          </a:p>
          <a:p/>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677" name=""/>
        <p:cNvGrpSpPr/>
        <p:nvPr/>
      </p:nvGrpSpPr>
      <p:grpSpPr>
        <a:xfrm>
          <a:off x="0" y="0"/>
          <a:ext cx="0" cy="0"/>
          <a:chOff x="0" y="0"/>
          <a:chExt cx="0" cy="0"/>
        </a:xfrm>
      </p:grpSpPr>
      <p:sp>
        <p:nvSpPr>
          <p:cNvPr id="1048638" name="Title 1"/>
          <p:cNvSpPr>
            <a:spLocks noGrp="1"/>
          </p:cNvSpPr>
          <p:nvPr>
            <p:ph type="title"/>
          </p:nvPr>
        </p:nvSpPr>
        <p:spPr/>
        <p:txBody>
          <a:bodyPr>
            <a:normAutofit fontScale="90909"/>
          </a:bodyPr>
          <a:p>
            <a:r>
              <a:t> </a:t>
            </a:r>
            <a:r>
              <a:rPr b="1"/>
              <a:t>example of drugs chemical name, generic name and trade name</a:t>
            </a:r>
            <a:r>
              <a:t>.</a:t>
            </a:r>
          </a:p>
        </p:txBody>
      </p:sp>
      <p:graphicFrame>
        <p:nvGraphicFramePr>
          <p:cNvPr id="4194305" name="Content Placeholder 6"/>
          <p:cNvGraphicFramePr>
            <a:graphicFrameLocks noGrp="1"/>
          </p:cNvGraphicFramePr>
          <p:nvPr>
            <p:ph idx="1"/>
          </p:nvPr>
        </p:nvGraphicFramePr>
        <p:xfrm>
          <a:off x="904875" y="2226469"/>
          <a:ext cx="10191750" cy="4279865"/>
        </p:xfrm>
        <a:graphic>
          <a:graphicData uri="http://schemas.openxmlformats.org/drawingml/2006/table">
            <a:tbl>
              <a:tblPr firstRow="1" bandRow="1">
                <a:tableStyleId>{5C22544A-7EE6-4342-B048-85BDC9FD1C3A}</a:tableStyleId>
              </a:tblPr>
              <a:tblGrid>
                <a:gridCol w="3397250"/>
                <a:gridCol w="3397250"/>
                <a:gridCol w="3397250"/>
              </a:tblGrid>
              <a:tr h="660365">
                <a:tc>
                  <a:txBody>
                    <a:bodyPr/>
                    <a:p>
                      <a:r>
                        <a:rPr sz="1800">
                          <a:solidFill>
                            <a:schemeClr val="tx1"/>
                          </a:solidFill>
                        </a:rPr>
                        <a:t>Chemical name</a:t>
                      </a:r>
                      <a:endParaRPr sz="1800">
                        <a:solidFill>
                          <a:schemeClr val="tx1"/>
                        </a:solidFill>
                      </a:endParaRPr>
                    </a:p>
                  </a:txBody>
                  <a:tcPr marL="68580" marR="68580" marT="34290" marB="34290"/>
                </a:tc>
                <a:tc>
                  <a:txBody>
                    <a:bodyPr/>
                    <a:p>
                      <a:r>
                        <a:rPr sz="1800">
                          <a:solidFill>
                            <a:schemeClr val="tx1"/>
                          </a:solidFill>
                        </a:rPr>
                        <a:t>Generic name</a:t>
                      </a:r>
                      <a:endParaRPr sz="1800">
                        <a:solidFill>
                          <a:schemeClr val="tx1"/>
                        </a:solidFill>
                      </a:endParaRPr>
                    </a:p>
                  </a:txBody>
                  <a:tcPr marL="68580" marR="68580" marT="34290" marB="34290"/>
                </a:tc>
                <a:tc>
                  <a:txBody>
                    <a:bodyPr/>
                    <a:p>
                      <a:r>
                        <a:rPr sz="1800">
                          <a:solidFill>
                            <a:schemeClr val="tx1"/>
                          </a:solidFill>
                        </a:rPr>
                        <a:t>Trade names</a:t>
                      </a:r>
                      <a:endParaRPr sz="1800">
                        <a:solidFill>
                          <a:schemeClr val="tx1"/>
                        </a:solidFill>
                      </a:endParaRPr>
                    </a:p>
                  </a:txBody>
                  <a:tcPr marL="68580" marR="68580" marT="34290" marB="34290"/>
                </a:tc>
              </a:tr>
              <a:tr h="1160101">
                <a:tc>
                  <a:txBody>
                    <a:bodyPr/>
                    <a:p>
                      <a:r>
                        <a:rPr sz="2800">
                          <a:solidFill>
                            <a:schemeClr val="tx1"/>
                          </a:solidFill>
                        </a:rPr>
                        <a:t>2-(4-isobutylphenyl)propanoic acid</a:t>
                      </a:r>
                      <a:endParaRPr sz="2800">
                        <a:solidFill>
                          <a:schemeClr val="tx1"/>
                        </a:solidFill>
                      </a:endParaRPr>
                    </a:p>
                  </a:txBody>
                  <a:tcPr marL="68580" marR="68580" marT="34290" marB="34290"/>
                </a:tc>
                <a:tc>
                  <a:txBody>
                    <a:bodyPr/>
                    <a:p>
                      <a:r>
                        <a:rPr sz="2800">
                          <a:solidFill>
                            <a:schemeClr val="tx1"/>
                          </a:solidFill>
                        </a:rPr>
                        <a:t>ibrufen</a:t>
                      </a:r>
                      <a:endParaRPr sz="2800">
                        <a:solidFill>
                          <a:schemeClr val="tx1"/>
                        </a:solidFill>
                      </a:endParaRPr>
                    </a:p>
                  </a:txBody>
                  <a:tcPr marL="68580" marR="68580" marT="34290" marB="34290"/>
                </a:tc>
                <a:tc>
                  <a:txBody>
                    <a:bodyPr/>
                    <a:p>
                      <a:r>
                        <a:rPr sz="2800">
                          <a:solidFill>
                            <a:schemeClr val="tx1"/>
                          </a:solidFill>
                        </a:rPr>
                        <a:t>Brufen, advil, nurofen</a:t>
                      </a:r>
                      <a:endParaRPr sz="2800">
                        <a:solidFill>
                          <a:schemeClr val="tx1"/>
                        </a:solidFill>
                      </a:endParaRPr>
                    </a:p>
                  </a:txBody>
                  <a:tcPr marL="68580" marR="68580" marT="34290" marB="34290"/>
                </a:tc>
              </a:tr>
              <a:tr h="660365">
                <a:tc>
                  <a:txBody>
                    <a:bodyPr/>
                    <a:p>
                      <a:r>
                        <a:rPr sz="2800">
                          <a:solidFill>
                            <a:schemeClr val="tx1"/>
                          </a:solidFill>
                        </a:rPr>
                        <a:t>N-acetyl-para-aminophenol</a:t>
                      </a:r>
                      <a:endParaRPr sz="2800">
                        <a:solidFill>
                          <a:schemeClr val="tx1"/>
                        </a:solidFill>
                      </a:endParaRPr>
                    </a:p>
                  </a:txBody>
                  <a:tcPr marL="68580" marR="68580" marT="34290" marB="34290"/>
                </a:tc>
                <a:tc>
                  <a:txBody>
                    <a:bodyPr/>
                    <a:p>
                      <a:r>
                        <a:rPr sz="2800">
                          <a:solidFill>
                            <a:schemeClr val="tx1"/>
                          </a:solidFill>
                        </a:rPr>
                        <a:t>Paracetamol, acetaminophen</a:t>
                      </a:r>
                      <a:endParaRPr sz="2800">
                        <a:solidFill>
                          <a:schemeClr val="tx1"/>
                        </a:solidFill>
                      </a:endParaRPr>
                    </a:p>
                  </a:txBody>
                  <a:tcPr marL="68580" marR="68580" marT="34290" marB="34290"/>
                </a:tc>
                <a:tc>
                  <a:txBody>
                    <a:bodyPr/>
                    <a:p>
                      <a:r>
                        <a:rPr sz="2800">
                          <a:solidFill>
                            <a:schemeClr val="tx1"/>
                          </a:solidFill>
                        </a:rPr>
                        <a:t>Calpol, Panadol, tylenol</a:t>
                      </a:r>
                      <a:endParaRPr sz="2800">
                        <a:solidFill>
                          <a:schemeClr val="tx1"/>
                        </a:solidFill>
                      </a:endParaRPr>
                    </a:p>
                  </a:txBody>
                  <a:tcPr marL="68580" marR="68580" marT="34290" marB="34290"/>
                </a:tc>
              </a:tr>
              <a:tr h="1160101">
                <a:tc>
                  <a:txBody>
                    <a:bodyPr/>
                    <a:p>
                      <a:r>
                        <a:rPr sz="2800">
                          <a:solidFill>
                            <a:schemeClr val="tx1"/>
                          </a:solidFill>
                        </a:rPr>
                        <a:t>2-(2-methl-5-nitro-1h-imidazol1-y)ethyl benzoate.</a:t>
                      </a:r>
                      <a:endParaRPr sz="2800">
                        <a:solidFill>
                          <a:schemeClr val="tx1"/>
                        </a:solidFill>
                      </a:endParaRPr>
                    </a:p>
                  </a:txBody>
                  <a:tcPr marL="68580" marR="68580" marT="34290" marB="34290"/>
                </a:tc>
                <a:tc>
                  <a:txBody>
                    <a:bodyPr/>
                    <a:p>
                      <a:r>
                        <a:rPr sz="2800">
                          <a:solidFill>
                            <a:schemeClr val="tx1"/>
                          </a:solidFill>
                        </a:rPr>
                        <a:t>metronidazole</a:t>
                      </a:r>
                      <a:endParaRPr sz="2800">
                        <a:solidFill>
                          <a:schemeClr val="tx1"/>
                        </a:solidFill>
                      </a:endParaRPr>
                    </a:p>
                  </a:txBody>
                  <a:tcPr marL="68580" marR="68580" marT="34290" marB="34290"/>
                </a:tc>
                <a:tc>
                  <a:txBody>
                    <a:bodyPr/>
                    <a:p>
                      <a:r>
                        <a:rPr sz="2800">
                          <a:solidFill>
                            <a:schemeClr val="tx1"/>
                          </a:solidFill>
                        </a:rPr>
                        <a:t>Flagyl ,metrogyl</a:t>
                      </a:r>
                      <a:endParaRPr sz="2800">
                        <a:solidFill>
                          <a:schemeClr val="tx1"/>
                        </a:solidFill>
                      </a:endParaRPr>
                    </a:p>
                  </a:txBody>
                  <a:tcPr marL="68580" marR="68580" marT="34290" marB="34290"/>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678" name=""/>
        <p:cNvGrpSpPr/>
        <p:nvPr/>
      </p:nvGrpSpPr>
      <p:grpSpPr>
        <a:xfrm>
          <a:off x="0" y="0"/>
          <a:ext cx="0" cy="0"/>
          <a:chOff x="0" y="0"/>
          <a:chExt cx="0" cy="0"/>
        </a:xfrm>
      </p:grpSpPr>
      <p:sp>
        <p:nvSpPr>
          <p:cNvPr id="1048639" name="Title 1"/>
          <p:cNvSpPr>
            <a:spLocks noGrp="1"/>
          </p:cNvSpPr>
          <p:nvPr>
            <p:ph type="title"/>
          </p:nvPr>
        </p:nvSpPr>
        <p:spPr>
          <a:xfrm>
            <a:off x="1981204" y="274643"/>
            <a:ext cx="8229600" cy="868356"/>
          </a:xfrm>
        </p:spPr>
        <p:txBody>
          <a:bodyPr>
            <a:normAutofit/>
          </a:bodyPr>
          <a:p>
            <a:r>
              <a:rPr b="1">
                <a:latin typeface="Calibri"/>
                <a:ea typeface="Calibri"/>
                <a:cs typeface="Times New Roman"/>
              </a:rPr>
              <a:t>Dose and dosage forms </a:t>
            </a:r>
          </a:p>
        </p:txBody>
      </p:sp>
      <p:sp>
        <p:nvSpPr>
          <p:cNvPr id="1048640" name="Content Placeholder 2"/>
          <p:cNvSpPr>
            <a:spLocks noGrp="1"/>
          </p:cNvSpPr>
          <p:nvPr>
            <p:ph idx="1"/>
          </p:nvPr>
        </p:nvSpPr>
        <p:spPr>
          <a:xfrm>
            <a:off x="295279" y="1143000"/>
            <a:ext cx="11410954" cy="5715000"/>
          </a:xfrm>
        </p:spPr>
        <p:txBody>
          <a:bodyPr>
            <a:normAutofit/>
          </a:bodyPr>
          <a:p>
            <a:pPr algn="just" marL="0">
              <a:lnSpc>
                <a:spcPct val="106000"/>
              </a:lnSpc>
              <a:spcBef>
                <a:spcPts val="0"/>
              </a:spcBef>
              <a:spcAft>
                <a:spcPts val="800"/>
              </a:spcAft>
            </a:pPr>
            <a:r>
              <a:rPr b="1" sz="3200">
                <a:latin typeface="Calibri"/>
                <a:ea typeface="Calibri"/>
                <a:cs typeface="Times New Roman"/>
              </a:rPr>
              <a:t>Dose</a:t>
            </a:r>
            <a:r>
              <a:rPr sz="3200">
                <a:latin typeface="Calibri"/>
                <a:ea typeface="Calibri"/>
                <a:cs typeface="Times New Roman"/>
              </a:rPr>
              <a:t> –specific quantity of a therapeutic agent </a:t>
            </a:r>
            <a:r>
              <a:rPr sz="3200">
                <a:latin typeface="Calibri"/>
                <a:ea typeface="Calibri"/>
                <a:cs typeface="Times New Roman"/>
              </a:rPr>
              <a:t>eg</a:t>
            </a:r>
            <a:r>
              <a:rPr sz="3200">
                <a:latin typeface="Calibri"/>
                <a:ea typeface="Calibri"/>
                <a:cs typeface="Times New Roman"/>
              </a:rPr>
              <a:t> medicine ,prescribed to be taken at one point  /stated time  achieve therapeutic/desired effect</a:t>
            </a:r>
            <a:endParaRPr sz="3200">
              <a:latin typeface="Calibri"/>
              <a:ea typeface="Calibri"/>
              <a:cs typeface="Times New Roman"/>
            </a:endParaRPr>
          </a:p>
          <a:p>
            <a:pPr algn="just" marL="0">
              <a:lnSpc>
                <a:spcPct val="106000"/>
              </a:lnSpc>
              <a:spcBef>
                <a:spcPts val="0"/>
              </a:spcBef>
              <a:spcAft>
                <a:spcPts val="800"/>
              </a:spcAft>
            </a:pPr>
            <a:r>
              <a:rPr b="1" sz="3200">
                <a:latin typeface="Calibri"/>
                <a:ea typeface="Calibri"/>
                <a:cs typeface="Times New Roman"/>
              </a:rPr>
              <a:t>Loading dose</a:t>
            </a:r>
            <a:r>
              <a:rPr sz="3200">
                <a:latin typeface="Calibri"/>
                <a:ea typeface="Calibri"/>
                <a:cs typeface="Times New Roman"/>
              </a:rPr>
              <a:t> –a </a:t>
            </a:r>
            <a:r>
              <a:rPr sz="3200">
                <a:solidFill>
                  <a:srgbClr val="FF0000"/>
                </a:solidFill>
                <a:latin typeface="Calibri"/>
                <a:ea typeface="Calibri"/>
                <a:cs typeface="Times New Roman"/>
              </a:rPr>
              <a:t>large initial dose </a:t>
            </a:r>
            <a:r>
              <a:rPr sz="3200">
                <a:latin typeface="Calibri"/>
                <a:ea typeface="Calibri"/>
                <a:cs typeface="Times New Roman"/>
              </a:rPr>
              <a:t>of a substance or series of such doses given to </a:t>
            </a:r>
            <a:r>
              <a:rPr sz="3200">
                <a:solidFill>
                  <a:srgbClr val="FF0000"/>
                </a:solidFill>
                <a:latin typeface="Calibri"/>
                <a:ea typeface="Calibri"/>
                <a:cs typeface="Times New Roman"/>
              </a:rPr>
              <a:t>rapidly achieve </a:t>
            </a:r>
            <a:r>
              <a:rPr sz="3200">
                <a:latin typeface="Calibri"/>
                <a:ea typeface="Calibri"/>
                <a:cs typeface="Times New Roman"/>
              </a:rPr>
              <a:t>a therapeutic concentration in the body</a:t>
            </a:r>
            <a:endParaRPr sz="3200">
              <a:latin typeface="Calibri"/>
              <a:ea typeface="Calibri"/>
              <a:cs typeface="Times New Roman"/>
            </a:endParaRPr>
          </a:p>
          <a:p>
            <a:pPr algn="just" marL="0">
              <a:lnSpc>
                <a:spcPct val="106000"/>
              </a:lnSpc>
              <a:spcBef>
                <a:spcPts val="0"/>
              </a:spcBef>
              <a:spcAft>
                <a:spcPts val="800"/>
              </a:spcAft>
            </a:pPr>
            <a:r>
              <a:rPr b="1" sz="3200">
                <a:latin typeface="Calibri"/>
                <a:ea typeface="Calibri"/>
                <a:cs typeface="Times New Roman"/>
              </a:rPr>
              <a:t>Dosage regimen</a:t>
            </a:r>
            <a:r>
              <a:rPr sz="3200">
                <a:latin typeface="Calibri"/>
                <a:ea typeface="Calibri"/>
                <a:cs typeface="Times New Roman"/>
              </a:rPr>
              <a:t> -drug given at a regular dosing interval on a repetitive basis </a:t>
            </a:r>
            <a:endParaRPr sz="3200">
              <a:latin typeface="Calibri"/>
              <a:ea typeface="Calibri"/>
              <a:cs typeface="Times New Roman"/>
            </a:endParaRPr>
          </a:p>
          <a:p>
            <a:pPr algn="just" marL="0">
              <a:lnSpc>
                <a:spcPct val="106000"/>
              </a:lnSpc>
              <a:spcBef>
                <a:spcPts val="0"/>
              </a:spcBef>
              <a:spcAft>
                <a:spcPts val="800"/>
              </a:spcAft>
            </a:pPr>
            <a:r>
              <a:rPr b="1" sz="3200">
                <a:latin typeface="Calibri"/>
                <a:ea typeface="Calibri"/>
                <a:cs typeface="Times New Roman"/>
              </a:rPr>
              <a:t>Maintainance</a:t>
            </a:r>
            <a:r>
              <a:rPr b="1" sz="3200">
                <a:latin typeface="Calibri"/>
                <a:ea typeface="Calibri"/>
                <a:cs typeface="Times New Roman"/>
              </a:rPr>
              <a:t> dose-</a:t>
            </a:r>
            <a:r>
              <a:rPr sz="3200">
                <a:latin typeface="Calibri"/>
                <a:ea typeface="Calibri"/>
                <a:cs typeface="Times New Roman"/>
              </a:rPr>
              <a:t>drug administration equal to the rate of elimination at steady</a:t>
            </a:r>
            <a:endParaRPr sz="3200">
              <a:latin typeface="Calibri"/>
              <a:ea typeface="Calibri"/>
              <a:cs typeface="Times New Roman"/>
            </a:endParaRPr>
          </a:p>
          <a:p>
            <a:pPr algn="just" marL="0">
              <a:lnSpc>
                <a:spcPct val="106000"/>
              </a:lnSpc>
              <a:spcBef>
                <a:spcPts val="0"/>
              </a:spcBef>
              <a:spcAft>
                <a:spcPts val="800"/>
              </a:spcAft>
            </a:pPr>
            <a:r>
              <a:rPr b="1" sz="3200">
                <a:solidFill>
                  <a:srgbClr val="000000"/>
                </a:solidFill>
                <a:latin typeface="Calibri"/>
                <a:ea typeface="Calibri"/>
                <a:cs typeface="Times New Roman"/>
              </a:rPr>
              <a:t>Minimum dosage</a:t>
            </a:r>
            <a:endParaRPr sz="3200">
              <a:latin typeface="Calibri"/>
              <a:ea typeface="Calibri"/>
              <a:cs typeface="Times New Roman"/>
            </a:endParaRPr>
          </a:p>
          <a:p>
            <a:pPr algn="just" lvl="1" marL="400050">
              <a:lnSpc>
                <a:spcPct val="106000"/>
              </a:lnSpc>
              <a:spcBef>
                <a:spcPts val="0"/>
              </a:spcBef>
              <a:spcAft>
                <a:spcPts val="800"/>
              </a:spcAft>
            </a:pPr>
            <a:r>
              <a:rPr sz="3200">
                <a:solidFill>
                  <a:srgbClr val="000000"/>
                </a:solidFill>
                <a:latin typeface="Calibri"/>
                <a:ea typeface="Calibri"/>
                <a:cs typeface="Times New Roman"/>
              </a:rPr>
              <a:t>Is the smallest dose required  to produce a desired therapeutic effect of the drug</a:t>
            </a:r>
            <a:endParaRPr sz="3200">
              <a:latin typeface="Calibri"/>
              <a:ea typeface="Calibri"/>
              <a:cs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679" name=""/>
        <p:cNvGrpSpPr/>
        <p:nvPr/>
      </p:nvGrpSpPr>
      <p:grpSpPr>
        <a:xfrm>
          <a:off x="0" y="0"/>
          <a:ext cx="0" cy="0"/>
          <a:chOff x="0" y="0"/>
          <a:chExt cx="0" cy="0"/>
        </a:xfrm>
      </p:grpSpPr>
      <p:sp>
        <p:nvSpPr>
          <p:cNvPr id="1048641" name="Title 1"/>
          <p:cNvSpPr>
            <a:spLocks noGrp="1"/>
          </p:cNvSpPr>
          <p:nvPr>
            <p:ph type="title"/>
          </p:nvPr>
        </p:nvSpPr>
        <p:spPr/>
        <p:txBody>
          <a:bodyPr/>
          <a:p>
            <a:r>
              <a:rPr b="1">
                <a:latin typeface="Calibri"/>
                <a:ea typeface="Calibri"/>
                <a:cs typeface="Times New Roman"/>
              </a:rPr>
              <a:t>Dose and dosage forms </a:t>
            </a:r>
          </a:p>
        </p:txBody>
      </p:sp>
      <p:sp>
        <p:nvSpPr>
          <p:cNvPr id="1048642" name="Content Placeholder 2"/>
          <p:cNvSpPr>
            <a:spLocks noGrp="1"/>
          </p:cNvSpPr>
          <p:nvPr>
            <p:ph idx="1"/>
          </p:nvPr>
        </p:nvSpPr>
        <p:spPr/>
        <p:txBody>
          <a:bodyPr>
            <a:normAutofit fontScale="89286" lnSpcReduction="20000"/>
          </a:bodyPr>
          <a:p>
            <a:pPr algn="just" marL="0">
              <a:lnSpc>
                <a:spcPct val="106000"/>
              </a:lnSpc>
              <a:spcBef>
                <a:spcPts val="0"/>
              </a:spcBef>
              <a:spcAft>
                <a:spcPts val="800"/>
              </a:spcAft>
            </a:pPr>
            <a:r>
              <a:rPr b="1" sz="3500">
                <a:solidFill>
                  <a:srgbClr val="000000"/>
                </a:solidFill>
                <a:latin typeface="Calibri"/>
                <a:ea typeface="Calibri"/>
                <a:cs typeface="Times New Roman"/>
              </a:rPr>
              <a:t>Maximum dose</a:t>
            </a:r>
            <a:endParaRPr sz="3500">
              <a:latin typeface="Calibri"/>
              <a:ea typeface="Calibri"/>
              <a:cs typeface="Times New Roman"/>
            </a:endParaRPr>
          </a:p>
          <a:p>
            <a:pPr algn="just" lvl="1" marL="400050">
              <a:lnSpc>
                <a:spcPct val="106000"/>
              </a:lnSpc>
              <a:spcBef>
                <a:spcPts val="0"/>
              </a:spcBef>
              <a:spcAft>
                <a:spcPts val="800"/>
              </a:spcAft>
            </a:pPr>
            <a:r>
              <a:rPr sz="3500">
                <a:solidFill>
                  <a:srgbClr val="000000"/>
                </a:solidFill>
                <a:latin typeface="Calibri"/>
                <a:ea typeface="Calibri"/>
                <a:cs typeface="Times New Roman"/>
              </a:rPr>
              <a:t>the largest dose of the drug that can be safely given to a patient without producing harmful effect</a:t>
            </a:r>
            <a:endParaRPr sz="3500">
              <a:latin typeface="Calibri"/>
              <a:ea typeface="Calibri"/>
              <a:cs typeface="Times New Roman"/>
            </a:endParaRPr>
          </a:p>
          <a:p>
            <a:pPr algn="just" marL="0">
              <a:lnSpc>
                <a:spcPct val="106000"/>
              </a:lnSpc>
              <a:spcBef>
                <a:spcPts val="0"/>
              </a:spcBef>
              <a:spcAft>
                <a:spcPts val="800"/>
              </a:spcAft>
            </a:pPr>
            <a:r>
              <a:rPr b="1" sz="3500">
                <a:solidFill>
                  <a:srgbClr val="000000"/>
                </a:solidFill>
                <a:latin typeface="Calibri"/>
                <a:ea typeface="Calibri"/>
                <a:cs typeface="Times New Roman"/>
              </a:rPr>
              <a:t>Fixed dose</a:t>
            </a:r>
            <a:endParaRPr sz="3500">
              <a:latin typeface="Calibri"/>
              <a:ea typeface="Calibri"/>
              <a:cs typeface="Times New Roman"/>
            </a:endParaRPr>
          </a:p>
          <a:p>
            <a:pPr algn="just" lvl="1" marL="400050">
              <a:lnSpc>
                <a:spcPct val="106000"/>
              </a:lnSpc>
              <a:spcBef>
                <a:spcPts val="0"/>
              </a:spcBef>
              <a:spcAft>
                <a:spcPts val="800"/>
              </a:spcAft>
            </a:pPr>
            <a:r>
              <a:rPr sz="3500">
                <a:solidFill>
                  <a:srgbClr val="000000"/>
                </a:solidFill>
                <a:latin typeface="Calibri"/>
                <a:ea typeface="Calibri"/>
                <a:cs typeface="Times New Roman"/>
              </a:rPr>
              <a:t>applied in safe drug administration </a:t>
            </a:r>
            <a:r>
              <a:rPr sz="3500">
                <a:solidFill>
                  <a:srgbClr val="000000"/>
                </a:solidFill>
                <a:latin typeface="Calibri"/>
                <a:ea typeface="Calibri"/>
                <a:cs typeface="Times New Roman"/>
              </a:rPr>
              <a:t>e.g</a:t>
            </a:r>
            <a:r>
              <a:rPr sz="3500">
                <a:solidFill>
                  <a:srgbClr val="000000"/>
                </a:solidFill>
                <a:latin typeface="Calibri"/>
                <a:ea typeface="Calibri"/>
                <a:cs typeface="Times New Roman"/>
              </a:rPr>
              <a:t> </a:t>
            </a:r>
            <a:r>
              <a:rPr sz="3500">
                <a:solidFill>
                  <a:srgbClr val="000000"/>
                </a:solidFill>
                <a:latin typeface="Calibri"/>
                <a:ea typeface="Calibri"/>
                <a:cs typeface="Times New Roman"/>
              </a:rPr>
              <a:t>pcm</a:t>
            </a:r>
            <a:r>
              <a:rPr sz="3500">
                <a:solidFill>
                  <a:srgbClr val="000000"/>
                </a:solidFill>
                <a:latin typeface="Calibri"/>
                <a:ea typeface="Calibri"/>
                <a:cs typeface="Times New Roman"/>
              </a:rPr>
              <a:t> 1g </a:t>
            </a:r>
            <a:r>
              <a:rPr sz="3500">
                <a:solidFill>
                  <a:srgbClr val="000000"/>
                </a:solidFill>
                <a:latin typeface="Calibri"/>
                <a:ea typeface="Calibri"/>
                <a:cs typeface="Times New Roman"/>
              </a:rPr>
              <a:t>tds</a:t>
            </a:r>
            <a:endParaRPr sz="3500">
              <a:latin typeface="Calibri"/>
              <a:ea typeface="Calibri"/>
              <a:cs typeface="Times New Roman"/>
            </a:endParaRPr>
          </a:p>
          <a:p>
            <a:pPr algn="just" marL="0">
              <a:lnSpc>
                <a:spcPct val="106000"/>
              </a:lnSpc>
              <a:spcBef>
                <a:spcPts val="0"/>
              </a:spcBef>
              <a:spcAft>
                <a:spcPts val="800"/>
              </a:spcAft>
            </a:pPr>
            <a:r>
              <a:rPr b="1" sz="3500">
                <a:solidFill>
                  <a:srgbClr val="000000"/>
                </a:solidFill>
                <a:latin typeface="Calibri"/>
                <a:ea typeface="Calibri"/>
                <a:cs typeface="Times New Roman"/>
              </a:rPr>
              <a:t>Individualized dose </a:t>
            </a:r>
            <a:endParaRPr sz="3500">
              <a:latin typeface="Calibri"/>
              <a:ea typeface="Calibri"/>
              <a:cs typeface="Times New Roman"/>
            </a:endParaRPr>
          </a:p>
          <a:p>
            <a:pPr algn="just" lvl="1" marL="400050">
              <a:lnSpc>
                <a:spcPct val="106000"/>
              </a:lnSpc>
              <a:spcBef>
                <a:spcPts val="0"/>
              </a:spcBef>
              <a:spcAft>
                <a:spcPts val="800"/>
              </a:spcAft>
            </a:pPr>
            <a:r>
              <a:rPr sz="3500">
                <a:solidFill>
                  <a:srgbClr val="000000"/>
                </a:solidFill>
                <a:latin typeface="Calibri"/>
                <a:ea typeface="Calibri"/>
                <a:cs typeface="Times New Roman"/>
              </a:rPr>
              <a:t>drug dosage is tailored to needs of the patient-drugs with low safety margins </a:t>
            </a:r>
            <a:r>
              <a:rPr sz="3500">
                <a:solidFill>
                  <a:srgbClr val="000000"/>
                </a:solidFill>
                <a:latin typeface="Calibri"/>
                <a:ea typeface="Calibri"/>
                <a:cs typeface="Times New Roman"/>
              </a:rPr>
              <a:t>e.g</a:t>
            </a:r>
            <a:r>
              <a:rPr sz="3500">
                <a:solidFill>
                  <a:srgbClr val="000000"/>
                </a:solidFill>
                <a:latin typeface="Calibri"/>
                <a:ea typeface="Calibri"/>
                <a:cs typeface="Times New Roman"/>
              </a:rPr>
              <a:t> </a:t>
            </a:r>
            <a:r>
              <a:rPr sz="3500">
                <a:solidFill>
                  <a:srgbClr val="000000"/>
                </a:solidFill>
                <a:latin typeface="Calibri"/>
                <a:ea typeface="Calibri"/>
                <a:cs typeface="Times New Roman"/>
              </a:rPr>
              <a:t>antarrythmics</a:t>
            </a:r>
            <a:endParaRPr sz="3500">
              <a:latin typeface="Calibri"/>
              <a:ea typeface="Calibri"/>
              <a:cs typeface="Times New Roman"/>
            </a:endParaRPr>
          </a:p>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680" name=""/>
        <p:cNvGrpSpPr/>
        <p:nvPr/>
      </p:nvGrpSpPr>
      <p:grpSpPr>
        <a:xfrm>
          <a:off x="0" y="0"/>
          <a:ext cx="0" cy="0"/>
          <a:chOff x="0" y="0"/>
          <a:chExt cx="0" cy="0"/>
        </a:xfrm>
      </p:grpSpPr>
      <p:sp>
        <p:nvSpPr>
          <p:cNvPr id="1048643" name="Title 1"/>
          <p:cNvSpPr>
            <a:spLocks noGrp="1"/>
          </p:cNvSpPr>
          <p:nvPr>
            <p:ph type="title"/>
          </p:nvPr>
        </p:nvSpPr>
        <p:spPr/>
        <p:txBody>
          <a:bodyPr>
            <a:normAutofit/>
          </a:bodyPr>
          <a:p>
            <a:r>
              <a:rPr b="1">
                <a:latin typeface="Calibri"/>
                <a:ea typeface="Calibri"/>
                <a:cs typeface="Times New Roman"/>
              </a:rPr>
              <a:t>Drug administration frequencies </a:t>
            </a:r>
          </a:p>
        </p:txBody>
      </p:sp>
      <p:sp>
        <p:nvSpPr>
          <p:cNvPr id="1048644" name="Content Placeholder 2"/>
          <p:cNvSpPr>
            <a:spLocks noGrp="1"/>
          </p:cNvSpPr>
          <p:nvPr>
            <p:ph idx="1"/>
          </p:nvPr>
        </p:nvSpPr>
        <p:spPr/>
        <p:txBody>
          <a:bodyPr/>
          <a:p>
            <a:pPr algn="just" marL="0">
              <a:lnSpc>
                <a:spcPct val="106000"/>
              </a:lnSpc>
              <a:spcBef>
                <a:spcPts val="0"/>
              </a:spcBef>
              <a:spcAft>
                <a:spcPts val="800"/>
              </a:spcAft>
            </a:pPr>
            <a:r>
              <a:rPr b="1">
                <a:latin typeface="Calibri"/>
                <a:ea typeface="Calibri"/>
                <a:cs typeface="Times New Roman"/>
              </a:rPr>
              <a:t>OD</a:t>
            </a:r>
            <a:r>
              <a:rPr>
                <a:latin typeface="Calibri"/>
                <a:ea typeface="Calibri"/>
                <a:cs typeface="Times New Roman"/>
              </a:rPr>
              <a:t>-once  a day -24hrly</a:t>
            </a:r>
            <a:endParaRPr>
              <a:latin typeface="Calibri"/>
              <a:ea typeface="Calibri"/>
              <a:cs typeface="Times New Roman"/>
            </a:endParaRPr>
          </a:p>
          <a:p>
            <a:pPr algn="just" marL="0">
              <a:lnSpc>
                <a:spcPct val="106000"/>
              </a:lnSpc>
              <a:spcBef>
                <a:spcPts val="0"/>
              </a:spcBef>
              <a:spcAft>
                <a:spcPts val="800"/>
              </a:spcAft>
            </a:pPr>
            <a:r>
              <a:rPr b="1">
                <a:latin typeface="Calibri"/>
                <a:ea typeface="Calibri"/>
                <a:cs typeface="Times New Roman"/>
              </a:rPr>
              <a:t>BD</a:t>
            </a:r>
            <a:r>
              <a:rPr>
                <a:latin typeface="Calibri"/>
                <a:ea typeface="Calibri"/>
                <a:cs typeface="Times New Roman"/>
              </a:rPr>
              <a:t>-twice- 12 </a:t>
            </a:r>
            <a:r>
              <a:rPr>
                <a:latin typeface="Calibri"/>
                <a:ea typeface="Calibri"/>
                <a:cs typeface="Times New Roman"/>
              </a:rPr>
              <a:t>hrly</a:t>
            </a:r>
            <a:r>
              <a:rPr>
                <a:latin typeface="Calibri"/>
                <a:ea typeface="Calibri"/>
                <a:cs typeface="Times New Roman"/>
              </a:rPr>
              <a:t> </a:t>
            </a:r>
            <a:endParaRPr>
              <a:latin typeface="Calibri"/>
              <a:ea typeface="Calibri"/>
              <a:cs typeface="Times New Roman"/>
            </a:endParaRPr>
          </a:p>
          <a:p>
            <a:pPr algn="just" marL="0">
              <a:lnSpc>
                <a:spcPct val="106000"/>
              </a:lnSpc>
              <a:spcBef>
                <a:spcPts val="0"/>
              </a:spcBef>
              <a:spcAft>
                <a:spcPts val="800"/>
              </a:spcAft>
            </a:pPr>
            <a:r>
              <a:rPr b="1">
                <a:latin typeface="Calibri"/>
                <a:ea typeface="Calibri"/>
                <a:cs typeface="Times New Roman"/>
              </a:rPr>
              <a:t>TID</a:t>
            </a:r>
            <a:r>
              <a:rPr>
                <a:latin typeface="Calibri"/>
                <a:ea typeface="Calibri"/>
                <a:cs typeface="Times New Roman"/>
              </a:rPr>
              <a:t>-thrice daily- 8hrly</a:t>
            </a:r>
            <a:endParaRPr>
              <a:latin typeface="Calibri"/>
              <a:ea typeface="Calibri"/>
              <a:cs typeface="Times New Roman"/>
            </a:endParaRPr>
          </a:p>
          <a:p>
            <a:pPr algn="just" marL="0">
              <a:lnSpc>
                <a:spcPct val="106000"/>
              </a:lnSpc>
              <a:spcBef>
                <a:spcPts val="0"/>
              </a:spcBef>
              <a:spcAft>
                <a:spcPts val="800"/>
              </a:spcAft>
            </a:pPr>
            <a:r>
              <a:rPr b="1">
                <a:latin typeface="Calibri"/>
                <a:ea typeface="Calibri"/>
                <a:cs typeface="Times New Roman"/>
              </a:rPr>
              <a:t>QUID</a:t>
            </a:r>
            <a:r>
              <a:rPr>
                <a:latin typeface="Calibri"/>
                <a:ea typeface="Calibri"/>
                <a:cs typeface="Times New Roman"/>
              </a:rPr>
              <a:t>-4 times- 6hrly </a:t>
            </a:r>
            <a:endParaRPr>
              <a:latin typeface="Calibri"/>
              <a:ea typeface="Calibri"/>
              <a:cs typeface="Times New Roman"/>
            </a:endParaRPr>
          </a:p>
          <a:p>
            <a:pPr algn="just" marL="0">
              <a:lnSpc>
                <a:spcPct val="106000"/>
              </a:lnSpc>
              <a:spcBef>
                <a:spcPts val="0"/>
              </a:spcBef>
              <a:spcAft>
                <a:spcPts val="800"/>
              </a:spcAft>
            </a:pPr>
            <a:r>
              <a:rPr b="1">
                <a:latin typeface="Calibri"/>
                <a:ea typeface="Calibri"/>
                <a:cs typeface="Times New Roman"/>
              </a:rPr>
              <a:t>PRN</a:t>
            </a:r>
            <a:r>
              <a:rPr>
                <a:latin typeface="Calibri"/>
                <a:ea typeface="Calibri"/>
                <a:cs typeface="Times New Roman"/>
              </a:rPr>
              <a:t> –administer when necessary</a:t>
            </a:r>
            <a:endParaRPr>
              <a:latin typeface="Calibri"/>
              <a:ea typeface="Calibri"/>
              <a:cs typeface="Times New Roman"/>
            </a:endParaRPr>
          </a:p>
          <a:p>
            <a:pPr algn="just" marL="0">
              <a:lnSpc>
                <a:spcPct val="106000"/>
              </a:lnSpc>
              <a:spcBef>
                <a:spcPts val="0"/>
              </a:spcBef>
              <a:spcAft>
                <a:spcPts val="800"/>
              </a:spcAft>
            </a:pPr>
            <a:r>
              <a:rPr b="1">
                <a:latin typeface="Calibri"/>
                <a:ea typeface="Calibri"/>
                <a:cs typeface="Times New Roman"/>
              </a:rPr>
              <a:t>Nocte –</a:t>
            </a:r>
            <a:r>
              <a:rPr>
                <a:latin typeface="Calibri"/>
                <a:ea typeface="Calibri"/>
                <a:cs typeface="Times New Roman"/>
              </a:rPr>
              <a:t>administer at night</a:t>
            </a:r>
            <a:endParaRPr>
              <a:latin typeface="Calibri"/>
              <a:ea typeface="Calibri"/>
              <a:cs typeface="Times New Roman"/>
            </a:endParaRPr>
          </a:p>
          <a:p>
            <a:pPr algn="just" marL="0">
              <a:lnSpc>
                <a:spcPct val="106000"/>
              </a:lnSpc>
              <a:spcBef>
                <a:spcPts val="0"/>
              </a:spcBef>
              <a:spcAft>
                <a:spcPts val="800"/>
              </a:spcAft>
            </a:pPr>
            <a:r>
              <a:rPr b="1">
                <a:latin typeface="Calibri"/>
                <a:ea typeface="Calibri"/>
                <a:cs typeface="Times New Roman"/>
              </a:rPr>
              <a:t>STAT dose</a:t>
            </a:r>
            <a:r>
              <a:rPr>
                <a:latin typeface="Calibri"/>
                <a:ea typeface="Calibri"/>
                <a:cs typeface="Times New Roman"/>
              </a:rPr>
              <a:t>-immediately (once)</a:t>
            </a:r>
            <a:endParaRPr>
              <a:latin typeface="Calibri"/>
              <a:ea typeface="Calibri"/>
              <a:cs typeface="Times New Roman"/>
            </a:endParaRPr>
          </a:p>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681" name=""/>
        <p:cNvGrpSpPr/>
        <p:nvPr/>
      </p:nvGrpSpPr>
      <p:grpSpPr>
        <a:xfrm>
          <a:off x="0" y="0"/>
          <a:ext cx="0" cy="0"/>
          <a:chOff x="0" y="0"/>
          <a:chExt cx="0" cy="0"/>
        </a:xfrm>
      </p:grpSpPr>
      <p:sp>
        <p:nvSpPr>
          <p:cNvPr id="1048645" name="Title 1"/>
          <p:cNvSpPr>
            <a:spLocks noGrp="1"/>
          </p:cNvSpPr>
          <p:nvPr>
            <p:ph type="title"/>
          </p:nvPr>
        </p:nvSpPr>
        <p:spPr/>
        <p:txBody>
          <a:bodyPr>
            <a:normAutofit/>
          </a:bodyPr>
          <a:p>
            <a:r>
              <a:rPr b="1">
                <a:solidFill>
                  <a:srgbClr val="FF0000"/>
                </a:solidFill>
                <a:latin typeface="Calibri"/>
                <a:ea typeface="Calibri"/>
                <a:cs typeface="Times New Roman"/>
              </a:rPr>
              <a:t>Terms used in drug  preparation</a:t>
            </a:r>
          </a:p>
        </p:txBody>
      </p:sp>
      <p:sp>
        <p:nvSpPr>
          <p:cNvPr id="1048646" name="Content Placeholder 2"/>
          <p:cNvSpPr>
            <a:spLocks noGrp="1"/>
          </p:cNvSpPr>
          <p:nvPr>
            <p:ph idx="1"/>
          </p:nvPr>
        </p:nvSpPr>
        <p:spPr>
          <a:xfrm>
            <a:off x="419095" y="1600200"/>
            <a:ext cx="11372850" cy="4983156"/>
          </a:xfrm>
        </p:spPr>
        <p:txBody>
          <a:bodyPr>
            <a:normAutofit fontScale="78571" lnSpcReduction="20000"/>
          </a:bodyPr>
          <a:p>
            <a:pPr algn="just" marL="0">
              <a:lnSpc>
                <a:spcPct val="106000"/>
              </a:lnSpc>
              <a:spcBef>
                <a:spcPts val="0"/>
              </a:spcBef>
              <a:spcAft>
                <a:spcPts val="800"/>
              </a:spcAft>
            </a:pPr>
            <a:r>
              <a:rPr b="1" sz="3600">
                <a:solidFill>
                  <a:srgbClr val="FF0000"/>
                </a:solidFill>
                <a:latin typeface="Calibri"/>
                <a:ea typeface="Calibri"/>
                <a:cs typeface="Times New Roman"/>
              </a:rPr>
              <a:t>Solid preparations</a:t>
            </a:r>
            <a:endParaRPr sz="3600">
              <a:latin typeface="Calibri"/>
              <a:ea typeface="Calibri"/>
              <a:cs typeface="Times New Roman"/>
            </a:endParaRPr>
          </a:p>
          <a:p>
            <a:pPr algn="just" marL="0">
              <a:lnSpc>
                <a:spcPct val="106000"/>
              </a:lnSpc>
              <a:spcBef>
                <a:spcPts val="0"/>
              </a:spcBef>
              <a:spcAft>
                <a:spcPts val="800"/>
              </a:spcAft>
            </a:pPr>
            <a:r>
              <a:rPr b="1" sz="3600">
                <a:latin typeface="Calibri"/>
                <a:ea typeface="Calibri"/>
                <a:cs typeface="Times New Roman"/>
              </a:rPr>
              <a:t>Tablets</a:t>
            </a:r>
            <a:r>
              <a:rPr sz="3600">
                <a:latin typeface="Calibri"/>
                <a:ea typeface="Calibri"/>
                <a:cs typeface="Times New Roman"/>
              </a:rPr>
              <a:t>-compressed powders or granulated ingredients of  drugs </a:t>
            </a:r>
            <a:endParaRPr sz="3600">
              <a:latin typeface="Calibri"/>
              <a:ea typeface="Calibri"/>
              <a:cs typeface="Times New Roman"/>
            </a:endParaRPr>
          </a:p>
          <a:p>
            <a:pPr algn="just" marL="0">
              <a:lnSpc>
                <a:spcPct val="106000"/>
              </a:lnSpc>
              <a:spcBef>
                <a:spcPts val="0"/>
              </a:spcBef>
              <a:spcAft>
                <a:spcPts val="800"/>
              </a:spcAft>
            </a:pPr>
            <a:r>
              <a:rPr b="1" sz="3600">
                <a:latin typeface="Calibri"/>
                <a:ea typeface="Calibri"/>
                <a:cs typeface="Times New Roman"/>
              </a:rPr>
              <a:t>Capsules</a:t>
            </a:r>
            <a:r>
              <a:rPr sz="3600">
                <a:latin typeface="Calibri"/>
                <a:ea typeface="Calibri"/>
                <a:cs typeface="Times New Roman"/>
              </a:rPr>
              <a:t>-gelatin containers used to enclose drugs in form of powder or granules </a:t>
            </a:r>
            <a:endParaRPr sz="3600">
              <a:latin typeface="Calibri"/>
              <a:ea typeface="Calibri"/>
              <a:cs typeface="Times New Roman"/>
            </a:endParaRPr>
          </a:p>
          <a:p>
            <a:pPr algn="just" marL="0">
              <a:lnSpc>
                <a:spcPct val="106000"/>
              </a:lnSpc>
              <a:spcBef>
                <a:spcPts val="0"/>
              </a:spcBef>
              <a:spcAft>
                <a:spcPts val="800"/>
              </a:spcAft>
            </a:pPr>
            <a:r>
              <a:rPr b="1" sz="3600">
                <a:latin typeface="Calibri"/>
                <a:ea typeface="Calibri"/>
                <a:cs typeface="Times New Roman"/>
              </a:rPr>
              <a:t>Enteric coated tabs</a:t>
            </a:r>
            <a:r>
              <a:rPr sz="3600">
                <a:latin typeface="Calibri"/>
                <a:ea typeface="Calibri"/>
                <a:cs typeface="Times New Roman"/>
              </a:rPr>
              <a:t>-</a:t>
            </a:r>
            <a:r>
              <a:rPr sz="3600">
                <a:latin typeface="Calibri"/>
                <a:ea typeface="Calibri"/>
                <a:cs typeface="Times New Roman"/>
              </a:rPr>
              <a:t>celluse</a:t>
            </a:r>
            <a:r>
              <a:rPr sz="3600">
                <a:latin typeface="Calibri"/>
                <a:ea typeface="Calibri"/>
                <a:cs typeface="Times New Roman"/>
              </a:rPr>
              <a:t>-acetate used to cover drugs so that the active drug  is not destroyed by gastric acidity –the coating gets disintegrated in alkaline medium of intestine from where the drugs gets absorbed</a:t>
            </a:r>
            <a:endParaRPr sz="3600">
              <a:latin typeface="Calibri"/>
              <a:ea typeface="Calibri"/>
              <a:cs typeface="Times New Roman"/>
            </a:endParaRPr>
          </a:p>
          <a:p>
            <a:pPr algn="just" marL="0">
              <a:lnSpc>
                <a:spcPct val="106000"/>
              </a:lnSpc>
              <a:spcBef>
                <a:spcPts val="0"/>
              </a:spcBef>
              <a:spcAft>
                <a:spcPts val="800"/>
              </a:spcAft>
            </a:pPr>
            <a:r>
              <a:rPr b="1" sz="3600">
                <a:latin typeface="Calibri"/>
                <a:ea typeface="Calibri"/>
                <a:cs typeface="Times New Roman"/>
              </a:rPr>
              <a:t>Lozenges(troches</a:t>
            </a:r>
            <a:r>
              <a:rPr sz="3600">
                <a:latin typeface="Calibri"/>
                <a:ea typeface="Calibri"/>
                <a:cs typeface="Times New Roman"/>
              </a:rPr>
              <a:t>)-solid preparations made of sugar and gum-used for local action in the mouth and throat </a:t>
            </a:r>
            <a:endParaRPr sz="3600">
              <a:latin typeface="Calibri"/>
              <a:ea typeface="Calibri"/>
              <a:cs typeface="Times New Roman"/>
            </a:endParaRPr>
          </a:p>
          <a:p>
            <a:pPr algn="just" marL="0">
              <a:lnSpc>
                <a:spcPct val="106000"/>
              </a:lnSpc>
              <a:spcBef>
                <a:spcPts val="0"/>
              </a:spcBef>
              <a:spcAft>
                <a:spcPts val="800"/>
              </a:spcAft>
            </a:pPr>
            <a:r>
              <a:rPr b="1" sz="3600">
                <a:latin typeface="Calibri"/>
                <a:ea typeface="Calibri"/>
                <a:cs typeface="Times New Roman"/>
              </a:rPr>
              <a:t>Pills</a:t>
            </a:r>
            <a:r>
              <a:rPr sz="3600">
                <a:latin typeface="Calibri"/>
                <a:ea typeface="Calibri"/>
                <a:cs typeface="Times New Roman"/>
              </a:rPr>
              <a:t>-made by mixing powdered drugs with an adhesive substance like glucose /honey</a:t>
            </a:r>
            <a:endParaRPr sz="3600">
              <a:latin typeface="Calibri"/>
              <a:ea typeface="Calibri"/>
              <a:cs typeface="Times New Roman"/>
            </a:endParaRPr>
          </a:p>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682" name=""/>
        <p:cNvGrpSpPr/>
        <p:nvPr/>
      </p:nvGrpSpPr>
      <p:grpSpPr>
        <a:xfrm>
          <a:off x="0" y="0"/>
          <a:ext cx="0" cy="0"/>
          <a:chOff x="0" y="0"/>
          <a:chExt cx="0" cy="0"/>
        </a:xfrm>
      </p:grpSpPr>
      <p:sp>
        <p:nvSpPr>
          <p:cNvPr id="1048647" name="Title 1"/>
          <p:cNvSpPr>
            <a:spLocks noGrp="1"/>
          </p:cNvSpPr>
          <p:nvPr>
            <p:ph type="title"/>
          </p:nvPr>
        </p:nvSpPr>
        <p:spPr>
          <a:xfrm>
            <a:off x="838204" y="365126"/>
            <a:ext cx="10515600" cy="815978"/>
          </a:xfrm>
        </p:spPr>
        <p:txBody>
          <a:bodyPr>
            <a:normAutofit/>
          </a:bodyPr>
          <a:p>
            <a:r>
              <a:rPr b="1">
                <a:latin typeface="Calibri"/>
                <a:ea typeface="Calibri"/>
                <a:cs typeface="Times New Roman"/>
              </a:rPr>
              <a:t>Semi solid dosage forms</a:t>
            </a:r>
          </a:p>
        </p:txBody>
      </p:sp>
      <p:sp>
        <p:nvSpPr>
          <p:cNvPr id="1048648" name="Content Placeholder 2"/>
          <p:cNvSpPr>
            <a:spLocks noGrp="1"/>
          </p:cNvSpPr>
          <p:nvPr>
            <p:ph idx="1"/>
          </p:nvPr>
        </p:nvSpPr>
        <p:spPr>
          <a:xfrm>
            <a:off x="352429" y="1295404"/>
            <a:ext cx="11287125" cy="5287965"/>
          </a:xfrm>
        </p:spPr>
        <p:txBody>
          <a:bodyPr>
            <a:normAutofit fontScale="92857" lnSpcReduction="20000"/>
          </a:bodyPr>
          <a:p>
            <a:pPr algn="just" marL="0">
              <a:lnSpc>
                <a:spcPct val="106000"/>
              </a:lnSpc>
              <a:spcBef>
                <a:spcPts val="0"/>
              </a:spcBef>
              <a:spcAft>
                <a:spcPts val="800"/>
              </a:spcAft>
            </a:pPr>
            <a:r>
              <a:rPr b="1">
                <a:latin typeface="Calibri"/>
                <a:ea typeface="Calibri"/>
                <a:cs typeface="Times New Roman"/>
              </a:rPr>
              <a:t>Emulsions </a:t>
            </a:r>
            <a:r>
              <a:rPr>
                <a:latin typeface="Calibri"/>
                <a:ea typeface="Calibri"/>
                <a:cs typeface="Times New Roman"/>
              </a:rPr>
              <a:t>–are liquid preparations containing two immiscible liquids made miscible with the help of an emulsifying agent </a:t>
            </a:r>
            <a:r>
              <a:rPr>
                <a:latin typeface="Calibri"/>
                <a:ea typeface="Calibri"/>
                <a:cs typeface="Times New Roman"/>
              </a:rPr>
              <a:t>e.g</a:t>
            </a:r>
            <a:r>
              <a:rPr>
                <a:latin typeface="Calibri"/>
                <a:ea typeface="Calibri"/>
                <a:cs typeface="Times New Roman"/>
              </a:rPr>
              <a:t> liquid paraffin</a:t>
            </a:r>
            <a:endParaRPr>
              <a:latin typeface="Calibri"/>
              <a:ea typeface="Calibri"/>
              <a:cs typeface="Times New Roman"/>
            </a:endParaRPr>
          </a:p>
          <a:p>
            <a:pPr algn="just" marL="0">
              <a:lnSpc>
                <a:spcPct val="106000"/>
              </a:lnSpc>
              <a:spcBef>
                <a:spcPts val="0"/>
              </a:spcBef>
              <a:spcAft>
                <a:spcPts val="800"/>
              </a:spcAft>
            </a:pPr>
            <a:r>
              <a:rPr b="1">
                <a:latin typeface="Calibri"/>
                <a:ea typeface="Calibri"/>
                <a:cs typeface="Times New Roman"/>
              </a:rPr>
              <a:t>Suspensions –</a:t>
            </a:r>
            <a:r>
              <a:rPr>
                <a:latin typeface="Calibri"/>
                <a:ea typeface="Calibri"/>
                <a:cs typeface="Times New Roman"/>
              </a:rPr>
              <a:t>are liquid dosage forms containing finely divided solid particles suspended in a liquid  or semi liquid vehicle</a:t>
            </a:r>
            <a:endParaRPr>
              <a:latin typeface="Calibri"/>
              <a:ea typeface="Calibri"/>
              <a:cs typeface="Times New Roman"/>
            </a:endParaRPr>
          </a:p>
          <a:p>
            <a:pPr algn="just" marL="0">
              <a:lnSpc>
                <a:spcPct val="106000"/>
              </a:lnSpc>
              <a:spcBef>
                <a:spcPts val="0"/>
              </a:spcBef>
              <a:spcAft>
                <a:spcPts val="800"/>
              </a:spcAft>
            </a:pPr>
            <a:r>
              <a:rPr b="1">
                <a:latin typeface="Calibri"/>
                <a:ea typeface="Calibri"/>
                <a:cs typeface="Times New Roman"/>
              </a:rPr>
              <a:t>Tinctures</a:t>
            </a:r>
            <a:r>
              <a:rPr>
                <a:latin typeface="Calibri"/>
                <a:ea typeface="Calibri"/>
                <a:cs typeface="Times New Roman"/>
              </a:rPr>
              <a:t> –are a mixture of chemical substances contained in high alcohols –above 50%e.g tincture of iodine</a:t>
            </a:r>
            <a:endParaRPr>
              <a:latin typeface="Calibri"/>
              <a:ea typeface="Calibri"/>
              <a:cs typeface="Times New Roman"/>
            </a:endParaRPr>
          </a:p>
          <a:p>
            <a:pPr algn="just" marL="0">
              <a:lnSpc>
                <a:spcPct val="106000"/>
              </a:lnSpc>
              <a:spcBef>
                <a:spcPts val="0"/>
              </a:spcBef>
              <a:spcAft>
                <a:spcPts val="800"/>
              </a:spcAft>
            </a:pPr>
            <a:r>
              <a:rPr b="1">
                <a:latin typeface="Calibri"/>
                <a:ea typeface="Calibri"/>
                <a:cs typeface="Times New Roman"/>
              </a:rPr>
              <a:t>Gels</a:t>
            </a:r>
            <a:r>
              <a:rPr>
                <a:latin typeface="Calibri"/>
                <a:ea typeface="Calibri"/>
                <a:cs typeface="Times New Roman"/>
              </a:rPr>
              <a:t> – are thin transparent /translucent preparation meant for external use are mixtures of insoluble drugs and water </a:t>
            </a:r>
            <a:endParaRPr>
              <a:latin typeface="Calibri"/>
              <a:ea typeface="Calibri"/>
              <a:cs typeface="Times New Roman"/>
            </a:endParaRPr>
          </a:p>
          <a:p>
            <a:pPr algn="just" marL="0">
              <a:lnSpc>
                <a:spcPct val="106000"/>
              </a:lnSpc>
              <a:spcBef>
                <a:spcPts val="0"/>
              </a:spcBef>
              <a:spcAft>
                <a:spcPts val="800"/>
              </a:spcAft>
            </a:pPr>
            <a:r>
              <a:rPr b="1">
                <a:latin typeface="Calibri"/>
                <a:ea typeface="Calibri"/>
                <a:cs typeface="Times New Roman"/>
              </a:rPr>
              <a:t>Ointments</a:t>
            </a:r>
            <a:r>
              <a:rPr>
                <a:latin typeface="Calibri"/>
                <a:ea typeface="Calibri"/>
                <a:cs typeface="Times New Roman"/>
              </a:rPr>
              <a:t> –semisolid preparations intended for local application to the skin or mucus membrane ,they contain </a:t>
            </a:r>
            <a:r>
              <a:rPr>
                <a:solidFill>
                  <a:srgbClr val="FF0000"/>
                </a:solidFill>
                <a:latin typeface="Calibri"/>
                <a:ea typeface="Calibri"/>
                <a:cs typeface="Times New Roman"/>
              </a:rPr>
              <a:t>a greasy base some </a:t>
            </a:r>
            <a:r>
              <a:rPr>
                <a:latin typeface="Calibri"/>
                <a:ea typeface="Calibri"/>
                <a:cs typeface="Times New Roman"/>
              </a:rPr>
              <a:t>are for local action and  others systemic</a:t>
            </a:r>
            <a:endParaRPr>
              <a:latin typeface="Calibri"/>
              <a:ea typeface="Calibri"/>
              <a:cs typeface="Times New Roman"/>
            </a:endParaRPr>
          </a:p>
          <a:p>
            <a:pPr algn="just" marL="0">
              <a:lnSpc>
                <a:spcPct val="106000"/>
              </a:lnSpc>
              <a:spcBef>
                <a:spcPts val="0"/>
              </a:spcBef>
              <a:spcAft>
                <a:spcPts val="800"/>
              </a:spcAft>
            </a:pPr>
            <a:r>
              <a:rPr b="1">
                <a:latin typeface="Calibri"/>
                <a:ea typeface="Calibri"/>
                <a:cs typeface="Times New Roman"/>
              </a:rPr>
              <a:t>Creams</a:t>
            </a:r>
            <a:r>
              <a:rPr>
                <a:latin typeface="Calibri"/>
                <a:ea typeface="Calibri"/>
                <a:cs typeface="Times New Roman"/>
              </a:rPr>
              <a:t>- are similar to ointments but contain </a:t>
            </a:r>
            <a:r>
              <a:rPr>
                <a:latin typeface="Calibri"/>
                <a:ea typeface="Calibri"/>
                <a:cs typeface="Times New Roman"/>
              </a:rPr>
              <a:t>awater</a:t>
            </a:r>
            <a:r>
              <a:rPr>
                <a:latin typeface="Calibri"/>
                <a:ea typeface="Calibri"/>
                <a:cs typeface="Times New Roman"/>
              </a:rPr>
              <a:t> soluble base </a:t>
            </a:r>
            <a:r>
              <a:rPr>
                <a:latin typeface="Calibri"/>
                <a:ea typeface="Calibri"/>
                <a:cs typeface="Times New Roman"/>
              </a:rPr>
              <a:t>e.g</a:t>
            </a:r>
            <a:r>
              <a:rPr>
                <a:latin typeface="Calibri"/>
                <a:ea typeface="Calibri"/>
                <a:cs typeface="Times New Roman"/>
              </a:rPr>
              <a:t> silver Sulphadiazine(SSD).can be cleaned </a:t>
            </a:r>
            <a:r>
              <a:rPr>
                <a:latin typeface="Calibri"/>
                <a:ea typeface="Calibri"/>
                <a:cs typeface="Times New Roman"/>
              </a:rPr>
              <a:t>easly</a:t>
            </a:r>
            <a:r>
              <a:rPr>
                <a:latin typeface="Calibri"/>
                <a:ea typeface="Calibri"/>
                <a:cs typeface="Times New Roman"/>
              </a:rPr>
              <a:t> from the skin</a:t>
            </a:r>
            <a:endParaRPr>
              <a:latin typeface="Calibri"/>
              <a:ea typeface="Calibri"/>
              <a:cs typeface="Times New Roman"/>
            </a:endParaRPr>
          </a:p>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683" name=""/>
        <p:cNvGrpSpPr/>
        <p:nvPr/>
      </p:nvGrpSpPr>
      <p:grpSpPr>
        <a:xfrm>
          <a:off x="0" y="0"/>
          <a:ext cx="0" cy="0"/>
          <a:chOff x="0" y="0"/>
          <a:chExt cx="0" cy="0"/>
        </a:xfrm>
      </p:grpSpPr>
      <p:sp>
        <p:nvSpPr>
          <p:cNvPr id="1048649" name="Title 1"/>
          <p:cNvSpPr>
            <a:spLocks noGrp="1"/>
          </p:cNvSpPr>
          <p:nvPr>
            <p:ph type="title"/>
          </p:nvPr>
        </p:nvSpPr>
        <p:spPr/>
        <p:txBody>
          <a:bodyPr>
            <a:normAutofit/>
          </a:bodyPr>
          <a:p>
            <a:r>
              <a:rPr b="1">
                <a:latin typeface="Calibri"/>
                <a:ea typeface="Calibri"/>
                <a:cs typeface="Times New Roman"/>
              </a:rPr>
              <a:t>Solids for insertion into body cavities</a:t>
            </a:r>
          </a:p>
        </p:txBody>
      </p:sp>
      <p:sp>
        <p:nvSpPr>
          <p:cNvPr id="1048650" name="Content Placeholder 2"/>
          <p:cNvSpPr>
            <a:spLocks noGrp="1"/>
          </p:cNvSpPr>
          <p:nvPr>
            <p:ph idx="1"/>
          </p:nvPr>
        </p:nvSpPr>
        <p:spPr/>
        <p:txBody>
          <a:bodyPr>
            <a:normAutofit lnSpcReduction="10000"/>
          </a:bodyPr>
          <a:p>
            <a:pPr algn="just" marL="0">
              <a:lnSpc>
                <a:spcPct val="106000"/>
              </a:lnSpc>
              <a:spcBef>
                <a:spcPts val="0"/>
              </a:spcBef>
              <a:spcAft>
                <a:spcPts val="800"/>
              </a:spcAft>
            </a:pPr>
            <a:r>
              <a:rPr b="1" sz="3500">
                <a:latin typeface="Calibri"/>
                <a:ea typeface="Calibri"/>
                <a:cs typeface="Times New Roman"/>
              </a:rPr>
              <a:t>Suppositories</a:t>
            </a:r>
            <a:r>
              <a:rPr sz="3500">
                <a:latin typeface="Calibri"/>
                <a:ea typeface="Calibri"/>
                <a:cs typeface="Times New Roman"/>
              </a:rPr>
              <a:t> –are ovoid shaped preparations meant for insertion into the rectum for local/systemic effects and evacuation of the bowel </a:t>
            </a:r>
            <a:r>
              <a:rPr sz="3500">
                <a:latin typeface="Calibri"/>
                <a:ea typeface="Calibri"/>
                <a:cs typeface="Times New Roman"/>
              </a:rPr>
              <a:t>e.g</a:t>
            </a:r>
            <a:r>
              <a:rPr sz="3500">
                <a:latin typeface="Calibri"/>
                <a:ea typeface="Calibri"/>
                <a:cs typeface="Times New Roman"/>
              </a:rPr>
              <a:t> </a:t>
            </a:r>
            <a:r>
              <a:rPr sz="3500">
                <a:latin typeface="Calibri"/>
                <a:ea typeface="Calibri"/>
                <a:cs typeface="Times New Roman"/>
              </a:rPr>
              <a:t>duclox</a:t>
            </a:r>
            <a:r>
              <a:rPr sz="3500">
                <a:latin typeface="Calibri"/>
                <a:ea typeface="Calibri"/>
                <a:cs typeface="Times New Roman"/>
              </a:rPr>
              <a:t>/bisacodyl</a:t>
            </a:r>
            <a:endParaRPr sz="3500">
              <a:latin typeface="Calibri"/>
              <a:ea typeface="Calibri"/>
              <a:cs typeface="Times New Roman"/>
            </a:endParaRPr>
          </a:p>
          <a:p>
            <a:pPr algn="just" marL="0">
              <a:lnSpc>
                <a:spcPct val="106000"/>
              </a:lnSpc>
              <a:spcBef>
                <a:spcPts val="0"/>
              </a:spcBef>
              <a:spcAft>
                <a:spcPts val="800"/>
              </a:spcAft>
            </a:pPr>
            <a:r>
              <a:rPr b="1" sz="3500">
                <a:latin typeface="Calibri"/>
                <a:ea typeface="Calibri"/>
                <a:cs typeface="Times New Roman"/>
              </a:rPr>
              <a:t>Bougies</a:t>
            </a:r>
            <a:r>
              <a:rPr sz="3500">
                <a:latin typeface="Calibri"/>
                <a:ea typeface="Calibri"/>
                <a:cs typeface="Times New Roman"/>
              </a:rPr>
              <a:t>- thin cylindrical dosage forms to be introduced in the urethra</a:t>
            </a:r>
            <a:endParaRPr sz="3500">
              <a:latin typeface="Calibri"/>
              <a:ea typeface="Calibri"/>
              <a:cs typeface="Times New Roman"/>
            </a:endParaRPr>
          </a:p>
          <a:p>
            <a:pPr algn="just" marL="0">
              <a:lnSpc>
                <a:spcPct val="106000"/>
              </a:lnSpc>
              <a:spcBef>
                <a:spcPts val="0"/>
              </a:spcBef>
              <a:spcAft>
                <a:spcPts val="800"/>
              </a:spcAft>
            </a:pPr>
            <a:r>
              <a:rPr b="1" sz="3500">
                <a:latin typeface="Calibri"/>
                <a:ea typeface="Calibri"/>
                <a:cs typeface="Times New Roman"/>
              </a:rPr>
              <a:t>Pessaries-</a:t>
            </a:r>
            <a:r>
              <a:rPr sz="3500">
                <a:latin typeface="Calibri"/>
                <a:ea typeface="Calibri"/>
                <a:cs typeface="Times New Roman"/>
              </a:rPr>
              <a:t>cone shaped solid dosage forms meant for insertion in the vagina for local action </a:t>
            </a:r>
            <a:r>
              <a:rPr sz="3500">
                <a:latin typeface="Calibri"/>
                <a:ea typeface="Calibri"/>
                <a:cs typeface="Times New Roman"/>
              </a:rPr>
              <a:t>e.g</a:t>
            </a:r>
            <a:r>
              <a:rPr sz="3500">
                <a:latin typeface="Calibri"/>
                <a:ea typeface="Calibri"/>
                <a:cs typeface="Times New Roman"/>
              </a:rPr>
              <a:t> clotrimazole</a:t>
            </a:r>
            <a:endParaRPr sz="3500">
              <a:latin typeface="Calibri"/>
              <a:ea typeface="Calibri"/>
              <a:cs typeface="Times New Roman"/>
            </a:endParaRPr>
          </a:p>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684" name=""/>
        <p:cNvGrpSpPr/>
        <p:nvPr/>
      </p:nvGrpSpPr>
      <p:grpSpPr>
        <a:xfrm>
          <a:off x="0" y="0"/>
          <a:ext cx="0" cy="0"/>
          <a:chOff x="0" y="0"/>
          <a:chExt cx="0" cy="0"/>
        </a:xfrm>
      </p:grpSpPr>
      <p:sp>
        <p:nvSpPr>
          <p:cNvPr id="1048651" name="Title 1"/>
          <p:cNvSpPr>
            <a:spLocks noGrp="1"/>
          </p:cNvSpPr>
          <p:nvPr>
            <p:ph type="title"/>
          </p:nvPr>
        </p:nvSpPr>
        <p:spPr/>
        <p:txBody>
          <a:bodyPr>
            <a:normAutofit/>
          </a:bodyPr>
          <a:p>
            <a:r>
              <a:rPr b="1">
                <a:latin typeface="Calibri"/>
                <a:ea typeface="Calibri"/>
                <a:cs typeface="Times New Roman"/>
              </a:rPr>
              <a:t>Liquids</a:t>
            </a:r>
          </a:p>
        </p:txBody>
      </p:sp>
      <p:sp>
        <p:nvSpPr>
          <p:cNvPr id="1048652" name="Content Placeholder 2"/>
          <p:cNvSpPr>
            <a:spLocks noGrp="1"/>
          </p:cNvSpPr>
          <p:nvPr>
            <p:ph idx="1"/>
          </p:nvPr>
        </p:nvSpPr>
        <p:spPr>
          <a:xfrm>
            <a:off x="571500" y="1417643"/>
            <a:ext cx="11020420" cy="5165726"/>
          </a:xfrm>
        </p:spPr>
        <p:txBody>
          <a:bodyPr>
            <a:normAutofit fontScale="85714" lnSpcReduction="20000"/>
          </a:bodyPr>
          <a:p>
            <a:pPr algn="just" marL="0">
              <a:lnSpc>
                <a:spcPct val="106000"/>
              </a:lnSpc>
              <a:spcBef>
                <a:spcPts val="0"/>
              </a:spcBef>
              <a:spcAft>
                <a:spcPts val="800"/>
              </a:spcAft>
            </a:pPr>
            <a:r>
              <a:rPr b="1" sz="3200">
                <a:latin typeface="Calibri"/>
                <a:ea typeface="Calibri"/>
                <a:cs typeface="Times New Roman"/>
              </a:rPr>
              <a:t>Elixir-</a:t>
            </a:r>
            <a:r>
              <a:rPr sz="3200">
                <a:latin typeface="Calibri"/>
                <a:ea typeface="Calibri"/>
                <a:cs typeface="Times New Roman"/>
              </a:rPr>
              <a:t>clear palatable ,flavored liquid preparation for oral use</a:t>
            </a:r>
            <a:endParaRPr sz="3200">
              <a:latin typeface="Calibri"/>
              <a:ea typeface="Calibri"/>
              <a:cs typeface="Times New Roman"/>
            </a:endParaRPr>
          </a:p>
          <a:p>
            <a:pPr algn="just" marL="0">
              <a:lnSpc>
                <a:spcPct val="106000"/>
              </a:lnSpc>
              <a:spcBef>
                <a:spcPts val="0"/>
              </a:spcBef>
              <a:spcAft>
                <a:spcPts val="800"/>
              </a:spcAft>
            </a:pPr>
            <a:r>
              <a:rPr b="1" sz="3200">
                <a:latin typeface="Calibri"/>
                <a:ea typeface="Calibri"/>
                <a:cs typeface="Times New Roman"/>
              </a:rPr>
              <a:t>Syrups</a:t>
            </a:r>
            <a:r>
              <a:rPr sz="3200">
                <a:latin typeface="Calibri"/>
                <a:ea typeface="Calibri"/>
                <a:cs typeface="Times New Roman"/>
              </a:rPr>
              <a:t>- </a:t>
            </a:r>
            <a:r>
              <a:rPr sz="3200">
                <a:latin typeface="Calibri"/>
                <a:ea typeface="Calibri"/>
                <a:cs typeface="Times New Roman"/>
              </a:rPr>
              <a:t>flavored,sweet,concentrated</a:t>
            </a:r>
            <a:r>
              <a:rPr sz="3200">
                <a:latin typeface="Calibri"/>
                <a:ea typeface="Calibri"/>
                <a:cs typeface="Times New Roman"/>
              </a:rPr>
              <a:t> ,viscous solutions of sucrose or other sugars.</a:t>
            </a:r>
            <a:endParaRPr sz="3200">
              <a:latin typeface="Calibri"/>
              <a:ea typeface="Calibri"/>
              <a:cs typeface="Times New Roman"/>
            </a:endParaRPr>
          </a:p>
          <a:p>
            <a:pPr algn="just" marL="0">
              <a:lnSpc>
                <a:spcPct val="106000"/>
              </a:lnSpc>
              <a:spcBef>
                <a:spcPts val="0"/>
              </a:spcBef>
              <a:spcAft>
                <a:spcPts val="800"/>
              </a:spcAft>
            </a:pPr>
            <a:r>
              <a:rPr b="1" sz="3200">
                <a:latin typeface="Calibri"/>
                <a:ea typeface="Calibri"/>
                <a:cs typeface="Times New Roman"/>
              </a:rPr>
              <a:t>Lotions</a:t>
            </a:r>
            <a:r>
              <a:rPr sz="3200">
                <a:latin typeface="Calibri"/>
                <a:ea typeface="Calibri"/>
                <a:cs typeface="Times New Roman"/>
              </a:rPr>
              <a:t>-are suspended particles in aqueous solution for local applications </a:t>
            </a:r>
            <a:r>
              <a:rPr sz="3200">
                <a:latin typeface="Calibri"/>
                <a:ea typeface="Calibri"/>
                <a:cs typeface="Times New Roman"/>
              </a:rPr>
              <a:t>e.g</a:t>
            </a:r>
            <a:r>
              <a:rPr sz="3200">
                <a:latin typeface="Calibri"/>
                <a:ea typeface="Calibri"/>
                <a:cs typeface="Times New Roman"/>
              </a:rPr>
              <a:t> calamine lotion</a:t>
            </a:r>
            <a:endParaRPr sz="3200">
              <a:latin typeface="Calibri"/>
              <a:ea typeface="Calibri"/>
              <a:cs typeface="Times New Roman"/>
            </a:endParaRPr>
          </a:p>
          <a:p>
            <a:pPr algn="just" marL="0">
              <a:lnSpc>
                <a:spcPct val="106000"/>
              </a:lnSpc>
              <a:spcBef>
                <a:spcPts val="0"/>
              </a:spcBef>
              <a:spcAft>
                <a:spcPts val="800"/>
              </a:spcAft>
            </a:pPr>
            <a:r>
              <a:rPr b="1" sz="3200">
                <a:latin typeface="Calibri"/>
                <a:ea typeface="Calibri"/>
                <a:cs typeface="Times New Roman"/>
              </a:rPr>
              <a:t>Douche</a:t>
            </a:r>
            <a:r>
              <a:rPr sz="3200">
                <a:latin typeface="Calibri"/>
                <a:ea typeface="Calibri"/>
                <a:cs typeface="Times New Roman"/>
              </a:rPr>
              <a:t> –an aqueous solution used to rinse cavities</a:t>
            </a:r>
            <a:endParaRPr sz="3200">
              <a:latin typeface="Calibri"/>
              <a:ea typeface="Calibri"/>
              <a:cs typeface="Times New Roman"/>
            </a:endParaRPr>
          </a:p>
          <a:p>
            <a:pPr algn="just" marL="0">
              <a:lnSpc>
                <a:spcPct val="106000"/>
              </a:lnSpc>
              <a:spcBef>
                <a:spcPts val="0"/>
              </a:spcBef>
              <a:spcAft>
                <a:spcPts val="800"/>
              </a:spcAft>
            </a:pPr>
            <a:r>
              <a:rPr b="1" sz="3200">
                <a:latin typeface="Calibri"/>
                <a:ea typeface="Calibri"/>
                <a:cs typeface="Times New Roman"/>
              </a:rPr>
              <a:t>Linctuse</a:t>
            </a:r>
            <a:r>
              <a:rPr sz="3200">
                <a:latin typeface="Calibri"/>
                <a:ea typeface="Calibri"/>
                <a:cs typeface="Times New Roman"/>
              </a:rPr>
              <a:t> –sweet viscous liquids contain syrup and glycerin as a vehicle with demulcent effect </a:t>
            </a:r>
            <a:r>
              <a:rPr sz="3200">
                <a:latin typeface="Calibri"/>
                <a:ea typeface="Calibri"/>
                <a:cs typeface="Times New Roman"/>
              </a:rPr>
              <a:t>i.e</a:t>
            </a:r>
            <a:r>
              <a:rPr sz="3200">
                <a:latin typeface="Calibri"/>
                <a:ea typeface="Calibri"/>
                <a:cs typeface="Times New Roman"/>
              </a:rPr>
              <a:t> cough syrup</a:t>
            </a:r>
            <a:endParaRPr sz="3200">
              <a:latin typeface="Calibri"/>
              <a:ea typeface="Calibri"/>
              <a:cs typeface="Times New Roman"/>
            </a:endParaRPr>
          </a:p>
          <a:p>
            <a:pPr algn="just" marL="0">
              <a:lnSpc>
                <a:spcPct val="106000"/>
              </a:lnSpc>
              <a:spcBef>
                <a:spcPts val="0"/>
              </a:spcBef>
              <a:spcAft>
                <a:spcPts val="800"/>
              </a:spcAft>
            </a:pPr>
            <a:r>
              <a:rPr b="1" sz="3200">
                <a:latin typeface="Calibri"/>
                <a:ea typeface="Calibri"/>
                <a:cs typeface="Times New Roman"/>
              </a:rPr>
              <a:t>Liminents</a:t>
            </a:r>
            <a:r>
              <a:rPr b="1" sz="3200">
                <a:latin typeface="Calibri"/>
                <a:ea typeface="Calibri"/>
                <a:cs typeface="Times New Roman"/>
              </a:rPr>
              <a:t>-</a:t>
            </a:r>
            <a:r>
              <a:rPr sz="3200">
                <a:latin typeface="Calibri"/>
                <a:ea typeface="Calibri"/>
                <a:cs typeface="Times New Roman"/>
              </a:rPr>
              <a:t>are liquids /semiliquid preparation  meant for application on the skin with friction</a:t>
            </a:r>
            <a:endParaRPr sz="3200">
              <a:latin typeface="Calibri"/>
              <a:ea typeface="Calibri"/>
              <a:cs typeface="Times New Roman"/>
            </a:endParaRPr>
          </a:p>
          <a:p>
            <a:pPr algn="just" marL="0">
              <a:lnSpc>
                <a:spcPct val="106000"/>
              </a:lnSpc>
              <a:spcBef>
                <a:spcPts val="0"/>
              </a:spcBef>
              <a:spcAft>
                <a:spcPts val="800"/>
              </a:spcAft>
            </a:pPr>
            <a:r>
              <a:rPr b="1" sz="3200">
                <a:latin typeface="Calibri"/>
                <a:ea typeface="Calibri"/>
                <a:cs typeface="Times New Roman"/>
              </a:rPr>
              <a:t>Gargles</a:t>
            </a:r>
            <a:r>
              <a:rPr sz="3200">
                <a:latin typeface="Calibri"/>
                <a:ea typeface="Calibri"/>
                <a:cs typeface="Times New Roman"/>
              </a:rPr>
              <a:t> –aqueous solution used orally for deodorant effect/treat infection in the oral </a:t>
            </a:r>
            <a:r>
              <a:rPr sz="3200">
                <a:latin typeface="Calibri"/>
                <a:ea typeface="Calibri"/>
                <a:cs typeface="Times New Roman"/>
              </a:rPr>
              <a:t>cavit</a:t>
            </a:r>
            <a:endParaRPr sz="3200">
              <a:latin typeface="Calibri"/>
              <a:ea typeface="Calibri"/>
              <a:cs typeface="Times New Roman"/>
            </a:endParaRPr>
          </a:p>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685" name=""/>
        <p:cNvGrpSpPr/>
        <p:nvPr/>
      </p:nvGrpSpPr>
      <p:grpSpPr>
        <a:xfrm>
          <a:off x="0" y="0"/>
          <a:ext cx="0" cy="0"/>
          <a:chOff x="0" y="0"/>
          <a:chExt cx="0" cy="0"/>
        </a:xfrm>
      </p:grpSpPr>
      <p:sp>
        <p:nvSpPr>
          <p:cNvPr id="1048653" name="Title 1"/>
          <p:cNvSpPr>
            <a:spLocks noGrp="1"/>
          </p:cNvSpPr>
          <p:nvPr>
            <p:ph type="title"/>
          </p:nvPr>
        </p:nvSpPr>
        <p:spPr/>
        <p:txBody>
          <a:bodyPr/>
          <a:p>
            <a:r>
              <a:t>                           </a:t>
            </a:r>
            <a:r>
              <a:rPr b="1"/>
              <a:t>uses of drugs</a:t>
            </a:r>
            <a:endParaRPr b="1"/>
          </a:p>
        </p:txBody>
      </p:sp>
      <p:sp>
        <p:nvSpPr>
          <p:cNvPr id="1048654" name="Content Placeholder 2"/>
          <p:cNvSpPr>
            <a:spLocks noGrp="1"/>
          </p:cNvSpPr>
          <p:nvPr>
            <p:ph idx="1"/>
          </p:nvPr>
        </p:nvSpPr>
        <p:spPr>
          <a:xfrm>
            <a:off x="619120" y="1590670"/>
            <a:ext cx="11077570" cy="5019670"/>
          </a:xfrm>
        </p:spPr>
        <p:txBody>
          <a:bodyPr>
            <a:normAutofit fontScale="97222" lnSpcReduction="10000"/>
          </a:bodyPr>
          <a:p>
            <a:pPr indent="-428625" marL="428625">
              <a:buFont typeface="+mj-lt"/>
              <a:buAutoNum type="arabicPeriod"/>
            </a:pPr>
            <a:r>
              <a:rPr b="1" sz="3600"/>
              <a:t>curative: </a:t>
            </a:r>
            <a:r>
              <a:rPr sz="3600"/>
              <a:t>this is the primary therapy e.g. in treating infections or auxiliary therapy  e.g. application of anaesthetic medication.</a:t>
            </a:r>
            <a:endParaRPr sz="3600"/>
          </a:p>
          <a:p>
            <a:pPr indent="-428625" marL="428625">
              <a:buFont typeface="+mj-lt"/>
              <a:buAutoNum type="arabicPeriod"/>
            </a:pPr>
            <a:r>
              <a:rPr b="1" sz="3600"/>
              <a:t>suppress signs and symptoms</a:t>
            </a:r>
            <a:r>
              <a:rPr sz="3600"/>
              <a:t>, hence improve quality of life without attaining cure e.g. anti diabetics.</a:t>
            </a:r>
            <a:endParaRPr sz="3600"/>
          </a:p>
          <a:p>
            <a:pPr indent="-385762" marL="385762">
              <a:buFont typeface="+mj-lt"/>
              <a:buAutoNum type="arabicPeriod"/>
            </a:pPr>
            <a:r>
              <a:rPr b="1" sz="3600"/>
              <a:t> prevent/prophylaxis- </a:t>
            </a:r>
            <a:r>
              <a:rPr sz="3600"/>
              <a:t>this could be primary e.g. use of vaccines to prevent one from getting a disease or secondary to stop progression of an existing disease.</a:t>
            </a:r>
            <a:endParaRPr sz="3600"/>
          </a:p>
          <a:p>
            <a:pPr indent="-428625" marL="428625">
              <a:buFont typeface="+mj-lt"/>
              <a:buAutoNum type="arabicPeriod"/>
            </a:pPr>
            <a:r>
              <a:rPr b="1" sz="3600"/>
              <a:t>diagnosis-</a:t>
            </a:r>
            <a:r>
              <a:rPr sz="3600"/>
              <a:t> for instance the use of tuberculin test to diagnose PTB</a:t>
            </a:r>
            <a:endParaRPr b="1" sz="36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686" name=""/>
        <p:cNvGrpSpPr/>
        <p:nvPr/>
      </p:nvGrpSpPr>
      <p:grpSpPr>
        <a:xfrm>
          <a:off x="0" y="0"/>
          <a:ext cx="0" cy="0"/>
          <a:chOff x="0" y="0"/>
          <a:chExt cx="0" cy="0"/>
        </a:xfrm>
      </p:grpSpPr>
      <p:sp>
        <p:nvSpPr>
          <p:cNvPr id="1048655" name="Title 1"/>
          <p:cNvSpPr>
            <a:spLocks noGrp="1"/>
          </p:cNvSpPr>
          <p:nvPr>
            <p:ph type="title"/>
          </p:nvPr>
        </p:nvSpPr>
        <p:spPr/>
        <p:txBody>
          <a:bodyPr>
            <a:normAutofit/>
          </a:bodyPr>
          <a:p>
            <a:r>
              <a:t> </a:t>
            </a:r>
            <a:r>
              <a:rPr b="1"/>
              <a:t>two major methods of dispensing drugs</a:t>
            </a:r>
            <a:endParaRPr b="1"/>
          </a:p>
        </p:txBody>
      </p:sp>
      <p:sp>
        <p:nvSpPr>
          <p:cNvPr id="1048656" name="Content Placeholder 2"/>
          <p:cNvSpPr>
            <a:spLocks noGrp="1"/>
          </p:cNvSpPr>
          <p:nvPr>
            <p:ph idx="1"/>
          </p:nvPr>
        </p:nvSpPr>
        <p:spPr>
          <a:xfrm>
            <a:off x="657225" y="1887805"/>
            <a:ext cx="10906120" cy="4322498"/>
          </a:xfrm>
        </p:spPr>
        <p:txBody>
          <a:bodyPr>
            <a:normAutofit fontScale="97222" lnSpcReduction="10000"/>
          </a:bodyPr>
          <a:p>
            <a:r>
              <a:rPr b="1" sz="3600"/>
              <a:t>Over the counter drugs (OTC):</a:t>
            </a:r>
            <a:r>
              <a:rPr sz="3600"/>
              <a:t>they do not need a prescription and can be purchased  at the chemical shops;  examples pain relief, blood tonics, vitamin preparation, ORS, antacids, antimalarial.</a:t>
            </a:r>
            <a:endParaRPr sz="3600"/>
          </a:p>
          <a:p>
            <a:endParaRPr sz="3600"/>
          </a:p>
          <a:p>
            <a:r>
              <a:rPr b="1" sz="3600"/>
              <a:t>Prescription drugs: T</a:t>
            </a:r>
            <a:r>
              <a:rPr sz="3600"/>
              <a:t>hey need a prescription and must be controlled from abuse and dependence; e.g. antibiotics, anti-hypertensives, sedatives,  diabetics drugs etc.</a:t>
            </a:r>
            <a:endParaRPr b="1" sz="36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687" name=""/>
        <p:cNvGrpSpPr/>
        <p:nvPr/>
      </p:nvGrpSpPr>
      <p:grpSpPr>
        <a:xfrm>
          <a:off x="0" y="0"/>
          <a:ext cx="0" cy="0"/>
          <a:chOff x="0" y="0"/>
          <a:chExt cx="0" cy="0"/>
        </a:xfrm>
      </p:grpSpPr>
      <p:sp>
        <p:nvSpPr>
          <p:cNvPr id="1048657" name="Title 1"/>
          <p:cNvSpPr>
            <a:spLocks noGrp="1"/>
          </p:cNvSpPr>
          <p:nvPr>
            <p:ph type="title"/>
          </p:nvPr>
        </p:nvSpPr>
        <p:spPr/>
        <p:txBody>
          <a:bodyPr>
            <a:normAutofit/>
          </a:bodyPr>
          <a:p>
            <a:r>
              <a:rPr b="1"/>
              <a:t>Patients education -about OTC drugs</a:t>
            </a:r>
            <a:endParaRPr b="1"/>
          </a:p>
        </p:txBody>
      </p:sp>
      <p:sp>
        <p:nvSpPr>
          <p:cNvPr id="1048658" name="Content Placeholder 2"/>
          <p:cNvSpPr>
            <a:spLocks noGrp="1"/>
          </p:cNvSpPr>
          <p:nvPr>
            <p:ph idx="1"/>
          </p:nvPr>
        </p:nvSpPr>
        <p:spPr>
          <a:xfrm>
            <a:off x="838204" y="1825618"/>
            <a:ext cx="10515600" cy="4667254"/>
          </a:xfrm>
        </p:spPr>
        <p:txBody>
          <a:bodyPr>
            <a:normAutofit lnSpcReduction="10000"/>
          </a:bodyPr>
          <a:p>
            <a:r>
              <a:rPr sz="3600"/>
              <a:t>You need to give your attention to all the drugs the patient is  taking whether prescription or OTC.</a:t>
            </a:r>
            <a:endParaRPr sz="3600"/>
          </a:p>
          <a:p>
            <a:r>
              <a:rPr sz="3600"/>
              <a:t> Caution patient not to treat themselves with OTC drugs.</a:t>
            </a:r>
            <a:endParaRPr sz="3600"/>
          </a:p>
          <a:p>
            <a:r>
              <a:rPr sz="3600"/>
              <a:t>Inform them that most of the OTC medication contain more than one active ingredient.</a:t>
            </a:r>
            <a:endParaRPr sz="3600"/>
          </a:p>
          <a:p>
            <a:r>
              <a:rPr sz="3600"/>
              <a:t>Tell he patient that interactions can occur when takes more than one OTC medication at a time or takes one with a prescription drugs.</a:t>
            </a:r>
            <a:endParaRPr sz="36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688" name=""/>
        <p:cNvGrpSpPr/>
        <p:nvPr/>
      </p:nvGrpSpPr>
      <p:grpSpPr>
        <a:xfrm>
          <a:off x="0" y="0"/>
          <a:ext cx="0" cy="0"/>
          <a:chOff x="0" y="0"/>
          <a:chExt cx="0" cy="0"/>
        </a:xfrm>
      </p:grpSpPr>
      <p:sp>
        <p:nvSpPr>
          <p:cNvPr id="1048659" name="Title 1"/>
          <p:cNvSpPr>
            <a:spLocks noGrp="1"/>
          </p:cNvSpPr>
          <p:nvPr>
            <p:ph type="title"/>
          </p:nvPr>
        </p:nvSpPr>
        <p:spPr/>
        <p:txBody>
          <a:bodyPr>
            <a:normAutofit fontScale="95455"/>
          </a:bodyPr>
          <a:p>
            <a:r>
              <a:t> </a:t>
            </a:r>
            <a:r>
              <a:rPr b="1"/>
              <a:t>patients  education  about drugs –prescription drugs </a:t>
            </a:r>
            <a:endParaRPr b="1"/>
          </a:p>
        </p:txBody>
      </p:sp>
      <p:sp>
        <p:nvSpPr>
          <p:cNvPr id="1048660" name="Content Placeholder 2"/>
          <p:cNvSpPr>
            <a:spLocks noGrp="1"/>
          </p:cNvSpPr>
          <p:nvPr>
            <p:ph idx="1"/>
          </p:nvPr>
        </p:nvSpPr>
        <p:spPr>
          <a:xfrm>
            <a:off x="428625" y="1825618"/>
            <a:ext cx="11229975" cy="4351339"/>
          </a:xfrm>
        </p:spPr>
        <p:txBody>
          <a:bodyPr>
            <a:normAutofit/>
          </a:bodyPr>
          <a:p>
            <a:r>
              <a:rPr sz="4000"/>
              <a:t>Inform patient about special consideration  and drug safety precaution.</a:t>
            </a:r>
            <a:endParaRPr sz="4000"/>
          </a:p>
          <a:p>
            <a:r>
              <a:rPr sz="4000"/>
              <a:t>Encourage: complete medication list complete adverse reaction list.</a:t>
            </a:r>
            <a:endParaRPr sz="4000"/>
          </a:p>
          <a:p>
            <a:r>
              <a:rPr sz="4000"/>
              <a:t>Patients compliance.</a:t>
            </a:r>
            <a:endParaRPr sz="40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689" name=""/>
        <p:cNvGrpSpPr/>
        <p:nvPr/>
      </p:nvGrpSpPr>
      <p:grpSpPr>
        <a:xfrm>
          <a:off x="0" y="0"/>
          <a:ext cx="0" cy="0"/>
          <a:chOff x="0" y="0"/>
          <a:chExt cx="0" cy="0"/>
        </a:xfrm>
      </p:grpSpPr>
      <p:sp>
        <p:nvSpPr>
          <p:cNvPr id="1048661" name="Title 1"/>
          <p:cNvSpPr>
            <a:spLocks noGrp="1"/>
          </p:cNvSpPr>
          <p:nvPr>
            <p:ph type="title"/>
          </p:nvPr>
        </p:nvSpPr>
        <p:spPr/>
        <p:txBody>
          <a:bodyPr/>
          <a:p>
            <a:r>
              <a:t>Assignment </a:t>
            </a:r>
          </a:p>
        </p:txBody>
      </p:sp>
      <p:sp>
        <p:nvSpPr>
          <p:cNvPr id="1048662" name="Content Placeholder 2"/>
          <p:cNvSpPr>
            <a:spLocks noGrp="1"/>
          </p:cNvSpPr>
          <p:nvPr>
            <p:ph idx="1"/>
          </p:nvPr>
        </p:nvSpPr>
        <p:spPr/>
        <p:txBody>
          <a:bodyPr/>
          <a:p>
            <a:r>
              <a:rPr>
                <a:solidFill>
                  <a:srgbClr val="FF0000"/>
                </a:solidFill>
              </a:rPr>
              <a:t>Explain the mechanisms of </a:t>
            </a:r>
            <a:endParaRPr>
              <a:solidFill>
                <a:srgbClr val="FF0000"/>
              </a:solidFill>
            </a:endParaRPr>
          </a:p>
          <a:p>
            <a:pPr lvl="1"/>
            <a:r>
              <a:rPr>
                <a:solidFill>
                  <a:srgbClr val="FF0000"/>
                </a:solidFill>
              </a:rPr>
              <a:t>Drug tolerance</a:t>
            </a:r>
            <a:endParaRPr>
              <a:solidFill>
                <a:srgbClr val="FF0000"/>
              </a:solidFill>
            </a:endParaRPr>
          </a:p>
          <a:p>
            <a:pPr lvl="1"/>
            <a:r>
              <a:rPr>
                <a:solidFill>
                  <a:srgbClr val="FF0000"/>
                </a:solidFill>
              </a:rPr>
              <a:t>Drug resistance</a:t>
            </a:r>
            <a:endParaRPr>
              <a:solidFill>
                <a:srgbClr val="FF0000"/>
              </a:solidFill>
            </a:endParaRPr>
          </a:p>
          <a:p>
            <a:r>
              <a:rPr>
                <a:solidFill>
                  <a:srgbClr val="FF0000"/>
                </a:solidFill>
              </a:rPr>
              <a:t>Describe various methods of ‘Route of drug administration ‘ giving advantages and </a:t>
            </a:r>
            <a:r>
              <a:rPr>
                <a:solidFill>
                  <a:srgbClr val="FF0000"/>
                </a:solidFill>
              </a:rPr>
              <a:t>disadvatages</a:t>
            </a:r>
            <a:endParaRPr>
              <a:solidFill>
                <a:srgbClr val="FF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690" name=""/>
        <p:cNvGrpSpPr/>
        <p:nvPr/>
      </p:nvGrpSpPr>
      <p:grpSpPr>
        <a:xfrm>
          <a:off x="0" y="0"/>
          <a:ext cx="0" cy="0"/>
          <a:chOff x="0" y="0"/>
          <a:chExt cx="0" cy="0"/>
        </a:xfrm>
      </p:grpSpPr>
      <p:sp>
        <p:nvSpPr>
          <p:cNvPr id="1048663" name="Title 1"/>
          <p:cNvSpPr>
            <a:spLocks noGrp="1"/>
          </p:cNvSpPr>
          <p:nvPr>
            <p:ph type="title"/>
          </p:nvPr>
        </p:nvSpPr>
        <p:spPr/>
        <p:txBody>
          <a:bodyPr/>
          <a:p>
            <a:r>
              <a:t>Tolerance </a:t>
            </a:r>
          </a:p>
        </p:txBody>
      </p:sp>
      <p:sp>
        <p:nvSpPr>
          <p:cNvPr id="1048664" name="Content Placeholder 2"/>
          <p:cNvSpPr>
            <a:spLocks noGrp="1"/>
          </p:cNvSpPr>
          <p:nvPr>
            <p:ph idx="1"/>
          </p:nvPr>
        </p:nvSpPr>
        <p:spPr/>
        <p:txBody>
          <a:bodyPr>
            <a:normAutofit/>
          </a:bodyPr>
          <a:p>
            <a:r>
              <a:rPr sz="3600">
                <a:solidFill>
                  <a:srgbClr val="202124"/>
                </a:solidFill>
                <a:latin typeface="Google Sans"/>
              </a:rPr>
              <a:t>Tolerance leads to increasing doses of a drug being required to produce the same effect</a:t>
            </a:r>
            <a:endParaRPr sz="3600">
              <a:solidFill>
                <a:srgbClr val="202124"/>
              </a:solidFill>
              <a:latin typeface="Google Sans"/>
            </a:endParaRPr>
          </a:p>
          <a:p>
            <a:endParaRPr sz="3600">
              <a:solidFill>
                <a:srgbClr val="202124"/>
              </a:solidFill>
              <a:latin typeface="Google Sans"/>
            </a:endParaRPr>
          </a:p>
          <a:p>
            <a:r>
              <a:rPr b="1" sz="3600">
                <a:solidFill>
                  <a:srgbClr val="174F6D"/>
                </a:solidFill>
                <a:latin typeface="Times New Roman"/>
                <a:cs typeface="Times New Roman"/>
              </a:rPr>
              <a:t>Resistance is development of the ability to withstand the previously destructive effect of a drug by microorganisms or tumor cells.</a:t>
            </a:r>
            <a:endParaRPr sz="3600">
              <a:latin typeface="Times New Roman"/>
              <a:cs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691" name=""/>
        <p:cNvGrpSpPr/>
        <p:nvPr/>
      </p:nvGrpSpPr>
      <p:grpSpPr>
        <a:xfrm>
          <a:off x="0" y="0"/>
          <a:ext cx="0" cy="0"/>
          <a:chOff x="0" y="0"/>
          <a:chExt cx="0" cy="0"/>
        </a:xfrm>
      </p:grpSpPr>
      <p:sp>
        <p:nvSpPr>
          <p:cNvPr id="1048665" name="Title 1"/>
          <p:cNvSpPr>
            <a:spLocks noGrp="1"/>
          </p:cNvSpPr>
          <p:nvPr>
            <p:ph type="title"/>
          </p:nvPr>
        </p:nvSpPr>
        <p:spPr>
          <a:xfrm>
            <a:off x="1904995" y="152404"/>
            <a:ext cx="8229600" cy="639756"/>
          </a:xfrm>
        </p:spPr>
        <p:txBody>
          <a:bodyPr>
            <a:normAutofit fontScale="90000"/>
          </a:bodyPr>
          <a:p>
            <a:r>
              <a:t>Tolerance due to (mechanisms)</a:t>
            </a:r>
          </a:p>
        </p:txBody>
      </p:sp>
      <p:sp>
        <p:nvSpPr>
          <p:cNvPr id="1048666" name="Content Placeholder 2"/>
          <p:cNvSpPr>
            <a:spLocks noGrp="1"/>
          </p:cNvSpPr>
          <p:nvPr>
            <p:ph idx="1"/>
          </p:nvPr>
        </p:nvSpPr>
        <p:spPr>
          <a:xfrm>
            <a:off x="457200" y="792160"/>
            <a:ext cx="11363320" cy="6065839"/>
          </a:xfrm>
        </p:spPr>
        <p:txBody>
          <a:bodyPr>
            <a:normAutofit fontScale="35714" lnSpcReduction="20000"/>
          </a:bodyPr>
          <a:p>
            <a:pPr>
              <a:buFont typeface="Arial"/>
              <a:buChar char="•"/>
            </a:pPr>
            <a:r>
              <a:rPr sz="7200">
                <a:latin typeface="LinuxLibertine"/>
              </a:rPr>
              <a:t>Pharmacokinetic clearance: increased drug clearance induced by repeat doses</a:t>
            </a:r>
            <a:endParaRPr sz="7200">
              <a:latin typeface="LinuxLibertine"/>
            </a:endParaRPr>
          </a:p>
          <a:p>
            <a:pPr>
              <a:buFont typeface="Arial"/>
              <a:buChar char="•"/>
            </a:pPr>
            <a:r>
              <a:rPr b="1" sz="7200">
                <a:latin typeface="LinuxLibertine"/>
              </a:rPr>
              <a:t>Pharmacodynamic tolerance</a:t>
            </a:r>
            <a:r>
              <a:rPr sz="7200">
                <a:latin typeface="LinuxLibertine"/>
              </a:rPr>
              <a:t>: persistent exposure to the drug produces an adaptive homeostatic response. Changes in receptor number or function due to exposure to the drug. Examples include</a:t>
            </a:r>
            <a:endParaRPr sz="7200">
              <a:latin typeface="LinuxLibertine"/>
            </a:endParaRPr>
          </a:p>
          <a:p>
            <a:pPr lvl="1">
              <a:buFont typeface="Arial"/>
              <a:buChar char="•"/>
            </a:pPr>
            <a:r>
              <a:rPr b="1" sz="7200">
                <a:latin typeface="LinuxLibertine"/>
              </a:rPr>
              <a:t>Receptor downregulation </a:t>
            </a:r>
            <a:r>
              <a:rPr sz="7200">
                <a:latin typeface="LinuxLibertine"/>
              </a:rPr>
              <a:t> where receptors are inactivated or endocytosed and degraded in response to sustained stimulation.</a:t>
            </a:r>
            <a:endParaRPr sz="7200">
              <a:latin typeface="LinuxLibertine"/>
            </a:endParaRPr>
          </a:p>
          <a:p>
            <a:pPr lvl="1">
              <a:buFont typeface="Arial"/>
              <a:buChar char="•"/>
            </a:pPr>
            <a:r>
              <a:rPr b="1" sz="7200">
                <a:latin typeface="LinuxLibertine"/>
              </a:rPr>
              <a:t>Receptor deactivation; </a:t>
            </a:r>
            <a:r>
              <a:rPr sz="7200">
                <a:latin typeface="LinuxLibertine"/>
              </a:rPr>
              <a:t>where the receptor protein is phosphorylated in response to excess stimulus (</a:t>
            </a:r>
            <a:r>
              <a:rPr sz="7200">
                <a:latin typeface="LinuxLibertine"/>
              </a:rPr>
              <a:t>eg.</a:t>
            </a:r>
            <a:r>
              <a:rPr sz="7200">
                <a:latin typeface="LinuxLibertine"/>
              </a:rPr>
              <a:t> the </a:t>
            </a:r>
            <a:r>
              <a:rPr sz="7200">
                <a:latin typeface="LinuxLibertine"/>
              </a:rPr>
              <a:t>nicotonic</a:t>
            </a:r>
            <a:r>
              <a:rPr sz="7200">
                <a:latin typeface="LinuxLibertine"/>
              </a:rPr>
              <a:t> receptor and nicotine - </a:t>
            </a:r>
            <a:r>
              <a:rPr sz="7200">
                <a:solidFill>
                  <a:srgbClr val="0000FF"/>
                </a:solidFill>
                <a:latin typeface="LinuxLibertine"/>
                <a:hlinkClick r:id="rId1"/>
              </a:rPr>
              <a:t>Huganir</a:t>
            </a:r>
            <a:r>
              <a:rPr sz="7200">
                <a:latin typeface="LinuxLibertine"/>
                <a:hlinkClick r:id="rId1"/>
              </a:rPr>
              <a:t> et al, 1987</a:t>
            </a:r>
            <a:r>
              <a:rPr sz="7200">
                <a:latin typeface="LinuxLibertine"/>
              </a:rPr>
              <a:t>)</a:t>
            </a:r>
            <a:endParaRPr sz="7200">
              <a:latin typeface="LinuxLibertine"/>
            </a:endParaRPr>
          </a:p>
          <a:p>
            <a:pPr lvl="1">
              <a:buFont typeface="Arial"/>
              <a:buChar char="•"/>
            </a:pPr>
            <a:r>
              <a:rPr b="1" sz="7200">
                <a:latin typeface="LinuxLibertine"/>
              </a:rPr>
              <a:t>Receptor subunit modification, </a:t>
            </a:r>
            <a:r>
              <a:rPr sz="7200">
                <a:latin typeface="LinuxLibertine"/>
              </a:rPr>
              <a:t>where a modified receptor complex is selectively expressed, with diminished sensitivity for the drug but maintained sensitivity for the endogenous ligand (</a:t>
            </a:r>
            <a:r>
              <a:rPr sz="7200">
                <a:latin typeface="LinuxLibertine"/>
              </a:rPr>
              <a:t>eg.</a:t>
            </a:r>
            <a:r>
              <a:rPr sz="7200">
                <a:latin typeface="LinuxLibertine"/>
              </a:rPr>
              <a:t> the GABA-A receptor and benzodiazepines - </a:t>
            </a:r>
            <a:r>
              <a:rPr sz="7200">
                <a:latin typeface="LinuxLibertine"/>
                <a:hlinkClick r:id="rId2"/>
              </a:rPr>
              <a:t>Littleton, 2001</a:t>
            </a:r>
            <a:r>
              <a:rPr sz="7200">
                <a:latin typeface="LinuxLibertine"/>
              </a:rPr>
              <a:t>)</a:t>
            </a:r>
            <a:endParaRPr sz="7200">
              <a:latin typeface="LinuxLibertine"/>
            </a:endParaRPr>
          </a:p>
          <a:p>
            <a:pPr lvl="1">
              <a:buFont typeface="Arial"/>
              <a:buChar char="•"/>
            </a:pPr>
            <a:r>
              <a:rPr b="1" sz="7200">
                <a:latin typeface="LinuxLibertine"/>
              </a:rPr>
              <a:t>Receptor refractory period</a:t>
            </a:r>
            <a:r>
              <a:rPr sz="7200">
                <a:latin typeface="LinuxLibertine"/>
              </a:rPr>
              <a:t>, which is a transient period of tolerance after the last drug-receptor interaction (by stretching the imagination, one can make this look like a form of drug tolerance)</a:t>
            </a:r>
            <a:endParaRPr sz="7200">
              <a:latin typeface="LinuxLibertine"/>
            </a:endParaRPr>
          </a:p>
          <a:p>
            <a:pPr lvl="1">
              <a:buFont typeface="Arial"/>
              <a:buChar char="•"/>
            </a:pPr>
            <a:r>
              <a:rPr b="1" sz="7200">
                <a:latin typeface="LinuxLibertine"/>
              </a:rPr>
              <a:t>Second messenger changes</a:t>
            </a:r>
            <a:r>
              <a:rPr sz="7200">
                <a:latin typeface="LinuxLibertine"/>
              </a:rPr>
              <a:t> where the post-receptor second messenger system is deactivated, as with</a:t>
            </a:r>
            <a:r>
              <a:rPr b="1" sz="7200">
                <a:latin typeface="LinuxLibertine"/>
              </a:rPr>
              <a:t> </a:t>
            </a:r>
            <a:r>
              <a:rPr sz="7200">
                <a:latin typeface="LinuxLibertine"/>
              </a:rPr>
              <a:t>β-2 agonists (</a:t>
            </a:r>
            <a:r>
              <a:rPr sz="7200">
                <a:latin typeface="LinuxLibertine"/>
                <a:hlinkClick r:id="rId3"/>
              </a:rPr>
              <a:t>Haney et al, 2005</a:t>
            </a:r>
            <a:r>
              <a:rPr sz="7200">
                <a:latin typeface="LinuxLibertine"/>
              </a:rPr>
              <a:t>).</a:t>
            </a:r>
            <a:endParaRPr sz="7200">
              <a:latin typeface="LinuxLibertine"/>
            </a:endParaRPr>
          </a:p>
          <a:p>
            <a:pPr lvl="1">
              <a:buFont typeface="Arial"/>
              <a:buChar char="•"/>
            </a:pPr>
            <a:r>
              <a:rPr b="1" sz="7200">
                <a:latin typeface="LinuxLibertine"/>
              </a:rPr>
              <a:t>Drug target depletion</a:t>
            </a:r>
            <a:r>
              <a:rPr sz="7200">
                <a:latin typeface="LinuxLibertine"/>
              </a:rPr>
              <a:t> where some key molecule is used up in the course of drug action; subsequent drug doses will therefore have diminished activity until the key molecule is regenerated. A classical example is presynaptic noradrenaline depletion due to ephedrine therapy.</a:t>
            </a:r>
            <a:endParaRPr sz="7200">
              <a:latin typeface="LinuxLibertine"/>
            </a:endParaRPr>
          </a:p>
          <a:p>
            <a:pPr>
              <a:buFont typeface="Arial"/>
              <a:buChar char="•"/>
            </a:pPr>
            <a:endParaRPr sz="7200">
              <a:latin typeface="LinuxLibertine"/>
            </a:endParaRPr>
          </a:p>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692" name=""/>
        <p:cNvGrpSpPr/>
        <p:nvPr/>
      </p:nvGrpSpPr>
      <p:grpSpPr>
        <a:xfrm>
          <a:off x="0" y="0"/>
          <a:ext cx="0" cy="0"/>
          <a:chOff x="0" y="0"/>
          <a:chExt cx="0" cy="0"/>
        </a:xfrm>
      </p:grpSpPr>
      <p:sp>
        <p:nvSpPr>
          <p:cNvPr id="1048667" name="Title 1"/>
          <p:cNvSpPr>
            <a:spLocks noGrp="1"/>
          </p:cNvSpPr>
          <p:nvPr>
            <p:ph type="title"/>
          </p:nvPr>
        </p:nvSpPr>
        <p:spPr/>
        <p:txBody>
          <a:bodyPr/>
          <a:p>
            <a:r>
              <a:t>TOLERANCE CONT’</a:t>
            </a:r>
          </a:p>
        </p:txBody>
      </p:sp>
      <p:sp>
        <p:nvSpPr>
          <p:cNvPr id="1048668" name="Content Placeholder 2"/>
          <p:cNvSpPr>
            <a:spLocks noGrp="1"/>
          </p:cNvSpPr>
          <p:nvPr>
            <p:ph idx="1"/>
          </p:nvPr>
        </p:nvSpPr>
        <p:spPr/>
        <p:txBody>
          <a:bodyPr/>
          <a:p>
            <a:pPr>
              <a:buFont typeface="Arial"/>
              <a:buChar char="•"/>
            </a:pPr>
            <a:r>
              <a:rPr b="1" sz="3600">
                <a:latin typeface="LinuxLibertine"/>
              </a:rPr>
              <a:t>Physiological tolerance</a:t>
            </a:r>
            <a:r>
              <a:rPr sz="3600">
                <a:latin typeface="LinuxLibertine"/>
              </a:rPr>
              <a:t>: homeostatic adaptation of unrelated systems to compensate for drug effect</a:t>
            </a:r>
            <a:endParaRPr sz="3600">
              <a:latin typeface="LinuxLibertine"/>
            </a:endParaRPr>
          </a:p>
          <a:p>
            <a:pPr>
              <a:buFont typeface="Arial"/>
              <a:buChar char="•"/>
            </a:pPr>
            <a:endParaRPr sz="3600">
              <a:latin typeface="LinuxLibertine"/>
            </a:endParaRPr>
          </a:p>
          <a:p>
            <a:pPr>
              <a:buFont typeface="Arial"/>
              <a:buChar char="•"/>
            </a:pPr>
            <a:r>
              <a:rPr b="1" sz="3600">
                <a:latin typeface="LinuxLibertine"/>
              </a:rPr>
              <a:t>Behavioural</a:t>
            </a:r>
            <a:r>
              <a:rPr b="1" sz="3600">
                <a:latin typeface="LinuxLibertine"/>
              </a:rPr>
              <a:t> tolerance</a:t>
            </a:r>
            <a:r>
              <a:rPr sz="3600">
                <a:latin typeface="LinuxLibertine"/>
              </a:rPr>
              <a:t>: learned compensation for the effect of the drug which diminishes its effects.</a:t>
            </a:r>
            <a:endParaRPr sz="3600">
              <a:latin typeface="LinuxLibertine"/>
            </a:endParaRPr>
          </a:p>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693" name=""/>
        <p:cNvGrpSpPr/>
        <p:nvPr/>
      </p:nvGrpSpPr>
      <p:grpSpPr>
        <a:xfrm>
          <a:off x="0" y="0"/>
          <a:ext cx="0" cy="0"/>
          <a:chOff x="0" y="0"/>
          <a:chExt cx="0" cy="0"/>
        </a:xfrm>
      </p:grpSpPr>
      <p:sp>
        <p:nvSpPr>
          <p:cNvPr id="1048669" name="Title 1"/>
          <p:cNvSpPr>
            <a:spLocks noGrp="1"/>
          </p:cNvSpPr>
          <p:nvPr>
            <p:ph type="title"/>
          </p:nvPr>
        </p:nvSpPr>
        <p:spPr/>
        <p:txBody>
          <a:bodyPr/>
          <a:p>
            <a:r>
              <a:t>Mechanisms of resistance</a:t>
            </a:r>
          </a:p>
        </p:txBody>
      </p:sp>
      <p:sp>
        <p:nvSpPr>
          <p:cNvPr id="1048670" name="Content Placeholder 2"/>
          <p:cNvSpPr>
            <a:spLocks noGrp="1"/>
          </p:cNvSpPr>
          <p:nvPr>
            <p:ph idx="1"/>
          </p:nvPr>
        </p:nvSpPr>
        <p:spPr>
          <a:xfrm>
            <a:off x="514350" y="1417643"/>
            <a:ext cx="10591795" cy="5165726"/>
          </a:xfrm>
        </p:spPr>
        <p:txBody>
          <a:bodyPr>
            <a:normAutofit/>
          </a:bodyPr>
          <a:p>
            <a:r>
              <a:rPr sz="3200">
                <a:solidFill>
                  <a:srgbClr val="202124"/>
                </a:solidFill>
                <a:latin typeface="Google Sans"/>
              </a:rPr>
              <a:t>(1) </a:t>
            </a:r>
            <a:r>
              <a:rPr sz="3200">
                <a:solidFill>
                  <a:srgbClr val="040C28"/>
                </a:solidFill>
                <a:latin typeface="Google Sans"/>
              </a:rPr>
              <a:t>enzymatic degradation of antibacterial drugs, </a:t>
            </a:r>
            <a:r>
              <a:rPr sz="3200">
                <a:solidFill>
                  <a:srgbClr val="333333"/>
                </a:solidFill>
                <a:latin typeface="Source Serif Pro"/>
              </a:rPr>
              <a:t>modifications of the antimicrobial molecule</a:t>
            </a:r>
            <a:endParaRPr sz="3200">
              <a:solidFill>
                <a:srgbClr val="040C28"/>
              </a:solidFill>
              <a:latin typeface="Google Sans"/>
            </a:endParaRPr>
          </a:p>
          <a:p>
            <a:r>
              <a:rPr sz="3200">
                <a:solidFill>
                  <a:srgbClr val="040C28"/>
                </a:solidFill>
                <a:latin typeface="Google Sans"/>
              </a:rPr>
              <a:t>(2) alteration of bacterial proteins that are antimicrobial targets, </a:t>
            </a:r>
            <a:endParaRPr sz="3200">
              <a:solidFill>
                <a:srgbClr val="040C28"/>
              </a:solidFill>
              <a:latin typeface="Google Sans"/>
            </a:endParaRPr>
          </a:p>
          <a:p>
            <a:r>
              <a:rPr sz="3200">
                <a:solidFill>
                  <a:srgbClr val="040C28"/>
                </a:solidFill>
                <a:latin typeface="Google Sans"/>
              </a:rPr>
              <a:t>(3) changes in membrane permeability to antibiotics</a:t>
            </a:r>
            <a:r>
              <a:rPr sz="3200">
                <a:solidFill>
                  <a:srgbClr val="202124"/>
                </a:solidFill>
                <a:latin typeface="Google Sans"/>
              </a:rPr>
              <a:t>.</a:t>
            </a:r>
            <a:r>
              <a:rPr sz="3200">
                <a:solidFill>
                  <a:srgbClr val="333333"/>
                </a:solidFill>
                <a:latin typeface="Source Serif Pro"/>
              </a:rPr>
              <a:t> Prevention of the compound reaching the antibiotic target (by decreasing penetration or actively extruding the antimicrobial compound), </a:t>
            </a:r>
            <a:endParaRPr sz="3200">
              <a:solidFill>
                <a:srgbClr val="202124"/>
              </a:solidFill>
              <a:latin typeface="Google Sans"/>
            </a:endParaRPr>
          </a:p>
          <a:p>
            <a:r>
              <a:rPr sz="3200">
                <a:solidFill>
                  <a:srgbClr val="333333"/>
                </a:solidFill>
                <a:latin typeface="Source Serif Pro"/>
              </a:rPr>
              <a:t> changes to and/or bypassing of target sites</a:t>
            </a:r>
            <a:endParaRPr sz="32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694" name=""/>
        <p:cNvGrpSpPr/>
        <p:nvPr/>
      </p:nvGrpSpPr>
      <p:grpSpPr>
        <a:xfrm>
          <a:off x="0" y="0"/>
          <a:ext cx="0" cy="0"/>
          <a:chOff x="0" y="0"/>
          <a:chExt cx="0" cy="0"/>
        </a:xfrm>
      </p:grpSpPr>
      <p:sp>
        <p:nvSpPr>
          <p:cNvPr id="1048671" name="Title 1"/>
          <p:cNvSpPr>
            <a:spLocks noGrp="1"/>
          </p:cNvSpPr>
          <p:nvPr>
            <p:ph type="title"/>
          </p:nvPr>
        </p:nvSpPr>
        <p:spPr/>
        <p:txBody>
          <a:bodyPr>
            <a:normAutofit/>
          </a:bodyPr>
          <a:p>
            <a:r>
              <a:t>ROUTES OF DRUG ADMINISTRATION </a:t>
            </a:r>
          </a:p>
        </p:txBody>
      </p:sp>
      <p:sp>
        <p:nvSpPr>
          <p:cNvPr id="1048672" name="Content Placeholder 2"/>
          <p:cNvSpPr>
            <a:spLocks noGrp="1"/>
          </p:cNvSpPr>
          <p:nvPr>
            <p:ph idx="1"/>
          </p:nvPr>
        </p:nvSpPr>
        <p:spPr/>
        <p:txBody>
          <a:bodyPr>
            <a:normAutofit/>
          </a:bodyPr>
          <a:p>
            <a:r>
              <a:t>Drugs may be administered by various routes. The choice of the route in a given patient depends on the properties of the drug and the patients requirements.</a:t>
            </a:r>
          </a:p>
          <a:p>
            <a:r>
              <a:t>A knowledge of advantage and disadvantage of the routes of drug administration is essential.</a:t>
            </a:r>
          </a:p>
          <a:p>
            <a:r>
              <a:t>The route can be broadly divided into:</a:t>
            </a:r>
          </a:p>
          <a:p>
            <a:r>
              <a:rPr b="1"/>
              <a:t>Enteral</a:t>
            </a:r>
            <a:endParaRPr b="1"/>
          </a:p>
          <a:p>
            <a:r>
              <a:rPr b="1"/>
              <a:t>Parenteral</a:t>
            </a:r>
            <a:endParaRPr b="1"/>
          </a:p>
          <a:p>
            <a:r>
              <a:rPr b="1"/>
              <a:t>Local</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695" name=""/>
        <p:cNvGrpSpPr/>
        <p:nvPr/>
      </p:nvGrpSpPr>
      <p:grpSpPr>
        <a:xfrm>
          <a:off x="0" y="0"/>
          <a:ext cx="0" cy="0"/>
          <a:chOff x="0" y="0"/>
          <a:chExt cx="0" cy="0"/>
        </a:xfrm>
      </p:grpSpPr>
      <p:sp>
        <p:nvSpPr>
          <p:cNvPr id="1048673" name="Title 1"/>
          <p:cNvSpPr>
            <a:spLocks noGrp="1"/>
          </p:cNvSpPr>
          <p:nvPr>
            <p:ph type="title"/>
          </p:nvPr>
        </p:nvSpPr>
        <p:spPr/>
        <p:txBody>
          <a:bodyPr>
            <a:normAutofit/>
          </a:bodyPr>
          <a:p>
            <a:r>
              <a:t>ENTERAL ROUTE (ORAL INGESTION )</a:t>
            </a:r>
          </a:p>
        </p:txBody>
      </p:sp>
      <p:sp>
        <p:nvSpPr>
          <p:cNvPr id="1048674" name="Content Placeholder 2"/>
          <p:cNvSpPr>
            <a:spLocks noGrp="1"/>
          </p:cNvSpPr>
          <p:nvPr>
            <p:ph idx="1"/>
          </p:nvPr>
        </p:nvSpPr>
        <p:spPr>
          <a:xfrm>
            <a:off x="838204" y="1825618"/>
            <a:ext cx="10515600" cy="4899021"/>
          </a:xfrm>
        </p:spPr>
        <p:txBody>
          <a:bodyPr>
            <a:normAutofit/>
          </a:bodyPr>
          <a:p>
            <a:r>
              <a:rPr sz="3200"/>
              <a:t>This is the most common ,oldest and safest routes of drug administration. The large surface area of the GI ,the mixing of its content and the differences in pH at different parts of the gut help effective absorption of the drugs given orally.</a:t>
            </a:r>
            <a:endParaRPr sz="3200"/>
          </a:p>
          <a:p>
            <a:r>
              <a:rPr b="1" sz="3200"/>
              <a:t>ADVANTAGES:</a:t>
            </a:r>
            <a:endParaRPr b="1" sz="3200"/>
          </a:p>
          <a:p>
            <a:pPr lvl="1"/>
            <a:r>
              <a:rPr sz="2800"/>
              <a:t>Safest route</a:t>
            </a:r>
            <a:endParaRPr sz="2800"/>
          </a:p>
          <a:p>
            <a:pPr lvl="1"/>
            <a:r>
              <a:rPr sz="2800"/>
              <a:t>Most convenient</a:t>
            </a:r>
            <a:endParaRPr sz="2800"/>
          </a:p>
          <a:p>
            <a:pPr lvl="1"/>
            <a:r>
              <a:rPr sz="2800"/>
              <a:t>Most economical</a:t>
            </a:r>
            <a:endParaRPr sz="2800"/>
          </a:p>
          <a:p>
            <a:pPr lvl="1"/>
            <a:r>
              <a:rPr sz="2800"/>
              <a:t>Drugs can be self-administered</a:t>
            </a:r>
            <a:endParaRPr sz="2800"/>
          </a:p>
          <a:p>
            <a:pPr lvl="1"/>
            <a:r>
              <a:rPr sz="2800"/>
              <a:t>Non-invasive route</a:t>
            </a:r>
            <a:endParaRPr sz="28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696" name=""/>
        <p:cNvGrpSpPr/>
        <p:nvPr/>
      </p:nvGrpSpPr>
      <p:grpSpPr>
        <a:xfrm>
          <a:off x="0" y="0"/>
          <a:ext cx="0" cy="0"/>
          <a:chOff x="0" y="0"/>
          <a:chExt cx="0" cy="0"/>
        </a:xfrm>
      </p:grpSpPr>
      <p:sp>
        <p:nvSpPr>
          <p:cNvPr id="1048675" name="Title 1"/>
          <p:cNvSpPr>
            <a:spLocks noGrp="1"/>
          </p:cNvSpPr>
          <p:nvPr>
            <p:ph type="title"/>
          </p:nvPr>
        </p:nvSpPr>
        <p:spPr/>
        <p:txBody>
          <a:bodyPr/>
          <a:p>
            <a:r>
              <a:t>Oral route </a:t>
            </a:r>
            <a:r>
              <a:t>cont</a:t>
            </a:r>
            <a:r>
              <a:t>’</a:t>
            </a:r>
          </a:p>
        </p:txBody>
      </p:sp>
      <p:sp>
        <p:nvSpPr>
          <p:cNvPr id="1048676" name="Content Placeholder 2"/>
          <p:cNvSpPr>
            <a:spLocks noGrp="1"/>
          </p:cNvSpPr>
          <p:nvPr>
            <p:ph idx="1"/>
          </p:nvPr>
        </p:nvSpPr>
        <p:spPr>
          <a:xfrm>
            <a:off x="419095" y="1825618"/>
            <a:ext cx="11515725" cy="4841871"/>
          </a:xfrm>
        </p:spPr>
        <p:txBody>
          <a:bodyPr>
            <a:normAutofit fontScale="96429" lnSpcReduction="10000"/>
          </a:bodyPr>
          <a:p>
            <a:r>
              <a:rPr b="1" sz="3200"/>
              <a:t>DISADVANTAGES</a:t>
            </a:r>
            <a:endParaRPr b="1" sz="3200"/>
          </a:p>
          <a:p>
            <a:pPr lvl="1"/>
            <a:r>
              <a:rPr sz="2800"/>
              <a:t>Onset of action is slower as absorption needs time.</a:t>
            </a:r>
            <a:endParaRPr sz="2800"/>
          </a:p>
          <a:p>
            <a:pPr lvl="1"/>
            <a:r>
              <a:rPr sz="2800"/>
              <a:t>Irritant and unpalatable drugs cannot be administered.</a:t>
            </a:r>
            <a:endParaRPr sz="2800"/>
          </a:p>
          <a:p>
            <a:pPr lvl="1"/>
            <a:r>
              <a:rPr sz="2800"/>
              <a:t>Some drugs may not be absorbed due to certain physical characteristics, </a:t>
            </a:r>
            <a:r>
              <a:rPr sz="2800"/>
              <a:t>e.g</a:t>
            </a:r>
            <a:r>
              <a:rPr sz="2800"/>
              <a:t> streptomycin.</a:t>
            </a:r>
            <a:endParaRPr sz="2800"/>
          </a:p>
          <a:p>
            <a:pPr lvl="1"/>
            <a:r>
              <a:rPr sz="2800"/>
              <a:t>There may be irregularities in absorption.</a:t>
            </a:r>
            <a:endParaRPr sz="2800"/>
          </a:p>
          <a:p>
            <a:pPr lvl="1"/>
            <a:r>
              <a:rPr sz="2800"/>
              <a:t>Irritation to the GIT may lead to </a:t>
            </a:r>
            <a:r>
              <a:rPr sz="2800"/>
              <a:t>vomitting</a:t>
            </a:r>
            <a:r>
              <a:rPr sz="2800"/>
              <a:t> .</a:t>
            </a:r>
            <a:endParaRPr sz="2800"/>
          </a:p>
          <a:p>
            <a:pPr lvl="1"/>
            <a:r>
              <a:rPr sz="2800"/>
              <a:t>Some drugs may be destroyed by gastric </a:t>
            </a:r>
            <a:r>
              <a:rPr sz="2800"/>
              <a:t>juices.e.g</a:t>
            </a:r>
            <a:r>
              <a:rPr sz="2800"/>
              <a:t> insulin.</a:t>
            </a:r>
            <a:endParaRPr sz="2800"/>
          </a:p>
          <a:p>
            <a:pPr lvl="1"/>
            <a:r>
              <a:rPr sz="2800"/>
              <a:t>Cannot be given to unconscious and uncooperative patients.</a:t>
            </a:r>
            <a:endParaRPr sz="2800"/>
          </a:p>
          <a:p>
            <a:pPr lvl="1"/>
            <a:r>
              <a:rPr sz="2800"/>
              <a:t>Some drugs may undergo extensive first pass metabolism in liver.</a:t>
            </a:r>
            <a:endParaRPr sz="2800"/>
          </a:p>
          <a:p>
            <a:pPr lvl="1"/>
            <a:r>
              <a:rPr sz="2800"/>
              <a:t>Patients may forget to take the tablet which is the practical problem.</a:t>
            </a:r>
            <a:endParaRPr sz="28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697" name=""/>
        <p:cNvGrpSpPr/>
        <p:nvPr/>
      </p:nvGrpSpPr>
      <p:grpSpPr>
        <a:xfrm>
          <a:off x="0" y="0"/>
          <a:ext cx="0" cy="0"/>
          <a:chOff x="0" y="0"/>
          <a:chExt cx="0" cy="0"/>
        </a:xfrm>
      </p:grpSpPr>
      <p:sp>
        <p:nvSpPr>
          <p:cNvPr id="1048677" name="Title 1"/>
          <p:cNvSpPr>
            <a:spLocks noGrp="1"/>
          </p:cNvSpPr>
          <p:nvPr>
            <p:ph type="title"/>
          </p:nvPr>
        </p:nvSpPr>
        <p:spPr/>
        <p:txBody>
          <a:bodyPr>
            <a:noAutofit/>
          </a:bodyPr>
          <a:p>
            <a:r>
              <a:rPr sz="4000"/>
              <a:t>Oral </a:t>
            </a:r>
            <a:r>
              <a:rPr sz="4000"/>
              <a:t>cont</a:t>
            </a:r>
            <a:r>
              <a:rPr sz="4000"/>
              <a:t>’: ENTERIC COATED TABLET</a:t>
            </a:r>
            <a:endParaRPr sz="4000"/>
          </a:p>
        </p:txBody>
      </p:sp>
      <p:sp>
        <p:nvSpPr>
          <p:cNvPr id="1048678" name="Content Placeholder 2"/>
          <p:cNvSpPr>
            <a:spLocks noGrp="1"/>
          </p:cNvSpPr>
          <p:nvPr>
            <p:ph idx="1"/>
          </p:nvPr>
        </p:nvSpPr>
        <p:spPr>
          <a:xfrm>
            <a:off x="838204" y="1428750"/>
            <a:ext cx="10515600" cy="5064123"/>
          </a:xfrm>
        </p:spPr>
        <p:txBody>
          <a:bodyPr>
            <a:normAutofit/>
          </a:bodyPr>
          <a:p>
            <a:pPr lvl="1"/>
            <a:r>
              <a:rPr sz="3200"/>
              <a:t>Some tablets are coated with substances like cellulose acetate, phthalate, </a:t>
            </a:r>
            <a:r>
              <a:rPr sz="3200"/>
              <a:t>gluten,etc</a:t>
            </a:r>
            <a:r>
              <a:rPr sz="3200"/>
              <a:t>., which are not digested by the gastric acid but get disintegrated in the alkaline juices of the intestine.</a:t>
            </a:r>
            <a:endParaRPr sz="3200"/>
          </a:p>
          <a:p>
            <a:pPr lvl="1"/>
            <a:r>
              <a:rPr sz="3200"/>
              <a:t>This will</a:t>
            </a:r>
            <a:endParaRPr sz="3200"/>
          </a:p>
          <a:p>
            <a:pPr lvl="2"/>
            <a:r>
              <a:rPr sz="2800"/>
              <a:t>Prevent gastric irritation.</a:t>
            </a:r>
            <a:endParaRPr sz="2800"/>
          </a:p>
          <a:p>
            <a:pPr lvl="2"/>
            <a:r>
              <a:rPr sz="2800"/>
              <a:t>Avoid destruction of the drug by the stomach.</a:t>
            </a:r>
            <a:endParaRPr sz="2800"/>
          </a:p>
          <a:p>
            <a:pPr lvl="2"/>
            <a:r>
              <a:rPr sz="2800"/>
              <a:t>Provide higher concentration of the drug in the small intestine.</a:t>
            </a:r>
            <a:endParaRPr sz="2800"/>
          </a:p>
          <a:p>
            <a:pPr lvl="2"/>
            <a:r>
              <a:rPr sz="2800"/>
              <a:t>Slow the absorption ,and there by prolong the duration of action.</a:t>
            </a:r>
            <a:endParaRPr sz="28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698" name=""/>
        <p:cNvGrpSpPr/>
        <p:nvPr/>
      </p:nvGrpSpPr>
      <p:grpSpPr>
        <a:xfrm>
          <a:off x="0" y="0"/>
          <a:ext cx="0" cy="0"/>
          <a:chOff x="0" y="0"/>
          <a:chExt cx="0" cy="0"/>
        </a:xfrm>
      </p:grpSpPr>
      <p:sp>
        <p:nvSpPr>
          <p:cNvPr id="1048679" name="Title 1"/>
          <p:cNvSpPr>
            <a:spLocks noGrp="1"/>
          </p:cNvSpPr>
          <p:nvPr>
            <p:ph type="title"/>
          </p:nvPr>
        </p:nvSpPr>
        <p:spPr/>
        <p:txBody>
          <a:bodyPr>
            <a:normAutofit/>
          </a:bodyPr>
          <a:p>
            <a:r>
              <a:t>Oral </a:t>
            </a:r>
            <a:r>
              <a:t>cont</a:t>
            </a:r>
            <a:r>
              <a:t>’: ENTERIC COATED TABLET</a:t>
            </a:r>
          </a:p>
        </p:txBody>
      </p:sp>
      <p:sp>
        <p:nvSpPr>
          <p:cNvPr id="1048680" name="Content Placeholder 2"/>
          <p:cNvSpPr>
            <a:spLocks noGrp="1"/>
          </p:cNvSpPr>
          <p:nvPr>
            <p:ph idx="1"/>
          </p:nvPr>
        </p:nvSpPr>
        <p:spPr/>
        <p:txBody>
          <a:bodyPr>
            <a:normAutofit/>
          </a:bodyPr>
          <a:p>
            <a:r>
              <a:rPr b="1" sz="3600"/>
              <a:t>ADVANTAGES :</a:t>
            </a:r>
            <a:endParaRPr b="1" sz="3600"/>
          </a:p>
          <a:p>
            <a:pPr lvl="1"/>
            <a:r>
              <a:rPr sz="3200"/>
              <a:t>Frequency of administration may be reduced.</a:t>
            </a:r>
            <a:endParaRPr sz="3200"/>
          </a:p>
          <a:p>
            <a:pPr lvl="1"/>
            <a:r>
              <a:rPr sz="3200"/>
              <a:t>Therapeutic concentration may be maintained for along time specially when </a:t>
            </a:r>
            <a:r>
              <a:rPr sz="3200"/>
              <a:t>noctural</a:t>
            </a:r>
            <a:r>
              <a:rPr sz="3200"/>
              <a:t> symptoms are to be treated.</a:t>
            </a:r>
            <a:endParaRPr sz="3200"/>
          </a:p>
          <a:p>
            <a:r>
              <a:rPr b="1" sz="3600"/>
              <a:t>DISADVANTAGES :</a:t>
            </a:r>
            <a:endParaRPr b="1" sz="3600"/>
          </a:p>
          <a:p>
            <a:pPr lvl="1"/>
            <a:r>
              <a:rPr sz="3200"/>
              <a:t>It is more expensive.</a:t>
            </a:r>
            <a:endParaRPr sz="3200"/>
          </a:p>
          <a:p>
            <a:pPr lvl="1"/>
            <a:r>
              <a:rPr sz="3200"/>
              <a:t>There may be </a:t>
            </a:r>
            <a:r>
              <a:rPr sz="3200"/>
              <a:t>releaes</a:t>
            </a:r>
            <a:r>
              <a:rPr sz="3200"/>
              <a:t> of the entire amount of the drug in a short time leading to toxicity</a:t>
            </a:r>
            <a:endParaRPr sz="32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699" name=""/>
        <p:cNvGrpSpPr/>
        <p:nvPr/>
      </p:nvGrpSpPr>
      <p:grpSpPr>
        <a:xfrm>
          <a:off x="0" y="0"/>
          <a:ext cx="0" cy="0"/>
          <a:chOff x="0" y="0"/>
          <a:chExt cx="0" cy="0"/>
        </a:xfrm>
      </p:grpSpPr>
      <p:sp>
        <p:nvSpPr>
          <p:cNvPr id="1048681" name="Title 1"/>
          <p:cNvSpPr>
            <a:spLocks noGrp="1"/>
          </p:cNvSpPr>
          <p:nvPr>
            <p:ph type="title"/>
          </p:nvPr>
        </p:nvSpPr>
        <p:spPr/>
        <p:txBody>
          <a:bodyPr>
            <a:normAutofit/>
          </a:bodyPr>
          <a:p>
            <a:r>
              <a:t>PARENTERAL ROUTE</a:t>
            </a:r>
          </a:p>
        </p:txBody>
      </p:sp>
      <p:sp>
        <p:nvSpPr>
          <p:cNvPr id="1048682" name="Content Placeholder 2"/>
          <p:cNvSpPr>
            <a:spLocks noGrp="1"/>
          </p:cNvSpPr>
          <p:nvPr>
            <p:ph idx="1"/>
          </p:nvPr>
        </p:nvSpPr>
        <p:spPr>
          <a:xfrm>
            <a:off x="704845" y="1600200"/>
            <a:ext cx="10725154" cy="4876795"/>
          </a:xfrm>
        </p:spPr>
        <p:txBody>
          <a:bodyPr>
            <a:normAutofit lnSpcReduction="10000"/>
          </a:bodyPr>
          <a:p>
            <a:r>
              <a:t>Routes of administration other than the enteral route are known as parenteral routes.</a:t>
            </a:r>
          </a:p>
          <a:p>
            <a:r>
              <a:t>Here the drugs are directly delivered into tissue fluids or blood.</a:t>
            </a:r>
          </a:p>
          <a:p>
            <a:pPr indent="0" marL="0">
              <a:buNone/>
            </a:pPr>
            <a:r>
              <a:rPr b="1"/>
              <a:t>ADVANTAGES :</a:t>
            </a:r>
            <a:endParaRPr b="1"/>
          </a:p>
          <a:p>
            <a:pPr lvl="1"/>
            <a:r>
              <a:t>Action is more rapid and predictable than oral administration.</a:t>
            </a:r>
          </a:p>
          <a:p>
            <a:pPr lvl="1"/>
            <a:r>
              <a:t>These routes can be employed in unconscious or uncooperative patients.</a:t>
            </a:r>
          </a:p>
          <a:p>
            <a:pPr lvl="1"/>
            <a:r>
              <a:t>Gastric irritant can be given parenterally and therefore irritation to the GIT can be avoided.</a:t>
            </a:r>
          </a:p>
          <a:p>
            <a:pPr lvl="1"/>
            <a:r>
              <a:t>It can be used in patients with vomiting or those unable to swallow.</a:t>
            </a:r>
          </a:p>
          <a:p>
            <a:pPr lvl="1"/>
            <a:r>
              <a:t>In emergencies parenteral routes are very useful.</a:t>
            </a:r>
          </a:p>
          <a:p>
            <a:pPr lvl="1"/>
            <a:r>
              <a:t>Digestion by the gastric and intestinal juices and the first pass metabolism are avoided.</a:t>
            </a:r>
          </a:p>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700" name=""/>
        <p:cNvGrpSpPr/>
        <p:nvPr/>
      </p:nvGrpSpPr>
      <p:grpSpPr>
        <a:xfrm>
          <a:off x="0" y="0"/>
          <a:ext cx="0" cy="0"/>
          <a:chOff x="0" y="0"/>
          <a:chExt cx="0" cy="0"/>
        </a:xfrm>
      </p:grpSpPr>
      <p:sp>
        <p:nvSpPr>
          <p:cNvPr id="1048683" name="Title 1"/>
          <p:cNvSpPr>
            <a:spLocks noGrp="1"/>
          </p:cNvSpPr>
          <p:nvPr>
            <p:ph type="title"/>
          </p:nvPr>
        </p:nvSpPr>
        <p:spPr/>
        <p:txBody>
          <a:bodyPr/>
          <a:p>
            <a:r>
              <a:t>Parenteral </a:t>
            </a:r>
            <a:r>
              <a:t>cont</a:t>
            </a:r>
            <a:r>
              <a:t>’</a:t>
            </a:r>
          </a:p>
        </p:txBody>
      </p:sp>
      <p:sp>
        <p:nvSpPr>
          <p:cNvPr id="1048684" name="Content Placeholder 2"/>
          <p:cNvSpPr>
            <a:spLocks noGrp="1"/>
          </p:cNvSpPr>
          <p:nvPr>
            <p:ph idx="1"/>
          </p:nvPr>
        </p:nvSpPr>
        <p:spPr/>
        <p:txBody>
          <a:bodyPr>
            <a:normAutofit fontScale="87500" lnSpcReduction="10000"/>
          </a:bodyPr>
          <a:p>
            <a:r>
              <a:rPr b="1" sz="3200"/>
              <a:t>DISADVANTAGES :</a:t>
            </a:r>
            <a:endParaRPr b="1" sz="3200"/>
          </a:p>
          <a:p>
            <a:pPr lvl="1"/>
            <a:r>
              <a:rPr sz="2800"/>
              <a:t>Asepsis must be maintained.</a:t>
            </a:r>
            <a:endParaRPr sz="2800"/>
          </a:p>
          <a:p>
            <a:pPr lvl="1"/>
            <a:r>
              <a:rPr sz="2800"/>
              <a:t>Injection may be painful.</a:t>
            </a:r>
            <a:endParaRPr sz="2800"/>
          </a:p>
          <a:p>
            <a:pPr lvl="1"/>
            <a:r>
              <a:rPr sz="2800"/>
              <a:t>More expensive less safe and </a:t>
            </a:r>
            <a:r>
              <a:rPr sz="2800"/>
              <a:t>incovenient</a:t>
            </a:r>
            <a:r>
              <a:rPr sz="2800"/>
              <a:t>.</a:t>
            </a:r>
            <a:endParaRPr sz="2800"/>
          </a:p>
          <a:p>
            <a:pPr lvl="1"/>
            <a:r>
              <a:rPr sz="2800"/>
              <a:t>Injury to nerve and other tissues may occur</a:t>
            </a:r>
            <a:endParaRPr sz="2800"/>
          </a:p>
          <a:p>
            <a:r>
              <a:rPr sz="3200"/>
              <a:t>Parenteral route include:</a:t>
            </a:r>
            <a:endParaRPr sz="3200"/>
          </a:p>
          <a:p>
            <a:pPr lvl="1"/>
            <a:r>
              <a:rPr sz="2800"/>
              <a:t>Injections</a:t>
            </a:r>
            <a:endParaRPr sz="2800"/>
          </a:p>
          <a:p>
            <a:pPr lvl="1"/>
            <a:r>
              <a:rPr sz="2800"/>
              <a:t>Inhalation</a:t>
            </a:r>
            <a:endParaRPr sz="2800"/>
          </a:p>
          <a:p>
            <a:pPr lvl="1"/>
            <a:r>
              <a:rPr sz="2800"/>
              <a:t>Transdermal route</a:t>
            </a:r>
            <a:endParaRPr sz="2800"/>
          </a:p>
          <a:p>
            <a:pPr lvl="1"/>
            <a:r>
              <a:rPr sz="2800"/>
              <a:t>Transmucosal</a:t>
            </a:r>
            <a:r>
              <a:rPr sz="2800"/>
              <a:t> route</a:t>
            </a:r>
            <a:endParaRPr sz="2800"/>
          </a:p>
          <a:p>
            <a:pPr lvl="1"/>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701" name=""/>
        <p:cNvGrpSpPr/>
        <p:nvPr/>
      </p:nvGrpSpPr>
      <p:grpSpPr>
        <a:xfrm>
          <a:off x="0" y="0"/>
          <a:ext cx="0" cy="0"/>
          <a:chOff x="0" y="0"/>
          <a:chExt cx="0" cy="0"/>
        </a:xfrm>
      </p:grpSpPr>
      <p:sp>
        <p:nvSpPr>
          <p:cNvPr id="1048685" name="Title 1"/>
          <p:cNvSpPr>
            <a:spLocks noGrp="1"/>
          </p:cNvSpPr>
          <p:nvPr>
            <p:ph type="title"/>
          </p:nvPr>
        </p:nvSpPr>
        <p:spPr/>
        <p:txBody>
          <a:bodyPr>
            <a:normAutofit/>
          </a:bodyPr>
          <a:p>
            <a:r>
              <a:rPr b="1"/>
              <a:t>INJECTION</a:t>
            </a:r>
          </a:p>
        </p:txBody>
      </p:sp>
      <p:sp>
        <p:nvSpPr>
          <p:cNvPr id="1048686" name="Content Placeholder 2"/>
          <p:cNvSpPr>
            <a:spLocks noGrp="1"/>
          </p:cNvSpPr>
          <p:nvPr>
            <p:ph idx="1"/>
          </p:nvPr>
        </p:nvSpPr>
        <p:spPr>
          <a:xfrm>
            <a:off x="838204" y="1495429"/>
            <a:ext cx="10515600" cy="4997443"/>
          </a:xfrm>
        </p:spPr>
        <p:txBody>
          <a:bodyPr>
            <a:normAutofit/>
          </a:bodyPr>
          <a:p>
            <a:r>
              <a:rPr b="1" sz="4000"/>
              <a:t>Intradermal</a:t>
            </a:r>
            <a:endParaRPr b="1" sz="4000"/>
          </a:p>
          <a:p>
            <a:r>
              <a:rPr sz="4000"/>
              <a:t>The drug is injected into the layers of the skin by:</a:t>
            </a:r>
            <a:endParaRPr sz="4000"/>
          </a:p>
          <a:p>
            <a:pPr lvl="1"/>
            <a:r>
              <a:rPr sz="3600"/>
              <a:t>Raising a bleb ,</a:t>
            </a:r>
            <a:r>
              <a:rPr sz="3600"/>
              <a:t>e.g</a:t>
            </a:r>
            <a:r>
              <a:rPr sz="3600"/>
              <a:t> . BCG vaccine ,tests for allergy.</a:t>
            </a:r>
            <a:endParaRPr sz="3600"/>
          </a:p>
          <a:p>
            <a:pPr lvl="1"/>
            <a:r>
              <a:rPr sz="3600"/>
              <a:t>By multiple punctures of the epidermis through drop of the drug, e.g. Smallpox vaccine.</a:t>
            </a:r>
            <a:endParaRPr sz="3600"/>
          </a:p>
          <a:p>
            <a:pPr lvl="1"/>
            <a:endParaRPr sz="3600"/>
          </a:p>
          <a:p>
            <a:r>
              <a:rPr sz="4000"/>
              <a:t>Only a small quantity can be administered by this route and it may be painful</a:t>
            </a:r>
            <a:endParaRPr sz="40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702" name=""/>
        <p:cNvGrpSpPr/>
        <p:nvPr/>
      </p:nvGrpSpPr>
      <p:grpSpPr>
        <a:xfrm>
          <a:off x="0" y="0"/>
          <a:ext cx="0" cy="0"/>
          <a:chOff x="0" y="0"/>
          <a:chExt cx="0" cy="0"/>
        </a:xfrm>
      </p:grpSpPr>
      <p:sp>
        <p:nvSpPr>
          <p:cNvPr id="1048687" name="Title 1"/>
          <p:cNvSpPr>
            <a:spLocks noGrp="1"/>
          </p:cNvSpPr>
          <p:nvPr>
            <p:ph type="title"/>
          </p:nvPr>
        </p:nvSpPr>
        <p:spPr/>
        <p:txBody>
          <a:bodyPr>
            <a:normAutofit/>
          </a:bodyPr>
          <a:p>
            <a:r>
              <a:t>Injections: </a:t>
            </a:r>
            <a:r>
              <a:rPr b="1" sz="4000"/>
              <a:t>Subcutaneous (SC) injection</a:t>
            </a:r>
          </a:p>
        </p:txBody>
      </p:sp>
      <p:sp>
        <p:nvSpPr>
          <p:cNvPr id="1048688" name="Content Placeholder 2"/>
          <p:cNvSpPr>
            <a:spLocks noGrp="1"/>
          </p:cNvSpPr>
          <p:nvPr>
            <p:ph idx="1"/>
          </p:nvPr>
        </p:nvSpPr>
        <p:spPr>
          <a:xfrm>
            <a:off x="838204" y="1457325"/>
            <a:ext cx="10515600" cy="4719632"/>
          </a:xfrm>
        </p:spPr>
        <p:txBody>
          <a:bodyPr>
            <a:normAutofit lnSpcReduction="10000"/>
          </a:bodyPr>
          <a:p>
            <a:r>
              <a:rPr sz="3200"/>
              <a:t>Here the drug is deposited in the SC tissue ,</a:t>
            </a:r>
            <a:r>
              <a:rPr sz="3200"/>
              <a:t>e.g.insulin</a:t>
            </a:r>
            <a:r>
              <a:rPr sz="3200"/>
              <a:t>, heparin.</a:t>
            </a:r>
            <a:endParaRPr sz="3200"/>
          </a:p>
          <a:p>
            <a:r>
              <a:rPr sz="3200"/>
              <a:t>As this tissue is less vascular, absorption is slow and largely uniform and this make the drug long acting.</a:t>
            </a:r>
            <a:endParaRPr sz="3200"/>
          </a:p>
          <a:p>
            <a:r>
              <a:rPr b="1" sz="3200"/>
              <a:t>DISADVANTAGES :</a:t>
            </a:r>
            <a:endParaRPr b="1" sz="3200"/>
          </a:p>
          <a:p>
            <a:pPr lvl="1"/>
            <a:r>
              <a:rPr sz="2800"/>
              <a:t>As SC tissue is richly supplied by nerves ,irritant drugs cannot be injected.</a:t>
            </a:r>
            <a:endParaRPr sz="2800"/>
          </a:p>
          <a:p>
            <a:pPr lvl="1"/>
            <a:r>
              <a:rPr sz="2800"/>
              <a:t>In shock absorption is not dependable because of vasoconstriction.</a:t>
            </a:r>
            <a:endParaRPr sz="2800"/>
          </a:p>
          <a:p>
            <a:pPr lvl="1"/>
            <a:r>
              <a:rPr sz="2800"/>
              <a:t>Repeated administration at the same site can cause lipoatrophy resulting in erratic absorption.</a:t>
            </a:r>
            <a:endParaRPr sz="28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703" name=""/>
        <p:cNvGrpSpPr/>
        <p:nvPr/>
      </p:nvGrpSpPr>
      <p:grpSpPr>
        <a:xfrm>
          <a:off x="0" y="0"/>
          <a:ext cx="0" cy="0"/>
          <a:chOff x="0" y="0"/>
          <a:chExt cx="0" cy="0"/>
        </a:xfrm>
      </p:grpSpPr>
      <p:sp>
        <p:nvSpPr>
          <p:cNvPr id="1048689" name="Title 1"/>
          <p:cNvSpPr>
            <a:spLocks noGrp="1"/>
          </p:cNvSpPr>
          <p:nvPr>
            <p:ph type="title"/>
          </p:nvPr>
        </p:nvSpPr>
        <p:spPr/>
        <p:txBody>
          <a:bodyPr/>
          <a:p>
            <a:r>
              <a:rPr b="1"/>
              <a:t>Subcutaneous (SC) injection </a:t>
            </a:r>
            <a:r>
              <a:rPr b="1"/>
              <a:t>cont</a:t>
            </a:r>
            <a:r>
              <a:rPr b="1"/>
              <a:t>’</a:t>
            </a:r>
          </a:p>
        </p:txBody>
      </p:sp>
      <p:sp>
        <p:nvSpPr>
          <p:cNvPr id="1048690" name="Content Placeholder 2"/>
          <p:cNvSpPr>
            <a:spLocks noGrp="1"/>
          </p:cNvSpPr>
          <p:nvPr>
            <p:ph idx="1"/>
          </p:nvPr>
        </p:nvSpPr>
        <p:spPr>
          <a:xfrm>
            <a:off x="561970" y="1600200"/>
            <a:ext cx="10887075" cy="4876795"/>
          </a:xfrm>
        </p:spPr>
        <p:txBody>
          <a:bodyPr>
            <a:normAutofit/>
          </a:bodyPr>
          <a:p>
            <a:r>
              <a:t>Drugs can also be administered subcutaneously as :</a:t>
            </a:r>
          </a:p>
          <a:p>
            <a:r>
              <a:rPr b="1"/>
              <a:t>Dermojet</a:t>
            </a:r>
            <a:r>
              <a:rPr b="1"/>
              <a:t> :</a:t>
            </a:r>
            <a:endParaRPr b="1"/>
          </a:p>
          <a:p>
            <a:pPr lvl="1"/>
            <a:r>
              <a:t>In this method ,a high velocity jet of drug solution is projected from a fine orifice using a gun . The solution gets deposited in the SC tissue from where it is absorbed .</a:t>
            </a:r>
          </a:p>
          <a:p>
            <a:pPr lvl="1"/>
            <a:r>
              <a:t>As needle is not required ,this method is </a:t>
            </a:r>
            <a:r>
              <a:t>painless.It</a:t>
            </a:r>
            <a:r>
              <a:t> is suitable for vaccines.</a:t>
            </a:r>
          </a:p>
          <a:p>
            <a:r>
              <a:rPr b="1"/>
              <a:t>Pellet implantation :</a:t>
            </a:r>
            <a:endParaRPr b="1"/>
          </a:p>
          <a:p>
            <a:pPr lvl="1"/>
            <a:r>
              <a:t>Small pellets packed with drugs are implanted SC. The drug is slowly released for weeks or months to provide constant blood </a:t>
            </a:r>
            <a:r>
              <a:t>levels,e.g</a:t>
            </a:r>
            <a:r>
              <a:t> testosterone, </a:t>
            </a:r>
            <a:r>
              <a:t>desoxycortocosterone</a:t>
            </a:r>
            <a:r>
              <a:t> acetate.</a:t>
            </a:r>
          </a:p>
          <a:p>
            <a:r>
              <a:rPr b="1"/>
              <a:t>Sialistic</a:t>
            </a:r>
            <a:r>
              <a:rPr b="1"/>
              <a:t> implants :</a:t>
            </a:r>
            <a:endParaRPr b="1"/>
          </a:p>
          <a:p>
            <a:pPr lvl="1"/>
            <a:r>
              <a:t>The drug is packed in </a:t>
            </a:r>
            <a:r>
              <a:t>sialistic</a:t>
            </a:r>
            <a:r>
              <a:t> tubes and implanted SC .</a:t>
            </a:r>
          </a:p>
          <a:p>
            <a:pPr lvl="1"/>
            <a:r>
              <a:t>The drug gets absorbed over months to provide constant blood levels ,</a:t>
            </a:r>
            <a:r>
              <a:t>e.g</a:t>
            </a:r>
            <a:r>
              <a:t> .hormones and contraceptives. The empty </a:t>
            </a:r>
            <a:r>
              <a:t>nonbiodegradable</a:t>
            </a:r>
            <a:r>
              <a:t> implant has to be removed.</a:t>
            </a:r>
          </a:p>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704" name=""/>
        <p:cNvGrpSpPr/>
        <p:nvPr/>
      </p:nvGrpSpPr>
      <p:grpSpPr>
        <a:xfrm>
          <a:off x="0" y="0"/>
          <a:ext cx="0" cy="0"/>
          <a:chOff x="0" y="0"/>
          <a:chExt cx="0" cy="0"/>
        </a:xfrm>
      </p:grpSpPr>
      <p:sp>
        <p:nvSpPr>
          <p:cNvPr id="1048691" name="Title 1"/>
          <p:cNvSpPr>
            <a:spLocks noGrp="1"/>
          </p:cNvSpPr>
          <p:nvPr>
            <p:ph type="title"/>
          </p:nvPr>
        </p:nvSpPr>
        <p:spPr>
          <a:xfrm>
            <a:off x="1981204" y="274643"/>
            <a:ext cx="8229600" cy="792160"/>
          </a:xfrm>
        </p:spPr>
        <p:txBody>
          <a:bodyPr>
            <a:normAutofit/>
          </a:bodyPr>
          <a:p>
            <a:r>
              <a:rPr b="1"/>
              <a:t>INTRAMUSCULAR:</a:t>
            </a:r>
          </a:p>
        </p:txBody>
      </p:sp>
      <p:sp>
        <p:nvSpPr>
          <p:cNvPr id="1048692" name="Content Placeholder 2"/>
          <p:cNvSpPr>
            <a:spLocks noGrp="1"/>
          </p:cNvSpPr>
          <p:nvPr>
            <p:ph idx="1"/>
          </p:nvPr>
        </p:nvSpPr>
        <p:spPr>
          <a:xfrm>
            <a:off x="476245" y="1143000"/>
            <a:ext cx="10668004" cy="5333995"/>
          </a:xfrm>
        </p:spPr>
        <p:txBody>
          <a:bodyPr>
            <a:normAutofit fontScale="89286" lnSpcReduction="20000"/>
          </a:bodyPr>
          <a:p>
            <a:r>
              <a:t>Aqueous solution of the drug is injected into one of the large skeletal muscle –deltoid, triceps, gluteus or rectus </a:t>
            </a:r>
            <a:r>
              <a:t>femoris</a:t>
            </a:r>
            <a:r>
              <a:t> .</a:t>
            </a:r>
          </a:p>
          <a:p>
            <a:r>
              <a:t>Absorption into the plasma occurs by simple diffusion . </a:t>
            </a:r>
          </a:p>
          <a:p>
            <a:r>
              <a:t>Large molecules enter through the lymphatic channels .</a:t>
            </a:r>
          </a:p>
          <a:p>
            <a:r>
              <a:t>As the muscles are vascular ,absorption is rapid and quite uniform.</a:t>
            </a:r>
          </a:p>
          <a:p>
            <a:r>
              <a:t>Drugs are absorbed faster from the deltoid region than gluteal region especially in women .</a:t>
            </a:r>
          </a:p>
          <a:p>
            <a:r>
              <a:t>The volume of injection should not exceed 10ml .</a:t>
            </a:r>
          </a:p>
          <a:p>
            <a:r>
              <a:t>For infants rectus </a:t>
            </a:r>
            <a:r>
              <a:t>femoris</a:t>
            </a:r>
            <a:r>
              <a:t> is used instead of gluteus which is not well-developed till the child start walking .</a:t>
            </a:r>
          </a:p>
          <a:p>
            <a:r>
              <a:t>Oily solution or suspension ,the absorption is slow and steady . Smaller volume (1-2ml) deltoid muscle is used. if large volumes gluteal muscles should be used .</a:t>
            </a:r>
          </a:p>
          <a:p>
            <a:r>
              <a:t>Soluble substances ,</a:t>
            </a:r>
            <a:r>
              <a:t>Mild</a:t>
            </a:r>
            <a:r>
              <a:t> irritant ,</a:t>
            </a:r>
            <a:r>
              <a:t>depot</a:t>
            </a:r>
            <a:r>
              <a:t> </a:t>
            </a:r>
            <a:r>
              <a:t>preparations</a:t>
            </a:r>
            <a:r>
              <a:t> , </a:t>
            </a:r>
            <a:r>
              <a:t>suspensions and colloids can be injected by this route</a:t>
            </a:r>
          </a:p>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705" name=""/>
        <p:cNvGrpSpPr/>
        <p:nvPr/>
      </p:nvGrpSpPr>
      <p:grpSpPr>
        <a:xfrm>
          <a:off x="0" y="0"/>
          <a:ext cx="0" cy="0"/>
          <a:chOff x="0" y="0"/>
          <a:chExt cx="0" cy="0"/>
        </a:xfrm>
      </p:grpSpPr>
      <p:sp>
        <p:nvSpPr>
          <p:cNvPr id="1048693" name="Title 1"/>
          <p:cNvSpPr>
            <a:spLocks noGrp="1"/>
          </p:cNvSpPr>
          <p:nvPr>
            <p:ph type="title"/>
          </p:nvPr>
        </p:nvSpPr>
        <p:spPr/>
        <p:txBody>
          <a:bodyPr/>
          <a:p>
            <a:r>
              <a:t>IM </a:t>
            </a:r>
            <a:r>
              <a:t>cont</a:t>
            </a:r>
            <a:r>
              <a:t>’</a:t>
            </a:r>
          </a:p>
        </p:txBody>
      </p:sp>
      <p:sp>
        <p:nvSpPr>
          <p:cNvPr id="1048694" name="Content Placeholder 2"/>
          <p:cNvSpPr>
            <a:spLocks noGrp="1"/>
          </p:cNvSpPr>
          <p:nvPr>
            <p:ph idx="1"/>
          </p:nvPr>
        </p:nvSpPr>
        <p:spPr/>
        <p:txBody>
          <a:bodyPr>
            <a:normAutofit fontScale="90625" lnSpcReduction="10000"/>
          </a:bodyPr>
          <a:p>
            <a:r>
              <a:rPr b="1" sz="3600"/>
              <a:t>ADVANTAGES :</a:t>
            </a:r>
            <a:endParaRPr b="1" sz="3600"/>
          </a:p>
          <a:p>
            <a:pPr lvl="1"/>
            <a:r>
              <a:rPr sz="3200"/>
              <a:t>Intramuscular route is reliable.</a:t>
            </a:r>
            <a:endParaRPr sz="3200"/>
          </a:p>
          <a:p>
            <a:pPr lvl="1"/>
            <a:r>
              <a:rPr sz="3200"/>
              <a:t>Absorption is rapid.</a:t>
            </a:r>
            <a:endParaRPr sz="3200"/>
          </a:p>
          <a:p>
            <a:r>
              <a:rPr b="1" sz="3600"/>
              <a:t>DISADVANTAGES :</a:t>
            </a:r>
            <a:endParaRPr b="1" sz="3600"/>
          </a:p>
          <a:p>
            <a:pPr lvl="1"/>
            <a:r>
              <a:rPr sz="3200"/>
              <a:t>IM injection may be painful.</a:t>
            </a:r>
            <a:endParaRPr sz="3200"/>
          </a:p>
          <a:p>
            <a:pPr lvl="1"/>
            <a:r>
              <a:rPr sz="3200"/>
              <a:t>It may result in an </a:t>
            </a:r>
            <a:r>
              <a:rPr sz="3200"/>
              <a:t>abcess</a:t>
            </a:r>
            <a:r>
              <a:rPr sz="3200"/>
              <a:t>.</a:t>
            </a:r>
            <a:endParaRPr sz="3200"/>
          </a:p>
          <a:p>
            <a:pPr lvl="1"/>
            <a:r>
              <a:rPr sz="3200"/>
              <a:t>Risk of nerve injury –irritant solutions can damage the nerve if injected near the nerve.</a:t>
            </a:r>
            <a:endParaRPr sz="3200"/>
          </a:p>
          <a:p>
            <a:pPr lvl="1"/>
            <a:r>
              <a:rPr sz="3200"/>
              <a:t>The needle may also be puncture the blood vessel.</a:t>
            </a:r>
            <a:endParaRPr sz="32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706" name=""/>
        <p:cNvGrpSpPr/>
        <p:nvPr/>
      </p:nvGrpSpPr>
      <p:grpSpPr>
        <a:xfrm>
          <a:off x="0" y="0"/>
          <a:ext cx="0" cy="0"/>
          <a:chOff x="0" y="0"/>
          <a:chExt cx="0" cy="0"/>
        </a:xfrm>
      </p:grpSpPr>
      <p:sp>
        <p:nvSpPr>
          <p:cNvPr id="1048695" name="Title 1"/>
          <p:cNvSpPr>
            <a:spLocks noGrp="1"/>
          </p:cNvSpPr>
          <p:nvPr>
            <p:ph type="title"/>
          </p:nvPr>
        </p:nvSpPr>
        <p:spPr/>
        <p:txBody>
          <a:bodyPr>
            <a:normAutofit/>
          </a:bodyPr>
          <a:p>
            <a:r>
              <a:t>INTRAVENOUS (IV)</a:t>
            </a:r>
          </a:p>
        </p:txBody>
      </p:sp>
      <p:sp>
        <p:nvSpPr>
          <p:cNvPr id="1048696" name="Content Placeholder 2"/>
          <p:cNvSpPr>
            <a:spLocks noGrp="1"/>
          </p:cNvSpPr>
          <p:nvPr>
            <p:ph idx="1"/>
          </p:nvPr>
        </p:nvSpPr>
        <p:spPr>
          <a:xfrm>
            <a:off x="838204" y="1825618"/>
            <a:ext cx="10515600" cy="4899021"/>
          </a:xfrm>
        </p:spPr>
        <p:txBody>
          <a:bodyPr>
            <a:normAutofit/>
          </a:bodyPr>
          <a:p>
            <a:r>
              <a:rPr sz="3600"/>
              <a:t>Here ,the drug is injected into one of the superficial veins so that it directly reaches the circulation and is immediately available for action.</a:t>
            </a:r>
            <a:endParaRPr sz="3600"/>
          </a:p>
          <a:p>
            <a:r>
              <a:rPr sz="3600"/>
              <a:t>Drug can be given IV as :</a:t>
            </a:r>
            <a:endParaRPr sz="3600"/>
          </a:p>
          <a:p>
            <a:pPr lvl="1"/>
            <a:r>
              <a:rPr b="1" sz="3200"/>
              <a:t>A bolus: </a:t>
            </a:r>
            <a:r>
              <a:rPr sz="3200"/>
              <a:t>the drug is dissolved in a suitable amount of vehicle and injected slowly. An initial large dose is </a:t>
            </a:r>
            <a:r>
              <a:rPr sz="3200"/>
              <a:t>given,e.g</a:t>
            </a:r>
            <a:r>
              <a:rPr sz="3200"/>
              <a:t> .heparin.</a:t>
            </a:r>
            <a:endParaRPr sz="3200"/>
          </a:p>
          <a:p>
            <a:pPr lvl="1"/>
            <a:r>
              <a:rPr b="1" sz="3200"/>
              <a:t>Slowly : </a:t>
            </a:r>
            <a:r>
              <a:rPr sz="3200"/>
              <a:t>over 15-20 </a:t>
            </a:r>
            <a:r>
              <a:rPr sz="3200"/>
              <a:t>min,e.g.aminophylline</a:t>
            </a:r>
            <a:r>
              <a:rPr sz="3200"/>
              <a:t>.</a:t>
            </a:r>
            <a:endParaRPr sz="3200"/>
          </a:p>
          <a:p>
            <a:pPr lvl="1"/>
            <a:r>
              <a:rPr b="1" sz="3200"/>
              <a:t>Slow infusion: </a:t>
            </a:r>
            <a:r>
              <a:rPr sz="3200"/>
              <a:t>when constant plasma concentration are required ,</a:t>
            </a:r>
            <a:r>
              <a:rPr sz="3200"/>
              <a:t>e.g.oxytocin</a:t>
            </a:r>
            <a:r>
              <a:rPr sz="3200"/>
              <a:t> in labor or when large volumes have to be </a:t>
            </a:r>
            <a:r>
              <a:rPr sz="3200"/>
              <a:t>given,e.g.dextrose</a:t>
            </a:r>
            <a:r>
              <a:rPr sz="3200"/>
              <a:t>, saline.</a:t>
            </a:r>
            <a:endParaRPr sz="32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707" name=""/>
        <p:cNvGrpSpPr/>
        <p:nvPr/>
      </p:nvGrpSpPr>
      <p:grpSpPr>
        <a:xfrm>
          <a:off x="0" y="0"/>
          <a:ext cx="0" cy="0"/>
          <a:chOff x="0" y="0"/>
          <a:chExt cx="0" cy="0"/>
        </a:xfrm>
      </p:grpSpPr>
      <p:sp>
        <p:nvSpPr>
          <p:cNvPr id="1048697" name="Title 1"/>
          <p:cNvSpPr>
            <a:spLocks noGrp="1"/>
          </p:cNvSpPr>
          <p:nvPr>
            <p:ph type="title"/>
          </p:nvPr>
        </p:nvSpPr>
        <p:spPr/>
        <p:txBody>
          <a:bodyPr/>
          <a:p>
            <a:r>
              <a:t>IV CONT’</a:t>
            </a:r>
          </a:p>
        </p:txBody>
      </p:sp>
      <p:sp>
        <p:nvSpPr>
          <p:cNvPr id="1048698" name="Content Placeholder 2"/>
          <p:cNvSpPr>
            <a:spLocks noGrp="1"/>
          </p:cNvSpPr>
          <p:nvPr>
            <p:ph idx="1"/>
          </p:nvPr>
        </p:nvSpPr>
        <p:spPr>
          <a:xfrm>
            <a:off x="714375" y="1600200"/>
            <a:ext cx="10763245" cy="4800600"/>
          </a:xfrm>
        </p:spPr>
        <p:txBody>
          <a:bodyPr>
            <a:normAutofit/>
          </a:bodyPr>
          <a:p>
            <a:r>
              <a:rPr b="1"/>
              <a:t>ADVANTAGES :</a:t>
            </a:r>
            <a:endParaRPr b="1"/>
          </a:p>
          <a:p>
            <a:pPr lvl="1"/>
            <a:r>
              <a:t>IV route is useful in emergencies because the drug is immediately available for action.</a:t>
            </a:r>
          </a:p>
          <a:p>
            <a:pPr lvl="1"/>
            <a:r>
              <a:t>It gives 100% bioavailability.</a:t>
            </a:r>
          </a:p>
          <a:p>
            <a:pPr lvl="1"/>
            <a:r>
              <a:t>Large volume and irritants can be given, they quickly diluted in blood.</a:t>
            </a:r>
          </a:p>
          <a:p>
            <a:pPr lvl="1"/>
            <a:r>
              <a:t>Rapid dose adjustments are possible-if unwanted effects occur, infusion can be stopped.</a:t>
            </a:r>
          </a:p>
          <a:p>
            <a:r>
              <a:rPr b="1"/>
              <a:t>DISADVANTAGES :</a:t>
            </a:r>
            <a:endParaRPr b="1"/>
          </a:p>
          <a:p>
            <a:pPr lvl="1"/>
            <a:r>
              <a:t>Once injected ,the drug cannot be withdrawn.</a:t>
            </a:r>
          </a:p>
          <a:p>
            <a:pPr lvl="1"/>
            <a:r>
              <a:t>Irritation of the vein may cause thrombophlebitis.</a:t>
            </a:r>
          </a:p>
          <a:p>
            <a:pPr lvl="1"/>
            <a:r>
              <a:t>Self medication is difficult.</a:t>
            </a:r>
          </a:p>
          <a:p>
            <a:pPr lvl="1"/>
            <a:r>
              <a:t>The solution should be sterile and strict aseptic measures should be taken.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708" name=""/>
        <p:cNvGrpSpPr/>
        <p:nvPr/>
      </p:nvGrpSpPr>
      <p:grpSpPr>
        <a:xfrm>
          <a:off x="0" y="0"/>
          <a:ext cx="0" cy="0"/>
          <a:chOff x="0" y="0"/>
          <a:chExt cx="0" cy="0"/>
        </a:xfrm>
      </p:grpSpPr>
      <p:sp>
        <p:nvSpPr>
          <p:cNvPr id="1048699" name="Title 1"/>
          <p:cNvSpPr>
            <a:spLocks noGrp="1"/>
          </p:cNvSpPr>
          <p:nvPr>
            <p:ph type="title"/>
          </p:nvPr>
        </p:nvSpPr>
        <p:spPr/>
        <p:txBody>
          <a:bodyPr/>
          <a:p>
            <a:r>
              <a:t>Injections </a:t>
            </a:r>
            <a:r>
              <a:t>cont</a:t>
            </a:r>
            <a:r>
              <a:t>’</a:t>
            </a:r>
          </a:p>
        </p:txBody>
      </p:sp>
      <p:sp>
        <p:nvSpPr>
          <p:cNvPr id="1048700" name="Content Placeholder 2"/>
          <p:cNvSpPr>
            <a:spLocks noGrp="1"/>
          </p:cNvSpPr>
          <p:nvPr>
            <p:ph idx="1"/>
          </p:nvPr>
        </p:nvSpPr>
        <p:spPr>
          <a:xfrm>
            <a:off x="619120" y="1600200"/>
            <a:ext cx="10972800" cy="4876795"/>
          </a:xfrm>
        </p:spPr>
        <p:txBody>
          <a:bodyPr>
            <a:normAutofit lnSpcReduction="10000"/>
          </a:bodyPr>
          <a:p>
            <a:r>
              <a:rPr b="1"/>
              <a:t>Intraperitonial</a:t>
            </a:r>
            <a:r>
              <a:rPr b="1"/>
              <a:t> :</a:t>
            </a:r>
            <a:endParaRPr b="1"/>
          </a:p>
          <a:p>
            <a:pPr lvl="1"/>
            <a:r>
              <a:t>Peritonium</a:t>
            </a:r>
            <a:r>
              <a:t> offers a large surface area for absorption .</a:t>
            </a:r>
          </a:p>
          <a:p>
            <a:pPr lvl="1"/>
            <a:r>
              <a:t>This route is also used for </a:t>
            </a:r>
            <a:r>
              <a:t>peritonial</a:t>
            </a:r>
            <a:r>
              <a:t> dialysis</a:t>
            </a:r>
            <a:endParaRPr b="1"/>
          </a:p>
          <a:p>
            <a:r>
              <a:rPr b="1"/>
              <a:t>Intrathecal :</a:t>
            </a:r>
            <a:endParaRPr b="1"/>
          </a:p>
          <a:p>
            <a:pPr lvl="1"/>
            <a:r>
              <a:t>Drugs can be injected into the subarachnoid space for action on the </a:t>
            </a:r>
            <a:r>
              <a:t>CNS,e.g</a:t>
            </a:r>
            <a:r>
              <a:t> .spinal anesthetics.</a:t>
            </a:r>
          </a:p>
          <a:p>
            <a:pPr lvl="1"/>
            <a:r>
              <a:t>Some antibiotics and corticosteroids are also injected by this route to produce high local concentrations.</a:t>
            </a:r>
          </a:p>
          <a:p>
            <a:r>
              <a:rPr b="1"/>
              <a:t>Intra-articular:</a:t>
            </a:r>
            <a:endParaRPr b="1"/>
          </a:p>
          <a:p>
            <a:pPr lvl="1"/>
            <a:r>
              <a:t>Drugs are injected directly into a joint for the treatment of arthritis and other diseases of the joints.</a:t>
            </a:r>
          </a:p>
          <a:p>
            <a:pPr lvl="1"/>
            <a:r>
              <a:t>Strict aseptic precautions are </a:t>
            </a:r>
            <a:r>
              <a:t>required,e.g</a:t>
            </a:r>
            <a:r>
              <a:t> .hydrocortisone is injected into the affected </a:t>
            </a:r>
            <a:r>
              <a:t>joint,in</a:t>
            </a:r>
            <a:r>
              <a:t> rheumatoid arthritis.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709" name=""/>
        <p:cNvGrpSpPr/>
        <p:nvPr/>
      </p:nvGrpSpPr>
      <p:grpSpPr>
        <a:xfrm>
          <a:off x="0" y="0"/>
          <a:ext cx="0" cy="0"/>
          <a:chOff x="0" y="0"/>
          <a:chExt cx="0" cy="0"/>
        </a:xfrm>
      </p:grpSpPr>
      <p:sp>
        <p:nvSpPr>
          <p:cNvPr id="1048701" name="Title 1"/>
          <p:cNvSpPr>
            <a:spLocks noGrp="1"/>
          </p:cNvSpPr>
          <p:nvPr>
            <p:ph type="title"/>
          </p:nvPr>
        </p:nvSpPr>
        <p:spPr>
          <a:xfrm>
            <a:off x="1981204" y="274643"/>
            <a:ext cx="8229600" cy="1020760"/>
          </a:xfrm>
        </p:spPr>
        <p:txBody>
          <a:bodyPr>
            <a:normAutofit/>
          </a:bodyPr>
          <a:p>
            <a:r>
              <a:t>Administration of IV solutions</a:t>
            </a:r>
          </a:p>
        </p:txBody>
      </p:sp>
      <p:sp>
        <p:nvSpPr>
          <p:cNvPr id="1048702" name="Content Placeholder 2"/>
          <p:cNvSpPr>
            <a:spLocks noGrp="1"/>
          </p:cNvSpPr>
          <p:nvPr>
            <p:ph idx="1"/>
          </p:nvPr>
        </p:nvSpPr>
        <p:spPr/>
        <p:txBody>
          <a:bodyPr>
            <a:normAutofit fontScale="97222"/>
          </a:bodyPr>
          <a:p>
            <a:r>
              <a:rPr sz="3600"/>
              <a:t>Maintain strict asepsis.</a:t>
            </a:r>
            <a:endParaRPr sz="3600"/>
          </a:p>
          <a:p>
            <a:r>
              <a:rPr sz="3600"/>
              <a:t>Before starting infusion the IV line should be flushed with saline.</a:t>
            </a:r>
            <a:endParaRPr sz="3600"/>
          </a:p>
          <a:p>
            <a:r>
              <a:rPr sz="3600"/>
              <a:t>Watch for sign of extravasation of fluid and thrombophlebitis.</a:t>
            </a:r>
            <a:endParaRPr sz="3600"/>
          </a:p>
          <a:p>
            <a:r>
              <a:rPr sz="3600"/>
              <a:t>Make sure that there are no air bubbles in syringe and tubing.</a:t>
            </a:r>
            <a:endParaRPr sz="36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710" name=""/>
        <p:cNvGrpSpPr/>
        <p:nvPr/>
      </p:nvGrpSpPr>
      <p:grpSpPr>
        <a:xfrm>
          <a:off x="0" y="0"/>
          <a:ext cx="0" cy="0"/>
          <a:chOff x="0" y="0"/>
          <a:chExt cx="0" cy="0"/>
        </a:xfrm>
      </p:grpSpPr>
      <p:sp>
        <p:nvSpPr>
          <p:cNvPr id="1048703" name="Title 1"/>
          <p:cNvSpPr>
            <a:spLocks noGrp="1"/>
          </p:cNvSpPr>
          <p:nvPr>
            <p:ph type="title"/>
          </p:nvPr>
        </p:nvSpPr>
        <p:spPr/>
        <p:txBody>
          <a:bodyPr/>
          <a:p>
            <a:r>
              <a:t>Other injections</a:t>
            </a:r>
          </a:p>
        </p:txBody>
      </p:sp>
      <p:sp>
        <p:nvSpPr>
          <p:cNvPr id="1048704" name="Content Placeholder 2"/>
          <p:cNvSpPr>
            <a:spLocks noGrp="1"/>
          </p:cNvSpPr>
          <p:nvPr>
            <p:ph idx="1"/>
          </p:nvPr>
        </p:nvSpPr>
        <p:spPr/>
        <p:txBody>
          <a:bodyPr>
            <a:normAutofit fontScale="97222"/>
          </a:bodyPr>
          <a:p>
            <a:r>
              <a:rPr b="1" sz="4000"/>
              <a:t>Intra-arterial:</a:t>
            </a:r>
            <a:endParaRPr b="1" sz="4000"/>
          </a:p>
          <a:p>
            <a:pPr lvl="1"/>
            <a:r>
              <a:rPr sz="3600"/>
              <a:t>Here the drug is injected directly into the arteries.</a:t>
            </a:r>
            <a:endParaRPr sz="3600"/>
          </a:p>
          <a:p>
            <a:pPr lvl="1"/>
            <a:r>
              <a:rPr sz="3600"/>
              <a:t>It is used only in the treatment of peripheral vascular disease, local malignancies and angiograms.</a:t>
            </a:r>
            <a:endParaRPr sz="3600"/>
          </a:p>
          <a:p>
            <a:r>
              <a:rPr b="1" sz="4000"/>
              <a:t>Intramedullary:</a:t>
            </a:r>
            <a:endParaRPr b="1" sz="4000"/>
          </a:p>
          <a:p>
            <a:pPr lvl="1"/>
            <a:r>
              <a:rPr sz="3600"/>
              <a:t>This route involves injection into a bone marrow –now </a:t>
            </a:r>
            <a:endParaRPr sz="3600"/>
          </a:p>
          <a:p>
            <a:pPr lvl="1"/>
            <a:r>
              <a:rPr sz="3600"/>
              <a:t>This is rarely used.</a:t>
            </a:r>
            <a:endParaRPr sz="36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711" name=""/>
        <p:cNvGrpSpPr/>
        <p:nvPr/>
      </p:nvGrpSpPr>
      <p:grpSpPr>
        <a:xfrm>
          <a:off x="0" y="0"/>
          <a:ext cx="0" cy="0"/>
          <a:chOff x="0" y="0"/>
          <a:chExt cx="0" cy="0"/>
        </a:xfrm>
      </p:grpSpPr>
      <p:sp>
        <p:nvSpPr>
          <p:cNvPr id="1048705" name="Title 1"/>
          <p:cNvSpPr>
            <a:spLocks noGrp="1"/>
          </p:cNvSpPr>
          <p:nvPr>
            <p:ph type="title"/>
          </p:nvPr>
        </p:nvSpPr>
        <p:spPr/>
        <p:txBody>
          <a:bodyPr/>
          <a:p>
            <a:r>
              <a:t>Other parenteral routes </a:t>
            </a:r>
            <a:r>
              <a:t>cont</a:t>
            </a:r>
            <a:r>
              <a:t>’</a:t>
            </a:r>
          </a:p>
        </p:txBody>
      </p:sp>
      <p:sp>
        <p:nvSpPr>
          <p:cNvPr id="1048706" name="Content Placeholder 2"/>
          <p:cNvSpPr>
            <a:spLocks noGrp="1"/>
          </p:cNvSpPr>
          <p:nvPr>
            <p:ph idx="1"/>
          </p:nvPr>
        </p:nvSpPr>
        <p:spPr>
          <a:xfrm>
            <a:off x="638179" y="1447795"/>
            <a:ext cx="11068054" cy="5114925"/>
          </a:xfrm>
        </p:spPr>
        <p:txBody>
          <a:bodyPr>
            <a:normAutofit lnSpcReduction="10000"/>
          </a:bodyPr>
          <a:p>
            <a:r>
              <a:rPr b="1"/>
              <a:t>Inhalation :</a:t>
            </a:r>
            <a:endParaRPr b="1"/>
          </a:p>
          <a:p>
            <a:pPr lvl="1"/>
            <a:r>
              <a:t>Volatile liquids and gases are given by </a:t>
            </a:r>
            <a:r>
              <a:t>inhalation,e.g</a:t>
            </a:r>
            <a:r>
              <a:t> GA.</a:t>
            </a:r>
          </a:p>
          <a:p>
            <a:pPr lvl="1"/>
            <a:r>
              <a:t>Solution of drug particles and the fine droplets are inhaled as aerosol, </a:t>
            </a:r>
            <a:r>
              <a:t>e.g</a:t>
            </a:r>
            <a:r>
              <a:t> . Salbutamol.</a:t>
            </a:r>
          </a:p>
          <a:p>
            <a:pPr lvl="1"/>
            <a:r>
              <a:t>Inhaled drugs and </a:t>
            </a:r>
            <a:r>
              <a:t>vapour</a:t>
            </a:r>
            <a:r>
              <a:t> may act and absorbed on the pulmonary </a:t>
            </a:r>
            <a:r>
              <a:t>epithlium</a:t>
            </a:r>
            <a:r>
              <a:t> and mucous membranes of the respiratory tract.</a:t>
            </a:r>
          </a:p>
          <a:p>
            <a:r>
              <a:rPr b="1"/>
              <a:t>ADVANTAGES :</a:t>
            </a:r>
            <a:endParaRPr b="1"/>
          </a:p>
          <a:p>
            <a:pPr lvl="1"/>
            <a:r>
              <a:t>Almost </a:t>
            </a:r>
            <a:r>
              <a:t>instaneous</a:t>
            </a:r>
            <a:r>
              <a:t> absorption of the drug is achieved because large surface area of the lungs.</a:t>
            </a:r>
          </a:p>
          <a:p>
            <a:pPr lvl="1"/>
            <a:r>
              <a:t>Hepatic first pass </a:t>
            </a:r>
            <a:r>
              <a:t>metabolim</a:t>
            </a:r>
            <a:r>
              <a:t> is avoided.</a:t>
            </a:r>
          </a:p>
          <a:p>
            <a:pPr lvl="1"/>
            <a:r>
              <a:t>Absorption and excretion through lunges.</a:t>
            </a:r>
          </a:p>
          <a:p>
            <a:r>
              <a:rPr b="1"/>
              <a:t>DISADVANTAGES :</a:t>
            </a:r>
            <a:endParaRPr b="1"/>
          </a:p>
          <a:p>
            <a:pPr lvl="1"/>
            <a:r>
              <a:t>Irritant gases may enhance pulmonary secretions and should be avoided by this route.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712" name=""/>
        <p:cNvGrpSpPr/>
        <p:nvPr/>
      </p:nvGrpSpPr>
      <p:grpSpPr>
        <a:xfrm>
          <a:off x="0" y="0"/>
          <a:ext cx="0" cy="0"/>
          <a:chOff x="0" y="0"/>
          <a:chExt cx="0" cy="0"/>
        </a:xfrm>
      </p:grpSpPr>
      <p:sp>
        <p:nvSpPr>
          <p:cNvPr id="1048707" name="Title 1"/>
          <p:cNvSpPr>
            <a:spLocks noGrp="1"/>
          </p:cNvSpPr>
          <p:nvPr>
            <p:ph type="title"/>
          </p:nvPr>
        </p:nvSpPr>
        <p:spPr/>
        <p:txBody>
          <a:bodyPr>
            <a:normAutofit/>
          </a:bodyPr>
          <a:p>
            <a:r>
              <a:rPr b="1"/>
              <a:t>TRANSDERMAL ROUTE:</a:t>
            </a:r>
          </a:p>
        </p:txBody>
      </p:sp>
      <p:sp>
        <p:nvSpPr>
          <p:cNvPr id="1048708" name="Content Placeholder 2"/>
          <p:cNvSpPr>
            <a:spLocks noGrp="1"/>
          </p:cNvSpPr>
          <p:nvPr>
            <p:ph idx="1"/>
          </p:nvPr>
        </p:nvSpPr>
        <p:spPr>
          <a:xfrm>
            <a:off x="523879" y="1825618"/>
            <a:ext cx="10829925" cy="4746631"/>
          </a:xfrm>
        </p:spPr>
        <p:txBody>
          <a:bodyPr>
            <a:normAutofit/>
          </a:bodyPr>
          <a:p>
            <a:r>
              <a:t>Highly lipid soluble drugs can be applied over the skin for slow and prolonged absorption ,</a:t>
            </a:r>
            <a:r>
              <a:t>e.g</a:t>
            </a:r>
            <a:r>
              <a:t> nitroglycerin ointment in angina pectoris . </a:t>
            </a:r>
          </a:p>
          <a:p>
            <a:r>
              <a:rPr b="1">
                <a:solidFill>
                  <a:srgbClr val="FF0000"/>
                </a:solidFill>
              </a:rPr>
              <a:t>Adhesive units, inunction, iontophoresis and jet injection are some forms of transdermal drug delivery.</a:t>
            </a:r>
            <a:endParaRPr b="1">
              <a:solidFill>
                <a:srgbClr val="FF0000"/>
              </a:solidFill>
            </a:endParaRPr>
          </a:p>
          <a:p>
            <a:r>
              <a:rPr b="1"/>
              <a:t>Adhesive units :</a:t>
            </a:r>
            <a:endParaRPr b="1"/>
          </a:p>
          <a:p>
            <a:pPr lvl="1"/>
            <a:r>
              <a:t>Adhesive patches of different sizes and shapes made to suit the area of application . </a:t>
            </a:r>
          </a:p>
          <a:p>
            <a:pPr lvl="1"/>
            <a:r>
              <a:t>Site of the application are chest, abdomen , </a:t>
            </a:r>
            <a:r>
              <a:t>upperarm</a:t>
            </a:r>
            <a:r>
              <a:t> ,back or mastoid </a:t>
            </a:r>
            <a:r>
              <a:t>region,e.g</a:t>
            </a:r>
            <a:r>
              <a:t> </a:t>
            </a:r>
            <a:r>
              <a:t>hyosine</a:t>
            </a:r>
            <a:r>
              <a:t>, nitroglycerin </a:t>
            </a:r>
            <a:r>
              <a:t>fentanyl,estrogen,testosterone</a:t>
            </a:r>
            <a:r>
              <a:t> transdermal patches</a:t>
            </a:r>
          </a:p>
          <a:p>
            <a:r>
              <a:rPr b="1"/>
              <a:t>ADVANTAGES :</a:t>
            </a:r>
            <a:endParaRPr b="1"/>
          </a:p>
          <a:p>
            <a:pPr lvl="1"/>
            <a:r>
              <a:t>Duration of action is prolonged.</a:t>
            </a:r>
          </a:p>
          <a:p>
            <a:pPr lvl="1"/>
            <a:r>
              <a:t>Provide constant plasma levels.</a:t>
            </a:r>
          </a:p>
          <a:p>
            <a:pPr lvl="1"/>
            <a:r>
              <a:t>Patient compliance is good.</a:t>
            </a:r>
          </a:p>
          <a:p>
            <a:pPr lvl="1"/>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713" name=""/>
        <p:cNvGrpSpPr/>
        <p:nvPr/>
      </p:nvGrpSpPr>
      <p:grpSpPr>
        <a:xfrm>
          <a:off x="0" y="0"/>
          <a:ext cx="0" cy="0"/>
          <a:chOff x="0" y="0"/>
          <a:chExt cx="0" cy="0"/>
        </a:xfrm>
      </p:grpSpPr>
      <p:sp>
        <p:nvSpPr>
          <p:cNvPr id="1048709" name="Title 1"/>
          <p:cNvSpPr>
            <a:spLocks noGrp="1"/>
          </p:cNvSpPr>
          <p:nvPr>
            <p:ph type="title"/>
          </p:nvPr>
        </p:nvSpPr>
        <p:spPr/>
        <p:txBody>
          <a:bodyPr/>
          <a:p>
            <a:r>
              <a:t>Transdermal </a:t>
            </a:r>
            <a:r>
              <a:t>cont</a:t>
            </a:r>
            <a:r>
              <a:t>’</a:t>
            </a:r>
          </a:p>
        </p:txBody>
      </p:sp>
      <p:sp>
        <p:nvSpPr>
          <p:cNvPr id="1048710" name="Content Placeholder 2"/>
          <p:cNvSpPr>
            <a:spLocks noGrp="1"/>
          </p:cNvSpPr>
          <p:nvPr>
            <p:ph idx="1"/>
          </p:nvPr>
        </p:nvSpPr>
        <p:spPr>
          <a:xfrm>
            <a:off x="457200" y="1552579"/>
            <a:ext cx="10896604" cy="5010154"/>
          </a:xfrm>
        </p:spPr>
        <p:txBody>
          <a:bodyPr>
            <a:normAutofit fontScale="96429"/>
          </a:bodyPr>
          <a:p>
            <a:r>
              <a:rPr b="1" sz="3200"/>
              <a:t>Inunction :</a:t>
            </a:r>
            <a:endParaRPr b="1" sz="3200"/>
          </a:p>
          <a:p>
            <a:pPr lvl="1"/>
            <a:r>
              <a:rPr sz="2800"/>
              <a:t>In this route of administration the drug is rubbed in to the skin and it gets absorbed to produce systemic effects.</a:t>
            </a:r>
            <a:endParaRPr sz="2800"/>
          </a:p>
          <a:p>
            <a:r>
              <a:rPr b="1" sz="3200"/>
              <a:t>Iontophoresis :</a:t>
            </a:r>
            <a:endParaRPr b="1" sz="3200"/>
          </a:p>
          <a:p>
            <a:pPr lvl="1"/>
            <a:r>
              <a:rPr sz="2800"/>
              <a:t>In this procedure ,galvanic current is used for bringing about penetration of lipid insoluble drugs into the deeper tissues where its action is </a:t>
            </a:r>
            <a:r>
              <a:rPr sz="2800"/>
              <a:t>required,e.g</a:t>
            </a:r>
            <a:r>
              <a:rPr sz="2800"/>
              <a:t>  salicylates, fluoride</a:t>
            </a:r>
            <a:endParaRPr sz="2800"/>
          </a:p>
          <a:p>
            <a:pPr lvl="1"/>
            <a:r>
              <a:rPr sz="2800"/>
              <a:t>Iontophoresis is used in the treatment of dental hypersensitivity.</a:t>
            </a:r>
            <a:endParaRPr sz="2800"/>
          </a:p>
          <a:p>
            <a:r>
              <a:rPr b="1" sz="3200"/>
              <a:t>Jet injection :</a:t>
            </a:r>
            <a:endParaRPr b="1" sz="3200"/>
          </a:p>
          <a:p>
            <a:pPr lvl="1"/>
            <a:r>
              <a:rPr sz="2800"/>
              <a:t>As absorption of drug occurs across the layers of the skin</a:t>
            </a:r>
            <a:endParaRPr sz="28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714" name=""/>
        <p:cNvGrpSpPr/>
        <p:nvPr/>
      </p:nvGrpSpPr>
      <p:grpSpPr>
        <a:xfrm>
          <a:off x="0" y="0"/>
          <a:ext cx="0" cy="0"/>
          <a:chOff x="0" y="0"/>
          <a:chExt cx="0" cy="0"/>
        </a:xfrm>
      </p:grpSpPr>
      <p:sp>
        <p:nvSpPr>
          <p:cNvPr id="1048711" name="Title 1"/>
          <p:cNvSpPr>
            <a:spLocks noGrp="1"/>
          </p:cNvSpPr>
          <p:nvPr>
            <p:ph type="title"/>
          </p:nvPr>
        </p:nvSpPr>
        <p:spPr/>
        <p:txBody>
          <a:bodyPr>
            <a:normAutofit/>
          </a:bodyPr>
          <a:p>
            <a:r>
              <a:rPr b="1"/>
              <a:t>TRANSMUCOSAL:</a:t>
            </a:r>
          </a:p>
        </p:txBody>
      </p:sp>
      <p:sp>
        <p:nvSpPr>
          <p:cNvPr id="1048712" name="Content Placeholder 2"/>
          <p:cNvSpPr>
            <a:spLocks noGrp="1"/>
          </p:cNvSpPr>
          <p:nvPr>
            <p:ph idx="1"/>
          </p:nvPr>
        </p:nvSpPr>
        <p:spPr>
          <a:xfrm>
            <a:off x="381004" y="1600200"/>
            <a:ext cx="11315700" cy="5029200"/>
          </a:xfrm>
        </p:spPr>
        <p:txBody>
          <a:bodyPr>
            <a:normAutofit fontScale="87500" lnSpcReduction="20000"/>
          </a:bodyPr>
          <a:p>
            <a:r>
              <a:t>Druga are absorbed across the mucous membranes. </a:t>
            </a:r>
          </a:p>
          <a:p>
            <a:pPr lvl="1"/>
            <a:r>
              <a:t>It includes </a:t>
            </a:r>
            <a:r>
              <a:t>sublingual,nasal</a:t>
            </a:r>
            <a:r>
              <a:t> and rectal routes.</a:t>
            </a:r>
          </a:p>
          <a:p>
            <a:pPr indent="0" marL="0">
              <a:buNone/>
            </a:pPr>
            <a:r>
              <a:rPr b="1"/>
              <a:t>Sublingual :</a:t>
            </a:r>
            <a:endParaRPr b="1"/>
          </a:p>
          <a:p>
            <a:pPr lvl="1"/>
            <a:r>
              <a:t>Here, the tablet or pellet containing the drug is placed under the tongue.</a:t>
            </a:r>
          </a:p>
          <a:p>
            <a:pPr lvl="1"/>
            <a:r>
              <a:t>It dissolved and the drug is absorbed across the sublingual </a:t>
            </a:r>
            <a:r>
              <a:t>mucosa,e.g</a:t>
            </a:r>
            <a:r>
              <a:t>. Nitroglycerin, </a:t>
            </a:r>
            <a:r>
              <a:t>nifedipine,buprenorphine</a:t>
            </a:r>
            <a:r>
              <a:t>.</a:t>
            </a:r>
          </a:p>
          <a:p>
            <a:r>
              <a:rPr b="1"/>
              <a:t>ADVANTAGES :</a:t>
            </a:r>
            <a:endParaRPr b="1"/>
          </a:p>
          <a:p>
            <a:pPr lvl="1"/>
            <a:r>
              <a:t>Absorption is rapid –within minutes the drug reaches the circulation.</a:t>
            </a:r>
          </a:p>
          <a:p>
            <a:pPr lvl="1"/>
            <a:r>
              <a:t>First pass metabolism is avoided.</a:t>
            </a:r>
          </a:p>
          <a:p>
            <a:pPr lvl="1"/>
            <a:r>
              <a:t>After the desired effect is obtained ,the drug can be spat out to avoid the unwanted effects.</a:t>
            </a:r>
          </a:p>
          <a:p>
            <a:r>
              <a:rPr b="1"/>
              <a:t>DISADVANTAGES :</a:t>
            </a:r>
            <a:endParaRPr b="1"/>
          </a:p>
          <a:p>
            <a:pPr lvl="1"/>
            <a:r>
              <a:t>Buccal ulceration can occur</a:t>
            </a:r>
          </a:p>
          <a:p>
            <a:pPr indent="0" marL="0">
              <a:buNone/>
            </a:pPr>
            <a:r>
              <a:rPr b="1"/>
              <a:t>Nasal :</a:t>
            </a:r>
            <a:endParaRPr b="1"/>
          </a:p>
          <a:p>
            <a:r>
              <a:t>Drugs can be administered through nasal route .e.g. Oxytocin spray ,oxymetazoline, budesonide for allergic rhinitis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715" name=""/>
        <p:cNvGrpSpPr/>
        <p:nvPr/>
      </p:nvGrpSpPr>
      <p:grpSpPr>
        <a:xfrm>
          <a:off x="0" y="0"/>
          <a:ext cx="0" cy="0"/>
          <a:chOff x="0" y="0"/>
          <a:chExt cx="0" cy="0"/>
        </a:xfrm>
      </p:grpSpPr>
      <p:sp>
        <p:nvSpPr>
          <p:cNvPr id="1048713" name="Title 1"/>
          <p:cNvSpPr>
            <a:spLocks noGrp="1"/>
          </p:cNvSpPr>
          <p:nvPr>
            <p:ph type="title"/>
          </p:nvPr>
        </p:nvSpPr>
        <p:spPr>
          <a:xfrm>
            <a:off x="1981204" y="274643"/>
            <a:ext cx="8229600" cy="944565"/>
          </a:xfrm>
        </p:spPr>
        <p:txBody>
          <a:bodyPr/>
          <a:p>
            <a:r>
              <a:t>TransMUCOSAL</a:t>
            </a:r>
            <a:r>
              <a:t> </a:t>
            </a:r>
            <a:r>
              <a:t>cont</a:t>
            </a:r>
            <a:r>
              <a:t>’</a:t>
            </a:r>
          </a:p>
        </p:txBody>
      </p:sp>
      <p:sp>
        <p:nvSpPr>
          <p:cNvPr id="1048714" name="Content Placeholder 2"/>
          <p:cNvSpPr>
            <a:spLocks noGrp="1"/>
          </p:cNvSpPr>
          <p:nvPr>
            <p:ph idx="1"/>
          </p:nvPr>
        </p:nvSpPr>
        <p:spPr>
          <a:xfrm>
            <a:off x="381004" y="1371600"/>
            <a:ext cx="11115675" cy="5211756"/>
          </a:xfrm>
        </p:spPr>
        <p:txBody>
          <a:bodyPr>
            <a:normAutofit lnSpcReduction="10000"/>
          </a:bodyPr>
          <a:p>
            <a:r>
              <a:rPr b="1"/>
              <a:t>Rectal :</a:t>
            </a:r>
            <a:endParaRPr b="1"/>
          </a:p>
          <a:p>
            <a:pPr lvl="1"/>
            <a:r>
              <a:t>Rectum has a rich blood supply and drugs can cross the rectal mucosa to be absorbed for systemic effect</a:t>
            </a:r>
          </a:p>
          <a:p>
            <a:pPr lvl="1"/>
            <a:r>
              <a:t>Drugs absorbed from the upper part of the rectum are carried by the superior </a:t>
            </a:r>
            <a:r>
              <a:t>hemorrhoidal</a:t>
            </a:r>
            <a:r>
              <a:t> vein to the portal </a:t>
            </a:r>
            <a:r>
              <a:t>circulation.e.g</a:t>
            </a:r>
            <a:r>
              <a:t> indomethacin, </a:t>
            </a:r>
            <a:r>
              <a:t>chlorpromacine</a:t>
            </a:r>
            <a:r>
              <a:t>, diazepam can be given rectally.</a:t>
            </a:r>
          </a:p>
          <a:p>
            <a:r>
              <a:rPr b="1"/>
              <a:t>ADVANTAGES :</a:t>
            </a:r>
            <a:endParaRPr b="1"/>
          </a:p>
          <a:p>
            <a:pPr lvl="1"/>
            <a:r>
              <a:t>Gastric irritation is avoided.</a:t>
            </a:r>
          </a:p>
          <a:p>
            <a:pPr lvl="1"/>
            <a:r>
              <a:t>Can be administered by unskilled persons.</a:t>
            </a:r>
          </a:p>
          <a:p>
            <a:pPr lvl="1"/>
            <a:r>
              <a:t>Useful in geriatric patient and others with vomiting and those unable to swallow.</a:t>
            </a:r>
          </a:p>
          <a:p>
            <a:r>
              <a:rPr b="1"/>
              <a:t>DISADVANTAGES :</a:t>
            </a:r>
            <a:endParaRPr b="1"/>
          </a:p>
          <a:p>
            <a:pPr lvl="1"/>
            <a:r>
              <a:t>Irritation of the rectum can occur.</a:t>
            </a:r>
          </a:p>
          <a:p>
            <a:pPr lvl="1"/>
            <a:r>
              <a:t>Absorption may be irregular and unpredictable.(enema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716" name=""/>
        <p:cNvGrpSpPr/>
        <p:nvPr/>
      </p:nvGrpSpPr>
      <p:grpSpPr>
        <a:xfrm>
          <a:off x="0" y="0"/>
          <a:ext cx="0" cy="0"/>
          <a:chOff x="0" y="0"/>
          <a:chExt cx="0" cy="0"/>
        </a:xfrm>
      </p:grpSpPr>
      <p:sp>
        <p:nvSpPr>
          <p:cNvPr id="1048715" name="Title 1"/>
          <p:cNvSpPr>
            <a:spLocks noGrp="1"/>
          </p:cNvSpPr>
          <p:nvPr>
            <p:ph type="title"/>
          </p:nvPr>
        </p:nvSpPr>
        <p:spPr/>
        <p:txBody>
          <a:bodyPr/>
          <a:p>
            <a:r>
              <a:t>Trans mucosal </a:t>
            </a:r>
            <a:r>
              <a:t>cont</a:t>
            </a:r>
            <a:r>
              <a:t>;</a:t>
            </a:r>
          </a:p>
        </p:txBody>
      </p:sp>
      <p:sp>
        <p:nvSpPr>
          <p:cNvPr id="1048716" name="Content Placeholder 2"/>
          <p:cNvSpPr>
            <a:spLocks noGrp="1"/>
          </p:cNvSpPr>
          <p:nvPr>
            <p:ph idx="1"/>
          </p:nvPr>
        </p:nvSpPr>
        <p:spPr>
          <a:xfrm>
            <a:off x="247645" y="1825618"/>
            <a:ext cx="11477620" cy="4775206"/>
          </a:xfrm>
        </p:spPr>
        <p:txBody>
          <a:bodyPr>
            <a:normAutofit fontScale="96875" lnSpcReduction="10000"/>
          </a:bodyPr>
          <a:p>
            <a:r>
              <a:rPr b="1" sz="3600"/>
              <a:t>Enema</a:t>
            </a:r>
            <a:r>
              <a:rPr sz="3600"/>
              <a:t> is the administration of a drug in liquid form into the rectum. </a:t>
            </a:r>
            <a:endParaRPr sz="3600"/>
          </a:p>
          <a:p>
            <a:r>
              <a:rPr sz="3600"/>
              <a:t>Enema may be </a:t>
            </a:r>
            <a:r>
              <a:rPr sz="3600"/>
              <a:t>evacuant</a:t>
            </a:r>
            <a:r>
              <a:rPr sz="3600"/>
              <a:t> or </a:t>
            </a:r>
            <a:r>
              <a:rPr sz="3600"/>
              <a:t>retension</a:t>
            </a:r>
            <a:r>
              <a:rPr sz="3600"/>
              <a:t> enema.</a:t>
            </a:r>
            <a:endParaRPr sz="3600"/>
          </a:p>
          <a:p>
            <a:pPr lvl="1"/>
            <a:r>
              <a:rPr b="1" sz="3200"/>
              <a:t>Evacuant</a:t>
            </a:r>
            <a:r>
              <a:rPr b="1" sz="3200"/>
              <a:t> enema: </a:t>
            </a:r>
            <a:r>
              <a:rPr sz="3200"/>
              <a:t>In order to empty the bowel, about 600ml of soap water is administered per rectum.it is given prior to surgeries ,obstetric procedures and radiological examination of gut.</a:t>
            </a:r>
            <a:endParaRPr sz="3200"/>
          </a:p>
          <a:p>
            <a:pPr lvl="1"/>
            <a:r>
              <a:rPr b="1" sz="3200"/>
              <a:t>Retention enema: </a:t>
            </a:r>
            <a:r>
              <a:rPr sz="3200"/>
              <a:t>The drug is administered with about 100ml of fluids and is retained in the rectum for local </a:t>
            </a:r>
            <a:r>
              <a:rPr sz="3200"/>
              <a:t>action.e.g</a:t>
            </a:r>
            <a:r>
              <a:rPr sz="3200"/>
              <a:t> prednisolone enema in ulcerative colitis.</a:t>
            </a:r>
            <a:endParaRPr sz="32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717" name=""/>
        <p:cNvGrpSpPr/>
        <p:nvPr/>
      </p:nvGrpSpPr>
      <p:grpSpPr>
        <a:xfrm>
          <a:off x="0" y="0"/>
          <a:ext cx="0" cy="0"/>
          <a:chOff x="0" y="0"/>
          <a:chExt cx="0" cy="0"/>
        </a:xfrm>
      </p:grpSpPr>
      <p:sp>
        <p:nvSpPr>
          <p:cNvPr id="1048717" name="Title 1"/>
          <p:cNvSpPr>
            <a:spLocks noGrp="1"/>
          </p:cNvSpPr>
          <p:nvPr>
            <p:ph type="title"/>
          </p:nvPr>
        </p:nvSpPr>
        <p:spPr/>
        <p:txBody>
          <a:bodyPr>
            <a:normAutofit/>
          </a:bodyPr>
          <a:p>
            <a:r>
              <a:rPr b="1"/>
              <a:t>TOPICAL:</a:t>
            </a:r>
          </a:p>
        </p:txBody>
      </p:sp>
      <p:sp>
        <p:nvSpPr>
          <p:cNvPr id="1048718" name="Content Placeholder 2"/>
          <p:cNvSpPr>
            <a:spLocks noGrp="1"/>
          </p:cNvSpPr>
          <p:nvPr>
            <p:ph idx="1"/>
          </p:nvPr>
        </p:nvSpPr>
        <p:spPr/>
        <p:txBody>
          <a:bodyPr>
            <a:normAutofit/>
          </a:bodyPr>
          <a:p>
            <a:r>
              <a:t>Drugs may be applied on the skin for local action as </a:t>
            </a:r>
            <a:r>
              <a:t>ointment,cream</a:t>
            </a:r>
            <a:r>
              <a:t> , gel ,powder, </a:t>
            </a:r>
            <a:r>
              <a:t>paste,etc,drugs</a:t>
            </a:r>
            <a:r>
              <a:t> may also be applied on the mucous membrane </a:t>
            </a:r>
            <a:r>
              <a:t>ascin</a:t>
            </a:r>
            <a:r>
              <a:t> the eyes ,ears , and nose as ointment ,drops and sprays.</a:t>
            </a:r>
          </a:p>
          <a:p/>
          <a:p>
            <a:r>
              <a:t>Drugs may be administered as suppository for rectum ,</a:t>
            </a:r>
            <a:r>
              <a:t>bougie</a:t>
            </a:r>
            <a:r>
              <a:t> for urethra and pessary (oval shape) and douche for </a:t>
            </a:r>
            <a:r>
              <a:t>vagina.e.g antifungal pessaries in vaginal candidiasis.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718" name=""/>
        <p:cNvGrpSpPr/>
        <p:nvPr/>
      </p:nvGrpSpPr>
      <p:grpSpPr>
        <a:xfrm>
          <a:off x="0" y="0"/>
          <a:ext cx="0" cy="0"/>
          <a:chOff x="0" y="0"/>
          <a:chExt cx="0" cy="0"/>
        </a:xfrm>
      </p:grpSpPr>
      <p:sp>
        <p:nvSpPr>
          <p:cNvPr id="1048719" name="Title 1"/>
          <p:cNvSpPr>
            <a:spLocks noGrp="1"/>
          </p:cNvSpPr>
          <p:nvPr>
            <p:ph type="title"/>
          </p:nvPr>
        </p:nvSpPr>
        <p:spPr/>
        <p:txBody>
          <a:bodyPr/>
          <a:p/>
        </p:txBody>
      </p:sp>
      <p:pic>
        <p:nvPicPr>
          <p:cNvPr id="2097153" name="Content Placeholder 3" descr="http://fdrsummerdrugs.wikispaces.com/file/view/pharmacodynamics-vs-phar.jpg/408102752/560x310/pharmacodynamics-vs-phar.jpg"/>
          <p:cNvPicPr>
            <a:picLocks noGrp="1"/>
          </p:cNvPicPr>
          <p:nvPr>
            <p:ph sz="quarter" idx="1"/>
          </p:nvPr>
        </p:nvPicPr>
        <p:blipFill>
          <a:blip xmlns:r="http://schemas.openxmlformats.org/officeDocument/2006/relationships" r:embed="rId1"/>
          <a:srcRect/>
          <a:stretch>
            <a:fillRect/>
          </a:stretch>
        </p:blipFill>
        <p:spPr bwMode="auto">
          <a:xfrm>
            <a:off x="838204" y="381004"/>
            <a:ext cx="10772775" cy="6476995"/>
          </a:xfrm>
          <a:prstGeom prst="rect"/>
          <a:noFill/>
          <a:ln w="9525">
            <a:noFill/>
            <a:miter lim="800000"/>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720" name=""/>
        <p:cNvGrpSpPr/>
        <p:nvPr/>
      </p:nvGrpSpPr>
      <p:grpSpPr>
        <a:xfrm>
          <a:off x="0" y="0"/>
          <a:ext cx="0" cy="0"/>
          <a:chOff x="0" y="0"/>
          <a:chExt cx="0" cy="0"/>
        </a:xfrm>
      </p:grpSpPr>
      <p:sp>
        <p:nvSpPr>
          <p:cNvPr id="1048725" name="Title 1"/>
          <p:cNvSpPr>
            <a:spLocks noGrp="1"/>
          </p:cNvSpPr>
          <p:nvPr>
            <p:ph type="title"/>
          </p:nvPr>
        </p:nvSpPr>
        <p:spPr/>
        <p:txBody>
          <a:bodyPr>
            <a:normAutofit/>
          </a:bodyPr>
          <a:p>
            <a:pPr algn="ctr"/>
            <a:r>
              <a:rPr sz="2000">
                <a:solidFill>
                  <a:srgbClr val="FF0000"/>
                </a:solidFill>
                <a:latin typeface="Arial"/>
                <a:cs typeface="Arial"/>
              </a:rPr>
              <a:t>This is the study of how drugs exert their effects in the body</a:t>
            </a:r>
            <a:endParaRPr sz="2000">
              <a:solidFill>
                <a:srgbClr val="FF0000"/>
              </a:solidFill>
            </a:endParaRPr>
          </a:p>
        </p:txBody>
      </p:sp>
      <p:sp>
        <p:nvSpPr>
          <p:cNvPr id="1048726" name="Text Placeholder 4"/>
          <p:cNvSpPr>
            <a:spLocks noGrp="1"/>
          </p:cNvSpPr>
          <p:nvPr>
            <p:ph type="body" idx="1"/>
          </p:nvPr>
        </p:nvSpPr>
        <p:spPr>
          <a:xfrm>
            <a:off x="2514600" y="1447795"/>
            <a:ext cx="7772400" cy="1208089"/>
          </a:xfrm>
        </p:spPr>
        <p:txBody>
          <a:bodyPr/>
          <a:p>
            <a:r>
              <a:t>.</a:t>
            </a:r>
            <a:r>
              <a:rPr b="1" sz="4800"/>
              <a:t> PHARMACODYNAMICS</a:t>
            </a:r>
            <a:endParaRPr b="1" sz="4800"/>
          </a:p>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721" name=""/>
        <p:cNvGrpSpPr/>
        <p:nvPr/>
      </p:nvGrpSpPr>
      <p:grpSpPr>
        <a:xfrm>
          <a:off x="0" y="0"/>
          <a:ext cx="0" cy="0"/>
          <a:chOff x="0" y="0"/>
          <a:chExt cx="0" cy="0"/>
        </a:xfrm>
      </p:grpSpPr>
      <p:sp>
        <p:nvSpPr>
          <p:cNvPr id="1048727" name="Title 1"/>
          <p:cNvSpPr>
            <a:spLocks noGrp="1"/>
          </p:cNvSpPr>
          <p:nvPr>
            <p:ph type="title"/>
          </p:nvPr>
        </p:nvSpPr>
        <p:spPr>
          <a:xfrm>
            <a:off x="2438404" y="228600"/>
            <a:ext cx="7772400" cy="914400"/>
          </a:xfrm>
        </p:spPr>
        <p:txBody>
          <a:bodyPr>
            <a:normAutofit/>
          </a:bodyPr>
          <a:p>
            <a:r>
              <a:rPr b="1" sz="3600"/>
              <a:t>The 4 basic types of drug effects</a:t>
            </a:r>
            <a:r>
              <a:rPr sz="3600"/>
              <a:t> can be</a:t>
            </a:r>
            <a:r>
              <a:rPr sz="3200"/>
              <a:t>:</a:t>
            </a:r>
            <a:endParaRPr sz="3200"/>
          </a:p>
        </p:txBody>
      </p:sp>
      <p:sp>
        <p:nvSpPr>
          <p:cNvPr id="1048728" name="Content Placeholder 2"/>
          <p:cNvSpPr>
            <a:spLocks noGrp="1"/>
          </p:cNvSpPr>
          <p:nvPr>
            <p:ph sz="quarter" idx="1"/>
          </p:nvPr>
        </p:nvSpPr>
        <p:spPr>
          <a:xfrm>
            <a:off x="1524004" y="1219195"/>
            <a:ext cx="9144000" cy="5638804"/>
          </a:xfrm>
        </p:spPr>
        <p:txBody>
          <a:bodyPr>
            <a:noAutofit/>
          </a:bodyPr>
          <a:p>
            <a:r>
              <a:rPr b="1"/>
              <a:t>Stimulation </a:t>
            </a:r>
            <a:r>
              <a:t>– it is selective enhancement of the level of activity in specialized cells </a:t>
            </a:r>
            <a:r>
              <a:t>e.g</a:t>
            </a:r>
            <a:r>
              <a:t> adrenaline – stimulates the heart</a:t>
            </a:r>
          </a:p>
          <a:p>
            <a:r>
              <a:rPr b="1"/>
              <a:t>Depression </a:t>
            </a:r>
            <a:r>
              <a:t>– it is selective reduction of activity of specialized cells </a:t>
            </a:r>
            <a:r>
              <a:t>e.g</a:t>
            </a:r>
            <a:r>
              <a:t> barbiturates depress CNS</a:t>
            </a:r>
          </a:p>
          <a:p>
            <a:pPr>
              <a:buNone/>
            </a:pPr>
            <a:r>
              <a:rPr>
                <a:solidFill>
                  <a:srgbClr val="FF0000"/>
                </a:solidFill>
              </a:rPr>
              <a:t>NB certain drugs stimulate one type of cells but depress another</a:t>
            </a:r>
            <a:r>
              <a:t> </a:t>
            </a:r>
          </a:p>
          <a:p>
            <a:pPr lvl="1">
              <a:buNone/>
            </a:pPr>
            <a:r>
              <a:t>e.g</a:t>
            </a:r>
            <a:r>
              <a:t> acetylcholine stimulates intestinal smooth muscles but depresses Sino Atrial node of the heart therefore most drugs cannot be classified as stimulants or depressants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722" name=""/>
        <p:cNvGrpSpPr/>
        <p:nvPr/>
      </p:nvGrpSpPr>
      <p:grpSpPr>
        <a:xfrm>
          <a:off x="0" y="0"/>
          <a:ext cx="0" cy="0"/>
          <a:chOff x="0" y="0"/>
          <a:chExt cx="0" cy="0"/>
        </a:xfrm>
      </p:grpSpPr>
      <p:sp>
        <p:nvSpPr>
          <p:cNvPr id="1048729" name="Title 1"/>
          <p:cNvSpPr>
            <a:spLocks noGrp="1"/>
          </p:cNvSpPr>
          <p:nvPr>
            <p:ph type="title"/>
          </p:nvPr>
        </p:nvSpPr>
        <p:spPr>
          <a:xfrm>
            <a:off x="1981204" y="274643"/>
            <a:ext cx="8229600" cy="715965"/>
          </a:xfrm>
        </p:spPr>
        <p:txBody>
          <a:bodyPr>
            <a:normAutofit fontScale="93182"/>
          </a:bodyPr>
          <a:p>
            <a:r>
              <a:t>Pharmacodynamics </a:t>
            </a:r>
            <a:r>
              <a:t>cont</a:t>
            </a:r>
            <a:r>
              <a:t>’</a:t>
            </a:r>
          </a:p>
        </p:txBody>
      </p:sp>
      <p:sp>
        <p:nvSpPr>
          <p:cNvPr id="1048730" name="Content Placeholder 2"/>
          <p:cNvSpPr>
            <a:spLocks noGrp="1"/>
          </p:cNvSpPr>
          <p:nvPr>
            <p:ph sz="quarter" idx="1"/>
          </p:nvPr>
        </p:nvSpPr>
        <p:spPr>
          <a:xfrm>
            <a:off x="1676395" y="1447795"/>
            <a:ext cx="8686800" cy="5029200"/>
          </a:xfrm>
        </p:spPr>
        <p:txBody>
          <a:bodyPr/>
          <a:p>
            <a:r>
              <a:rPr b="1" sz="3200"/>
              <a:t>Replacement </a:t>
            </a:r>
            <a:r>
              <a:rPr sz="3200"/>
              <a:t>– This is use of natural metabolites and hormones </a:t>
            </a:r>
            <a:r>
              <a:rPr sz="3200" u="sng"/>
              <a:t>in deficiency states</a:t>
            </a:r>
            <a:r>
              <a:rPr sz="3200"/>
              <a:t>. </a:t>
            </a:r>
            <a:r>
              <a:rPr sz="3200"/>
              <a:t>E.g</a:t>
            </a:r>
            <a:r>
              <a:rPr sz="3200"/>
              <a:t> insulin in diabetes and iron in </a:t>
            </a:r>
            <a:r>
              <a:rPr sz="3200"/>
              <a:t>anaemia</a:t>
            </a:r>
            <a:endParaRPr sz="3200"/>
          </a:p>
          <a:p>
            <a:endParaRPr sz="3200"/>
          </a:p>
          <a:p>
            <a:r>
              <a:rPr b="1" sz="3200"/>
              <a:t>Cytotoxic action </a:t>
            </a:r>
            <a:r>
              <a:rPr sz="3200"/>
              <a:t>–  destruction of invading microorganisms or cancer cells</a:t>
            </a:r>
            <a:r>
              <a:t> </a:t>
            </a:r>
            <a:r>
              <a:rPr sz="3200" u="sng"/>
              <a:t>without affecting host cell </a:t>
            </a:r>
            <a:r>
              <a:rPr sz="3200"/>
              <a:t>. </a:t>
            </a:r>
            <a:endParaRPr sz="3200"/>
          </a:p>
          <a:p>
            <a:pPr lvl="1"/>
            <a:r>
              <a:t>E.g</a:t>
            </a:r>
            <a:r>
              <a:t> antibiotics - penicillin, antimalarials -quinine and anticancer drugs</a:t>
            </a:r>
          </a:p>
          <a:p>
            <a:endParaRPr sz="3200"/>
          </a:p>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723" name=""/>
        <p:cNvGrpSpPr/>
        <p:nvPr/>
      </p:nvGrpSpPr>
      <p:grpSpPr>
        <a:xfrm>
          <a:off x="0" y="0"/>
          <a:ext cx="0" cy="0"/>
          <a:chOff x="0" y="0"/>
          <a:chExt cx="0" cy="0"/>
        </a:xfrm>
      </p:grpSpPr>
      <p:sp>
        <p:nvSpPr>
          <p:cNvPr id="1048731" name="Title 1"/>
          <p:cNvSpPr>
            <a:spLocks noGrp="1"/>
          </p:cNvSpPr>
          <p:nvPr>
            <p:ph type="title"/>
          </p:nvPr>
        </p:nvSpPr>
        <p:spPr/>
        <p:txBody>
          <a:bodyPr/>
          <a:p>
            <a:r>
              <a:t>PHARMACODYNAMICS ENTAILS;L</a:t>
            </a:r>
          </a:p>
        </p:txBody>
      </p:sp>
      <p:sp>
        <p:nvSpPr>
          <p:cNvPr id="1048732" name="Content Placeholder 2"/>
          <p:cNvSpPr>
            <a:spLocks noGrp="1"/>
          </p:cNvSpPr>
          <p:nvPr>
            <p:ph sz="quarter" idx="1"/>
          </p:nvPr>
        </p:nvSpPr>
        <p:spPr>
          <a:xfrm>
            <a:off x="1524004" y="1447795"/>
            <a:ext cx="8686800" cy="5410204"/>
          </a:xfrm>
        </p:spPr>
        <p:txBody>
          <a:bodyPr>
            <a:normAutofit/>
          </a:bodyPr>
          <a:p>
            <a:r>
              <a:rPr b="1" sz="3200"/>
              <a:t>Mechanism of Drug Action</a:t>
            </a:r>
            <a:endParaRPr b="1" sz="3200"/>
          </a:p>
          <a:p>
            <a:pPr>
              <a:buNone/>
            </a:pPr>
            <a:r>
              <a:rPr sz="3200"/>
              <a:t>    Describes how drugs act in the body to bring about an effect. This is through physical action, chemical action, enzymes and receptors</a:t>
            </a:r>
            <a:endParaRPr sz="3200"/>
          </a:p>
          <a:p>
            <a:r>
              <a:rPr b="1" sz="3200"/>
              <a:t>Combined effect of drugs/ drug interactions </a:t>
            </a:r>
            <a:r>
              <a:rPr sz="3200"/>
              <a:t>– synergism and antagonism</a:t>
            </a:r>
            <a:endParaRPr sz="3200"/>
          </a:p>
          <a:p>
            <a:r>
              <a:rPr b="1" sz="3200"/>
              <a:t>Factors modifying drug action</a:t>
            </a:r>
            <a:endParaRPr b="1" sz="3200"/>
          </a:p>
          <a:p>
            <a:r>
              <a:rPr b="1" sz="3200"/>
              <a:t>Adverse Drug Effects</a:t>
            </a:r>
            <a:endParaRPr b="1" sz="3200"/>
          </a:p>
          <a:p/>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724" name=""/>
        <p:cNvGrpSpPr/>
        <p:nvPr/>
      </p:nvGrpSpPr>
      <p:grpSpPr>
        <a:xfrm>
          <a:off x="0" y="0"/>
          <a:ext cx="0" cy="0"/>
          <a:chOff x="0" y="0"/>
          <a:chExt cx="0" cy="0"/>
        </a:xfrm>
      </p:grpSpPr>
      <p:sp>
        <p:nvSpPr>
          <p:cNvPr id="1048733" name="Title 1"/>
          <p:cNvSpPr>
            <a:spLocks noGrp="1"/>
          </p:cNvSpPr>
          <p:nvPr>
            <p:ph type="title"/>
          </p:nvPr>
        </p:nvSpPr>
        <p:spPr/>
        <p:txBody>
          <a:bodyPr>
            <a:normAutofit/>
          </a:bodyPr>
          <a:p>
            <a:r>
              <a:rPr b="1"/>
              <a:t>MECHANISM OF DRUG ACTION</a:t>
            </a:r>
            <a:br/>
          </a:p>
        </p:txBody>
      </p:sp>
      <p:sp>
        <p:nvSpPr>
          <p:cNvPr id="1048734" name="Content Placeholder 2"/>
          <p:cNvSpPr>
            <a:spLocks noGrp="1"/>
          </p:cNvSpPr>
          <p:nvPr>
            <p:ph sz="quarter" idx="1"/>
          </p:nvPr>
        </p:nvSpPr>
        <p:spPr>
          <a:xfrm>
            <a:off x="1828800" y="838204"/>
            <a:ext cx="8382004" cy="5745165"/>
          </a:xfrm>
        </p:spPr>
        <p:txBody>
          <a:bodyPr>
            <a:normAutofit/>
          </a:bodyPr>
          <a:p>
            <a:pPr>
              <a:buNone/>
            </a:pPr>
            <a:r>
              <a:rPr sz="3900">
                <a:latin typeface="Arial"/>
                <a:cs typeface="Arial"/>
              </a:rPr>
              <a:t>Describes </a:t>
            </a:r>
            <a:r>
              <a:rPr sz="3900">
                <a:solidFill>
                  <a:srgbClr val="FF0000"/>
                </a:solidFill>
                <a:latin typeface="Arial"/>
                <a:cs typeface="Arial"/>
              </a:rPr>
              <a:t>how drugs act in the body to bring about an effect</a:t>
            </a:r>
            <a:r>
              <a:rPr sz="3600">
                <a:solidFill>
                  <a:srgbClr val="FF0000"/>
                </a:solidFill>
                <a:latin typeface="Arial"/>
                <a:cs typeface="Arial"/>
              </a:rPr>
              <a:t>; </a:t>
            </a:r>
            <a:endParaRPr sz="3600">
              <a:solidFill>
                <a:srgbClr val="FF0000"/>
              </a:solidFill>
              <a:latin typeface="Arial"/>
              <a:cs typeface="Arial"/>
            </a:endParaRPr>
          </a:p>
          <a:p>
            <a:pPr>
              <a:buNone/>
            </a:pPr>
            <a:endParaRPr sz="3600">
              <a:latin typeface="Arial"/>
              <a:cs typeface="Arial"/>
            </a:endParaRPr>
          </a:p>
          <a:p>
            <a:pPr>
              <a:buNone/>
            </a:pPr>
            <a:r>
              <a:rPr sz="3600">
                <a:latin typeface="Arial"/>
                <a:cs typeface="Arial"/>
              </a:rPr>
              <a:t>the Mechanism Of drug Action can be distinguished into 4 categories</a:t>
            </a:r>
            <a:endParaRPr sz="3600">
              <a:latin typeface="Arial"/>
              <a:cs typeface="Arial"/>
            </a:endParaRPr>
          </a:p>
          <a:p>
            <a:pPr>
              <a:buNone/>
            </a:pPr>
            <a:endParaRPr sz="3600">
              <a:latin typeface="Arial"/>
              <a:cs typeface="Arial"/>
            </a:endParaRPr>
          </a:p>
          <a:p>
            <a:pPr lvl="1"/>
            <a:r>
              <a:rPr>
                <a:latin typeface="Arial"/>
                <a:cs typeface="Arial"/>
              </a:rPr>
              <a:t> </a:t>
            </a:r>
            <a:r>
              <a:rPr b="1">
                <a:latin typeface="Arial"/>
                <a:cs typeface="Arial"/>
              </a:rPr>
              <a:t>Physical action</a:t>
            </a:r>
            <a:endParaRPr b="1">
              <a:latin typeface="Arial"/>
              <a:cs typeface="Arial"/>
            </a:endParaRPr>
          </a:p>
          <a:p>
            <a:pPr lvl="1"/>
            <a:r>
              <a:rPr b="1">
                <a:latin typeface="Arial"/>
                <a:cs typeface="Arial"/>
              </a:rPr>
              <a:t>Chemical actions</a:t>
            </a:r>
            <a:endParaRPr b="1">
              <a:latin typeface="Arial"/>
              <a:cs typeface="Arial"/>
            </a:endParaRPr>
          </a:p>
          <a:p>
            <a:pPr lvl="1"/>
            <a:r>
              <a:rPr b="1">
                <a:latin typeface="Arial"/>
                <a:cs typeface="Arial"/>
              </a:rPr>
              <a:t>Through enzymes</a:t>
            </a:r>
            <a:endParaRPr b="1">
              <a:latin typeface="Arial"/>
              <a:cs typeface="Arial"/>
            </a:endParaRPr>
          </a:p>
          <a:p>
            <a:pPr lvl="1"/>
            <a:r>
              <a:rPr b="1">
                <a:latin typeface="Arial"/>
                <a:cs typeface="Arial"/>
              </a:rPr>
              <a:t>Through receptors</a:t>
            </a:r>
            <a:endParaRPr b="1">
              <a:latin typeface="Arial"/>
              <a:cs typeface="Arial"/>
            </a:endParaRPr>
          </a:p>
          <a:p>
            <a:endParaRPr>
              <a:latin typeface="Arial"/>
              <a:cs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725" name=""/>
        <p:cNvGrpSpPr/>
        <p:nvPr/>
      </p:nvGrpSpPr>
      <p:grpSpPr>
        <a:xfrm>
          <a:off x="0" y="0"/>
          <a:ext cx="0" cy="0"/>
          <a:chOff x="0" y="0"/>
          <a:chExt cx="0" cy="0"/>
        </a:xfrm>
      </p:grpSpPr>
      <p:sp>
        <p:nvSpPr>
          <p:cNvPr id="1048735" name="Title 1"/>
          <p:cNvSpPr>
            <a:spLocks noGrp="1"/>
          </p:cNvSpPr>
          <p:nvPr>
            <p:ph type="title"/>
          </p:nvPr>
        </p:nvSpPr>
        <p:spPr>
          <a:xfrm>
            <a:off x="1981204" y="274643"/>
            <a:ext cx="8229600" cy="715965"/>
          </a:xfrm>
        </p:spPr>
        <p:txBody>
          <a:bodyPr>
            <a:normAutofit/>
          </a:bodyPr>
          <a:p>
            <a:r>
              <a:t>Drugs action </a:t>
            </a:r>
            <a:r>
              <a:t>cont</a:t>
            </a:r>
            <a:r>
              <a:t>’</a:t>
            </a:r>
          </a:p>
        </p:txBody>
      </p:sp>
      <p:sp>
        <p:nvSpPr>
          <p:cNvPr id="1048736" name="Content Placeholder 2"/>
          <p:cNvSpPr>
            <a:spLocks noGrp="1"/>
          </p:cNvSpPr>
          <p:nvPr>
            <p:ph sz="quarter" idx="1"/>
          </p:nvPr>
        </p:nvSpPr>
        <p:spPr>
          <a:xfrm>
            <a:off x="1981204" y="1143000"/>
            <a:ext cx="8229600" cy="5410204"/>
          </a:xfrm>
        </p:spPr>
        <p:txBody>
          <a:bodyPr>
            <a:normAutofit/>
          </a:bodyPr>
          <a:p>
            <a:pPr indent="0" marL="0">
              <a:buNone/>
            </a:pPr>
            <a:r>
              <a:rPr b="1" sz="3500">
                <a:solidFill>
                  <a:srgbClr val="FF0000"/>
                </a:solidFill>
                <a:latin typeface="+mj-lt"/>
              </a:rPr>
              <a:t>1. Physical action</a:t>
            </a:r>
            <a:endParaRPr b="1" sz="3500">
              <a:solidFill>
                <a:srgbClr val="FF0000"/>
              </a:solidFill>
              <a:latin typeface="+mj-lt"/>
            </a:endParaRPr>
          </a:p>
          <a:p>
            <a:pPr lvl="1"/>
            <a:r>
              <a:rPr sz="3500">
                <a:latin typeface="+mj-lt"/>
                <a:cs typeface="Arial"/>
              </a:rPr>
              <a:t>A physical property in the drug is responsible for its action </a:t>
            </a:r>
            <a:r>
              <a:rPr sz="3500">
                <a:latin typeface="+mj-lt"/>
                <a:cs typeface="Arial"/>
              </a:rPr>
              <a:t>e.g</a:t>
            </a:r>
            <a:r>
              <a:rPr sz="3500">
                <a:latin typeface="+mj-lt"/>
                <a:cs typeface="Arial"/>
              </a:rPr>
              <a:t>  </a:t>
            </a:r>
            <a:endParaRPr sz="3500">
              <a:latin typeface="+mj-lt"/>
              <a:cs typeface="Arial"/>
            </a:endParaRPr>
          </a:p>
          <a:p>
            <a:pPr lvl="2"/>
            <a:r>
              <a:rPr b="1" sz="3500">
                <a:latin typeface="+mj-lt"/>
                <a:cs typeface="Arial"/>
              </a:rPr>
              <a:t>Mass of the drug </a:t>
            </a:r>
            <a:r>
              <a:rPr sz="3500">
                <a:latin typeface="+mj-lt"/>
                <a:cs typeface="Arial"/>
              </a:rPr>
              <a:t>– bulk laxatives,</a:t>
            </a:r>
            <a:endParaRPr sz="3500">
              <a:latin typeface="+mj-lt"/>
              <a:cs typeface="Arial"/>
            </a:endParaRPr>
          </a:p>
          <a:p>
            <a:pPr lvl="2"/>
            <a:r>
              <a:rPr b="1" sz="3500">
                <a:latin typeface="+mj-lt"/>
                <a:cs typeface="Arial"/>
              </a:rPr>
              <a:t>Adsorptive property </a:t>
            </a:r>
            <a:r>
              <a:rPr sz="3500">
                <a:latin typeface="+mj-lt"/>
                <a:cs typeface="Arial"/>
              </a:rPr>
              <a:t>– </a:t>
            </a:r>
            <a:r>
              <a:rPr sz="3500">
                <a:latin typeface="+mj-lt"/>
                <a:cs typeface="Arial"/>
              </a:rPr>
              <a:t>e.g</a:t>
            </a:r>
            <a:r>
              <a:rPr sz="3500">
                <a:latin typeface="+mj-lt"/>
                <a:cs typeface="Arial"/>
              </a:rPr>
              <a:t> charcoal,</a:t>
            </a:r>
            <a:endParaRPr sz="3500">
              <a:latin typeface="+mj-lt"/>
              <a:cs typeface="Arial"/>
            </a:endParaRPr>
          </a:p>
          <a:p>
            <a:pPr lvl="2"/>
            <a:r>
              <a:rPr b="1" sz="3500">
                <a:latin typeface="+mj-lt"/>
                <a:cs typeface="Arial"/>
              </a:rPr>
              <a:t>Osmotic activity </a:t>
            </a:r>
            <a:r>
              <a:rPr sz="3500">
                <a:latin typeface="+mj-lt"/>
                <a:cs typeface="Arial"/>
              </a:rPr>
              <a:t>– </a:t>
            </a:r>
            <a:r>
              <a:rPr sz="3500">
                <a:latin typeface="+mj-lt"/>
                <a:cs typeface="Arial"/>
              </a:rPr>
              <a:t>e.g</a:t>
            </a:r>
            <a:r>
              <a:rPr sz="3500">
                <a:latin typeface="+mj-lt"/>
                <a:cs typeface="Arial"/>
              </a:rPr>
              <a:t> mannitol,</a:t>
            </a:r>
            <a:endParaRPr sz="3500">
              <a:latin typeface="+mj-lt"/>
              <a:cs typeface="Arial"/>
            </a:endParaRPr>
          </a:p>
          <a:p>
            <a:pPr lvl="2"/>
            <a:r>
              <a:rPr b="1" sz="3500">
                <a:latin typeface="+mj-lt"/>
                <a:cs typeface="Arial"/>
              </a:rPr>
              <a:t>Radiopacity</a:t>
            </a:r>
            <a:r>
              <a:rPr sz="3500">
                <a:latin typeface="+mj-lt"/>
                <a:cs typeface="Arial"/>
              </a:rPr>
              <a:t> – </a:t>
            </a:r>
            <a:r>
              <a:rPr sz="3500">
                <a:latin typeface="+mj-lt"/>
                <a:cs typeface="Arial"/>
              </a:rPr>
              <a:t>e.g</a:t>
            </a:r>
            <a:r>
              <a:rPr sz="3500">
                <a:latin typeface="+mj-lt"/>
                <a:cs typeface="Arial"/>
              </a:rPr>
              <a:t> barium </a:t>
            </a:r>
            <a:r>
              <a:rPr sz="3500">
                <a:latin typeface="+mj-lt"/>
                <a:cs typeface="Arial"/>
              </a:rPr>
              <a:t>sulphate</a:t>
            </a:r>
            <a:endParaRPr sz="3500">
              <a:latin typeface="+mj-lt"/>
              <a:cs typeface="Arial"/>
            </a:endParaRPr>
          </a:p>
          <a:p>
            <a:endParaRPr sz="3500">
              <a:latin typeface="+mj-lt"/>
              <a:cs typeface="Arial"/>
            </a:endParaRPr>
          </a:p>
          <a:p>
            <a:pPr indent="0" marL="0">
              <a:buNone/>
            </a:pPr>
            <a:r>
              <a:rPr b="1" sz="3500">
                <a:solidFill>
                  <a:srgbClr val="FF0000"/>
                </a:solidFill>
                <a:latin typeface="+mj-lt"/>
                <a:cs typeface="Arial"/>
              </a:rPr>
              <a:t>2. Chemical action</a:t>
            </a:r>
            <a:endParaRPr b="1" sz="3500">
              <a:solidFill>
                <a:srgbClr val="FF0000"/>
              </a:solidFill>
              <a:latin typeface="+mj-lt"/>
              <a:cs typeface="Arial"/>
            </a:endParaRPr>
          </a:p>
          <a:p>
            <a:pPr indent="0" marL="0">
              <a:buNone/>
            </a:pPr>
            <a:r>
              <a:rPr b="1" sz="3500">
                <a:solidFill>
                  <a:srgbClr val="FF0000"/>
                </a:solidFill>
                <a:latin typeface="+mj-lt"/>
                <a:cs typeface="Arial"/>
              </a:rPr>
              <a:t>A drug acts outside the cells thru’ </a:t>
            </a:r>
            <a:endParaRPr b="1" sz="3500">
              <a:solidFill>
                <a:srgbClr val="FF0000"/>
              </a:solidFill>
              <a:latin typeface="+mj-lt"/>
              <a:cs typeface="Arial"/>
            </a:endParaRPr>
          </a:p>
          <a:p>
            <a:pPr lvl="1"/>
            <a:r>
              <a:rPr sz="3500">
                <a:latin typeface="+mj-lt"/>
                <a:cs typeface="Arial"/>
              </a:rPr>
              <a:t>simple chemical equation </a:t>
            </a:r>
            <a:r>
              <a:rPr sz="3500">
                <a:latin typeface="+mj-lt"/>
                <a:cs typeface="Arial"/>
              </a:rPr>
              <a:t>e.g</a:t>
            </a:r>
            <a:r>
              <a:rPr sz="3500">
                <a:latin typeface="+mj-lt"/>
                <a:cs typeface="Arial"/>
              </a:rPr>
              <a:t> </a:t>
            </a:r>
            <a:endParaRPr sz="3500">
              <a:latin typeface="+mj-lt"/>
              <a:cs typeface="Arial"/>
            </a:endParaRPr>
          </a:p>
          <a:p>
            <a:pPr lvl="2"/>
            <a:r>
              <a:rPr sz="3500">
                <a:latin typeface="+mj-lt"/>
                <a:cs typeface="Arial"/>
              </a:rPr>
              <a:t>Antacids(</a:t>
            </a:r>
            <a:r>
              <a:rPr sz="3500">
                <a:latin typeface="+mj-lt"/>
                <a:cs typeface="Arial"/>
              </a:rPr>
              <a:t>AlOH</a:t>
            </a:r>
            <a:r>
              <a:rPr sz="3500">
                <a:latin typeface="+mj-lt"/>
                <a:cs typeface="Arial"/>
              </a:rPr>
              <a:t>) neutralize gastric acid (</a:t>
            </a:r>
            <a:r>
              <a:rPr sz="3500">
                <a:latin typeface="+mj-lt"/>
                <a:cs typeface="Arial"/>
              </a:rPr>
              <a:t>HCl</a:t>
            </a:r>
            <a:r>
              <a:rPr sz="3500">
                <a:latin typeface="+mj-lt"/>
                <a:cs typeface="Arial"/>
              </a:rPr>
              <a:t>),  </a:t>
            </a:r>
            <a:endParaRPr sz="3500">
              <a:latin typeface="+mj-lt"/>
              <a:cs typeface="Arial"/>
            </a:endParaRPr>
          </a:p>
          <a:p>
            <a:pPr lvl="2"/>
            <a:r>
              <a:rPr sz="3500">
                <a:latin typeface="+mj-lt"/>
                <a:cs typeface="Arial"/>
              </a:rPr>
              <a:t>Chelating agents </a:t>
            </a:r>
            <a:r>
              <a:rPr sz="3500">
                <a:latin typeface="+mj-lt"/>
                <a:cs typeface="Arial"/>
              </a:rPr>
              <a:t>e.g</a:t>
            </a:r>
            <a:r>
              <a:rPr sz="3500">
                <a:latin typeface="+mj-lt"/>
                <a:cs typeface="Arial"/>
              </a:rPr>
              <a:t> calcium and metals(iron)</a:t>
            </a:r>
            <a:endParaRPr sz="3500">
              <a:latin typeface="+mj-lt"/>
              <a:cs typeface="Arial"/>
            </a:endParaRPr>
          </a:p>
          <a:p>
            <a:pPr lvl="1"/>
            <a:endParaRPr>
              <a:latin typeface="Arial"/>
              <a:cs typeface="Arial"/>
            </a:endParaRPr>
          </a:p>
          <a:p>
            <a:endParaRPr sz="32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726" name=""/>
        <p:cNvGrpSpPr/>
        <p:nvPr/>
      </p:nvGrpSpPr>
      <p:grpSpPr>
        <a:xfrm>
          <a:off x="0" y="0"/>
          <a:ext cx="0" cy="0"/>
          <a:chOff x="0" y="0"/>
          <a:chExt cx="0" cy="0"/>
        </a:xfrm>
      </p:grpSpPr>
      <p:sp>
        <p:nvSpPr>
          <p:cNvPr id="1048737" name="Title 1"/>
          <p:cNvSpPr>
            <a:spLocks noGrp="1"/>
          </p:cNvSpPr>
          <p:nvPr>
            <p:ph type="title"/>
          </p:nvPr>
        </p:nvSpPr>
        <p:spPr>
          <a:xfrm>
            <a:off x="1981204" y="274643"/>
            <a:ext cx="8229600" cy="715965"/>
          </a:xfrm>
        </p:spPr>
        <p:txBody>
          <a:bodyPr>
            <a:normAutofit/>
          </a:bodyPr>
          <a:p>
            <a:r>
              <a:rPr b="1">
                <a:solidFill>
                  <a:srgbClr val="FF0000"/>
                </a:solidFill>
              </a:rPr>
              <a:t>3. Through Enzymes</a:t>
            </a:r>
          </a:p>
        </p:txBody>
      </p:sp>
      <p:sp>
        <p:nvSpPr>
          <p:cNvPr id="1048738" name="Content Placeholder 2"/>
          <p:cNvSpPr>
            <a:spLocks noGrp="1"/>
          </p:cNvSpPr>
          <p:nvPr>
            <p:ph sz="quarter" idx="1"/>
          </p:nvPr>
        </p:nvSpPr>
        <p:spPr>
          <a:xfrm>
            <a:off x="1828800" y="1143000"/>
            <a:ext cx="8610604" cy="5333995"/>
          </a:xfrm>
        </p:spPr>
        <p:txBody>
          <a:bodyPr>
            <a:normAutofit/>
          </a:bodyPr>
          <a:p>
            <a:r>
              <a:rPr b="1" sz="3600">
                <a:cs typeface="Arial"/>
              </a:rPr>
              <a:t>Almost all biological reactions are carried out under catalytic influence of enzymes</a:t>
            </a:r>
            <a:r>
              <a:rPr sz="3600">
                <a:cs typeface="Arial"/>
              </a:rPr>
              <a:t>. </a:t>
            </a:r>
            <a:endParaRPr sz="3600">
              <a:cs typeface="Arial"/>
            </a:endParaRPr>
          </a:p>
          <a:p>
            <a:r>
              <a:rPr b="1" sz="3600">
                <a:solidFill>
                  <a:srgbClr val="FF0000"/>
                </a:solidFill>
                <a:cs typeface="Arial"/>
              </a:rPr>
              <a:t>Drugs either </a:t>
            </a:r>
            <a:r>
              <a:rPr b="1" sz="3600" u="sng">
                <a:solidFill>
                  <a:srgbClr val="FF0000"/>
                </a:solidFill>
                <a:cs typeface="Arial"/>
              </a:rPr>
              <a:t>stimulate</a:t>
            </a:r>
            <a:r>
              <a:rPr b="1" sz="3600">
                <a:solidFill>
                  <a:srgbClr val="FF0000"/>
                </a:solidFill>
                <a:cs typeface="Arial"/>
              </a:rPr>
              <a:t> or </a:t>
            </a:r>
            <a:r>
              <a:rPr b="1" sz="3600" u="sng">
                <a:solidFill>
                  <a:srgbClr val="FF0000"/>
                </a:solidFill>
                <a:cs typeface="Arial"/>
              </a:rPr>
              <a:t>inhibits</a:t>
            </a:r>
            <a:r>
              <a:rPr b="1" sz="3600">
                <a:solidFill>
                  <a:srgbClr val="FF0000"/>
                </a:solidFill>
                <a:cs typeface="Arial"/>
              </a:rPr>
              <a:t> the rate of enzymatically mediated reactions</a:t>
            </a:r>
            <a:endParaRPr b="1" sz="3600">
              <a:solidFill>
                <a:srgbClr val="FF0000"/>
              </a:solidFill>
              <a:cs typeface="Arial"/>
            </a:endParaRPr>
          </a:p>
          <a:p>
            <a:pPr lvl="1"/>
            <a:endParaRPr b="1" sz="3600">
              <a:cs typeface="Arial"/>
            </a:endParaRPr>
          </a:p>
          <a:p>
            <a:r>
              <a:rPr b="1" sz="3600">
                <a:cs typeface="Arial"/>
              </a:rPr>
              <a:t>Stimulation -  </a:t>
            </a:r>
            <a:r>
              <a:rPr sz="3600">
                <a:cs typeface="Arial"/>
              </a:rPr>
              <a:t>drugs cause increase in enzyme activity through </a:t>
            </a:r>
            <a:endParaRPr sz="3600">
              <a:cs typeface="Arial"/>
            </a:endParaRPr>
          </a:p>
          <a:p>
            <a:pPr lvl="1"/>
            <a:r>
              <a:rPr>
                <a:cs typeface="Arial"/>
              </a:rPr>
              <a:t>Enzyme induction </a:t>
            </a:r>
            <a:r>
              <a:rPr>
                <a:cs typeface="Arial"/>
              </a:rPr>
              <a:t>i.e</a:t>
            </a:r>
            <a:r>
              <a:rPr>
                <a:cs typeface="Arial"/>
              </a:rPr>
              <a:t> synthesis of more enzymes or</a:t>
            </a:r>
            <a:endParaRPr>
              <a:cs typeface="Arial"/>
            </a:endParaRPr>
          </a:p>
          <a:p>
            <a:pPr lvl="1"/>
            <a:r>
              <a:rPr>
                <a:cs typeface="Arial"/>
              </a:rPr>
              <a:t>Enzyme activation of existing </a:t>
            </a:r>
            <a:r>
              <a:rPr>
                <a:cs typeface="Arial"/>
              </a:rPr>
              <a:t>enzymes.e.g</a:t>
            </a:r>
            <a:r>
              <a:rPr>
                <a:cs typeface="Arial"/>
              </a:rPr>
              <a:t> adrenaline stimulates </a:t>
            </a:r>
            <a:r>
              <a:rPr>
                <a:cs typeface="Arial"/>
              </a:rPr>
              <a:t>adrenylcyclase</a:t>
            </a:r>
            <a:endParaRPr>
              <a:cs typeface="Arial"/>
            </a:endParaRPr>
          </a:p>
          <a:p>
            <a:endParaRPr sz="3600">
              <a:cs typeface="Arial"/>
            </a:endParaRPr>
          </a:p>
          <a:p>
            <a:r>
              <a:rPr b="1" sz="3600">
                <a:cs typeface="Arial"/>
              </a:rPr>
              <a:t>Inhibition – </a:t>
            </a:r>
            <a:r>
              <a:rPr sz="3600">
                <a:cs typeface="Arial"/>
              </a:rPr>
              <a:t>inhibition of enzymes</a:t>
            </a:r>
            <a:endParaRPr sz="3600">
              <a:latin typeface="Arial"/>
              <a:cs typeface="Arial"/>
            </a:endParaRPr>
          </a:p>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727" name=""/>
        <p:cNvGrpSpPr/>
        <p:nvPr/>
      </p:nvGrpSpPr>
      <p:grpSpPr>
        <a:xfrm>
          <a:off x="0" y="0"/>
          <a:ext cx="0" cy="0"/>
          <a:chOff x="0" y="0"/>
          <a:chExt cx="0" cy="0"/>
        </a:xfrm>
      </p:grpSpPr>
      <p:sp>
        <p:nvSpPr>
          <p:cNvPr id="1048739" name="Title 1"/>
          <p:cNvSpPr>
            <a:spLocks noGrp="1"/>
          </p:cNvSpPr>
          <p:nvPr>
            <p:ph type="title"/>
          </p:nvPr>
        </p:nvSpPr>
        <p:spPr/>
        <p:txBody>
          <a:bodyPr/>
          <a:p>
            <a:r>
              <a:rPr>
                <a:solidFill>
                  <a:srgbClr val="FF0000"/>
                </a:solidFill>
              </a:rPr>
              <a:t>4. THROUGH RECEPTORS</a:t>
            </a:r>
            <a:endParaRPr>
              <a:solidFill>
                <a:srgbClr val="FF0000"/>
              </a:solidFill>
            </a:endParaRPr>
          </a:p>
        </p:txBody>
      </p:sp>
      <p:sp>
        <p:nvSpPr>
          <p:cNvPr id="1048740" name="Content Placeholder 2"/>
          <p:cNvSpPr>
            <a:spLocks noGrp="1"/>
          </p:cNvSpPr>
          <p:nvPr>
            <p:ph sz="quarter" idx="1"/>
          </p:nvPr>
        </p:nvSpPr>
        <p:spPr>
          <a:xfrm>
            <a:off x="1752604" y="1219195"/>
            <a:ext cx="8458200" cy="5364160"/>
          </a:xfrm>
        </p:spPr>
        <p:txBody>
          <a:bodyPr>
            <a:normAutofit/>
          </a:bodyPr>
          <a:p>
            <a:r>
              <a:rPr sz="3600">
                <a:cs typeface="Arial"/>
              </a:rPr>
              <a:t>Receptors </a:t>
            </a:r>
            <a:r>
              <a:rPr b="1" sz="3600">
                <a:cs typeface="Arial"/>
              </a:rPr>
              <a:t>are proteins that occur on the surface of the cell or inside the cell</a:t>
            </a:r>
            <a:r>
              <a:rPr sz="3600">
                <a:cs typeface="Arial"/>
              </a:rPr>
              <a:t>. </a:t>
            </a:r>
            <a:endParaRPr sz="3600">
              <a:cs typeface="Arial"/>
            </a:endParaRPr>
          </a:p>
          <a:p>
            <a:r>
              <a:rPr sz="3600">
                <a:cs typeface="Arial"/>
              </a:rPr>
              <a:t>They </a:t>
            </a:r>
            <a:r>
              <a:rPr sz="3600">
                <a:solidFill>
                  <a:srgbClr val="FF0000"/>
                </a:solidFill>
                <a:cs typeface="Arial"/>
              </a:rPr>
              <a:t>have a specific binding site  </a:t>
            </a:r>
            <a:r>
              <a:rPr sz="3600">
                <a:cs typeface="Arial"/>
              </a:rPr>
              <a:t>that bind to </a:t>
            </a:r>
            <a:r>
              <a:rPr b="1" sz="3600">
                <a:cs typeface="Arial"/>
              </a:rPr>
              <a:t>drugs</a:t>
            </a:r>
            <a:r>
              <a:rPr sz="3600">
                <a:cs typeface="Arial"/>
              </a:rPr>
              <a:t>, </a:t>
            </a:r>
            <a:r>
              <a:rPr b="1" sz="3600">
                <a:cs typeface="Arial"/>
              </a:rPr>
              <a:t>hormones and neurotransmitters thereby signaling the cell to respond</a:t>
            </a:r>
            <a:endParaRPr b="1" sz="3600">
              <a:cs typeface="Arial"/>
            </a:endParaRPr>
          </a:p>
          <a:p>
            <a:endParaRPr b="1" sz="3600">
              <a:cs typeface="Arial"/>
            </a:endParaRPr>
          </a:p>
          <a:p>
            <a:pPr>
              <a:buNone/>
            </a:pPr>
            <a:endParaRPr b="1" sz="3600">
              <a:cs typeface="Arial"/>
            </a:endParaRPr>
          </a:p>
          <a:p>
            <a:endParaRPr sz="320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728" name=""/>
        <p:cNvGrpSpPr/>
        <p:nvPr/>
      </p:nvGrpSpPr>
      <p:grpSpPr>
        <a:xfrm>
          <a:off x="0" y="0"/>
          <a:ext cx="0" cy="0"/>
          <a:chOff x="0" y="0"/>
          <a:chExt cx="0" cy="0"/>
        </a:xfrm>
      </p:grpSpPr>
      <p:sp>
        <p:nvSpPr>
          <p:cNvPr id="1048741" name="Title 1"/>
          <p:cNvSpPr>
            <a:spLocks noGrp="1"/>
          </p:cNvSpPr>
          <p:nvPr>
            <p:ph type="title"/>
          </p:nvPr>
        </p:nvSpPr>
        <p:spPr/>
        <p:txBody>
          <a:bodyPr/>
          <a:p>
            <a:r>
              <a:t>Receptors </a:t>
            </a:r>
            <a:r>
              <a:t>cont</a:t>
            </a:r>
            <a:r>
              <a:t>’</a:t>
            </a:r>
          </a:p>
        </p:txBody>
      </p:sp>
      <p:sp>
        <p:nvSpPr>
          <p:cNvPr id="1048742" name="Content Placeholder 2"/>
          <p:cNvSpPr>
            <a:spLocks noGrp="1"/>
          </p:cNvSpPr>
          <p:nvPr>
            <p:ph idx="1"/>
          </p:nvPr>
        </p:nvSpPr>
        <p:spPr>
          <a:xfrm>
            <a:off x="1752604" y="1417643"/>
            <a:ext cx="8458200" cy="5211756"/>
          </a:xfrm>
        </p:spPr>
        <p:txBody>
          <a:bodyPr>
            <a:normAutofit/>
          </a:bodyPr>
          <a:p>
            <a:r>
              <a:rPr>
                <a:cs typeface="Arial"/>
              </a:rPr>
              <a:t>Drug </a:t>
            </a:r>
            <a:r>
              <a:rPr b="1">
                <a:cs typeface="Arial"/>
              </a:rPr>
              <a:t>(D) </a:t>
            </a:r>
            <a:r>
              <a:rPr>
                <a:cs typeface="Arial"/>
              </a:rPr>
              <a:t>and Receptor </a:t>
            </a:r>
            <a:r>
              <a:rPr b="1">
                <a:cs typeface="Arial"/>
              </a:rPr>
              <a:t>(R)  </a:t>
            </a:r>
            <a:r>
              <a:rPr>
                <a:cs typeface="Arial"/>
              </a:rPr>
              <a:t>produces a Drug-Receptor complex </a:t>
            </a:r>
            <a:r>
              <a:rPr b="1">
                <a:cs typeface="Arial"/>
              </a:rPr>
              <a:t>(DR) </a:t>
            </a:r>
            <a:r>
              <a:rPr>
                <a:cs typeface="Arial"/>
              </a:rPr>
              <a:t>that </a:t>
            </a:r>
            <a:r>
              <a:rPr b="1">
                <a:cs typeface="Arial"/>
              </a:rPr>
              <a:t>results in conformational changes called effect (E)</a:t>
            </a:r>
            <a:endParaRPr b="1">
              <a:cs typeface="Arial"/>
            </a:endParaRPr>
          </a:p>
          <a:p>
            <a:pPr indent="0" marL="0">
              <a:buNone/>
            </a:pPr>
            <a:endParaRPr b="1">
              <a:cs typeface="Arial"/>
            </a:endParaRPr>
          </a:p>
          <a:p>
            <a:r>
              <a:rPr sz="3300">
                <a:solidFill>
                  <a:srgbClr val="FF0000"/>
                </a:solidFill>
                <a:cs typeface="Arial"/>
              </a:rPr>
              <a:t>The ability of a drug to combine with the receptor  and cause maximum effect is called</a:t>
            </a:r>
            <a:r>
              <a:rPr b="1" sz="3300">
                <a:solidFill>
                  <a:srgbClr val="FF0000"/>
                </a:solidFill>
                <a:cs typeface="Arial"/>
              </a:rPr>
              <a:t> Efficacy (maximum response)</a:t>
            </a:r>
            <a:r>
              <a:rPr sz="3300">
                <a:solidFill>
                  <a:srgbClr val="FF0000"/>
                </a:solidFill>
                <a:cs typeface="Arial"/>
              </a:rPr>
              <a:t> </a:t>
            </a:r>
            <a:endParaRPr sz="3300">
              <a:solidFill>
                <a:srgbClr val="FF0000"/>
              </a:solidFill>
              <a:cs typeface="Arial"/>
            </a:endParaRPr>
          </a:p>
          <a:p>
            <a:r>
              <a:rPr sz="3300">
                <a:solidFill>
                  <a:srgbClr val="FF0000"/>
                </a:solidFill>
                <a:cs typeface="Arial"/>
              </a:rPr>
              <a:t>The initial combination of drug and receptor resulting in conformational change (agonist)  or prevention of conformational change (antagonist)</a:t>
            </a:r>
            <a:r>
              <a:rPr b="1" sz="3300">
                <a:solidFill>
                  <a:srgbClr val="FF0000"/>
                </a:solidFill>
                <a:cs typeface="Arial"/>
              </a:rPr>
              <a:t> is called Drug Action </a:t>
            </a:r>
            <a:endParaRPr sz="3300">
              <a:solidFill>
                <a:srgbClr val="FF0000"/>
              </a:solidFill>
              <a:cs typeface="Arial"/>
            </a:endParaRPr>
          </a:p>
          <a:p>
            <a:pPr indent="-342900" lvl="1" marL="342900"/>
            <a:r>
              <a:rPr sz="3300">
                <a:solidFill>
                  <a:srgbClr val="FF0000"/>
                </a:solidFill>
                <a:cs typeface="Arial"/>
              </a:rPr>
              <a:t>The</a:t>
            </a:r>
            <a:r>
              <a:rPr b="1" sz="3300">
                <a:solidFill>
                  <a:srgbClr val="FF0000"/>
                </a:solidFill>
                <a:cs typeface="Arial"/>
              </a:rPr>
              <a:t> </a:t>
            </a:r>
            <a:r>
              <a:rPr sz="3300">
                <a:solidFill>
                  <a:srgbClr val="FF0000"/>
                </a:solidFill>
                <a:cs typeface="Arial"/>
              </a:rPr>
              <a:t>change in biological function brought as a consequence of drug action </a:t>
            </a:r>
            <a:r>
              <a:rPr b="1" sz="3300">
                <a:solidFill>
                  <a:srgbClr val="FF0000"/>
                </a:solidFill>
                <a:cs typeface="Arial"/>
              </a:rPr>
              <a:t>Drug Effect </a:t>
            </a:r>
            <a:r>
              <a:rPr sz="3300">
                <a:solidFill>
                  <a:srgbClr val="FF0000"/>
                </a:solidFill>
                <a:cs typeface="Arial"/>
              </a:rPr>
              <a:t> </a:t>
            </a:r>
            <a:endParaRPr sz="3300">
              <a:solidFill>
                <a:srgbClr val="FF0000"/>
              </a:solidFill>
              <a:cs typeface="Arial"/>
            </a:endParaRPr>
          </a:p>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729" name=""/>
        <p:cNvGrpSpPr/>
        <p:nvPr/>
      </p:nvGrpSpPr>
      <p:grpSpPr>
        <a:xfrm>
          <a:off x="0" y="0"/>
          <a:ext cx="0" cy="0"/>
          <a:chOff x="0" y="0"/>
          <a:chExt cx="0" cy="0"/>
        </a:xfrm>
      </p:grpSpPr>
      <p:sp>
        <p:nvSpPr>
          <p:cNvPr id="1048743" name="Content Placeholder 2"/>
          <p:cNvSpPr>
            <a:spLocks noGrp="1"/>
          </p:cNvSpPr>
          <p:nvPr>
            <p:ph sz="quarter" idx="4294967295"/>
          </p:nvPr>
        </p:nvSpPr>
        <p:spPr>
          <a:xfrm>
            <a:off x="1828800" y="457200"/>
            <a:ext cx="8610604" cy="6019795"/>
          </a:xfrm>
        </p:spPr>
        <p:txBody>
          <a:bodyPr>
            <a:noAutofit/>
          </a:bodyPr>
          <a:p>
            <a:pPr indent="0" marL="0">
              <a:buNone/>
            </a:pPr>
            <a:r>
              <a:rPr sz="3600">
                <a:cs typeface="Arial"/>
              </a:rPr>
              <a:t>Receptors have 2 important properties; </a:t>
            </a:r>
            <a:r>
              <a:rPr b="1">
                <a:cs typeface="Arial"/>
              </a:rPr>
              <a:t>Specificity and Affinity</a:t>
            </a:r>
            <a:endParaRPr b="1" sz="3600">
              <a:cs typeface="Arial"/>
            </a:endParaRPr>
          </a:p>
          <a:p>
            <a:r>
              <a:rPr b="1" sz="3600">
                <a:cs typeface="Arial"/>
              </a:rPr>
              <a:t>Specificity -</a:t>
            </a:r>
            <a:r>
              <a:rPr sz="3600">
                <a:cs typeface="Arial"/>
              </a:rPr>
              <a:t> receptors will only recognize </a:t>
            </a:r>
            <a:r>
              <a:rPr sz="3600" u="sng">
                <a:cs typeface="Arial"/>
              </a:rPr>
              <a:t>specific chemical configurations that bind to them selectively </a:t>
            </a:r>
            <a:r>
              <a:rPr sz="3600">
                <a:cs typeface="Arial"/>
              </a:rPr>
              <a:t>e.g</a:t>
            </a:r>
            <a:r>
              <a:rPr sz="3600">
                <a:cs typeface="Arial"/>
              </a:rPr>
              <a:t> adrenaline receptors will only bind to adrenaline  and synthetic chemicals similar to adrenaline . </a:t>
            </a:r>
            <a:endParaRPr sz="3600">
              <a:cs typeface="Arial"/>
            </a:endParaRPr>
          </a:p>
          <a:p>
            <a:endParaRPr sz="3600">
              <a:cs typeface="Arial"/>
            </a:endParaRPr>
          </a:p>
          <a:p>
            <a:r>
              <a:rPr b="1" sz="3600">
                <a:cs typeface="Arial"/>
              </a:rPr>
              <a:t>Affinity</a:t>
            </a:r>
            <a:r>
              <a:rPr sz="3600">
                <a:cs typeface="Arial"/>
              </a:rPr>
              <a:t>  - it</a:t>
            </a:r>
            <a:r>
              <a:rPr b="1" sz="3600">
                <a:cs typeface="Arial"/>
              </a:rPr>
              <a:t> is the ability of the chemical or drug to combine with the receptor</a:t>
            </a:r>
            <a:endParaRPr b="1" sz="3600">
              <a:cs typeface="Arial"/>
            </a:endParaRPr>
          </a:p>
          <a:p>
            <a:endParaRPr sz="3600">
              <a:latin typeface="Arial"/>
              <a:cs typeface="Arial"/>
            </a:endParaRPr>
          </a:p>
          <a:p>
            <a:pPr>
              <a:buNone/>
            </a:pPr>
            <a:endParaRPr sz="3600">
              <a:latin typeface="Arial"/>
              <a:cs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730" name=""/>
        <p:cNvGrpSpPr/>
        <p:nvPr/>
      </p:nvGrpSpPr>
      <p:grpSpPr>
        <a:xfrm>
          <a:off x="0" y="0"/>
          <a:ext cx="0" cy="0"/>
          <a:chOff x="0" y="0"/>
          <a:chExt cx="0" cy="0"/>
        </a:xfrm>
      </p:grpSpPr>
      <p:sp>
        <p:nvSpPr>
          <p:cNvPr id="1048744" name="Title 1"/>
          <p:cNvSpPr>
            <a:spLocks noGrp="1"/>
          </p:cNvSpPr>
          <p:nvPr>
            <p:ph type="title"/>
          </p:nvPr>
        </p:nvSpPr>
        <p:spPr/>
        <p:txBody>
          <a:bodyPr/>
          <a:p>
            <a:r>
              <a:t>Terms in receptors </a:t>
            </a:r>
            <a:r>
              <a:t>cont</a:t>
            </a:r>
            <a:r>
              <a:t>’</a:t>
            </a:r>
          </a:p>
        </p:txBody>
      </p:sp>
      <p:sp>
        <p:nvSpPr>
          <p:cNvPr id="1048745" name="Content Placeholder 2"/>
          <p:cNvSpPr>
            <a:spLocks noGrp="1"/>
          </p:cNvSpPr>
          <p:nvPr>
            <p:ph sz="quarter" idx="1"/>
          </p:nvPr>
        </p:nvSpPr>
        <p:spPr>
          <a:xfrm>
            <a:off x="1981204" y="1600200"/>
            <a:ext cx="8229600" cy="4800600"/>
          </a:xfrm>
        </p:spPr>
        <p:txBody>
          <a:bodyPr>
            <a:normAutofit/>
          </a:bodyPr>
          <a:p>
            <a:pPr indent="0" marL="0">
              <a:buNone/>
            </a:pPr>
            <a:r>
              <a:rPr b="1" sz="3600">
                <a:cs typeface="Arial"/>
              </a:rPr>
              <a:t>Partial agonists – </a:t>
            </a:r>
            <a:endParaRPr b="1" sz="3600">
              <a:cs typeface="Arial"/>
            </a:endParaRPr>
          </a:p>
          <a:p>
            <a:r>
              <a:rPr sz="3600">
                <a:cs typeface="Arial"/>
              </a:rPr>
              <a:t>A drug that is able to </a:t>
            </a:r>
            <a:r>
              <a:rPr b="1" sz="3600" u="sng">
                <a:cs typeface="Arial"/>
              </a:rPr>
              <a:t>both stimulate and block a receptor depending on dosage,  duration of action</a:t>
            </a:r>
            <a:r>
              <a:rPr sz="3600">
                <a:cs typeface="Arial"/>
              </a:rPr>
              <a:t>. They are not as effective as full agonists</a:t>
            </a:r>
            <a:endParaRPr>
              <a:cs typeface="Arial"/>
            </a:endParaRPr>
          </a:p>
          <a:p>
            <a:pPr indent="0" marL="0">
              <a:buNone/>
            </a:pPr>
            <a:r>
              <a:rPr b="1">
                <a:latin typeface="Arial"/>
                <a:cs typeface="Arial"/>
              </a:rPr>
              <a:t>Inverse agonist </a:t>
            </a:r>
            <a:r>
              <a:rPr>
                <a:latin typeface="Arial"/>
                <a:cs typeface="Arial"/>
              </a:rPr>
              <a:t>– </a:t>
            </a:r>
            <a:endParaRPr>
              <a:latin typeface="Arial"/>
              <a:cs typeface="Arial"/>
            </a:endParaRPr>
          </a:p>
          <a:p>
            <a:r>
              <a:rPr>
                <a:latin typeface="Arial"/>
                <a:cs typeface="Arial"/>
              </a:rPr>
              <a:t>A drug that </a:t>
            </a:r>
            <a:r>
              <a:rPr u="sng">
                <a:solidFill>
                  <a:srgbClr val="FF0000"/>
                </a:solidFill>
                <a:latin typeface="Arial"/>
                <a:cs typeface="Arial"/>
              </a:rPr>
              <a:t>activates a receptor to produce an effect in the opposite direction </a:t>
            </a:r>
            <a:r>
              <a:rPr>
                <a:solidFill>
                  <a:srgbClr val="FF0000"/>
                </a:solidFill>
                <a:latin typeface="Arial"/>
                <a:cs typeface="Arial"/>
              </a:rPr>
              <a:t>to that of the agonist</a:t>
            </a:r>
            <a:endParaRPr>
              <a:solidFill>
                <a:srgbClr val="FF0000"/>
              </a:solidFill>
              <a:latin typeface="Arial"/>
              <a:cs typeface="Arial"/>
            </a:endParaRPr>
          </a:p>
          <a:p>
            <a:pPr indent="0" lvl="1" marL="457200">
              <a:buNone/>
            </a:pPr>
            <a:endParaRPr>
              <a:cs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731" name=""/>
        <p:cNvGrpSpPr/>
        <p:nvPr/>
      </p:nvGrpSpPr>
      <p:grpSpPr>
        <a:xfrm>
          <a:off x="0" y="0"/>
          <a:ext cx="0" cy="0"/>
          <a:chOff x="0" y="0"/>
          <a:chExt cx="0" cy="0"/>
        </a:xfrm>
      </p:grpSpPr>
      <p:sp>
        <p:nvSpPr>
          <p:cNvPr id="1048746" name="Title 3"/>
          <p:cNvSpPr>
            <a:spLocks noGrp="1"/>
          </p:cNvSpPr>
          <p:nvPr>
            <p:ph type="title"/>
          </p:nvPr>
        </p:nvSpPr>
        <p:spPr>
          <a:xfrm>
            <a:off x="2438404" y="274643"/>
            <a:ext cx="7772400" cy="715965"/>
          </a:xfrm>
        </p:spPr>
        <p:txBody>
          <a:bodyPr>
            <a:normAutofit fontScale="93182"/>
          </a:bodyPr>
          <a:p>
            <a:r>
              <a:t>Terms in receptor binding </a:t>
            </a:r>
          </a:p>
        </p:txBody>
      </p:sp>
      <p:sp>
        <p:nvSpPr>
          <p:cNvPr id="1048747" name="Content Placeholder 2"/>
          <p:cNvSpPr>
            <a:spLocks noGrp="1"/>
          </p:cNvSpPr>
          <p:nvPr>
            <p:ph sz="quarter" idx="1"/>
          </p:nvPr>
        </p:nvSpPr>
        <p:spPr>
          <a:xfrm>
            <a:off x="1564941" y="990595"/>
            <a:ext cx="8839204" cy="5638804"/>
          </a:xfrm>
        </p:spPr>
        <p:txBody>
          <a:bodyPr>
            <a:normAutofit/>
          </a:bodyPr>
          <a:p>
            <a:pPr>
              <a:buNone/>
            </a:pPr>
            <a:r>
              <a:rPr b="1" sz="3600">
                <a:cs typeface="Arial"/>
              </a:rPr>
              <a:t>Agonist</a:t>
            </a:r>
            <a:r>
              <a:rPr sz="3600">
                <a:cs typeface="Arial"/>
              </a:rPr>
              <a:t> – </a:t>
            </a:r>
            <a:r>
              <a:rPr b="1" sz="3600">
                <a:cs typeface="Arial"/>
              </a:rPr>
              <a:t>a drug that activates a receptor </a:t>
            </a:r>
            <a:r>
              <a:rPr sz="3600">
                <a:cs typeface="Arial"/>
              </a:rPr>
              <a:t>to produce an effect or response. </a:t>
            </a:r>
            <a:endParaRPr sz="3600">
              <a:cs typeface="Arial"/>
            </a:endParaRPr>
          </a:p>
          <a:p>
            <a:pPr>
              <a:buNone/>
            </a:pPr>
            <a:r>
              <a:rPr sz="3600">
                <a:cs typeface="Arial"/>
              </a:rPr>
              <a:t>Agonists have both affinity and efficacy</a:t>
            </a:r>
            <a:endParaRPr sz="3600">
              <a:cs typeface="Arial"/>
            </a:endParaRPr>
          </a:p>
          <a:p>
            <a:pPr>
              <a:buNone/>
            </a:pPr>
            <a:r>
              <a:rPr sz="3600">
                <a:cs typeface="Arial"/>
              </a:rPr>
              <a:t>Response depends on type of cell </a:t>
            </a:r>
            <a:r>
              <a:rPr sz="3600">
                <a:cs typeface="Arial"/>
              </a:rPr>
              <a:t>e.g</a:t>
            </a:r>
            <a:endParaRPr sz="3600">
              <a:cs typeface="Arial"/>
            </a:endParaRPr>
          </a:p>
          <a:p>
            <a:pPr lvl="1"/>
            <a:r>
              <a:rPr>
                <a:cs typeface="Arial"/>
              </a:rPr>
              <a:t>Morphine – brain neurons – analgesia </a:t>
            </a:r>
            <a:endParaRPr>
              <a:cs typeface="Arial"/>
            </a:endParaRPr>
          </a:p>
          <a:p>
            <a:pPr lvl="1"/>
            <a:r>
              <a:rPr>
                <a:cs typeface="Arial"/>
              </a:rPr>
              <a:t>Adrenaline – binds to neuronal receptors – generates nerve impulse</a:t>
            </a:r>
            <a:endParaRPr>
              <a:cs typeface="Arial"/>
            </a:endParaRPr>
          </a:p>
          <a:p>
            <a:pPr lvl="1"/>
            <a:r>
              <a:rPr>
                <a:cs typeface="Arial"/>
              </a:rPr>
              <a:t>Adrenaline – binds to heart muscle receptors –generates contraction of heart muscle</a:t>
            </a:r>
            <a:endParaRPr>
              <a:cs typeface="Arial"/>
            </a:endParaRPr>
          </a:p>
          <a:p>
            <a:pPr lvl="1"/>
            <a:r>
              <a:rPr>
                <a:cs typeface="Arial"/>
              </a:rPr>
              <a:t>Salbutamol– binds to bronchial muscles –cause bronchodilation</a:t>
            </a:r>
            <a:endParaRPr>
              <a:cs typeface="Arial"/>
            </a:endParaRPr>
          </a:p>
          <a:p>
            <a:endParaRPr sz="3600">
              <a:latin typeface="Arial"/>
              <a:cs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732" name=""/>
        <p:cNvGrpSpPr/>
        <p:nvPr/>
      </p:nvGrpSpPr>
      <p:grpSpPr>
        <a:xfrm>
          <a:off x="0" y="0"/>
          <a:ext cx="0" cy="0"/>
          <a:chOff x="0" y="0"/>
          <a:chExt cx="0" cy="0"/>
        </a:xfrm>
      </p:grpSpPr>
      <p:sp>
        <p:nvSpPr>
          <p:cNvPr id="1048748" name="Title 1"/>
          <p:cNvSpPr>
            <a:spLocks noGrp="1"/>
          </p:cNvSpPr>
          <p:nvPr>
            <p:ph type="title"/>
          </p:nvPr>
        </p:nvSpPr>
        <p:spPr/>
        <p:txBody>
          <a:bodyPr/>
          <a:p>
            <a:r>
              <a:t>Terms in receptors </a:t>
            </a:r>
            <a:r>
              <a:t>cont</a:t>
            </a:r>
            <a:r>
              <a:t>’</a:t>
            </a:r>
          </a:p>
        </p:txBody>
      </p:sp>
      <p:sp>
        <p:nvSpPr>
          <p:cNvPr id="1048749" name="Content Placeholder 2"/>
          <p:cNvSpPr>
            <a:spLocks noGrp="1"/>
          </p:cNvSpPr>
          <p:nvPr>
            <p:ph sz="quarter" idx="1"/>
          </p:nvPr>
        </p:nvSpPr>
        <p:spPr>
          <a:xfrm>
            <a:off x="1981204" y="1371600"/>
            <a:ext cx="8229600" cy="4953004"/>
          </a:xfrm>
        </p:spPr>
        <p:txBody>
          <a:bodyPr>
            <a:normAutofit/>
          </a:bodyPr>
          <a:p>
            <a:r>
              <a:rPr b="1" sz="4000">
                <a:cs typeface="Arial"/>
              </a:rPr>
              <a:t>Antagonist</a:t>
            </a:r>
            <a:r>
              <a:rPr sz="4000">
                <a:cs typeface="Arial"/>
              </a:rPr>
              <a:t> – </a:t>
            </a:r>
            <a:endParaRPr sz="4000">
              <a:cs typeface="Arial"/>
            </a:endParaRPr>
          </a:p>
          <a:p>
            <a:pPr lvl="1"/>
            <a:r>
              <a:rPr sz="3600">
                <a:cs typeface="Arial"/>
              </a:rPr>
              <a:t>A drug that </a:t>
            </a:r>
            <a:r>
              <a:rPr sz="3600" u="sng">
                <a:cs typeface="Arial"/>
              </a:rPr>
              <a:t>binds to a receptor but does not activate/have any effect on them </a:t>
            </a:r>
            <a:r>
              <a:rPr sz="3600" u="sng">
                <a:cs typeface="Arial"/>
              </a:rPr>
              <a:t>on it own</a:t>
            </a:r>
            <a:r>
              <a:rPr sz="3600">
                <a:cs typeface="Arial"/>
              </a:rPr>
              <a:t>.</a:t>
            </a:r>
            <a:endParaRPr sz="3600">
              <a:cs typeface="Arial"/>
            </a:endParaRPr>
          </a:p>
          <a:p>
            <a:pPr indent="0" lvl="1" marL="457200">
              <a:buNone/>
            </a:pPr>
            <a:endParaRPr sz="3600">
              <a:cs typeface="Arial"/>
            </a:endParaRPr>
          </a:p>
          <a:p>
            <a:pPr lvl="1"/>
            <a:r>
              <a:rPr b="1" sz="3600">
                <a:cs typeface="Arial"/>
              </a:rPr>
              <a:t>It prevents action of the agonist on the receptor</a:t>
            </a:r>
            <a:r>
              <a:rPr sz="3600">
                <a:cs typeface="Arial"/>
              </a:rPr>
              <a:t>. </a:t>
            </a:r>
            <a:r>
              <a:rPr sz="3600">
                <a:cs typeface="Arial"/>
              </a:rPr>
              <a:t>E.g</a:t>
            </a:r>
            <a:r>
              <a:rPr sz="3600">
                <a:cs typeface="Arial"/>
              </a:rPr>
              <a:t> naloxone – binds to brain neurons – no morphine effects</a:t>
            </a:r>
            <a:endParaRPr sz="3600">
              <a:cs typeface="Arial"/>
            </a:endParaRPr>
          </a:p>
          <a:p>
            <a:pPr lvl="1"/>
            <a:r>
              <a:rPr sz="3600">
                <a:solidFill>
                  <a:srgbClr val="FF0000"/>
                </a:solidFill>
                <a:cs typeface="Arial"/>
              </a:rPr>
              <a:t>Have affinity  but no efficacy</a:t>
            </a:r>
            <a:endParaRPr sz="3600">
              <a:solidFill>
                <a:srgbClr val="FF0000"/>
              </a:solidFill>
              <a:cs typeface="Arial"/>
            </a:endParaRPr>
          </a:p>
          <a:p>
            <a:endParaRPr>
              <a:latin typeface="Arial"/>
              <a:cs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733" name=""/>
        <p:cNvGrpSpPr/>
        <p:nvPr/>
      </p:nvGrpSpPr>
      <p:grpSpPr>
        <a:xfrm>
          <a:off x="0" y="0"/>
          <a:ext cx="0" cy="0"/>
          <a:chOff x="0" y="0"/>
          <a:chExt cx="0" cy="0"/>
        </a:xfrm>
      </p:grpSpPr>
      <p:sp>
        <p:nvSpPr>
          <p:cNvPr id="1048750" name="Title 1"/>
          <p:cNvSpPr>
            <a:spLocks noGrp="1"/>
          </p:cNvSpPr>
          <p:nvPr>
            <p:ph type="title"/>
          </p:nvPr>
        </p:nvSpPr>
        <p:spPr/>
        <p:txBody>
          <a:bodyPr/>
          <a:p/>
        </p:txBody>
      </p:sp>
      <p:pic>
        <p:nvPicPr>
          <p:cNvPr id="2097154" name="Content Placeholder 3" descr="http://www.uky.edu/%7Emtp/824%20cl1.jpg"/>
          <p:cNvPicPr>
            <a:picLocks noGrp="1"/>
          </p:cNvPicPr>
          <p:nvPr>
            <p:ph sz="quarter" idx="1"/>
          </p:nvPr>
        </p:nvPicPr>
        <p:blipFill>
          <a:blip xmlns:r="http://schemas.openxmlformats.org/officeDocument/2006/relationships" r:embed="rId1" cstate="print"/>
          <a:srcRect/>
          <a:stretch>
            <a:fillRect/>
          </a:stretch>
        </p:blipFill>
        <p:spPr bwMode="auto">
          <a:xfrm>
            <a:off x="1828800" y="228600"/>
            <a:ext cx="8458200" cy="6629400"/>
          </a:xfrm>
          <a:prstGeom prst="rect"/>
          <a:noFill/>
          <a:ln w="9525">
            <a:noFill/>
            <a:miter lim="800000"/>
            <a:headEnd/>
            <a:tailEnd/>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734" name=""/>
        <p:cNvGrpSpPr/>
        <p:nvPr/>
      </p:nvGrpSpPr>
      <p:grpSpPr>
        <a:xfrm>
          <a:off x="0" y="0"/>
          <a:ext cx="0" cy="0"/>
          <a:chOff x="0" y="0"/>
          <a:chExt cx="0" cy="0"/>
        </a:xfrm>
      </p:grpSpPr>
      <p:sp>
        <p:nvSpPr>
          <p:cNvPr id="1048751" name="Title 1"/>
          <p:cNvSpPr>
            <a:spLocks noGrp="1"/>
          </p:cNvSpPr>
          <p:nvPr>
            <p:ph type="title"/>
          </p:nvPr>
        </p:nvSpPr>
        <p:spPr/>
        <p:txBody>
          <a:bodyPr/>
          <a:p/>
        </p:txBody>
      </p:sp>
      <p:pic>
        <p:nvPicPr>
          <p:cNvPr id="2097155" name="Content Placeholder 3" descr="https://classconnection.s3.amazonaws.com/198/flashcards/538198/gif/art_agonist1331272061033.gif"/>
          <p:cNvPicPr>
            <a:picLocks noGrp="1"/>
          </p:cNvPicPr>
          <p:nvPr>
            <p:ph sz="quarter" idx="1"/>
          </p:nvPr>
        </p:nvPicPr>
        <p:blipFill>
          <a:blip xmlns:r="http://schemas.openxmlformats.org/officeDocument/2006/relationships" r:embed="rId1"/>
          <a:srcRect/>
          <a:stretch>
            <a:fillRect/>
          </a:stretch>
        </p:blipFill>
        <p:spPr bwMode="auto">
          <a:xfrm>
            <a:off x="1828800" y="0"/>
            <a:ext cx="8610604" cy="6553204"/>
          </a:xfrm>
          <a:prstGeom prst="rect"/>
          <a:noFill/>
          <a:ln w="9525">
            <a:noFill/>
            <a:miter lim="800000"/>
            <a:headEnd/>
            <a:tailEnd/>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735" name=""/>
        <p:cNvGrpSpPr/>
        <p:nvPr/>
      </p:nvGrpSpPr>
      <p:grpSpPr>
        <a:xfrm>
          <a:off x="0" y="0"/>
          <a:ext cx="0" cy="0"/>
          <a:chOff x="0" y="0"/>
          <a:chExt cx="0" cy="0"/>
        </a:xfrm>
      </p:grpSpPr>
      <p:sp>
        <p:nvSpPr>
          <p:cNvPr id="1048752" name="Title 1"/>
          <p:cNvSpPr>
            <a:spLocks noGrp="1"/>
          </p:cNvSpPr>
          <p:nvPr>
            <p:ph type="title"/>
          </p:nvPr>
        </p:nvSpPr>
        <p:spPr/>
        <p:txBody>
          <a:bodyPr/>
          <a:p>
            <a:r>
              <a:t>NB</a:t>
            </a:r>
          </a:p>
        </p:txBody>
      </p:sp>
      <p:sp>
        <p:nvSpPr>
          <p:cNvPr id="1048753" name="Content Placeholder 2"/>
          <p:cNvSpPr>
            <a:spLocks noGrp="1"/>
          </p:cNvSpPr>
          <p:nvPr>
            <p:ph sz="quarter" idx="1"/>
          </p:nvPr>
        </p:nvSpPr>
        <p:spPr>
          <a:xfrm>
            <a:off x="1524004" y="1295404"/>
            <a:ext cx="8686800" cy="4724404"/>
          </a:xfrm>
        </p:spPr>
        <p:txBody>
          <a:bodyPr>
            <a:normAutofit fontScale="97222"/>
          </a:bodyPr>
          <a:p>
            <a:r>
              <a:rPr sz="3600" u="sng"/>
              <a:t>Prolonged deprivation </a:t>
            </a:r>
            <a:r>
              <a:rPr sz="3600"/>
              <a:t>of the agonist  results in </a:t>
            </a:r>
            <a:r>
              <a:rPr sz="3600" u="sng"/>
              <a:t>supersensitivity</a:t>
            </a:r>
            <a:r>
              <a:rPr sz="3600"/>
              <a:t> of the receptor to the agonist – </a:t>
            </a:r>
            <a:r>
              <a:rPr sz="3600"/>
              <a:t>e.g</a:t>
            </a:r>
            <a:r>
              <a:rPr sz="3600"/>
              <a:t> morphine response. </a:t>
            </a:r>
            <a:endParaRPr sz="3600"/>
          </a:p>
          <a:p>
            <a:endParaRPr sz="3600"/>
          </a:p>
          <a:p>
            <a:r>
              <a:rPr sz="3600" u="sng"/>
              <a:t>Prolonged exposure </a:t>
            </a:r>
            <a:r>
              <a:rPr sz="3600"/>
              <a:t>to agonists leads to </a:t>
            </a:r>
            <a:r>
              <a:rPr sz="3600" u="sng"/>
              <a:t>desensitization</a:t>
            </a:r>
            <a:r>
              <a:rPr sz="3600"/>
              <a:t> – receptor becomes less sensitive </a:t>
            </a:r>
            <a:r>
              <a:rPr sz="3600"/>
              <a:t>e.g</a:t>
            </a:r>
            <a:r>
              <a:rPr sz="3600"/>
              <a:t> bronchial asthma treated with salbutamol inhaler </a:t>
            </a:r>
            <a:endParaRPr sz="360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736" name=""/>
        <p:cNvGrpSpPr/>
        <p:nvPr/>
      </p:nvGrpSpPr>
      <p:grpSpPr>
        <a:xfrm>
          <a:off x="0" y="0"/>
          <a:ext cx="0" cy="0"/>
          <a:chOff x="0" y="0"/>
          <a:chExt cx="0" cy="0"/>
        </a:xfrm>
      </p:grpSpPr>
      <p:sp>
        <p:nvSpPr>
          <p:cNvPr id="1048754" name="Title 3"/>
          <p:cNvSpPr>
            <a:spLocks noGrp="1"/>
          </p:cNvSpPr>
          <p:nvPr>
            <p:ph type="title"/>
          </p:nvPr>
        </p:nvSpPr>
        <p:spPr/>
        <p:txBody>
          <a:bodyPr/>
          <a:p>
            <a:r>
              <a:t>DRC</a:t>
            </a:r>
          </a:p>
        </p:txBody>
      </p:sp>
      <p:sp>
        <p:nvSpPr>
          <p:cNvPr id="1048755" name="Text Placeholder 4"/>
          <p:cNvSpPr>
            <a:spLocks noGrp="1"/>
          </p:cNvSpPr>
          <p:nvPr>
            <p:ph type="body" idx="1"/>
          </p:nvPr>
        </p:nvSpPr>
        <p:spPr/>
        <p:txBody>
          <a:bodyPr>
            <a:normAutofit/>
          </a:bodyPr>
          <a:p>
            <a:r>
              <a:rPr b="1" sz="4000">
                <a:solidFill>
                  <a:schemeClr val="tx1"/>
                </a:solidFill>
              </a:rPr>
              <a:t>DOSE –RESPONSE CURVE</a:t>
            </a:r>
            <a:endParaRPr b="1" sz="4000">
              <a:solidFill>
                <a:schemeClr val="tx1"/>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737" name=""/>
        <p:cNvGrpSpPr/>
        <p:nvPr/>
      </p:nvGrpSpPr>
      <p:grpSpPr>
        <a:xfrm>
          <a:off x="0" y="0"/>
          <a:ext cx="0" cy="0"/>
          <a:chOff x="0" y="0"/>
          <a:chExt cx="0" cy="0"/>
        </a:xfrm>
      </p:grpSpPr>
      <p:sp>
        <p:nvSpPr>
          <p:cNvPr id="1048756" name="Title 1"/>
          <p:cNvSpPr>
            <a:spLocks noGrp="1"/>
          </p:cNvSpPr>
          <p:nvPr>
            <p:ph type="title"/>
          </p:nvPr>
        </p:nvSpPr>
        <p:spPr/>
        <p:txBody>
          <a:bodyPr/>
          <a:p>
            <a:r>
              <a:t>LOG 10 DOSE RESPONSE CURVE</a:t>
            </a:r>
          </a:p>
        </p:txBody>
      </p:sp>
      <p:sp>
        <p:nvSpPr>
          <p:cNvPr id="1048757" name="Content Placeholder 2"/>
          <p:cNvSpPr>
            <a:spLocks noGrp="1"/>
          </p:cNvSpPr>
          <p:nvPr>
            <p:ph sz="quarter" idx="1"/>
          </p:nvPr>
        </p:nvSpPr>
        <p:spPr>
          <a:xfrm>
            <a:off x="1524004" y="1295404"/>
            <a:ext cx="9144000" cy="5257800"/>
          </a:xfrm>
        </p:spPr>
        <p:txBody>
          <a:bodyPr>
            <a:normAutofit fontScale="91667" lnSpcReduction="20000"/>
          </a:bodyPr>
          <a:p>
            <a:r>
              <a:rPr sz="4000">
                <a:cs typeface="Arial"/>
              </a:rPr>
              <a:t>Shows response is proportional to the log of the dose</a:t>
            </a:r>
            <a:endParaRPr sz="4000">
              <a:cs typeface="Arial"/>
            </a:endParaRPr>
          </a:p>
          <a:p>
            <a:r>
              <a:rPr sz="4000">
                <a:solidFill>
                  <a:srgbClr val="00B050"/>
                </a:solidFill>
                <a:cs typeface="Arial"/>
              </a:rPr>
              <a:t>Two relationships are described when a drug is administered systemically</a:t>
            </a:r>
            <a:endParaRPr sz="4000">
              <a:solidFill>
                <a:srgbClr val="00B050"/>
              </a:solidFill>
              <a:cs typeface="Arial"/>
            </a:endParaRPr>
          </a:p>
          <a:p>
            <a:pPr lvl="1"/>
            <a:r>
              <a:rPr b="1">
                <a:cs typeface="Arial"/>
              </a:rPr>
              <a:t>Dose – </a:t>
            </a:r>
            <a:r>
              <a:rPr b="1">
                <a:solidFill>
                  <a:srgbClr val="FF0000"/>
                </a:solidFill>
                <a:cs typeface="Arial"/>
              </a:rPr>
              <a:t>plasma concentration </a:t>
            </a:r>
            <a:r>
              <a:rPr b="1">
                <a:cs typeface="Arial"/>
              </a:rPr>
              <a:t>relationship (Pharmacokinetics)</a:t>
            </a:r>
            <a:endParaRPr b="1">
              <a:cs typeface="Arial"/>
            </a:endParaRPr>
          </a:p>
          <a:p>
            <a:pPr lvl="1"/>
            <a:r>
              <a:rPr b="1">
                <a:solidFill>
                  <a:srgbClr val="FF0000"/>
                </a:solidFill>
                <a:cs typeface="Arial"/>
              </a:rPr>
              <a:t>Plasma concentration </a:t>
            </a:r>
            <a:r>
              <a:rPr b="1">
                <a:cs typeface="Arial"/>
              </a:rPr>
              <a:t>– response relationship</a:t>
            </a:r>
            <a:endParaRPr b="1">
              <a:cs typeface="Arial"/>
            </a:endParaRPr>
          </a:p>
          <a:p>
            <a:r>
              <a:rPr sz="3600">
                <a:cs typeface="Arial"/>
              </a:rPr>
              <a:t>Generally the intensity of response increases with increase in dose (or concentration at the receptor)</a:t>
            </a:r>
            <a:endParaRPr sz="3600">
              <a:cs typeface="Arial"/>
            </a:endParaRPr>
          </a:p>
          <a:p>
            <a:pPr indent="0" marL="0">
              <a:buNone/>
            </a:pPr>
            <a:endParaRPr sz="4000">
              <a:cs typeface="Arial"/>
            </a:endParaRPr>
          </a:p>
          <a:p>
            <a:r>
              <a:rPr sz="4000">
                <a:cs typeface="Arial"/>
              </a:rPr>
              <a:t>Yields  information  on mechanism of action, </a:t>
            </a:r>
            <a:r>
              <a:rPr b="1" sz="4000">
                <a:cs typeface="Arial"/>
              </a:rPr>
              <a:t>potency</a:t>
            </a:r>
            <a:r>
              <a:rPr sz="4000">
                <a:cs typeface="Arial"/>
              </a:rPr>
              <a:t>, </a:t>
            </a:r>
            <a:r>
              <a:rPr b="1" sz="4000">
                <a:cs typeface="Arial"/>
              </a:rPr>
              <a:t>efficacy</a:t>
            </a:r>
            <a:r>
              <a:rPr sz="4000">
                <a:cs typeface="Arial"/>
              </a:rPr>
              <a:t> and action as an antagonist</a:t>
            </a:r>
            <a:endParaRPr sz="4000">
              <a:cs typeface="Arial"/>
            </a:endParaRPr>
          </a:p>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738" name=""/>
        <p:cNvGrpSpPr/>
        <p:nvPr/>
      </p:nvGrpSpPr>
      <p:grpSpPr>
        <a:xfrm>
          <a:off x="0" y="0"/>
          <a:ext cx="0" cy="0"/>
          <a:chOff x="0" y="0"/>
          <a:chExt cx="0" cy="0"/>
        </a:xfrm>
      </p:grpSpPr>
      <p:sp>
        <p:nvSpPr>
          <p:cNvPr id="1048758" name="Content Placeholder 2"/>
          <p:cNvSpPr>
            <a:spLocks noGrp="1"/>
          </p:cNvSpPr>
          <p:nvPr>
            <p:ph sz="quarter" idx="4294967295"/>
          </p:nvPr>
        </p:nvSpPr>
        <p:spPr>
          <a:xfrm>
            <a:off x="1600200" y="304795"/>
            <a:ext cx="9067804" cy="6172200"/>
          </a:xfrm>
        </p:spPr>
        <p:txBody>
          <a:bodyPr>
            <a:noAutofit/>
          </a:bodyPr>
          <a:p>
            <a:r>
              <a:rPr b="1" sz="2400">
                <a:cs typeface="Arial"/>
              </a:rPr>
              <a:t>Potency – </a:t>
            </a:r>
            <a:endParaRPr b="1" sz="2400">
              <a:cs typeface="Arial"/>
            </a:endParaRPr>
          </a:p>
          <a:p>
            <a:pPr lvl="1"/>
            <a:r>
              <a:rPr>
                <a:cs typeface="Arial"/>
              </a:rPr>
              <a:t>Refers to the </a:t>
            </a:r>
            <a:r>
              <a:rPr b="1">
                <a:cs typeface="Arial"/>
              </a:rPr>
              <a:t>amount of drug needed to produce a certain response</a:t>
            </a:r>
            <a:r>
              <a:rPr>
                <a:cs typeface="Arial"/>
              </a:rPr>
              <a:t>. </a:t>
            </a:r>
            <a:endParaRPr>
              <a:cs typeface="Arial"/>
            </a:endParaRPr>
          </a:p>
          <a:p>
            <a:pPr lvl="1"/>
            <a:r>
              <a:rPr b="1">
                <a:solidFill>
                  <a:srgbClr val="FF0000"/>
                </a:solidFill>
                <a:cs typeface="Arial"/>
              </a:rPr>
              <a:t>Dose axis </a:t>
            </a:r>
            <a:r>
              <a:rPr>
                <a:cs typeface="Arial"/>
              </a:rPr>
              <a:t>(X axis)  is the index of drug potency. </a:t>
            </a:r>
            <a:endParaRPr>
              <a:cs typeface="Arial"/>
            </a:endParaRPr>
          </a:p>
          <a:p>
            <a:pPr>
              <a:buNone/>
            </a:pPr>
            <a:r>
              <a:rPr sz="2400">
                <a:cs typeface="Arial"/>
              </a:rPr>
              <a:t>NB higher potency does not mean clinically superior unless therapeutic benefits outweigh adverse effects</a:t>
            </a:r>
            <a:endParaRPr sz="2400">
              <a:cs typeface="Arial"/>
            </a:endParaRPr>
          </a:p>
          <a:p>
            <a:r>
              <a:rPr b="1" sz="2400">
                <a:cs typeface="Arial"/>
              </a:rPr>
              <a:t>Efficacy – </a:t>
            </a:r>
            <a:endParaRPr b="1" sz="2400">
              <a:cs typeface="Arial"/>
            </a:endParaRPr>
          </a:p>
          <a:p>
            <a:pPr lvl="1"/>
            <a:r>
              <a:rPr>
                <a:cs typeface="Arial"/>
              </a:rPr>
              <a:t>Refers to </a:t>
            </a:r>
            <a:r>
              <a:rPr b="1">
                <a:cs typeface="Arial"/>
              </a:rPr>
              <a:t>the maximal response that can be elicited by the drug. </a:t>
            </a:r>
            <a:endParaRPr b="1">
              <a:cs typeface="Arial"/>
            </a:endParaRPr>
          </a:p>
          <a:p>
            <a:pPr lvl="1"/>
            <a:r>
              <a:rPr>
                <a:cs typeface="Arial"/>
              </a:rPr>
              <a:t>Plotted on Y axis </a:t>
            </a:r>
            <a:r>
              <a:rPr b="1">
                <a:solidFill>
                  <a:srgbClr val="FF0000"/>
                </a:solidFill>
                <a:cs typeface="Arial"/>
              </a:rPr>
              <a:t>of response </a:t>
            </a:r>
            <a:endParaRPr b="1">
              <a:solidFill>
                <a:srgbClr val="FF0000"/>
              </a:solidFill>
              <a:cs typeface="Arial"/>
            </a:endParaRPr>
          </a:p>
          <a:p>
            <a:pPr lvl="1"/>
            <a:r>
              <a:rPr>
                <a:cs typeface="Arial"/>
              </a:rPr>
              <a:t>Efficacy is a more decisive factor for choice of drug. E.g. pethidine is less potent but equally efficacious analgesic as morphine</a:t>
            </a:r>
            <a:endParaRPr>
              <a:cs typeface="Arial"/>
            </a:endParaRPr>
          </a:p>
          <a:p>
            <a:pPr lvl="1"/>
            <a:r>
              <a:t>Intensity of response is related to concentration of the drug at the site of action.</a:t>
            </a:r>
          </a:p>
          <a:p>
            <a:pPr lvl="1"/>
            <a:endParaRPr>
              <a:cs typeface="Arial"/>
            </a:endParaRPr>
          </a:p>
          <a:p>
            <a:pPr>
              <a:buNone/>
            </a:pPr>
            <a:endParaRPr sz="4000">
              <a:cs typeface="Arial"/>
            </a:endParaRPr>
          </a:p>
          <a:p>
            <a:endParaRPr sz="400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739" name=""/>
        <p:cNvGrpSpPr/>
        <p:nvPr/>
      </p:nvGrpSpPr>
      <p:grpSpPr>
        <a:xfrm>
          <a:off x="0" y="0"/>
          <a:ext cx="0" cy="0"/>
          <a:chOff x="0" y="0"/>
          <a:chExt cx="0" cy="0"/>
        </a:xfrm>
      </p:grpSpPr>
      <p:sp>
        <p:nvSpPr>
          <p:cNvPr id="1048759" name="Title 1"/>
          <p:cNvSpPr>
            <a:spLocks noGrp="1"/>
          </p:cNvSpPr>
          <p:nvPr>
            <p:ph type="title"/>
          </p:nvPr>
        </p:nvSpPr>
        <p:spPr/>
        <p:txBody>
          <a:bodyPr/>
          <a:p/>
        </p:txBody>
      </p:sp>
      <p:pic>
        <p:nvPicPr>
          <p:cNvPr id="2097156" name="Content Placeholder 3" descr="http://image.slidesharecdn.com/drug-receptorinteractions-100420022415-phpapp02/95/drug-receptor-interactions-16-728.jpg?cb=1271730332"/>
          <p:cNvPicPr>
            <a:picLocks noGrp="1"/>
          </p:cNvPicPr>
          <p:nvPr>
            <p:ph sz="quarter" idx="1"/>
          </p:nvPr>
        </p:nvPicPr>
        <p:blipFill>
          <a:blip xmlns:r="http://schemas.openxmlformats.org/officeDocument/2006/relationships" r:embed="rId1"/>
          <a:srcRect/>
          <a:stretch>
            <a:fillRect/>
          </a:stretch>
        </p:blipFill>
        <p:spPr bwMode="auto">
          <a:xfrm>
            <a:off x="1752604" y="0"/>
            <a:ext cx="8915400" cy="6858000"/>
          </a:xfrm>
          <a:prstGeom prst="rect"/>
          <a:noFill/>
          <a:ln w="9525">
            <a:noFill/>
            <a:miter lim="800000"/>
            <a:headEnd/>
            <a:tailEnd/>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740" name=""/>
        <p:cNvGrpSpPr/>
        <p:nvPr/>
      </p:nvGrpSpPr>
      <p:grpSpPr>
        <a:xfrm>
          <a:off x="0" y="0"/>
          <a:ext cx="0" cy="0"/>
          <a:chOff x="0" y="0"/>
          <a:chExt cx="0" cy="0"/>
        </a:xfrm>
      </p:grpSpPr>
      <p:sp>
        <p:nvSpPr>
          <p:cNvPr id="1048760" name="Title 1"/>
          <p:cNvSpPr>
            <a:spLocks noGrp="1"/>
          </p:cNvSpPr>
          <p:nvPr>
            <p:ph type="title"/>
          </p:nvPr>
        </p:nvSpPr>
        <p:spPr/>
        <p:txBody>
          <a:bodyPr/>
          <a:p/>
        </p:txBody>
      </p:sp>
      <p:pic>
        <p:nvPicPr>
          <p:cNvPr id="2097157" name="Content Placeholder 3" descr="http://images.slideplayer.com/1/248889/slides/slide_89.jpg"/>
          <p:cNvPicPr>
            <a:picLocks noGrp="1"/>
          </p:cNvPicPr>
          <p:nvPr>
            <p:ph sz="quarter" idx="1"/>
          </p:nvPr>
        </p:nvPicPr>
        <p:blipFill>
          <a:blip xmlns:r="http://schemas.openxmlformats.org/officeDocument/2006/relationships" r:embed="rId1"/>
          <a:srcRect/>
          <a:stretch>
            <a:fillRect/>
          </a:stretch>
        </p:blipFill>
        <p:spPr bwMode="auto">
          <a:xfrm>
            <a:off x="1828800" y="381004"/>
            <a:ext cx="8534395" cy="6476995"/>
          </a:xfrm>
          <a:prstGeom prst="rect"/>
          <a:noFill/>
          <a:ln w="9525">
            <a:noFill/>
            <a:miter lim="800000"/>
            <a:headEnd/>
            <a:tailEnd/>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741" name=""/>
        <p:cNvGrpSpPr/>
        <p:nvPr/>
      </p:nvGrpSpPr>
      <p:grpSpPr>
        <a:xfrm>
          <a:off x="0" y="0"/>
          <a:ext cx="0" cy="0"/>
          <a:chOff x="0" y="0"/>
          <a:chExt cx="0" cy="0"/>
        </a:xfrm>
      </p:grpSpPr>
      <p:sp>
        <p:nvSpPr>
          <p:cNvPr id="1048761" name="Title 1"/>
          <p:cNvSpPr>
            <a:spLocks noGrp="1"/>
          </p:cNvSpPr>
          <p:nvPr>
            <p:ph type="title"/>
          </p:nvPr>
        </p:nvSpPr>
        <p:spPr/>
        <p:txBody>
          <a:bodyPr/>
          <a:p>
            <a:r>
              <a:t>Drug response curve </a:t>
            </a:r>
            <a:r>
              <a:t>cont</a:t>
            </a:r>
          </a:p>
        </p:txBody>
      </p:sp>
      <p:sp>
        <p:nvSpPr>
          <p:cNvPr id="1048762" name="Content Placeholder 2"/>
          <p:cNvSpPr>
            <a:spLocks noGrp="1"/>
          </p:cNvSpPr>
          <p:nvPr>
            <p:ph sz="quarter" idx="1"/>
          </p:nvPr>
        </p:nvSpPr>
        <p:spPr>
          <a:xfrm>
            <a:off x="1676395" y="1447795"/>
            <a:ext cx="8686800" cy="4800600"/>
          </a:xfrm>
        </p:spPr>
        <p:txBody>
          <a:bodyPr>
            <a:normAutofit/>
          </a:bodyPr>
          <a:p>
            <a:pPr lvl="1"/>
            <a:r>
              <a:rPr sz="3600">
                <a:cs typeface="Arial"/>
              </a:rPr>
              <a:t>Steep slope shows that moderate increase in dose markedly increases response </a:t>
            </a:r>
            <a:r>
              <a:rPr b="1" sz="3600">
                <a:cs typeface="Arial"/>
              </a:rPr>
              <a:t>(Individualization of dose).</a:t>
            </a:r>
            <a:endParaRPr b="1" sz="3600">
              <a:cs typeface="Arial"/>
            </a:endParaRPr>
          </a:p>
          <a:p>
            <a:pPr lvl="1"/>
            <a:endParaRPr b="1" sz="3600">
              <a:cs typeface="Arial"/>
            </a:endParaRPr>
          </a:p>
          <a:p>
            <a:pPr lvl="1"/>
            <a:r>
              <a:rPr sz="3600">
                <a:cs typeface="Arial"/>
              </a:rPr>
              <a:t>Flat one implies little change in response over a wide dose range </a:t>
            </a:r>
            <a:r>
              <a:rPr b="1" sz="3600">
                <a:cs typeface="Arial"/>
              </a:rPr>
              <a:t>(give standard dose)</a:t>
            </a:r>
            <a:endParaRPr b="1" sz="3600">
              <a:cs typeface="Arial"/>
            </a:endParaRPr>
          </a:p>
          <a:p>
            <a:endParaRPr>
              <a:latin typeface="Arial"/>
              <a:cs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742" name=""/>
        <p:cNvGrpSpPr/>
        <p:nvPr/>
      </p:nvGrpSpPr>
      <p:grpSpPr>
        <a:xfrm>
          <a:off x="0" y="0"/>
          <a:ext cx="0" cy="0"/>
          <a:chOff x="0" y="0"/>
          <a:chExt cx="0" cy="0"/>
        </a:xfrm>
      </p:grpSpPr>
      <p:sp>
        <p:nvSpPr>
          <p:cNvPr id="1048763" name="Title 1"/>
          <p:cNvSpPr>
            <a:spLocks noGrp="1"/>
          </p:cNvSpPr>
          <p:nvPr>
            <p:ph type="title"/>
          </p:nvPr>
        </p:nvSpPr>
        <p:spPr>
          <a:xfrm>
            <a:off x="1981204" y="152404"/>
            <a:ext cx="8229600" cy="563560"/>
          </a:xfrm>
        </p:spPr>
        <p:txBody>
          <a:bodyPr>
            <a:normAutofit fontScale="90000"/>
          </a:bodyPr>
          <a:p>
            <a:r>
              <a:t>DRC </a:t>
            </a:r>
            <a:r>
              <a:t>cont</a:t>
            </a:r>
            <a:r>
              <a:t>’</a:t>
            </a:r>
          </a:p>
        </p:txBody>
      </p:sp>
      <p:sp>
        <p:nvSpPr>
          <p:cNvPr id="1048764" name="Content Placeholder 2"/>
          <p:cNvSpPr>
            <a:spLocks noGrp="1"/>
          </p:cNvSpPr>
          <p:nvPr>
            <p:ph sz="quarter" idx="1"/>
          </p:nvPr>
        </p:nvSpPr>
        <p:spPr>
          <a:xfrm>
            <a:off x="1524004" y="838204"/>
            <a:ext cx="8991595" cy="5867404"/>
          </a:xfrm>
        </p:spPr>
        <p:txBody>
          <a:bodyPr>
            <a:normAutofit fontScale="91667" lnSpcReduction="20000"/>
          </a:bodyPr>
          <a:p>
            <a:r>
              <a:rPr b="1" sz="4000">
                <a:cs typeface="Arial"/>
              </a:rPr>
              <a:t>Safety margin/ therapeutic index </a:t>
            </a:r>
            <a:r>
              <a:rPr sz="4000">
                <a:cs typeface="Arial"/>
              </a:rPr>
              <a:t>– </a:t>
            </a:r>
            <a:endParaRPr sz="4000">
              <a:cs typeface="Arial"/>
            </a:endParaRPr>
          </a:p>
          <a:p>
            <a:pPr lvl="1"/>
            <a:r>
              <a:rPr sz="3600">
                <a:cs typeface="Arial"/>
              </a:rPr>
              <a:t>Is the </a:t>
            </a:r>
            <a:r>
              <a:rPr sz="3600" u="sng">
                <a:cs typeface="Arial"/>
              </a:rPr>
              <a:t>gap between the therapeutic effect and the adverse effect </a:t>
            </a:r>
            <a:r>
              <a:rPr sz="3600">
                <a:cs typeface="Arial"/>
              </a:rPr>
              <a:t>. A drug may have high efficacy but intolerable side effects preclude its use.</a:t>
            </a:r>
            <a:endParaRPr sz="3600">
              <a:cs typeface="Arial"/>
            </a:endParaRPr>
          </a:p>
          <a:p>
            <a:pPr indent="0" marL="0">
              <a:buNone/>
            </a:pPr>
            <a:endParaRPr sz="4000">
              <a:cs typeface="Arial"/>
            </a:endParaRPr>
          </a:p>
          <a:p>
            <a:r>
              <a:rPr b="1" sz="4000">
                <a:cs typeface="Arial"/>
              </a:rPr>
              <a:t>Risk – Benefit Ratio  </a:t>
            </a:r>
            <a:r>
              <a:rPr sz="4000">
                <a:cs typeface="Arial"/>
              </a:rPr>
              <a:t>- </a:t>
            </a:r>
            <a:endParaRPr sz="4000">
              <a:cs typeface="Arial"/>
            </a:endParaRPr>
          </a:p>
          <a:p>
            <a:pPr lvl="1"/>
            <a:r>
              <a:rPr sz="3600">
                <a:cs typeface="Arial"/>
              </a:rPr>
              <a:t>Conveys a judgment of the estimated harm (adverse effects, cost, inconvenience) vs. expected advantages (relief of symptoms, cure, reduction of complications, mortality, improvement of quality of life). </a:t>
            </a:r>
            <a:endParaRPr sz="3600">
              <a:cs typeface="Arial"/>
            </a:endParaRPr>
          </a:p>
          <a:p>
            <a:pPr lvl="1"/>
            <a:r>
              <a:rPr sz="3600" u="sng">
                <a:cs typeface="Arial"/>
              </a:rPr>
              <a:t>Benefits should outweigh the risks</a:t>
            </a:r>
            <a:r>
              <a:rPr>
                <a:cs typeface="Arial"/>
              </a:rPr>
              <a:t>. Available data on the drug and physicians own experience of the drug determines this.</a:t>
            </a:r>
            <a:endParaRPr>
              <a:cs typeface="Arial"/>
            </a:endParaRPr>
          </a:p>
          <a:p>
            <a:endParaRPr sz="4000">
              <a:latin typeface="Arial"/>
              <a:cs typeface="Arial"/>
            </a:endParaRPr>
          </a:p>
          <a:p>
            <a:endParaRPr>
              <a:latin typeface="Arial"/>
              <a:cs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743" name=""/>
        <p:cNvGrpSpPr/>
        <p:nvPr/>
      </p:nvGrpSpPr>
      <p:grpSpPr>
        <a:xfrm>
          <a:off x="0" y="0"/>
          <a:ext cx="0" cy="0"/>
          <a:chOff x="0" y="0"/>
          <a:chExt cx="0" cy="0"/>
        </a:xfrm>
      </p:grpSpPr>
      <p:sp>
        <p:nvSpPr>
          <p:cNvPr id="1048765" name="Title 1"/>
          <p:cNvSpPr>
            <a:spLocks noGrp="1"/>
          </p:cNvSpPr>
          <p:nvPr>
            <p:ph type="title"/>
          </p:nvPr>
        </p:nvSpPr>
        <p:spPr>
          <a:xfrm>
            <a:off x="1981204" y="274643"/>
            <a:ext cx="8229600" cy="639756"/>
          </a:xfrm>
        </p:spPr>
        <p:txBody>
          <a:bodyPr>
            <a:normAutofit/>
          </a:bodyPr>
          <a:p>
            <a:r>
              <a:rPr b="1" sz="3200" u="sng"/>
              <a:t>Combined effects of drugs (Drug Interactions)</a:t>
            </a:r>
            <a:endParaRPr sz="3200"/>
          </a:p>
        </p:txBody>
      </p:sp>
      <p:sp>
        <p:nvSpPr>
          <p:cNvPr id="1048766" name="Content Placeholder 2"/>
          <p:cNvSpPr>
            <a:spLocks noGrp="1"/>
          </p:cNvSpPr>
          <p:nvPr>
            <p:ph sz="quarter" idx="1"/>
          </p:nvPr>
        </p:nvSpPr>
        <p:spPr>
          <a:xfrm>
            <a:off x="342900" y="1066804"/>
            <a:ext cx="11172825" cy="5486400"/>
          </a:xfrm>
        </p:spPr>
        <p:txBody>
          <a:bodyPr>
            <a:normAutofit/>
          </a:bodyPr>
          <a:p>
            <a:r>
              <a:rPr b="1" sz="4400">
                <a:cs typeface="Arial"/>
              </a:rPr>
              <a:t>Synergism</a:t>
            </a:r>
            <a:r>
              <a:rPr sz="4400">
                <a:cs typeface="Arial"/>
              </a:rPr>
              <a:t> – Action of one drug is facilitated or increased by the other. Synergism can be:</a:t>
            </a:r>
            <a:endParaRPr sz="4400">
              <a:cs typeface="Arial"/>
            </a:endParaRPr>
          </a:p>
          <a:p>
            <a:pPr lvl="1"/>
            <a:r>
              <a:rPr b="1" sz="3200">
                <a:cs typeface="Arial"/>
              </a:rPr>
              <a:t>Additive </a:t>
            </a:r>
            <a:r>
              <a:rPr sz="3200">
                <a:cs typeface="Arial"/>
              </a:rPr>
              <a:t>– Effects of the two drugs are in the same direction or simply add up </a:t>
            </a:r>
            <a:r>
              <a:rPr sz="3200">
                <a:cs typeface="Arial"/>
              </a:rPr>
              <a:t>e.g</a:t>
            </a:r>
            <a:r>
              <a:rPr sz="3200">
                <a:cs typeface="Arial"/>
              </a:rPr>
              <a:t> </a:t>
            </a:r>
            <a:r>
              <a:rPr sz="3200">
                <a:cs typeface="Arial"/>
              </a:rPr>
              <a:t>asprin</a:t>
            </a:r>
            <a:r>
              <a:rPr sz="3200">
                <a:cs typeface="Arial"/>
              </a:rPr>
              <a:t> + </a:t>
            </a:r>
            <a:r>
              <a:rPr sz="3200">
                <a:cs typeface="Arial"/>
              </a:rPr>
              <a:t>paracetamal</a:t>
            </a:r>
            <a:r>
              <a:rPr sz="3200">
                <a:cs typeface="Arial"/>
              </a:rPr>
              <a:t> as analgesic and antipyretic . </a:t>
            </a:r>
            <a:r>
              <a:rPr sz="3200">
                <a:solidFill>
                  <a:srgbClr val="00B050"/>
                </a:solidFill>
                <a:cs typeface="Arial"/>
              </a:rPr>
              <a:t>Effect of Drug A + Drug B = effect of drug A + effect of drug B</a:t>
            </a:r>
            <a:endParaRPr sz="3200">
              <a:solidFill>
                <a:srgbClr val="00B050"/>
              </a:solidFill>
              <a:cs typeface="Arial"/>
            </a:endParaRPr>
          </a:p>
          <a:p>
            <a:pPr lvl="1"/>
            <a:r>
              <a:rPr b="1" sz="3200">
                <a:cs typeface="Arial"/>
              </a:rPr>
              <a:t>Supra-additive (potentiation</a:t>
            </a:r>
            <a:r>
              <a:rPr sz="3200">
                <a:cs typeface="Arial"/>
              </a:rPr>
              <a:t>) – The effect of the combination is greater than the individual effects of the components </a:t>
            </a:r>
            <a:r>
              <a:rPr sz="3200">
                <a:cs typeface="Arial"/>
              </a:rPr>
              <a:t>e.g</a:t>
            </a:r>
            <a:r>
              <a:rPr sz="3200">
                <a:cs typeface="Arial"/>
              </a:rPr>
              <a:t> sulfamethoxazole +trimethoprim. </a:t>
            </a:r>
            <a:r>
              <a:rPr sz="4400">
                <a:solidFill>
                  <a:srgbClr val="00B050"/>
                </a:solidFill>
                <a:cs typeface="Arial"/>
              </a:rPr>
              <a:t>Effect of drug A + B &gt; effect of drug A+B</a:t>
            </a:r>
            <a:endParaRPr sz="4400">
              <a:solidFill>
                <a:srgbClr val="00B050"/>
              </a:solidFill>
              <a:cs typeface="Arial"/>
            </a:endParaRPr>
          </a:p>
          <a:p>
            <a:endParaRPr sz="3600">
              <a:latin typeface="Arial"/>
              <a:cs typeface="Arial"/>
            </a:endParaRPr>
          </a:p>
          <a:p>
            <a:endParaRPr sz="3600">
              <a:latin typeface="Arial"/>
              <a:cs typeface="Arial"/>
            </a:endParaRPr>
          </a:p>
          <a:p>
            <a:endParaRPr>
              <a:latin typeface="Arial"/>
              <a:cs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744" name=""/>
        <p:cNvGrpSpPr/>
        <p:nvPr/>
      </p:nvGrpSpPr>
      <p:grpSpPr>
        <a:xfrm>
          <a:off x="0" y="0"/>
          <a:ext cx="0" cy="0"/>
          <a:chOff x="0" y="0"/>
          <a:chExt cx="0" cy="0"/>
        </a:xfrm>
      </p:grpSpPr>
      <p:sp>
        <p:nvSpPr>
          <p:cNvPr id="1048767" name="Title 1"/>
          <p:cNvSpPr>
            <a:spLocks noGrp="1"/>
          </p:cNvSpPr>
          <p:nvPr>
            <p:ph type="title"/>
          </p:nvPr>
        </p:nvSpPr>
        <p:spPr>
          <a:xfrm>
            <a:off x="1981204" y="274643"/>
            <a:ext cx="8229600" cy="639756"/>
          </a:xfrm>
        </p:spPr>
        <p:txBody>
          <a:bodyPr>
            <a:normAutofit fontScale="90000"/>
          </a:bodyPr>
          <a:p>
            <a:r>
              <a:t>Drug interaction </a:t>
            </a:r>
            <a:r>
              <a:t>cont</a:t>
            </a:r>
            <a:r>
              <a:t>’</a:t>
            </a:r>
          </a:p>
        </p:txBody>
      </p:sp>
      <p:sp>
        <p:nvSpPr>
          <p:cNvPr id="1048768" name="Content Placeholder 2"/>
          <p:cNvSpPr>
            <a:spLocks noGrp="1"/>
          </p:cNvSpPr>
          <p:nvPr>
            <p:ph sz="quarter" idx="1"/>
          </p:nvPr>
        </p:nvSpPr>
        <p:spPr>
          <a:xfrm>
            <a:off x="619120" y="914400"/>
            <a:ext cx="10696579" cy="5562595"/>
          </a:xfrm>
        </p:spPr>
        <p:txBody>
          <a:bodyPr>
            <a:normAutofit fontScale="92857" lnSpcReduction="20000"/>
          </a:bodyPr>
          <a:p>
            <a:r>
              <a:rPr b="1" sz="4400">
                <a:latin typeface="Arial"/>
                <a:cs typeface="Arial"/>
              </a:rPr>
              <a:t>Antagonism</a:t>
            </a:r>
            <a:r>
              <a:rPr sz="4400">
                <a:latin typeface="Arial"/>
                <a:cs typeface="Arial"/>
              </a:rPr>
              <a:t>- when one drug decreases or inhibits the action of another. Mechanism of antagonism may be:</a:t>
            </a:r>
            <a:endParaRPr sz="4400">
              <a:latin typeface="Arial"/>
              <a:cs typeface="Arial"/>
            </a:endParaRPr>
          </a:p>
          <a:p>
            <a:pPr lvl="1"/>
            <a:r>
              <a:rPr b="1" sz="4000">
                <a:latin typeface="Arial"/>
                <a:cs typeface="Arial"/>
              </a:rPr>
              <a:t>Physica</a:t>
            </a:r>
            <a:r>
              <a:rPr sz="4000">
                <a:latin typeface="Arial"/>
                <a:cs typeface="Arial"/>
              </a:rPr>
              <a:t>l – </a:t>
            </a:r>
            <a:r>
              <a:rPr sz="4000">
                <a:latin typeface="Arial"/>
                <a:cs typeface="Arial"/>
              </a:rPr>
              <a:t>e.g</a:t>
            </a:r>
            <a:r>
              <a:rPr sz="4000">
                <a:latin typeface="Arial"/>
                <a:cs typeface="Arial"/>
              </a:rPr>
              <a:t> charcoal </a:t>
            </a:r>
            <a:r>
              <a:rPr sz="4000">
                <a:latin typeface="Arial"/>
                <a:cs typeface="Arial"/>
              </a:rPr>
              <a:t>adsorps</a:t>
            </a:r>
            <a:r>
              <a:rPr sz="4000">
                <a:latin typeface="Arial"/>
                <a:cs typeface="Arial"/>
              </a:rPr>
              <a:t> alkaloids and prevents their absorption</a:t>
            </a:r>
            <a:endParaRPr sz="4000">
              <a:latin typeface="Arial"/>
              <a:cs typeface="Arial"/>
            </a:endParaRPr>
          </a:p>
          <a:p>
            <a:pPr lvl="1"/>
            <a:r>
              <a:rPr b="1" sz="4000">
                <a:latin typeface="Arial"/>
                <a:cs typeface="Arial"/>
              </a:rPr>
              <a:t>Chemical</a:t>
            </a:r>
            <a:r>
              <a:rPr sz="4000">
                <a:latin typeface="Arial"/>
                <a:cs typeface="Arial"/>
              </a:rPr>
              <a:t>- two drugs react chemically and form an inactive product </a:t>
            </a:r>
            <a:r>
              <a:rPr sz="4000">
                <a:latin typeface="Arial"/>
                <a:cs typeface="Arial"/>
              </a:rPr>
              <a:t>e.g</a:t>
            </a:r>
            <a:r>
              <a:rPr sz="4000">
                <a:latin typeface="Arial"/>
                <a:cs typeface="Arial"/>
              </a:rPr>
              <a:t> heparin + penicillin</a:t>
            </a:r>
            <a:endParaRPr sz="4000">
              <a:latin typeface="Arial"/>
              <a:cs typeface="Arial"/>
            </a:endParaRPr>
          </a:p>
          <a:p>
            <a:pPr lvl="1"/>
            <a:r>
              <a:rPr b="1" sz="4000">
                <a:latin typeface="Arial"/>
                <a:cs typeface="Arial"/>
              </a:rPr>
              <a:t>Physiological/functiona</a:t>
            </a:r>
            <a:r>
              <a:rPr sz="4000">
                <a:latin typeface="Arial"/>
                <a:cs typeface="Arial"/>
              </a:rPr>
              <a:t>l – The 2 drugs act on different receptors but have opposite effects in function</a:t>
            </a:r>
            <a:endParaRPr sz="4000">
              <a:latin typeface="Arial"/>
              <a:cs typeface="Arial"/>
            </a:endParaRPr>
          </a:p>
          <a:p>
            <a:pPr lvl="1"/>
            <a:r>
              <a:rPr b="1" sz="4000">
                <a:latin typeface="Arial"/>
                <a:cs typeface="Arial"/>
              </a:rPr>
              <a:t>Receptor </a:t>
            </a:r>
            <a:r>
              <a:rPr sz="4000">
                <a:latin typeface="Arial"/>
                <a:cs typeface="Arial"/>
              </a:rPr>
              <a:t>– Antagonist interferes with binding of agonist with receptor or the generation of a response</a:t>
            </a:r>
            <a:endParaRPr sz="4000">
              <a:latin typeface="Arial"/>
              <a:cs typeface="Arial"/>
            </a:endParaRPr>
          </a:p>
          <a:p>
            <a:endParaRPr sz="4400">
              <a:latin typeface="Arial"/>
              <a:cs typeface="Arial"/>
            </a:endParaRPr>
          </a:p>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745" name=""/>
        <p:cNvGrpSpPr/>
        <p:nvPr/>
      </p:nvGrpSpPr>
      <p:grpSpPr>
        <a:xfrm>
          <a:off x="0" y="0"/>
          <a:ext cx="0" cy="0"/>
          <a:chOff x="0" y="0"/>
          <a:chExt cx="0" cy="0"/>
        </a:xfrm>
      </p:grpSpPr>
      <p:sp>
        <p:nvSpPr>
          <p:cNvPr id="1048769" name="Title 2"/>
          <p:cNvSpPr>
            <a:spLocks noGrp="1"/>
          </p:cNvSpPr>
          <p:nvPr>
            <p:ph type="title"/>
          </p:nvPr>
        </p:nvSpPr>
        <p:spPr/>
        <p:txBody>
          <a:bodyPr/>
          <a:p>
            <a:r>
              <a:rPr b="1">
                <a:solidFill>
                  <a:schemeClr val="tx1"/>
                </a:solidFill>
              </a:rPr>
              <a:t>DOSE</a:t>
            </a:r>
            <a:endParaRPr b="1">
              <a:solidFill>
                <a:schemeClr val="tx1"/>
              </a:solidFill>
            </a:endParaRPr>
          </a:p>
        </p:txBody>
      </p:sp>
      <p:sp>
        <p:nvSpPr>
          <p:cNvPr id="1048770" name="Content Placeholder 3"/>
          <p:cNvSpPr>
            <a:spLocks noGrp="1"/>
          </p:cNvSpPr>
          <p:nvPr>
            <p:ph sz="quarter" idx="1"/>
          </p:nvPr>
        </p:nvSpPr>
        <p:spPr>
          <a:xfrm>
            <a:off x="523879" y="1825618"/>
            <a:ext cx="11249020" cy="4841871"/>
          </a:xfrm>
        </p:spPr>
        <p:txBody>
          <a:bodyPr>
            <a:normAutofit fontScale="96429" lnSpcReduction="10000"/>
          </a:bodyPr>
          <a:p>
            <a:r>
              <a:rPr sz="4000">
                <a:cs typeface="Arial"/>
              </a:rPr>
              <a:t>Refers to the appropriate </a:t>
            </a:r>
            <a:r>
              <a:rPr b="1" sz="4000">
                <a:cs typeface="Arial"/>
              </a:rPr>
              <a:t>amount of a drug needed to produce a certain degree of response in a patient</a:t>
            </a:r>
            <a:r>
              <a:rPr sz="4000">
                <a:cs typeface="Arial"/>
              </a:rPr>
              <a:t>.</a:t>
            </a:r>
            <a:endParaRPr sz="4000">
              <a:cs typeface="Arial"/>
            </a:endParaRPr>
          </a:p>
          <a:p>
            <a:r>
              <a:rPr sz="3600">
                <a:cs typeface="Arial"/>
              </a:rPr>
              <a:t>Dose of a drug is </a:t>
            </a:r>
            <a:r>
              <a:rPr b="1" sz="3600">
                <a:cs typeface="Arial"/>
              </a:rPr>
              <a:t>governed by its potency and pharmacokinetic characteristics</a:t>
            </a:r>
            <a:endParaRPr b="1" sz="3600">
              <a:cs typeface="Arial"/>
            </a:endParaRPr>
          </a:p>
          <a:p>
            <a:r>
              <a:rPr sz="3600">
                <a:cs typeface="Arial"/>
              </a:rPr>
              <a:t>Drug dosages can be:</a:t>
            </a:r>
            <a:endParaRPr sz="3600">
              <a:cs typeface="Arial"/>
            </a:endParaRPr>
          </a:p>
          <a:p>
            <a:pPr lvl="1"/>
            <a:r>
              <a:rPr sz="3200">
                <a:cs typeface="Arial"/>
              </a:rPr>
              <a:t>Standard</a:t>
            </a:r>
            <a:endParaRPr sz="3200">
              <a:cs typeface="Arial"/>
            </a:endParaRPr>
          </a:p>
          <a:p>
            <a:pPr lvl="1"/>
            <a:r>
              <a:rPr sz="3200">
                <a:cs typeface="Arial"/>
              </a:rPr>
              <a:t>Regulated</a:t>
            </a:r>
            <a:endParaRPr sz="3200">
              <a:cs typeface="Arial"/>
            </a:endParaRPr>
          </a:p>
          <a:p>
            <a:pPr lvl="1"/>
            <a:r>
              <a:rPr sz="3200">
                <a:cs typeface="Arial"/>
              </a:rPr>
              <a:t>Titrated</a:t>
            </a:r>
            <a:endParaRPr sz="3200">
              <a:cs typeface="Arial"/>
            </a:endParaRPr>
          </a:p>
          <a:p>
            <a:pPr>
              <a:buNone/>
            </a:pPr>
            <a:endParaRPr b="1" sz="3200">
              <a:cs typeface="Arial"/>
            </a:endParaRPr>
          </a:p>
          <a:p>
            <a:pPr>
              <a:buNone/>
            </a:pPr>
            <a:endParaRPr sz="3200">
              <a:latin typeface="Arial"/>
              <a:cs typeface="Arial"/>
            </a:endParaRPr>
          </a:p>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746" name=""/>
        <p:cNvGrpSpPr/>
        <p:nvPr/>
      </p:nvGrpSpPr>
      <p:grpSpPr>
        <a:xfrm>
          <a:off x="0" y="0"/>
          <a:ext cx="0" cy="0"/>
          <a:chOff x="0" y="0"/>
          <a:chExt cx="0" cy="0"/>
        </a:xfrm>
      </p:grpSpPr>
      <p:sp>
        <p:nvSpPr>
          <p:cNvPr id="1048771" name="Content Placeholder 2"/>
          <p:cNvSpPr>
            <a:spLocks noGrp="1"/>
          </p:cNvSpPr>
          <p:nvPr>
            <p:ph sz="quarter" idx="4294967295"/>
          </p:nvPr>
        </p:nvSpPr>
        <p:spPr>
          <a:xfrm>
            <a:off x="1524004" y="304795"/>
            <a:ext cx="9144000" cy="6400800"/>
          </a:xfrm>
        </p:spPr>
        <p:txBody>
          <a:bodyPr>
            <a:normAutofit/>
          </a:bodyPr>
          <a:p>
            <a:pPr lvl="1"/>
            <a:r>
              <a:rPr b="1" sz="3200">
                <a:cs typeface="Arial"/>
              </a:rPr>
              <a:t>Standard doses </a:t>
            </a:r>
            <a:r>
              <a:rPr sz="3200">
                <a:cs typeface="Arial"/>
              </a:rPr>
              <a:t>– The </a:t>
            </a:r>
            <a:r>
              <a:rPr sz="3200" u="sng">
                <a:cs typeface="Arial"/>
              </a:rPr>
              <a:t>same dose appropriate for most patients</a:t>
            </a:r>
            <a:r>
              <a:rPr sz="3200">
                <a:cs typeface="Arial"/>
              </a:rPr>
              <a:t>. Variations are minimal </a:t>
            </a:r>
            <a:r>
              <a:rPr sz="3200">
                <a:cs typeface="Arial"/>
              </a:rPr>
              <a:t>e.g</a:t>
            </a:r>
            <a:r>
              <a:rPr sz="3200">
                <a:cs typeface="Arial"/>
              </a:rPr>
              <a:t> contraceptives, penicillin, chloroquine</a:t>
            </a:r>
            <a:endParaRPr sz="3200">
              <a:cs typeface="Arial"/>
            </a:endParaRPr>
          </a:p>
          <a:p>
            <a:pPr lvl="1"/>
            <a:r>
              <a:rPr b="1" sz="3200">
                <a:cs typeface="Arial"/>
              </a:rPr>
              <a:t>Regulated doses -</a:t>
            </a:r>
            <a:r>
              <a:rPr sz="3200">
                <a:cs typeface="Arial"/>
              </a:rPr>
              <a:t> </a:t>
            </a:r>
            <a:r>
              <a:rPr sz="3200" u="sng">
                <a:cs typeface="Arial"/>
              </a:rPr>
              <a:t>dose is monitored by measuring the functions</a:t>
            </a:r>
            <a:r>
              <a:rPr sz="3200">
                <a:cs typeface="Arial"/>
              </a:rPr>
              <a:t>. </a:t>
            </a:r>
            <a:r>
              <a:rPr sz="3200">
                <a:cs typeface="Arial"/>
              </a:rPr>
              <a:t>E.g</a:t>
            </a:r>
            <a:r>
              <a:rPr sz="3200">
                <a:cs typeface="Arial"/>
              </a:rPr>
              <a:t> </a:t>
            </a:r>
            <a:r>
              <a:rPr sz="3200">
                <a:cs typeface="Arial"/>
              </a:rPr>
              <a:t>antihypertensives</a:t>
            </a:r>
            <a:r>
              <a:rPr sz="3200">
                <a:cs typeface="Arial"/>
              </a:rPr>
              <a:t>, anticoagulants, hypoglycemic</a:t>
            </a:r>
            <a:endParaRPr sz="3200">
              <a:cs typeface="Arial"/>
            </a:endParaRPr>
          </a:p>
          <a:p>
            <a:pPr lvl="1"/>
            <a:r>
              <a:rPr b="1" sz="3200">
                <a:cs typeface="Arial"/>
              </a:rPr>
              <a:t>Titrated doses </a:t>
            </a:r>
            <a:r>
              <a:rPr sz="3200">
                <a:cs typeface="Arial"/>
              </a:rPr>
              <a:t>– Dose needed to produce maximal therapeutic effect cannot be given because of its intolerable side effects. </a:t>
            </a:r>
            <a:r>
              <a:rPr sz="3200" u="sng">
                <a:cs typeface="Arial"/>
              </a:rPr>
              <a:t>Optimal dose is arrived at  by measuring an acceptable level of adverse effects </a:t>
            </a:r>
            <a:r>
              <a:rPr sz="3200">
                <a:cs typeface="Arial"/>
              </a:rPr>
              <a:t>e.g</a:t>
            </a:r>
            <a:r>
              <a:rPr sz="3200">
                <a:cs typeface="Arial"/>
              </a:rPr>
              <a:t> anticancer drugs</a:t>
            </a:r>
            <a:endParaRPr sz="3200">
              <a:cs typeface="Arial"/>
            </a:endParaRPr>
          </a:p>
          <a:p>
            <a:pPr>
              <a:buNone/>
            </a:pPr>
            <a:endParaRPr sz="3600">
              <a:latin typeface="Arial"/>
              <a:cs typeface="Arial"/>
            </a:endParaRPr>
          </a:p>
          <a:p>
            <a:pPr>
              <a:buNone/>
            </a:pPr>
            <a:endParaRPr sz="3900">
              <a:latin typeface="Arial"/>
              <a:cs typeface="Arial"/>
            </a:endParaRPr>
          </a:p>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747" name=""/>
        <p:cNvGrpSpPr/>
        <p:nvPr/>
      </p:nvGrpSpPr>
      <p:grpSpPr>
        <a:xfrm>
          <a:off x="0" y="0"/>
          <a:ext cx="0" cy="0"/>
          <a:chOff x="0" y="0"/>
          <a:chExt cx="0" cy="0"/>
        </a:xfrm>
      </p:grpSpPr>
      <p:sp>
        <p:nvSpPr>
          <p:cNvPr id="1048772" name="Title 1"/>
          <p:cNvSpPr>
            <a:spLocks noGrp="1"/>
          </p:cNvSpPr>
          <p:nvPr>
            <p:ph type="title"/>
          </p:nvPr>
        </p:nvSpPr>
        <p:spPr/>
        <p:txBody>
          <a:bodyPr>
            <a:normAutofit fontScale="90909"/>
          </a:bodyPr>
          <a:p>
            <a:r>
              <a:rPr b="1"/>
              <a:t>FACTORS MODIFYING DRUG ACTION</a:t>
            </a:r>
            <a:br/>
          </a:p>
        </p:txBody>
      </p:sp>
      <p:sp>
        <p:nvSpPr>
          <p:cNvPr id="1048773" name="Content Placeholder 2"/>
          <p:cNvSpPr>
            <a:spLocks noGrp="1"/>
          </p:cNvSpPr>
          <p:nvPr>
            <p:ph sz="quarter" idx="1"/>
          </p:nvPr>
        </p:nvSpPr>
        <p:spPr>
          <a:xfrm>
            <a:off x="1981204" y="1295404"/>
            <a:ext cx="8229600" cy="5181604"/>
          </a:xfrm>
        </p:spPr>
        <p:txBody>
          <a:bodyPr>
            <a:normAutofit/>
          </a:bodyPr>
          <a:p>
            <a:pPr>
              <a:buNone/>
            </a:pPr>
            <a:r>
              <a:rPr sz="4400">
                <a:cs typeface="Arial"/>
              </a:rPr>
              <a:t>Variation in response to the same dose of a drug between different patients is caused by:</a:t>
            </a:r>
            <a:endParaRPr sz="4400">
              <a:cs typeface="Arial"/>
            </a:endParaRPr>
          </a:p>
          <a:p>
            <a:r>
              <a:rPr b="1" sz="4400">
                <a:cs typeface="Arial"/>
              </a:rPr>
              <a:t>Individuals differ in pharmacokinetic handling of drugs </a:t>
            </a:r>
            <a:r>
              <a:rPr sz="4400">
                <a:cs typeface="Arial"/>
              </a:rPr>
              <a:t>– attain varying target site concentration of the drug especially for metabolized drugs.</a:t>
            </a:r>
            <a:endParaRPr sz="4400">
              <a:cs typeface="Arial"/>
            </a:endParaRPr>
          </a:p>
          <a:p>
            <a:r>
              <a:rPr b="1" sz="4400">
                <a:cs typeface="Arial"/>
              </a:rPr>
              <a:t>Variation in the number or state of receptors </a:t>
            </a:r>
            <a:r>
              <a:rPr sz="4400">
                <a:cs typeface="Arial"/>
              </a:rPr>
              <a:t>required to bring an effect</a:t>
            </a:r>
            <a:endParaRPr sz="4400">
              <a:cs typeface="Arial"/>
            </a:endParaRPr>
          </a:p>
          <a:p>
            <a:pPr>
              <a:buNone/>
            </a:pPr>
            <a:endParaRPr sz="4400">
              <a:latin typeface="Arial"/>
              <a:cs typeface="Arial"/>
            </a:endParaRPr>
          </a:p>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748" name=""/>
        <p:cNvGrpSpPr/>
        <p:nvPr/>
      </p:nvGrpSpPr>
      <p:grpSpPr>
        <a:xfrm>
          <a:off x="0" y="0"/>
          <a:ext cx="0" cy="0"/>
          <a:chOff x="0" y="0"/>
          <a:chExt cx="0" cy="0"/>
        </a:xfrm>
      </p:grpSpPr>
      <p:sp>
        <p:nvSpPr>
          <p:cNvPr id="1048774" name="Content Placeholder 2"/>
          <p:cNvSpPr>
            <a:spLocks noGrp="1"/>
          </p:cNvSpPr>
          <p:nvPr>
            <p:ph sz="quarter" idx="4294967295"/>
          </p:nvPr>
        </p:nvSpPr>
        <p:spPr>
          <a:xfrm>
            <a:off x="619120" y="533395"/>
            <a:ext cx="10829925" cy="5943600"/>
          </a:xfrm>
        </p:spPr>
        <p:txBody>
          <a:bodyPr>
            <a:normAutofit fontScale="71429" lnSpcReduction="20000"/>
          </a:bodyPr>
          <a:p>
            <a:pPr>
              <a:buNone/>
            </a:pPr>
            <a:r>
              <a:rPr b="1" sz="3900"/>
              <a:t>Factor modifying drug actions are:</a:t>
            </a:r>
            <a:endParaRPr b="1" sz="3900"/>
          </a:p>
          <a:p>
            <a:r>
              <a:rPr b="1" sz="3900">
                <a:cs typeface="Arial"/>
              </a:rPr>
              <a:t>Body size </a:t>
            </a:r>
            <a:r>
              <a:rPr sz="3900">
                <a:cs typeface="Arial"/>
              </a:rPr>
              <a:t>– It influences the concentration of the drug attained at the target site. Body weight is used as an index for calculating dosage</a:t>
            </a:r>
            <a:endParaRPr sz="3900">
              <a:cs typeface="Arial"/>
            </a:endParaRPr>
          </a:p>
          <a:p>
            <a:pPr indent="0" marL="0">
              <a:buNone/>
            </a:pPr>
            <a:r>
              <a:t> </a:t>
            </a:r>
            <a:r>
              <a:rPr b="1">
                <a:solidFill>
                  <a:srgbClr val="FF0000"/>
                </a:solidFill>
              </a:rPr>
              <a:t>Dose = body </a:t>
            </a:r>
            <a:r>
              <a:rPr b="1">
                <a:solidFill>
                  <a:srgbClr val="FF0000"/>
                </a:solidFill>
              </a:rPr>
              <a:t>wt</a:t>
            </a:r>
            <a:r>
              <a:rPr b="1">
                <a:solidFill>
                  <a:srgbClr val="FF0000"/>
                </a:solidFill>
              </a:rPr>
              <a:t> (kg)/70 x average adult dose</a:t>
            </a:r>
            <a:endParaRPr b="1" sz="3900">
              <a:solidFill>
                <a:srgbClr val="FF0000"/>
              </a:solidFill>
              <a:cs typeface="Arial"/>
            </a:endParaRPr>
          </a:p>
          <a:p>
            <a:r>
              <a:rPr b="1" sz="3900">
                <a:cs typeface="Arial"/>
              </a:rPr>
              <a:t>Age </a:t>
            </a:r>
            <a:r>
              <a:rPr sz="3900">
                <a:cs typeface="Arial"/>
              </a:rPr>
              <a:t>– children have immature body systems </a:t>
            </a:r>
            <a:r>
              <a:rPr sz="3900">
                <a:cs typeface="Arial"/>
              </a:rPr>
              <a:t>e.g</a:t>
            </a:r>
            <a:r>
              <a:rPr sz="3900">
                <a:cs typeface="Arial"/>
              </a:rPr>
              <a:t> liver, kidneys, GIT therefore drug movement is slower. Elderly also have declining </a:t>
            </a:r>
            <a:r>
              <a:rPr sz="3900">
                <a:cs typeface="Arial"/>
              </a:rPr>
              <a:t>physiolological</a:t>
            </a:r>
            <a:r>
              <a:rPr sz="3900">
                <a:cs typeface="Arial"/>
              </a:rPr>
              <a:t> functions</a:t>
            </a:r>
            <a:endParaRPr sz="3900">
              <a:cs typeface="Arial"/>
            </a:endParaRPr>
          </a:p>
          <a:p>
            <a:pPr indent="0" marL="0">
              <a:buNone/>
            </a:pPr>
            <a:r>
              <a:rPr b="1" sz="2900">
                <a:solidFill>
                  <a:srgbClr val="FF0000"/>
                </a:solidFill>
              </a:rPr>
              <a:t>Youngs</a:t>
            </a:r>
            <a:r>
              <a:rPr b="1" sz="2900">
                <a:solidFill>
                  <a:srgbClr val="FF0000"/>
                </a:solidFill>
              </a:rPr>
              <a:t> formula, </a:t>
            </a:r>
            <a:r>
              <a:rPr b="1" sz="2900">
                <a:solidFill>
                  <a:srgbClr val="FF0000"/>
                </a:solidFill>
              </a:rPr>
              <a:t>childs</a:t>
            </a:r>
            <a:r>
              <a:rPr b="1" sz="2900">
                <a:solidFill>
                  <a:srgbClr val="FF0000"/>
                </a:solidFill>
              </a:rPr>
              <a:t> dose = age (years) x adult dose  age +12</a:t>
            </a:r>
            <a:endParaRPr sz="3900">
              <a:cs typeface="Arial"/>
            </a:endParaRPr>
          </a:p>
          <a:p>
            <a:r>
              <a:rPr b="1" sz="4000">
                <a:cs typeface="Arial"/>
              </a:rPr>
              <a:t>Sex </a:t>
            </a:r>
            <a:r>
              <a:rPr sz="4000">
                <a:cs typeface="Arial"/>
              </a:rPr>
              <a:t>– effects of drugs on sexuality, pregnancy, lactation</a:t>
            </a:r>
            <a:endParaRPr sz="4000">
              <a:cs typeface="Arial"/>
            </a:endParaRPr>
          </a:p>
          <a:p>
            <a:r>
              <a:rPr b="1" sz="4000">
                <a:cs typeface="Arial"/>
              </a:rPr>
              <a:t>Race/species</a:t>
            </a:r>
            <a:r>
              <a:rPr sz="4000">
                <a:cs typeface="Arial"/>
              </a:rPr>
              <a:t> – </a:t>
            </a:r>
            <a:r>
              <a:rPr sz="4000">
                <a:cs typeface="Arial"/>
              </a:rPr>
              <a:t>e.g</a:t>
            </a:r>
            <a:r>
              <a:rPr sz="4000">
                <a:cs typeface="Arial"/>
              </a:rPr>
              <a:t> beta blockers are less effective on Africans as antihypertensive</a:t>
            </a:r>
            <a:endParaRPr sz="4000">
              <a:cs typeface="Arial"/>
            </a:endParaRPr>
          </a:p>
          <a:p>
            <a:r>
              <a:rPr b="1" sz="4000">
                <a:cs typeface="Arial"/>
              </a:rPr>
              <a:t>Genetics </a:t>
            </a:r>
            <a:r>
              <a:rPr sz="4000">
                <a:cs typeface="Arial"/>
              </a:rPr>
              <a:t>– metabolizing enzymes are genetically controlled and target organ sensitivity differ</a:t>
            </a:r>
            <a:endParaRPr sz="4000">
              <a:cs typeface="Arial"/>
            </a:endParaRPr>
          </a:p>
          <a:p>
            <a:r>
              <a:rPr b="1" sz="4000">
                <a:cs typeface="Arial"/>
              </a:rPr>
              <a:t>Route of administration </a:t>
            </a:r>
            <a:r>
              <a:rPr sz="4000">
                <a:cs typeface="Arial"/>
              </a:rPr>
              <a:t>– govern speed and intensity of the drug </a:t>
            </a:r>
            <a:r>
              <a:rPr sz="4000">
                <a:cs typeface="Arial"/>
              </a:rPr>
              <a:t>e.g</a:t>
            </a:r>
            <a:r>
              <a:rPr sz="4000">
                <a:cs typeface="Arial"/>
              </a:rPr>
              <a:t> MgSo4 – applied to reduce inflammation, IV – Hypotension and CNS depression</a:t>
            </a:r>
            <a:endParaRPr sz="4000">
              <a:cs typeface="Arial"/>
            </a:endParaRPr>
          </a:p>
          <a:p>
            <a:endParaRPr sz="3900">
              <a:latin typeface="Arial"/>
              <a:cs typeface="Arial"/>
            </a:endParaRPr>
          </a:p>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749" name=""/>
        <p:cNvGrpSpPr/>
        <p:nvPr/>
      </p:nvGrpSpPr>
      <p:grpSpPr>
        <a:xfrm>
          <a:off x="0" y="0"/>
          <a:ext cx="0" cy="0"/>
          <a:chOff x="0" y="0"/>
          <a:chExt cx="0" cy="0"/>
        </a:xfrm>
      </p:grpSpPr>
      <p:sp>
        <p:nvSpPr>
          <p:cNvPr id="1048775" name="Content Placeholder 2"/>
          <p:cNvSpPr>
            <a:spLocks noGrp="1"/>
          </p:cNvSpPr>
          <p:nvPr>
            <p:ph sz="quarter" idx="4294967295"/>
          </p:nvPr>
        </p:nvSpPr>
        <p:spPr>
          <a:xfrm>
            <a:off x="447670" y="228600"/>
            <a:ext cx="11296654" cy="6476995"/>
          </a:xfrm>
        </p:spPr>
        <p:txBody>
          <a:bodyPr>
            <a:noAutofit/>
          </a:bodyPr>
          <a:p>
            <a:r>
              <a:rPr b="1" sz="3600">
                <a:cs typeface="Arial"/>
              </a:rPr>
              <a:t>Diet</a:t>
            </a:r>
            <a:endParaRPr b="1" sz="3600">
              <a:cs typeface="Arial"/>
            </a:endParaRPr>
          </a:p>
          <a:p>
            <a:r>
              <a:rPr b="1" sz="3600">
                <a:cs typeface="Arial"/>
              </a:rPr>
              <a:t>Psychological factors </a:t>
            </a:r>
            <a:r>
              <a:rPr sz="3600">
                <a:cs typeface="Arial"/>
              </a:rPr>
              <a:t>– belief</a:t>
            </a:r>
            <a:endParaRPr sz="3600">
              <a:cs typeface="Arial"/>
            </a:endParaRPr>
          </a:p>
          <a:p>
            <a:r>
              <a:rPr b="1" sz="3600">
                <a:cs typeface="Arial"/>
              </a:rPr>
              <a:t>Pathological states </a:t>
            </a:r>
            <a:r>
              <a:rPr sz="3600">
                <a:cs typeface="Arial"/>
              </a:rPr>
              <a:t>– some diseases affect drug action – GIT, liver, heart, Kidney</a:t>
            </a:r>
            <a:endParaRPr sz="3600">
              <a:cs typeface="Arial"/>
            </a:endParaRPr>
          </a:p>
          <a:p>
            <a:r>
              <a:rPr b="1" sz="3600">
                <a:cs typeface="Arial"/>
              </a:rPr>
              <a:t>Other drugs </a:t>
            </a:r>
            <a:r>
              <a:rPr sz="3600">
                <a:cs typeface="Arial"/>
              </a:rPr>
              <a:t>– they </a:t>
            </a:r>
            <a:r>
              <a:rPr sz="3600">
                <a:cs typeface="Arial"/>
              </a:rPr>
              <a:t>pharmacokinetically</a:t>
            </a:r>
            <a:r>
              <a:rPr sz="3600">
                <a:cs typeface="Arial"/>
              </a:rPr>
              <a:t> or pharmacodynamically interact with each other and modify the </a:t>
            </a:r>
            <a:r>
              <a:rPr sz="3600">
                <a:cs typeface="Arial"/>
              </a:rPr>
              <a:t>response.e.g</a:t>
            </a:r>
            <a:r>
              <a:rPr sz="3600">
                <a:cs typeface="Arial"/>
              </a:rPr>
              <a:t> Insulin with propranolol may cause asymptomatic hypoglycemia</a:t>
            </a:r>
            <a:endParaRPr sz="3600">
              <a:cs typeface="Arial"/>
            </a:endParaRPr>
          </a:p>
          <a:p>
            <a:r>
              <a:rPr b="1" sz="3600">
                <a:cs typeface="Arial"/>
              </a:rPr>
              <a:t>Cumulation</a:t>
            </a:r>
            <a:r>
              <a:rPr sz="3600">
                <a:cs typeface="Arial"/>
              </a:rPr>
              <a:t> – Drug cumulates in the body if the rate of administration is higher than the rate of elimination. Especially for slowly eliminated </a:t>
            </a:r>
            <a:r>
              <a:rPr sz="3600">
                <a:cs typeface="Arial"/>
              </a:rPr>
              <a:t>drugse.g</a:t>
            </a:r>
            <a:r>
              <a:rPr sz="3600">
                <a:cs typeface="Arial"/>
              </a:rPr>
              <a:t> chloroquine – Retinal damage, digoxin</a:t>
            </a:r>
            <a:endParaRPr sz="3600">
              <a:cs typeface="Arial"/>
            </a:endParaRPr>
          </a:p>
          <a:p>
            <a:endParaRPr>
              <a:cs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750" name=""/>
        <p:cNvGrpSpPr/>
        <p:nvPr/>
      </p:nvGrpSpPr>
      <p:grpSpPr>
        <a:xfrm>
          <a:off x="0" y="0"/>
          <a:ext cx="0" cy="0"/>
          <a:chOff x="0" y="0"/>
          <a:chExt cx="0" cy="0"/>
        </a:xfrm>
      </p:grpSpPr>
      <p:sp>
        <p:nvSpPr>
          <p:cNvPr id="1048776" name="Title 1"/>
          <p:cNvSpPr>
            <a:spLocks noGrp="1"/>
          </p:cNvSpPr>
          <p:nvPr>
            <p:ph type="title"/>
          </p:nvPr>
        </p:nvSpPr>
        <p:spPr>
          <a:xfrm>
            <a:off x="1981204" y="274643"/>
            <a:ext cx="8229600" cy="944565"/>
          </a:xfrm>
        </p:spPr>
        <p:txBody>
          <a:bodyPr/>
          <a:p>
            <a:r>
              <a:t>Factors modifying </a:t>
            </a:r>
            <a:r>
              <a:t>cont</a:t>
            </a:r>
            <a:r>
              <a:t>’</a:t>
            </a:r>
          </a:p>
        </p:txBody>
      </p:sp>
      <p:sp>
        <p:nvSpPr>
          <p:cNvPr id="1048777" name="Content Placeholder 2"/>
          <p:cNvSpPr>
            <a:spLocks noGrp="1"/>
          </p:cNvSpPr>
          <p:nvPr>
            <p:ph sz="quarter" idx="1"/>
          </p:nvPr>
        </p:nvSpPr>
        <p:spPr>
          <a:xfrm>
            <a:off x="552454" y="1600200"/>
            <a:ext cx="11296654" cy="5029200"/>
          </a:xfrm>
        </p:spPr>
        <p:txBody>
          <a:bodyPr>
            <a:normAutofit fontScale="96429"/>
          </a:bodyPr>
          <a:p>
            <a:pPr indent="0" marL="0">
              <a:buNone/>
            </a:pPr>
            <a:r>
              <a:rPr b="1" sz="4400">
                <a:cs typeface="Arial"/>
              </a:rPr>
              <a:t>Tolerance</a:t>
            </a:r>
            <a:r>
              <a:rPr sz="4400">
                <a:cs typeface="Arial"/>
              </a:rPr>
              <a:t> – Means requirement of a higher dose of drug to produce a given response.</a:t>
            </a:r>
            <a:endParaRPr sz="4400">
              <a:cs typeface="Arial"/>
            </a:endParaRPr>
          </a:p>
          <a:p>
            <a:pPr indent="0" marL="0">
              <a:buNone/>
            </a:pPr>
            <a:r>
              <a:rPr sz="4400">
                <a:cs typeface="Arial"/>
              </a:rPr>
              <a:t> It is an adaptive biological response. </a:t>
            </a:r>
            <a:endParaRPr sz="4400">
              <a:cs typeface="Arial"/>
            </a:endParaRPr>
          </a:p>
          <a:p>
            <a:pPr indent="0" marL="0">
              <a:buNone/>
            </a:pPr>
            <a:endParaRPr sz="4400">
              <a:cs typeface="Arial"/>
            </a:endParaRPr>
          </a:p>
          <a:p>
            <a:pPr indent="0" marL="0">
              <a:buNone/>
            </a:pPr>
            <a:r>
              <a:rPr b="1" sz="4400">
                <a:cs typeface="Arial"/>
              </a:rPr>
              <a:t>Drug resistance </a:t>
            </a:r>
            <a:r>
              <a:rPr sz="4400">
                <a:cs typeface="Arial"/>
              </a:rPr>
              <a:t>– refers to tolerance of microorganisms to inhibitory action of antimicrobials </a:t>
            </a:r>
            <a:r>
              <a:rPr sz="4400">
                <a:cs typeface="Arial"/>
              </a:rPr>
              <a:t>e.g</a:t>
            </a:r>
            <a:r>
              <a:rPr sz="4400">
                <a:cs typeface="Arial"/>
              </a:rPr>
              <a:t> staphylococci to penicillin</a:t>
            </a:r>
            <a:endParaRPr sz="4400">
              <a:cs typeface="Arial"/>
            </a:endParaRPr>
          </a:p>
          <a:p>
            <a:pPr indent="0" marL="0">
              <a:buNone/>
            </a:pPr>
            <a:endParaRPr sz="4000">
              <a:latin typeface="Arial"/>
              <a:cs typeface="Arial"/>
            </a:endParaRPr>
          </a:p>
          <a:p>
            <a:pPr>
              <a:buNone/>
            </a:pPr>
            <a:endParaRPr sz="4000">
              <a:latin typeface="Arial"/>
              <a:cs typeface="Arial"/>
            </a:endParaRPr>
          </a:p>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751" name=""/>
        <p:cNvGrpSpPr/>
        <p:nvPr/>
      </p:nvGrpSpPr>
      <p:grpSpPr>
        <a:xfrm>
          <a:off x="0" y="0"/>
          <a:ext cx="0" cy="0"/>
          <a:chOff x="0" y="0"/>
          <a:chExt cx="0" cy="0"/>
        </a:xfrm>
      </p:grpSpPr>
      <p:sp>
        <p:nvSpPr>
          <p:cNvPr id="1048778" name="Title 1"/>
          <p:cNvSpPr>
            <a:spLocks noGrp="1"/>
          </p:cNvSpPr>
          <p:nvPr>
            <p:ph type="ctrTitle"/>
          </p:nvPr>
        </p:nvSpPr>
        <p:spPr/>
        <p:txBody>
          <a:bodyPr/>
          <a:p>
            <a:r>
              <a:rPr sz="4800">
                <a:latin typeface="Lucida Sans"/>
              </a:rPr>
              <a:t>PHARMACOKINETICS</a:t>
            </a:r>
            <a:endParaRPr sz="4800">
              <a:latin typeface="Lucida Sans"/>
            </a:endParaRPr>
          </a:p>
        </p:txBody>
      </p:sp>
      <p:sp>
        <p:nvSpPr>
          <p:cNvPr id="1048779" name="Subtitle 2"/>
          <p:cNvSpPr>
            <a:spLocks noGrp="1"/>
          </p:cNvSpPr>
          <p:nvPr>
            <p:ph type="subTitle" idx="1"/>
          </p:nvPr>
        </p:nvSpPr>
        <p:spPr/>
        <p:txBody>
          <a:body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752" name=""/>
        <p:cNvGrpSpPr/>
        <p:nvPr/>
      </p:nvGrpSpPr>
      <p:grpSpPr>
        <a:xfrm>
          <a:off x="0" y="0"/>
          <a:ext cx="0" cy="0"/>
          <a:chOff x="0" y="0"/>
          <a:chExt cx="0" cy="0"/>
        </a:xfrm>
      </p:grpSpPr>
      <p:sp>
        <p:nvSpPr>
          <p:cNvPr id="1048780" name="Title 1"/>
          <p:cNvSpPr>
            <a:spLocks noGrp="1"/>
          </p:cNvSpPr>
          <p:nvPr>
            <p:ph type="title"/>
          </p:nvPr>
        </p:nvSpPr>
        <p:spPr>
          <a:xfrm>
            <a:off x="2133595" y="152404"/>
            <a:ext cx="8077195" cy="914400"/>
          </a:xfrm>
        </p:spPr>
        <p:txBody>
          <a:bodyPr>
            <a:normAutofit/>
          </a:bodyPr>
          <a:p>
            <a:r>
              <a:t>Pharmacokinetics;</a:t>
            </a:r>
          </a:p>
        </p:txBody>
      </p:sp>
      <p:sp>
        <p:nvSpPr>
          <p:cNvPr id="1048781" name="Content Placeholder 2"/>
          <p:cNvSpPr>
            <a:spLocks noGrp="1"/>
          </p:cNvSpPr>
          <p:nvPr>
            <p:ph sz="quarter" idx="1"/>
          </p:nvPr>
        </p:nvSpPr>
        <p:spPr>
          <a:xfrm>
            <a:off x="838204" y="1143000"/>
            <a:ext cx="10410829" cy="5715000"/>
          </a:xfrm>
        </p:spPr>
        <p:txBody>
          <a:bodyPr>
            <a:normAutofit/>
          </a:bodyPr>
          <a:p>
            <a:pPr>
              <a:buNone/>
            </a:pPr>
            <a:r>
              <a:rPr sz="3200"/>
              <a:t>Refers to what the </a:t>
            </a:r>
            <a:r>
              <a:rPr b="1" sz="3200"/>
              <a:t>body does to the drug</a:t>
            </a:r>
            <a:r>
              <a:rPr sz="3200"/>
              <a:t>. It entails </a:t>
            </a:r>
            <a:r>
              <a:rPr b="1" sz="3200"/>
              <a:t>movement of the drug in the body and alteration of the drug</a:t>
            </a:r>
            <a:r>
              <a:rPr sz="3200"/>
              <a:t> by the body. </a:t>
            </a:r>
            <a:endParaRPr sz="3200"/>
          </a:p>
          <a:p>
            <a:pPr>
              <a:buNone/>
            </a:pPr>
            <a:r>
              <a:rPr sz="3200"/>
              <a:t>It </a:t>
            </a:r>
            <a:r>
              <a:t>includes:</a:t>
            </a:r>
          </a:p>
          <a:p>
            <a:pPr lvl="1"/>
            <a:r>
              <a:rPr b="1" sz="2800"/>
              <a:t>Routes of drug administration</a:t>
            </a:r>
            <a:endParaRPr b="1" sz="2800"/>
          </a:p>
          <a:p>
            <a:pPr lvl="1"/>
            <a:r>
              <a:rPr b="1" sz="2800"/>
              <a:t>Absorption</a:t>
            </a:r>
            <a:endParaRPr b="1" sz="2800"/>
          </a:p>
          <a:p>
            <a:pPr lvl="1"/>
            <a:r>
              <a:rPr b="1" sz="2800"/>
              <a:t>Distribution</a:t>
            </a:r>
            <a:endParaRPr b="1" sz="2800"/>
          </a:p>
          <a:p>
            <a:pPr lvl="1"/>
            <a:r>
              <a:rPr b="1" sz="2800"/>
              <a:t>Binding/localization/storage</a:t>
            </a:r>
            <a:endParaRPr b="1" sz="2800"/>
          </a:p>
          <a:p>
            <a:pPr lvl="1"/>
            <a:r>
              <a:rPr b="1" sz="2800"/>
              <a:t>Biotransformation/ Metabolism</a:t>
            </a:r>
            <a:endParaRPr b="1" sz="2800"/>
          </a:p>
          <a:p>
            <a:pPr lvl="1"/>
            <a:r>
              <a:rPr b="1" sz="2800"/>
              <a:t>Excretion</a:t>
            </a:r>
            <a:endParaRPr b="1" sz="2800"/>
          </a:p>
          <a:p>
            <a:pPr lvl="1"/>
            <a:r>
              <a:rPr b="1" sz="2800"/>
              <a:t>Drug dosages</a:t>
            </a:r>
            <a:endParaRPr b="1" sz="2800"/>
          </a:p>
          <a:p>
            <a:endParaRPr sz="320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753" name=""/>
        <p:cNvGrpSpPr/>
        <p:nvPr/>
      </p:nvGrpSpPr>
      <p:grpSpPr>
        <a:xfrm>
          <a:off x="0" y="0"/>
          <a:ext cx="0" cy="0"/>
          <a:chOff x="0" y="0"/>
          <a:chExt cx="0" cy="0"/>
        </a:xfrm>
      </p:grpSpPr>
      <p:sp>
        <p:nvSpPr>
          <p:cNvPr id="1048782" name="Title 1"/>
          <p:cNvSpPr>
            <a:spLocks noGrp="1"/>
          </p:cNvSpPr>
          <p:nvPr>
            <p:ph type="title"/>
          </p:nvPr>
        </p:nvSpPr>
        <p:spPr>
          <a:xfrm>
            <a:off x="1981204" y="274643"/>
            <a:ext cx="8229600" cy="944565"/>
          </a:xfrm>
        </p:spPr>
        <p:txBody>
          <a:bodyPr>
            <a:normAutofit/>
          </a:bodyPr>
          <a:p>
            <a:r>
              <a:rPr b="1"/>
              <a:t>Pharmacokinetics determines</a:t>
            </a:r>
            <a:endParaRPr b="1"/>
          </a:p>
        </p:txBody>
      </p:sp>
      <p:sp>
        <p:nvSpPr>
          <p:cNvPr id="1048783" name="Content Placeholder 2"/>
          <p:cNvSpPr>
            <a:spLocks noGrp="1"/>
          </p:cNvSpPr>
          <p:nvPr>
            <p:ph idx="1"/>
          </p:nvPr>
        </p:nvSpPr>
        <p:spPr>
          <a:xfrm>
            <a:off x="761995" y="1295404"/>
            <a:ext cx="10610854" cy="5200650"/>
          </a:xfrm>
        </p:spPr>
        <p:txBody>
          <a:bodyPr>
            <a:normAutofit/>
          </a:bodyPr>
          <a:p>
            <a:r>
              <a:rPr sz="4400"/>
              <a:t>Route of drug administration</a:t>
            </a:r>
            <a:endParaRPr sz="4400"/>
          </a:p>
          <a:p>
            <a:r>
              <a:rPr sz="4400"/>
              <a:t>Dose</a:t>
            </a:r>
            <a:endParaRPr sz="4400"/>
          </a:p>
          <a:p>
            <a:r>
              <a:rPr sz="4400"/>
              <a:t>Latency of onset</a:t>
            </a:r>
            <a:endParaRPr sz="4400"/>
          </a:p>
          <a:p>
            <a:r>
              <a:rPr sz="4400"/>
              <a:t>Time of peak action through them</a:t>
            </a:r>
            <a:endParaRPr sz="4400"/>
          </a:p>
          <a:p>
            <a:r>
              <a:rPr sz="4400"/>
              <a:t>Duration of action </a:t>
            </a:r>
            <a:r>
              <a:t>- </a:t>
            </a:r>
            <a:r>
              <a:rPr sz="4800"/>
              <a:t>frequency of administration of a drug</a:t>
            </a:r>
            <a:endParaRPr sz="4800"/>
          </a:p>
          <a:p>
            <a:pPr indent="0" marL="0">
              <a:buNone/>
            </a:pPr>
            <a:r>
              <a:rPr b="1" sz="4800"/>
              <a:t>All pharmacokinetic processes involve transport of the drug across the biological membrane </a:t>
            </a:r>
            <a:r>
              <a:rPr b="1" sz="4800"/>
              <a:t>e.g</a:t>
            </a:r>
            <a:r>
              <a:rPr b="1" sz="4800"/>
              <a:t> GIT to blood stream, blood stream to target cells</a:t>
            </a:r>
            <a:endParaRPr b="1" sz="4800"/>
          </a:p>
          <a:p>
            <a:pPr indent="0" marL="0">
              <a:buNone/>
            </a:pPr>
            <a:endParaRPr sz="480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754" name=""/>
        <p:cNvGrpSpPr/>
        <p:nvPr/>
      </p:nvGrpSpPr>
      <p:grpSpPr>
        <a:xfrm>
          <a:off x="0" y="0"/>
          <a:ext cx="0" cy="0"/>
          <a:chOff x="0" y="0"/>
          <a:chExt cx="0" cy="0"/>
        </a:xfrm>
      </p:grpSpPr>
      <p:sp>
        <p:nvSpPr>
          <p:cNvPr id="1048784" name="Title 1"/>
          <p:cNvSpPr>
            <a:spLocks noGrp="1"/>
          </p:cNvSpPr>
          <p:nvPr>
            <p:ph type="title"/>
          </p:nvPr>
        </p:nvSpPr>
        <p:spPr/>
        <p:txBody>
          <a:bodyPr>
            <a:normAutofit/>
          </a:bodyPr>
          <a:p>
            <a:r>
              <a:rPr b="1"/>
              <a:t>Drugs are transported across the membrane by</a:t>
            </a:r>
            <a:endParaRPr b="1"/>
          </a:p>
        </p:txBody>
      </p:sp>
      <p:sp>
        <p:nvSpPr>
          <p:cNvPr id="1048785" name="Content Placeholder 2"/>
          <p:cNvSpPr>
            <a:spLocks noGrp="1"/>
          </p:cNvSpPr>
          <p:nvPr>
            <p:ph idx="1"/>
          </p:nvPr>
        </p:nvSpPr>
        <p:spPr/>
        <p:txBody>
          <a:bodyPr>
            <a:normAutofit/>
          </a:bodyPr>
          <a:p>
            <a:r>
              <a:rPr sz="4000"/>
              <a:t>Passive diffusion</a:t>
            </a:r>
            <a:endParaRPr sz="4000"/>
          </a:p>
          <a:p>
            <a:r>
              <a:rPr sz="4000"/>
              <a:t>Filtration</a:t>
            </a:r>
            <a:endParaRPr sz="4000"/>
          </a:p>
          <a:p>
            <a:r>
              <a:rPr sz="4000"/>
              <a:t>Carrier transport</a:t>
            </a:r>
            <a:endParaRPr sz="400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755" name=""/>
        <p:cNvGrpSpPr/>
        <p:nvPr/>
      </p:nvGrpSpPr>
      <p:grpSpPr>
        <a:xfrm>
          <a:off x="0" y="0"/>
          <a:ext cx="0" cy="0"/>
          <a:chOff x="0" y="0"/>
          <a:chExt cx="0" cy="0"/>
        </a:xfrm>
      </p:grpSpPr>
      <p:sp>
        <p:nvSpPr>
          <p:cNvPr id="1048786" name="Content Placeholder 2"/>
          <p:cNvSpPr>
            <a:spLocks noGrp="1"/>
          </p:cNvSpPr>
          <p:nvPr>
            <p:ph idx="4294967295"/>
          </p:nvPr>
        </p:nvSpPr>
        <p:spPr>
          <a:xfrm>
            <a:off x="561970" y="381004"/>
            <a:ext cx="10848970" cy="6172200"/>
          </a:xfrm>
        </p:spPr>
        <p:txBody>
          <a:bodyPr>
            <a:noAutofit/>
          </a:bodyPr>
          <a:p>
            <a:r>
              <a:rPr b="1" sz="3600"/>
              <a:t>Passive diffusion </a:t>
            </a:r>
            <a:r>
              <a:rPr sz="3600"/>
              <a:t>– drug diffuses across the membrane in the direction of its concentration gradient. Lipid soluble drugs dissolve in the </a:t>
            </a:r>
            <a:r>
              <a:rPr sz="3600"/>
              <a:t>lipoidal</a:t>
            </a:r>
            <a:r>
              <a:rPr sz="3600"/>
              <a:t> cell membrane.</a:t>
            </a:r>
            <a:endParaRPr sz="3600"/>
          </a:p>
          <a:p>
            <a:endParaRPr sz="3600"/>
          </a:p>
          <a:p>
            <a:r>
              <a:rPr b="1" sz="3600"/>
              <a:t>Filtration</a:t>
            </a:r>
            <a:r>
              <a:rPr sz="3600"/>
              <a:t> – Passage of drugs through aqueous pores in the membrane or through </a:t>
            </a:r>
            <a:r>
              <a:rPr sz="3600"/>
              <a:t>paracellular</a:t>
            </a:r>
            <a:r>
              <a:rPr sz="3600"/>
              <a:t> spaces. It is accelerated by the osmotic pressure gradient </a:t>
            </a:r>
            <a:r>
              <a:rPr sz="3600"/>
              <a:t>e.g</a:t>
            </a:r>
            <a:r>
              <a:rPr sz="3600"/>
              <a:t> capillaries have large pores</a:t>
            </a:r>
            <a:endParaRPr sz="360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756" name=""/>
        <p:cNvGrpSpPr/>
        <p:nvPr/>
      </p:nvGrpSpPr>
      <p:grpSpPr>
        <a:xfrm>
          <a:off x="0" y="0"/>
          <a:ext cx="0" cy="0"/>
          <a:chOff x="0" y="0"/>
          <a:chExt cx="0" cy="0"/>
        </a:xfrm>
      </p:grpSpPr>
      <p:sp>
        <p:nvSpPr>
          <p:cNvPr id="1048787" name="Content Placeholder 2"/>
          <p:cNvSpPr>
            <a:spLocks noGrp="1"/>
          </p:cNvSpPr>
          <p:nvPr>
            <p:ph idx="4294967295"/>
          </p:nvPr>
        </p:nvSpPr>
        <p:spPr>
          <a:xfrm>
            <a:off x="609604" y="314325"/>
            <a:ext cx="11163295" cy="6162670"/>
          </a:xfrm>
        </p:spPr>
        <p:txBody>
          <a:bodyPr>
            <a:noAutofit/>
          </a:bodyPr>
          <a:p>
            <a:r>
              <a:rPr b="1" sz="4400"/>
              <a:t>Carrier transport </a:t>
            </a:r>
            <a:r>
              <a:rPr sz="4400"/>
              <a:t>– Drug combines with a carrier present in the membrane and the complex then </a:t>
            </a:r>
            <a:r>
              <a:rPr sz="4400"/>
              <a:t>translocates</a:t>
            </a:r>
            <a:r>
              <a:rPr sz="4400"/>
              <a:t> from one face of the membrane to another. </a:t>
            </a:r>
            <a:r>
              <a:rPr b="1" sz="4400"/>
              <a:t>Carrier transport is specific, </a:t>
            </a:r>
            <a:r>
              <a:rPr b="1" sz="4400"/>
              <a:t>saturable</a:t>
            </a:r>
            <a:r>
              <a:rPr b="1" sz="4400"/>
              <a:t> and competitively inhibited by analogues that use the same carrier</a:t>
            </a:r>
            <a:r>
              <a:rPr sz="4400"/>
              <a:t>. Can be by:</a:t>
            </a:r>
            <a:endParaRPr sz="4400"/>
          </a:p>
          <a:p>
            <a:pPr lvl="1"/>
            <a:r>
              <a:rPr b="1" sz="3200"/>
              <a:t>Active transport </a:t>
            </a:r>
            <a:r>
              <a:rPr sz="3200"/>
              <a:t>( movement against concentration gradient and requires energy) </a:t>
            </a:r>
            <a:endParaRPr sz="3200"/>
          </a:p>
          <a:p>
            <a:pPr lvl="1"/>
            <a:r>
              <a:rPr b="1" sz="3200"/>
              <a:t>Facilitated diffusion </a:t>
            </a:r>
            <a:r>
              <a:rPr sz="3200"/>
              <a:t>( more rapid diffusion along concentration gradient)</a:t>
            </a:r>
            <a:endParaRPr sz="320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757" name=""/>
        <p:cNvGrpSpPr/>
        <p:nvPr/>
      </p:nvGrpSpPr>
      <p:grpSpPr>
        <a:xfrm>
          <a:off x="0" y="0"/>
          <a:ext cx="0" cy="0"/>
          <a:chOff x="0" y="0"/>
          <a:chExt cx="0" cy="0"/>
        </a:xfrm>
      </p:grpSpPr>
      <p:sp>
        <p:nvSpPr>
          <p:cNvPr id="1048788" name="Slide Number Placeholder 3"/>
          <p:cNvSpPr>
            <a:spLocks noGrp="1"/>
          </p:cNvSpPr>
          <p:nvPr>
            <p:ph type="sldNum" sz="quarter" idx="12"/>
          </p:nvPr>
        </p:nvSpPr>
        <p:spPr/>
        <p:txBody>
          <a:bodyPr/>
          <a:p>
            <a:r>
              <a:t>100</a:t>
            </a:r>
          </a:p>
        </p:txBody>
      </p:sp>
      <p:pic>
        <p:nvPicPr>
          <p:cNvPr id="2097158" name="Picture 3" descr="02_04"/>
          <p:cNvPicPr>
            <a:picLocks noChangeAspect="1" noChangeArrowheads="1"/>
          </p:cNvPicPr>
          <p:nvPr/>
        </p:nvPicPr>
        <p:blipFill>
          <a:blip xmlns:r="http://schemas.openxmlformats.org/officeDocument/2006/relationships" r:embed="rId1" cstate="print"/>
          <a:srcRect/>
          <a:stretch>
            <a:fillRect/>
          </a:stretch>
        </p:blipFill>
        <p:spPr bwMode="auto">
          <a:xfrm>
            <a:off x="1524004" y="0"/>
            <a:ext cx="9144000" cy="6262682"/>
          </a:xfrm>
          <a:prstGeom prst="rect"/>
          <a:noFill/>
          <a:ln w="9525">
            <a:noFill/>
            <a:miter lim="800000"/>
            <a:headEnd/>
            <a:tailEnd/>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758" name=""/>
        <p:cNvGrpSpPr/>
        <p:nvPr/>
      </p:nvGrpSpPr>
      <p:grpSpPr>
        <a:xfrm>
          <a:off x="0" y="0"/>
          <a:ext cx="0" cy="0"/>
          <a:chOff x="0" y="0"/>
          <a:chExt cx="0" cy="0"/>
        </a:xfrm>
      </p:grpSpPr>
      <p:sp>
        <p:nvSpPr>
          <p:cNvPr id="1048789" name="Title 1"/>
          <p:cNvSpPr>
            <a:spLocks noGrp="1"/>
          </p:cNvSpPr>
          <p:nvPr>
            <p:ph type="title"/>
          </p:nvPr>
        </p:nvSpPr>
        <p:spPr/>
        <p:txBody>
          <a:bodyPr>
            <a:normAutofit/>
          </a:bodyPr>
          <a:p>
            <a:r>
              <a:rPr b="1"/>
              <a:t>DRUG ABSORPTION</a:t>
            </a:r>
            <a:br/>
          </a:p>
        </p:txBody>
      </p:sp>
      <p:sp>
        <p:nvSpPr>
          <p:cNvPr id="1048790" name="Content Placeholder 2"/>
          <p:cNvSpPr>
            <a:spLocks noGrp="1"/>
          </p:cNvSpPr>
          <p:nvPr>
            <p:ph idx="1"/>
          </p:nvPr>
        </p:nvSpPr>
        <p:spPr>
          <a:xfrm>
            <a:off x="533395" y="1066804"/>
            <a:ext cx="11001375" cy="5059365"/>
          </a:xfrm>
        </p:spPr>
        <p:txBody>
          <a:bodyPr>
            <a:normAutofit/>
          </a:bodyPr>
          <a:p>
            <a:r>
              <a:rPr sz="4000"/>
              <a:t>Refers to movement of a drug from its site of administration into circulation. </a:t>
            </a:r>
            <a:endParaRPr sz="4000"/>
          </a:p>
          <a:p>
            <a:endParaRPr sz="4000"/>
          </a:p>
          <a:p>
            <a:r>
              <a:rPr sz="4000"/>
              <a:t>The fraction of the drug that gets absorbed and the rate of absorption are important. </a:t>
            </a:r>
            <a:endParaRPr sz="4000"/>
          </a:p>
          <a:p>
            <a:endParaRPr sz="4000"/>
          </a:p>
          <a:p>
            <a:r>
              <a:rPr sz="4000"/>
              <a:t>Except when given IV, all drugs have to cross biological membranes</a:t>
            </a:r>
            <a:endParaRPr sz="400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759" name=""/>
        <p:cNvGrpSpPr/>
        <p:nvPr/>
      </p:nvGrpSpPr>
      <p:grpSpPr>
        <a:xfrm>
          <a:off x="0" y="0"/>
          <a:ext cx="0" cy="0"/>
          <a:chOff x="0" y="0"/>
          <a:chExt cx="0" cy="0"/>
        </a:xfrm>
      </p:grpSpPr>
      <p:sp>
        <p:nvSpPr>
          <p:cNvPr id="1048791" name="Title 1"/>
          <p:cNvSpPr>
            <a:spLocks noGrp="1"/>
          </p:cNvSpPr>
          <p:nvPr>
            <p:ph type="title"/>
          </p:nvPr>
        </p:nvSpPr>
        <p:spPr>
          <a:xfrm>
            <a:off x="1981204" y="274643"/>
            <a:ext cx="8229600" cy="487365"/>
          </a:xfrm>
        </p:spPr>
        <p:txBody>
          <a:bodyPr>
            <a:normAutofit/>
          </a:bodyPr>
          <a:p>
            <a:r>
              <a:t> Factors affecting absorption</a:t>
            </a:r>
          </a:p>
        </p:txBody>
      </p:sp>
      <p:sp>
        <p:nvSpPr>
          <p:cNvPr id="1048792" name="Content Placeholder 2"/>
          <p:cNvSpPr>
            <a:spLocks noGrp="1"/>
          </p:cNvSpPr>
          <p:nvPr>
            <p:ph idx="1"/>
          </p:nvPr>
        </p:nvSpPr>
        <p:spPr>
          <a:xfrm>
            <a:off x="504820" y="838204"/>
            <a:ext cx="11115675" cy="5745165"/>
          </a:xfrm>
        </p:spPr>
        <p:txBody>
          <a:bodyPr>
            <a:normAutofit/>
          </a:bodyPr>
          <a:p>
            <a:r>
              <a:rPr b="1" sz="3500"/>
              <a:t>Aqueous solubility </a:t>
            </a:r>
            <a:r>
              <a:rPr sz="3500"/>
              <a:t>– drugs in solid form must dissolve in aqueous solution before absorption. </a:t>
            </a:r>
            <a:endParaRPr sz="3500"/>
          </a:p>
          <a:p>
            <a:r>
              <a:rPr b="1" sz="3500"/>
              <a:t>Concentration </a:t>
            </a:r>
            <a:r>
              <a:rPr sz="3500"/>
              <a:t>– passive transport depends on concentration gradient. Concentrated solution from the GIT is faster absorbed.</a:t>
            </a:r>
            <a:endParaRPr sz="3500"/>
          </a:p>
          <a:p>
            <a:r>
              <a:rPr b="1" sz="3500"/>
              <a:t>Area of absorbing surface </a:t>
            </a:r>
            <a:r>
              <a:rPr sz="3500"/>
              <a:t>– the larger, the faster the absorption</a:t>
            </a:r>
            <a:endParaRPr sz="3500"/>
          </a:p>
          <a:p>
            <a:r>
              <a:rPr b="1" sz="3500"/>
              <a:t>Vascularity</a:t>
            </a:r>
            <a:r>
              <a:rPr sz="3500"/>
              <a:t> of the absorbing surface </a:t>
            </a:r>
            <a:endParaRPr sz="3500"/>
          </a:p>
          <a:p>
            <a:r>
              <a:rPr b="1" sz="3500"/>
              <a:t>Route of drug administration </a:t>
            </a:r>
            <a:endParaRPr b="1" sz="3500"/>
          </a:p>
          <a:p>
            <a:endParaRPr sz="3500"/>
          </a:p>
          <a:p>
            <a:endParaRPr sz="3500"/>
          </a:p>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762" name=""/>
        <p:cNvGrpSpPr/>
        <p:nvPr/>
      </p:nvGrpSpPr>
      <p:grpSpPr>
        <a:xfrm>
          <a:off x="0" y="0"/>
          <a:ext cx="0" cy="0"/>
          <a:chOff x="0" y="0"/>
          <a:chExt cx="0" cy="0"/>
        </a:xfrm>
      </p:grpSpPr>
      <p:sp>
        <p:nvSpPr>
          <p:cNvPr id="1048796" name="Title 1"/>
          <p:cNvSpPr>
            <a:spLocks noGrp="1"/>
          </p:cNvSpPr>
          <p:nvPr>
            <p:ph type="title"/>
          </p:nvPr>
        </p:nvSpPr>
        <p:spPr/>
        <p:txBody>
          <a:bodyPr/>
          <a:p>
            <a:r>
              <a:t>ABSORPTION FROM ORAL ROUTE</a:t>
            </a:r>
          </a:p>
        </p:txBody>
      </p:sp>
      <p:sp>
        <p:nvSpPr>
          <p:cNvPr id="1048797" name="Content Placeholder 2"/>
          <p:cNvSpPr>
            <a:spLocks noGrp="1"/>
          </p:cNvSpPr>
          <p:nvPr>
            <p:ph idx="1"/>
          </p:nvPr>
        </p:nvSpPr>
        <p:spPr>
          <a:xfrm>
            <a:off x="438154" y="1295404"/>
            <a:ext cx="11191870" cy="5400675"/>
          </a:xfrm>
        </p:spPr>
        <p:txBody>
          <a:bodyPr>
            <a:noAutofit/>
          </a:bodyPr>
          <a:p>
            <a:r>
              <a:rPr sz="4800"/>
              <a:t>The </a:t>
            </a:r>
            <a:r>
              <a:rPr sz="4800" u="sng"/>
              <a:t>barrier</a:t>
            </a:r>
            <a:r>
              <a:rPr sz="4800"/>
              <a:t> for orally administered drugs </a:t>
            </a:r>
            <a:r>
              <a:rPr sz="4800" u="sng"/>
              <a:t>is the epithelial lining of the GIT which is </a:t>
            </a:r>
            <a:r>
              <a:rPr sz="4800" u="sng"/>
              <a:t>lipoidal</a:t>
            </a:r>
            <a:r>
              <a:rPr sz="4800"/>
              <a:t>. </a:t>
            </a:r>
            <a:endParaRPr sz="4800"/>
          </a:p>
          <a:p>
            <a:r>
              <a:rPr sz="4800">
                <a:solidFill>
                  <a:srgbClr val="00B050"/>
                </a:solidFill>
              </a:rPr>
              <a:t>Lipid soluble drugs and acidic drugs </a:t>
            </a:r>
            <a:r>
              <a:rPr sz="4800"/>
              <a:t>e.g</a:t>
            </a:r>
            <a:r>
              <a:rPr sz="4800"/>
              <a:t> aspirin (salicylates) are easily absorbed </a:t>
            </a:r>
            <a:r>
              <a:rPr sz="4800">
                <a:solidFill>
                  <a:srgbClr val="00B050"/>
                </a:solidFill>
              </a:rPr>
              <a:t>from the stomach </a:t>
            </a:r>
            <a:r>
              <a:rPr sz="4800"/>
              <a:t>while </a:t>
            </a:r>
            <a:r>
              <a:rPr sz="4800">
                <a:solidFill>
                  <a:srgbClr val="FF0000"/>
                </a:solidFill>
              </a:rPr>
              <a:t>basic drugs </a:t>
            </a:r>
            <a:r>
              <a:rPr sz="4800"/>
              <a:t>e.g</a:t>
            </a:r>
            <a:r>
              <a:rPr sz="4800"/>
              <a:t> morphine, quinine are </a:t>
            </a:r>
            <a:r>
              <a:rPr sz="4800">
                <a:solidFill>
                  <a:srgbClr val="FF0000"/>
                </a:solidFill>
              </a:rPr>
              <a:t>absorbed from duodenum</a:t>
            </a:r>
            <a:endParaRPr sz="4800">
              <a:solidFill>
                <a:srgbClr val="FF0000"/>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763" name=""/>
        <p:cNvGrpSpPr/>
        <p:nvPr/>
      </p:nvGrpSpPr>
      <p:grpSpPr>
        <a:xfrm>
          <a:off x="0" y="0"/>
          <a:ext cx="0" cy="0"/>
          <a:chOff x="0" y="0"/>
          <a:chExt cx="0" cy="0"/>
        </a:xfrm>
      </p:grpSpPr>
      <p:sp>
        <p:nvSpPr>
          <p:cNvPr id="1048798" name="Slide Number Placeholder 5"/>
          <p:cNvSpPr>
            <a:spLocks noGrp="1"/>
          </p:cNvSpPr>
          <p:nvPr>
            <p:ph type="sldNum" sz="quarter" idx="12"/>
          </p:nvPr>
        </p:nvSpPr>
        <p:spPr/>
        <p:txBody>
          <a:bodyPr/>
          <a:p>
            <a:r>
              <a:t>104</a:t>
            </a:r>
          </a:p>
        </p:txBody>
      </p:sp>
      <p:pic>
        <p:nvPicPr>
          <p:cNvPr id="2097159" name="Picture 7" descr="26_13a"/>
          <p:cNvPicPr>
            <a:picLocks noChangeAspect="1" noChangeArrowheads="1"/>
          </p:cNvPicPr>
          <p:nvPr/>
        </p:nvPicPr>
        <p:blipFill>
          <a:blip xmlns:r="http://schemas.openxmlformats.org/officeDocument/2006/relationships" r:embed="rId1" cstate="print"/>
          <a:srcRect/>
          <a:stretch>
            <a:fillRect/>
          </a:stretch>
        </p:blipFill>
        <p:spPr bwMode="auto">
          <a:xfrm>
            <a:off x="1752604" y="83339"/>
            <a:ext cx="8839204" cy="6732593"/>
          </a:xfrm>
          <a:prstGeom prst="rect"/>
          <a:noFill/>
          <a:ln w="9525">
            <a:noFill/>
            <a:miter lim="800000"/>
            <a:headEnd/>
            <a:tailEnd/>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764" name=""/>
        <p:cNvGrpSpPr/>
        <p:nvPr/>
      </p:nvGrpSpPr>
      <p:grpSpPr>
        <a:xfrm>
          <a:off x="0" y="0"/>
          <a:ext cx="0" cy="0"/>
          <a:chOff x="0" y="0"/>
          <a:chExt cx="0" cy="0"/>
        </a:xfrm>
      </p:grpSpPr>
      <p:sp>
        <p:nvSpPr>
          <p:cNvPr id="1048799" name="Slide Number Placeholder 5"/>
          <p:cNvSpPr>
            <a:spLocks noGrp="1"/>
          </p:cNvSpPr>
          <p:nvPr>
            <p:ph type="sldNum" sz="quarter" idx="12"/>
          </p:nvPr>
        </p:nvSpPr>
        <p:spPr/>
        <p:txBody>
          <a:bodyPr/>
          <a:p>
            <a:r>
              <a:t>105</a:t>
            </a:r>
          </a:p>
        </p:txBody>
      </p:sp>
      <p:pic>
        <p:nvPicPr>
          <p:cNvPr id="2097160" name="Picture 6" descr="26_15abc"/>
          <p:cNvPicPr>
            <a:picLocks noChangeAspect="1" noChangeArrowheads="1"/>
          </p:cNvPicPr>
          <p:nvPr/>
        </p:nvPicPr>
        <p:blipFill>
          <a:blip xmlns:r="http://schemas.openxmlformats.org/officeDocument/2006/relationships" r:embed="rId1" cstate="print"/>
          <a:srcRect/>
          <a:stretch>
            <a:fillRect/>
          </a:stretch>
        </p:blipFill>
        <p:spPr bwMode="auto">
          <a:xfrm>
            <a:off x="1600200" y="95254"/>
            <a:ext cx="8915400" cy="6686550"/>
          </a:xfrm>
          <a:prstGeom prst="rect"/>
          <a:noFill/>
          <a:ln w="9525">
            <a:noFill/>
            <a:miter lim="800000"/>
            <a:headEnd/>
            <a:tailEnd/>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765" name=""/>
        <p:cNvGrpSpPr/>
        <p:nvPr/>
      </p:nvGrpSpPr>
      <p:grpSpPr>
        <a:xfrm>
          <a:off x="0" y="0"/>
          <a:ext cx="0" cy="0"/>
          <a:chOff x="0" y="0"/>
          <a:chExt cx="0" cy="0"/>
        </a:xfrm>
      </p:grpSpPr>
      <p:sp>
        <p:nvSpPr>
          <p:cNvPr id="1048800" name="Title 1"/>
          <p:cNvSpPr>
            <a:spLocks noGrp="1"/>
          </p:cNvSpPr>
          <p:nvPr>
            <p:ph type="title"/>
          </p:nvPr>
        </p:nvSpPr>
        <p:spPr>
          <a:xfrm>
            <a:off x="1981204" y="228600"/>
            <a:ext cx="8229600" cy="761995"/>
          </a:xfrm>
        </p:spPr>
        <p:txBody>
          <a:bodyPr>
            <a:noAutofit/>
          </a:bodyPr>
          <a:p>
            <a:pPr algn="ctr" lvl="2"/>
            <a:r>
              <a:rPr sz="3200"/>
              <a:t>Absorption from stomach is slower because</a:t>
            </a:r>
            <a:r>
              <a:rPr sz="4400"/>
              <a:t>;</a:t>
            </a:r>
            <a:endParaRPr sz="4400"/>
          </a:p>
        </p:txBody>
      </p:sp>
      <p:sp>
        <p:nvSpPr>
          <p:cNvPr id="1048801" name="Content Placeholder 2"/>
          <p:cNvSpPr>
            <a:spLocks noGrp="1"/>
          </p:cNvSpPr>
          <p:nvPr>
            <p:ph idx="1"/>
          </p:nvPr>
        </p:nvSpPr>
        <p:spPr>
          <a:xfrm>
            <a:off x="419095" y="1066804"/>
            <a:ext cx="10953754" cy="5410204"/>
          </a:xfrm>
        </p:spPr>
        <p:txBody>
          <a:bodyPr>
            <a:normAutofit lnSpcReduction="10000"/>
          </a:bodyPr>
          <a:p>
            <a:pPr lvl="2"/>
            <a:r>
              <a:rPr b="1" sz="4000"/>
              <a:t>Mucosa is thick and covered with mucus and has a small surface</a:t>
            </a:r>
            <a:r>
              <a:rPr sz="4000"/>
              <a:t>. </a:t>
            </a:r>
            <a:endParaRPr sz="4000"/>
          </a:p>
          <a:p>
            <a:pPr lvl="2"/>
            <a:endParaRPr sz="4000"/>
          </a:p>
          <a:p>
            <a:pPr lvl="2"/>
            <a:r>
              <a:rPr b="1" sz="4000"/>
              <a:t>Presence of food </a:t>
            </a:r>
            <a:r>
              <a:rPr sz="4000"/>
              <a:t>– dilutes drug, retards absorption, form complexes with food e. tetracyclines and calcium, delays emptying.</a:t>
            </a:r>
            <a:endParaRPr sz="4000"/>
          </a:p>
          <a:p>
            <a:pPr lvl="2"/>
            <a:endParaRPr sz="4000"/>
          </a:p>
          <a:p>
            <a:pPr lvl="2"/>
            <a:r>
              <a:rPr b="1" sz="4000"/>
              <a:t>Some drugs are degraded in the GIT </a:t>
            </a:r>
            <a:r>
              <a:rPr sz="4000"/>
              <a:t>e.g</a:t>
            </a:r>
            <a:r>
              <a:rPr sz="4000"/>
              <a:t> Penicillin G and Insulin therefore are ineffective orally. </a:t>
            </a:r>
            <a:endParaRPr sz="4000"/>
          </a:p>
          <a:p>
            <a:pPr lvl="2"/>
            <a:endParaRPr sz="2800"/>
          </a:p>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766" name=""/>
        <p:cNvGrpSpPr/>
        <p:nvPr/>
      </p:nvGrpSpPr>
      <p:grpSpPr>
        <a:xfrm>
          <a:off x="0" y="0"/>
          <a:ext cx="0" cy="0"/>
          <a:chOff x="0" y="0"/>
          <a:chExt cx="0" cy="0"/>
        </a:xfrm>
      </p:grpSpPr>
      <p:sp>
        <p:nvSpPr>
          <p:cNvPr id="1048802" name="Title 1"/>
          <p:cNvSpPr>
            <a:spLocks noGrp="1"/>
          </p:cNvSpPr>
          <p:nvPr>
            <p:ph type="ctrTitle"/>
          </p:nvPr>
        </p:nvSpPr>
        <p:spPr/>
        <p:txBody>
          <a:bodyPr anchor="b"/>
          <a:p>
            <a:r>
              <a:t>cont</a:t>
            </a:r>
          </a:p>
        </p:txBody>
      </p:sp>
      <p:sp>
        <p:nvSpPr>
          <p:cNvPr id="1048803" name="Content Placeholder 2"/>
          <p:cNvSpPr>
            <a:spLocks noGrp="1"/>
          </p:cNvSpPr>
          <p:nvPr>
            <p:ph type="subTitle" idx="1"/>
          </p:nvPr>
        </p:nvSpPr>
        <p:spPr/>
        <p:txBody>
          <a:bodyPr>
            <a:normAutofit fontScale="50000" lnSpcReduction="20000"/>
          </a:bodyPr>
          <a:p>
            <a:pPr indent="-342900" lvl="2" marL="342900"/>
            <a:r>
              <a:rPr sz="3600"/>
              <a:t>Absorption from GIT can also be </a:t>
            </a:r>
            <a:r>
              <a:rPr b="1" sz="3600"/>
              <a:t>affected by concurrently ingested drugs</a:t>
            </a:r>
            <a:r>
              <a:rPr sz="3600"/>
              <a:t> </a:t>
            </a:r>
            <a:r>
              <a:rPr sz="3600"/>
              <a:t>e.g</a:t>
            </a:r>
            <a:r>
              <a:rPr sz="3600"/>
              <a:t> </a:t>
            </a:r>
            <a:r>
              <a:rPr sz="3600" u="sng"/>
              <a:t>alteration of gut flora</a:t>
            </a:r>
            <a:r>
              <a:rPr sz="3600"/>
              <a:t> </a:t>
            </a:r>
            <a:r>
              <a:rPr sz="3600" u="sng"/>
              <a:t>by antibiotics alters absorption of oral contraceptives, tetracycline and antacids/iron</a:t>
            </a:r>
            <a:endParaRPr sz="3600" u="sng"/>
          </a:p>
          <a:p>
            <a:pPr indent="-342900" lvl="2" marL="342900"/>
            <a:endParaRPr sz="3600"/>
          </a:p>
          <a:p>
            <a:pPr indent="0" lvl="2" marL="0">
              <a:buNone/>
            </a:pPr>
            <a:r>
              <a:rPr sz="3600"/>
              <a:t>Overcoming  stomach  barriers</a:t>
            </a:r>
            <a:endParaRPr sz="3600"/>
          </a:p>
          <a:p>
            <a:pPr indent="-342900" lvl="3" marL="800100"/>
            <a:r>
              <a:rPr sz="3200"/>
              <a:t>Enteric coated tablets (drug with Acid resistant coating) and sustained release preparations (drug coated with slowly dissolving materials) can be used to overcome acid lability and gastric irritancy</a:t>
            </a:r>
            <a:endParaRPr sz="3200"/>
          </a:p>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767" name=""/>
        <p:cNvGrpSpPr/>
        <p:nvPr/>
      </p:nvGrpSpPr>
      <p:grpSpPr>
        <a:xfrm>
          <a:off x="0" y="0"/>
          <a:ext cx="0" cy="0"/>
          <a:chOff x="0" y="0"/>
          <a:chExt cx="0" cy="0"/>
        </a:xfrm>
      </p:grpSpPr>
      <p:sp>
        <p:nvSpPr>
          <p:cNvPr id="1048804" name="Title 1"/>
          <p:cNvSpPr>
            <a:spLocks noGrp="1"/>
          </p:cNvSpPr>
          <p:nvPr>
            <p:ph type="title"/>
          </p:nvPr>
        </p:nvSpPr>
        <p:spPr>
          <a:xfrm>
            <a:off x="1981204" y="274643"/>
            <a:ext cx="8229600" cy="944565"/>
          </a:xfrm>
        </p:spPr>
        <p:txBody>
          <a:bodyPr>
            <a:normAutofit/>
          </a:bodyPr>
          <a:p>
            <a:r>
              <a:rPr b="1" sz="3200"/>
              <a:t>SUBCUTANEOUS AND INTRAMUSCULAR</a:t>
            </a:r>
            <a:endParaRPr b="1" sz="3200"/>
          </a:p>
        </p:txBody>
      </p:sp>
      <p:sp>
        <p:nvSpPr>
          <p:cNvPr id="1048805" name="Content Placeholder 2"/>
          <p:cNvSpPr>
            <a:spLocks noGrp="1"/>
          </p:cNvSpPr>
          <p:nvPr>
            <p:ph idx="1"/>
          </p:nvPr>
        </p:nvSpPr>
        <p:spPr>
          <a:xfrm>
            <a:off x="504820" y="1371600"/>
            <a:ext cx="11125204" cy="5486400"/>
          </a:xfrm>
        </p:spPr>
        <p:txBody>
          <a:bodyPr>
            <a:normAutofit/>
          </a:bodyPr>
          <a:p>
            <a:r>
              <a:rPr sz="4400"/>
              <a:t>These routes deposit drugs directly in the vicinity of capillaries.</a:t>
            </a:r>
            <a:endParaRPr sz="4400"/>
          </a:p>
          <a:p>
            <a:endParaRPr sz="4400"/>
          </a:p>
          <a:p>
            <a:r>
              <a:rPr sz="4400"/>
              <a:t> </a:t>
            </a:r>
            <a:r>
              <a:rPr b="1" sz="4400"/>
              <a:t>Lipid soluble drugs readily pass across the capillary endothelium which tends to be highly porous</a:t>
            </a:r>
            <a:r>
              <a:rPr sz="4400"/>
              <a:t>. </a:t>
            </a:r>
            <a:endParaRPr sz="4400"/>
          </a:p>
          <a:p>
            <a:endParaRPr sz="4400"/>
          </a:p>
          <a:p>
            <a:r>
              <a:rPr sz="4400"/>
              <a:t>Subcutaneous (</a:t>
            </a:r>
            <a:r>
              <a:rPr sz="4400"/>
              <a:t>s.c</a:t>
            </a:r>
            <a:r>
              <a:rPr sz="4400"/>
              <a:t>) site is slower than intramuscular (</a:t>
            </a:r>
            <a:r>
              <a:rPr sz="4400"/>
              <a:t>i.m</a:t>
            </a:r>
            <a:r>
              <a:rPr sz="4400"/>
              <a:t>). Application of heat and muscular exercises increases absorption by increasing blood flow</a:t>
            </a:r>
            <a:r>
              <a:rPr sz="3600"/>
              <a:t>.</a:t>
            </a:r>
            <a:endParaRPr sz="3600"/>
          </a:p>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768" name=""/>
        <p:cNvGrpSpPr/>
        <p:nvPr/>
      </p:nvGrpSpPr>
      <p:grpSpPr>
        <a:xfrm>
          <a:off x="0" y="0"/>
          <a:ext cx="0" cy="0"/>
          <a:chOff x="0" y="0"/>
          <a:chExt cx="0" cy="0"/>
        </a:xfrm>
      </p:grpSpPr>
      <p:sp>
        <p:nvSpPr>
          <p:cNvPr id="1048806" name="Title 1"/>
          <p:cNvSpPr>
            <a:spLocks noGrp="1"/>
          </p:cNvSpPr>
          <p:nvPr>
            <p:ph type="title"/>
          </p:nvPr>
        </p:nvSpPr>
        <p:spPr>
          <a:xfrm>
            <a:off x="1981204" y="274643"/>
            <a:ext cx="8229600" cy="792160"/>
          </a:xfrm>
        </p:spPr>
        <p:txBody>
          <a:bodyPr/>
          <a:p>
            <a:r>
              <a:t>TOPICAL ROUTE</a:t>
            </a:r>
          </a:p>
        </p:txBody>
      </p:sp>
      <p:sp>
        <p:nvSpPr>
          <p:cNvPr id="1048807" name="Content Placeholder 2"/>
          <p:cNvSpPr>
            <a:spLocks noGrp="1"/>
          </p:cNvSpPr>
          <p:nvPr>
            <p:ph idx="1"/>
          </p:nvPr>
        </p:nvSpPr>
        <p:spPr>
          <a:xfrm>
            <a:off x="457200" y="914400"/>
            <a:ext cx="11182354" cy="5943600"/>
          </a:xfrm>
        </p:spPr>
        <p:txBody>
          <a:bodyPr>
            <a:normAutofit fontScale="96429" lnSpcReduction="10000"/>
          </a:bodyPr>
          <a:p>
            <a:r>
              <a:rPr sz="4400" i="1"/>
              <a:t>Topical sites (skin, cornea, mucous membrane (mouth, rectum, vagina)) </a:t>
            </a:r>
            <a:r>
              <a:rPr sz="4400"/>
              <a:t>– systemic absorption after topical application depends on lipid solubility of the drug.</a:t>
            </a:r>
            <a:endParaRPr sz="4400"/>
          </a:p>
          <a:p>
            <a:endParaRPr sz="4400"/>
          </a:p>
          <a:p>
            <a:r>
              <a:rPr sz="4400"/>
              <a:t> Only few drugs significantly penetrate intact </a:t>
            </a:r>
            <a:r>
              <a:rPr sz="4400"/>
              <a:t>skin.e.g</a:t>
            </a:r>
            <a:r>
              <a:rPr sz="4400"/>
              <a:t> corticosteroids on extensive areas, organophosphate insecticides. </a:t>
            </a:r>
            <a:r>
              <a:rPr b="1" sz="4400"/>
              <a:t>Absorption is promoted by rubbing, occlusive dressing, increased hydration, abraded surfaces</a:t>
            </a:r>
            <a:endParaRPr b="1" sz="4400"/>
          </a:p>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769" name=""/>
        <p:cNvGrpSpPr/>
        <p:nvPr/>
      </p:nvGrpSpPr>
      <p:grpSpPr>
        <a:xfrm>
          <a:off x="0" y="0"/>
          <a:ext cx="0" cy="0"/>
          <a:chOff x="0" y="0"/>
          <a:chExt cx="0" cy="0"/>
        </a:xfrm>
      </p:grpSpPr>
      <p:sp>
        <p:nvSpPr>
          <p:cNvPr id="1048808" name="Title 1"/>
          <p:cNvSpPr>
            <a:spLocks noGrp="1"/>
          </p:cNvSpPr>
          <p:nvPr>
            <p:ph type="title"/>
          </p:nvPr>
        </p:nvSpPr>
        <p:spPr/>
        <p:txBody>
          <a:bodyPr/>
          <a:p>
            <a:r>
              <a:t>BIOAVAILABILITY</a:t>
            </a:r>
          </a:p>
        </p:txBody>
      </p:sp>
      <p:sp>
        <p:nvSpPr>
          <p:cNvPr id="1048809" name="Content Placeholder 2"/>
          <p:cNvSpPr>
            <a:spLocks noGrp="1"/>
          </p:cNvSpPr>
          <p:nvPr>
            <p:ph idx="1"/>
          </p:nvPr>
        </p:nvSpPr>
        <p:spPr>
          <a:xfrm>
            <a:off x="400050" y="1295404"/>
            <a:ext cx="11134720" cy="5333995"/>
          </a:xfrm>
        </p:spPr>
        <p:txBody>
          <a:bodyPr>
            <a:normAutofit/>
          </a:bodyPr>
          <a:p>
            <a:pPr>
              <a:buNone/>
            </a:pPr>
          </a:p>
          <a:p>
            <a:r>
              <a:rPr sz="3600"/>
              <a:t>It refers to the </a:t>
            </a:r>
            <a:r>
              <a:rPr sz="3600" u="sng"/>
              <a:t>rate and extent of absorption</a:t>
            </a:r>
            <a:r>
              <a:rPr sz="3600"/>
              <a:t> of a drug from a dosage form</a:t>
            </a:r>
            <a:endParaRPr sz="3600"/>
          </a:p>
          <a:p>
            <a:pPr indent="0" marL="0">
              <a:buNone/>
            </a:pPr>
            <a:r>
              <a:rPr sz="3600"/>
              <a:t>It is a measure of the </a:t>
            </a:r>
            <a:r>
              <a:rPr b="1" sz="3600"/>
              <a:t>fraction of the administered dose of that drug that reaches systemic circulation in the unchanged form</a:t>
            </a:r>
            <a:endParaRPr b="1" sz="3600"/>
          </a:p>
          <a:p>
            <a:r>
              <a:rPr sz="3600"/>
              <a:t>Bioavailability of a drug given </a:t>
            </a:r>
            <a:r>
              <a:rPr sz="3600"/>
              <a:t>i.v</a:t>
            </a:r>
            <a:r>
              <a:rPr sz="3600"/>
              <a:t> is 100%</a:t>
            </a:r>
            <a:endParaRPr sz="3600"/>
          </a:p>
          <a:p>
            <a:r>
              <a:rPr sz="3600"/>
              <a:t>Bioavailability of a drug given orally is lower because of incomplete absorption or may undergo first pass metabolism in intestinal wall/ liver or be excreted in bile.</a:t>
            </a:r>
            <a:endParaRPr sz="3600"/>
          </a:p>
          <a:p>
            <a:r>
              <a:rPr sz="3600"/>
              <a:t>Incomplete bioavailability after </a:t>
            </a:r>
            <a:r>
              <a:rPr sz="3600"/>
              <a:t>s.c</a:t>
            </a:r>
            <a:r>
              <a:rPr sz="3600"/>
              <a:t> or </a:t>
            </a:r>
            <a:r>
              <a:rPr sz="3600"/>
              <a:t>i.m</a:t>
            </a:r>
            <a:r>
              <a:rPr sz="3600"/>
              <a:t> is less common but may occur due to local binding of the drug</a:t>
            </a:r>
            <a:endParaRPr sz="3600"/>
          </a:p>
          <a:p>
            <a:endParaRPr b="1" sz="360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770" name=""/>
        <p:cNvGrpSpPr/>
        <p:nvPr/>
      </p:nvGrpSpPr>
      <p:grpSpPr>
        <a:xfrm>
          <a:off x="0" y="0"/>
          <a:ext cx="0" cy="0"/>
          <a:chOff x="0" y="0"/>
          <a:chExt cx="0" cy="0"/>
        </a:xfrm>
      </p:grpSpPr>
      <p:sp>
        <p:nvSpPr>
          <p:cNvPr id="1048810" name="Title 1"/>
          <p:cNvSpPr>
            <a:spLocks noGrp="1"/>
          </p:cNvSpPr>
          <p:nvPr>
            <p:ph type="title"/>
          </p:nvPr>
        </p:nvSpPr>
        <p:spPr>
          <a:xfrm>
            <a:off x="1981204" y="274643"/>
            <a:ext cx="8229600" cy="639756"/>
          </a:xfrm>
        </p:spPr>
        <p:txBody>
          <a:bodyPr>
            <a:normAutofit fontScale="90000"/>
          </a:bodyPr>
          <a:p>
            <a:r>
              <a:t>cont</a:t>
            </a:r>
          </a:p>
        </p:txBody>
      </p:sp>
      <p:sp>
        <p:nvSpPr>
          <p:cNvPr id="1048811" name="Content Placeholder 2"/>
          <p:cNvSpPr>
            <a:spLocks noGrp="1"/>
          </p:cNvSpPr>
          <p:nvPr>
            <p:ph idx="1"/>
          </p:nvPr>
        </p:nvSpPr>
        <p:spPr/>
        <p:txBody>
          <a:bodyPr/>
          <a:p>
            <a:r>
              <a:rPr sz="3600"/>
              <a:t>Oral formulations of a drug from different manufacturers or different batches may have the same drug but not yield the same blood levels – </a:t>
            </a:r>
            <a:r>
              <a:rPr b="1" sz="3600"/>
              <a:t>biologically inequivalent. </a:t>
            </a:r>
            <a:endParaRPr b="1" sz="3600"/>
          </a:p>
          <a:p>
            <a:endParaRPr b="1" sz="3600"/>
          </a:p>
          <a:p>
            <a:r>
              <a:rPr b="1" sz="3600">
                <a:solidFill>
                  <a:srgbClr val="FF0000"/>
                </a:solidFill>
              </a:rPr>
              <a:t>Bioequivalent drugs  - Have similar rate and extent of bioavailability</a:t>
            </a:r>
            <a:endParaRPr b="1" sz="3600">
              <a:solidFill>
                <a:srgbClr val="FF0000"/>
              </a:solidFill>
            </a:endParaRPr>
          </a:p>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771" name=""/>
        <p:cNvGrpSpPr/>
        <p:nvPr/>
      </p:nvGrpSpPr>
      <p:grpSpPr>
        <a:xfrm>
          <a:off x="0" y="0"/>
          <a:ext cx="0" cy="0"/>
          <a:chOff x="0" y="0"/>
          <a:chExt cx="0" cy="0"/>
        </a:xfrm>
      </p:grpSpPr>
      <p:sp>
        <p:nvSpPr>
          <p:cNvPr id="1048812" name="Content Placeholder 2"/>
          <p:cNvSpPr>
            <a:spLocks noGrp="1"/>
          </p:cNvSpPr>
          <p:nvPr>
            <p:ph idx="4294967295"/>
          </p:nvPr>
        </p:nvSpPr>
        <p:spPr>
          <a:xfrm>
            <a:off x="1524004" y="381004"/>
            <a:ext cx="9144000" cy="6476995"/>
          </a:xfrm>
        </p:spPr>
        <p:txBody>
          <a:bodyPr>
            <a:normAutofit/>
          </a:bodyPr>
          <a:p>
            <a:r>
              <a:rPr sz="4600"/>
              <a:t>Solid drugs – </a:t>
            </a:r>
            <a:r>
              <a:rPr b="1" sz="4600"/>
              <a:t>disintegrate </a:t>
            </a:r>
            <a:r>
              <a:rPr sz="4600"/>
              <a:t>( break into individual particles of active drug). </a:t>
            </a:r>
            <a:endParaRPr sz="4600"/>
          </a:p>
          <a:p>
            <a:pPr lvl="1"/>
            <a:r>
              <a:rPr sz="4200"/>
              <a:t>Diluents, agents lubricants used by different manufacturers may affect disintegration </a:t>
            </a:r>
            <a:endParaRPr sz="4200"/>
          </a:p>
          <a:p>
            <a:r>
              <a:rPr sz="4600"/>
              <a:t>Released drug dissolves in gastric aqueous GIT solution (</a:t>
            </a:r>
            <a:r>
              <a:rPr b="1" sz="4600"/>
              <a:t>dissolution</a:t>
            </a:r>
            <a:r>
              <a:rPr sz="4600"/>
              <a:t>). </a:t>
            </a:r>
            <a:endParaRPr sz="4600"/>
          </a:p>
          <a:p>
            <a:pPr>
              <a:buNone/>
            </a:pPr>
            <a:endParaRPr sz="4600"/>
          </a:p>
          <a:p>
            <a:pPr indent="-28575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772" name=""/>
        <p:cNvGrpSpPr/>
        <p:nvPr/>
      </p:nvGrpSpPr>
      <p:grpSpPr>
        <a:xfrm>
          <a:off x="0" y="0"/>
          <a:ext cx="0" cy="0"/>
          <a:chOff x="0" y="0"/>
          <a:chExt cx="0" cy="0"/>
        </a:xfrm>
      </p:grpSpPr>
      <p:sp>
        <p:nvSpPr>
          <p:cNvPr id="1048813" name="Title 1"/>
          <p:cNvSpPr>
            <a:spLocks noGrp="1"/>
          </p:cNvSpPr>
          <p:nvPr>
            <p:ph type="title"/>
          </p:nvPr>
        </p:nvSpPr>
        <p:spPr/>
        <p:txBody>
          <a:bodyPr/>
          <a:p>
            <a:r>
              <a:t>DISTRIBUTION</a:t>
            </a:r>
          </a:p>
        </p:txBody>
      </p:sp>
      <p:sp>
        <p:nvSpPr>
          <p:cNvPr id="1048814" name="Content Placeholder 2"/>
          <p:cNvSpPr>
            <a:spLocks noGrp="1"/>
          </p:cNvSpPr>
          <p:nvPr>
            <p:ph idx="1"/>
          </p:nvPr>
        </p:nvSpPr>
        <p:spPr/>
        <p:txBody>
          <a:bodyPr>
            <a:normAutofit/>
          </a:bodyPr>
          <a:p>
            <a:r>
              <a:rPr sz="4000"/>
              <a:t>Once a drug has gained access to the blood stream, it gets distributed to other tissues that initially had no drug, </a:t>
            </a:r>
            <a:r>
              <a:rPr b="1" sz="4000"/>
              <a:t>concentration gradient being in the direction of plasma to tissues</a:t>
            </a:r>
            <a:endParaRPr b="1" sz="400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773" name=""/>
        <p:cNvGrpSpPr/>
        <p:nvPr/>
      </p:nvGrpSpPr>
      <p:grpSpPr>
        <a:xfrm>
          <a:off x="0" y="0"/>
          <a:ext cx="0" cy="0"/>
          <a:chOff x="0" y="0"/>
          <a:chExt cx="0" cy="0"/>
        </a:xfrm>
      </p:grpSpPr>
      <p:sp>
        <p:nvSpPr>
          <p:cNvPr id="1048815" name="Title 1"/>
          <p:cNvSpPr>
            <a:spLocks noGrp="1"/>
          </p:cNvSpPr>
          <p:nvPr>
            <p:ph type="title"/>
          </p:nvPr>
        </p:nvSpPr>
        <p:spPr>
          <a:xfrm>
            <a:off x="1981204" y="152404"/>
            <a:ext cx="8229600" cy="838204"/>
          </a:xfrm>
        </p:spPr>
        <p:txBody>
          <a:bodyPr>
            <a:normAutofit/>
          </a:bodyPr>
          <a:p>
            <a:r>
              <a:rPr b="1" sz="3600"/>
              <a:t>Extent of distribution of a drug depends on:</a:t>
            </a:r>
            <a:endParaRPr b="1"/>
          </a:p>
        </p:txBody>
      </p:sp>
      <p:sp>
        <p:nvSpPr>
          <p:cNvPr id="1048816" name="Content Placeholder 2"/>
          <p:cNvSpPr>
            <a:spLocks noGrp="1"/>
          </p:cNvSpPr>
          <p:nvPr>
            <p:ph idx="1"/>
          </p:nvPr>
        </p:nvSpPr>
        <p:spPr>
          <a:xfrm>
            <a:off x="419095" y="1066804"/>
            <a:ext cx="11039479" cy="5333995"/>
          </a:xfrm>
        </p:spPr>
        <p:txBody>
          <a:bodyPr>
            <a:normAutofit/>
          </a:bodyPr>
          <a:p>
            <a:r>
              <a:rPr sz="4800" i="1">
                <a:solidFill>
                  <a:srgbClr val="FF0000"/>
                </a:solidFill>
              </a:rPr>
              <a:t>Lipid solubility</a:t>
            </a:r>
            <a:endParaRPr sz="4800" i="1">
              <a:solidFill>
                <a:srgbClr val="FF0000"/>
              </a:solidFill>
            </a:endParaRPr>
          </a:p>
          <a:p>
            <a:r>
              <a:rPr sz="4800" i="1">
                <a:solidFill>
                  <a:srgbClr val="FF0000"/>
                </a:solidFill>
              </a:rPr>
              <a:t>Extent of binding to plasma and tissue proteins</a:t>
            </a:r>
            <a:endParaRPr sz="4800" i="1">
              <a:solidFill>
                <a:srgbClr val="FF0000"/>
              </a:solidFill>
            </a:endParaRPr>
          </a:p>
          <a:p>
            <a:r>
              <a:rPr sz="4800" i="1">
                <a:solidFill>
                  <a:srgbClr val="FF0000"/>
                </a:solidFill>
              </a:rPr>
              <a:t>Differences in regional blood flow </a:t>
            </a:r>
            <a:endParaRPr sz="4800" i="1">
              <a:solidFill>
                <a:srgbClr val="FF0000"/>
              </a:solidFill>
            </a:endParaRPr>
          </a:p>
          <a:p>
            <a:pPr>
              <a:buNone/>
            </a:pPr>
            <a:r>
              <a:rPr sz="4800"/>
              <a:t>Movement of drug proceeds until an equilibrium is established between unbound drug in plasma and tissue fluid</a:t>
            </a:r>
            <a:endParaRPr sz="4800"/>
          </a:p>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774" name=""/>
        <p:cNvGrpSpPr/>
        <p:nvPr/>
      </p:nvGrpSpPr>
      <p:grpSpPr>
        <a:xfrm>
          <a:off x="0" y="0"/>
          <a:ext cx="0" cy="0"/>
          <a:chOff x="0" y="0"/>
          <a:chExt cx="0" cy="0"/>
        </a:xfrm>
      </p:grpSpPr>
      <p:sp>
        <p:nvSpPr>
          <p:cNvPr id="1048817" name="Title 1"/>
          <p:cNvSpPr>
            <a:spLocks noGrp="1"/>
          </p:cNvSpPr>
          <p:nvPr>
            <p:ph type="title"/>
          </p:nvPr>
        </p:nvSpPr>
        <p:spPr/>
        <p:txBody>
          <a:bodyPr/>
          <a:p>
            <a:r>
              <a:t>VOLUME OF DISTRIBUTION</a:t>
            </a:r>
          </a:p>
        </p:txBody>
      </p:sp>
      <p:sp>
        <p:nvSpPr>
          <p:cNvPr id="1048818" name="Content Placeholder 2"/>
          <p:cNvSpPr>
            <a:spLocks noGrp="1"/>
          </p:cNvSpPr>
          <p:nvPr>
            <p:ph idx="1"/>
          </p:nvPr>
        </p:nvSpPr>
        <p:spPr>
          <a:xfrm>
            <a:off x="428625" y="1825618"/>
            <a:ext cx="11439529" cy="4594226"/>
          </a:xfrm>
        </p:spPr>
        <p:txBody>
          <a:bodyPr>
            <a:normAutofit fontScale="92857" lnSpcReduction="20000"/>
          </a:bodyPr>
          <a:p>
            <a:pPr>
              <a:buNone/>
            </a:pPr>
            <a:r>
              <a:rPr sz="4400"/>
              <a:t>Volume of distribution (V) = dose administered </a:t>
            </a:r>
            <a:r>
              <a:rPr sz="4400"/>
              <a:t>i.v</a:t>
            </a:r>
            <a:r>
              <a:rPr b="1" sz="4400"/>
              <a:t>/</a:t>
            </a:r>
            <a:r>
              <a:rPr sz="4400"/>
              <a:t>plasma concentration</a:t>
            </a:r>
            <a:endParaRPr sz="4400"/>
          </a:p>
          <a:p>
            <a:pPr>
              <a:buNone/>
            </a:pPr>
            <a:r>
              <a:rPr b="1" sz="6600"/>
              <a:t>Redistribution</a:t>
            </a:r>
            <a:endParaRPr b="1" sz="6600"/>
          </a:p>
          <a:p>
            <a:pPr>
              <a:buNone/>
            </a:pPr>
            <a:r>
              <a:rPr sz="4400"/>
              <a:t>Highly lipid soluble drugs given by IV or inhalation initially get distributed to organs with high blood flow </a:t>
            </a:r>
            <a:r>
              <a:rPr sz="4400"/>
              <a:t>e.g</a:t>
            </a:r>
            <a:r>
              <a:rPr sz="4400"/>
              <a:t> brain, heart, kidney. Later less vascular but more likely tissues </a:t>
            </a:r>
            <a:r>
              <a:rPr sz="4400"/>
              <a:t>e.g</a:t>
            </a:r>
            <a:r>
              <a:rPr sz="4400"/>
              <a:t> muscle, fat take up the drug. When plasma concentration falls, the drug is withdrawn from these sites</a:t>
            </a:r>
            <a:endParaRPr sz="4400"/>
          </a:p>
          <a:p>
            <a:pPr>
              <a:buNone/>
            </a:pPr>
            <a:endParaRPr sz="4400"/>
          </a:p>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775" name=""/>
        <p:cNvGrpSpPr/>
        <p:nvPr/>
      </p:nvGrpSpPr>
      <p:grpSpPr>
        <a:xfrm>
          <a:off x="0" y="0"/>
          <a:ext cx="0" cy="0"/>
          <a:chOff x="0" y="0"/>
          <a:chExt cx="0" cy="0"/>
        </a:xfrm>
      </p:grpSpPr>
      <p:sp>
        <p:nvSpPr>
          <p:cNvPr id="1048819" name="Title 1"/>
          <p:cNvSpPr>
            <a:spLocks noGrp="1"/>
          </p:cNvSpPr>
          <p:nvPr>
            <p:ph type="title"/>
          </p:nvPr>
        </p:nvSpPr>
        <p:spPr>
          <a:xfrm>
            <a:off x="1981204" y="274643"/>
            <a:ext cx="8229600" cy="715965"/>
          </a:xfrm>
        </p:spPr>
        <p:txBody>
          <a:bodyPr>
            <a:normAutofit fontScale="93182"/>
          </a:bodyPr>
          <a:p>
            <a:r>
              <a:t>CONT</a:t>
            </a:r>
          </a:p>
        </p:txBody>
      </p:sp>
      <p:sp>
        <p:nvSpPr>
          <p:cNvPr id="1048820" name="Content Placeholder 2"/>
          <p:cNvSpPr>
            <a:spLocks noGrp="1"/>
          </p:cNvSpPr>
          <p:nvPr>
            <p:ph idx="1"/>
          </p:nvPr>
        </p:nvSpPr>
        <p:spPr>
          <a:xfrm>
            <a:off x="504820" y="1066804"/>
            <a:ext cx="11058525" cy="5333995"/>
          </a:xfrm>
        </p:spPr>
        <p:txBody>
          <a:bodyPr>
            <a:normAutofit/>
          </a:bodyPr>
          <a:p>
            <a:r>
              <a:rPr b="1" sz="5400"/>
              <a:t>If the site of action of the drug was in the highly perfused sites, redistribution results in termination of drug action</a:t>
            </a:r>
            <a:r>
              <a:rPr sz="5400"/>
              <a:t>.</a:t>
            </a:r>
            <a:endParaRPr sz="5400"/>
          </a:p>
          <a:p>
            <a:pPr indent="0" marL="0">
              <a:buNone/>
            </a:pPr>
            <a:r>
              <a:rPr sz="5400"/>
              <a:t> </a:t>
            </a:r>
            <a:endParaRPr sz="5400"/>
          </a:p>
          <a:p>
            <a:pPr lvl="1"/>
            <a:r>
              <a:rPr sz="4000" u="sng"/>
              <a:t>The greater the lipid solubility of the drug, the higher the redistribution</a:t>
            </a:r>
            <a:r>
              <a:rPr sz="4000"/>
              <a:t>. </a:t>
            </a:r>
            <a:r>
              <a:rPr sz="4000"/>
              <a:t>E.g</a:t>
            </a:r>
            <a:r>
              <a:rPr sz="4000"/>
              <a:t> </a:t>
            </a:r>
            <a:r>
              <a:rPr sz="4000"/>
              <a:t>thiopentone</a:t>
            </a:r>
            <a:r>
              <a:rPr sz="4000"/>
              <a:t> – anesthetic action is terminated in few minutes due to redistribution, given repeatedly, low perfusion sites get filled up and the drug becomes longer acting</a:t>
            </a:r>
            <a:endParaRPr sz="4000"/>
          </a:p>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776" name=""/>
        <p:cNvGrpSpPr/>
        <p:nvPr/>
      </p:nvGrpSpPr>
      <p:grpSpPr>
        <a:xfrm>
          <a:off x="0" y="0"/>
          <a:ext cx="0" cy="0"/>
          <a:chOff x="0" y="0"/>
          <a:chExt cx="0" cy="0"/>
        </a:xfrm>
      </p:grpSpPr>
      <p:sp>
        <p:nvSpPr>
          <p:cNvPr id="1048821" name="Title 1"/>
          <p:cNvSpPr>
            <a:spLocks noGrp="1"/>
          </p:cNvSpPr>
          <p:nvPr>
            <p:ph type="title"/>
          </p:nvPr>
        </p:nvSpPr>
        <p:spPr/>
        <p:txBody>
          <a:bodyPr/>
          <a:p>
            <a:r>
              <a:rPr b="1"/>
              <a:t>Penetration into the brain and CSF</a:t>
            </a:r>
          </a:p>
        </p:txBody>
      </p:sp>
      <p:sp>
        <p:nvSpPr>
          <p:cNvPr id="1048822" name="Content Placeholder 2"/>
          <p:cNvSpPr>
            <a:spLocks noGrp="1"/>
          </p:cNvSpPr>
          <p:nvPr>
            <p:ph idx="1"/>
          </p:nvPr>
        </p:nvSpPr>
        <p:spPr>
          <a:xfrm>
            <a:off x="400050" y="1295404"/>
            <a:ext cx="10953754" cy="5181604"/>
          </a:xfrm>
        </p:spPr>
        <p:txBody>
          <a:bodyPr>
            <a:normAutofit lnSpcReduction="10000"/>
          </a:bodyPr>
          <a:p>
            <a:r>
              <a:rPr sz="4000"/>
              <a:t>The capillary endothelial cells in the brain </a:t>
            </a:r>
            <a:r>
              <a:rPr b="1" sz="4000"/>
              <a:t>have tight junctions and lack large intercellular pores</a:t>
            </a:r>
            <a:r>
              <a:rPr sz="4000"/>
              <a:t>. Furthermore, an investment of </a:t>
            </a:r>
            <a:r>
              <a:rPr b="1" sz="4000"/>
              <a:t>neural tissues covers the capillaries</a:t>
            </a:r>
            <a:r>
              <a:rPr sz="4000"/>
              <a:t>, </a:t>
            </a:r>
            <a:r>
              <a:rPr sz="4000">
                <a:solidFill>
                  <a:srgbClr val="FF0000"/>
                </a:solidFill>
              </a:rPr>
              <a:t>together they constitute the blood-brain barrier or blood </a:t>
            </a:r>
            <a:r>
              <a:rPr sz="4000"/>
              <a:t>– CSF barrier in the choroid plexus.</a:t>
            </a:r>
            <a:endParaRPr sz="4000"/>
          </a:p>
          <a:p>
            <a:r>
              <a:rPr sz="4000"/>
              <a:t>Both these </a:t>
            </a:r>
            <a:r>
              <a:rPr b="1" sz="4000"/>
              <a:t>barriers are lipoidal </a:t>
            </a:r>
            <a:r>
              <a:rPr sz="4000"/>
              <a:t>and </a:t>
            </a:r>
            <a:r>
              <a:rPr b="1" sz="4000"/>
              <a:t>limit the entry of non lipid soluble drugs</a:t>
            </a:r>
            <a:r>
              <a:rPr sz="4000"/>
              <a:t> </a:t>
            </a:r>
            <a:r>
              <a:rPr sz="4000"/>
              <a:t>e.g</a:t>
            </a:r>
            <a:r>
              <a:rPr sz="4000"/>
              <a:t> streptomycin. </a:t>
            </a:r>
            <a:r>
              <a:rPr sz="4000">
                <a:solidFill>
                  <a:srgbClr val="FF0000"/>
                </a:solidFill>
              </a:rPr>
              <a:t>Only lipid soluble drugs can penetrate and have action on the central nervous system</a:t>
            </a:r>
            <a:endParaRPr sz="4000">
              <a:solidFill>
                <a:srgbClr val="FF0000"/>
              </a:solidFill>
            </a:endParaRPr>
          </a:p>
          <a:p>
            <a:endParaRPr sz="4000"/>
          </a:p>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777" name=""/>
        <p:cNvGrpSpPr/>
        <p:nvPr/>
      </p:nvGrpSpPr>
      <p:grpSpPr>
        <a:xfrm>
          <a:off x="0" y="0"/>
          <a:ext cx="0" cy="0"/>
          <a:chOff x="0" y="0"/>
          <a:chExt cx="0" cy="0"/>
        </a:xfrm>
      </p:grpSpPr>
      <p:sp>
        <p:nvSpPr>
          <p:cNvPr id="1048823" name="Title 1"/>
          <p:cNvSpPr>
            <a:spLocks noGrp="1"/>
          </p:cNvSpPr>
          <p:nvPr>
            <p:ph type="title"/>
          </p:nvPr>
        </p:nvSpPr>
        <p:spPr>
          <a:xfrm>
            <a:off x="1981204" y="274643"/>
            <a:ext cx="8229600" cy="792160"/>
          </a:xfrm>
        </p:spPr>
        <p:txBody>
          <a:bodyPr/>
          <a:p>
            <a:r>
              <a:t>cont</a:t>
            </a:r>
          </a:p>
        </p:txBody>
      </p:sp>
      <p:sp>
        <p:nvSpPr>
          <p:cNvPr id="1048824" name="Content Placeholder 2"/>
          <p:cNvSpPr>
            <a:spLocks noGrp="1"/>
          </p:cNvSpPr>
          <p:nvPr>
            <p:ph idx="1"/>
          </p:nvPr>
        </p:nvSpPr>
        <p:spPr>
          <a:xfrm>
            <a:off x="533395" y="838204"/>
            <a:ext cx="11020420" cy="6019795"/>
          </a:xfrm>
        </p:spPr>
        <p:txBody>
          <a:bodyPr>
            <a:normAutofit fontScale="96429"/>
          </a:bodyPr>
          <a:p>
            <a:r>
              <a:rPr b="1" sz="3600" i="1"/>
              <a:t>Efflux carriers </a:t>
            </a:r>
            <a:r>
              <a:rPr sz="3600" i="1"/>
              <a:t>e.g</a:t>
            </a:r>
            <a:r>
              <a:rPr sz="3600" i="1"/>
              <a:t> p-glycoprotein present in brain capillaries (hepatic, intestinal, placenta capillaries too) extrudes many drugs that enter the brain by other processes</a:t>
            </a:r>
            <a:endParaRPr sz="3600" i="1"/>
          </a:p>
          <a:p>
            <a:endParaRPr sz="3600" i="1"/>
          </a:p>
          <a:p>
            <a:r>
              <a:rPr sz="3600" i="1"/>
              <a:t>Inflammation of the brain increases permeability of these barriers</a:t>
            </a:r>
            <a:endParaRPr sz="3600" i="1"/>
          </a:p>
          <a:p>
            <a:endParaRPr sz="3600" i="1"/>
          </a:p>
          <a:p>
            <a:r>
              <a:rPr sz="3600"/>
              <a:t>There is also an </a:t>
            </a:r>
            <a:r>
              <a:rPr b="1" sz="3600"/>
              <a:t>enzymatic blood brain barrier made of monoamine oxidase (MAO), cholinesterase</a:t>
            </a:r>
            <a:r>
              <a:rPr sz="3600"/>
              <a:t> and other enzymes in the capillary walls, </a:t>
            </a:r>
            <a:r>
              <a:rPr sz="3600">
                <a:solidFill>
                  <a:srgbClr val="FF0000"/>
                </a:solidFill>
              </a:rPr>
              <a:t>they do not allow catecholamines to enter in the active form</a:t>
            </a:r>
            <a:endParaRPr sz="3600">
              <a:solidFill>
                <a:srgbClr val="FF0000"/>
              </a:solidFill>
            </a:endParaRPr>
          </a:p>
          <a:p>
            <a:endParaRPr sz="3600" i="1"/>
          </a:p>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778" name=""/>
        <p:cNvGrpSpPr/>
        <p:nvPr/>
      </p:nvGrpSpPr>
      <p:grpSpPr>
        <a:xfrm>
          <a:off x="0" y="0"/>
          <a:ext cx="0" cy="0"/>
          <a:chOff x="0" y="0"/>
          <a:chExt cx="0" cy="0"/>
        </a:xfrm>
      </p:grpSpPr>
      <p:sp>
        <p:nvSpPr>
          <p:cNvPr id="1048825" name="Title 1"/>
          <p:cNvSpPr>
            <a:spLocks noGrp="1"/>
          </p:cNvSpPr>
          <p:nvPr>
            <p:ph type="title"/>
          </p:nvPr>
        </p:nvSpPr>
        <p:spPr>
          <a:xfrm>
            <a:off x="838204" y="365126"/>
            <a:ext cx="10515600" cy="720723"/>
          </a:xfrm>
        </p:spPr>
        <p:txBody>
          <a:bodyPr>
            <a:normAutofit fontScale="95455"/>
          </a:bodyPr>
          <a:p>
            <a:r>
              <a:t>Passage across the placenta</a:t>
            </a:r>
          </a:p>
        </p:txBody>
      </p:sp>
      <p:sp>
        <p:nvSpPr>
          <p:cNvPr id="1048826" name="Content Placeholder 2"/>
          <p:cNvSpPr>
            <a:spLocks noGrp="1"/>
          </p:cNvSpPr>
          <p:nvPr>
            <p:ph idx="1"/>
          </p:nvPr>
        </p:nvSpPr>
        <p:spPr>
          <a:xfrm>
            <a:off x="466729" y="1219195"/>
            <a:ext cx="11134720" cy="5638804"/>
          </a:xfrm>
        </p:spPr>
        <p:txBody>
          <a:bodyPr>
            <a:normAutofit/>
          </a:bodyPr>
          <a:p>
            <a:r>
              <a:rPr sz="3600"/>
              <a:t>Placental membranes </a:t>
            </a:r>
            <a:r>
              <a:rPr b="1" sz="3600"/>
              <a:t>are </a:t>
            </a:r>
            <a:r>
              <a:rPr b="1" sz="3600"/>
              <a:t>lipoidal</a:t>
            </a:r>
            <a:r>
              <a:rPr b="1" sz="3600"/>
              <a:t> and allow free passage of </a:t>
            </a:r>
            <a:r>
              <a:rPr b="1" sz="3600"/>
              <a:t>lipophyllic</a:t>
            </a:r>
            <a:r>
              <a:rPr b="1" sz="3600"/>
              <a:t> drugs while restricting </a:t>
            </a:r>
            <a:r>
              <a:rPr b="1" sz="3600"/>
              <a:t>hydrophyllic</a:t>
            </a:r>
            <a:r>
              <a:rPr b="1" sz="3600"/>
              <a:t> drugs, </a:t>
            </a:r>
            <a:endParaRPr b="1" sz="3600"/>
          </a:p>
          <a:p>
            <a:r>
              <a:rPr sz="3600"/>
              <a:t>The </a:t>
            </a:r>
            <a:r>
              <a:rPr b="1" sz="3600"/>
              <a:t>placental efflux p-glycoprotein </a:t>
            </a:r>
            <a:r>
              <a:rPr sz="3600"/>
              <a:t>also serves to limit  fetal exposure to maternally administered drugs. </a:t>
            </a:r>
            <a:endParaRPr sz="3600"/>
          </a:p>
          <a:p>
            <a:endParaRPr sz="3600"/>
          </a:p>
          <a:p>
            <a:pPr indent="0" marL="0">
              <a:buNone/>
            </a:pPr>
            <a:r>
              <a:rPr sz="3600">
                <a:solidFill>
                  <a:srgbClr val="FF0000"/>
                </a:solidFill>
              </a:rPr>
              <a:t>However, non lipid soluble drugs in high concentration or for long periods in maternal circulation do gain access to the fetus</a:t>
            </a:r>
            <a:r>
              <a:rPr sz="3600"/>
              <a:t>. Thus </a:t>
            </a:r>
            <a:r>
              <a:rPr sz="3600" u="sng"/>
              <a:t>the placenta is an incomplete barrier and any drug taken in by the mother can affect the fetus or new born </a:t>
            </a:r>
            <a:r>
              <a:rPr sz="3600" u="sng"/>
              <a:t>e.g</a:t>
            </a:r>
            <a:r>
              <a:rPr sz="3600" u="sng"/>
              <a:t> morphine given before delivery</a:t>
            </a:r>
            <a:endParaRPr sz="3600" u="sng"/>
          </a:p>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779" name=""/>
        <p:cNvGrpSpPr/>
        <p:nvPr/>
      </p:nvGrpSpPr>
      <p:grpSpPr>
        <a:xfrm>
          <a:off x="0" y="0"/>
          <a:ext cx="0" cy="0"/>
          <a:chOff x="0" y="0"/>
          <a:chExt cx="0" cy="0"/>
        </a:xfrm>
      </p:grpSpPr>
      <p:sp>
        <p:nvSpPr>
          <p:cNvPr id="1048827" name="Title 1"/>
          <p:cNvSpPr>
            <a:spLocks noGrp="1"/>
          </p:cNvSpPr>
          <p:nvPr>
            <p:ph type="title"/>
          </p:nvPr>
        </p:nvSpPr>
        <p:spPr>
          <a:xfrm>
            <a:off x="1795453" y="161920"/>
            <a:ext cx="8229600" cy="914400"/>
          </a:xfrm>
        </p:spPr>
        <p:txBody>
          <a:bodyPr>
            <a:normAutofit/>
          </a:bodyPr>
          <a:p>
            <a:r>
              <a:rPr b="1"/>
              <a:t>Plasma protein binding</a:t>
            </a:r>
            <a:r>
              <a:t> </a:t>
            </a:r>
          </a:p>
        </p:txBody>
      </p:sp>
      <p:sp>
        <p:nvSpPr>
          <p:cNvPr id="1048828" name="Content Placeholder 2"/>
          <p:cNvSpPr>
            <a:spLocks noGrp="1"/>
          </p:cNvSpPr>
          <p:nvPr>
            <p:ph idx="1"/>
          </p:nvPr>
        </p:nvSpPr>
        <p:spPr>
          <a:xfrm>
            <a:off x="381004" y="923929"/>
            <a:ext cx="10791820" cy="5181604"/>
          </a:xfrm>
        </p:spPr>
        <p:txBody>
          <a:bodyPr>
            <a:normAutofit/>
          </a:bodyPr>
          <a:p>
            <a:r>
              <a:rPr sz="3200"/>
              <a:t>Most drugs possess physiochemical affinity for plasma proteins.</a:t>
            </a:r>
            <a:endParaRPr sz="3200"/>
          </a:p>
          <a:p>
            <a:r>
              <a:rPr sz="3200">
                <a:solidFill>
                  <a:srgbClr val="FF0000"/>
                </a:solidFill>
              </a:rPr>
              <a:t>Acidic drugs </a:t>
            </a:r>
            <a:r>
              <a:rPr sz="3200"/>
              <a:t>generally </a:t>
            </a:r>
            <a:r>
              <a:rPr sz="3200">
                <a:solidFill>
                  <a:srgbClr val="FF0000"/>
                </a:solidFill>
              </a:rPr>
              <a:t>bind to plasma albumin</a:t>
            </a:r>
            <a:r>
              <a:rPr sz="3200"/>
              <a:t> and </a:t>
            </a:r>
            <a:r>
              <a:rPr sz="3200">
                <a:solidFill>
                  <a:srgbClr val="00B050"/>
                </a:solidFill>
              </a:rPr>
              <a:t>basic drugs </a:t>
            </a:r>
            <a:r>
              <a:rPr sz="3200"/>
              <a:t>to </a:t>
            </a:r>
            <a:r>
              <a:rPr sz="3200">
                <a:solidFill>
                  <a:srgbClr val="00B050"/>
                </a:solidFill>
              </a:rPr>
              <a:t>alpha-1- acidic glycoprotein</a:t>
            </a:r>
            <a:r>
              <a:rPr sz="3200"/>
              <a:t>. </a:t>
            </a:r>
            <a:endParaRPr sz="3200"/>
          </a:p>
          <a:p>
            <a:pPr indent="0" marL="0">
              <a:buNone/>
            </a:pPr>
            <a:r>
              <a:rPr sz="3200"/>
              <a:t>sulfamethazine – 30% and sulfadiazine – 50%</a:t>
            </a:r>
            <a:endParaRPr sz="3200"/>
          </a:p>
          <a:p>
            <a:pPr indent="0" marL="0">
              <a:buNone/>
            </a:pPr>
            <a:r>
              <a:rPr sz="1800"/>
              <a:t>EXAMPLES OF PLASMA BINDING</a:t>
            </a:r>
            <a:endParaRPr sz="1800"/>
          </a:p>
          <a:p>
            <a:endParaRPr sz="4000"/>
          </a:p>
        </p:txBody>
      </p:sp>
      <p:graphicFrame>
        <p:nvGraphicFramePr>
          <p:cNvPr id="4194306" name="Table 3"/>
          <p:cNvGraphicFramePr>
            <a:graphicFrameLocks noGrp="1"/>
          </p:cNvGraphicFramePr>
          <p:nvPr/>
        </p:nvGraphicFramePr>
        <p:xfrm>
          <a:off x="1019172" y="3984795"/>
          <a:ext cx="9782175" cy="2882730"/>
        </p:xfrm>
        <a:graphic>
          <a:graphicData uri="http://schemas.openxmlformats.org/drawingml/2006/table">
            <a:tbl>
              <a:tblPr/>
              <a:tblGrid>
                <a:gridCol w="4538474"/>
                <a:gridCol w="5243701"/>
              </a:tblGrid>
              <a:tr h="350055">
                <a:tc>
                  <a:txBody>
                    <a:bodyPr/>
                    <a:p>
                      <a:pPr marL="0" marR="0">
                        <a:lnSpc>
                          <a:spcPct val="100000"/>
                        </a:lnSpc>
                        <a:spcBef>
                          <a:spcPts val="0"/>
                        </a:spcBef>
                        <a:spcAft>
                          <a:spcPts val="0"/>
                        </a:spcAft>
                      </a:pPr>
                      <a:r>
                        <a:rPr b="1" sz="2400">
                          <a:solidFill>
                            <a:schemeClr val="tx1"/>
                          </a:solidFill>
                          <a:latin typeface="Times New Roman"/>
                          <a:ea typeface="Calibri"/>
                          <a:cs typeface="Times New Roman"/>
                        </a:rPr>
                        <a:t>To Albumin</a:t>
                      </a:r>
                      <a:endParaRPr sz="2400">
                        <a:solidFill>
                          <a:schemeClr val="tx1"/>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marL="0" marR="0">
                        <a:lnSpc>
                          <a:spcPct val="100000"/>
                        </a:lnSpc>
                        <a:spcBef>
                          <a:spcPts val="0"/>
                        </a:spcBef>
                        <a:spcAft>
                          <a:spcPts val="0"/>
                        </a:spcAft>
                      </a:pPr>
                      <a:r>
                        <a:rPr b="1" sz="2400">
                          <a:solidFill>
                            <a:schemeClr val="tx1"/>
                          </a:solidFill>
                          <a:latin typeface="Times New Roman"/>
                          <a:ea typeface="Calibri"/>
                          <a:cs typeface="Times New Roman"/>
                        </a:rPr>
                        <a:t>To alpha-1-acidic glycoprotein</a:t>
                      </a:r>
                      <a:endParaRPr sz="2400">
                        <a:solidFill>
                          <a:schemeClr val="tx1"/>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3394">
                <a:tc>
                  <a:txBody>
                    <a:bodyPr/>
                    <a:p>
                      <a:pPr marL="0" marR="0">
                        <a:lnSpc>
                          <a:spcPct val="100000"/>
                        </a:lnSpc>
                        <a:spcBef>
                          <a:spcPts val="0"/>
                        </a:spcBef>
                        <a:spcAft>
                          <a:spcPts val="0"/>
                        </a:spcAft>
                      </a:pPr>
                      <a:r>
                        <a:rPr sz="2400">
                          <a:solidFill>
                            <a:schemeClr val="tx1"/>
                          </a:solidFill>
                          <a:latin typeface="Times New Roman"/>
                          <a:ea typeface="Calibri"/>
                          <a:cs typeface="Times New Roman"/>
                        </a:rPr>
                        <a:t>Barbiturates</a:t>
                      </a:r>
                      <a:endParaRPr sz="2400">
                        <a:solidFill>
                          <a:schemeClr val="tx1"/>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marL="0" marR="0">
                        <a:lnSpc>
                          <a:spcPct val="100000"/>
                        </a:lnSpc>
                        <a:spcBef>
                          <a:spcPts val="0"/>
                        </a:spcBef>
                        <a:spcAft>
                          <a:spcPts val="0"/>
                        </a:spcAft>
                      </a:pPr>
                      <a:r>
                        <a:rPr sz="2400">
                          <a:solidFill>
                            <a:schemeClr val="tx1"/>
                          </a:solidFill>
                          <a:latin typeface="Times New Roman"/>
                          <a:ea typeface="Calibri"/>
                          <a:cs typeface="Times New Roman"/>
                        </a:rPr>
                        <a:t>lignocaine</a:t>
                      </a:r>
                      <a:endParaRPr sz="2400">
                        <a:solidFill>
                          <a:schemeClr val="tx1"/>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3394">
                <a:tc>
                  <a:txBody>
                    <a:bodyPr/>
                    <a:p>
                      <a:pPr marL="0" marR="0">
                        <a:lnSpc>
                          <a:spcPct val="100000"/>
                        </a:lnSpc>
                        <a:spcBef>
                          <a:spcPts val="0"/>
                        </a:spcBef>
                        <a:spcAft>
                          <a:spcPts val="0"/>
                        </a:spcAft>
                      </a:pPr>
                      <a:r>
                        <a:rPr sz="2400">
                          <a:solidFill>
                            <a:schemeClr val="tx1"/>
                          </a:solidFill>
                          <a:latin typeface="Times New Roman"/>
                          <a:ea typeface="Calibri"/>
                          <a:cs typeface="Times New Roman"/>
                        </a:rPr>
                        <a:t>NSAIDs</a:t>
                      </a:r>
                      <a:endParaRPr sz="2400">
                        <a:solidFill>
                          <a:schemeClr val="tx1"/>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marL="0" marR="0">
                        <a:lnSpc>
                          <a:spcPct val="100000"/>
                        </a:lnSpc>
                        <a:spcBef>
                          <a:spcPts val="0"/>
                        </a:spcBef>
                        <a:spcAft>
                          <a:spcPts val="0"/>
                        </a:spcAft>
                      </a:pPr>
                      <a:r>
                        <a:rPr sz="2400">
                          <a:solidFill>
                            <a:schemeClr val="tx1"/>
                          </a:solidFill>
                          <a:latin typeface="Times New Roman"/>
                          <a:ea typeface="Calibri"/>
                          <a:cs typeface="Times New Roman"/>
                        </a:rPr>
                        <a:t>bupivacaine</a:t>
                      </a:r>
                      <a:endParaRPr sz="2400">
                        <a:solidFill>
                          <a:schemeClr val="tx1"/>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3394">
                <a:tc>
                  <a:txBody>
                    <a:bodyPr/>
                    <a:p>
                      <a:pPr marL="0" marR="0">
                        <a:lnSpc>
                          <a:spcPct val="100000"/>
                        </a:lnSpc>
                        <a:spcBef>
                          <a:spcPts val="0"/>
                        </a:spcBef>
                        <a:spcAft>
                          <a:spcPts val="0"/>
                        </a:spcAft>
                      </a:pPr>
                      <a:r>
                        <a:rPr sz="2400">
                          <a:solidFill>
                            <a:schemeClr val="tx1"/>
                          </a:solidFill>
                          <a:latin typeface="Times New Roman"/>
                          <a:ea typeface="Calibri"/>
                          <a:cs typeface="Times New Roman"/>
                        </a:rPr>
                        <a:t>Phenytoin</a:t>
                      </a:r>
                      <a:endParaRPr sz="2400">
                        <a:solidFill>
                          <a:schemeClr val="tx1"/>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marL="0" marR="0">
                        <a:lnSpc>
                          <a:spcPct val="100000"/>
                        </a:lnSpc>
                        <a:spcBef>
                          <a:spcPts val="0"/>
                        </a:spcBef>
                        <a:spcAft>
                          <a:spcPts val="0"/>
                        </a:spcAft>
                      </a:pPr>
                      <a:r>
                        <a:rPr sz="2400">
                          <a:solidFill>
                            <a:schemeClr val="tx1"/>
                          </a:solidFill>
                          <a:latin typeface="Times New Roman"/>
                          <a:ea typeface="Calibri"/>
                          <a:cs typeface="Times New Roman"/>
                        </a:rPr>
                        <a:t>Beta blockers</a:t>
                      </a:r>
                      <a:endParaRPr sz="2400">
                        <a:solidFill>
                          <a:schemeClr val="tx1"/>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3394">
                <a:tc>
                  <a:txBody>
                    <a:bodyPr/>
                    <a:p>
                      <a:pPr marL="0" marR="0">
                        <a:lnSpc>
                          <a:spcPct val="100000"/>
                        </a:lnSpc>
                        <a:spcBef>
                          <a:spcPts val="0"/>
                        </a:spcBef>
                        <a:spcAft>
                          <a:spcPts val="0"/>
                        </a:spcAft>
                      </a:pPr>
                      <a:r>
                        <a:rPr sz="2400">
                          <a:solidFill>
                            <a:schemeClr val="tx1"/>
                          </a:solidFill>
                          <a:latin typeface="Times New Roman"/>
                          <a:ea typeface="Calibri"/>
                          <a:cs typeface="Times New Roman"/>
                        </a:rPr>
                        <a:t>Penicillins</a:t>
                      </a:r>
                      <a:endParaRPr sz="2400">
                        <a:solidFill>
                          <a:schemeClr val="tx1"/>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marL="0" marR="0">
                        <a:lnSpc>
                          <a:spcPct val="100000"/>
                        </a:lnSpc>
                        <a:spcBef>
                          <a:spcPts val="0"/>
                        </a:spcBef>
                        <a:spcAft>
                          <a:spcPts val="0"/>
                        </a:spcAft>
                      </a:pPr>
                      <a:r>
                        <a:rPr sz="2400">
                          <a:solidFill>
                            <a:schemeClr val="tx1"/>
                          </a:solidFill>
                          <a:latin typeface="Times New Roman"/>
                          <a:ea typeface="Calibri"/>
                          <a:cs typeface="Times New Roman"/>
                        </a:rPr>
                        <a:t>quinidine</a:t>
                      </a:r>
                      <a:endParaRPr sz="2400">
                        <a:solidFill>
                          <a:schemeClr val="tx1"/>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3394">
                <a:tc>
                  <a:txBody>
                    <a:bodyPr/>
                    <a:p>
                      <a:pPr marL="0" marR="0">
                        <a:lnSpc>
                          <a:spcPct val="100000"/>
                        </a:lnSpc>
                        <a:spcBef>
                          <a:spcPts val="0"/>
                        </a:spcBef>
                        <a:spcAft>
                          <a:spcPts val="0"/>
                        </a:spcAft>
                      </a:pPr>
                      <a:r>
                        <a:rPr sz="2400">
                          <a:solidFill>
                            <a:schemeClr val="tx1"/>
                          </a:solidFill>
                          <a:latin typeface="Times New Roman"/>
                          <a:ea typeface="Calibri"/>
                          <a:cs typeface="Times New Roman"/>
                        </a:rPr>
                        <a:t>Warfarin</a:t>
                      </a:r>
                      <a:endParaRPr sz="2400">
                        <a:solidFill>
                          <a:schemeClr val="tx1"/>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marL="0" marR="0">
                        <a:lnSpc>
                          <a:spcPct val="100000"/>
                        </a:lnSpc>
                        <a:spcBef>
                          <a:spcPts val="0"/>
                        </a:spcBef>
                        <a:spcAft>
                          <a:spcPts val="0"/>
                        </a:spcAft>
                      </a:pPr>
                      <a:endParaRPr sz="2400">
                        <a:solidFill>
                          <a:schemeClr val="tx1"/>
                        </a:solidFill>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780" name=""/>
        <p:cNvGrpSpPr/>
        <p:nvPr/>
      </p:nvGrpSpPr>
      <p:grpSpPr>
        <a:xfrm>
          <a:off x="0" y="0"/>
          <a:ext cx="0" cy="0"/>
          <a:chOff x="0" y="0"/>
          <a:chExt cx="0" cy="0"/>
        </a:xfrm>
      </p:grpSpPr>
      <p:sp>
        <p:nvSpPr>
          <p:cNvPr id="1048829" name="Title 1"/>
          <p:cNvSpPr>
            <a:spLocks noGrp="1"/>
          </p:cNvSpPr>
          <p:nvPr>
            <p:ph type="title"/>
          </p:nvPr>
        </p:nvSpPr>
        <p:spPr>
          <a:xfrm>
            <a:off x="1981204" y="27291"/>
            <a:ext cx="8229600" cy="1143000"/>
          </a:xfrm>
        </p:spPr>
        <p:txBody>
          <a:bodyPr>
            <a:normAutofit fontScale="90000"/>
          </a:bodyPr>
          <a:p>
            <a:r>
              <a:rPr b="1"/>
              <a:t>Clinically significant implications of plasma protein binding are:</a:t>
            </a:r>
            <a:endParaRPr b="1"/>
          </a:p>
        </p:txBody>
      </p:sp>
      <p:sp>
        <p:nvSpPr>
          <p:cNvPr id="1048830" name="Content Placeholder 2"/>
          <p:cNvSpPr>
            <a:spLocks noGrp="1"/>
          </p:cNvSpPr>
          <p:nvPr>
            <p:ph idx="1"/>
          </p:nvPr>
        </p:nvSpPr>
        <p:spPr>
          <a:xfrm>
            <a:off x="485775" y="1066804"/>
            <a:ext cx="11144250" cy="5486400"/>
          </a:xfrm>
        </p:spPr>
        <p:txBody>
          <a:bodyPr>
            <a:normAutofit/>
          </a:bodyPr>
          <a:p>
            <a:r>
              <a:rPr sz="3500"/>
              <a:t>Highly plasma protein bound drugs are </a:t>
            </a:r>
            <a:r>
              <a:rPr b="1" sz="3500"/>
              <a:t>restricted to the vascular compartment</a:t>
            </a:r>
            <a:r>
              <a:rPr sz="3500"/>
              <a:t> and tend to have </a:t>
            </a:r>
            <a:r>
              <a:rPr b="1" sz="3500"/>
              <a:t>lower volumes of distribution</a:t>
            </a:r>
            <a:endParaRPr b="1" sz="3500"/>
          </a:p>
          <a:p>
            <a:endParaRPr b="1" sz="3500"/>
          </a:p>
          <a:p>
            <a:r>
              <a:rPr sz="3500"/>
              <a:t>The </a:t>
            </a:r>
            <a:r>
              <a:rPr b="1" sz="3500"/>
              <a:t>bound drug is not available for action but is in equilibrium with the free drug</a:t>
            </a:r>
            <a:r>
              <a:rPr sz="3500"/>
              <a:t> and </a:t>
            </a:r>
            <a:r>
              <a:rPr b="1" sz="3500"/>
              <a:t>dissociates when the concentration of the free drug is reduced by elimination</a:t>
            </a:r>
            <a:r>
              <a:rPr sz="3500"/>
              <a:t>. Therefore binding acts as a </a:t>
            </a:r>
            <a:r>
              <a:rPr sz="3500" u="sng"/>
              <a:t>temporary storage for the drug</a:t>
            </a:r>
            <a:r>
              <a:rPr sz="3500"/>
              <a:t>.</a:t>
            </a:r>
            <a:endParaRPr sz="3500"/>
          </a:p>
          <a:p>
            <a:endParaRPr sz="3500"/>
          </a:p>
          <a:p>
            <a:r>
              <a:rPr b="1" sz="3500"/>
              <a:t>High degree </a:t>
            </a:r>
            <a:r>
              <a:rPr sz="3500"/>
              <a:t>of protein binding generally makes </a:t>
            </a:r>
            <a:r>
              <a:rPr b="1" sz="3500"/>
              <a:t>the drug long acting </a:t>
            </a:r>
            <a:r>
              <a:rPr sz="3500"/>
              <a:t>as the bound drug is not available for metabolism or excretion. </a:t>
            </a:r>
            <a:endParaRPr sz="3500"/>
          </a:p>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781" name=""/>
        <p:cNvGrpSpPr/>
        <p:nvPr/>
      </p:nvGrpSpPr>
      <p:grpSpPr>
        <a:xfrm>
          <a:off x="0" y="0"/>
          <a:ext cx="0" cy="0"/>
          <a:chOff x="0" y="0"/>
          <a:chExt cx="0" cy="0"/>
        </a:xfrm>
      </p:grpSpPr>
      <p:sp>
        <p:nvSpPr>
          <p:cNvPr id="1048831" name="Title 1"/>
          <p:cNvSpPr>
            <a:spLocks noGrp="1"/>
          </p:cNvSpPr>
          <p:nvPr>
            <p:ph type="title"/>
          </p:nvPr>
        </p:nvSpPr>
        <p:spPr>
          <a:xfrm>
            <a:off x="1981204" y="274643"/>
            <a:ext cx="8229600" cy="563560"/>
          </a:xfrm>
        </p:spPr>
        <p:txBody>
          <a:bodyPr>
            <a:normAutofit fontScale="90000"/>
          </a:bodyPr>
          <a:p>
            <a:r>
              <a:t>cont</a:t>
            </a:r>
          </a:p>
        </p:txBody>
      </p:sp>
      <p:sp>
        <p:nvSpPr>
          <p:cNvPr id="1048832" name="Content Placeholder 2"/>
          <p:cNvSpPr>
            <a:spLocks noGrp="1"/>
          </p:cNvSpPr>
          <p:nvPr>
            <p:ph idx="1"/>
          </p:nvPr>
        </p:nvSpPr>
        <p:spPr>
          <a:xfrm>
            <a:off x="542925" y="1066804"/>
            <a:ext cx="11048995" cy="5059365"/>
          </a:xfrm>
        </p:spPr>
        <p:txBody>
          <a:bodyPr>
            <a:normAutofit/>
          </a:bodyPr>
          <a:p>
            <a:r>
              <a:rPr sz="3600"/>
              <a:t>More than one drug can bind to the same protein site on the albumin molecule. </a:t>
            </a:r>
            <a:endParaRPr sz="3600"/>
          </a:p>
          <a:p>
            <a:r>
              <a:rPr sz="3600"/>
              <a:t>This can give rise to </a:t>
            </a:r>
            <a:r>
              <a:rPr b="1" sz="3600"/>
              <a:t>displacement interactions among drugs bound to the same site</a:t>
            </a:r>
            <a:r>
              <a:rPr sz="3600"/>
              <a:t>. Drugs bound with higher affinity will displace those bound with lower affinity </a:t>
            </a:r>
            <a:r>
              <a:rPr sz="3600"/>
              <a:t>e.g</a:t>
            </a:r>
            <a:r>
              <a:rPr sz="3600"/>
              <a:t> </a:t>
            </a:r>
            <a:r>
              <a:rPr b="1" sz="3600"/>
              <a:t>sulfonamides and vitamin k displace bilirubin in neonates</a:t>
            </a:r>
            <a:r>
              <a:rPr sz="3600"/>
              <a:t>. However this tends to be transient</a:t>
            </a:r>
            <a:endParaRPr sz="3600"/>
          </a:p>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782" name=""/>
        <p:cNvGrpSpPr/>
        <p:nvPr/>
      </p:nvGrpSpPr>
      <p:grpSpPr>
        <a:xfrm>
          <a:off x="0" y="0"/>
          <a:ext cx="0" cy="0"/>
          <a:chOff x="0" y="0"/>
          <a:chExt cx="0" cy="0"/>
        </a:xfrm>
      </p:grpSpPr>
      <p:sp>
        <p:nvSpPr>
          <p:cNvPr id="1048833" name="Title 1"/>
          <p:cNvSpPr>
            <a:spLocks noGrp="1"/>
          </p:cNvSpPr>
          <p:nvPr>
            <p:ph type="title"/>
          </p:nvPr>
        </p:nvSpPr>
        <p:spPr>
          <a:xfrm>
            <a:off x="1981204" y="0"/>
            <a:ext cx="8229600" cy="990595"/>
          </a:xfrm>
        </p:spPr>
        <p:txBody>
          <a:bodyPr>
            <a:normAutofit fontScale="90000"/>
          </a:bodyPr>
          <a:p>
            <a:r>
              <a:rPr b="1"/>
              <a:t>Tissue storage</a:t>
            </a:r>
            <a:br/>
          </a:p>
        </p:txBody>
      </p:sp>
      <p:sp>
        <p:nvSpPr>
          <p:cNvPr id="1048834" name="Content Placeholder 2"/>
          <p:cNvSpPr>
            <a:spLocks noGrp="1"/>
          </p:cNvSpPr>
          <p:nvPr>
            <p:ph idx="1"/>
          </p:nvPr>
        </p:nvSpPr>
        <p:spPr>
          <a:xfrm>
            <a:off x="366717" y="638179"/>
            <a:ext cx="11458575" cy="6057900"/>
          </a:xfrm>
        </p:spPr>
        <p:txBody>
          <a:bodyPr>
            <a:noAutofit/>
          </a:bodyPr>
          <a:p>
            <a:pPr>
              <a:buNone/>
            </a:pPr>
            <a:r>
              <a:rPr sz="3200"/>
              <a:t>Drugs may also accumulate in specific organs or get bound to specific </a:t>
            </a:r>
            <a:r>
              <a:rPr sz="3200"/>
              <a:t>tissues.e.g</a:t>
            </a:r>
            <a:endParaRPr sz="3200"/>
          </a:p>
          <a:p>
            <a:pPr lvl="1" marL="400050">
              <a:lnSpc>
                <a:spcPct val="115000"/>
              </a:lnSpc>
              <a:spcBef>
                <a:spcPts val="0"/>
              </a:spcBef>
            </a:pPr>
            <a:r>
              <a:rPr sz="2800">
                <a:ea typeface="Calibri"/>
                <a:cs typeface="Times New Roman"/>
              </a:rPr>
              <a:t>Skeletal muscle, heart  - </a:t>
            </a:r>
            <a:r>
              <a:rPr sz="2800">
                <a:ea typeface="Calibri"/>
                <a:cs typeface="Times New Roman"/>
              </a:rPr>
              <a:t>Digoxin</a:t>
            </a:r>
            <a:endParaRPr sz="2800">
              <a:ea typeface="Calibri"/>
              <a:cs typeface="Times New Roman"/>
            </a:endParaRPr>
          </a:p>
          <a:p>
            <a:pPr lvl="1" marL="400050">
              <a:lnSpc>
                <a:spcPct val="115000"/>
              </a:lnSpc>
              <a:spcBef>
                <a:spcPts val="0"/>
              </a:spcBef>
            </a:pPr>
            <a:r>
              <a:rPr sz="2800">
                <a:ea typeface="Calibri"/>
                <a:cs typeface="Times New Roman"/>
              </a:rPr>
              <a:t>Liver - </a:t>
            </a:r>
            <a:r>
              <a:rPr sz="2800">
                <a:ea typeface="Calibri"/>
                <a:cs typeface="Times New Roman"/>
              </a:rPr>
              <a:t>Chloroquine</a:t>
            </a:r>
            <a:r>
              <a:rPr sz="2800">
                <a:ea typeface="Calibri"/>
                <a:cs typeface="Times New Roman"/>
              </a:rPr>
              <a:t>, </a:t>
            </a:r>
            <a:r>
              <a:rPr sz="2800">
                <a:ea typeface="Calibri"/>
                <a:cs typeface="Times New Roman"/>
              </a:rPr>
              <a:t>digoxin</a:t>
            </a:r>
            <a:endParaRPr sz="2800">
              <a:ea typeface="Calibri"/>
              <a:cs typeface="Times New Roman"/>
            </a:endParaRPr>
          </a:p>
          <a:p>
            <a:pPr lvl="1" marL="400050">
              <a:lnSpc>
                <a:spcPct val="115000"/>
              </a:lnSpc>
              <a:spcBef>
                <a:spcPts val="0"/>
              </a:spcBef>
            </a:pPr>
            <a:r>
              <a:rPr sz="2800">
                <a:ea typeface="Calibri"/>
                <a:cs typeface="Times New Roman"/>
              </a:rPr>
              <a:t>Thyroid - Iodine</a:t>
            </a:r>
            <a:endParaRPr sz="2800">
              <a:ea typeface="Calibri"/>
              <a:cs typeface="Times New Roman"/>
            </a:endParaRPr>
          </a:p>
          <a:p>
            <a:pPr lvl="1" marL="400050">
              <a:lnSpc>
                <a:spcPct val="115000"/>
              </a:lnSpc>
              <a:spcBef>
                <a:spcPts val="0"/>
              </a:spcBef>
            </a:pPr>
            <a:r>
              <a:rPr sz="2800">
                <a:ea typeface="Calibri"/>
                <a:cs typeface="Times New Roman"/>
              </a:rPr>
              <a:t>Bone and teeth - </a:t>
            </a:r>
            <a:r>
              <a:rPr sz="2800">
                <a:ea typeface="Calibri"/>
                <a:cs typeface="Times New Roman"/>
              </a:rPr>
              <a:t>Tetracyclines</a:t>
            </a:r>
            <a:r>
              <a:rPr sz="2800">
                <a:ea typeface="Calibri"/>
                <a:cs typeface="Times New Roman"/>
              </a:rPr>
              <a:t>, heavy  metals                </a:t>
            </a:r>
            <a:endParaRPr sz="2800">
              <a:ea typeface="Calibri"/>
              <a:cs typeface="Times New Roman"/>
            </a:endParaRPr>
          </a:p>
          <a:p>
            <a:pPr lvl="1" marL="400050">
              <a:lnSpc>
                <a:spcPct val="115000"/>
              </a:lnSpc>
              <a:spcBef>
                <a:spcPts val="0"/>
              </a:spcBef>
            </a:pPr>
            <a:r>
              <a:rPr sz="2800">
                <a:ea typeface="Calibri"/>
                <a:cs typeface="Times New Roman"/>
              </a:rPr>
              <a:t>Brain - Chlorpromazine, </a:t>
            </a:r>
            <a:r>
              <a:rPr sz="2800">
                <a:ea typeface="Calibri"/>
                <a:cs typeface="Times New Roman"/>
              </a:rPr>
              <a:t>isoniazid</a:t>
            </a:r>
            <a:endParaRPr sz="2800">
              <a:ea typeface="Calibri"/>
              <a:cs typeface="Times New Roman"/>
            </a:endParaRPr>
          </a:p>
          <a:p>
            <a:pPr lvl="1" marL="400050">
              <a:lnSpc>
                <a:spcPct val="115000"/>
              </a:lnSpc>
              <a:spcBef>
                <a:spcPts val="0"/>
              </a:spcBef>
            </a:pPr>
            <a:r>
              <a:rPr sz="2800">
                <a:ea typeface="Calibri"/>
                <a:cs typeface="Times New Roman"/>
              </a:rPr>
              <a:t>Retina – chloroquine</a:t>
            </a:r>
            <a:endParaRPr sz="2800">
              <a:ea typeface="Calibri"/>
              <a:cs typeface="Times New Roman"/>
            </a:endParaRPr>
          </a:p>
          <a:p>
            <a:pPr indent="0" marL="0">
              <a:lnSpc>
                <a:spcPct val="115000"/>
              </a:lnSpc>
              <a:spcBef>
                <a:spcPts val="0"/>
              </a:spcBef>
              <a:buNone/>
            </a:pPr>
            <a:r>
              <a:rPr sz="3200"/>
              <a:t>These drugs tend to have a large volume of distribution and long duration of action. Some exert local toxicity due to high concentration in the tissue </a:t>
            </a:r>
            <a:r>
              <a:rPr sz="3200"/>
              <a:t>e,g</a:t>
            </a:r>
            <a:r>
              <a:rPr sz="3200"/>
              <a:t> tetracycline on bones and teeth, chloroquine on retina</a:t>
            </a:r>
            <a:endParaRPr sz="3200"/>
          </a:p>
          <a:p>
            <a:pPr indent="0" marL="0">
              <a:lnSpc>
                <a:spcPct val="115000"/>
              </a:lnSpc>
              <a:spcBef>
                <a:spcPts val="0"/>
              </a:spcBef>
              <a:buNone/>
            </a:pPr>
            <a:endParaRPr sz="3600">
              <a:ea typeface="Calibri"/>
              <a:cs typeface="Times New Roman"/>
            </a:endParaRPr>
          </a:p>
          <a:p>
            <a:endParaRPr sz="360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783" name=""/>
        <p:cNvGrpSpPr/>
        <p:nvPr/>
      </p:nvGrpSpPr>
      <p:grpSpPr>
        <a:xfrm>
          <a:off x="0" y="0"/>
          <a:ext cx="0" cy="0"/>
          <a:chOff x="0" y="0"/>
          <a:chExt cx="0" cy="0"/>
        </a:xfrm>
      </p:grpSpPr>
      <p:sp>
        <p:nvSpPr>
          <p:cNvPr id="1048835" name="Title 1"/>
          <p:cNvSpPr>
            <a:spLocks noGrp="1"/>
          </p:cNvSpPr>
          <p:nvPr>
            <p:ph type="title"/>
          </p:nvPr>
        </p:nvSpPr>
        <p:spPr/>
        <p:txBody>
          <a:bodyPr>
            <a:normAutofit/>
          </a:bodyPr>
          <a:p>
            <a:r>
              <a:t>BIOTRANSFORMATION (METABOLISM)</a:t>
            </a:r>
          </a:p>
        </p:txBody>
      </p:sp>
      <p:sp>
        <p:nvSpPr>
          <p:cNvPr id="1048836" name="Content Placeholder 2"/>
          <p:cNvSpPr>
            <a:spLocks noGrp="1"/>
          </p:cNvSpPr>
          <p:nvPr>
            <p:ph idx="1"/>
          </p:nvPr>
        </p:nvSpPr>
        <p:spPr/>
        <p:txBody>
          <a:bodyPr/>
          <a:p>
            <a:r>
              <a:rPr sz="4000"/>
              <a:t>Biotransformation means chemical alteration of the drug in the body.</a:t>
            </a:r>
            <a:endParaRPr sz="4000"/>
          </a:p>
          <a:p>
            <a:r>
              <a:rPr b="1" sz="4000"/>
              <a:t>It is needed to render non polar (Lipid soluble) compounds polar (lipid insoluble) so that they are not reabsorbed in the renal tubules and are excreted</a:t>
            </a:r>
            <a:endParaRPr b="1" sz="4000"/>
          </a:p>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784" name=""/>
        <p:cNvGrpSpPr/>
        <p:nvPr/>
      </p:nvGrpSpPr>
      <p:grpSpPr>
        <a:xfrm>
          <a:off x="0" y="0"/>
          <a:ext cx="0" cy="0"/>
          <a:chOff x="0" y="0"/>
          <a:chExt cx="0" cy="0"/>
        </a:xfrm>
      </p:grpSpPr>
      <p:sp>
        <p:nvSpPr>
          <p:cNvPr id="1048837" name="Content Placeholder 2"/>
          <p:cNvSpPr>
            <a:spLocks noGrp="1"/>
          </p:cNvSpPr>
          <p:nvPr>
            <p:ph idx="4294967295"/>
          </p:nvPr>
        </p:nvSpPr>
        <p:spPr>
          <a:xfrm>
            <a:off x="447670" y="304795"/>
            <a:ext cx="11306170" cy="6172200"/>
          </a:xfrm>
        </p:spPr>
        <p:txBody>
          <a:bodyPr>
            <a:noAutofit/>
          </a:bodyPr>
          <a:p>
            <a:r>
              <a:rPr b="1" sz="4000"/>
              <a:t>Most </a:t>
            </a:r>
            <a:r>
              <a:rPr b="1" sz="4000"/>
              <a:t>hydrophyllic</a:t>
            </a:r>
            <a:r>
              <a:rPr b="1" sz="4000"/>
              <a:t> drugs </a:t>
            </a:r>
            <a:r>
              <a:rPr b="1" sz="4000"/>
              <a:t>e.g</a:t>
            </a:r>
            <a:r>
              <a:rPr b="1" sz="4000"/>
              <a:t> streptomycin, </a:t>
            </a:r>
            <a:r>
              <a:rPr b="1" sz="4000"/>
              <a:t>neostigmine</a:t>
            </a:r>
            <a:r>
              <a:rPr b="1" sz="4000"/>
              <a:t> are not </a:t>
            </a:r>
            <a:r>
              <a:rPr b="1" sz="4000"/>
              <a:t>biotransformed</a:t>
            </a:r>
            <a:r>
              <a:rPr b="1" sz="4000"/>
              <a:t> and are excreted unchanged</a:t>
            </a:r>
            <a:r>
              <a:rPr sz="4000"/>
              <a:t>. Mechanism which metabolize drugs (foreign substances) have developed to protect the body from ingested toxins.</a:t>
            </a:r>
            <a:endParaRPr sz="4000"/>
          </a:p>
          <a:p>
            <a:endParaRPr sz="4000"/>
          </a:p>
          <a:p>
            <a:r>
              <a:rPr sz="4000"/>
              <a:t>The </a:t>
            </a:r>
            <a:r>
              <a:rPr b="1" sz="4000"/>
              <a:t>primary site for drug metabolism is liver, </a:t>
            </a:r>
            <a:r>
              <a:rPr sz="4000"/>
              <a:t>others are – kidney, intestine, lungs and plasma</a:t>
            </a:r>
            <a:endParaRPr sz="400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785" name=""/>
        <p:cNvGrpSpPr/>
        <p:nvPr/>
      </p:nvGrpSpPr>
      <p:grpSpPr>
        <a:xfrm>
          <a:off x="0" y="0"/>
          <a:ext cx="0" cy="0"/>
          <a:chOff x="0" y="0"/>
          <a:chExt cx="0" cy="0"/>
        </a:xfrm>
      </p:grpSpPr>
      <p:sp>
        <p:nvSpPr>
          <p:cNvPr id="1048838" name="Title 1"/>
          <p:cNvSpPr>
            <a:spLocks noGrp="1"/>
          </p:cNvSpPr>
          <p:nvPr>
            <p:ph type="title"/>
          </p:nvPr>
        </p:nvSpPr>
        <p:spPr>
          <a:xfrm>
            <a:off x="1981204" y="274643"/>
            <a:ext cx="8229600" cy="792160"/>
          </a:xfrm>
        </p:spPr>
        <p:txBody>
          <a:bodyPr>
            <a:normAutofit/>
          </a:bodyPr>
          <a:p>
            <a:r>
              <a:rPr sz="3100"/>
              <a:t>Biotransformation of drugs may lead to the following:</a:t>
            </a:r>
          </a:p>
        </p:txBody>
      </p:sp>
      <p:sp>
        <p:nvSpPr>
          <p:cNvPr id="1048839" name="Content Placeholder 2"/>
          <p:cNvSpPr>
            <a:spLocks noGrp="1"/>
          </p:cNvSpPr>
          <p:nvPr>
            <p:ph idx="1"/>
          </p:nvPr>
        </p:nvSpPr>
        <p:spPr>
          <a:xfrm>
            <a:off x="390520" y="1066804"/>
            <a:ext cx="11277595" cy="5486400"/>
          </a:xfrm>
        </p:spPr>
        <p:txBody>
          <a:bodyPr>
            <a:normAutofit/>
          </a:bodyPr>
          <a:p>
            <a:r>
              <a:rPr b="1" sz="3600"/>
              <a:t>Inactivation</a:t>
            </a:r>
            <a:r>
              <a:rPr sz="3600"/>
              <a:t> – most drugs and their active metabolites are rendered inactive or less active. </a:t>
            </a:r>
            <a:r>
              <a:rPr sz="3600"/>
              <a:t>E.g</a:t>
            </a:r>
            <a:r>
              <a:rPr sz="3600"/>
              <a:t> </a:t>
            </a:r>
            <a:r>
              <a:rPr sz="3600"/>
              <a:t>phenobarbitone</a:t>
            </a:r>
            <a:r>
              <a:rPr sz="3600"/>
              <a:t>, morphine</a:t>
            </a:r>
            <a:endParaRPr sz="3600"/>
          </a:p>
          <a:p>
            <a:r>
              <a:rPr b="1" sz="3600"/>
              <a:t>Active metabolite form of an active drug </a:t>
            </a:r>
            <a:r>
              <a:rPr sz="3600"/>
              <a:t>– many drugs have been found to be partially converted to one or more active metabolite </a:t>
            </a:r>
            <a:r>
              <a:rPr sz="3600"/>
              <a:t>e.g</a:t>
            </a:r>
            <a:r>
              <a:rPr sz="3600"/>
              <a:t> phenacetin (active drug) – paracetamol (active metabolite), codeine – morphine, </a:t>
            </a:r>
            <a:r>
              <a:rPr sz="3600"/>
              <a:t>digitoxin</a:t>
            </a:r>
            <a:r>
              <a:rPr sz="3600"/>
              <a:t> - digoxin</a:t>
            </a:r>
            <a:endParaRPr sz="3600"/>
          </a:p>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786" name=""/>
        <p:cNvGrpSpPr/>
        <p:nvPr/>
      </p:nvGrpSpPr>
      <p:grpSpPr>
        <a:xfrm>
          <a:off x="0" y="0"/>
          <a:ext cx="0" cy="0"/>
          <a:chOff x="0" y="0"/>
          <a:chExt cx="0" cy="0"/>
        </a:xfrm>
      </p:grpSpPr>
      <p:sp>
        <p:nvSpPr>
          <p:cNvPr id="1048840" name="Title 1"/>
          <p:cNvSpPr>
            <a:spLocks noGrp="1"/>
          </p:cNvSpPr>
          <p:nvPr>
            <p:ph type="title"/>
          </p:nvPr>
        </p:nvSpPr>
        <p:spPr>
          <a:xfrm>
            <a:off x="1981204" y="274643"/>
            <a:ext cx="8229600" cy="639756"/>
          </a:xfrm>
        </p:spPr>
        <p:txBody>
          <a:bodyPr>
            <a:normAutofit fontScale="90000"/>
          </a:bodyPr>
          <a:p>
            <a:r>
              <a:t>CONT</a:t>
            </a:r>
          </a:p>
        </p:txBody>
      </p:sp>
      <p:sp>
        <p:nvSpPr>
          <p:cNvPr id="1048841" name="Content Placeholder 2"/>
          <p:cNvSpPr>
            <a:spLocks noGrp="1"/>
          </p:cNvSpPr>
          <p:nvPr>
            <p:ph idx="1"/>
          </p:nvPr>
        </p:nvSpPr>
        <p:spPr>
          <a:xfrm>
            <a:off x="371475" y="838204"/>
            <a:ext cx="11277595" cy="5287965"/>
          </a:xfrm>
        </p:spPr>
        <p:txBody>
          <a:bodyPr>
            <a:normAutofit/>
          </a:bodyPr>
          <a:p>
            <a:r>
              <a:rPr b="1" sz="3600"/>
              <a:t>Activation of inactive drug </a:t>
            </a:r>
            <a:r>
              <a:rPr sz="3600"/>
              <a:t>– a drug may be inactive as such and need conversion in the body to one or more active metabolites. </a:t>
            </a:r>
            <a:r>
              <a:rPr b="1" sz="3600"/>
              <a:t>Such a drug is called a prodrug</a:t>
            </a:r>
            <a:r>
              <a:rPr sz="3600"/>
              <a:t>. </a:t>
            </a:r>
            <a:endParaRPr sz="3600"/>
          </a:p>
          <a:p>
            <a:pPr lvl="1"/>
            <a:r>
              <a:t>The prodrug may have the advantage of being more stable, better bioavailability, better pharmacokinetics or less toxicity </a:t>
            </a:r>
            <a:r>
              <a:t>e.g</a:t>
            </a:r>
            <a:r>
              <a:t> levodopa – dopamine, prednisone – prednisolone, </a:t>
            </a:r>
            <a:r>
              <a:t>enalapril</a:t>
            </a:r>
            <a:r>
              <a:t> – </a:t>
            </a:r>
            <a:r>
              <a:t>enalaprilat</a:t>
            </a:r>
          </a:p>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787" name=""/>
        <p:cNvGrpSpPr/>
        <p:nvPr/>
      </p:nvGrpSpPr>
      <p:grpSpPr>
        <a:xfrm>
          <a:off x="0" y="0"/>
          <a:ext cx="0" cy="0"/>
          <a:chOff x="0" y="0"/>
          <a:chExt cx="0" cy="0"/>
        </a:xfrm>
      </p:grpSpPr>
      <p:sp>
        <p:nvSpPr>
          <p:cNvPr id="1048842" name="Title 1"/>
          <p:cNvSpPr>
            <a:spLocks noGrp="1"/>
          </p:cNvSpPr>
          <p:nvPr>
            <p:ph type="title"/>
          </p:nvPr>
        </p:nvSpPr>
        <p:spPr>
          <a:xfrm>
            <a:off x="1981204" y="274643"/>
            <a:ext cx="8229600" cy="868356"/>
          </a:xfrm>
        </p:spPr>
        <p:txBody>
          <a:bodyPr>
            <a:normAutofit/>
          </a:bodyPr>
          <a:p>
            <a:r>
              <a:rPr sz="2800"/>
              <a:t>Biotransformation reactions can be classified into:</a:t>
            </a:r>
            <a:endParaRPr sz="2800"/>
          </a:p>
        </p:txBody>
      </p:sp>
      <p:sp>
        <p:nvSpPr>
          <p:cNvPr id="1048843" name="Content Placeholder 2"/>
          <p:cNvSpPr>
            <a:spLocks noGrp="1"/>
          </p:cNvSpPr>
          <p:nvPr>
            <p:ph idx="1"/>
          </p:nvPr>
        </p:nvSpPr>
        <p:spPr>
          <a:xfrm>
            <a:off x="409579" y="1066804"/>
            <a:ext cx="11258550" cy="5562595"/>
          </a:xfrm>
        </p:spPr>
        <p:txBody>
          <a:bodyPr>
            <a:normAutofit/>
          </a:bodyPr>
          <a:p>
            <a:pPr>
              <a:buNone/>
            </a:pPr>
          </a:p>
          <a:p>
            <a:r>
              <a:rPr b="1" sz="3800" i="1"/>
              <a:t>Non synthetic/ phase 1 reactions</a:t>
            </a:r>
            <a:r>
              <a:rPr b="1" sz="3800"/>
              <a:t> </a:t>
            </a:r>
            <a:r>
              <a:rPr sz="3800"/>
              <a:t>- metabolite may be active or inactive.  Reactions involve oxidation, reduction, hydrolysis, </a:t>
            </a:r>
            <a:r>
              <a:rPr sz="3800"/>
              <a:t>cyclization</a:t>
            </a:r>
            <a:r>
              <a:rPr sz="3800"/>
              <a:t>, </a:t>
            </a:r>
            <a:r>
              <a:rPr sz="3800"/>
              <a:t>decyclization</a:t>
            </a:r>
            <a:endParaRPr sz="3800"/>
          </a:p>
          <a:p>
            <a:r>
              <a:rPr b="1" sz="3800" i="1"/>
              <a:t>Synthetic/conjugation/phase 2 reactions</a:t>
            </a:r>
            <a:r>
              <a:rPr b="1" sz="3800"/>
              <a:t> </a:t>
            </a:r>
            <a:r>
              <a:rPr sz="3800"/>
              <a:t>– Metabolite is mostly inactive. Involves conjugation of the drug or its phase 1 metabolite with an endogenous substrate to form a polar highly ionized organic acid which is easily excreted in urine or bile. The reactions have high energy requirement. It includes </a:t>
            </a:r>
            <a:r>
              <a:rPr sz="3800"/>
              <a:t>glucuronide</a:t>
            </a:r>
            <a:r>
              <a:rPr sz="3800"/>
              <a:t> conjugation, </a:t>
            </a:r>
            <a:r>
              <a:rPr sz="3800"/>
              <a:t>acetylation</a:t>
            </a:r>
            <a:r>
              <a:rPr sz="3800"/>
              <a:t>, </a:t>
            </a:r>
            <a:r>
              <a:rPr sz="3800"/>
              <a:t>methylation</a:t>
            </a:r>
            <a:r>
              <a:rPr sz="3800"/>
              <a:t>, sulfate conjugation, </a:t>
            </a:r>
            <a:r>
              <a:rPr sz="3800"/>
              <a:t>glycine</a:t>
            </a:r>
            <a:r>
              <a:rPr sz="3800"/>
              <a:t> conjugation, glutathione conjugation</a:t>
            </a:r>
            <a:endParaRPr sz="3800"/>
          </a:p>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788" name=""/>
        <p:cNvGrpSpPr/>
        <p:nvPr/>
      </p:nvGrpSpPr>
      <p:grpSpPr>
        <a:xfrm>
          <a:off x="0" y="0"/>
          <a:ext cx="0" cy="0"/>
          <a:chOff x="0" y="0"/>
          <a:chExt cx="0" cy="0"/>
        </a:xfrm>
      </p:grpSpPr>
      <p:sp>
        <p:nvSpPr>
          <p:cNvPr id="1048844" name="Title 5"/>
          <p:cNvSpPr>
            <a:spLocks noGrp="1"/>
          </p:cNvSpPr>
          <p:nvPr>
            <p:ph type="ctrTitle"/>
          </p:nvPr>
        </p:nvSpPr>
        <p:spPr/>
        <p:txBody>
          <a:bodyPr/>
          <a:p>
            <a:r>
              <a:t>METABOLISM</a:t>
            </a:r>
          </a:p>
        </p:txBody>
      </p:sp>
      <p:sp>
        <p:nvSpPr>
          <p:cNvPr id="1048845" name="Subtitle 6"/>
          <p:cNvSpPr>
            <a:spLocks noGrp="1"/>
          </p:cNvSpPr>
          <p:nvPr>
            <p:ph type="subTitle" idx="1"/>
          </p:nvPr>
        </p:nvSpPr>
        <p:spPr/>
        <p:txBody>
          <a:bodyPr>
            <a:normAutofit/>
          </a:bodyPr>
          <a:p>
            <a:r>
              <a:rPr sz="4400">
                <a:solidFill>
                  <a:srgbClr val="002060"/>
                </a:solidFill>
              </a:rPr>
              <a:t>DRUG METABOLIZING ENZYMES</a:t>
            </a:r>
            <a:endParaRPr sz="4400">
              <a:solidFill>
                <a:srgbClr val="002060"/>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789" name=""/>
        <p:cNvGrpSpPr/>
        <p:nvPr/>
      </p:nvGrpSpPr>
      <p:grpSpPr>
        <a:xfrm>
          <a:off x="0" y="0"/>
          <a:ext cx="0" cy="0"/>
          <a:chOff x="0" y="0"/>
          <a:chExt cx="0" cy="0"/>
        </a:xfrm>
      </p:grpSpPr>
      <p:sp>
        <p:nvSpPr>
          <p:cNvPr id="1048846" name="Title 1"/>
          <p:cNvSpPr>
            <a:spLocks noGrp="1"/>
          </p:cNvSpPr>
          <p:nvPr>
            <p:ph type="title"/>
          </p:nvPr>
        </p:nvSpPr>
        <p:spPr/>
        <p:txBody>
          <a:bodyPr/>
          <a:p>
            <a:r>
              <a:t>Enzymes </a:t>
            </a:r>
            <a:r>
              <a:t>cont</a:t>
            </a:r>
            <a:r>
              <a:t>’</a:t>
            </a:r>
          </a:p>
        </p:txBody>
      </p:sp>
      <p:sp>
        <p:nvSpPr>
          <p:cNvPr id="1048847" name="Content Placeholder 2"/>
          <p:cNvSpPr>
            <a:spLocks noGrp="1"/>
          </p:cNvSpPr>
          <p:nvPr>
            <p:ph idx="1"/>
          </p:nvPr>
        </p:nvSpPr>
        <p:spPr/>
        <p:txBody>
          <a:bodyPr/>
          <a:p>
            <a:pPr>
              <a:buNone/>
            </a:pPr>
            <a:r>
              <a:rPr sz="4400"/>
              <a:t>Drug metabolizing enzymes are divided to two types:</a:t>
            </a:r>
            <a:endParaRPr sz="4400"/>
          </a:p>
          <a:p>
            <a:r>
              <a:rPr sz="4400"/>
              <a:t>Microsomal</a:t>
            </a:r>
            <a:r>
              <a:rPr sz="4400"/>
              <a:t> enzymes</a:t>
            </a:r>
            <a:endParaRPr sz="4400"/>
          </a:p>
          <a:p>
            <a:r>
              <a:rPr sz="4400"/>
              <a:t>Non </a:t>
            </a:r>
            <a:r>
              <a:rPr sz="4400"/>
              <a:t>microsomal</a:t>
            </a:r>
            <a:r>
              <a:rPr sz="4400"/>
              <a:t> enzymes</a:t>
            </a:r>
            <a:endParaRPr sz="4400"/>
          </a:p>
          <a:p>
            <a:pPr>
              <a:buNone/>
            </a:pPr>
            <a:endParaRPr sz="4400"/>
          </a:p>
          <a:p>
            <a:pPr>
              <a:buNone/>
            </a:pPr>
          </a:p>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790" name=""/>
        <p:cNvGrpSpPr/>
        <p:nvPr/>
      </p:nvGrpSpPr>
      <p:grpSpPr>
        <a:xfrm>
          <a:off x="0" y="0"/>
          <a:ext cx="0" cy="0"/>
          <a:chOff x="0" y="0"/>
          <a:chExt cx="0" cy="0"/>
        </a:xfrm>
      </p:grpSpPr>
      <p:sp>
        <p:nvSpPr>
          <p:cNvPr id="1048848" name="Title 1"/>
          <p:cNvSpPr>
            <a:spLocks noGrp="1"/>
          </p:cNvSpPr>
          <p:nvPr>
            <p:ph type="title"/>
          </p:nvPr>
        </p:nvSpPr>
        <p:spPr/>
        <p:txBody>
          <a:bodyPr>
            <a:normAutofit/>
          </a:bodyPr>
          <a:p>
            <a:r>
              <a:rPr b="1" sz="5400"/>
              <a:t>Microsomal</a:t>
            </a:r>
            <a:r>
              <a:rPr b="1" sz="5400"/>
              <a:t> enzymes</a:t>
            </a:r>
            <a:endParaRPr sz="5400"/>
          </a:p>
        </p:txBody>
      </p:sp>
      <p:sp>
        <p:nvSpPr>
          <p:cNvPr id="1048849" name="Content Placeholder 2"/>
          <p:cNvSpPr>
            <a:spLocks noGrp="1"/>
          </p:cNvSpPr>
          <p:nvPr>
            <p:ph idx="1"/>
          </p:nvPr>
        </p:nvSpPr>
        <p:spPr>
          <a:xfrm>
            <a:off x="590545" y="1295404"/>
            <a:ext cx="10915650" cy="5267329"/>
          </a:xfrm>
        </p:spPr>
        <p:txBody>
          <a:bodyPr>
            <a:normAutofit fontScale="92857" lnSpcReduction="20000"/>
          </a:bodyPr>
          <a:p>
            <a:pPr>
              <a:buNone/>
            </a:pPr>
            <a:r>
              <a:rPr sz="4000"/>
              <a:t>Located on the smooth endoplasmic reticulum (inside the cell) in liver, kidney, intestine, lungs. They catalyze most oxidation, reduction ,glucuronide conjugation and hydrolysis reaction. </a:t>
            </a:r>
            <a:endParaRPr sz="4000"/>
          </a:p>
          <a:p>
            <a:pPr>
              <a:buNone/>
            </a:pPr>
            <a:r>
              <a:rPr sz="4000"/>
              <a:t>Microsomal enzymes are inducible by drugs, diet and other agencies.</a:t>
            </a:r>
            <a:endParaRPr sz="4000"/>
          </a:p>
          <a:p>
            <a:pPr>
              <a:buNone/>
            </a:pPr>
            <a:r>
              <a:rPr b="1" sz="6000"/>
              <a:t>Nonmicrosomal</a:t>
            </a:r>
            <a:r>
              <a:rPr b="1" sz="6000"/>
              <a:t> enzymes</a:t>
            </a:r>
            <a:endParaRPr b="1" sz="6000"/>
          </a:p>
          <a:p>
            <a:pPr>
              <a:buNone/>
            </a:pPr>
            <a:r>
              <a:rPr sz="4000"/>
              <a:t>Are present in the cytoplasm and mitochondria of hepatic cells, other tissues and plasma. They catalyze some oxidation and reduction, hydrolytic reactions and all conjugations </a:t>
            </a:r>
            <a:r>
              <a:rPr b="1" sz="4000"/>
              <a:t>except glucuronidation</a:t>
            </a:r>
            <a:endParaRPr b="1" sz="4000"/>
          </a:p>
          <a:p>
            <a:pPr>
              <a:buNone/>
            </a:pPr>
            <a:endParaRPr sz="4000"/>
          </a:p>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791" name=""/>
        <p:cNvGrpSpPr/>
        <p:nvPr/>
      </p:nvGrpSpPr>
      <p:grpSpPr>
        <a:xfrm>
          <a:off x="0" y="0"/>
          <a:ext cx="0" cy="0"/>
          <a:chOff x="0" y="0"/>
          <a:chExt cx="0" cy="0"/>
        </a:xfrm>
      </p:grpSpPr>
      <p:pic>
        <p:nvPicPr>
          <p:cNvPr id="2097161" name="Picture 1" descr="02_03"/>
          <p:cNvPicPr>
            <a:picLocks noChangeAspect="1" noChangeArrowheads="1"/>
          </p:cNvPicPr>
          <p:nvPr/>
        </p:nvPicPr>
        <p:blipFill>
          <a:blip xmlns:r="http://schemas.openxmlformats.org/officeDocument/2006/relationships" r:embed="rId1" cstate="print"/>
          <a:srcRect/>
          <a:stretch>
            <a:fillRect/>
          </a:stretch>
        </p:blipFill>
        <p:spPr bwMode="auto">
          <a:xfrm>
            <a:off x="2705095" y="609604"/>
            <a:ext cx="6781804" cy="5867404"/>
          </a:xfrm>
          <a:prstGeom prst="rect"/>
          <a:noFill/>
          <a:ln w="9525">
            <a:noFill/>
            <a:miter lim="800000"/>
            <a:headEnd/>
            <a:tailEnd/>
          </a:ln>
          <a:effectLst/>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792" name=""/>
        <p:cNvGrpSpPr/>
        <p:nvPr/>
      </p:nvGrpSpPr>
      <p:grpSpPr>
        <a:xfrm>
          <a:off x="0" y="0"/>
          <a:ext cx="0" cy="0"/>
          <a:chOff x="0" y="0"/>
          <a:chExt cx="0" cy="0"/>
        </a:xfrm>
      </p:grpSpPr>
      <p:sp>
        <p:nvSpPr>
          <p:cNvPr id="1048850" name="Content Placeholder 2"/>
          <p:cNvSpPr>
            <a:spLocks noGrp="1"/>
          </p:cNvSpPr>
          <p:nvPr>
            <p:ph idx="4294967295"/>
          </p:nvPr>
        </p:nvSpPr>
        <p:spPr>
          <a:xfrm>
            <a:off x="552454" y="609604"/>
            <a:ext cx="11163295" cy="5516565"/>
          </a:xfrm>
        </p:spPr>
        <p:txBody>
          <a:bodyPr>
            <a:normAutofit/>
          </a:bodyPr>
          <a:p>
            <a:r>
              <a:rPr sz="3900"/>
              <a:t>Both </a:t>
            </a:r>
            <a:r>
              <a:rPr sz="3900"/>
              <a:t>microsomal</a:t>
            </a:r>
            <a:r>
              <a:rPr sz="3900"/>
              <a:t> and </a:t>
            </a:r>
            <a:r>
              <a:rPr sz="3900"/>
              <a:t>nonmicrosomal</a:t>
            </a:r>
            <a:r>
              <a:rPr sz="3900"/>
              <a:t> enzymes </a:t>
            </a:r>
            <a:r>
              <a:rPr b="1" sz="3900"/>
              <a:t>are deficient in newborns, especially premature making them susceptible to many drugs </a:t>
            </a:r>
            <a:r>
              <a:rPr b="1" sz="3900"/>
              <a:t>e.g</a:t>
            </a:r>
            <a:r>
              <a:rPr b="1" sz="3900"/>
              <a:t> </a:t>
            </a:r>
            <a:r>
              <a:rPr b="1" sz="3900"/>
              <a:t>opioids</a:t>
            </a:r>
            <a:r>
              <a:rPr sz="3900"/>
              <a:t>. This deficit is made up from 3 months onwards</a:t>
            </a:r>
            <a:endParaRPr sz="3900"/>
          </a:p>
          <a:p>
            <a:endParaRPr sz="3900"/>
          </a:p>
          <a:p>
            <a:r>
              <a:rPr sz="3900"/>
              <a:t>Amount and kind of drug metabolizing enzymes is controlled genetically and also altered by environmental factors. </a:t>
            </a:r>
            <a:r>
              <a:rPr sz="3900">
                <a:solidFill>
                  <a:srgbClr val="FF0000"/>
                </a:solidFill>
              </a:rPr>
              <a:t>This is one of the major causes of individual variation </a:t>
            </a:r>
            <a:r>
              <a:rPr sz="4200">
                <a:solidFill>
                  <a:srgbClr val="FF0000"/>
                </a:solidFill>
              </a:rPr>
              <a:t>in drug response.</a:t>
            </a:r>
            <a:endParaRPr sz="4200">
              <a:solidFill>
                <a:srgbClr val="FF0000"/>
              </a:solidFill>
            </a:endParaRPr>
          </a:p>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793" name=""/>
        <p:cNvGrpSpPr/>
        <p:nvPr/>
      </p:nvGrpSpPr>
      <p:grpSpPr>
        <a:xfrm>
          <a:off x="0" y="0"/>
          <a:ext cx="0" cy="0"/>
          <a:chOff x="0" y="0"/>
          <a:chExt cx="0" cy="0"/>
        </a:xfrm>
      </p:grpSpPr>
      <p:sp>
        <p:nvSpPr>
          <p:cNvPr id="1048851" name="Title 1"/>
          <p:cNvSpPr>
            <a:spLocks noGrp="1"/>
          </p:cNvSpPr>
          <p:nvPr>
            <p:ph type="title"/>
          </p:nvPr>
        </p:nvSpPr>
        <p:spPr/>
        <p:txBody>
          <a:bodyPr/>
          <a:p>
            <a:r>
              <a:rPr b="1"/>
              <a:t>Inhibition of drug metabolism</a:t>
            </a:r>
          </a:p>
        </p:txBody>
      </p:sp>
      <p:sp>
        <p:nvSpPr>
          <p:cNvPr id="1048852" name="Content Placeholder 2"/>
          <p:cNvSpPr>
            <a:spLocks noGrp="1"/>
          </p:cNvSpPr>
          <p:nvPr>
            <p:ph idx="1"/>
          </p:nvPr>
        </p:nvSpPr>
        <p:spPr>
          <a:xfrm>
            <a:off x="600075" y="1219195"/>
            <a:ext cx="10439404" cy="5333995"/>
          </a:xfrm>
        </p:spPr>
        <p:txBody>
          <a:bodyPr>
            <a:normAutofit/>
          </a:bodyPr>
          <a:p>
            <a:r>
              <a:rPr sz="4400"/>
              <a:t>One drug may competitively inhibit the metabolism of another if it utilizes the same enzyme or co factors. </a:t>
            </a:r>
            <a:endParaRPr sz="4400"/>
          </a:p>
          <a:p>
            <a:r>
              <a:rPr sz="4400"/>
              <a:t>Inhibition of metabolism can precipitate toxicity of the inhibited drug. </a:t>
            </a:r>
            <a:r>
              <a:rPr sz="4400"/>
              <a:t>e.g</a:t>
            </a:r>
            <a:r>
              <a:rPr sz="4400"/>
              <a:t> erythromycin, chloramphenicol, ciprofloxacin all inhibit metabolizing enzymes</a:t>
            </a:r>
            <a:endParaRPr sz="4400"/>
          </a:p>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794" name=""/>
        <p:cNvGrpSpPr/>
        <p:nvPr/>
      </p:nvGrpSpPr>
      <p:grpSpPr>
        <a:xfrm>
          <a:off x="0" y="0"/>
          <a:ext cx="0" cy="0"/>
          <a:chOff x="0" y="0"/>
          <a:chExt cx="0" cy="0"/>
        </a:xfrm>
      </p:grpSpPr>
      <p:sp>
        <p:nvSpPr>
          <p:cNvPr id="1048853" name="Title 1"/>
          <p:cNvSpPr>
            <a:spLocks noGrp="1"/>
          </p:cNvSpPr>
          <p:nvPr>
            <p:ph type="title"/>
          </p:nvPr>
        </p:nvSpPr>
        <p:spPr/>
        <p:txBody>
          <a:bodyPr>
            <a:normAutofit fontScale="90909"/>
          </a:bodyPr>
          <a:p>
            <a:r>
              <a:rPr b="1"/>
              <a:t>Microsomal</a:t>
            </a:r>
            <a:r>
              <a:rPr b="1"/>
              <a:t> enzyme induction</a:t>
            </a:r>
            <a:br/>
          </a:p>
        </p:txBody>
      </p:sp>
      <p:sp>
        <p:nvSpPr>
          <p:cNvPr id="1048854" name="Content Placeholder 2"/>
          <p:cNvSpPr>
            <a:spLocks noGrp="1"/>
          </p:cNvSpPr>
          <p:nvPr>
            <p:ph idx="1"/>
          </p:nvPr>
        </p:nvSpPr>
        <p:spPr>
          <a:xfrm>
            <a:off x="581029" y="1219195"/>
            <a:ext cx="10839454" cy="5333995"/>
          </a:xfrm>
        </p:spPr>
        <p:txBody>
          <a:bodyPr>
            <a:noAutofit/>
          </a:bodyPr>
          <a:p>
            <a:r>
              <a:rPr sz="4400"/>
              <a:t>Many drugs, insecticides carcinogens interact with DNA and increase synthesis of </a:t>
            </a:r>
            <a:r>
              <a:rPr sz="4400"/>
              <a:t>microsomal</a:t>
            </a:r>
            <a:r>
              <a:rPr sz="4400"/>
              <a:t> enzyme protein </a:t>
            </a:r>
            <a:r>
              <a:rPr b="1" sz="4400"/>
              <a:t>e.g</a:t>
            </a:r>
            <a:r>
              <a:rPr b="1" sz="4400"/>
              <a:t> </a:t>
            </a:r>
            <a:r>
              <a:rPr b="1" sz="4400"/>
              <a:t>cytochrome</a:t>
            </a:r>
            <a:r>
              <a:rPr b="1" sz="4400"/>
              <a:t> p-450 and </a:t>
            </a:r>
            <a:r>
              <a:rPr b="1" sz="4400"/>
              <a:t>glucuronyl</a:t>
            </a:r>
            <a:r>
              <a:rPr b="1" sz="4400"/>
              <a:t> </a:t>
            </a:r>
            <a:r>
              <a:rPr b="1" sz="4400"/>
              <a:t>transferase</a:t>
            </a:r>
            <a:r>
              <a:rPr b="1" sz="4400"/>
              <a:t>. </a:t>
            </a:r>
            <a:r>
              <a:rPr sz="4400">
                <a:solidFill>
                  <a:srgbClr val="FF0000"/>
                </a:solidFill>
              </a:rPr>
              <a:t>This increases rate of metabolism of the drug</a:t>
            </a:r>
            <a:r>
              <a:rPr sz="4400"/>
              <a:t>.</a:t>
            </a:r>
            <a:endParaRPr sz="440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795" name=""/>
        <p:cNvGrpSpPr/>
        <p:nvPr/>
      </p:nvGrpSpPr>
      <p:grpSpPr>
        <a:xfrm>
          <a:off x="0" y="0"/>
          <a:ext cx="0" cy="0"/>
          <a:chOff x="0" y="0"/>
          <a:chExt cx="0" cy="0"/>
        </a:xfrm>
      </p:grpSpPr>
      <p:sp>
        <p:nvSpPr>
          <p:cNvPr id="1048855" name="Title 1"/>
          <p:cNvSpPr>
            <a:spLocks noGrp="1"/>
          </p:cNvSpPr>
          <p:nvPr>
            <p:ph type="title"/>
          </p:nvPr>
        </p:nvSpPr>
        <p:spPr>
          <a:xfrm>
            <a:off x="1981204" y="274643"/>
            <a:ext cx="8229600" cy="944565"/>
          </a:xfrm>
        </p:spPr>
        <p:txBody>
          <a:bodyPr>
            <a:normAutofit fontScale="90000"/>
          </a:bodyPr>
          <a:p>
            <a:r>
              <a:t>Consequences of </a:t>
            </a:r>
            <a:r>
              <a:t>microsomal</a:t>
            </a:r>
            <a:r>
              <a:t> enzyme induction are:</a:t>
            </a:r>
            <a:br/>
          </a:p>
        </p:txBody>
      </p:sp>
      <p:sp>
        <p:nvSpPr>
          <p:cNvPr id="1048856" name="Content Placeholder 2"/>
          <p:cNvSpPr>
            <a:spLocks noGrp="1"/>
          </p:cNvSpPr>
          <p:nvPr>
            <p:ph idx="1"/>
          </p:nvPr>
        </p:nvSpPr>
        <p:spPr>
          <a:xfrm>
            <a:off x="600075" y="990595"/>
            <a:ext cx="11068054" cy="5867404"/>
          </a:xfrm>
        </p:spPr>
        <p:txBody>
          <a:bodyPr>
            <a:noAutofit/>
          </a:bodyPr>
          <a:p>
            <a:r>
              <a:rPr b="1" sz="3600"/>
              <a:t>Decrease in intensity and duration of action of drug inactivated by </a:t>
            </a:r>
            <a:r>
              <a:rPr b="1" sz="3600"/>
              <a:t>metabolism</a:t>
            </a:r>
            <a:r>
              <a:rPr sz="3600"/>
              <a:t>.g</a:t>
            </a:r>
            <a:r>
              <a:rPr sz="3600"/>
              <a:t> failure of contraception with oral contraceptives</a:t>
            </a:r>
            <a:endParaRPr sz="3600"/>
          </a:p>
          <a:p>
            <a:r>
              <a:rPr b="1" sz="3600"/>
              <a:t>Increased intensity of action of drugs that are activated by metabolism</a:t>
            </a:r>
            <a:r>
              <a:rPr sz="3600"/>
              <a:t> e..g acute </a:t>
            </a:r>
            <a:r>
              <a:rPr sz="3600"/>
              <a:t>paracetamol</a:t>
            </a:r>
            <a:r>
              <a:rPr sz="3600"/>
              <a:t> toxicity</a:t>
            </a:r>
            <a:endParaRPr sz="3600"/>
          </a:p>
          <a:p>
            <a:r>
              <a:rPr b="1" sz="3600"/>
              <a:t>Tolerance</a:t>
            </a:r>
            <a:r>
              <a:rPr sz="3600"/>
              <a:t> – if the drug induces its own metabolism e.g. </a:t>
            </a:r>
            <a:r>
              <a:rPr sz="3600"/>
              <a:t>rifampicin</a:t>
            </a:r>
            <a:endParaRPr sz="3600"/>
          </a:p>
          <a:p>
            <a:r>
              <a:rPr sz="3600"/>
              <a:t>Some endogenous substrates are metabolized faster </a:t>
            </a:r>
            <a:r>
              <a:rPr sz="3600"/>
              <a:t>e.g</a:t>
            </a:r>
            <a:r>
              <a:rPr sz="3600"/>
              <a:t> steroids, </a:t>
            </a:r>
            <a:r>
              <a:rPr sz="3600"/>
              <a:t>bilirubin</a:t>
            </a:r>
            <a:endParaRPr sz="360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796" name=""/>
        <p:cNvGrpSpPr/>
        <p:nvPr/>
      </p:nvGrpSpPr>
      <p:grpSpPr>
        <a:xfrm>
          <a:off x="0" y="0"/>
          <a:ext cx="0" cy="0"/>
          <a:chOff x="0" y="0"/>
          <a:chExt cx="0" cy="0"/>
        </a:xfrm>
      </p:grpSpPr>
      <p:sp>
        <p:nvSpPr>
          <p:cNvPr id="1048857" name="Title 1"/>
          <p:cNvSpPr>
            <a:spLocks noGrp="1"/>
          </p:cNvSpPr>
          <p:nvPr>
            <p:ph type="title"/>
          </p:nvPr>
        </p:nvSpPr>
        <p:spPr>
          <a:xfrm>
            <a:off x="1981204" y="274643"/>
            <a:ext cx="8229600" cy="715965"/>
          </a:xfrm>
        </p:spPr>
        <p:txBody>
          <a:bodyPr>
            <a:normAutofit fontScale="93182"/>
          </a:bodyPr>
          <a:p>
            <a:r>
              <a:t>Enzymes </a:t>
            </a:r>
            <a:r>
              <a:t>cont</a:t>
            </a:r>
            <a:r>
              <a:t>’</a:t>
            </a:r>
          </a:p>
        </p:txBody>
      </p:sp>
      <p:sp>
        <p:nvSpPr>
          <p:cNvPr id="1048858" name="Content Placeholder 2"/>
          <p:cNvSpPr>
            <a:spLocks noGrp="1"/>
          </p:cNvSpPr>
          <p:nvPr>
            <p:ph idx="1"/>
          </p:nvPr>
        </p:nvSpPr>
        <p:spPr>
          <a:xfrm>
            <a:off x="485775" y="990595"/>
            <a:ext cx="11306170" cy="5135560"/>
          </a:xfrm>
        </p:spPr>
        <p:txBody>
          <a:bodyPr>
            <a:normAutofit/>
          </a:bodyPr>
          <a:p>
            <a:r>
              <a:rPr sz="4000">
                <a:solidFill>
                  <a:srgbClr val="FF0000"/>
                </a:solidFill>
              </a:rPr>
              <a:t>Drugs whose metabolism is significantly affected by enzyme induction include – phenytoin, warfarin, oral contraceptives, doxycycline. </a:t>
            </a:r>
            <a:endParaRPr sz="4000">
              <a:solidFill>
                <a:srgbClr val="FF0000"/>
              </a:solidFill>
            </a:endParaRPr>
          </a:p>
          <a:p>
            <a:endParaRPr sz="4000"/>
          </a:p>
          <a:p>
            <a:r>
              <a:rPr sz="4000"/>
              <a:t>Enzyme induction can be used in management of congenital jaundice, chronic poisoning and liver disease</a:t>
            </a:r>
            <a:endParaRPr sz="400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797" name=""/>
        <p:cNvGrpSpPr/>
        <p:nvPr/>
      </p:nvGrpSpPr>
      <p:grpSpPr>
        <a:xfrm>
          <a:off x="0" y="0"/>
          <a:ext cx="0" cy="0"/>
          <a:chOff x="0" y="0"/>
          <a:chExt cx="0" cy="0"/>
        </a:xfrm>
      </p:grpSpPr>
      <p:sp>
        <p:nvSpPr>
          <p:cNvPr id="1048859" name="Title 1"/>
          <p:cNvSpPr>
            <a:spLocks noGrp="1"/>
          </p:cNvSpPr>
          <p:nvPr>
            <p:ph type="title"/>
          </p:nvPr>
        </p:nvSpPr>
        <p:spPr/>
        <p:txBody>
          <a:bodyPr>
            <a:normAutofit fontScale="90909"/>
          </a:bodyPr>
          <a:p>
            <a:r>
              <a:rPr b="1"/>
              <a:t>First pass (</a:t>
            </a:r>
            <a:r>
              <a:rPr b="1"/>
              <a:t>presystemic</a:t>
            </a:r>
            <a:r>
              <a:rPr b="1"/>
              <a:t>) Metabolism</a:t>
            </a:r>
            <a:br/>
          </a:p>
        </p:txBody>
      </p:sp>
      <p:sp>
        <p:nvSpPr>
          <p:cNvPr id="1048860" name="Content Placeholder 2"/>
          <p:cNvSpPr>
            <a:spLocks noGrp="1"/>
          </p:cNvSpPr>
          <p:nvPr>
            <p:ph idx="1"/>
          </p:nvPr>
        </p:nvSpPr>
        <p:spPr/>
        <p:txBody>
          <a:bodyPr>
            <a:normAutofit/>
          </a:bodyPr>
          <a:p>
            <a:r>
              <a:rPr sz="3600"/>
              <a:t>Refers to </a:t>
            </a:r>
            <a:r>
              <a:rPr b="1" sz="3600"/>
              <a:t>metabolism of a drug during its passage from the site of absorption into the systemic circulation. </a:t>
            </a:r>
            <a:endParaRPr b="1" sz="3600"/>
          </a:p>
          <a:p>
            <a:r>
              <a:rPr sz="3600"/>
              <a:t>All orally administered drugs are exposed to drug metabolizing enzymes in the intestinal wall and liver. </a:t>
            </a:r>
            <a:endParaRPr sz="3600"/>
          </a:p>
          <a:p>
            <a:r>
              <a:rPr sz="3600"/>
              <a:t>Limited metabolism also occurs in the skin (transdermal route) and in lungs.</a:t>
            </a:r>
            <a:endParaRPr sz="360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799" name=""/>
        <p:cNvGrpSpPr/>
        <p:nvPr/>
      </p:nvGrpSpPr>
      <p:grpSpPr>
        <a:xfrm>
          <a:off x="0" y="0"/>
          <a:ext cx="0" cy="0"/>
          <a:chOff x="0" y="0"/>
          <a:chExt cx="0" cy="0"/>
        </a:xfrm>
      </p:grpSpPr>
      <p:sp>
        <p:nvSpPr>
          <p:cNvPr id="1048867" name="Title 3"/>
          <p:cNvSpPr>
            <a:spLocks noGrp="1"/>
          </p:cNvSpPr>
          <p:nvPr>
            <p:ph type="title"/>
          </p:nvPr>
        </p:nvSpPr>
        <p:spPr>
          <a:xfrm>
            <a:off x="1981204" y="0"/>
            <a:ext cx="8229600" cy="1981204"/>
          </a:xfrm>
        </p:spPr>
        <p:txBody>
          <a:bodyPr>
            <a:noAutofit/>
          </a:bodyPr>
          <a:p>
            <a:r>
              <a:rPr sz="3600"/>
              <a:t>First pass metabolism differs for different drugs and affects bioavailability. The following have high first pass metabolism</a:t>
            </a:r>
            <a:br>
              <a:rPr sz="3600"/>
            </a:br>
            <a:endParaRPr sz="3600"/>
          </a:p>
        </p:txBody>
      </p:sp>
      <p:sp>
        <p:nvSpPr>
          <p:cNvPr id="1048868" name="Content Placeholder 2"/>
          <p:cNvSpPr>
            <a:spLocks noGrp="1"/>
          </p:cNvSpPr>
          <p:nvPr>
            <p:ph sz="half" idx="1"/>
          </p:nvPr>
        </p:nvSpPr>
        <p:spPr>
          <a:xfrm>
            <a:off x="1981204" y="1752604"/>
            <a:ext cx="4038604" cy="4373565"/>
          </a:xfrm>
        </p:spPr>
        <p:txBody>
          <a:bodyPr>
            <a:normAutofit/>
          </a:bodyPr>
          <a:p>
            <a:pPr>
              <a:buNone/>
            </a:pPr>
            <a:r>
              <a:rPr sz="3500"/>
              <a:t>High first pass metabolism (not given orally</a:t>
            </a:r>
            <a:r>
              <a:t>)</a:t>
            </a:r>
          </a:p>
          <a:p>
            <a:r>
              <a:rPr sz="3200"/>
              <a:t>Lignocaine</a:t>
            </a:r>
            <a:endParaRPr sz="3200"/>
          </a:p>
          <a:p>
            <a:r>
              <a:rPr sz="3200"/>
              <a:t>Hydrocortisone</a:t>
            </a:r>
            <a:endParaRPr sz="3200"/>
          </a:p>
          <a:p>
            <a:r>
              <a:rPr sz="3200"/>
              <a:t>Isoprenaline</a:t>
            </a:r>
            <a:endParaRPr sz="3200"/>
          </a:p>
          <a:p/>
        </p:txBody>
      </p:sp>
      <p:sp>
        <p:nvSpPr>
          <p:cNvPr id="1048869" name="Content Placeholder 4"/>
          <p:cNvSpPr>
            <a:spLocks noGrp="1"/>
          </p:cNvSpPr>
          <p:nvPr>
            <p:ph sz="half" idx="2"/>
          </p:nvPr>
        </p:nvSpPr>
        <p:spPr>
          <a:xfrm>
            <a:off x="6172200" y="1752604"/>
            <a:ext cx="4038604" cy="4373565"/>
          </a:xfrm>
        </p:spPr>
        <p:txBody>
          <a:bodyPr>
            <a:normAutofit/>
          </a:bodyPr>
          <a:p>
            <a:r>
              <a:rPr sz="4100"/>
              <a:t>High first pass metabolism (high oral dose</a:t>
            </a:r>
            <a:r>
              <a:t>)</a:t>
            </a:r>
          </a:p>
          <a:p>
            <a:r>
              <a:rPr sz="3200"/>
              <a:t>propranolol</a:t>
            </a:r>
            <a:endParaRPr sz="3200"/>
          </a:p>
          <a:p>
            <a:r>
              <a:rPr sz="3200"/>
              <a:t>Salbutamol</a:t>
            </a:r>
            <a:endParaRPr sz="3200"/>
          </a:p>
          <a:p>
            <a:r>
              <a:rPr sz="3200"/>
              <a:t>Morphine/ </a:t>
            </a:r>
            <a:r>
              <a:rPr sz="3200"/>
              <a:t>pethidine</a:t>
            </a:r>
            <a:endParaRPr sz="3200"/>
          </a:p>
          <a:p/>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800" name=""/>
        <p:cNvGrpSpPr/>
        <p:nvPr/>
      </p:nvGrpSpPr>
      <p:grpSpPr>
        <a:xfrm>
          <a:off x="0" y="0"/>
          <a:ext cx="0" cy="0"/>
          <a:chOff x="0" y="0"/>
          <a:chExt cx="0" cy="0"/>
        </a:xfrm>
      </p:grpSpPr>
      <p:sp>
        <p:nvSpPr>
          <p:cNvPr id="1048870" name="Title 1"/>
          <p:cNvSpPr>
            <a:spLocks noGrp="1"/>
          </p:cNvSpPr>
          <p:nvPr>
            <p:ph type="title"/>
          </p:nvPr>
        </p:nvSpPr>
        <p:spPr>
          <a:xfrm>
            <a:off x="1981204" y="0"/>
            <a:ext cx="8229600" cy="1600200"/>
          </a:xfrm>
        </p:spPr>
        <p:txBody>
          <a:bodyPr>
            <a:normAutofit fontScale="90000"/>
          </a:bodyPr>
          <a:p>
            <a:r>
              <a:t>Attributes of drugs with high first pass metabolism:</a:t>
            </a:r>
            <a:br/>
          </a:p>
        </p:txBody>
      </p:sp>
      <p:sp>
        <p:nvSpPr>
          <p:cNvPr id="1048871" name="Content Placeholder 2"/>
          <p:cNvSpPr>
            <a:spLocks noGrp="1"/>
          </p:cNvSpPr>
          <p:nvPr>
            <p:ph idx="1"/>
          </p:nvPr>
        </p:nvSpPr>
        <p:spPr>
          <a:xfrm>
            <a:off x="390520" y="1143000"/>
            <a:ext cx="10868029" cy="4983156"/>
          </a:xfrm>
        </p:spPr>
        <p:txBody>
          <a:bodyPr>
            <a:normAutofit/>
          </a:bodyPr>
          <a:p>
            <a:r>
              <a:rPr sz="4000"/>
              <a:t>Oral dose is higher than sublingual or parenteral dose</a:t>
            </a:r>
            <a:endParaRPr sz="4000"/>
          </a:p>
          <a:p>
            <a:r>
              <a:rPr sz="4000"/>
              <a:t>Marked individual variation in oral dose due to differences in extent of first pass metabolism</a:t>
            </a:r>
            <a:endParaRPr sz="4000"/>
          </a:p>
          <a:p/>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801" name=""/>
        <p:cNvGrpSpPr/>
        <p:nvPr/>
      </p:nvGrpSpPr>
      <p:grpSpPr>
        <a:xfrm>
          <a:off x="0" y="0"/>
          <a:ext cx="0" cy="0"/>
          <a:chOff x="0" y="0"/>
          <a:chExt cx="0" cy="0"/>
        </a:xfrm>
      </p:grpSpPr>
      <p:sp>
        <p:nvSpPr>
          <p:cNvPr id="1048872" name="Title 1"/>
          <p:cNvSpPr>
            <a:spLocks noGrp="1"/>
          </p:cNvSpPr>
          <p:nvPr>
            <p:ph type="title"/>
          </p:nvPr>
        </p:nvSpPr>
        <p:spPr>
          <a:xfrm>
            <a:off x="1981204" y="274643"/>
            <a:ext cx="8229600" cy="763585"/>
          </a:xfrm>
        </p:spPr>
        <p:txBody>
          <a:bodyPr/>
          <a:p>
            <a:r>
              <a:t>EXCRETION</a:t>
            </a:r>
          </a:p>
        </p:txBody>
      </p:sp>
      <p:sp>
        <p:nvSpPr>
          <p:cNvPr id="1048873" name="Content Placeholder 2"/>
          <p:cNvSpPr>
            <a:spLocks noGrp="1"/>
          </p:cNvSpPr>
          <p:nvPr>
            <p:ph idx="1"/>
          </p:nvPr>
        </p:nvSpPr>
        <p:spPr>
          <a:xfrm>
            <a:off x="457200" y="1038229"/>
            <a:ext cx="11125204" cy="5438779"/>
          </a:xfrm>
        </p:spPr>
        <p:txBody>
          <a:bodyPr>
            <a:noAutofit/>
          </a:bodyPr>
          <a:p>
            <a:r>
              <a:rPr sz="3200"/>
              <a:t>Excretion is the passage out of systemically absorbed drugs. Drugs and their metabolites are excreted in:</a:t>
            </a:r>
            <a:endParaRPr sz="3200"/>
          </a:p>
          <a:p>
            <a:pPr lvl="1"/>
            <a:r>
              <a:rPr b="1" sz="3200"/>
              <a:t>Urine </a:t>
            </a:r>
            <a:r>
              <a:rPr sz="3200"/>
              <a:t>– through the kidney. It is the most important channel of excretion for most drugs</a:t>
            </a:r>
            <a:endParaRPr sz="3200"/>
          </a:p>
          <a:p>
            <a:pPr lvl="1"/>
            <a:r>
              <a:rPr b="1" sz="3200"/>
              <a:t>Faeces</a:t>
            </a:r>
            <a:r>
              <a:rPr sz="3200"/>
              <a:t> – most drugs present in </a:t>
            </a:r>
            <a:r>
              <a:rPr sz="3200"/>
              <a:t>faeces</a:t>
            </a:r>
            <a:r>
              <a:rPr sz="3200"/>
              <a:t> are derived from bile, this is apart from the unabsorbed fraction. The liver transports the metabolites to bile which are release to the intestines</a:t>
            </a:r>
            <a:endParaRPr sz="3200"/>
          </a:p>
          <a:p>
            <a:pPr lvl="1"/>
            <a:r>
              <a:rPr b="1" sz="3200"/>
              <a:t>Exhaled air </a:t>
            </a:r>
            <a:r>
              <a:rPr sz="3200"/>
              <a:t>– gases and volatile liquids are eliminated through the lungs </a:t>
            </a:r>
            <a:r>
              <a:rPr sz="3200"/>
              <a:t>e.g</a:t>
            </a:r>
            <a:r>
              <a:rPr sz="3200"/>
              <a:t> general anesthetics</a:t>
            </a:r>
            <a:endParaRPr sz="3200"/>
          </a:p>
          <a:p>
            <a:pPr lvl="1"/>
            <a:r>
              <a:rPr b="1" sz="3200"/>
              <a:t>Saliva and sweat </a:t>
            </a:r>
            <a:r>
              <a:rPr sz="3200"/>
              <a:t>– they are of minor importance in drug excretion</a:t>
            </a:r>
            <a:endParaRPr sz="3200"/>
          </a:p>
          <a:p>
            <a:endParaRPr sz="440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802" name=""/>
        <p:cNvGrpSpPr/>
        <p:nvPr/>
      </p:nvGrpSpPr>
      <p:grpSpPr>
        <a:xfrm>
          <a:off x="0" y="0"/>
          <a:ext cx="0" cy="0"/>
          <a:chOff x="0" y="0"/>
          <a:chExt cx="0" cy="0"/>
        </a:xfrm>
      </p:grpSpPr>
      <p:sp>
        <p:nvSpPr>
          <p:cNvPr id="1048874" name="Title 1"/>
          <p:cNvSpPr>
            <a:spLocks noGrp="1"/>
          </p:cNvSpPr>
          <p:nvPr>
            <p:ph type="title"/>
          </p:nvPr>
        </p:nvSpPr>
        <p:spPr>
          <a:xfrm>
            <a:off x="1981204" y="274643"/>
            <a:ext cx="8229600" cy="792160"/>
          </a:xfrm>
        </p:spPr>
        <p:txBody>
          <a:bodyPr/>
          <a:p>
            <a:r>
              <a:t>CONT</a:t>
            </a:r>
          </a:p>
        </p:txBody>
      </p:sp>
      <p:sp>
        <p:nvSpPr>
          <p:cNvPr id="1048875" name="Content Placeholder 2"/>
          <p:cNvSpPr>
            <a:spLocks noGrp="1"/>
          </p:cNvSpPr>
          <p:nvPr>
            <p:ph idx="1"/>
          </p:nvPr>
        </p:nvSpPr>
        <p:spPr>
          <a:xfrm>
            <a:off x="552454" y="1143000"/>
            <a:ext cx="11077570" cy="4983156"/>
          </a:xfrm>
        </p:spPr>
        <p:txBody>
          <a:bodyPr>
            <a:normAutofit lnSpcReduction="10000"/>
          </a:bodyPr>
          <a:p>
            <a:r>
              <a:rPr b="1" sz="3600"/>
              <a:t>Milk </a:t>
            </a:r>
            <a:r>
              <a:rPr sz="3600"/>
              <a:t>– this is important for a suckling baby who receives the drug. Most drugs enter </a:t>
            </a:r>
            <a:r>
              <a:rPr sz="3600"/>
              <a:t>breastmilk</a:t>
            </a:r>
            <a:r>
              <a:rPr sz="3600"/>
              <a:t> by passive diffusion in small amounts, therefore can be given safely to lactating mothers. There are drugs contraindicated if breastfeeding </a:t>
            </a:r>
            <a:r>
              <a:rPr sz="3600"/>
              <a:t>e.g</a:t>
            </a:r>
            <a:r>
              <a:rPr sz="3600"/>
              <a:t> tetracycline, androgens, aspirin, barbiturates</a:t>
            </a:r>
            <a:endParaRPr sz="3600"/>
          </a:p>
          <a:p>
            <a:r>
              <a:rPr b="1" sz="3600"/>
              <a:t>Renal excretion </a:t>
            </a:r>
            <a:r>
              <a:rPr sz="3600"/>
              <a:t>– the kidney is responsible for excreting all water soluble substances. The amount of drug or its metabolite present in urine is the sum total of glomerular filtration, tubular reabsorption and tubular secretion</a:t>
            </a:r>
            <a:endParaRPr sz="3600"/>
          </a:p>
          <a:p>
            <a:endParaRPr sz="3600"/>
          </a:p>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803" name=""/>
        <p:cNvGrpSpPr/>
        <p:nvPr/>
      </p:nvGrpSpPr>
      <p:grpSpPr>
        <a:xfrm>
          <a:off x="0" y="0"/>
          <a:ext cx="0" cy="0"/>
          <a:chOff x="0" y="0"/>
          <a:chExt cx="0" cy="0"/>
        </a:xfrm>
      </p:grpSpPr>
      <p:sp>
        <p:nvSpPr>
          <p:cNvPr id="1048876" name="Title 1"/>
          <p:cNvSpPr>
            <a:spLocks noGrp="1"/>
          </p:cNvSpPr>
          <p:nvPr>
            <p:ph type="title"/>
          </p:nvPr>
        </p:nvSpPr>
        <p:spPr>
          <a:xfrm>
            <a:off x="1981204" y="274643"/>
            <a:ext cx="8229600" cy="944565"/>
          </a:xfrm>
        </p:spPr>
        <p:txBody>
          <a:bodyPr/>
          <a:p>
            <a:r>
              <a:t>KINETICS OF ELIMINATION</a:t>
            </a:r>
          </a:p>
        </p:txBody>
      </p:sp>
      <p:sp>
        <p:nvSpPr>
          <p:cNvPr id="1048877" name="Content Placeholder 2"/>
          <p:cNvSpPr>
            <a:spLocks noGrp="1"/>
          </p:cNvSpPr>
          <p:nvPr>
            <p:ph idx="1"/>
          </p:nvPr>
        </p:nvSpPr>
        <p:spPr>
          <a:xfrm>
            <a:off x="495304" y="1219195"/>
            <a:ext cx="11258550" cy="4906960"/>
          </a:xfrm>
        </p:spPr>
        <p:txBody>
          <a:bodyPr>
            <a:normAutofit fontScale="96429"/>
          </a:bodyPr>
          <a:p>
            <a:r>
              <a:rPr b="1" sz="3600" i="1"/>
              <a:t>Drug elimination</a:t>
            </a:r>
            <a:r>
              <a:rPr b="1" sz="3600"/>
              <a:t> </a:t>
            </a:r>
            <a:r>
              <a:rPr sz="3600"/>
              <a:t>– this is the sum total of metabolic inactivation and excretion. Knowledge of elimination kinetics serves to devise rational dosage regimens and modify them according to individual needs</a:t>
            </a:r>
            <a:endParaRPr sz="3600"/>
          </a:p>
          <a:p>
            <a:endParaRPr sz="3600"/>
          </a:p>
          <a:p>
            <a:r>
              <a:rPr b="1" sz="3600" i="1"/>
              <a:t>Clearance (CL)</a:t>
            </a:r>
            <a:r>
              <a:rPr b="1" sz="3600"/>
              <a:t> </a:t>
            </a:r>
            <a:r>
              <a:rPr sz="3600"/>
              <a:t>– this is the theoretical volume of plasma from which the drug is completely removed in unit time</a:t>
            </a:r>
            <a:endParaRPr sz="3600"/>
          </a:p>
          <a:p>
            <a:pPr indent="0" marL="0">
              <a:buNone/>
            </a:pPr>
            <a:r>
              <a:rPr b="1" sz="3600"/>
              <a:t>CL = rate of elimination/plasma concentration(C).</a:t>
            </a:r>
            <a:endParaRPr b="1" sz="3600"/>
          </a:p>
          <a:p>
            <a:endParaRPr sz="3600"/>
          </a:p>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804" name=""/>
        <p:cNvGrpSpPr/>
        <p:nvPr/>
      </p:nvGrpSpPr>
      <p:grpSpPr>
        <a:xfrm>
          <a:off x="0" y="0"/>
          <a:ext cx="0" cy="0"/>
          <a:chOff x="0" y="0"/>
          <a:chExt cx="0" cy="0"/>
        </a:xfrm>
      </p:grpSpPr>
      <p:sp>
        <p:nvSpPr>
          <p:cNvPr id="1048878" name="Title 1"/>
          <p:cNvSpPr>
            <a:spLocks noGrp="1"/>
          </p:cNvSpPr>
          <p:nvPr>
            <p:ph type="title"/>
          </p:nvPr>
        </p:nvSpPr>
        <p:spPr>
          <a:xfrm>
            <a:off x="1981204" y="0"/>
            <a:ext cx="8229600" cy="1066804"/>
          </a:xfrm>
        </p:spPr>
        <p:txBody>
          <a:bodyPr>
            <a:normAutofit fontScale="90000"/>
          </a:bodyPr>
          <a:p>
            <a:r>
              <a:t>Elimination can follow:</a:t>
            </a:r>
            <a:br/>
          </a:p>
        </p:txBody>
      </p:sp>
      <p:sp>
        <p:nvSpPr>
          <p:cNvPr id="1048879" name="Content Placeholder 2"/>
          <p:cNvSpPr>
            <a:spLocks noGrp="1"/>
          </p:cNvSpPr>
          <p:nvPr>
            <p:ph idx="1"/>
          </p:nvPr>
        </p:nvSpPr>
        <p:spPr>
          <a:xfrm>
            <a:off x="485775" y="914400"/>
            <a:ext cx="11144250" cy="5486400"/>
          </a:xfrm>
        </p:spPr>
        <p:txBody>
          <a:bodyPr>
            <a:normAutofit/>
          </a:bodyPr>
          <a:p>
            <a:r>
              <a:rPr b="1" sz="3600" i="1"/>
              <a:t>First order (exponential) kinetics</a:t>
            </a:r>
            <a:r>
              <a:rPr b="1" sz="3600"/>
              <a:t> </a:t>
            </a:r>
            <a:r>
              <a:rPr sz="3600"/>
              <a:t>– rate of elimination is directly proportional to drug concentration. CL remains constant.</a:t>
            </a:r>
            <a:endParaRPr sz="3600"/>
          </a:p>
          <a:p>
            <a:r>
              <a:rPr b="1" sz="3600" i="1"/>
              <a:t>Zero order (Linear) kinetics</a:t>
            </a:r>
            <a:r>
              <a:rPr b="1" sz="3600"/>
              <a:t> </a:t>
            </a:r>
            <a:r>
              <a:rPr sz="3600"/>
              <a:t>– rate of elimination remains constant irrespective of drug concentration. CL decreases with increase in drug concentration. This is due to saturation of elimination mechanism </a:t>
            </a:r>
            <a:r>
              <a:rPr sz="3600"/>
              <a:t>e.g</a:t>
            </a:r>
            <a:r>
              <a:rPr sz="3600"/>
              <a:t> phenytoin, warfarin</a:t>
            </a:r>
            <a:endParaRPr sz="3600"/>
          </a:p>
          <a:p>
            <a:r>
              <a:rPr b="1" sz="3600" i="1"/>
              <a:t>Plasma half-life</a:t>
            </a:r>
            <a:r>
              <a:rPr b="1" sz="3600"/>
              <a:t> </a:t>
            </a:r>
            <a:r>
              <a:rPr sz="3600"/>
              <a:t>– plasma half-life of a drug is the time taken for its plasma concentration to be reduced to half its original value.</a:t>
            </a:r>
            <a:endParaRPr sz="3600"/>
          </a:p>
          <a:p>
            <a:r>
              <a:rPr b="1" sz="3600" i="1"/>
              <a:t>Plateau principle</a:t>
            </a:r>
            <a:r>
              <a:rPr b="1" sz="3600"/>
              <a:t> </a:t>
            </a:r>
            <a:r>
              <a:rPr sz="3600"/>
              <a:t>– when the rate of elimination balances the amount of drug administered over the dose interval. Depends on the dose intervals relative to the half life of the drug</a:t>
            </a:r>
            <a:endParaRPr sz="3600"/>
          </a:p>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805" name=""/>
        <p:cNvGrpSpPr/>
        <p:nvPr/>
      </p:nvGrpSpPr>
      <p:grpSpPr>
        <a:xfrm>
          <a:off x="0" y="0"/>
          <a:ext cx="0" cy="0"/>
          <a:chOff x="0" y="0"/>
          <a:chExt cx="0" cy="0"/>
        </a:xfrm>
      </p:grpSpPr>
      <p:sp>
        <p:nvSpPr>
          <p:cNvPr id="1048880" name="Content Placeholder 2"/>
          <p:cNvSpPr>
            <a:spLocks noGrp="1"/>
          </p:cNvSpPr>
          <p:nvPr>
            <p:ph idx="4294967295"/>
          </p:nvPr>
        </p:nvSpPr>
        <p:spPr>
          <a:xfrm>
            <a:off x="685800" y="304795"/>
            <a:ext cx="10972800" cy="6553204"/>
          </a:xfrm>
        </p:spPr>
        <p:txBody>
          <a:bodyPr>
            <a:noAutofit/>
          </a:bodyPr>
          <a:p>
            <a:pPr>
              <a:buNone/>
            </a:pPr>
            <a:r>
              <a:rPr b="1" sz="4800" i="1"/>
              <a:t>Target level strategy</a:t>
            </a:r>
            <a:r>
              <a:rPr b="1" sz="4800"/>
              <a:t> </a:t>
            </a:r>
            <a:r>
              <a:rPr sz="4800"/>
              <a:t>– involves aiming to achieve a certain plasma concentration of a drug which has been defined to be therapeutic. This is by</a:t>
            </a:r>
            <a:endParaRPr sz="4800"/>
          </a:p>
          <a:p>
            <a:pPr lvl="1"/>
            <a:r>
              <a:rPr b="1" sz="3600"/>
              <a:t>Loading dose </a:t>
            </a:r>
            <a:r>
              <a:rPr sz="3600"/>
              <a:t>– this is a single or few quickly repeated doses given in the beginning to attain target concentration rapidly</a:t>
            </a:r>
            <a:endParaRPr sz="3600"/>
          </a:p>
          <a:p>
            <a:pPr lvl="1"/>
            <a:r>
              <a:rPr b="1" sz="3600"/>
              <a:t>Maintenance dose </a:t>
            </a:r>
            <a:r>
              <a:rPr sz="3600"/>
              <a:t>– this dose is one that is to be repeated at specific intervals after attainment of target concentration to maintain the same by balancing elimination</a:t>
            </a:r>
            <a:endParaRPr sz="360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806" name=""/>
        <p:cNvGrpSpPr/>
        <p:nvPr/>
      </p:nvGrpSpPr>
      <p:grpSpPr>
        <a:xfrm>
          <a:off x="0" y="0"/>
          <a:ext cx="0" cy="0"/>
          <a:chOff x="0" y="0"/>
          <a:chExt cx="0" cy="0"/>
        </a:xfrm>
      </p:grpSpPr>
      <p:sp>
        <p:nvSpPr>
          <p:cNvPr id="1048881" name="Title 1"/>
          <p:cNvSpPr>
            <a:spLocks noGrp="1"/>
          </p:cNvSpPr>
          <p:nvPr>
            <p:ph type="title"/>
          </p:nvPr>
        </p:nvSpPr>
        <p:spPr/>
        <p:txBody>
          <a:bodyPr/>
          <a:p>
            <a:r>
              <a:t>Therapeutic drug monitoring</a:t>
            </a:r>
          </a:p>
        </p:txBody>
      </p:sp>
      <p:sp>
        <p:nvSpPr>
          <p:cNvPr id="1048882" name="Content Placeholder 2"/>
          <p:cNvSpPr>
            <a:spLocks noGrp="1"/>
          </p:cNvSpPr>
          <p:nvPr>
            <p:ph idx="1"/>
          </p:nvPr>
        </p:nvSpPr>
        <p:spPr>
          <a:xfrm>
            <a:off x="495304" y="1285875"/>
            <a:ext cx="11249020" cy="5267329"/>
          </a:xfrm>
        </p:spPr>
        <p:txBody>
          <a:bodyPr>
            <a:normAutofit/>
          </a:bodyPr>
          <a:p>
            <a:pPr>
              <a:buNone/>
            </a:pPr>
            <a:r>
              <a:rPr sz="3600"/>
              <a:t>Refers to monitoring plasma concentration of</a:t>
            </a:r>
            <a:endParaRPr sz="3600"/>
          </a:p>
          <a:p>
            <a:pPr>
              <a:buNone/>
            </a:pPr>
            <a:r>
              <a:rPr sz="3600"/>
              <a:t>drugs. It is useful for:</a:t>
            </a:r>
            <a:endParaRPr sz="3600"/>
          </a:p>
          <a:p>
            <a:pPr lvl="1"/>
            <a:r>
              <a:rPr sz="3200"/>
              <a:t>Drugs with low safety margin – </a:t>
            </a:r>
            <a:r>
              <a:rPr sz="3200"/>
              <a:t>digoxin</a:t>
            </a:r>
            <a:r>
              <a:rPr sz="3200"/>
              <a:t>, </a:t>
            </a:r>
            <a:r>
              <a:rPr sz="3200"/>
              <a:t>aminoglycosides</a:t>
            </a:r>
            <a:endParaRPr sz="3200"/>
          </a:p>
          <a:p>
            <a:pPr lvl="1"/>
            <a:r>
              <a:rPr sz="3200"/>
              <a:t>Large individual variations </a:t>
            </a:r>
            <a:endParaRPr sz="3200"/>
          </a:p>
          <a:p>
            <a:pPr lvl="1"/>
            <a:r>
              <a:rPr sz="3200"/>
              <a:t>Potentially toxic drugs in renal failure </a:t>
            </a:r>
            <a:r>
              <a:rPr sz="3200"/>
              <a:t>e.g</a:t>
            </a:r>
            <a:r>
              <a:rPr sz="3200"/>
              <a:t> </a:t>
            </a:r>
            <a:r>
              <a:rPr sz="3200"/>
              <a:t>aminoglycosides</a:t>
            </a:r>
            <a:endParaRPr sz="3200"/>
          </a:p>
          <a:p>
            <a:pPr lvl="1"/>
            <a:r>
              <a:rPr sz="3200"/>
              <a:t>In case of poisoning</a:t>
            </a:r>
            <a:endParaRPr sz="3200"/>
          </a:p>
          <a:p>
            <a:pPr lvl="1"/>
            <a:r>
              <a:rPr sz="3200"/>
              <a:t>In case of failure to respond </a:t>
            </a:r>
            <a:r>
              <a:rPr sz="3200"/>
              <a:t>e.g</a:t>
            </a:r>
            <a:r>
              <a:rPr sz="3200"/>
              <a:t> antibiotics</a:t>
            </a:r>
            <a:endParaRPr sz="3200"/>
          </a:p>
          <a:p>
            <a:pPr lvl="1"/>
            <a:r>
              <a:rPr sz="3200"/>
              <a:t>To check compliance </a:t>
            </a:r>
            <a:r>
              <a:rPr sz="3200"/>
              <a:t>e.g</a:t>
            </a:r>
            <a:r>
              <a:rPr sz="3200"/>
              <a:t> </a:t>
            </a:r>
            <a:r>
              <a:rPr sz="3200"/>
              <a:t>phenytoin</a:t>
            </a:r>
            <a:endParaRPr sz="3200"/>
          </a:p>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807" name=""/>
        <p:cNvGrpSpPr/>
        <p:nvPr/>
      </p:nvGrpSpPr>
      <p:grpSpPr>
        <a:xfrm>
          <a:off x="0" y="0"/>
          <a:ext cx="0" cy="0"/>
          <a:chOff x="0" y="0"/>
          <a:chExt cx="0" cy="0"/>
        </a:xfrm>
      </p:grpSpPr>
      <p:sp>
        <p:nvSpPr>
          <p:cNvPr id="1048883" name="Title 1"/>
          <p:cNvSpPr>
            <a:spLocks noGrp="1"/>
          </p:cNvSpPr>
          <p:nvPr>
            <p:ph type="title"/>
          </p:nvPr>
        </p:nvSpPr>
        <p:spPr>
          <a:xfrm>
            <a:off x="1981204" y="0"/>
            <a:ext cx="8229600" cy="1066804"/>
          </a:xfrm>
        </p:spPr>
        <p:txBody>
          <a:bodyPr>
            <a:normAutofit fontScale="90000"/>
          </a:bodyPr>
          <a:p>
            <a:r>
              <a:rPr b="1"/>
              <a:t>PROLONGATION OF DRUG ACTION</a:t>
            </a:r>
            <a:br/>
          </a:p>
        </p:txBody>
      </p:sp>
      <p:sp>
        <p:nvSpPr>
          <p:cNvPr id="1048884" name="Content Placeholder 2"/>
          <p:cNvSpPr>
            <a:spLocks noGrp="1"/>
          </p:cNvSpPr>
          <p:nvPr>
            <p:ph idx="1"/>
          </p:nvPr>
        </p:nvSpPr>
        <p:spPr>
          <a:xfrm>
            <a:off x="647695" y="1066804"/>
            <a:ext cx="11201400" cy="5486400"/>
          </a:xfrm>
        </p:spPr>
        <p:txBody>
          <a:bodyPr>
            <a:normAutofit/>
          </a:bodyPr>
          <a:p>
            <a:r>
              <a:rPr sz="3500"/>
              <a:t>It is sometimes advantageous to modify a drug in such a way that it acts longer. By doing so:</a:t>
            </a:r>
            <a:endParaRPr sz="3500"/>
          </a:p>
          <a:p>
            <a:pPr lvl="1"/>
            <a:r>
              <a:rPr sz="3100"/>
              <a:t>Frequency of administration is reduced – more convenient</a:t>
            </a:r>
            <a:endParaRPr sz="3100"/>
          </a:p>
          <a:p>
            <a:pPr lvl="1"/>
            <a:r>
              <a:rPr sz="3100"/>
              <a:t>Improved patient compliance</a:t>
            </a:r>
            <a:endParaRPr sz="3100"/>
          </a:p>
          <a:p>
            <a:pPr lvl="1"/>
            <a:r>
              <a:rPr sz="3100"/>
              <a:t>Large fluctuation in plasma concentration is avoided</a:t>
            </a:r>
            <a:endParaRPr sz="3100"/>
          </a:p>
          <a:p>
            <a:pPr lvl="1"/>
            <a:r>
              <a:rPr sz="3100"/>
              <a:t>Drug effect can be maintained overnight without affecting sleep </a:t>
            </a:r>
            <a:r>
              <a:rPr sz="3100"/>
              <a:t>e.g</a:t>
            </a:r>
            <a:r>
              <a:rPr sz="3100"/>
              <a:t> </a:t>
            </a:r>
            <a:r>
              <a:rPr sz="3100"/>
              <a:t>antiasthmatics</a:t>
            </a:r>
            <a:endParaRPr sz="3100"/>
          </a:p>
          <a:p>
            <a:pPr indent="0" marL="0">
              <a:buNone/>
            </a:pPr>
            <a:r>
              <a:rPr sz="3500"/>
              <a:t>NB – not for drugs with long half life or those used for brief therapeutic effect.</a:t>
            </a:r>
            <a:endParaRPr sz="3500"/>
          </a:p>
          <a:p/>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808" name=""/>
        <p:cNvGrpSpPr/>
        <p:nvPr/>
      </p:nvGrpSpPr>
      <p:grpSpPr>
        <a:xfrm>
          <a:off x="0" y="0"/>
          <a:ext cx="0" cy="0"/>
          <a:chOff x="0" y="0"/>
          <a:chExt cx="0" cy="0"/>
        </a:xfrm>
      </p:grpSpPr>
      <p:sp>
        <p:nvSpPr>
          <p:cNvPr id="1048885" name="Title 1"/>
          <p:cNvSpPr>
            <a:spLocks noGrp="1"/>
          </p:cNvSpPr>
          <p:nvPr>
            <p:ph type="title"/>
          </p:nvPr>
        </p:nvSpPr>
        <p:spPr>
          <a:xfrm>
            <a:off x="1981204" y="274643"/>
            <a:ext cx="8229600" cy="944565"/>
          </a:xfrm>
        </p:spPr>
        <p:txBody>
          <a:bodyPr>
            <a:normAutofit/>
          </a:bodyPr>
          <a:p>
            <a:r>
              <a:rPr sz="3600"/>
              <a:t>Methods of prolonging drug action include</a:t>
            </a:r>
            <a:endParaRPr sz="3600"/>
          </a:p>
        </p:txBody>
      </p:sp>
      <p:sp>
        <p:nvSpPr>
          <p:cNvPr id="1048886" name="Content Placeholder 2"/>
          <p:cNvSpPr>
            <a:spLocks noGrp="1"/>
          </p:cNvSpPr>
          <p:nvPr>
            <p:ph idx="1"/>
          </p:nvPr>
        </p:nvSpPr>
        <p:spPr>
          <a:xfrm>
            <a:off x="609604" y="1447795"/>
            <a:ext cx="11039479" cy="5181604"/>
          </a:xfrm>
        </p:spPr>
        <p:txBody>
          <a:bodyPr>
            <a:normAutofit fontScale="100000" lnSpcReduction="20000"/>
          </a:bodyPr>
          <a:p>
            <a:r>
              <a:rPr sz="3600"/>
              <a:t>By prolonging absorption from site of administration </a:t>
            </a:r>
            <a:endParaRPr sz="3600"/>
          </a:p>
          <a:p>
            <a:pPr lvl="1"/>
            <a:r>
              <a:t>Oral – sustained release tablets, resin coating, </a:t>
            </a:r>
          </a:p>
          <a:p>
            <a:pPr lvl="1"/>
            <a:r>
              <a:t>Parenteral – insoluble sc/</a:t>
            </a:r>
            <a:r>
              <a:t>im</a:t>
            </a:r>
            <a:r>
              <a:t> form </a:t>
            </a:r>
            <a:r>
              <a:t>e.g</a:t>
            </a:r>
            <a:r>
              <a:t> procaine penicillin, oily forms </a:t>
            </a:r>
            <a:r>
              <a:t>e.g</a:t>
            </a:r>
            <a:r>
              <a:t> Depot, inclusion of a vasoconstrictor. </a:t>
            </a:r>
          </a:p>
          <a:p>
            <a:pPr lvl="1"/>
            <a:r>
              <a:t>Transdermal – drug impregnated in patches, strips or ointment</a:t>
            </a:r>
          </a:p>
          <a:p>
            <a:r>
              <a:rPr sz="3600"/>
              <a:t>By increasing plasma protein binding – drug is highly bound to plasma protein and slowly released in the free form</a:t>
            </a:r>
            <a:endParaRPr sz="3600"/>
          </a:p>
          <a:p>
            <a:r>
              <a:rPr sz="3600"/>
              <a:t>By retarding rate of metabolism </a:t>
            </a:r>
            <a:endParaRPr sz="3600"/>
          </a:p>
          <a:p>
            <a:r>
              <a:rPr sz="3600"/>
              <a:t>By retarding renal excretion </a:t>
            </a:r>
            <a:r>
              <a:rPr sz="3600"/>
              <a:t>e.g</a:t>
            </a:r>
            <a:r>
              <a:rPr sz="3600"/>
              <a:t> suppress excretion by competing substance </a:t>
            </a:r>
            <a:r>
              <a:rPr sz="3600"/>
              <a:t>e.g</a:t>
            </a:r>
            <a:r>
              <a:rPr sz="3600"/>
              <a:t> probenecid prolongs action of penicillin.</a:t>
            </a:r>
            <a:endParaRPr sz="3600"/>
          </a:p>
          <a:p>
            <a:endParaRPr sz="3600"/>
          </a:p>
          <a:p>
            <a:endParaRPr sz="3600"/>
          </a:p>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809" name=""/>
        <p:cNvGrpSpPr/>
        <p:nvPr/>
      </p:nvGrpSpPr>
      <p:grpSpPr>
        <a:xfrm>
          <a:off x="0" y="0"/>
          <a:ext cx="0" cy="0"/>
          <a:chOff x="0" y="0"/>
          <a:chExt cx="0" cy="0"/>
        </a:xfrm>
      </p:grpSpPr>
      <p:sp>
        <p:nvSpPr>
          <p:cNvPr id="1048887" name="Title 1"/>
          <p:cNvSpPr>
            <a:spLocks noGrp="1"/>
          </p:cNvSpPr>
          <p:nvPr>
            <p:ph type="title"/>
          </p:nvPr>
        </p:nvSpPr>
        <p:spPr/>
        <p:txBody>
          <a:bodyPr/>
          <a:p>
            <a:r>
              <a:t>ADVERSE DRUG EFFECTS</a:t>
            </a:r>
          </a:p>
        </p:txBody>
      </p:sp>
      <p:sp>
        <p:nvSpPr>
          <p:cNvPr id="1048888" name="Content Placeholder 2"/>
          <p:cNvSpPr>
            <a:spLocks noGrp="1"/>
          </p:cNvSpPr>
          <p:nvPr>
            <p:ph idx="1"/>
          </p:nvPr>
        </p:nvSpPr>
        <p:spPr>
          <a:xfrm>
            <a:off x="381004" y="1371600"/>
            <a:ext cx="11363320" cy="5181604"/>
          </a:xfrm>
        </p:spPr>
        <p:txBody>
          <a:bodyPr>
            <a:normAutofit fontScale="89286" lnSpcReduction="20000"/>
          </a:bodyPr>
          <a:p>
            <a:r>
              <a:rPr sz="4000">
                <a:solidFill>
                  <a:srgbClr val="FF0000"/>
                </a:solidFill>
              </a:rPr>
              <a:t>Adverse drug effect </a:t>
            </a:r>
            <a:r>
              <a:rPr b="1" sz="4000"/>
              <a:t>is any undesirable or unintended consequence of drug administration</a:t>
            </a:r>
            <a:r>
              <a:rPr sz="4000"/>
              <a:t>. </a:t>
            </a:r>
            <a:endParaRPr sz="4000"/>
          </a:p>
          <a:p>
            <a:pPr lvl="1"/>
            <a:r>
              <a:rPr sz="3600"/>
              <a:t>It is broad and includes trivial to serious effects. All drugs are capable of producing adverse effects (risk-benefit ratio)</a:t>
            </a:r>
            <a:endParaRPr sz="3600"/>
          </a:p>
          <a:p>
            <a:pPr indent="0" lvl="1" marL="457200">
              <a:buNone/>
            </a:pPr>
            <a:endParaRPr sz="3600"/>
          </a:p>
          <a:p>
            <a:r>
              <a:rPr sz="4000">
                <a:solidFill>
                  <a:srgbClr val="FF0000"/>
                </a:solidFill>
              </a:rPr>
              <a:t>Adverse drug reaction</a:t>
            </a:r>
            <a:r>
              <a:rPr sz="4000"/>
              <a:t> is defined as ‘</a:t>
            </a:r>
            <a:r>
              <a:rPr b="1" sz="4000"/>
              <a:t>any harmful change which is suspected to be due to a drug, occurs at doses normally used by man, may require treatment or reduction in dose or indicates caution in the future use of the drug</a:t>
            </a:r>
            <a:r>
              <a:rPr sz="4000"/>
              <a:t>.’ This definition excludes trivial, expected side effects and poisonings or overdose</a:t>
            </a:r>
            <a:endParaRPr sz="4000"/>
          </a:p>
          <a:p>
            <a:endParaRPr sz="4000"/>
          </a:p>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810" name=""/>
        <p:cNvGrpSpPr/>
        <p:nvPr/>
      </p:nvGrpSpPr>
      <p:grpSpPr>
        <a:xfrm>
          <a:off x="0" y="0"/>
          <a:ext cx="0" cy="0"/>
          <a:chOff x="0" y="0"/>
          <a:chExt cx="0" cy="0"/>
        </a:xfrm>
      </p:grpSpPr>
      <p:sp>
        <p:nvSpPr>
          <p:cNvPr id="1048889" name="Title 1"/>
          <p:cNvSpPr>
            <a:spLocks noGrp="1"/>
          </p:cNvSpPr>
          <p:nvPr>
            <p:ph type="title"/>
          </p:nvPr>
        </p:nvSpPr>
        <p:spPr/>
        <p:txBody>
          <a:bodyPr/>
          <a:p>
            <a:r>
              <a:t>Adverse effects </a:t>
            </a:r>
            <a:r>
              <a:t>cont</a:t>
            </a:r>
            <a:r>
              <a:t>’</a:t>
            </a:r>
          </a:p>
        </p:txBody>
      </p:sp>
      <p:sp>
        <p:nvSpPr>
          <p:cNvPr id="1048890" name="Content Placeholder 2"/>
          <p:cNvSpPr>
            <a:spLocks noGrp="1"/>
          </p:cNvSpPr>
          <p:nvPr>
            <p:ph idx="1"/>
          </p:nvPr>
        </p:nvSpPr>
        <p:spPr/>
        <p:txBody>
          <a:bodyPr>
            <a:normAutofit/>
          </a:bodyPr>
          <a:p>
            <a:r>
              <a:rPr sz="4000"/>
              <a:t>Adverse effects may develop promptly or after prolonged medication or even after stoppage. They are more common with multiple drug therapy and in elderly</a:t>
            </a:r>
            <a:endParaRPr sz="400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811" name=""/>
        <p:cNvGrpSpPr/>
        <p:nvPr/>
      </p:nvGrpSpPr>
      <p:grpSpPr>
        <a:xfrm>
          <a:off x="0" y="0"/>
          <a:ext cx="0" cy="0"/>
          <a:chOff x="0" y="0"/>
          <a:chExt cx="0" cy="0"/>
        </a:xfrm>
      </p:grpSpPr>
      <p:sp>
        <p:nvSpPr>
          <p:cNvPr id="1048891" name="Title 1"/>
          <p:cNvSpPr>
            <a:spLocks noGrp="1"/>
          </p:cNvSpPr>
          <p:nvPr>
            <p:ph type="title"/>
          </p:nvPr>
        </p:nvSpPr>
        <p:spPr>
          <a:xfrm>
            <a:off x="1981204" y="274643"/>
            <a:ext cx="8229600" cy="563560"/>
          </a:xfrm>
        </p:spPr>
        <p:txBody>
          <a:bodyPr>
            <a:normAutofit/>
          </a:bodyPr>
          <a:p>
            <a:r>
              <a:t>ADR can be classified to:</a:t>
            </a:r>
          </a:p>
        </p:txBody>
      </p:sp>
      <p:sp>
        <p:nvSpPr>
          <p:cNvPr id="1048892" name="Content Placeholder 2"/>
          <p:cNvSpPr>
            <a:spLocks noGrp="1"/>
          </p:cNvSpPr>
          <p:nvPr>
            <p:ph idx="1"/>
          </p:nvPr>
        </p:nvSpPr>
        <p:spPr>
          <a:xfrm>
            <a:off x="742950" y="838204"/>
            <a:ext cx="10810879" cy="5791195"/>
          </a:xfrm>
        </p:spPr>
        <p:txBody>
          <a:bodyPr>
            <a:noAutofit/>
          </a:bodyPr>
          <a:p>
            <a:r>
              <a:rPr b="1" sz="4000"/>
              <a:t>Predictable reactions </a:t>
            </a:r>
            <a:r>
              <a:rPr sz="4000"/>
              <a:t>– based on pharmacological properties of the drug. Includes side effects, toxic effects and consequences of drug withdrawal. Are more common, dose related and preventable</a:t>
            </a:r>
            <a:endParaRPr sz="4000"/>
          </a:p>
          <a:p>
            <a:r>
              <a:rPr b="1" sz="4000"/>
              <a:t>Unpredictable reactions </a:t>
            </a:r>
            <a:r>
              <a:rPr sz="4000"/>
              <a:t>– these are based on peculiarities of the patient and not on the drugs known actions. Includes allergy and idiosyncrasy. Are less common, often non dose related, generally more serious and require withdrawal of the drug</a:t>
            </a:r>
            <a:endParaRPr sz="400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812" name=""/>
        <p:cNvGrpSpPr/>
        <p:nvPr/>
      </p:nvGrpSpPr>
      <p:grpSpPr>
        <a:xfrm>
          <a:off x="0" y="0"/>
          <a:ext cx="0" cy="0"/>
          <a:chOff x="0" y="0"/>
          <a:chExt cx="0" cy="0"/>
        </a:xfrm>
      </p:grpSpPr>
      <p:sp>
        <p:nvSpPr>
          <p:cNvPr id="1048893" name="Title 1"/>
          <p:cNvSpPr>
            <a:spLocks noGrp="1"/>
          </p:cNvSpPr>
          <p:nvPr>
            <p:ph type="title"/>
          </p:nvPr>
        </p:nvSpPr>
        <p:spPr/>
        <p:txBody>
          <a:bodyPr>
            <a:normAutofit/>
          </a:bodyPr>
          <a:p>
            <a:r>
              <a:t>Severity of adverse drug reactions has been graded as:</a:t>
            </a:r>
            <a:br/>
          </a:p>
        </p:txBody>
      </p:sp>
      <p:sp>
        <p:nvSpPr>
          <p:cNvPr id="1048894" name="Content Placeholder 2"/>
          <p:cNvSpPr>
            <a:spLocks noGrp="1"/>
          </p:cNvSpPr>
          <p:nvPr>
            <p:ph idx="1"/>
          </p:nvPr>
        </p:nvSpPr>
        <p:spPr>
          <a:xfrm>
            <a:off x="1009654" y="1485900"/>
            <a:ext cx="9658350" cy="5372100"/>
          </a:xfrm>
        </p:spPr>
        <p:txBody>
          <a:bodyPr>
            <a:noAutofit/>
          </a:bodyPr>
          <a:p>
            <a:r>
              <a:rPr b="1" sz="3600"/>
              <a:t>Minor </a:t>
            </a:r>
            <a:r>
              <a:rPr sz="3600"/>
              <a:t>– no therapy, antidote or prolongation of hospitalization required</a:t>
            </a:r>
            <a:endParaRPr sz="3600"/>
          </a:p>
          <a:p>
            <a:r>
              <a:rPr b="1" sz="3600"/>
              <a:t>Moderate </a:t>
            </a:r>
            <a:r>
              <a:rPr sz="3600"/>
              <a:t>– requires change in drug therapy, specific treatment or prolongs hospital stay</a:t>
            </a:r>
            <a:endParaRPr sz="3600"/>
          </a:p>
          <a:p>
            <a:r>
              <a:rPr b="1" sz="3600"/>
              <a:t>Severe </a:t>
            </a:r>
            <a:r>
              <a:rPr sz="3600"/>
              <a:t>– potentially life threatening, causes permanent damage, requires intensive medical treatment</a:t>
            </a:r>
            <a:endParaRPr sz="3600"/>
          </a:p>
          <a:p>
            <a:r>
              <a:rPr b="1" sz="3600"/>
              <a:t>Lethal </a:t>
            </a:r>
            <a:r>
              <a:rPr sz="3600"/>
              <a:t>– directly or indirectly contributes to death of the patient</a:t>
            </a:r>
            <a:endParaRPr sz="360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813" name=""/>
        <p:cNvGrpSpPr/>
        <p:nvPr/>
      </p:nvGrpSpPr>
      <p:grpSpPr>
        <a:xfrm>
          <a:off x="0" y="0"/>
          <a:ext cx="0" cy="0"/>
          <a:chOff x="0" y="0"/>
          <a:chExt cx="0" cy="0"/>
        </a:xfrm>
      </p:grpSpPr>
      <p:sp>
        <p:nvSpPr>
          <p:cNvPr id="1048895" name="Title 3"/>
          <p:cNvSpPr>
            <a:spLocks noGrp="1"/>
          </p:cNvSpPr>
          <p:nvPr>
            <p:ph type="title"/>
          </p:nvPr>
        </p:nvSpPr>
        <p:spPr>
          <a:xfrm>
            <a:off x="838204" y="365126"/>
            <a:ext cx="10515600" cy="815978"/>
          </a:xfrm>
        </p:spPr>
        <p:txBody>
          <a:bodyPr>
            <a:normAutofit/>
          </a:bodyPr>
          <a:p>
            <a:r>
              <a:t>Adverse drug effects can be minimized by</a:t>
            </a:r>
          </a:p>
        </p:txBody>
      </p:sp>
      <p:sp>
        <p:nvSpPr>
          <p:cNvPr id="1048896" name="Content Placeholder 2"/>
          <p:cNvSpPr>
            <a:spLocks noGrp="1"/>
          </p:cNvSpPr>
          <p:nvPr>
            <p:ph idx="1"/>
          </p:nvPr>
        </p:nvSpPr>
        <p:spPr>
          <a:xfrm>
            <a:off x="695329" y="1295404"/>
            <a:ext cx="10982329" cy="4830765"/>
          </a:xfrm>
        </p:spPr>
        <p:txBody>
          <a:bodyPr>
            <a:normAutofit/>
          </a:bodyPr>
          <a:p>
            <a:r>
              <a:rPr sz="3600"/>
              <a:t>Avoid inappropriate use of drugs in the patients’ clinical condition</a:t>
            </a:r>
            <a:endParaRPr sz="3600"/>
          </a:p>
          <a:p>
            <a:r>
              <a:rPr sz="3600"/>
              <a:t>Use appropriate dose, route, frequency of drug administration based on patients’ variables</a:t>
            </a:r>
            <a:endParaRPr sz="3600"/>
          </a:p>
          <a:p>
            <a:r>
              <a:rPr sz="3600"/>
              <a:t>Take history of previous drug reactions </a:t>
            </a:r>
            <a:endParaRPr sz="3600"/>
          </a:p>
          <a:p>
            <a:r>
              <a:rPr sz="3600"/>
              <a:t>Elicit history of drug allergy</a:t>
            </a:r>
            <a:endParaRPr sz="3600"/>
          </a:p>
          <a:p>
            <a:r>
              <a:rPr sz="3600"/>
              <a:t>Rule out possibility of drug interactions when more than one drug is prescribed</a:t>
            </a:r>
            <a:endParaRPr sz="3600"/>
          </a:p>
          <a:p>
            <a:r>
              <a:rPr sz="3600"/>
              <a:t>Adopt correct drug administration technique </a:t>
            </a:r>
            <a:r>
              <a:rPr sz="3600"/>
              <a:t>e.g</a:t>
            </a:r>
            <a:r>
              <a:rPr sz="3600"/>
              <a:t> aminophylline – slow IV</a:t>
            </a:r>
            <a:endParaRPr sz="3600"/>
          </a:p>
          <a:p>
            <a:r>
              <a:rPr sz="3600"/>
              <a:t>Carry out appropriate laboratory monitoring </a:t>
            </a:r>
            <a:r>
              <a:rPr sz="3600"/>
              <a:t>e.g</a:t>
            </a:r>
            <a:r>
              <a:rPr sz="3600"/>
              <a:t> serum lithium levels, prothrombin time</a:t>
            </a:r>
            <a:endParaRPr sz="3600"/>
          </a:p>
          <a:p>
            <a:endParaRPr sz="3600"/>
          </a:p>
          <a:p/>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814" name=""/>
        <p:cNvGrpSpPr/>
        <p:nvPr/>
      </p:nvGrpSpPr>
      <p:grpSpPr>
        <a:xfrm>
          <a:off x="0" y="0"/>
          <a:ext cx="0" cy="0"/>
          <a:chOff x="0" y="0"/>
          <a:chExt cx="0" cy="0"/>
        </a:xfrm>
      </p:grpSpPr>
      <p:sp>
        <p:nvSpPr>
          <p:cNvPr id="1048897" name="Title 1"/>
          <p:cNvSpPr>
            <a:spLocks noGrp="1"/>
          </p:cNvSpPr>
          <p:nvPr>
            <p:ph type="title"/>
          </p:nvPr>
        </p:nvSpPr>
        <p:spPr>
          <a:xfrm>
            <a:off x="1981204" y="274643"/>
            <a:ext cx="8229600" cy="792160"/>
          </a:xfrm>
        </p:spPr>
        <p:txBody>
          <a:bodyPr/>
          <a:p>
            <a:r>
              <a:t>TYPES OF ADR</a:t>
            </a:r>
          </a:p>
        </p:txBody>
      </p:sp>
      <p:sp>
        <p:nvSpPr>
          <p:cNvPr id="1048898" name="Content Placeholder 2"/>
          <p:cNvSpPr>
            <a:spLocks noGrp="1"/>
          </p:cNvSpPr>
          <p:nvPr>
            <p:ph idx="1"/>
          </p:nvPr>
        </p:nvSpPr>
        <p:spPr>
          <a:xfrm>
            <a:off x="1981204" y="990595"/>
            <a:ext cx="8229600" cy="5135560"/>
          </a:xfrm>
        </p:spPr>
        <p:txBody>
          <a:bodyPr>
            <a:normAutofit/>
          </a:bodyPr>
          <a:p>
            <a:r>
              <a:rPr sz="3600"/>
              <a:t>Side effects</a:t>
            </a:r>
            <a:endParaRPr sz="3600"/>
          </a:p>
          <a:p>
            <a:r>
              <a:rPr sz="3600"/>
              <a:t>Secondary effects</a:t>
            </a:r>
            <a:endParaRPr sz="3600"/>
          </a:p>
          <a:p>
            <a:r>
              <a:rPr sz="3600"/>
              <a:t>Toxic effects</a:t>
            </a:r>
            <a:endParaRPr sz="3600"/>
          </a:p>
          <a:p>
            <a:r>
              <a:rPr sz="3600"/>
              <a:t>Poisoning</a:t>
            </a:r>
            <a:endParaRPr sz="3600"/>
          </a:p>
          <a:p>
            <a:r>
              <a:rPr sz="3600"/>
              <a:t>Intolerance</a:t>
            </a:r>
            <a:endParaRPr sz="3600"/>
          </a:p>
          <a:p>
            <a:r>
              <a:rPr sz="3600"/>
              <a:t>Idiosyncrasy/idiopathic</a:t>
            </a:r>
            <a:endParaRPr sz="3600"/>
          </a:p>
          <a:p>
            <a:r>
              <a:rPr sz="3600"/>
              <a:t>Drug allergy</a:t>
            </a:r>
            <a:endParaRPr sz="3600"/>
          </a:p>
          <a:p>
            <a:r>
              <a:rPr sz="3600"/>
              <a:t>Photosensitivity</a:t>
            </a:r>
            <a:endParaRPr sz="3600"/>
          </a:p>
          <a:p>
            <a:r>
              <a:rPr sz="3600"/>
              <a:t>Drug dependence</a:t>
            </a:r>
            <a:endParaRPr sz="3600"/>
          </a:p>
          <a:p>
            <a:r>
              <a:rPr sz="3600"/>
              <a:t>Drug withdrawal reactions</a:t>
            </a:r>
            <a:endParaRPr sz="3600"/>
          </a:p>
          <a:p>
            <a:r>
              <a:rPr sz="3600"/>
              <a:t>Teratogenicity</a:t>
            </a:r>
            <a:endParaRPr sz="3600"/>
          </a:p>
          <a:p>
            <a:r>
              <a:rPr sz="3600"/>
              <a:t>Carcinogenicity and mutagenicity</a:t>
            </a:r>
            <a:endParaRPr sz="3600"/>
          </a:p>
          <a:p>
            <a:r>
              <a:rPr sz="3600"/>
              <a:t>Drug  induced diseases (iatrogenic)</a:t>
            </a:r>
            <a:endParaRPr sz="3600"/>
          </a:p>
          <a:p>
            <a:endParaRPr sz="3600"/>
          </a:p>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815" name=""/>
        <p:cNvGrpSpPr/>
        <p:nvPr/>
      </p:nvGrpSpPr>
      <p:grpSpPr>
        <a:xfrm>
          <a:off x="0" y="0"/>
          <a:ext cx="0" cy="0"/>
          <a:chOff x="0" y="0"/>
          <a:chExt cx="0" cy="0"/>
        </a:xfrm>
      </p:grpSpPr>
      <p:sp>
        <p:nvSpPr>
          <p:cNvPr id="1048899" name="Title 1"/>
          <p:cNvSpPr>
            <a:spLocks noGrp="1"/>
          </p:cNvSpPr>
          <p:nvPr>
            <p:ph type="title"/>
          </p:nvPr>
        </p:nvSpPr>
        <p:spPr/>
        <p:txBody>
          <a:bodyPr/>
          <a:p>
            <a:r>
              <a:rPr b="1" i="1"/>
              <a:t>Drug induced diseases (iatrogenic)</a:t>
            </a:r>
          </a:p>
        </p:txBody>
      </p:sp>
      <p:sp>
        <p:nvSpPr>
          <p:cNvPr id="1048900" name="Content Placeholder 2"/>
          <p:cNvSpPr>
            <a:spLocks noGrp="1"/>
          </p:cNvSpPr>
          <p:nvPr>
            <p:ph idx="1"/>
          </p:nvPr>
        </p:nvSpPr>
        <p:spPr/>
        <p:txBody>
          <a:bodyPr/>
          <a:p>
            <a:pPr>
              <a:buNone/>
            </a:pPr>
            <a:r>
              <a:rPr sz="4000"/>
              <a:t>  </a:t>
            </a:r>
            <a:r>
              <a:rPr b="1" sz="4000"/>
              <a:t>Refers to functional disturbances caused by drugs and persist even after causative drug is removed </a:t>
            </a:r>
            <a:r>
              <a:rPr sz="4000"/>
              <a:t>e.g</a:t>
            </a:r>
            <a:r>
              <a:rPr sz="4000"/>
              <a:t> peptic ulcer by </a:t>
            </a:r>
            <a:r>
              <a:rPr sz="4000"/>
              <a:t>salicylates</a:t>
            </a:r>
            <a:r>
              <a:rPr sz="4000"/>
              <a:t> </a:t>
            </a:r>
            <a:r>
              <a:rPr sz="4000"/>
              <a:t>e.g</a:t>
            </a:r>
            <a:r>
              <a:rPr sz="4000"/>
              <a:t> </a:t>
            </a:r>
            <a:r>
              <a:rPr sz="4000"/>
              <a:t>asprin</a:t>
            </a:r>
            <a:r>
              <a:rPr sz="4000"/>
              <a:t>, hepatitis by </a:t>
            </a:r>
            <a:r>
              <a:rPr sz="4000"/>
              <a:t>isoniazid</a:t>
            </a:r>
            <a:endParaRPr sz="4000"/>
          </a:p>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816" name=""/>
        <p:cNvGrpSpPr/>
        <p:nvPr/>
      </p:nvGrpSpPr>
      <p:grpSpPr>
        <a:xfrm>
          <a:off x="0" y="0"/>
          <a:ext cx="0" cy="0"/>
          <a:chOff x="0" y="0"/>
          <a:chExt cx="0" cy="0"/>
        </a:xfrm>
      </p:grpSpPr>
      <p:sp>
        <p:nvSpPr>
          <p:cNvPr id="1048901" name="Title 1"/>
          <p:cNvSpPr>
            <a:spLocks noGrp="1"/>
          </p:cNvSpPr>
          <p:nvPr>
            <p:ph type="title"/>
          </p:nvPr>
        </p:nvSpPr>
        <p:spPr/>
        <p:txBody>
          <a:bodyPr/>
          <a:p>
            <a:r>
              <a:t>CONCLUSION</a:t>
            </a:r>
          </a:p>
        </p:txBody>
      </p:sp>
      <p:sp>
        <p:nvSpPr>
          <p:cNvPr id="1048902" name="Content Placeholder 2"/>
          <p:cNvSpPr>
            <a:spLocks noGrp="1"/>
          </p:cNvSpPr>
          <p:nvPr>
            <p:ph idx="1"/>
          </p:nvPr>
        </p:nvSpPr>
        <p:spPr>
          <a:xfrm>
            <a:off x="285750" y="1825618"/>
            <a:ext cx="12039604" cy="4537076"/>
          </a:xfrm>
        </p:spPr>
        <p:txBody>
          <a:bodyPr>
            <a:normAutofit/>
          </a:bodyPr>
          <a:p>
            <a:pPr>
              <a:buNone/>
            </a:pPr>
            <a:r>
              <a:t>Pharmacodynamics</a:t>
            </a:r>
          </a:p>
          <a:p>
            <a:r>
              <a:t>Mechanism of drug action  (focus on receptors)</a:t>
            </a:r>
          </a:p>
          <a:p>
            <a:r>
              <a:t>Drug interactions / combined drug effects</a:t>
            </a:r>
          </a:p>
          <a:p>
            <a:r>
              <a:t>Factors modifying  drug action</a:t>
            </a:r>
          </a:p>
          <a:p/>
          <a:p>
            <a:pPr>
              <a:buNone/>
            </a:pPr>
            <a:r>
              <a:t>Pharmacokinetics</a:t>
            </a:r>
          </a:p>
          <a:p>
            <a:r>
              <a:t>Absorption</a:t>
            </a:r>
          </a:p>
          <a:p>
            <a:r>
              <a:t>Distribution/redistribution</a:t>
            </a:r>
          </a:p>
          <a:p>
            <a:r>
              <a:t>Metabolism</a:t>
            </a:r>
          </a:p>
          <a:p>
            <a:r>
              <a:t>Excretion and elimination</a:t>
            </a:r>
          </a:p>
          <a:p>
            <a:pPr>
              <a:buNone/>
            </a:pPr>
            <a:r>
              <a:t>Broad adverse drug reaction</a:t>
            </a:r>
          </a:p>
          <a:p/>
          <a:p>
            <a:pPr>
              <a:buNone/>
            </a:p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817" name=""/>
        <p:cNvGrpSpPr/>
        <p:nvPr/>
      </p:nvGrpSpPr>
      <p:grpSpPr>
        <a:xfrm>
          <a:off x="0" y="0"/>
          <a:ext cx="0" cy="0"/>
          <a:chOff x="0" y="0"/>
          <a:chExt cx="0" cy="0"/>
        </a:xfrm>
      </p:grpSpPr>
      <p:sp>
        <p:nvSpPr>
          <p:cNvPr id="1048903" name="Title 1"/>
          <p:cNvSpPr>
            <a:spLocks noGrp="1"/>
          </p:cNvSpPr>
          <p:nvPr>
            <p:ph type="title"/>
          </p:nvPr>
        </p:nvSpPr>
        <p:spPr/>
        <p:txBody>
          <a:bodyPr>
            <a:normAutofit/>
          </a:bodyPr>
          <a:p>
            <a:r>
              <a:t>              </a:t>
            </a:r>
            <a:r>
              <a:rPr b="1"/>
              <a:t>Administration of medication</a:t>
            </a:r>
            <a:endParaRPr b="1"/>
          </a:p>
        </p:txBody>
      </p:sp>
      <p:sp>
        <p:nvSpPr>
          <p:cNvPr id="1048904" name="Content Placeholder 2"/>
          <p:cNvSpPr>
            <a:spLocks noGrp="1"/>
          </p:cNvSpPr>
          <p:nvPr>
            <p:ph idx="1"/>
          </p:nvPr>
        </p:nvSpPr>
        <p:spPr/>
        <p:txBody>
          <a:bodyPr>
            <a:normAutofit/>
          </a:bodyPr>
          <a:p>
            <a:r>
              <a:t>Administration of medication involves all the activities related to safe drug use which are the </a:t>
            </a:r>
            <a:r>
              <a:rPr b="1"/>
              <a:t>nursing responsibilities</a:t>
            </a:r>
            <a:r>
              <a:t>.</a:t>
            </a:r>
          </a:p>
          <a:p>
            <a:pPr indent="-385762" marL="385762">
              <a:buFont typeface="+mj-lt"/>
              <a:buAutoNum type="arabicPeriod"/>
            </a:pPr>
            <a:r>
              <a:t>Assessing  the risk to a client of a new drug order.</a:t>
            </a:r>
          </a:p>
          <a:p>
            <a:pPr indent="-385762" marL="385762">
              <a:buFont typeface="+mj-lt"/>
              <a:buAutoNum type="arabicPeriod"/>
            </a:pPr>
            <a:r>
              <a:t>Delivering the drug dose to the proper body tissues.</a:t>
            </a:r>
          </a:p>
          <a:p>
            <a:pPr indent="-385762" marL="385762">
              <a:buFont typeface="+mj-lt"/>
              <a:buAutoNum type="arabicPeriod"/>
            </a:pPr>
            <a:r>
              <a:t>Assessing the client’s response to drug therapy.</a:t>
            </a:r>
          </a:p>
          <a:p>
            <a:pPr indent="-385762" marL="385762">
              <a:buFont typeface="+mj-lt"/>
              <a:buAutoNum type="arabicPeriod"/>
            </a:pPr>
            <a:r>
              <a:t>Treatment of adverse reactions to drugs.</a:t>
            </a:r>
          </a:p>
          <a:p>
            <a:pPr indent="-385762" marL="385762">
              <a:buFont typeface="+mj-lt"/>
              <a:buAutoNum type="arabicPeriod"/>
            </a:pPr>
            <a:r>
              <a:t>Consulting with the doctor about adjusting the prescribed regime. </a:t>
            </a:r>
          </a:p>
          <a:p>
            <a:pPr indent="-385762" marL="385762">
              <a:buFont typeface="+mj-lt"/>
              <a:buAutoNum type="arabicPeriod"/>
            </a:pPr>
            <a:r>
              <a:t>Educating the client about proper use of drugs substances.</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818" name=""/>
        <p:cNvGrpSpPr/>
        <p:nvPr/>
      </p:nvGrpSpPr>
      <p:grpSpPr>
        <a:xfrm>
          <a:off x="0" y="0"/>
          <a:ext cx="0" cy="0"/>
          <a:chOff x="0" y="0"/>
          <a:chExt cx="0" cy="0"/>
        </a:xfrm>
      </p:grpSpPr>
      <p:sp>
        <p:nvSpPr>
          <p:cNvPr id="1048905" name="Title 1"/>
          <p:cNvSpPr>
            <a:spLocks noGrp="1"/>
          </p:cNvSpPr>
          <p:nvPr>
            <p:ph type="title"/>
          </p:nvPr>
        </p:nvSpPr>
        <p:spPr/>
        <p:txBody>
          <a:bodyPr/>
          <a:p>
            <a:r>
              <a:t>PRINCIPLES OF DRUG ADMIN</a:t>
            </a:r>
          </a:p>
        </p:txBody>
      </p:sp>
      <p:sp>
        <p:nvSpPr>
          <p:cNvPr id="1048906" name="Content Placeholder 2"/>
          <p:cNvSpPr>
            <a:spLocks noGrp="1"/>
          </p:cNvSpPr>
          <p:nvPr>
            <p:ph idx="1"/>
          </p:nvPr>
        </p:nvSpPr>
        <p:spPr/>
        <p:txBody>
          <a:bodyPr>
            <a:normAutofit/>
          </a:bodyPr>
          <a:p>
            <a:r>
              <a:rPr sz="3600"/>
              <a:t>For a Nurse administration of medication is an important responsibility. To avoid errors  a nurse must adhere to the principles of drug administration.</a:t>
            </a:r>
            <a:endParaRPr sz="3600"/>
          </a:p>
          <a:p>
            <a:endParaRPr sz="3600"/>
          </a:p>
          <a:p>
            <a:r>
              <a:rPr sz="3600"/>
              <a:t>To provide safe administration of drugs a nurse should practice  the rights of drug administration</a:t>
            </a:r>
            <a:endParaRPr sz="360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819" name=""/>
        <p:cNvGrpSpPr/>
        <p:nvPr/>
      </p:nvGrpSpPr>
      <p:grpSpPr>
        <a:xfrm>
          <a:off x="0" y="0"/>
          <a:ext cx="0" cy="0"/>
          <a:chOff x="0" y="0"/>
          <a:chExt cx="0" cy="0"/>
        </a:xfrm>
      </p:grpSpPr>
      <p:sp>
        <p:nvSpPr>
          <p:cNvPr id="1048907" name="Title 1"/>
          <p:cNvSpPr>
            <a:spLocks noGrp="1"/>
          </p:cNvSpPr>
          <p:nvPr>
            <p:ph type="title"/>
          </p:nvPr>
        </p:nvSpPr>
        <p:spPr/>
        <p:txBody>
          <a:bodyPr>
            <a:normAutofit fontScale="92857"/>
          </a:bodyPr>
          <a:p>
            <a:br>
              <a:rPr b="1" sz="2800"/>
            </a:br>
            <a:r>
              <a:rPr b="1" sz="2800"/>
              <a:t>Application of Pharmacology in Nursing Practice</a:t>
            </a:r>
            <a:br>
              <a:rPr b="1" sz="2800"/>
            </a:br>
            <a:endParaRPr sz="2800"/>
          </a:p>
        </p:txBody>
      </p:sp>
      <p:sp>
        <p:nvSpPr>
          <p:cNvPr id="1048908" name="Content Placeholder 2"/>
          <p:cNvSpPr>
            <a:spLocks noGrp="1"/>
          </p:cNvSpPr>
          <p:nvPr>
            <p:ph idx="1"/>
          </p:nvPr>
        </p:nvSpPr>
        <p:spPr/>
        <p:txBody>
          <a:bodyPr>
            <a:normAutofit/>
          </a:bodyPr>
          <a:p>
            <a:pPr indent="0" marL="0">
              <a:buNone/>
            </a:pPr>
            <a:r>
              <a:rPr b="1"/>
              <a:t>Nurse’s “</a:t>
            </a:r>
            <a:r>
              <a:rPr b="1" i="1"/>
              <a:t>Five Rights of Drug Administration</a:t>
            </a:r>
            <a:r>
              <a:rPr b="1"/>
              <a:t>”</a:t>
            </a:r>
            <a:endParaRPr b="1"/>
          </a:p>
          <a:p>
            <a:pPr indent="0" marL="0">
              <a:buNone/>
            </a:pPr>
            <a:r>
              <a:t>– </a:t>
            </a:r>
            <a:r>
              <a:rPr b="1"/>
              <a:t>Use the RIGHT drug</a:t>
            </a:r>
            <a:endParaRPr b="1"/>
          </a:p>
          <a:p>
            <a:pPr indent="0" marL="0">
              <a:buNone/>
            </a:pPr>
            <a:r>
              <a:t>– </a:t>
            </a:r>
            <a:r>
              <a:rPr b="1"/>
              <a:t>Give to the RIGHT patient</a:t>
            </a:r>
            <a:endParaRPr b="1"/>
          </a:p>
          <a:p>
            <a:pPr indent="0" marL="0">
              <a:buNone/>
            </a:pPr>
            <a:r>
              <a:t>– </a:t>
            </a:r>
            <a:r>
              <a:rPr b="1"/>
              <a:t>Give the RIGHT dose</a:t>
            </a:r>
            <a:endParaRPr b="1"/>
          </a:p>
          <a:p>
            <a:pPr indent="0" marL="0">
              <a:buNone/>
            </a:pPr>
            <a:r>
              <a:t>– </a:t>
            </a:r>
            <a:r>
              <a:rPr b="1"/>
              <a:t>Give by the RIGHT route</a:t>
            </a:r>
            <a:endParaRPr b="1"/>
          </a:p>
          <a:p>
            <a:pPr indent="0" marL="0">
              <a:buNone/>
            </a:pPr>
            <a:r>
              <a:t>– </a:t>
            </a:r>
            <a:r>
              <a:rPr b="1"/>
              <a:t>Give at the RIGHT time</a:t>
            </a:r>
            <a:endParaRPr b="1"/>
          </a:p>
          <a:p>
            <a:pPr indent="0" marL="0">
              <a:buNone/>
            </a:pPr>
            <a:r>
              <a:rPr b="1"/>
              <a:t>Must also be ready to respond to interaction between drug and patient (i.e., must be aware of drug REACTIONS and SIDE EFFECTS</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820" name=""/>
        <p:cNvGrpSpPr/>
        <p:nvPr/>
      </p:nvGrpSpPr>
      <p:grpSpPr>
        <a:xfrm>
          <a:off x="0" y="0"/>
          <a:ext cx="0" cy="0"/>
          <a:chOff x="0" y="0"/>
          <a:chExt cx="0" cy="0"/>
        </a:xfrm>
      </p:grpSpPr>
      <p:sp>
        <p:nvSpPr>
          <p:cNvPr id="1048909" name="Title 1"/>
          <p:cNvSpPr>
            <a:spLocks noGrp="1"/>
          </p:cNvSpPr>
          <p:nvPr>
            <p:ph type="title"/>
          </p:nvPr>
        </p:nvSpPr>
        <p:spPr/>
        <p:txBody>
          <a:bodyPr/>
          <a:p>
            <a:r>
              <a:t> conti.</a:t>
            </a:r>
          </a:p>
        </p:txBody>
      </p:sp>
      <p:sp>
        <p:nvSpPr>
          <p:cNvPr id="1048910" name="Content Placeholder 2"/>
          <p:cNvSpPr>
            <a:spLocks noGrp="1"/>
          </p:cNvSpPr>
          <p:nvPr>
            <p:ph idx="1"/>
          </p:nvPr>
        </p:nvSpPr>
        <p:spPr>
          <a:xfrm>
            <a:off x="752479" y="1417643"/>
            <a:ext cx="10820395" cy="5165726"/>
          </a:xfrm>
        </p:spPr>
        <p:txBody>
          <a:bodyPr>
            <a:normAutofit/>
          </a:bodyPr>
          <a:p>
            <a:pPr indent="0" marL="0">
              <a:buNone/>
            </a:pPr>
            <a:r>
              <a:rPr sz="3300"/>
              <a:t>Five additional right  are essential in professional nursing practice. they are</a:t>
            </a:r>
            <a:endParaRPr sz="3300"/>
          </a:p>
          <a:p>
            <a:pPr indent="-385762" marL="385762">
              <a:buFont typeface="+mj-lt"/>
              <a:buAutoNum type="arabicPeriod"/>
            </a:pPr>
            <a:r>
              <a:rPr sz="3300"/>
              <a:t>The right assessment e.g. patients ability to swallow, allergies, contraindication, new signs and symptoms that may indicate adverse effects of administration, heart, liver or kidney disorders. </a:t>
            </a:r>
            <a:endParaRPr sz="3300"/>
          </a:p>
          <a:p>
            <a:pPr indent="-385762" marL="385762">
              <a:buFont typeface="+mj-lt"/>
              <a:buAutoNum type="arabicPeriod"/>
            </a:pPr>
            <a:r>
              <a:rPr sz="3300"/>
              <a:t>The right documentation.</a:t>
            </a:r>
            <a:endParaRPr sz="3300"/>
          </a:p>
          <a:p>
            <a:pPr indent="-385762" marL="385762">
              <a:buFont typeface="+mj-lt"/>
              <a:buAutoNum type="arabicPeriod"/>
            </a:pPr>
            <a:r>
              <a:rPr sz="3300"/>
              <a:t>The clients right to information  of name, purpose, action and potential side effects. </a:t>
            </a:r>
            <a:endParaRPr sz="3300"/>
          </a:p>
          <a:p>
            <a:pPr indent="-385762" marL="385762">
              <a:buFont typeface="+mj-lt"/>
              <a:buAutoNum type="arabicPeriod"/>
            </a:pPr>
            <a:r>
              <a:rPr sz="3300"/>
              <a:t>The right evaluation.</a:t>
            </a:r>
            <a:endParaRPr sz="3300"/>
          </a:p>
          <a:p>
            <a:pPr indent="-385762" marL="385762">
              <a:buFont typeface="+mj-lt"/>
              <a:buAutoNum type="arabicPeriod"/>
            </a:pPr>
            <a:r>
              <a:rPr sz="3300"/>
              <a:t>The clients right to refuse medication regardless of the consequences. </a:t>
            </a:r>
            <a:endParaRPr sz="3300"/>
          </a:p>
          <a:p>
            <a:pPr indent="0" marL="0">
              <a:buNone/>
            </a:p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821" name=""/>
        <p:cNvGrpSpPr/>
        <p:nvPr/>
      </p:nvGrpSpPr>
      <p:grpSpPr>
        <a:xfrm>
          <a:off x="0" y="0"/>
          <a:ext cx="0" cy="0"/>
          <a:chOff x="0" y="0"/>
          <a:chExt cx="0" cy="0"/>
        </a:xfrm>
      </p:grpSpPr>
      <p:sp>
        <p:nvSpPr>
          <p:cNvPr id="1048911" name="Title 1"/>
          <p:cNvSpPr>
            <a:spLocks noGrp="1"/>
          </p:cNvSpPr>
          <p:nvPr>
            <p:ph type="title"/>
          </p:nvPr>
        </p:nvSpPr>
        <p:spPr/>
        <p:txBody>
          <a:bodyPr>
            <a:normAutofit/>
          </a:bodyPr>
          <a:p>
            <a:r>
              <a:rPr b="1" i="1"/>
              <a:t>Nurse must have knowledge of…</a:t>
            </a:r>
          </a:p>
        </p:txBody>
      </p:sp>
      <p:sp>
        <p:nvSpPr>
          <p:cNvPr id="1048912" name="Content Placeholder 2"/>
          <p:cNvSpPr>
            <a:spLocks noGrp="1"/>
          </p:cNvSpPr>
          <p:nvPr>
            <p:ph idx="1"/>
          </p:nvPr>
        </p:nvSpPr>
        <p:spPr>
          <a:xfrm>
            <a:off x="647695" y="1600200"/>
            <a:ext cx="11153779" cy="5105395"/>
          </a:xfrm>
        </p:spPr>
        <p:txBody>
          <a:bodyPr>
            <a:normAutofit fontScale="89286" lnSpcReduction="20000"/>
          </a:bodyPr>
          <a:p>
            <a:r>
              <a:rPr b="1"/>
              <a:t>Patient history and drug usage</a:t>
            </a:r>
            <a:endParaRPr b="1"/>
          </a:p>
          <a:p>
            <a:r>
              <a:rPr b="1"/>
              <a:t>What medications are appropriate and be aware of drug interactions (cooperation between doctor, pharmacist and nurse a must)</a:t>
            </a:r>
            <a:endParaRPr b="1"/>
          </a:p>
          <a:p>
            <a:r>
              <a:rPr b="1"/>
              <a:t>Drug actions and look for abnormal effects</a:t>
            </a:r>
            <a:endParaRPr b="1"/>
          </a:p>
          <a:p>
            <a:r>
              <a:rPr b="1"/>
              <a:t>How to be a patient advocate- check for mistakes on part of doctor or pharmacist!!</a:t>
            </a:r>
            <a:endParaRPr b="1"/>
          </a:p>
          <a:p>
            <a:r>
              <a:rPr b="1"/>
              <a:t>Do NOT blindly follow </a:t>
            </a:r>
            <a:r>
              <a:rPr b="1"/>
              <a:t>Dr’s</a:t>
            </a:r>
            <a:r>
              <a:rPr b="1"/>
              <a:t> orders-- THINK and respond to errors [ do not be intimidated]</a:t>
            </a:r>
            <a:endParaRPr b="1"/>
          </a:p>
          <a:p>
            <a:r>
              <a:rPr b="1" i="1"/>
              <a:t>Patient Care</a:t>
            </a:r>
            <a:endParaRPr b="1" i="1"/>
          </a:p>
          <a:p>
            <a:r>
              <a:rPr b="1"/>
              <a:t>Pre-administration Assessment</a:t>
            </a:r>
            <a:endParaRPr b="1"/>
          </a:p>
          <a:p>
            <a:r>
              <a:rPr b="1"/>
              <a:t>Collecting baseline data to evaluate therapeutic and adverse responses (e.g., get blood pressure data and cell counts to use to determine whether drugs are effective)</a:t>
            </a:r>
            <a:endParaRPr b="1"/>
          </a:p>
          <a:p>
            <a:r>
              <a:rPr b="1"/>
              <a:t>Identifying high-risk patients (e.g., liver/kidney dysfunction, genetic factors, allergies, pregnancy, old age and extreme youth)</a:t>
            </a:r>
            <a:endParaRPr b="1"/>
          </a:p>
          <a:p>
            <a:r>
              <a:rPr b="1"/>
              <a:t>Assessing the patient’s capacity for self-care (can they follow directions on their own)</a:t>
            </a:r>
            <a:endParaRPr b="1"/>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822" name=""/>
        <p:cNvGrpSpPr/>
        <p:nvPr/>
      </p:nvGrpSpPr>
      <p:grpSpPr>
        <a:xfrm>
          <a:off x="0" y="0"/>
          <a:ext cx="0" cy="0"/>
          <a:chOff x="0" y="0"/>
          <a:chExt cx="0" cy="0"/>
        </a:xfrm>
      </p:grpSpPr>
      <p:sp>
        <p:nvSpPr>
          <p:cNvPr id="1048913" name="Title 1"/>
          <p:cNvSpPr>
            <a:spLocks noGrp="1"/>
          </p:cNvSpPr>
          <p:nvPr>
            <p:ph type="title"/>
          </p:nvPr>
        </p:nvSpPr>
        <p:spPr/>
        <p:txBody>
          <a:bodyPr>
            <a:normAutofit/>
          </a:bodyPr>
          <a:p>
            <a:r>
              <a:rPr b="1" sz="2800"/>
              <a:t>Guidelines to help ensure correct administration</a:t>
            </a:r>
            <a:endParaRPr sz="2800"/>
          </a:p>
        </p:txBody>
      </p:sp>
      <p:sp>
        <p:nvSpPr>
          <p:cNvPr id="1048914" name="Content Placeholder 2"/>
          <p:cNvSpPr>
            <a:spLocks noGrp="1"/>
          </p:cNvSpPr>
          <p:nvPr>
            <p:ph idx="1"/>
          </p:nvPr>
        </p:nvSpPr>
        <p:spPr/>
        <p:txBody>
          <a:bodyPr>
            <a:normAutofit/>
          </a:bodyPr>
          <a:p>
            <a:r>
              <a:rPr b="1"/>
              <a:t>Read medication order carefully- verify</a:t>
            </a:r>
            <a:endParaRPr b="1"/>
          </a:p>
          <a:p>
            <a:r>
              <a:rPr b="1"/>
              <a:t>Verify identity of patient with drug order</a:t>
            </a:r>
            <a:endParaRPr b="1"/>
          </a:p>
          <a:p>
            <a:pPr lvl="1"/>
            <a:r>
              <a:rPr b="1"/>
              <a:t>Read medication label &amp; verify</a:t>
            </a:r>
            <a:endParaRPr b="1"/>
          </a:p>
          <a:p>
            <a:pPr lvl="1"/>
            <a:r>
              <a:rPr b="1"/>
              <a:t>Drug itself</a:t>
            </a:r>
            <a:endParaRPr b="1"/>
          </a:p>
          <a:p>
            <a:pPr lvl="1"/>
            <a:r>
              <a:rPr b="1"/>
              <a:t>Amount of drug (per tablet, per volume</a:t>
            </a:r>
            <a:endParaRPr b="1"/>
          </a:p>
          <a:p>
            <a:pPr lvl="1"/>
            <a:r>
              <a:rPr b="1"/>
              <a:t>Verify suitability for administration by intended route</a:t>
            </a:r>
            <a:endParaRPr b="1"/>
          </a:p>
          <a:p>
            <a:pPr lvl="1"/>
            <a:r>
              <a:rPr b="1"/>
              <a:t>Verify dosage calculations</a:t>
            </a:r>
            <a:endParaRPr b="1"/>
          </a:p>
          <a:p>
            <a:pPr lvl="1"/>
            <a:r>
              <a:rPr b="1"/>
              <a:t>Use special handling if drug requires</a:t>
            </a:r>
            <a:endParaRPr b="1"/>
          </a:p>
          <a:p>
            <a:pPr indent="0" marL="0">
              <a:buNone/>
            </a:pPr>
            <a:r>
              <a:rPr b="1" i="1"/>
              <a:t>DO NOT ADMINISTER ANY DRUG IF YOU DO NOT UNDERSTAND THE REASON FOR ITS USE</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823" name=""/>
        <p:cNvGrpSpPr/>
        <p:nvPr/>
      </p:nvGrpSpPr>
      <p:grpSpPr>
        <a:xfrm>
          <a:off x="0" y="0"/>
          <a:ext cx="0" cy="0"/>
          <a:chOff x="0" y="0"/>
          <a:chExt cx="0" cy="0"/>
        </a:xfrm>
      </p:grpSpPr>
      <p:sp>
        <p:nvSpPr>
          <p:cNvPr id="1048915" name="Title 1"/>
          <p:cNvSpPr>
            <a:spLocks noGrp="1"/>
          </p:cNvSpPr>
          <p:nvPr>
            <p:ph type="title"/>
          </p:nvPr>
        </p:nvSpPr>
        <p:spPr/>
        <p:txBody>
          <a:bodyPr>
            <a:normAutofit/>
          </a:bodyPr>
          <a:p>
            <a:r>
              <a:rPr b="1"/>
              <a:t>Evaluating and Promoting Therapeutic Effects</a:t>
            </a:r>
          </a:p>
        </p:txBody>
      </p:sp>
      <p:sp>
        <p:nvSpPr>
          <p:cNvPr id="1048916" name="Content Placeholder 2"/>
          <p:cNvSpPr>
            <a:spLocks noGrp="1"/>
          </p:cNvSpPr>
          <p:nvPr>
            <p:ph idx="1"/>
          </p:nvPr>
        </p:nvSpPr>
        <p:spPr>
          <a:xfrm>
            <a:off x="485775" y="1552579"/>
            <a:ext cx="10868029" cy="5153029"/>
          </a:xfrm>
        </p:spPr>
        <p:txBody>
          <a:bodyPr>
            <a:normAutofit fontScale="87500" lnSpcReduction="20000"/>
          </a:bodyPr>
          <a:p>
            <a:pPr indent="0" marL="0">
              <a:buNone/>
            </a:pPr>
            <a:r>
              <a:t>Is the drug doing the right thing</a:t>
            </a:r>
          </a:p>
          <a:p>
            <a:r>
              <a:rPr b="1"/>
              <a:t>Must know rationale for treatment and the nature and time course of desired response</a:t>
            </a:r>
            <a:endParaRPr b="1"/>
          </a:p>
          <a:p>
            <a:r>
              <a:t> </a:t>
            </a:r>
            <a:r>
              <a:rPr b="1"/>
              <a:t>Even if patient gains beneficial responses, must be aware of what drug is supposed to do, because it still might end up badly </a:t>
            </a:r>
            <a:r>
              <a:rPr b="1"/>
              <a:t>e.g</a:t>
            </a:r>
            <a:endParaRPr b="1"/>
          </a:p>
          <a:p>
            <a:pPr lvl="1"/>
            <a:r>
              <a:rPr b="1"/>
              <a:t>Nifedipine</a:t>
            </a:r>
            <a:r>
              <a:rPr b="1"/>
              <a:t>: given for hypertension &amp; angina pectoris: when given to treat hypertension should monitor for reduction in blood pressure; if used for treatment of angina, need to monitor for reduction in chest pain</a:t>
            </a:r>
            <a:endParaRPr b="1"/>
          </a:p>
          <a:p>
            <a:pPr indent="0" marL="0">
              <a:buNone/>
            </a:pPr>
            <a:r>
              <a:t>Promote Compliance</a:t>
            </a:r>
          </a:p>
          <a:p>
            <a:r>
              <a:rPr b="1"/>
              <a:t>Drugs must be taken correctly</a:t>
            </a:r>
            <a:endParaRPr b="1"/>
          </a:p>
          <a:p>
            <a:r>
              <a:rPr b="1"/>
              <a:t>Educate patients to how to self medicate with specific instructions</a:t>
            </a:r>
            <a:endParaRPr b="1"/>
          </a:p>
          <a:p>
            <a:r>
              <a:rPr b="1"/>
              <a:t>If elderly must also give instructions to another responsible party (elderly might not like this!)</a:t>
            </a:r>
            <a:endParaRPr b="1"/>
          </a:p>
          <a:p>
            <a:r>
              <a:rPr b="1"/>
              <a:t>Implement Non-drug measures to enhance drug effects </a:t>
            </a:r>
            <a:r>
              <a:rPr b="1"/>
              <a:t>e.g</a:t>
            </a:r>
            <a:r>
              <a:rPr b="1"/>
              <a:t> Breathing exercises, biofeedback, emotional support, exercise, physical therapy, rest, weight reduction, stop smoking, and sodium restriction (must evaluate individual patient for specific needs)</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824" name=""/>
        <p:cNvGrpSpPr/>
        <p:nvPr/>
      </p:nvGrpSpPr>
      <p:grpSpPr>
        <a:xfrm>
          <a:off x="0" y="0"/>
          <a:ext cx="0" cy="0"/>
          <a:chOff x="0" y="0"/>
          <a:chExt cx="0" cy="0"/>
        </a:xfrm>
      </p:grpSpPr>
      <p:sp>
        <p:nvSpPr>
          <p:cNvPr id="1048917" name="Title 1"/>
          <p:cNvSpPr>
            <a:spLocks noGrp="1"/>
          </p:cNvSpPr>
          <p:nvPr>
            <p:ph type="title"/>
          </p:nvPr>
        </p:nvSpPr>
        <p:spPr/>
        <p:txBody>
          <a:bodyPr/>
          <a:p>
            <a:r>
              <a:t>Promoting therapeutic effect </a:t>
            </a:r>
            <a:r>
              <a:t>cont</a:t>
            </a:r>
            <a:r>
              <a:t>’</a:t>
            </a:r>
          </a:p>
        </p:txBody>
      </p:sp>
      <p:sp>
        <p:nvSpPr>
          <p:cNvPr id="1048918" name="Content Placeholder 2"/>
          <p:cNvSpPr>
            <a:spLocks noGrp="1"/>
          </p:cNvSpPr>
          <p:nvPr>
            <p:ph idx="1"/>
          </p:nvPr>
        </p:nvSpPr>
        <p:spPr>
          <a:xfrm>
            <a:off x="838204" y="1466854"/>
            <a:ext cx="10515600" cy="5026018"/>
          </a:xfrm>
        </p:spPr>
        <p:txBody>
          <a:bodyPr>
            <a:normAutofit/>
          </a:bodyPr>
          <a:p>
            <a:pPr indent="0" marL="0">
              <a:buNone/>
            </a:pPr>
            <a:r>
              <a:t>Minimize Adverse Effects</a:t>
            </a:r>
          </a:p>
          <a:p>
            <a:r>
              <a:t>Know patient history</a:t>
            </a:r>
          </a:p>
          <a:p>
            <a:r>
              <a:t>Understand disease and treatment and what drug is supposed to do (again, do not give drug blindly!!!)</a:t>
            </a:r>
          </a:p>
          <a:p>
            <a:r>
              <a:t>Identify high risk patient</a:t>
            </a:r>
          </a:p>
          <a:p>
            <a:r>
              <a:t>Educate patient</a:t>
            </a:r>
          </a:p>
          <a:p>
            <a:r>
              <a:t>Know adverse effects of drug and educate patient to these</a:t>
            </a:r>
          </a:p>
          <a:p>
            <a:r>
              <a:t>Know drug interactions with other medications</a:t>
            </a:r>
          </a:p>
          <a:p>
            <a:r>
              <a:t>PRN (</a:t>
            </a:r>
            <a:r>
              <a:rPr i="1"/>
              <a:t>pro re </a:t>
            </a:r>
            <a:r>
              <a:rPr i="1"/>
              <a:t>nata</a:t>
            </a:r>
            <a:r>
              <a:rPr i="1"/>
              <a:t> </a:t>
            </a:r>
            <a:r>
              <a:t>= as needed or as occasion arises)Decisions</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825" name=""/>
        <p:cNvGrpSpPr/>
        <p:nvPr/>
      </p:nvGrpSpPr>
      <p:grpSpPr>
        <a:xfrm>
          <a:off x="0" y="0"/>
          <a:ext cx="0" cy="0"/>
          <a:chOff x="0" y="0"/>
          <a:chExt cx="0" cy="0"/>
        </a:xfrm>
      </p:grpSpPr>
      <p:sp>
        <p:nvSpPr>
          <p:cNvPr id="1048919" name="Title 1"/>
          <p:cNvSpPr>
            <a:spLocks noGrp="1"/>
          </p:cNvSpPr>
          <p:nvPr>
            <p:ph type="title"/>
          </p:nvPr>
        </p:nvSpPr>
        <p:spPr/>
        <p:txBody>
          <a:bodyPr>
            <a:normAutofit/>
          </a:bodyPr>
          <a:p>
            <a:r>
              <a:t>Patient Education on drugs</a:t>
            </a:r>
          </a:p>
        </p:txBody>
      </p:sp>
      <p:sp>
        <p:nvSpPr>
          <p:cNvPr id="1048920" name="Content Placeholder 2"/>
          <p:cNvSpPr>
            <a:spLocks noGrp="1"/>
          </p:cNvSpPr>
          <p:nvPr>
            <p:ph idx="1"/>
          </p:nvPr>
        </p:nvSpPr>
        <p:spPr>
          <a:xfrm>
            <a:off x="838204" y="1504945"/>
            <a:ext cx="10515600" cy="4987928"/>
          </a:xfrm>
        </p:spPr>
        <p:txBody>
          <a:bodyPr>
            <a:normAutofit fontScale="85714" lnSpcReduction="20000"/>
          </a:bodyPr>
          <a:p>
            <a:pPr indent="0" marL="0">
              <a:buNone/>
            </a:pPr>
            <a:r>
              <a:rPr b="1"/>
              <a:t>Drug name and therapeutic category (penicillin &amp; antibiotic)- give generic name and trade name</a:t>
            </a:r>
            <a:endParaRPr b="1"/>
          </a:p>
          <a:p>
            <a:r>
              <a:rPr b="1"/>
              <a:t>Dosage size</a:t>
            </a:r>
            <a:endParaRPr b="1"/>
          </a:p>
          <a:p>
            <a:r>
              <a:rPr b="1"/>
              <a:t>Dosing schedule (PRN not fixed)-what to do if missed?</a:t>
            </a:r>
            <a:endParaRPr b="1"/>
          </a:p>
          <a:p>
            <a:r>
              <a:rPr b="1"/>
              <a:t>Route and technique of administration taught</a:t>
            </a:r>
            <a:endParaRPr b="1"/>
          </a:p>
          <a:p>
            <a:r>
              <a:rPr b="1"/>
              <a:t>Expected therapeutic response and when it should develop</a:t>
            </a:r>
            <a:endParaRPr b="1"/>
          </a:p>
          <a:p>
            <a:r>
              <a:rPr b="1"/>
              <a:t>Non drug measures to enhance therapeutic responses</a:t>
            </a:r>
            <a:endParaRPr b="1"/>
          </a:p>
          <a:p>
            <a:r>
              <a:rPr b="1"/>
              <a:t>Duration of treatment</a:t>
            </a:r>
            <a:endParaRPr b="1"/>
          </a:p>
          <a:p>
            <a:r>
              <a:rPr b="1"/>
              <a:t>Method of drug storage</a:t>
            </a:r>
            <a:endParaRPr b="1"/>
          </a:p>
          <a:p>
            <a:r>
              <a:rPr b="1"/>
              <a:t>Symptoms of major adverse effects, and measures to minimize discomfort and harm</a:t>
            </a:r>
            <a:endParaRPr b="1"/>
          </a:p>
          <a:p>
            <a:r>
              <a:rPr b="1"/>
              <a:t>Major adverse drug-drug and drug-food interactions (along with Pharmacist)</a:t>
            </a:r>
            <a:endParaRPr b="1"/>
          </a:p>
          <a:p>
            <a:r>
              <a:rPr b="1"/>
              <a:t>Whom to contact in the event of therapeutic failure, severe adverse reactions, or severe adverse interactions</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826" name=""/>
        <p:cNvGrpSpPr/>
        <p:nvPr/>
      </p:nvGrpSpPr>
      <p:grpSpPr>
        <a:xfrm>
          <a:off x="0" y="0"/>
          <a:ext cx="0" cy="0"/>
          <a:chOff x="0" y="0"/>
          <a:chExt cx="0" cy="0"/>
        </a:xfrm>
      </p:grpSpPr>
      <p:sp>
        <p:nvSpPr>
          <p:cNvPr id="1048921" name="Title 1"/>
          <p:cNvSpPr>
            <a:spLocks noGrp="1"/>
          </p:cNvSpPr>
          <p:nvPr>
            <p:ph type="title"/>
          </p:nvPr>
        </p:nvSpPr>
        <p:spPr/>
        <p:txBody>
          <a:bodyPr>
            <a:normAutofit/>
          </a:bodyPr>
          <a:p>
            <a:r>
              <a:t>Pharmacology and the Nursing Process</a:t>
            </a:r>
          </a:p>
        </p:txBody>
      </p:sp>
      <p:sp>
        <p:nvSpPr>
          <p:cNvPr id="1048922" name="Content Placeholder 2"/>
          <p:cNvSpPr>
            <a:spLocks noGrp="1"/>
          </p:cNvSpPr>
          <p:nvPr>
            <p:ph idx="1"/>
          </p:nvPr>
        </p:nvSpPr>
        <p:spPr>
          <a:xfrm>
            <a:off x="838204" y="1825618"/>
            <a:ext cx="10515600" cy="4879976"/>
          </a:xfrm>
        </p:spPr>
        <p:txBody>
          <a:bodyPr>
            <a:normAutofit/>
          </a:bodyPr>
          <a:p>
            <a:pPr indent="0" marL="0">
              <a:buNone/>
            </a:pPr>
            <a:r>
              <a:rPr sz="3600"/>
              <a:t>Nursing Process-- 5 steps</a:t>
            </a:r>
            <a:endParaRPr sz="3600"/>
          </a:p>
          <a:p>
            <a:r>
              <a:rPr sz="3600"/>
              <a:t>Assessment</a:t>
            </a:r>
            <a:endParaRPr sz="3600"/>
          </a:p>
          <a:p>
            <a:r>
              <a:rPr sz="3600"/>
              <a:t>Analysis (nursing diagnosis: you see patient first)</a:t>
            </a:r>
            <a:endParaRPr sz="3600"/>
          </a:p>
          <a:p>
            <a:r>
              <a:rPr sz="3600"/>
              <a:t>Planning- individual for each patient</a:t>
            </a:r>
            <a:endParaRPr sz="3600"/>
          </a:p>
          <a:p>
            <a:r>
              <a:rPr sz="3600"/>
              <a:t>Implementation- some collaborative with physician and others are independent</a:t>
            </a:r>
            <a:endParaRPr sz="3600"/>
          </a:p>
          <a:p>
            <a:r>
              <a:rPr sz="3600"/>
              <a:t>Evaluation- degree to which drug therapy is successful</a:t>
            </a:r>
            <a:endParaRPr sz="360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827" name=""/>
        <p:cNvGrpSpPr/>
        <p:nvPr/>
      </p:nvGrpSpPr>
      <p:grpSpPr>
        <a:xfrm>
          <a:off x="0" y="0"/>
          <a:ext cx="0" cy="0"/>
          <a:chOff x="0" y="0"/>
          <a:chExt cx="0" cy="0"/>
        </a:xfrm>
      </p:grpSpPr>
      <p:sp>
        <p:nvSpPr>
          <p:cNvPr id="1048923" name="Title 1"/>
          <p:cNvSpPr>
            <a:spLocks noGrp="1"/>
          </p:cNvSpPr>
          <p:nvPr>
            <p:ph type="title"/>
          </p:nvPr>
        </p:nvSpPr>
        <p:spPr/>
        <p:txBody>
          <a:bodyPr>
            <a:normAutofit/>
          </a:bodyPr>
          <a:p>
            <a:r>
              <a:rPr b="1"/>
              <a:t>Pre administration Assessment</a:t>
            </a:r>
          </a:p>
        </p:txBody>
      </p:sp>
      <p:sp>
        <p:nvSpPr>
          <p:cNvPr id="1048924" name="Content Placeholder 2"/>
          <p:cNvSpPr>
            <a:spLocks noGrp="1"/>
          </p:cNvSpPr>
          <p:nvPr>
            <p:ph idx="1"/>
          </p:nvPr>
        </p:nvSpPr>
        <p:spPr>
          <a:xfrm>
            <a:off x="390520" y="1600200"/>
            <a:ext cx="11306170" cy="5029200"/>
          </a:xfrm>
        </p:spPr>
        <p:txBody>
          <a:bodyPr>
            <a:normAutofit fontScale="70833" lnSpcReduction="20000"/>
          </a:bodyPr>
          <a:p>
            <a:r>
              <a:rPr b="1"/>
              <a:t>Establishes the baseline data needed to tailor drug therapy to the individual patient:</a:t>
            </a:r>
            <a:endParaRPr b="1"/>
          </a:p>
          <a:p>
            <a:pPr lvl="1"/>
            <a:r>
              <a:rPr b="1"/>
              <a:t>Maximizes benefits and minimizes harmful effects</a:t>
            </a:r>
            <a:endParaRPr b="1"/>
          </a:p>
          <a:p>
            <a:r>
              <a:rPr b="1"/>
              <a:t>Collection of baseline data needed to evaluate therapeutic responses- beneficial</a:t>
            </a:r>
            <a:r>
              <a:t>: know the symptoms so you know what baseline data to collect</a:t>
            </a:r>
          </a:p>
          <a:p>
            <a:pPr lvl="1"/>
            <a:r>
              <a:rPr b="1"/>
              <a:t>Blood chemistry profiles</a:t>
            </a:r>
            <a:endParaRPr b="1"/>
          </a:p>
          <a:p>
            <a:pPr lvl="1"/>
            <a:r>
              <a:rPr b="1"/>
              <a:t>Blood pressure</a:t>
            </a:r>
            <a:endParaRPr b="1"/>
          </a:p>
          <a:p>
            <a:pPr lvl="1"/>
            <a:r>
              <a:rPr b="1"/>
              <a:t>Organ enzyme levels (heart, liver, kidney,…)</a:t>
            </a:r>
            <a:r>
              <a:t> </a:t>
            </a:r>
          </a:p>
          <a:p>
            <a:r>
              <a:rPr b="1"/>
              <a:t>Collection of baseline data needed to evaluate adverse effects: Even without baseline data, adverse affects may be obvious (hair loss, pain, vomiting, insomnia,…) </a:t>
            </a:r>
            <a:r>
              <a:t> </a:t>
            </a:r>
            <a:r>
              <a:rPr b="1"/>
              <a:t>Less obvious are organ functions (i.e., liver, kidney, …)</a:t>
            </a:r>
            <a:endParaRPr b="1"/>
          </a:p>
          <a:p>
            <a:r>
              <a:rPr b="1"/>
              <a:t>Identification of high risk patients:</a:t>
            </a:r>
            <a:endParaRPr b="1"/>
          </a:p>
          <a:p>
            <a:r>
              <a:rPr b="1"/>
              <a:t>Assessment of patient’s capacity for self-care-</a:t>
            </a:r>
            <a:endParaRPr b="1"/>
          </a:p>
          <a:p>
            <a:pPr lvl="1"/>
            <a:r>
              <a:rPr b="1"/>
              <a:t>Must be willing and able to administer drugs in correct dosage and at correct time</a:t>
            </a:r>
            <a:endParaRPr b="1"/>
          </a:p>
          <a:p>
            <a:pPr lvl="1"/>
            <a:r>
              <a:rPr b="1"/>
              <a:t>Evaluate patient intelligence</a:t>
            </a:r>
            <a:endParaRPr b="1"/>
          </a:p>
          <a:p>
            <a:pPr lvl="1"/>
            <a:r>
              <a:rPr b="1"/>
              <a:t>Patient physical capacity to self administer</a:t>
            </a:r>
            <a:endParaRPr b="1"/>
          </a:p>
          <a:p>
            <a:pPr lvl="1"/>
            <a:r>
              <a:rPr b="1"/>
              <a:t>Mental illness (will they take drug?)</a:t>
            </a:r>
            <a:endParaRPr b="1"/>
          </a:p>
          <a:p>
            <a:pPr lvl="1"/>
            <a:r>
              <a:rPr b="1"/>
              <a:t>Financial ability to pay for and get drug</a:t>
            </a:r>
            <a:endParaRPr b="1"/>
          </a:p>
          <a:p>
            <a:pPr lvl="1"/>
            <a:r>
              <a:rPr b="1"/>
              <a:t>Religious beliefs concerning drugs and medications</a:t>
            </a:r>
            <a:endParaRPr b="1"/>
          </a:p>
          <a:p>
            <a:pPr lvl="1"/>
            <a:r>
              <a:rPr b="1"/>
              <a:t>Understanding of patient that drug is needed in prescribed amount (even when they feel better)</a:t>
            </a:r>
            <a:endParaRPr b="1"/>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828" name=""/>
        <p:cNvGrpSpPr/>
        <p:nvPr/>
      </p:nvGrpSpPr>
      <p:grpSpPr>
        <a:xfrm>
          <a:off x="0" y="0"/>
          <a:ext cx="0" cy="0"/>
          <a:chOff x="0" y="0"/>
          <a:chExt cx="0" cy="0"/>
        </a:xfrm>
      </p:grpSpPr>
      <p:sp>
        <p:nvSpPr>
          <p:cNvPr id="1048925" name="Title 1"/>
          <p:cNvSpPr>
            <a:spLocks noGrp="1"/>
          </p:cNvSpPr>
          <p:nvPr>
            <p:ph type="title"/>
          </p:nvPr>
        </p:nvSpPr>
        <p:spPr/>
        <p:txBody>
          <a:bodyPr>
            <a:normAutofit/>
          </a:bodyPr>
          <a:p>
            <a:r>
              <a:rPr b="1"/>
              <a:t>Nursing Diagnoses and Analysis of Drug</a:t>
            </a:r>
            <a:r>
              <a:t>:</a:t>
            </a:r>
          </a:p>
        </p:txBody>
      </p:sp>
      <p:sp>
        <p:nvSpPr>
          <p:cNvPr id="1048926" name="Content Placeholder 2"/>
          <p:cNvSpPr>
            <a:spLocks noGrp="1"/>
          </p:cNvSpPr>
          <p:nvPr>
            <p:ph idx="1"/>
          </p:nvPr>
        </p:nvSpPr>
        <p:spPr>
          <a:xfrm>
            <a:off x="838204" y="1438279"/>
            <a:ext cx="10810879" cy="5219695"/>
          </a:xfrm>
        </p:spPr>
        <p:txBody>
          <a:bodyPr>
            <a:normAutofit lnSpcReduction="10000"/>
          </a:bodyPr>
          <a:p>
            <a:r>
              <a:rPr sz="3600"/>
              <a:t>Judge appropriateness of prescribed regime</a:t>
            </a:r>
            <a:endParaRPr sz="3600"/>
          </a:p>
          <a:p>
            <a:r>
              <a:rPr sz="3600"/>
              <a:t>Identify potential health problems that drug might cause</a:t>
            </a:r>
            <a:endParaRPr sz="3600"/>
          </a:p>
          <a:p>
            <a:r>
              <a:rPr sz="3600"/>
              <a:t>Determine patient’s capacity for self care</a:t>
            </a:r>
            <a:endParaRPr sz="3600"/>
          </a:p>
          <a:p>
            <a:r>
              <a:rPr sz="3600"/>
              <a:t>Nurse can question appropriateness of drug!</a:t>
            </a:r>
            <a:endParaRPr sz="3600"/>
          </a:p>
          <a:p>
            <a:pPr lvl="1"/>
            <a:r>
              <a:rPr sz="3200"/>
              <a:t>To do this must know action of drug, and</a:t>
            </a:r>
            <a:endParaRPr sz="3200"/>
          </a:p>
          <a:p>
            <a:pPr lvl="1"/>
            <a:r>
              <a:rPr sz="3200"/>
              <a:t>Contraindications of drug, and</a:t>
            </a:r>
            <a:endParaRPr sz="3200"/>
          </a:p>
          <a:p>
            <a:pPr lvl="1"/>
            <a:r>
              <a:rPr sz="3200"/>
              <a:t>Potential benefits vs adverse reactions to drug, and</a:t>
            </a:r>
            <a:endParaRPr sz="3200"/>
          </a:p>
          <a:p>
            <a:pPr lvl="1"/>
            <a:r>
              <a:rPr sz="3200"/>
              <a:t>Patient history, and Potential interactions of drug with other medications</a:t>
            </a:r>
            <a:endParaRPr sz="320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829" name=""/>
        <p:cNvGrpSpPr/>
        <p:nvPr/>
      </p:nvGrpSpPr>
      <p:grpSpPr>
        <a:xfrm>
          <a:off x="0" y="0"/>
          <a:ext cx="0" cy="0"/>
          <a:chOff x="0" y="0"/>
          <a:chExt cx="0" cy="0"/>
        </a:xfrm>
      </p:grpSpPr>
      <p:sp>
        <p:nvSpPr>
          <p:cNvPr id="1048927" name="Title 1"/>
          <p:cNvSpPr>
            <a:spLocks noGrp="1"/>
          </p:cNvSpPr>
          <p:nvPr>
            <p:ph type="title"/>
          </p:nvPr>
        </p:nvSpPr>
        <p:spPr/>
        <p:txBody>
          <a:bodyPr>
            <a:normAutofit/>
          </a:bodyPr>
          <a:p>
            <a:r>
              <a:rPr b="1"/>
              <a:t>Planning:</a:t>
            </a:r>
          </a:p>
        </p:txBody>
      </p:sp>
      <p:sp>
        <p:nvSpPr>
          <p:cNvPr id="1048928" name="Content Placeholder 2"/>
          <p:cNvSpPr>
            <a:spLocks noGrp="1"/>
          </p:cNvSpPr>
          <p:nvPr>
            <p:ph idx="1"/>
          </p:nvPr>
        </p:nvSpPr>
        <p:spPr>
          <a:xfrm>
            <a:off x="485775" y="1495429"/>
            <a:ext cx="10868029" cy="5200650"/>
          </a:xfrm>
        </p:spPr>
        <p:txBody>
          <a:bodyPr>
            <a:normAutofit fontScale="95833"/>
          </a:bodyPr>
          <a:p>
            <a:r>
              <a:rPr b="1"/>
              <a:t>Define goals</a:t>
            </a:r>
            <a:r>
              <a:t>: goal of drug therapy is to provide maximum benefit with minimal harm. Plan ways to do this</a:t>
            </a:r>
          </a:p>
          <a:p>
            <a:r>
              <a:rPr b="1"/>
              <a:t>Establish Priorities</a:t>
            </a:r>
            <a:r>
              <a:t>: requires knowledge of drug put together with patient’s unique history. 1st priority is life threatening conditions and reactions that cause acute discomfort that ends in long-term harm</a:t>
            </a:r>
          </a:p>
          <a:p>
            <a:r>
              <a:rPr b="1"/>
              <a:t>Identifying interventions</a:t>
            </a:r>
            <a:r>
              <a:t>:</a:t>
            </a:r>
          </a:p>
          <a:p>
            <a:pPr lvl="1"/>
            <a:r>
              <a:t>Drug administration</a:t>
            </a:r>
          </a:p>
          <a:p>
            <a:pPr lvl="1"/>
            <a:r>
              <a:t>To enhance drug effectiveness</a:t>
            </a:r>
          </a:p>
          <a:p>
            <a:pPr lvl="1"/>
            <a:r>
              <a:t>To minimize adverse effects and interactions</a:t>
            </a:r>
          </a:p>
          <a:p>
            <a:pPr lvl="1"/>
            <a:r>
              <a:t>Patient education</a:t>
            </a:r>
          </a:p>
          <a:p>
            <a:r>
              <a:rPr b="1"/>
              <a:t>Establish criteria for evaluation</a:t>
            </a:r>
            <a:r>
              <a:t>: is drug working?</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830" name=""/>
        <p:cNvGrpSpPr/>
        <p:nvPr/>
      </p:nvGrpSpPr>
      <p:grpSpPr>
        <a:xfrm>
          <a:off x="0" y="0"/>
          <a:ext cx="0" cy="0"/>
          <a:chOff x="0" y="0"/>
          <a:chExt cx="0" cy="0"/>
        </a:xfrm>
      </p:grpSpPr>
      <p:sp>
        <p:nvSpPr>
          <p:cNvPr id="1048929" name="Title 1"/>
          <p:cNvSpPr>
            <a:spLocks noGrp="1"/>
          </p:cNvSpPr>
          <p:nvPr>
            <p:ph type="title"/>
          </p:nvPr>
        </p:nvSpPr>
        <p:spPr/>
        <p:txBody>
          <a:bodyPr>
            <a:normAutofit/>
          </a:bodyPr>
          <a:p>
            <a:r>
              <a:t>Implementation of care plan</a:t>
            </a:r>
          </a:p>
        </p:txBody>
      </p:sp>
      <p:sp>
        <p:nvSpPr>
          <p:cNvPr id="1048930" name="Content Placeholder 2"/>
          <p:cNvSpPr>
            <a:spLocks noGrp="1"/>
          </p:cNvSpPr>
          <p:nvPr>
            <p:ph idx="1"/>
          </p:nvPr>
        </p:nvSpPr>
        <p:spPr>
          <a:xfrm>
            <a:off x="838204" y="1476370"/>
            <a:ext cx="10515600" cy="5086350"/>
          </a:xfrm>
        </p:spPr>
        <p:txBody>
          <a:bodyPr>
            <a:normAutofit fontScale="96875"/>
          </a:bodyPr>
          <a:p>
            <a:pPr lvl="1"/>
            <a:r>
              <a:rPr sz="3200"/>
              <a:t>Drug administration</a:t>
            </a:r>
            <a:endParaRPr sz="3200"/>
          </a:p>
          <a:p>
            <a:pPr lvl="1"/>
            <a:r>
              <a:rPr sz="3200"/>
              <a:t>Patient education</a:t>
            </a:r>
            <a:endParaRPr sz="3200"/>
          </a:p>
          <a:p>
            <a:pPr lvl="1"/>
            <a:r>
              <a:rPr sz="3200"/>
              <a:t>Interventions to promote therapeutic effects</a:t>
            </a:r>
            <a:endParaRPr sz="3200"/>
          </a:p>
          <a:p>
            <a:pPr lvl="1"/>
            <a:r>
              <a:rPr sz="3200"/>
              <a:t>Interventions to minimize adverse effects</a:t>
            </a:r>
            <a:endParaRPr sz="3200"/>
          </a:p>
          <a:p>
            <a:pPr indent="0" marL="0">
              <a:buNone/>
            </a:pPr>
            <a:r>
              <a:rPr sz="3600"/>
              <a:t>Evaluation</a:t>
            </a:r>
            <a:endParaRPr sz="3600"/>
          </a:p>
          <a:p>
            <a:pPr lvl="1"/>
            <a:r>
              <a:rPr sz="3200"/>
              <a:t>Therapeutic responses</a:t>
            </a:r>
            <a:endParaRPr sz="3200"/>
          </a:p>
          <a:p>
            <a:pPr lvl="1"/>
            <a:r>
              <a:rPr sz="3200"/>
              <a:t>Adverse drug reactions and interactions</a:t>
            </a:r>
            <a:endParaRPr sz="3200"/>
          </a:p>
          <a:p>
            <a:pPr lvl="1"/>
            <a:r>
              <a:rPr sz="3200"/>
              <a:t>Compliance to regimen</a:t>
            </a:r>
            <a:endParaRPr sz="3200"/>
          </a:p>
          <a:p>
            <a:pPr lvl="1"/>
            <a:r>
              <a:rPr sz="3200"/>
              <a:t>Satisfactions with treatment</a:t>
            </a:r>
            <a:endParaRPr sz="320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831" name=""/>
        <p:cNvGrpSpPr/>
        <p:nvPr/>
      </p:nvGrpSpPr>
      <p:grpSpPr>
        <a:xfrm>
          <a:off x="0" y="0"/>
          <a:ext cx="0" cy="0"/>
          <a:chOff x="0" y="0"/>
          <a:chExt cx="0" cy="0"/>
        </a:xfrm>
      </p:grpSpPr>
      <p:sp>
        <p:nvSpPr>
          <p:cNvPr id="1048931" name="Title 1"/>
          <p:cNvSpPr>
            <a:spLocks noGrp="1"/>
          </p:cNvSpPr>
          <p:nvPr>
            <p:ph type="title"/>
          </p:nvPr>
        </p:nvSpPr>
        <p:spPr/>
        <p:txBody>
          <a:bodyPr/>
          <a:p>
            <a:r>
              <a:t>DRUGS IN PREGENANCY </a:t>
            </a:r>
          </a:p>
        </p:txBody>
      </p:sp>
      <p:sp>
        <p:nvSpPr>
          <p:cNvPr id="1048932" name="Content Placeholder 2"/>
          <p:cNvSpPr>
            <a:spLocks noGrp="1"/>
          </p:cNvSpPr>
          <p:nvPr>
            <p:ph idx="1"/>
          </p:nvPr>
        </p:nvSpPr>
        <p:spPr/>
        <p:txBody>
          <a:bodyPr>
            <a:normAutofit/>
          </a:bodyPr>
          <a:p>
            <a:r>
              <a:t>All drugs are potentially harmful until sufficient data exist to indicate otherwise</a:t>
            </a:r>
          </a:p>
          <a:p>
            <a:r>
              <a:t>In the placenta, </a:t>
            </a:r>
            <a:r>
              <a:rPr b="1"/>
              <a:t>maternal blood is separated from fetal blood by a cellular membrane</a:t>
            </a:r>
            <a:endParaRPr b="1"/>
          </a:p>
          <a:p>
            <a:r>
              <a:t>Most drugs cross the placenta by passive diffusion. Most drugs with a </a:t>
            </a:r>
            <a:r>
              <a:rPr>
                <a:solidFill>
                  <a:srgbClr val="FF0000"/>
                </a:solidFill>
              </a:rPr>
              <a:t>molecular weight of less than 1000</a:t>
            </a:r>
            <a:r>
              <a:t> can cross the placenta but can involve active transport</a:t>
            </a:r>
          </a:p>
          <a:p>
            <a:r>
              <a:t>Placental function is modified by changes in blood flow. </a:t>
            </a:r>
          </a:p>
          <a:p>
            <a:r>
              <a:t>There are multiple placental enzymes, primarily involved with endogenous steroid metabolism, which may also contribute to drug metabolism. </a:t>
            </a:r>
          </a:p>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832" name=""/>
        <p:cNvGrpSpPr/>
        <p:nvPr/>
      </p:nvGrpSpPr>
      <p:grpSpPr>
        <a:xfrm>
          <a:off x="0" y="0"/>
          <a:ext cx="0" cy="0"/>
          <a:chOff x="0" y="0"/>
          <a:chExt cx="0" cy="0"/>
        </a:xfrm>
      </p:grpSpPr>
      <p:sp>
        <p:nvSpPr>
          <p:cNvPr id="1048933" name="Title 1"/>
          <p:cNvSpPr>
            <a:spLocks noGrp="1"/>
          </p:cNvSpPr>
          <p:nvPr>
            <p:ph type="title"/>
          </p:nvPr>
        </p:nvSpPr>
        <p:spPr/>
        <p:txBody>
          <a:bodyPr/>
          <a:p>
            <a:r>
              <a:t>Pharmacokinetics in pregnancy</a:t>
            </a:r>
          </a:p>
        </p:txBody>
      </p:sp>
      <p:sp>
        <p:nvSpPr>
          <p:cNvPr id="1048934" name="Content Placeholder 2"/>
          <p:cNvSpPr>
            <a:spLocks noGrp="1"/>
          </p:cNvSpPr>
          <p:nvPr>
            <p:ph idx="1"/>
          </p:nvPr>
        </p:nvSpPr>
        <p:spPr/>
        <p:txBody>
          <a:bodyPr>
            <a:normAutofit fontScale="93182" lnSpcReduction="10000"/>
          </a:bodyPr>
          <a:p>
            <a:r>
              <a:rPr sz="4800"/>
              <a:t>There is </a:t>
            </a:r>
            <a:endParaRPr sz="4800"/>
          </a:p>
          <a:p>
            <a:pPr lvl="1"/>
            <a:r>
              <a:rPr sz="4400"/>
              <a:t>Increased volume of distribution, hepatic metabolism and renal excretion all tend to reduce drug concentration. </a:t>
            </a:r>
            <a:endParaRPr sz="4400"/>
          </a:p>
          <a:p>
            <a:pPr lvl="1"/>
            <a:endParaRPr sz="4400"/>
          </a:p>
          <a:p>
            <a:pPr lvl="1"/>
            <a:r>
              <a:rPr sz="4400"/>
              <a:t>Decreased plasma albumin levels increase the ratio of free drug in plasma</a:t>
            </a:r>
            <a:endParaRPr sz="440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833" name=""/>
        <p:cNvGrpSpPr/>
        <p:nvPr/>
      </p:nvGrpSpPr>
      <p:grpSpPr>
        <a:xfrm>
          <a:off x="0" y="0"/>
          <a:ext cx="0" cy="0"/>
          <a:chOff x="0" y="0"/>
          <a:chExt cx="0" cy="0"/>
        </a:xfrm>
      </p:grpSpPr>
      <p:sp>
        <p:nvSpPr>
          <p:cNvPr id="1048935" name="Title 1"/>
          <p:cNvSpPr>
            <a:spLocks noGrp="1"/>
          </p:cNvSpPr>
          <p:nvPr>
            <p:ph type="title"/>
          </p:nvPr>
        </p:nvSpPr>
        <p:spPr>
          <a:xfrm>
            <a:off x="838204" y="365126"/>
            <a:ext cx="10515600" cy="806448"/>
          </a:xfrm>
        </p:spPr>
        <p:txBody>
          <a:bodyPr/>
          <a:p>
            <a:r>
              <a:t>EFFECTS ON FETUS</a:t>
            </a:r>
          </a:p>
        </p:txBody>
      </p:sp>
      <p:sp>
        <p:nvSpPr>
          <p:cNvPr id="1048936" name="Content Placeholder 2"/>
          <p:cNvSpPr>
            <a:spLocks noGrp="1"/>
          </p:cNvSpPr>
          <p:nvPr>
            <p:ph idx="1"/>
          </p:nvPr>
        </p:nvSpPr>
        <p:spPr>
          <a:xfrm>
            <a:off x="838204" y="1533520"/>
            <a:ext cx="10515600" cy="5124454"/>
          </a:xfrm>
        </p:spPr>
        <p:txBody>
          <a:bodyPr>
            <a:normAutofit/>
          </a:bodyPr>
          <a:p>
            <a:r>
              <a:t>Placental function is also modified by changes in blood flow, and </a:t>
            </a:r>
            <a:r>
              <a:rPr b="1"/>
              <a:t>drugs which reduce placental blood flow can reduce birth weight</a:t>
            </a:r>
            <a:r>
              <a:t>.</a:t>
            </a:r>
          </a:p>
          <a:p>
            <a:r>
              <a:t>Early in embryonic development, exogenous substances </a:t>
            </a:r>
            <a:r>
              <a:rPr u="sng"/>
              <a:t>accumulate in the neuroectoderm</a:t>
            </a:r>
            <a:r>
              <a:t>. The </a:t>
            </a:r>
            <a:r>
              <a:rPr>
                <a:solidFill>
                  <a:srgbClr val="FF0000"/>
                </a:solidFill>
              </a:rPr>
              <a:t>fetal blood–brain barrier is not developed until the second half of pregnancy</a:t>
            </a:r>
            <a:r>
              <a:t>, and </a:t>
            </a:r>
            <a:r>
              <a:rPr b="1"/>
              <a:t>the susceptibility of the central nervous system (CNS) to developmental toxins</a:t>
            </a:r>
            <a:r>
              <a:t> may be partly related to this</a:t>
            </a:r>
          </a:p>
          <a:p>
            <a:r>
              <a:t>Before 17 days, the drugs can lead to abortion</a:t>
            </a:r>
          </a:p>
          <a:p>
            <a:r>
              <a:t>In embryonic stage, Teratogens </a:t>
            </a:r>
            <a:r>
              <a:rPr u="sng"/>
              <a:t>cause deviations or abnormalities in the development </a:t>
            </a:r>
            <a:r>
              <a:t>of the embryo that are compatible with prenatal life and are observable postnatally </a:t>
            </a:r>
            <a:r>
              <a:t>e.g</a:t>
            </a:r>
            <a:r>
              <a:t> thalidomide causes </a:t>
            </a:r>
            <a:r>
              <a:rPr b="1"/>
              <a:t>phocomelia</a:t>
            </a:r>
            <a:endParaRPr b="1"/>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834" name=""/>
        <p:cNvGrpSpPr/>
        <p:nvPr/>
      </p:nvGrpSpPr>
      <p:grpSpPr>
        <a:xfrm>
          <a:off x="0" y="0"/>
          <a:ext cx="0" cy="0"/>
          <a:chOff x="0" y="0"/>
          <a:chExt cx="0" cy="0"/>
        </a:xfrm>
      </p:grpSpPr>
      <p:sp>
        <p:nvSpPr>
          <p:cNvPr id="1048937" name="Title 1"/>
          <p:cNvSpPr>
            <a:spLocks noGrp="1"/>
          </p:cNvSpPr>
          <p:nvPr>
            <p:ph type="title"/>
          </p:nvPr>
        </p:nvSpPr>
        <p:spPr/>
        <p:txBody>
          <a:bodyPr>
            <a:normAutofit/>
          </a:bodyPr>
          <a:p>
            <a:r>
              <a:t>Teratogenic drugs (affects the embryo)</a:t>
            </a:r>
          </a:p>
        </p:txBody>
      </p:sp>
      <p:sp>
        <p:nvSpPr>
          <p:cNvPr id="1048938" name="Content Placeholder 2"/>
          <p:cNvSpPr>
            <a:spLocks noGrp="1"/>
          </p:cNvSpPr>
          <p:nvPr>
            <p:ph idx="1"/>
          </p:nvPr>
        </p:nvSpPr>
        <p:spPr/>
        <p:txBody>
          <a:bodyPr>
            <a:normAutofit/>
          </a:bodyPr>
          <a:p>
            <a:r>
              <a:rPr sz="3600"/>
              <a:t>Thalidomide, Androgens, Cytotoxic agents Progestogens, Alcohol, </a:t>
            </a:r>
            <a:r>
              <a:rPr sz="3600"/>
              <a:t>Danozol</a:t>
            </a:r>
            <a:r>
              <a:rPr sz="3600"/>
              <a:t>, Warfarin, Diethylstilbestrol, Retinoids ,Radioisotopes </a:t>
            </a:r>
            <a:endParaRPr sz="3600"/>
          </a:p>
          <a:p>
            <a:endParaRPr sz="3600"/>
          </a:p>
          <a:p>
            <a:r>
              <a:rPr sz="3600"/>
              <a:t>Most anticonvulsants Some live vaccines </a:t>
            </a:r>
            <a:r>
              <a:rPr sz="3600"/>
              <a:t>Ribavarin</a:t>
            </a:r>
            <a:r>
              <a:rPr sz="3600"/>
              <a:t> Lithium</a:t>
            </a:r>
            <a:endParaRPr sz="360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835" name=""/>
        <p:cNvGrpSpPr/>
        <p:nvPr/>
      </p:nvGrpSpPr>
      <p:grpSpPr>
        <a:xfrm>
          <a:off x="0" y="0"/>
          <a:ext cx="0" cy="0"/>
          <a:chOff x="0" y="0"/>
          <a:chExt cx="0" cy="0"/>
        </a:xfrm>
      </p:grpSpPr>
      <p:sp>
        <p:nvSpPr>
          <p:cNvPr id="1048939" name="Title 1"/>
          <p:cNvSpPr>
            <a:spLocks noGrp="1"/>
          </p:cNvSpPr>
          <p:nvPr>
            <p:ph type="title"/>
          </p:nvPr>
        </p:nvSpPr>
        <p:spPr/>
        <p:txBody>
          <a:bodyPr>
            <a:normAutofit/>
          </a:bodyPr>
          <a:p>
            <a:r>
              <a:t>Drugs affecting fetus after embryonic stage</a:t>
            </a:r>
          </a:p>
        </p:txBody>
      </p:sp>
      <p:sp>
        <p:nvSpPr>
          <p:cNvPr id="1048940" name="Content Placeholder 2"/>
          <p:cNvSpPr>
            <a:spLocks noGrp="1"/>
          </p:cNvSpPr>
          <p:nvPr>
            <p:ph idx="1"/>
          </p:nvPr>
        </p:nvSpPr>
        <p:spPr>
          <a:xfrm>
            <a:off x="609604" y="1600200"/>
            <a:ext cx="10963270" cy="4876795"/>
          </a:xfrm>
        </p:spPr>
        <p:txBody>
          <a:bodyPr>
            <a:normAutofit fontScale="89286" lnSpcReduction="20000"/>
          </a:bodyPr>
          <a:p>
            <a:r>
              <a:rPr b="1"/>
              <a:t>ACE inhibitors </a:t>
            </a:r>
            <a:r>
              <a:t>and angiotensin receptor blockers cause fetal and neonatal renal dysfunction. </a:t>
            </a:r>
          </a:p>
          <a:p>
            <a:r>
              <a:t>Drugs used to treat </a:t>
            </a:r>
            <a:r>
              <a:rPr b="1"/>
              <a:t>maternal hyperthyroidism </a:t>
            </a:r>
            <a:r>
              <a:t>can cause fetal and neonatal hypothyroidism. </a:t>
            </a:r>
          </a:p>
          <a:p>
            <a:r>
              <a:rPr b="1"/>
              <a:t>Tetracycline</a:t>
            </a:r>
            <a:r>
              <a:t> antibiotics inhibit growth of fetal bones and stain teeth. </a:t>
            </a:r>
          </a:p>
          <a:p>
            <a:r>
              <a:rPr b="1"/>
              <a:t>Aminoglycosides</a:t>
            </a:r>
            <a:r>
              <a:t> cause fetal </a:t>
            </a:r>
            <a:r>
              <a:t>VIIIth</a:t>
            </a:r>
            <a:r>
              <a:t> nerve damage. </a:t>
            </a:r>
          </a:p>
          <a:p>
            <a:r>
              <a:t>Opioids and cocaine taken regularly during pregnancy can lead to fetal drug dependency. </a:t>
            </a:r>
          </a:p>
          <a:p>
            <a:r>
              <a:rPr b="1"/>
              <a:t>Warfarin</a:t>
            </a:r>
            <a:r>
              <a:t> can cause fetal intracerebral bleeding.  </a:t>
            </a:r>
          </a:p>
          <a:p>
            <a:r>
              <a:rPr b="1"/>
              <a:t>Indometacin</a:t>
            </a:r>
            <a:r>
              <a:rPr b="1"/>
              <a:t>, </a:t>
            </a:r>
            <a:r>
              <a:t>a potent inhibitor of prostaglandin synthesis, is used under specialist supervision to assist closure of patent ductus arteriosus in premature infants. </a:t>
            </a:r>
          </a:p>
          <a:p>
            <a:r>
              <a:t>Some hormones can cause inappropriate virilization or feminization</a:t>
            </a:r>
          </a:p>
          <a:p>
            <a:r>
              <a:t>Anticonvulsants may possibly be associated with mental retardation. </a:t>
            </a:r>
          </a:p>
          <a:p>
            <a:r>
              <a:t>Cytotoxic drugs can cause intrauterine growth retardation and stillbirth</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836" name=""/>
        <p:cNvGrpSpPr/>
        <p:nvPr/>
      </p:nvGrpSpPr>
      <p:grpSpPr>
        <a:xfrm>
          <a:off x="0" y="0"/>
          <a:ext cx="0" cy="0"/>
          <a:chOff x="0" y="0"/>
          <a:chExt cx="0" cy="0"/>
        </a:xfrm>
      </p:grpSpPr>
      <p:sp>
        <p:nvSpPr>
          <p:cNvPr id="1048941" name="Title 1"/>
          <p:cNvSpPr>
            <a:spLocks noGrp="1"/>
          </p:cNvSpPr>
          <p:nvPr>
            <p:ph type="title"/>
          </p:nvPr>
        </p:nvSpPr>
        <p:spPr/>
        <p:txBody>
          <a:bodyPr/>
          <a:p>
            <a:r>
              <a:t>Effects during delivery </a:t>
            </a:r>
          </a:p>
        </p:txBody>
      </p:sp>
      <p:sp>
        <p:nvSpPr>
          <p:cNvPr id="1048942" name="Content Placeholder 2"/>
          <p:cNvSpPr>
            <a:spLocks noGrp="1"/>
          </p:cNvSpPr>
          <p:nvPr>
            <p:ph idx="1"/>
          </p:nvPr>
        </p:nvSpPr>
        <p:spPr>
          <a:xfrm>
            <a:off x="323854" y="1825618"/>
            <a:ext cx="11277595" cy="4756146"/>
          </a:xfrm>
        </p:spPr>
        <p:txBody>
          <a:bodyPr>
            <a:normAutofit/>
          </a:bodyPr>
          <a:p>
            <a:r>
              <a:rPr b="1" sz="3600"/>
              <a:t>Pethidine</a:t>
            </a:r>
            <a:r>
              <a:rPr sz="3600"/>
              <a:t>, administered as an analgesic </a:t>
            </a:r>
            <a:r>
              <a:rPr b="1" sz="3600"/>
              <a:t>can cause fetal </a:t>
            </a:r>
            <a:r>
              <a:rPr b="1" sz="3600"/>
              <a:t>apnoea</a:t>
            </a:r>
            <a:r>
              <a:rPr b="1" sz="3600"/>
              <a:t> </a:t>
            </a:r>
            <a:r>
              <a:rPr sz="3600"/>
              <a:t>(which is reversed with naloxone, </a:t>
            </a:r>
            <a:endParaRPr sz="3600"/>
          </a:p>
          <a:p>
            <a:r>
              <a:rPr b="1" sz="3600"/>
              <a:t>Anaesthetic</a:t>
            </a:r>
            <a:r>
              <a:rPr b="1" sz="3600"/>
              <a:t> agents </a:t>
            </a:r>
            <a:r>
              <a:rPr sz="3600"/>
              <a:t>given during Caesarean section may transiently </a:t>
            </a:r>
            <a:r>
              <a:rPr b="1" sz="3600"/>
              <a:t>depress neurological, respiratory and muscular functions</a:t>
            </a:r>
            <a:r>
              <a:rPr sz="3600"/>
              <a:t>. </a:t>
            </a:r>
            <a:endParaRPr sz="3600"/>
          </a:p>
          <a:p>
            <a:r>
              <a:rPr sz="3600"/>
              <a:t>Warfarin given in late pregnancy causes a predisposes to </a:t>
            </a:r>
            <a:r>
              <a:rPr b="1" sz="3600"/>
              <a:t>cerebral </a:t>
            </a:r>
            <a:r>
              <a:rPr b="1" sz="3600"/>
              <a:t>haemorrhage</a:t>
            </a:r>
            <a:r>
              <a:rPr b="1" sz="3600"/>
              <a:t> </a:t>
            </a:r>
            <a:r>
              <a:rPr sz="3600"/>
              <a:t>during delivery.</a:t>
            </a:r>
            <a:endParaRPr sz="360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837" name=""/>
        <p:cNvGrpSpPr/>
        <p:nvPr/>
      </p:nvGrpSpPr>
      <p:grpSpPr>
        <a:xfrm>
          <a:off x="0" y="0"/>
          <a:ext cx="0" cy="0"/>
          <a:chOff x="0" y="0"/>
          <a:chExt cx="0" cy="0"/>
        </a:xfrm>
      </p:grpSpPr>
      <p:sp>
        <p:nvSpPr>
          <p:cNvPr id="1048943" name="Title 1"/>
          <p:cNvSpPr>
            <a:spLocks noGrp="1"/>
          </p:cNvSpPr>
          <p:nvPr>
            <p:ph type="title"/>
          </p:nvPr>
        </p:nvSpPr>
        <p:spPr>
          <a:xfrm>
            <a:off x="1981204" y="274643"/>
            <a:ext cx="8229600" cy="868356"/>
          </a:xfrm>
        </p:spPr>
        <p:txBody>
          <a:bodyPr/>
          <a:p>
            <a:r>
              <a:t>Prescribing drugs in pregnancy</a:t>
            </a:r>
          </a:p>
        </p:txBody>
      </p:sp>
      <p:sp>
        <p:nvSpPr>
          <p:cNvPr id="1048944" name="Content Placeholder 2"/>
          <p:cNvSpPr>
            <a:spLocks noGrp="1"/>
          </p:cNvSpPr>
          <p:nvPr>
            <p:ph idx="1"/>
          </p:nvPr>
        </p:nvSpPr>
        <p:spPr>
          <a:xfrm>
            <a:off x="609604" y="1417643"/>
            <a:ext cx="11048995" cy="5165726"/>
          </a:xfrm>
        </p:spPr>
        <p:txBody>
          <a:bodyPr>
            <a:normAutofit fontScale="96429"/>
          </a:bodyPr>
          <a:p>
            <a:r>
              <a:t>Minimize prescribing; </a:t>
            </a:r>
          </a:p>
          <a:p>
            <a:r>
              <a:t>Use ‘tried and tested’ drugs whenever possible in preference to new agents; </a:t>
            </a:r>
          </a:p>
          <a:p>
            <a:r>
              <a:t>Use the smallest effective dose; </a:t>
            </a:r>
          </a:p>
          <a:p>
            <a:r>
              <a:t>Remember that the fetus is most sensitive in the first trimester; </a:t>
            </a:r>
          </a:p>
          <a:p>
            <a:r>
              <a:t>Consider pregnancy in all women of childbearing potential; </a:t>
            </a:r>
          </a:p>
          <a:p>
            <a:r>
              <a:t>Discuss the potential risks of taking or withholding therapy with the patient; </a:t>
            </a:r>
          </a:p>
          <a:p>
            <a:r>
              <a:t>Seek guidance on the use of drugs in pregnancy in the British National Formulary, Drug Information Services, National Teratology Information Service (NTIS); </a:t>
            </a:r>
          </a:p>
          <a:p>
            <a:r>
              <a:t>Warn the patient about the risks of smoking, alcohol, over-the-counter drugs and drugs of abuse. </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838" name=""/>
        <p:cNvGrpSpPr/>
        <p:nvPr/>
      </p:nvGrpSpPr>
      <p:grpSpPr>
        <a:xfrm>
          <a:off x="0" y="0"/>
          <a:ext cx="0" cy="0"/>
          <a:chOff x="0" y="0"/>
          <a:chExt cx="0" cy="0"/>
        </a:xfrm>
      </p:grpSpPr>
      <p:sp>
        <p:nvSpPr>
          <p:cNvPr id="1048945" name="Title 1"/>
          <p:cNvSpPr>
            <a:spLocks noGrp="1"/>
          </p:cNvSpPr>
          <p:nvPr>
            <p:ph type="title"/>
          </p:nvPr>
        </p:nvSpPr>
        <p:spPr/>
        <p:txBody>
          <a:bodyPr/>
          <a:p>
            <a:r>
              <a:t>Drugs in Children </a:t>
            </a:r>
          </a:p>
        </p:txBody>
      </p:sp>
      <p:sp>
        <p:nvSpPr>
          <p:cNvPr id="1048946" name="Content Placeholder 2"/>
          <p:cNvSpPr>
            <a:spLocks noGrp="1"/>
          </p:cNvSpPr>
          <p:nvPr>
            <p:ph idx="1"/>
          </p:nvPr>
        </p:nvSpPr>
        <p:spPr>
          <a:xfrm>
            <a:off x="295279" y="1825618"/>
            <a:ext cx="11458575" cy="4803781"/>
          </a:xfrm>
        </p:spPr>
        <p:txBody>
          <a:bodyPr>
            <a:normAutofit fontScale="97222"/>
          </a:bodyPr>
          <a:p>
            <a:r>
              <a:rPr sz="3600"/>
              <a:t>At birth, renal and hepatic function are less efficient than in adulthood. </a:t>
            </a:r>
            <a:endParaRPr sz="3600"/>
          </a:p>
          <a:p>
            <a:r>
              <a:rPr sz="3600"/>
              <a:t>Hence Drug effects may be prolonged and accumulation may occur. </a:t>
            </a:r>
            <a:endParaRPr sz="3600"/>
          </a:p>
          <a:p>
            <a:r>
              <a:rPr sz="3600"/>
              <a:t>These factors are exaggerated in the premature infant</a:t>
            </a:r>
            <a:endParaRPr sz="3600"/>
          </a:p>
          <a:p>
            <a:r>
              <a:rPr b="1" sz="3600"/>
              <a:t>Some adverse effects occur only during certain stages of development</a:t>
            </a:r>
            <a:r>
              <a:rPr sz="3600"/>
              <a:t>, for example, </a:t>
            </a:r>
            <a:r>
              <a:rPr sz="3600">
                <a:solidFill>
                  <a:srgbClr val="FF0000"/>
                </a:solidFill>
              </a:rPr>
              <a:t>retrolental fibroplasia induced by excess oxygen in the premature neonate </a:t>
            </a:r>
            <a:r>
              <a:rPr sz="3600"/>
              <a:t>and </a:t>
            </a:r>
            <a:r>
              <a:rPr sz="3600">
                <a:solidFill>
                  <a:srgbClr val="FF0000"/>
                </a:solidFill>
              </a:rPr>
              <a:t>staining of teeth by tetracycline </a:t>
            </a:r>
            <a:r>
              <a:rPr sz="3600"/>
              <a:t>which occurs only in developing enamel</a:t>
            </a:r>
            <a:endParaRPr sz="360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839" name=""/>
        <p:cNvGrpSpPr/>
        <p:nvPr/>
      </p:nvGrpSpPr>
      <p:grpSpPr>
        <a:xfrm>
          <a:off x="0" y="0"/>
          <a:ext cx="0" cy="0"/>
          <a:chOff x="0" y="0"/>
          <a:chExt cx="0" cy="0"/>
        </a:xfrm>
      </p:grpSpPr>
      <p:sp>
        <p:nvSpPr>
          <p:cNvPr id="1048947" name="Title 1"/>
          <p:cNvSpPr>
            <a:spLocks noGrp="1"/>
          </p:cNvSpPr>
          <p:nvPr>
            <p:ph type="title"/>
          </p:nvPr>
        </p:nvSpPr>
        <p:spPr/>
        <p:txBody>
          <a:bodyPr/>
          <a:p>
            <a:r>
              <a:t>Absorption in children</a:t>
            </a:r>
          </a:p>
        </p:txBody>
      </p:sp>
      <p:sp>
        <p:nvSpPr>
          <p:cNvPr id="1048948" name="Content Placeholder 2"/>
          <p:cNvSpPr>
            <a:spLocks noGrp="1"/>
          </p:cNvSpPr>
          <p:nvPr>
            <p:ph idx="1"/>
          </p:nvPr>
        </p:nvSpPr>
        <p:spPr/>
        <p:txBody>
          <a:bodyPr>
            <a:normAutofit lnSpcReduction="10000"/>
          </a:bodyPr>
          <a:p>
            <a:r>
              <a:t>Gastro-intestinal absorption is slower in infancy, but absorption from intramuscular injection is faster</a:t>
            </a:r>
          </a:p>
          <a:p>
            <a:r>
              <a:t>To ensure that adequate blood concentrations reach the systemic circulation in the sick neonate, it is common practice to use intravenous preparations.</a:t>
            </a:r>
          </a:p>
          <a:p>
            <a:r>
              <a:t>In older and less severely ill children, oral liquid preparations are commonly used, resulting in less accurate dosing and a more rapid rate of absorption</a:t>
            </a:r>
          </a:p>
          <a:p>
            <a:r>
              <a:t>Infant skin is thin and percutaneous absorption can cause systemic toxicity if topical preparations (e.g. of potent corticosteroids) are applied too extensively.</a:t>
            </a: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840" name=""/>
        <p:cNvGrpSpPr/>
        <p:nvPr/>
      </p:nvGrpSpPr>
      <p:grpSpPr>
        <a:xfrm>
          <a:off x="0" y="0"/>
          <a:ext cx="0" cy="0"/>
          <a:chOff x="0" y="0"/>
          <a:chExt cx="0" cy="0"/>
        </a:xfrm>
      </p:grpSpPr>
      <p:sp>
        <p:nvSpPr>
          <p:cNvPr id="1048949" name="Title 1"/>
          <p:cNvSpPr>
            <a:spLocks noGrp="1"/>
          </p:cNvSpPr>
          <p:nvPr>
            <p:ph type="title"/>
          </p:nvPr>
        </p:nvSpPr>
        <p:spPr/>
        <p:txBody>
          <a:bodyPr/>
          <a:p>
            <a:r>
              <a:t>DISTRIBUTION in children</a:t>
            </a:r>
          </a:p>
        </p:txBody>
      </p:sp>
      <p:sp>
        <p:nvSpPr>
          <p:cNvPr id="1048950" name="Content Placeholder 2"/>
          <p:cNvSpPr>
            <a:spLocks noGrp="1"/>
          </p:cNvSpPr>
          <p:nvPr>
            <p:ph idx="1"/>
          </p:nvPr>
        </p:nvSpPr>
        <p:spPr/>
        <p:txBody>
          <a:bodyPr>
            <a:normAutofit fontScale="96429"/>
          </a:bodyPr>
          <a:p>
            <a:r>
              <a:t>Body fat content is relatively low in children, whereas water content is greater, leading to a lower volume of distribution of fat-soluble drugs (e.g. diazepam) in infants. </a:t>
            </a:r>
          </a:p>
          <a:p>
            <a:r>
              <a:t>Plasma protein binding of drugs is reduced in neonates due to a lower plasma albumin concentration and altered binding properties. </a:t>
            </a:r>
          </a:p>
          <a:p>
            <a:r>
              <a:t>The risk of kernicterus caused by displacement of bilirubin from albumin by </a:t>
            </a:r>
            <a:r>
              <a:rPr b="1"/>
              <a:t>sulphonamides</a:t>
            </a:r>
            <a:r>
              <a:t> is well recognized. </a:t>
            </a:r>
          </a:p>
          <a:p>
            <a:r>
              <a:t>The blood–brain barrier is more permeable in neonates and young children, leading to an </a:t>
            </a:r>
            <a:r>
              <a:rPr b="1"/>
              <a:t>increased risk of CNS adverse effects</a:t>
            </a:r>
            <a:endParaRPr b="1"/>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841" name=""/>
        <p:cNvGrpSpPr/>
        <p:nvPr/>
      </p:nvGrpSpPr>
      <p:grpSpPr>
        <a:xfrm>
          <a:off x="0" y="0"/>
          <a:ext cx="0" cy="0"/>
          <a:chOff x="0" y="0"/>
          <a:chExt cx="0" cy="0"/>
        </a:xfrm>
      </p:grpSpPr>
      <p:sp>
        <p:nvSpPr>
          <p:cNvPr id="1048951" name="Title 1"/>
          <p:cNvSpPr>
            <a:spLocks noGrp="1"/>
          </p:cNvSpPr>
          <p:nvPr>
            <p:ph type="title"/>
          </p:nvPr>
        </p:nvSpPr>
        <p:spPr>
          <a:xfrm>
            <a:off x="1752604" y="274643"/>
            <a:ext cx="8458200" cy="1143000"/>
          </a:xfrm>
        </p:spPr>
        <p:txBody>
          <a:bodyPr>
            <a:normAutofit/>
          </a:bodyPr>
          <a:p>
            <a:r>
              <a:t>METABOLISM and excretion  in children</a:t>
            </a:r>
          </a:p>
        </p:txBody>
      </p:sp>
      <p:sp>
        <p:nvSpPr>
          <p:cNvPr id="1048952" name="Content Placeholder 2"/>
          <p:cNvSpPr>
            <a:spLocks noGrp="1"/>
          </p:cNvSpPr>
          <p:nvPr>
            <p:ph idx="1"/>
          </p:nvPr>
        </p:nvSpPr>
        <p:spPr>
          <a:xfrm>
            <a:off x="619120" y="1600200"/>
            <a:ext cx="11182354" cy="4983156"/>
          </a:xfrm>
        </p:spPr>
        <p:txBody>
          <a:bodyPr>
            <a:normAutofit lnSpcReduction="10000"/>
          </a:bodyPr>
          <a:p>
            <a:r>
              <a:t>At birth, the hepatic microsomal enzyme system is relatively immature (particularly in the preterm infant), </a:t>
            </a:r>
            <a:r>
              <a:rPr b="1"/>
              <a:t>but after the first four weeks it matures rapidly.</a:t>
            </a:r>
            <a:endParaRPr b="1"/>
          </a:p>
          <a:p>
            <a:r>
              <a:rPr>
                <a:solidFill>
                  <a:srgbClr val="FF0000"/>
                </a:solidFill>
              </a:rPr>
              <a:t>Chloramphenicol</a:t>
            </a:r>
            <a:r>
              <a:t> can </a:t>
            </a:r>
            <a:r>
              <a:rPr>
                <a:solidFill>
                  <a:srgbClr val="FF0000"/>
                </a:solidFill>
              </a:rPr>
              <a:t>produce ‘grey baby syndrome</a:t>
            </a:r>
            <a:r>
              <a:t>’ in neonates due to high plasma levels secondary to inefficient elimination. </a:t>
            </a:r>
          </a:p>
          <a:p>
            <a:r>
              <a:t>Drugs administered to the mother can induce neonatal enzyme activity (e.g. barbiturates). </a:t>
            </a:r>
          </a:p>
          <a:p>
            <a:r>
              <a:rPr b="1"/>
              <a:t>Phenobarbitone metabolism is faster </a:t>
            </a:r>
            <a:r>
              <a:t>in children than in adults </a:t>
            </a:r>
            <a:r>
              <a:rPr b="1"/>
              <a:t>because of greater induction of hepatic enzyme activity</a:t>
            </a:r>
            <a:endParaRPr b="1"/>
          </a:p>
          <a:p>
            <a:r>
              <a:t>All renal mechanisms (filtration, secretion and reabsorption) are </a:t>
            </a:r>
            <a:r>
              <a:rPr b="1"/>
              <a:t>reduced in neonates</a:t>
            </a:r>
            <a:r>
              <a:t>, and renal excretion of drugs is relatively reduced in the newborn</a:t>
            </a:r>
            <a:endParaRPr b="1"/>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842" name=""/>
        <p:cNvGrpSpPr/>
        <p:nvPr/>
      </p:nvGrpSpPr>
      <p:grpSpPr>
        <a:xfrm>
          <a:off x="0" y="0"/>
          <a:ext cx="0" cy="0"/>
          <a:chOff x="0" y="0"/>
          <a:chExt cx="0" cy="0"/>
        </a:xfrm>
      </p:grpSpPr>
      <p:sp>
        <p:nvSpPr>
          <p:cNvPr id="1048953" name="Title 1"/>
          <p:cNvSpPr>
            <a:spLocks noGrp="1"/>
          </p:cNvSpPr>
          <p:nvPr>
            <p:ph type="title"/>
          </p:nvPr>
        </p:nvSpPr>
        <p:spPr>
          <a:xfrm>
            <a:off x="838204" y="365126"/>
            <a:ext cx="10515600" cy="701678"/>
          </a:xfrm>
        </p:spPr>
        <p:txBody>
          <a:bodyPr>
            <a:normAutofit fontScale="90909"/>
          </a:bodyPr>
          <a:p>
            <a:r>
              <a:t>Breast feeding</a:t>
            </a:r>
          </a:p>
        </p:txBody>
      </p:sp>
      <p:sp>
        <p:nvSpPr>
          <p:cNvPr id="1048954" name="Content Placeholder 2"/>
          <p:cNvSpPr>
            <a:spLocks noGrp="1"/>
          </p:cNvSpPr>
          <p:nvPr>
            <p:ph idx="1"/>
          </p:nvPr>
        </p:nvSpPr>
        <p:spPr>
          <a:xfrm>
            <a:off x="504820" y="1219195"/>
            <a:ext cx="11125204" cy="5364160"/>
          </a:xfrm>
        </p:spPr>
        <p:txBody>
          <a:bodyPr>
            <a:normAutofit/>
          </a:bodyPr>
          <a:p>
            <a:r>
              <a:t>Breast-feeding </a:t>
            </a:r>
            <a:r>
              <a:rPr b="1"/>
              <a:t>can lead to toxicity in the infant if the drug enters the milk </a:t>
            </a:r>
            <a:r>
              <a:t>in pharmacological quantities. </a:t>
            </a:r>
          </a:p>
          <a:p>
            <a:r>
              <a:t>Drugs in breast milk </a:t>
            </a:r>
            <a:r>
              <a:rPr b="1"/>
              <a:t>may cause hypersensitivity </a:t>
            </a:r>
            <a:r>
              <a:t>reactions even in very low doses. </a:t>
            </a:r>
          </a:p>
          <a:p>
            <a:r>
              <a:t>Virtually </a:t>
            </a:r>
            <a:r>
              <a:rPr>
                <a:solidFill>
                  <a:srgbClr val="FF0000"/>
                </a:solidFill>
              </a:rPr>
              <a:t>all drugs that reach the maternal systemic circulation will enter breast milk, especially lipid-soluble unionized </a:t>
            </a:r>
            <a:r>
              <a:rPr>
                <a:solidFill>
                  <a:srgbClr val="FF0000"/>
                </a:solidFill>
              </a:rPr>
              <a:t>lowmolecular</a:t>
            </a:r>
            <a:r>
              <a:rPr>
                <a:solidFill>
                  <a:srgbClr val="FF0000"/>
                </a:solidFill>
              </a:rPr>
              <a:t>-weight drugs.</a:t>
            </a:r>
            <a:r>
              <a:t> </a:t>
            </a:r>
          </a:p>
          <a:p>
            <a:r>
              <a:t>Milk is weakly acidic, so drugs that are weak bases are concentrated in breast milk by trapping of the charged form of the drug </a:t>
            </a:r>
          </a:p>
          <a:p>
            <a:r>
              <a:rPr b="1"/>
              <a:t>Bromocriptine suppresses </a:t>
            </a:r>
            <a:r>
              <a:t>lactation and large doses of diuretics may do likewise. </a:t>
            </a:r>
            <a:r>
              <a:rPr b="1"/>
              <a:t>Metronidazole gives milk an unpleasant taste</a:t>
            </a:r>
            <a:endParaRPr b="1"/>
          </a:p>
          <a:p>
            <a:r>
              <a:rPr b="1"/>
              <a:t>Avoid the following in BF;</a:t>
            </a:r>
            <a:endParaRPr b="1"/>
          </a:p>
          <a:p>
            <a:r>
              <a:rPr b="1">
                <a:solidFill>
                  <a:srgbClr val="FF0000"/>
                </a:solidFill>
              </a:rPr>
              <a:t>Amiodarone, Aspirin, Benzodiazepines, Chloramphenicol, Ciclosporin, Ciprofloxacin, Cocaine, Combined oral contraceptives, </a:t>
            </a:r>
            <a:r>
              <a:rPr b="1">
                <a:solidFill>
                  <a:srgbClr val="FF0000"/>
                </a:solidFill>
              </a:rPr>
              <a:t>Cytotoxics</a:t>
            </a:r>
            <a:r>
              <a:rPr b="1">
                <a:solidFill>
                  <a:srgbClr val="FF0000"/>
                </a:solidFill>
              </a:rPr>
              <a:t>, Ergotamine, Octreotide, Stimulant laxatives, </a:t>
            </a:r>
            <a:r>
              <a:rPr b="1">
                <a:solidFill>
                  <a:srgbClr val="FF0000"/>
                </a:solidFill>
              </a:rPr>
              <a:t>Sulphonylureas</a:t>
            </a:r>
            <a:r>
              <a:rPr b="1">
                <a:solidFill>
                  <a:srgbClr val="FF0000"/>
                </a:solidFill>
              </a:rPr>
              <a:t>, Thiazide diuretics, Vitamin A/retinoid analogues (e.g. etretinate)</a:t>
            </a:r>
            <a:endParaRPr b="1">
              <a:solidFill>
                <a:srgbClr val="FF0000"/>
              </a:solidFill>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843" name=""/>
        <p:cNvGrpSpPr/>
        <p:nvPr/>
      </p:nvGrpSpPr>
      <p:grpSpPr>
        <a:xfrm>
          <a:off x="0" y="0"/>
          <a:ext cx="0" cy="0"/>
          <a:chOff x="0" y="0"/>
          <a:chExt cx="0" cy="0"/>
        </a:xfrm>
      </p:grpSpPr>
      <p:sp>
        <p:nvSpPr>
          <p:cNvPr id="1048955" name="Title 1"/>
          <p:cNvSpPr>
            <a:spLocks noGrp="1"/>
          </p:cNvSpPr>
          <p:nvPr>
            <p:ph type="title"/>
          </p:nvPr>
        </p:nvSpPr>
        <p:spPr/>
        <p:txBody>
          <a:bodyPr>
            <a:normAutofit/>
          </a:bodyPr>
          <a:p>
            <a:r>
              <a:t>COMPLIANCE AND ROUTE OF ADMINISTRATION IN KIDS</a:t>
            </a:r>
          </a:p>
        </p:txBody>
      </p:sp>
      <p:sp>
        <p:nvSpPr>
          <p:cNvPr id="1048956" name="Content Placeholder 2"/>
          <p:cNvSpPr>
            <a:spLocks noGrp="1"/>
          </p:cNvSpPr>
          <p:nvPr>
            <p:ph idx="1"/>
          </p:nvPr>
        </p:nvSpPr>
        <p:spPr/>
        <p:txBody>
          <a:bodyPr>
            <a:normAutofit fontScale="92857" lnSpcReduction="20000"/>
          </a:bodyPr>
          <a:p>
            <a:r>
              <a:t>Children under the age of five years may have difficulty in swallowing even small tablets, and hence oral preparations which taste pleasant are often necessary to improve compliance. </a:t>
            </a:r>
          </a:p>
          <a:p>
            <a:r>
              <a:t>Liquid preparations are given by means of a graduated syringe. </a:t>
            </a:r>
          </a:p>
          <a:p>
            <a:r>
              <a:t>However, chronic use of sucrose containing elixirs encourages tooth cavities and gingivitis. </a:t>
            </a:r>
          </a:p>
          <a:p>
            <a:r>
              <a:t>Moreover, the dyes and </a:t>
            </a:r>
            <a:r>
              <a:t>colourings</a:t>
            </a:r>
            <a:r>
              <a:t> used may induce hypersensitivity. </a:t>
            </a:r>
          </a:p>
          <a:p>
            <a:r>
              <a:t>Intramuscular injection should only be used when absolutely necessary. </a:t>
            </a:r>
          </a:p>
          <a:p>
            <a:r>
              <a:t>Intravenous therapy is less painful, but skill is required to cannulate infants’ veins </a:t>
            </a:r>
          </a:p>
          <a:p>
            <a:r>
              <a:t>Children find intravenous infusions uncomfortable and restrictive. Rectal administration is a convenient alternative</a:t>
            </a:r>
          </a:p>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844" name=""/>
        <p:cNvGrpSpPr/>
        <p:nvPr/>
      </p:nvGrpSpPr>
      <p:grpSpPr>
        <a:xfrm>
          <a:off x="0" y="0"/>
          <a:ext cx="0" cy="0"/>
          <a:chOff x="0" y="0"/>
          <a:chExt cx="0" cy="0"/>
        </a:xfrm>
      </p:grpSpPr>
      <p:sp>
        <p:nvSpPr>
          <p:cNvPr id="1048957" name="Title 1"/>
          <p:cNvSpPr>
            <a:spLocks noGrp="1"/>
          </p:cNvSpPr>
          <p:nvPr>
            <p:ph type="title"/>
          </p:nvPr>
        </p:nvSpPr>
        <p:spPr/>
        <p:txBody>
          <a:bodyPr/>
          <a:p>
            <a:r>
              <a:t>ADVERSE EFFECTS in children</a:t>
            </a:r>
          </a:p>
        </p:txBody>
      </p:sp>
      <p:sp>
        <p:nvSpPr>
          <p:cNvPr id="1048958" name="Content Placeholder 2"/>
          <p:cNvSpPr>
            <a:spLocks noGrp="1"/>
          </p:cNvSpPr>
          <p:nvPr>
            <p:ph idx="1"/>
          </p:nvPr>
        </p:nvSpPr>
        <p:spPr>
          <a:xfrm>
            <a:off x="390520" y="1600200"/>
            <a:ext cx="11201400" cy="4983156"/>
          </a:xfrm>
        </p:spPr>
        <p:txBody>
          <a:bodyPr>
            <a:normAutofit fontScale="82143" lnSpcReduction="20000"/>
          </a:bodyPr>
          <a:p>
            <a:r>
              <a:t>With a few notable exceptions, drugs in children generally have a similar adverse effect profile to those in adults. </a:t>
            </a:r>
          </a:p>
          <a:p>
            <a:r>
              <a:t>Of particular significance is the </a:t>
            </a:r>
            <a:r>
              <a:rPr b="1"/>
              <a:t>potential of chronic corticosteroid use, including high-dose inhaled corticosteroids, to inhibit growth</a:t>
            </a:r>
            <a:r>
              <a:t>. </a:t>
            </a:r>
          </a:p>
          <a:p>
            <a:r>
              <a:t>Aspirin is avoided in children under 16 years (except in specific indications, such as Kawasaki syndrome) due to an association with Reye’s syndrome, </a:t>
            </a:r>
          </a:p>
          <a:p>
            <a:r>
              <a:t>Tetracyclines are deposited in growing bone and teeth, causing staining and occasionally dental hypoplasia, and should not be given to children. </a:t>
            </a:r>
          </a:p>
          <a:p>
            <a:r>
              <a:rPr b="1"/>
              <a:t>Fluoroquinolone</a:t>
            </a:r>
            <a:r>
              <a:t> antibacterial drugs may damage </a:t>
            </a:r>
            <a:r>
              <a:rPr b="1"/>
              <a:t>growing cartilage</a:t>
            </a:r>
            <a:r>
              <a:t>. </a:t>
            </a:r>
          </a:p>
          <a:p>
            <a:r>
              <a:t>Dystonias</a:t>
            </a:r>
            <a:r>
              <a:t> with metoclopramide occur more frequently in children and young adults than in older adults. </a:t>
            </a:r>
          </a:p>
          <a:p>
            <a:r>
              <a:t>Valproate hepatotoxicity is increased in young children with learning difficulties receiving multiple anticonvulsants. </a:t>
            </a:r>
          </a:p>
          <a:p>
            <a:r>
              <a:t>Thalidomide/ phocomelia  and </a:t>
            </a:r>
          </a:p>
          <a:p>
            <a:r>
              <a:t>Hypothyroid drugs/congenital hypothyroidism</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845" name=""/>
        <p:cNvGrpSpPr/>
        <p:nvPr/>
      </p:nvGrpSpPr>
      <p:grpSpPr>
        <a:xfrm>
          <a:off x="0" y="0"/>
          <a:ext cx="0" cy="0"/>
          <a:chOff x="0" y="0"/>
          <a:chExt cx="0" cy="0"/>
        </a:xfrm>
      </p:grpSpPr>
      <p:sp>
        <p:nvSpPr>
          <p:cNvPr id="1048959" name="Title 1"/>
          <p:cNvSpPr>
            <a:spLocks noGrp="1"/>
          </p:cNvSpPr>
          <p:nvPr>
            <p:ph type="title"/>
          </p:nvPr>
        </p:nvSpPr>
        <p:spPr/>
        <p:txBody>
          <a:bodyPr/>
          <a:p>
            <a:r>
              <a:t>Elderly </a:t>
            </a:r>
          </a:p>
        </p:txBody>
      </p:sp>
      <p:sp>
        <p:nvSpPr>
          <p:cNvPr id="1048960" name="Content Placeholder 2"/>
          <p:cNvSpPr>
            <a:spLocks noGrp="1"/>
          </p:cNvSpPr>
          <p:nvPr>
            <p:ph idx="1"/>
          </p:nvPr>
        </p:nvSpPr>
        <p:spPr/>
        <p:txBody>
          <a:bodyPr>
            <a:normAutofit/>
          </a:bodyPr>
          <a:p>
            <a:r>
              <a:t>Pharmacokinetic changes in the elderly include: </a:t>
            </a:r>
          </a:p>
          <a:p>
            <a:r>
              <a:t>Absorption of iron, calcium and thiamine is reduced. </a:t>
            </a:r>
          </a:p>
          <a:p>
            <a:r>
              <a:t>There is an increased volume of distribution of </a:t>
            </a:r>
            <a:r>
              <a:t>fatsoluble</a:t>
            </a:r>
            <a:r>
              <a:t> drugs (e.g. diazepam). </a:t>
            </a:r>
          </a:p>
          <a:p>
            <a:r>
              <a:t>There is a decreased volume of distribution of polar drugs (e.g. digoxin). </a:t>
            </a:r>
          </a:p>
          <a:p>
            <a:r>
              <a:t>There is reduced hepatic clearance of long half-life benzodiazepines. </a:t>
            </a:r>
          </a:p>
          <a:p>
            <a:r>
              <a:t>Declining renal function is the most important cause of drug accumulation</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846" name=""/>
        <p:cNvGrpSpPr/>
        <p:nvPr/>
      </p:nvGrpSpPr>
      <p:grpSpPr>
        <a:xfrm>
          <a:off x="0" y="0"/>
          <a:ext cx="0" cy="0"/>
          <a:chOff x="0" y="0"/>
          <a:chExt cx="0" cy="0"/>
        </a:xfrm>
      </p:grpSpPr>
      <p:sp>
        <p:nvSpPr>
          <p:cNvPr id="1048961" name="Title 1"/>
          <p:cNvSpPr>
            <a:spLocks noGrp="1"/>
          </p:cNvSpPr>
          <p:nvPr>
            <p:ph type="title"/>
          </p:nvPr>
        </p:nvSpPr>
        <p:spPr/>
        <p:txBody>
          <a:bodyPr/>
          <a:p>
            <a:r>
              <a:t>Elderly </a:t>
            </a:r>
            <a:r>
              <a:t>cont</a:t>
            </a:r>
          </a:p>
        </p:txBody>
      </p:sp>
      <p:sp>
        <p:nvSpPr>
          <p:cNvPr id="1048962" name="Content Placeholder 2"/>
          <p:cNvSpPr>
            <a:spLocks noGrp="1"/>
          </p:cNvSpPr>
          <p:nvPr>
            <p:ph idx="1"/>
          </p:nvPr>
        </p:nvSpPr>
        <p:spPr/>
        <p:txBody>
          <a:bodyPr>
            <a:normAutofit/>
          </a:bodyPr>
          <a:p>
            <a:r>
              <a:t>Pharmacodynamic changes in the elderly include</a:t>
            </a:r>
          </a:p>
          <a:p>
            <a:r>
              <a:t>Increased sensitivity to central nervous system (CNS) effects (e.g. benzodiazepines, cimetidine); </a:t>
            </a:r>
          </a:p>
          <a:p>
            <a:r>
              <a:t>increased incidence of postural hypotension (e.g. phenothiazines, beta-blockers, tricyclic antidepressants, diuretics); </a:t>
            </a:r>
          </a:p>
          <a:p>
            <a:r>
              <a:t>reduced clotting factor synthesis, reduced warfarin for anticoagulation; </a:t>
            </a:r>
          </a:p>
          <a:p>
            <a:r>
              <a:t>increased toxicity from NSAIDs; </a:t>
            </a:r>
          </a:p>
          <a:p>
            <a:r>
              <a:t>increased incidence of allergic reactions to drugs.</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847" name=""/>
        <p:cNvGrpSpPr/>
        <p:nvPr/>
      </p:nvGrpSpPr>
      <p:grpSpPr>
        <a:xfrm>
          <a:off x="0" y="0"/>
          <a:ext cx="0" cy="0"/>
          <a:chOff x="0" y="0"/>
          <a:chExt cx="0" cy="0"/>
        </a:xfrm>
      </p:grpSpPr>
      <p:sp>
        <p:nvSpPr>
          <p:cNvPr id="1048963" name="Title 1"/>
          <p:cNvSpPr>
            <a:spLocks noGrp="1"/>
          </p:cNvSpPr>
          <p:nvPr>
            <p:ph type="title"/>
          </p:nvPr>
        </p:nvSpPr>
        <p:spPr/>
        <p:txBody>
          <a:bodyPr/>
          <a:p>
            <a:r>
              <a:t>          </a:t>
            </a:r>
            <a:r>
              <a:rPr b="1"/>
              <a:t>medication in children</a:t>
            </a:r>
            <a:endParaRPr b="1"/>
          </a:p>
        </p:txBody>
      </p:sp>
      <p:sp>
        <p:nvSpPr>
          <p:cNvPr id="1048964" name="Content Placeholder 2"/>
          <p:cNvSpPr>
            <a:spLocks noGrp="1"/>
          </p:cNvSpPr>
          <p:nvPr>
            <p:ph idx="1"/>
          </p:nvPr>
        </p:nvSpPr>
        <p:spPr/>
        <p:txBody>
          <a:bodyPr>
            <a:normAutofit/>
          </a:bodyPr>
          <a:p>
            <a:pPr indent="0" marL="0">
              <a:buNone/>
            </a:pPr>
            <a:r>
              <a:t>Take great care when administering drugs  in children;</a:t>
            </a:r>
          </a:p>
          <a:p>
            <a:r>
              <a:t>There is high risk of errors due to changes in weight and age.</a:t>
            </a:r>
          </a:p>
          <a:p>
            <a:r>
              <a:t>Most drugs have not been tested in children.</a:t>
            </a:r>
          </a:p>
          <a:p>
            <a:r>
              <a:t>Many drugs are </a:t>
            </a:r>
            <a:r>
              <a:rPr b="1"/>
              <a:t>marked in dosage forms and concentration suitable for adults. Therefore this requires dilution, calculation  preparation and administration of very small doses.</a:t>
            </a:r>
            <a:endParaRPr b="1"/>
          </a:p>
          <a:p>
            <a:r>
              <a:t>Children have  limited sites for  IV (intravenous)administration ,several drugs may be given through the same site.</a:t>
            </a:r>
          </a:p>
          <a:p>
            <a:r>
              <a:t>This increases the need for small volumes of fluid and flushing between sites.</a:t>
            </a:r>
          </a:p>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848" name=""/>
        <p:cNvGrpSpPr/>
        <p:nvPr/>
      </p:nvGrpSpPr>
      <p:grpSpPr>
        <a:xfrm>
          <a:off x="0" y="0"/>
          <a:ext cx="0" cy="0"/>
          <a:chOff x="0" y="0"/>
          <a:chExt cx="0" cy="0"/>
        </a:xfrm>
      </p:grpSpPr>
      <p:sp>
        <p:nvSpPr>
          <p:cNvPr id="1048965" name="Title 1"/>
          <p:cNvSpPr>
            <a:spLocks noGrp="1"/>
          </p:cNvSpPr>
          <p:nvPr>
            <p:ph type="title"/>
          </p:nvPr>
        </p:nvSpPr>
        <p:spPr/>
        <p:txBody>
          <a:bodyPr/>
          <a:p>
            <a:r>
              <a:t>               </a:t>
            </a:r>
            <a:r>
              <a:rPr b="1"/>
              <a:t>medication errors</a:t>
            </a:r>
            <a:endParaRPr b="1"/>
          </a:p>
        </p:txBody>
      </p:sp>
      <p:sp>
        <p:nvSpPr>
          <p:cNvPr id="1048966" name="Content Placeholder 2"/>
          <p:cNvSpPr>
            <a:spLocks noGrp="1"/>
          </p:cNvSpPr>
          <p:nvPr>
            <p:ph idx="1"/>
          </p:nvPr>
        </p:nvSpPr>
        <p:spPr/>
        <p:txBody>
          <a:bodyPr/>
          <a:p>
            <a:r>
              <a:t>Wrong client </a:t>
            </a:r>
          </a:p>
          <a:p>
            <a:r>
              <a:t>Wrong route</a:t>
            </a:r>
          </a:p>
          <a:p>
            <a:r>
              <a:t>Wrong medication or IV fluids</a:t>
            </a:r>
          </a:p>
          <a:p>
            <a:r>
              <a:t>Wrong dose or IV rate</a:t>
            </a:r>
          </a:p>
          <a:p>
            <a:r>
              <a:t> Omission of dose</a:t>
            </a:r>
          </a:p>
          <a:p>
            <a:r>
              <a:t> Incorrect discontinuation of treatment.</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849" name=""/>
        <p:cNvGrpSpPr/>
        <p:nvPr/>
      </p:nvGrpSpPr>
      <p:grpSpPr>
        <a:xfrm>
          <a:off x="0" y="0"/>
          <a:ext cx="0" cy="0"/>
          <a:chOff x="0" y="0"/>
          <a:chExt cx="0" cy="0"/>
        </a:xfrm>
      </p:grpSpPr>
      <p:sp>
        <p:nvSpPr>
          <p:cNvPr id="1048967" name="Title 1"/>
          <p:cNvSpPr>
            <a:spLocks noGrp="1"/>
          </p:cNvSpPr>
          <p:nvPr>
            <p:ph type="title"/>
          </p:nvPr>
        </p:nvSpPr>
        <p:spPr>
          <a:xfrm>
            <a:off x="2152654" y="1063358"/>
            <a:ext cx="7886700" cy="994167"/>
          </a:xfrm>
        </p:spPr>
        <p:txBody>
          <a:bodyPr/>
          <a:p>
            <a:r>
              <a:t>                     </a:t>
            </a:r>
            <a:r>
              <a:rPr b="1"/>
              <a:t>drug records</a:t>
            </a:r>
            <a:endParaRPr b="1" sz="3000"/>
          </a:p>
        </p:txBody>
      </p:sp>
      <p:sp>
        <p:nvSpPr>
          <p:cNvPr id="1048968" name="Content Placeholder 2"/>
          <p:cNvSpPr>
            <a:spLocks noGrp="1"/>
          </p:cNvSpPr>
          <p:nvPr>
            <p:ph idx="1"/>
          </p:nvPr>
        </p:nvSpPr>
        <p:spPr/>
        <p:txBody>
          <a:bodyPr>
            <a:normAutofit/>
          </a:bodyPr>
          <a:p>
            <a:r>
              <a:t>Every health institution has  its own records for drug accountability,</a:t>
            </a:r>
          </a:p>
          <a:p>
            <a:pPr indent="0" marL="0">
              <a:buNone/>
            </a:pPr>
            <a:r>
              <a:rPr b="1"/>
              <a:t>these are;</a:t>
            </a:r>
            <a:endParaRPr b="1"/>
          </a:p>
          <a:p>
            <a:pPr indent="-385762" marL="385762">
              <a:buFont typeface="+mj-lt"/>
              <a:buAutoNum type="arabicPeriod"/>
            </a:pPr>
            <a:r>
              <a:t> patients drug order card/treatment sheet</a:t>
            </a:r>
          </a:p>
          <a:p>
            <a:pPr indent="-385762" marL="385762">
              <a:buFont typeface="+mj-lt"/>
              <a:buAutoNum type="arabicPeriod"/>
            </a:pPr>
            <a:r>
              <a:t>Antibiotic register oral and injectables this has,  stock at hand, drugs received from pharmacy, drug issued to patients, date and time issued, signature of the dispensing nurse. this book is balanced  at he end of each page.</a:t>
            </a:r>
          </a:p>
          <a:p>
            <a:pPr indent="-385762" marL="385762">
              <a:buFont typeface="+mj-lt"/>
              <a:buAutoNum type="arabicPeriod"/>
            </a:pPr>
            <a:r>
              <a:t>Handing over register  for the purpose of handing over drug during each shift.</a:t>
            </a:r>
          </a:p>
          <a:p>
            <a:pPr indent="-385762" marL="385762">
              <a:buFont typeface="+mj-lt"/>
              <a:buAutoNum type="arabicPeriod"/>
            </a:pPr>
            <a:r>
              <a:t>Requisition register for ordering drugs from pharmacy should always be accompanied by the drug register.</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850" name=""/>
        <p:cNvGrpSpPr/>
        <p:nvPr/>
      </p:nvGrpSpPr>
      <p:grpSpPr>
        <a:xfrm>
          <a:off x="0" y="0"/>
          <a:ext cx="0" cy="0"/>
          <a:chOff x="0" y="0"/>
          <a:chExt cx="0" cy="0"/>
        </a:xfrm>
      </p:grpSpPr>
      <p:sp>
        <p:nvSpPr>
          <p:cNvPr id="1048969" name="Title 1"/>
          <p:cNvSpPr>
            <a:spLocks noGrp="1"/>
          </p:cNvSpPr>
          <p:nvPr>
            <p:ph type="title"/>
          </p:nvPr>
        </p:nvSpPr>
        <p:spPr>
          <a:xfrm>
            <a:off x="838204" y="365126"/>
            <a:ext cx="10515600" cy="720723"/>
          </a:xfrm>
        </p:spPr>
        <p:txBody>
          <a:bodyPr>
            <a:normAutofit fontScale="95455"/>
          </a:bodyPr>
          <a:p>
            <a:r>
              <a:rPr b="1"/>
              <a:t>                           drug storage</a:t>
            </a:r>
            <a:endParaRPr b="1"/>
          </a:p>
        </p:txBody>
      </p:sp>
      <p:sp>
        <p:nvSpPr>
          <p:cNvPr id="1048970" name="Content Placeholder 2"/>
          <p:cNvSpPr>
            <a:spLocks noGrp="1"/>
          </p:cNvSpPr>
          <p:nvPr>
            <p:ph idx="1"/>
          </p:nvPr>
        </p:nvSpPr>
        <p:spPr>
          <a:xfrm>
            <a:off x="838204" y="1085850"/>
            <a:ext cx="10706095" cy="5407023"/>
          </a:xfrm>
        </p:spPr>
        <p:txBody>
          <a:bodyPr>
            <a:normAutofit/>
          </a:bodyPr>
          <a:p>
            <a:r>
              <a:t>Many factors can change your medication including heat, .air , light, and moisture. This will infective or even harmful.</a:t>
            </a:r>
          </a:p>
          <a:p>
            <a:r>
              <a:t>Drugs require careful storage and handling to maintain their safety and potency.</a:t>
            </a:r>
          </a:p>
          <a:p>
            <a:r>
              <a:rPr>
                <a:solidFill>
                  <a:srgbClr val="FF0000"/>
                </a:solidFill>
              </a:rPr>
              <a:t>Every medication has its owner recommended storage condition from room temperature, refrigeration and freezing thus check the specific storage conditio</a:t>
            </a:r>
            <a:r>
              <a:t>n.</a:t>
            </a:r>
          </a:p>
          <a:p>
            <a:r>
              <a:t>They must be kept in special spaces secured from access by unauthorized persons.</a:t>
            </a:r>
          </a:p>
          <a:p>
            <a:r>
              <a:t>Storage areas should be kept clean, cool, and dry with no direct sun light.</a:t>
            </a:r>
          </a:p>
          <a:p>
            <a:r>
              <a:t> Drugs should not be placed on the floor.</a:t>
            </a:r>
          </a:p>
          <a:p>
            <a:r>
              <a:t>Sterile substances should be protected from contamination. </a:t>
            </a:r>
          </a:p>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851" name=""/>
        <p:cNvGrpSpPr/>
        <p:nvPr/>
      </p:nvGrpSpPr>
      <p:grpSpPr>
        <a:xfrm>
          <a:off x="0" y="0"/>
          <a:ext cx="0" cy="0"/>
          <a:chOff x="0" y="0"/>
          <a:chExt cx="0" cy="0"/>
        </a:xfrm>
      </p:grpSpPr>
      <p:sp>
        <p:nvSpPr>
          <p:cNvPr id="1048971" name="Content Placeholder 2"/>
          <p:cNvSpPr>
            <a:spLocks noGrp="1"/>
          </p:cNvSpPr>
          <p:nvPr>
            <p:ph idx="1"/>
          </p:nvPr>
        </p:nvSpPr>
        <p:spPr/>
        <p:txBody>
          <a:bodyPr/>
          <a:p>
            <a:r>
              <a:t>Drugs are best kept in their original containers. original containers protect their content.</a:t>
            </a:r>
          </a:p>
          <a:p>
            <a:r>
              <a:t>Do not transfer sterile substances from container to container as it increases the probability of contamination. Protect the label from soiling  to ensure it remains legible.</a:t>
            </a:r>
          </a:p>
          <a:p>
            <a:r>
              <a:t>Drugs should only be labeled in pharmacy.</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852" name=""/>
        <p:cNvGrpSpPr/>
        <p:nvPr/>
      </p:nvGrpSpPr>
      <p:grpSpPr>
        <a:xfrm>
          <a:off x="0" y="0"/>
          <a:ext cx="0" cy="0"/>
          <a:chOff x="0" y="0"/>
          <a:chExt cx="0" cy="0"/>
        </a:xfrm>
      </p:grpSpPr>
      <p:sp>
        <p:nvSpPr>
          <p:cNvPr id="1048972" name="Title 1"/>
          <p:cNvSpPr>
            <a:spLocks noGrp="1"/>
          </p:cNvSpPr>
          <p:nvPr>
            <p:ph type="title"/>
          </p:nvPr>
        </p:nvSpPr>
        <p:spPr>
          <a:xfrm>
            <a:off x="838204" y="365126"/>
            <a:ext cx="10515600" cy="558803"/>
          </a:xfrm>
        </p:spPr>
        <p:txBody>
          <a:bodyPr>
            <a:normAutofit fontScale="90000"/>
          </a:bodyPr>
          <a:p>
            <a:r>
              <a:t>Stock control</a:t>
            </a:r>
          </a:p>
        </p:txBody>
      </p:sp>
      <p:sp>
        <p:nvSpPr>
          <p:cNvPr id="1048973" name="Content Placeholder 2"/>
          <p:cNvSpPr>
            <a:spLocks noGrp="1"/>
          </p:cNvSpPr>
          <p:nvPr>
            <p:ph idx="1"/>
          </p:nvPr>
        </p:nvSpPr>
        <p:spPr>
          <a:xfrm>
            <a:off x="838204" y="1314450"/>
            <a:ext cx="10515600" cy="5178423"/>
          </a:xfrm>
        </p:spPr>
        <p:txBody>
          <a:bodyPr>
            <a:normAutofit fontScale="96296" lnSpcReduction="20000"/>
          </a:bodyPr>
          <a:p>
            <a:pPr indent="0" marL="0">
              <a:buNone/>
            </a:pPr>
            <a:r>
              <a:rPr b="1" sz="2700">
                <a:solidFill>
                  <a:srgbClr val="000000"/>
                </a:solidFill>
              </a:rPr>
              <a:t>Stock control; </a:t>
            </a:r>
            <a:endParaRPr b="1" sz="2700">
              <a:solidFill>
                <a:srgbClr val="000000"/>
              </a:solidFill>
            </a:endParaRPr>
          </a:p>
          <a:p>
            <a:pPr indent="0" marL="0">
              <a:buNone/>
            </a:pPr>
            <a:r>
              <a:rPr sz="2700">
                <a:solidFill>
                  <a:srgbClr val="000000"/>
                </a:solidFill>
              </a:rPr>
              <a:t>This is  done by use of a medication stock sheet  for each drug .</a:t>
            </a:r>
            <a:endParaRPr sz="2700">
              <a:solidFill>
                <a:srgbClr val="000000"/>
              </a:solidFill>
            </a:endParaRPr>
          </a:p>
          <a:p>
            <a:pPr indent="0" marL="0">
              <a:buNone/>
            </a:pPr>
            <a:r>
              <a:rPr sz="2700">
                <a:solidFill>
                  <a:srgbClr val="000000"/>
                </a:solidFill>
              </a:rPr>
              <a:t>Content of the sheet is the </a:t>
            </a:r>
            <a:endParaRPr sz="2700">
              <a:solidFill>
                <a:srgbClr val="000000"/>
              </a:solidFill>
            </a:endParaRPr>
          </a:p>
          <a:p>
            <a:pPr indent="0" marL="0">
              <a:buNone/>
            </a:pPr>
            <a:r>
              <a:rPr sz="2700">
                <a:solidFill>
                  <a:srgbClr val="000000"/>
                </a:solidFill>
              </a:rPr>
              <a:t>-name of the drug  </a:t>
            </a:r>
            <a:endParaRPr sz="2700">
              <a:solidFill>
                <a:srgbClr val="000000"/>
              </a:solidFill>
            </a:endParaRPr>
          </a:p>
          <a:p>
            <a:pPr indent="0" marL="0">
              <a:buNone/>
            </a:pPr>
            <a:r>
              <a:rPr sz="2700">
                <a:solidFill>
                  <a:srgbClr val="000000"/>
                </a:solidFill>
              </a:rPr>
              <a:t>-date and time</a:t>
            </a:r>
            <a:endParaRPr sz="2700">
              <a:solidFill>
                <a:srgbClr val="000000"/>
              </a:solidFill>
            </a:endParaRPr>
          </a:p>
          <a:p>
            <a:pPr indent="0" marL="0">
              <a:buNone/>
            </a:pPr>
            <a:r>
              <a:rPr sz="2700">
                <a:solidFill>
                  <a:srgbClr val="000000"/>
                </a:solidFill>
              </a:rPr>
              <a:t>-quantity stock</a:t>
            </a:r>
            <a:endParaRPr sz="2700">
              <a:solidFill>
                <a:srgbClr val="000000"/>
              </a:solidFill>
            </a:endParaRPr>
          </a:p>
          <a:p>
            <a:pPr indent="0" marL="0">
              <a:buNone/>
            </a:pPr>
            <a:r>
              <a:rPr sz="2700">
                <a:solidFill>
                  <a:srgbClr val="000000"/>
                </a:solidFill>
              </a:rPr>
              <a:t>-quantity received</a:t>
            </a:r>
            <a:endParaRPr sz="2700">
              <a:solidFill>
                <a:srgbClr val="000000"/>
              </a:solidFill>
            </a:endParaRPr>
          </a:p>
          <a:p>
            <a:pPr indent="0" marL="0">
              <a:buNone/>
            </a:pPr>
            <a:r>
              <a:rPr sz="2700">
                <a:solidFill>
                  <a:srgbClr val="000000"/>
                </a:solidFill>
              </a:rPr>
              <a:t>-quantity used</a:t>
            </a:r>
            <a:endParaRPr sz="2700">
              <a:solidFill>
                <a:srgbClr val="000000"/>
              </a:solidFill>
            </a:endParaRPr>
          </a:p>
          <a:p>
            <a:pPr indent="0" marL="0">
              <a:buNone/>
            </a:pPr>
            <a:r>
              <a:rPr sz="2700">
                <a:solidFill>
                  <a:srgbClr val="000000"/>
                </a:solidFill>
              </a:rPr>
              <a:t>-quantity discarded </a:t>
            </a:r>
            <a:endParaRPr sz="2700">
              <a:solidFill>
                <a:srgbClr val="000000"/>
              </a:solidFill>
            </a:endParaRPr>
          </a:p>
          <a:p>
            <a:pPr indent="0" marL="0">
              <a:buNone/>
            </a:pPr>
            <a:r>
              <a:rPr sz="2700">
                <a:solidFill>
                  <a:srgbClr val="000000"/>
                </a:solidFill>
              </a:rPr>
              <a:t>-Expiary date.</a:t>
            </a:r>
            <a:endParaRPr sz="2700">
              <a:solidFill>
                <a:srgbClr val="000000"/>
              </a:solidFill>
            </a:endParaRPr>
          </a:p>
          <a:p>
            <a:pPr indent="0" marL="0">
              <a:buNone/>
            </a:pPr>
            <a:r>
              <a:rPr sz="2700">
                <a:solidFill>
                  <a:srgbClr val="000000"/>
                </a:solidFill>
              </a:rPr>
              <a:t>Use </a:t>
            </a:r>
            <a:r>
              <a:rPr b="1" sz="2700">
                <a:solidFill>
                  <a:srgbClr val="000000"/>
                </a:solidFill>
              </a:rPr>
              <a:t>FEFO (</a:t>
            </a:r>
            <a:r>
              <a:rPr sz="2700">
                <a:solidFill>
                  <a:srgbClr val="000000"/>
                </a:solidFill>
              </a:rPr>
              <a:t>first expiry first out)  when arranging and issuing drugs , for drugs with the same expiry date use </a:t>
            </a:r>
            <a:r>
              <a:rPr b="1" sz="2700">
                <a:solidFill>
                  <a:srgbClr val="000000"/>
                </a:solidFill>
              </a:rPr>
              <a:t>FIFO</a:t>
            </a:r>
            <a:r>
              <a:rPr sz="2700">
                <a:solidFill>
                  <a:srgbClr val="000000"/>
                </a:solidFill>
              </a:rPr>
              <a:t> (first in first out)</a:t>
            </a:r>
            <a:endParaRPr sz="2700">
              <a:solidFill>
                <a:srgbClr val="000000"/>
              </a:solidFill>
            </a:endParaRPr>
          </a:p>
          <a:p>
            <a:pPr indent="0" marL="0">
              <a:buNone/>
            </a:pP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853" name=""/>
        <p:cNvGrpSpPr/>
        <p:nvPr/>
      </p:nvGrpSpPr>
      <p:grpSpPr>
        <a:xfrm>
          <a:off x="0" y="0"/>
          <a:ext cx="0" cy="0"/>
          <a:chOff x="0" y="0"/>
          <a:chExt cx="0" cy="0"/>
        </a:xfrm>
      </p:grpSpPr>
      <p:sp>
        <p:nvSpPr>
          <p:cNvPr id="1048974" name="Title 1"/>
          <p:cNvSpPr>
            <a:spLocks noGrp="1"/>
          </p:cNvSpPr>
          <p:nvPr>
            <p:ph type="title"/>
          </p:nvPr>
        </p:nvSpPr>
        <p:spPr/>
        <p:txBody>
          <a:bodyPr/>
          <a:p>
            <a:r>
              <a:rPr b="1"/>
              <a:t>                 Classification of drugs</a:t>
            </a:r>
            <a:endParaRPr b="1"/>
          </a:p>
        </p:txBody>
      </p:sp>
      <p:sp>
        <p:nvSpPr>
          <p:cNvPr id="1048975" name="Content Placeholder 2"/>
          <p:cNvSpPr>
            <a:spLocks noGrp="1"/>
          </p:cNvSpPr>
          <p:nvPr>
            <p:ph idx="1"/>
          </p:nvPr>
        </p:nvSpPr>
        <p:spPr/>
        <p:txBody>
          <a:bodyPr>
            <a:normAutofit fontScale="96429"/>
          </a:bodyPr>
          <a:p>
            <a:pPr indent="0" marL="0">
              <a:buNone/>
            </a:pPr>
            <a:r>
              <a:t>Classification systems enable us to readily identify the similarities and differences among a large number of medications within or outside a classification.</a:t>
            </a:r>
          </a:p>
          <a:p>
            <a:pPr indent="0" marL="0">
              <a:buNone/>
            </a:pPr>
            <a:r>
              <a:t>Drugs can be classified according to;</a:t>
            </a:r>
          </a:p>
          <a:p>
            <a:pPr indent="-385762" marL="385762">
              <a:buFont typeface="+mj-lt"/>
              <a:buAutoNum type="arabicPeriod"/>
            </a:pPr>
            <a:r>
              <a:rPr b="1"/>
              <a:t>Body systems as follows;</a:t>
            </a:r>
            <a:endParaRPr b="1"/>
          </a:p>
          <a:p>
            <a:pPr indent="0" marL="0">
              <a:buNone/>
            </a:pPr>
            <a:r>
              <a:rPr b="1"/>
              <a:t>-</a:t>
            </a:r>
            <a:r>
              <a:t>Respiratory  medications</a:t>
            </a:r>
          </a:p>
          <a:p>
            <a:pPr indent="0" marL="0">
              <a:buNone/>
            </a:pPr>
            <a:r>
              <a:t>-Cardiovascular system medications</a:t>
            </a:r>
          </a:p>
          <a:p>
            <a:pPr indent="0" marL="0">
              <a:buNone/>
            </a:pPr>
            <a:r>
              <a:t>-Nervous system medications</a:t>
            </a:r>
          </a:p>
          <a:p>
            <a:pPr indent="0" marL="0">
              <a:buNone/>
            </a:pPr>
            <a:r>
              <a:t>-GIT medications</a:t>
            </a:r>
          </a:p>
          <a:p>
            <a:pPr indent="0" marL="0">
              <a:buNone/>
            </a:pP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854" name=""/>
        <p:cNvGrpSpPr/>
        <p:nvPr/>
      </p:nvGrpSpPr>
      <p:grpSpPr>
        <a:xfrm>
          <a:off x="0" y="0"/>
          <a:ext cx="0" cy="0"/>
          <a:chOff x="0" y="0"/>
          <a:chExt cx="0" cy="0"/>
        </a:xfrm>
      </p:grpSpPr>
      <p:sp>
        <p:nvSpPr>
          <p:cNvPr id="1048976" name="Content Placeholder 2"/>
          <p:cNvSpPr>
            <a:spLocks noGrp="1"/>
          </p:cNvSpPr>
          <p:nvPr>
            <p:ph idx="1"/>
          </p:nvPr>
        </p:nvSpPr>
        <p:spPr/>
        <p:txBody>
          <a:bodyPr>
            <a:normAutofit fontScale="96429"/>
          </a:bodyPr>
          <a:p>
            <a:pPr indent="-385762" marL="385762">
              <a:buFont typeface="+mj-lt"/>
              <a:buAutoNum type="arabicPeriod"/>
            </a:pPr>
            <a:r>
              <a:rPr b="1"/>
              <a:t>Their functions or use e.g.</a:t>
            </a:r>
            <a:endParaRPr b="1"/>
          </a:p>
          <a:p>
            <a:pPr indent="0" marL="0">
              <a:buNone/>
            </a:pPr>
            <a:r>
              <a:t>-antidepressant</a:t>
            </a:r>
          </a:p>
          <a:p>
            <a:pPr indent="0" marL="0">
              <a:buNone/>
            </a:pPr>
            <a:r>
              <a:t>-diuretics</a:t>
            </a:r>
          </a:p>
          <a:p>
            <a:pPr indent="0" marL="0">
              <a:buNone/>
            </a:pPr>
            <a:r>
              <a:t>-analgesics</a:t>
            </a:r>
          </a:p>
          <a:p>
            <a:pPr indent="0" marL="0">
              <a:buNone/>
            </a:pPr>
            <a:r>
              <a:t>-antibiotics</a:t>
            </a:r>
          </a:p>
          <a:p>
            <a:pPr indent="0" marL="0">
              <a:buNone/>
            </a:pPr>
            <a:r>
              <a:t>3.</a:t>
            </a:r>
            <a:r>
              <a:rPr b="1"/>
              <a:t>Their chemical make up</a:t>
            </a:r>
            <a:endParaRPr b="1"/>
          </a:p>
          <a:p>
            <a:pPr indent="0" marL="0">
              <a:buNone/>
            </a:pPr>
            <a:r>
              <a:rPr b="1"/>
              <a:t>-</a:t>
            </a:r>
            <a:r>
              <a:t>estrogens</a:t>
            </a:r>
          </a:p>
          <a:p>
            <a:pPr indent="0" marL="0">
              <a:buNone/>
            </a:pPr>
            <a:r>
              <a:rPr b="1"/>
              <a:t>-</a:t>
            </a:r>
            <a:r>
              <a:t>opioids</a:t>
            </a:r>
          </a:p>
          <a:p>
            <a:pPr indent="0" marL="0">
              <a:buNone/>
            </a:pPr>
            <a:endParaRPr b="1"/>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855" name=""/>
        <p:cNvGrpSpPr/>
        <p:nvPr/>
      </p:nvGrpSpPr>
      <p:grpSpPr>
        <a:xfrm>
          <a:off x="0" y="0"/>
          <a:ext cx="0" cy="0"/>
          <a:chOff x="0" y="0"/>
          <a:chExt cx="0" cy="0"/>
        </a:xfrm>
      </p:grpSpPr>
      <p:sp>
        <p:nvSpPr>
          <p:cNvPr id="1048977" name="Title 1"/>
          <p:cNvSpPr>
            <a:spLocks noGrp="1"/>
          </p:cNvSpPr>
          <p:nvPr>
            <p:ph type="ctrTitle"/>
          </p:nvPr>
        </p:nvSpPr>
        <p:spPr/>
        <p:txBody>
          <a:bodyPr/>
          <a:p>
            <a:r>
              <a:t>Antibacterials</a:t>
            </a:r>
            <a:r>
              <a:t> </a:t>
            </a:r>
          </a:p>
        </p:txBody>
      </p:sp>
      <p:sp>
        <p:nvSpPr>
          <p:cNvPr id="1048978" name="Subtitle 2"/>
          <p:cNvSpPr>
            <a:spLocks noGrp="1"/>
          </p:cNvSpPr>
          <p:nvPr>
            <p:ph type="subTitle" idx="1"/>
          </p:nvPr>
        </p:nvSpPr>
        <p:spPr/>
        <p:txBody>
          <a:bodyPr/>
          <a:p>
            <a:r>
              <a:t>SINDANI </a:t>
            </a: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856" name=""/>
        <p:cNvGrpSpPr/>
        <p:nvPr/>
      </p:nvGrpSpPr>
      <p:grpSpPr>
        <a:xfrm>
          <a:off x="0" y="0"/>
          <a:ext cx="0" cy="0"/>
          <a:chOff x="0" y="0"/>
          <a:chExt cx="0" cy="0"/>
        </a:xfrm>
      </p:grpSpPr>
      <p:sp>
        <p:nvSpPr>
          <p:cNvPr id="1048979" name="Title 1"/>
          <p:cNvSpPr>
            <a:spLocks noGrp="1"/>
          </p:cNvSpPr>
          <p:nvPr>
            <p:ph type="title"/>
          </p:nvPr>
        </p:nvSpPr>
        <p:spPr/>
        <p:txBody>
          <a:bodyPr>
            <a:normAutofit/>
          </a:bodyPr>
          <a:p>
            <a:r>
              <a:rPr sz="6000"/>
              <a:t>Content </a:t>
            </a:r>
            <a:endParaRPr sz="6000"/>
          </a:p>
        </p:txBody>
      </p:sp>
      <p:sp>
        <p:nvSpPr>
          <p:cNvPr id="1048980" name="Content Placeholder 2"/>
          <p:cNvSpPr>
            <a:spLocks noGrp="1"/>
          </p:cNvSpPr>
          <p:nvPr>
            <p:ph idx="1"/>
          </p:nvPr>
        </p:nvSpPr>
        <p:spPr/>
        <p:txBody>
          <a:bodyPr/>
          <a:p>
            <a:r>
              <a:rPr sz="4400"/>
              <a:t>Antimicrobial agents- </a:t>
            </a:r>
            <a:r>
              <a:rPr sz="4400"/>
              <a:t>antibacterials</a:t>
            </a:r>
            <a:r>
              <a:rPr sz="4400"/>
              <a:t>, </a:t>
            </a:r>
            <a:r>
              <a:rPr sz="4400"/>
              <a:t>penicillins</a:t>
            </a:r>
            <a:r>
              <a:rPr sz="4400"/>
              <a:t>, </a:t>
            </a:r>
            <a:r>
              <a:rPr sz="4400"/>
              <a:t>cephalosporins</a:t>
            </a:r>
            <a:r>
              <a:rPr sz="4400"/>
              <a:t>, macrolides, aminoglycosides, </a:t>
            </a:r>
            <a:r>
              <a:rPr sz="4400"/>
              <a:t>tetracyclines</a:t>
            </a:r>
            <a:r>
              <a:rPr sz="4400"/>
              <a:t>, chloramphenicol, fluoroquinolones, vancomycin, </a:t>
            </a:r>
            <a:r>
              <a:rPr sz="4400"/>
              <a:t>lincosamides</a:t>
            </a:r>
            <a:r>
              <a:rPr sz="4400"/>
              <a:t>, </a:t>
            </a:r>
            <a:r>
              <a:rPr sz="4400"/>
              <a:t>sulphonamides</a:t>
            </a:r>
            <a:r>
              <a:rPr sz="4400"/>
              <a:t>, </a:t>
            </a:r>
            <a:r>
              <a:rPr sz="4400"/>
              <a:t>antitiberculus</a:t>
            </a:r>
            <a:r>
              <a:rPr sz="4400"/>
              <a:t>, trimethoprim</a:t>
            </a:r>
            <a:endParaRPr sz="4400"/>
          </a:p>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857" name=""/>
        <p:cNvGrpSpPr/>
        <p:nvPr/>
      </p:nvGrpSpPr>
      <p:grpSpPr>
        <a:xfrm>
          <a:off x="0" y="0"/>
          <a:ext cx="0" cy="0"/>
          <a:chOff x="0" y="0"/>
          <a:chExt cx="0" cy="0"/>
        </a:xfrm>
      </p:grpSpPr>
      <p:sp>
        <p:nvSpPr>
          <p:cNvPr id="1048981" name="Title 1"/>
          <p:cNvSpPr>
            <a:spLocks noGrp="1"/>
          </p:cNvSpPr>
          <p:nvPr>
            <p:ph type="title"/>
          </p:nvPr>
        </p:nvSpPr>
        <p:spPr>
          <a:xfrm>
            <a:off x="838204" y="365126"/>
            <a:ext cx="10515600" cy="863598"/>
          </a:xfrm>
        </p:spPr>
        <p:txBody>
          <a:bodyPr/>
          <a:p>
            <a:r>
              <a:t>             antibiotics/anti- infective agents</a:t>
            </a:r>
          </a:p>
        </p:txBody>
      </p:sp>
      <p:sp>
        <p:nvSpPr>
          <p:cNvPr id="1048982" name="Content Placeholder 2"/>
          <p:cNvSpPr>
            <a:spLocks noGrp="1"/>
          </p:cNvSpPr>
          <p:nvPr>
            <p:ph idx="1"/>
          </p:nvPr>
        </p:nvSpPr>
        <p:spPr>
          <a:xfrm>
            <a:off x="276220" y="1228725"/>
            <a:ext cx="11506195" cy="5476870"/>
          </a:xfrm>
        </p:spPr>
        <p:txBody>
          <a:bodyPr>
            <a:normAutofit/>
          </a:bodyPr>
          <a:p>
            <a:pPr>
              <a:buClr>
                <a:srgbClr val="E48312"/>
              </a:buClr>
              <a:buSzPct val="100000"/>
            </a:pPr>
            <a:r>
              <a:rPr sz="3200"/>
              <a:t>Drugs that have the ability to destroy or interfere with growth of bacteria, also commonly referred to as antibiotics.</a:t>
            </a:r>
            <a:endParaRPr sz="3200"/>
          </a:p>
          <a:p>
            <a:pPr>
              <a:buClr>
                <a:srgbClr val="E48312"/>
              </a:buClr>
              <a:buSzPct val="100000"/>
            </a:pPr>
            <a:r>
              <a:rPr sz="3200"/>
              <a:t>Antibacterial drugs are either bactericidal or bacteriostatic. </a:t>
            </a:r>
            <a:endParaRPr sz="3200"/>
          </a:p>
          <a:p>
            <a:pPr lvl="1">
              <a:buClr>
                <a:srgbClr val="E48312"/>
              </a:buClr>
              <a:buSzPct val="100000"/>
            </a:pPr>
            <a:r>
              <a:rPr>
                <a:solidFill>
                  <a:srgbClr val="FF0000"/>
                </a:solidFill>
              </a:rPr>
              <a:t>Bactericidal drugs are those that directly kill bacteria. </a:t>
            </a:r>
            <a:endParaRPr>
              <a:solidFill>
                <a:srgbClr val="FF0000"/>
              </a:solidFill>
            </a:endParaRPr>
          </a:p>
          <a:p>
            <a:pPr lvl="1">
              <a:buClr>
                <a:srgbClr val="E48312"/>
              </a:buClr>
              <a:buSzPct val="100000"/>
            </a:pPr>
            <a:r>
              <a:rPr>
                <a:solidFill>
                  <a:srgbClr val="FF0000"/>
                </a:solidFill>
              </a:rPr>
              <a:t>Bacteriostatic drugs on the other hand do not kill the bacteria directly but rather inhibits/retards multiplication of bacteria, allowing the host defenses to clear the invading bacteria. </a:t>
            </a:r>
            <a:endParaRPr sz="4000">
              <a:solidFill>
                <a:srgbClr val="FF0000"/>
              </a:solidFill>
            </a:endParaRPr>
          </a:p>
          <a:p>
            <a:pPr>
              <a:buClr>
                <a:srgbClr val="E48312"/>
              </a:buClr>
              <a:buSzPct val="100000"/>
            </a:pPr>
            <a:r>
              <a:rPr sz="3200">
                <a:solidFill>
                  <a:srgbClr val="3F3F3F"/>
                </a:solidFill>
              </a:rPr>
              <a:t>Antibiotics are among the most commonly used and misused of all drugs. </a:t>
            </a:r>
            <a:endParaRPr sz="3200">
              <a:solidFill>
                <a:srgbClr val="3F3F3F"/>
              </a:solidFill>
            </a:endParaRPr>
          </a:p>
          <a:p>
            <a:pPr>
              <a:buClr>
                <a:srgbClr val="E48312"/>
              </a:buClr>
              <a:buSzPct val="100000"/>
            </a:pPr>
            <a:r>
              <a:rPr sz="3200">
                <a:solidFill>
                  <a:srgbClr val="3F3F3F"/>
                </a:solidFill>
              </a:rPr>
              <a:t> The inevitable consequence of their widespread use has been the emergence of </a:t>
            </a:r>
            <a:r>
              <a:rPr b="1" sz="3200">
                <a:solidFill>
                  <a:srgbClr val="3F3F3F"/>
                </a:solidFill>
              </a:rPr>
              <a:t>antibiotic-resistance pathogens.</a:t>
            </a:r>
            <a:endParaRPr sz="3200">
              <a:solidFill>
                <a:srgbClr val="3F3F3F"/>
              </a:solidFill>
            </a:endParaRPr>
          </a:p>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858" name=""/>
        <p:cNvGrpSpPr/>
        <p:nvPr/>
      </p:nvGrpSpPr>
      <p:grpSpPr>
        <a:xfrm>
          <a:off x="0" y="0"/>
          <a:ext cx="0" cy="0"/>
          <a:chOff x="0" y="0"/>
          <a:chExt cx="0" cy="0"/>
        </a:xfrm>
      </p:grpSpPr>
      <p:sp>
        <p:nvSpPr>
          <p:cNvPr id="1048983" name="Title 1"/>
          <p:cNvSpPr>
            <a:spLocks noGrp="1"/>
          </p:cNvSpPr>
          <p:nvPr>
            <p:ph type="title"/>
          </p:nvPr>
        </p:nvSpPr>
        <p:spPr>
          <a:xfrm>
            <a:off x="838204" y="365126"/>
            <a:ext cx="10515600" cy="539743"/>
          </a:xfrm>
        </p:spPr>
        <p:txBody>
          <a:bodyPr>
            <a:normAutofit fontScale="90000"/>
          </a:bodyPr>
          <a:p>
            <a:r>
              <a:rPr b="1" sz="4800">
                <a:solidFill>
                  <a:srgbClr val="3F3F3F"/>
                </a:solidFill>
              </a:rPr>
              <a:t>Classification of antibiotics</a:t>
            </a:r>
            <a:endParaRPr b="1"/>
          </a:p>
        </p:txBody>
      </p:sp>
      <p:sp>
        <p:nvSpPr>
          <p:cNvPr id="1048984" name="Content Placeholder 2"/>
          <p:cNvSpPr>
            <a:spLocks noGrp="1"/>
          </p:cNvSpPr>
          <p:nvPr>
            <p:ph idx="1"/>
          </p:nvPr>
        </p:nvSpPr>
        <p:spPr>
          <a:xfrm>
            <a:off x="838204" y="1085850"/>
            <a:ext cx="10515600" cy="5572125"/>
          </a:xfrm>
        </p:spPr>
        <p:txBody>
          <a:bodyPr>
            <a:normAutofit fontScale="60714" lnSpcReduction="20000"/>
          </a:bodyPr>
          <a:p>
            <a:pPr>
              <a:buClr>
                <a:srgbClr val="E48312"/>
              </a:buClr>
              <a:buSzPct val="100000"/>
            </a:pPr>
            <a:r>
              <a:rPr sz="5600">
                <a:solidFill>
                  <a:srgbClr val="3F3F3F"/>
                </a:solidFill>
              </a:rPr>
              <a:t>Beta- lactam antibiotics</a:t>
            </a:r>
            <a:endParaRPr sz="5600">
              <a:solidFill>
                <a:srgbClr val="3F3F3F"/>
              </a:solidFill>
            </a:endParaRPr>
          </a:p>
          <a:p>
            <a:pPr>
              <a:buClr>
                <a:srgbClr val="E48312"/>
              </a:buClr>
              <a:buSzPct val="100000"/>
            </a:pPr>
            <a:r>
              <a:rPr sz="5600">
                <a:solidFill>
                  <a:srgbClr val="3F3F3F"/>
                </a:solidFill>
              </a:rPr>
              <a:t>tetracycline</a:t>
            </a:r>
            <a:endParaRPr sz="5600">
              <a:solidFill>
                <a:srgbClr val="3F3F3F"/>
              </a:solidFill>
            </a:endParaRPr>
          </a:p>
          <a:p>
            <a:pPr>
              <a:buClr>
                <a:srgbClr val="E48312"/>
              </a:buClr>
              <a:buSzPct val="100000"/>
            </a:pPr>
            <a:r>
              <a:rPr sz="5600">
                <a:solidFill>
                  <a:srgbClr val="3F3F3F"/>
                </a:solidFill>
              </a:rPr>
              <a:t>Aminoglycoside</a:t>
            </a:r>
            <a:endParaRPr sz="5600">
              <a:solidFill>
                <a:srgbClr val="3F3F3F"/>
              </a:solidFill>
            </a:endParaRPr>
          </a:p>
          <a:p>
            <a:pPr>
              <a:buClr>
                <a:srgbClr val="E48312"/>
              </a:buClr>
              <a:buSzPct val="100000"/>
            </a:pPr>
            <a:r>
              <a:rPr sz="5600">
                <a:solidFill>
                  <a:srgbClr val="3F3F3F"/>
                </a:solidFill>
              </a:rPr>
              <a:t>Macrolides</a:t>
            </a:r>
            <a:endParaRPr sz="5600">
              <a:solidFill>
                <a:srgbClr val="3F3F3F"/>
              </a:solidFill>
            </a:endParaRPr>
          </a:p>
          <a:p>
            <a:pPr>
              <a:buClr>
                <a:srgbClr val="E48312"/>
              </a:buClr>
              <a:buSzPct val="100000"/>
            </a:pPr>
            <a:r>
              <a:rPr sz="5600">
                <a:solidFill>
                  <a:srgbClr val="3F3F3F"/>
                </a:solidFill>
              </a:rPr>
              <a:t>Quinolones</a:t>
            </a:r>
            <a:endParaRPr sz="5600">
              <a:solidFill>
                <a:srgbClr val="3F3F3F"/>
              </a:solidFill>
            </a:endParaRPr>
          </a:p>
          <a:p>
            <a:pPr>
              <a:buClr>
                <a:srgbClr val="E48312"/>
              </a:buClr>
              <a:buSzPct val="100000"/>
            </a:pPr>
            <a:r>
              <a:rPr sz="5600">
                <a:solidFill>
                  <a:srgbClr val="3F3F3F"/>
                </a:solidFill>
              </a:rPr>
              <a:t>Azoles</a:t>
            </a:r>
            <a:endParaRPr sz="5600">
              <a:solidFill>
                <a:srgbClr val="3F3F3F"/>
              </a:solidFill>
            </a:endParaRPr>
          </a:p>
          <a:p>
            <a:pPr>
              <a:buClr>
                <a:srgbClr val="E48312"/>
              </a:buClr>
              <a:buSzPct val="100000"/>
            </a:pPr>
            <a:r>
              <a:rPr sz="5600">
                <a:solidFill>
                  <a:srgbClr val="3F3F3F"/>
                </a:solidFill>
              </a:rPr>
              <a:t>Antimycobacterial </a:t>
            </a:r>
            <a:endParaRPr sz="5600">
              <a:solidFill>
                <a:srgbClr val="3F3F3F"/>
              </a:solidFill>
            </a:endParaRPr>
          </a:p>
          <a:p>
            <a:pPr>
              <a:buClr>
                <a:srgbClr val="E48312"/>
              </a:buClr>
              <a:buSzPct val="100000"/>
            </a:pPr>
            <a:r>
              <a:rPr sz="5600">
                <a:solidFill>
                  <a:srgbClr val="3F3F3F"/>
                </a:solidFill>
              </a:rPr>
              <a:t>Sulphonamides</a:t>
            </a:r>
            <a:endParaRPr sz="5600">
              <a:solidFill>
                <a:srgbClr val="3F3F3F"/>
              </a:solidFill>
            </a:endParaRPr>
          </a:p>
          <a:p>
            <a:pPr>
              <a:buClr>
                <a:srgbClr val="E48312"/>
              </a:buClr>
              <a:buSzPct val="100000"/>
            </a:pPr>
            <a:r>
              <a:rPr sz="5600">
                <a:solidFill>
                  <a:srgbClr val="3F3F3F"/>
                </a:solidFill>
              </a:rPr>
              <a:t> lincosamides</a:t>
            </a:r>
            <a:endParaRPr sz="5600">
              <a:solidFill>
                <a:srgbClr val="3F3F3F"/>
              </a:solidFill>
            </a:endParaRPr>
          </a:p>
          <a:p>
            <a:pPr>
              <a:buClr>
                <a:srgbClr val="E48312"/>
              </a:buClr>
              <a:buSzPct val="100000"/>
            </a:pPr>
            <a:r>
              <a:rPr sz="5600">
                <a:solidFill>
                  <a:srgbClr val="3F3F3F"/>
                </a:solidFill>
              </a:rPr>
              <a:t>Unclassified antibiotics like chloramphenicol, spectinomycin and vancomycin</a:t>
            </a:r>
            <a:endParaRPr sz="5600">
              <a:solidFill>
                <a:srgbClr val="3F3F3F"/>
              </a:solidFill>
            </a:endParaRPr>
          </a:p>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859" name=""/>
        <p:cNvGrpSpPr/>
        <p:nvPr/>
      </p:nvGrpSpPr>
      <p:grpSpPr>
        <a:xfrm>
          <a:off x="0" y="0"/>
          <a:ext cx="0" cy="0"/>
          <a:chOff x="0" y="0"/>
          <a:chExt cx="0" cy="0"/>
        </a:xfrm>
      </p:grpSpPr>
      <p:sp>
        <p:nvSpPr>
          <p:cNvPr id="1048985" name="Title 1"/>
          <p:cNvSpPr>
            <a:spLocks noGrp="1"/>
          </p:cNvSpPr>
          <p:nvPr>
            <p:ph type="title"/>
          </p:nvPr>
        </p:nvSpPr>
        <p:spPr/>
        <p:txBody>
          <a:bodyPr/>
          <a:p>
            <a:r>
              <a:rPr b="1" sz="4800">
                <a:solidFill>
                  <a:srgbClr val="3F3F3F"/>
                </a:solidFill>
              </a:rPr>
              <a:t>Beta –lactam antibiotics</a:t>
            </a:r>
            <a:endParaRPr b="1"/>
          </a:p>
        </p:txBody>
      </p:sp>
      <p:sp>
        <p:nvSpPr>
          <p:cNvPr id="1048986" name="Content Placeholder 2"/>
          <p:cNvSpPr>
            <a:spLocks noGrp="1"/>
          </p:cNvSpPr>
          <p:nvPr>
            <p:ph idx="1"/>
          </p:nvPr>
        </p:nvSpPr>
        <p:spPr>
          <a:xfrm>
            <a:off x="838204" y="1476370"/>
            <a:ext cx="10515600" cy="5016503"/>
          </a:xfrm>
        </p:spPr>
        <p:txBody>
          <a:bodyPr>
            <a:normAutofit/>
          </a:bodyPr>
          <a:p>
            <a:pPr indent="-91445" marL="91445">
              <a:buClr>
                <a:srgbClr val="E48312"/>
              </a:buClr>
              <a:buSzPct val="100000"/>
              <a:buFont typeface="Calibri"/>
              <a:buChar char=" "/>
            </a:pPr>
            <a:r>
              <a:rPr sz="3600">
                <a:solidFill>
                  <a:srgbClr val="3F3F3F"/>
                </a:solidFill>
              </a:rPr>
              <a:t>All beta –lactam compounds ,so named because of their unique four membered lactam ring as a basic chemical structure. </a:t>
            </a:r>
            <a:endParaRPr sz="3600">
              <a:solidFill>
                <a:srgbClr val="3F3F3F"/>
              </a:solidFill>
            </a:endParaRPr>
          </a:p>
          <a:p>
            <a:pPr indent="-91445" marL="91445">
              <a:buClr>
                <a:srgbClr val="E48312"/>
              </a:buClr>
              <a:buSzPct val="100000"/>
              <a:buFont typeface="Calibri"/>
              <a:buChar char=" "/>
            </a:pPr>
            <a:r>
              <a:rPr sz="3600">
                <a:solidFill>
                  <a:srgbClr val="3F3F3F"/>
                </a:solidFill>
              </a:rPr>
              <a:t>They are sub divided in to</a:t>
            </a:r>
            <a:endParaRPr sz="3600">
              <a:solidFill>
                <a:srgbClr val="3F3F3F"/>
              </a:solidFill>
            </a:endParaRPr>
          </a:p>
          <a:p>
            <a:pPr>
              <a:buClr>
                <a:srgbClr val="E48312"/>
              </a:buClr>
              <a:buSzPct val="100000"/>
            </a:pPr>
            <a:r>
              <a:rPr sz="3600">
                <a:solidFill>
                  <a:srgbClr val="3F3F3F"/>
                </a:solidFill>
              </a:rPr>
              <a:t>Penicillin </a:t>
            </a:r>
            <a:endParaRPr sz="3600">
              <a:solidFill>
                <a:srgbClr val="3F3F3F"/>
              </a:solidFill>
            </a:endParaRPr>
          </a:p>
          <a:p>
            <a:pPr>
              <a:buClr>
                <a:srgbClr val="E48312"/>
              </a:buClr>
              <a:buSzPct val="100000"/>
            </a:pPr>
            <a:r>
              <a:rPr sz="3600">
                <a:solidFill>
                  <a:srgbClr val="3F3F3F"/>
                </a:solidFill>
              </a:rPr>
              <a:t>Cephalosporins </a:t>
            </a:r>
            <a:endParaRPr sz="3600">
              <a:solidFill>
                <a:srgbClr val="3F3F3F"/>
              </a:solidFill>
            </a:endParaRPr>
          </a:p>
          <a:p>
            <a:pPr>
              <a:buClr>
                <a:srgbClr val="E48312"/>
              </a:buClr>
              <a:buSzPct val="100000"/>
            </a:pPr>
            <a:r>
              <a:rPr sz="3600">
                <a:solidFill>
                  <a:srgbClr val="3F3F3F"/>
                </a:solidFill>
              </a:rPr>
              <a:t>Others e.g. carbapenems and monobactams</a:t>
            </a:r>
            <a:endParaRPr sz="3600">
              <a:solidFill>
                <a:srgbClr val="3F3F3F"/>
              </a:solidFill>
            </a:endParaRP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860" name=""/>
        <p:cNvGrpSpPr/>
        <p:nvPr/>
      </p:nvGrpSpPr>
      <p:grpSpPr>
        <a:xfrm>
          <a:off x="0" y="0"/>
          <a:ext cx="0" cy="0"/>
          <a:chOff x="0" y="0"/>
          <a:chExt cx="0" cy="0"/>
        </a:xfrm>
      </p:grpSpPr>
      <p:sp>
        <p:nvSpPr>
          <p:cNvPr id="1048987" name="Title 1"/>
          <p:cNvSpPr>
            <a:spLocks noGrp="1"/>
          </p:cNvSpPr>
          <p:nvPr>
            <p:ph type="title"/>
          </p:nvPr>
        </p:nvSpPr>
        <p:spPr>
          <a:xfrm>
            <a:off x="838204" y="365126"/>
            <a:ext cx="10515600" cy="930278"/>
          </a:xfrm>
        </p:spPr>
        <p:txBody>
          <a:bodyPr/>
          <a:p>
            <a:r>
              <a:t>                                </a:t>
            </a:r>
            <a:r>
              <a:rPr b="1"/>
              <a:t>Penicillins</a:t>
            </a:r>
            <a:endParaRPr b="1"/>
          </a:p>
        </p:txBody>
      </p:sp>
      <p:sp>
        <p:nvSpPr>
          <p:cNvPr id="1048988" name="Content Placeholder 2"/>
          <p:cNvSpPr>
            <a:spLocks noGrp="1"/>
          </p:cNvSpPr>
          <p:nvPr>
            <p:ph idx="1"/>
          </p:nvPr>
        </p:nvSpPr>
        <p:spPr>
          <a:xfrm>
            <a:off x="838204" y="1381129"/>
            <a:ext cx="10515600" cy="5229225"/>
          </a:xfrm>
        </p:spPr>
        <p:txBody>
          <a:bodyPr>
            <a:normAutofit fontScale="96429"/>
          </a:bodyPr>
          <a:p>
            <a:pPr indent="-91445" marL="91445">
              <a:buClr>
                <a:srgbClr val="E48312"/>
              </a:buClr>
              <a:buSzPct val="100000"/>
              <a:buFont typeface="Calibri"/>
              <a:buChar char=" "/>
            </a:pPr>
            <a:r>
              <a:rPr sz="2800">
                <a:solidFill>
                  <a:srgbClr val="FF0000"/>
                </a:solidFill>
              </a:rPr>
              <a:t>Bactericidal antibiotics</a:t>
            </a:r>
            <a:endParaRPr b="1" sz="4000">
              <a:solidFill>
                <a:srgbClr val="FF0000"/>
              </a:solidFill>
            </a:endParaRPr>
          </a:p>
          <a:p>
            <a:pPr indent="-91445" marL="91445">
              <a:buClr>
                <a:srgbClr val="E48312"/>
              </a:buClr>
              <a:buSzPct val="100000"/>
              <a:buFont typeface="Calibri"/>
              <a:buChar char=" "/>
            </a:pPr>
            <a:r>
              <a:rPr b="1" sz="4000">
                <a:solidFill>
                  <a:srgbClr val="3F3F3F"/>
                </a:solidFill>
              </a:rPr>
              <a:t>Classification of penicillins</a:t>
            </a:r>
            <a:endParaRPr b="1" sz="4000">
              <a:solidFill>
                <a:srgbClr val="3F3F3F"/>
              </a:solidFill>
            </a:endParaRPr>
          </a:p>
          <a:p>
            <a:pPr>
              <a:buClr>
                <a:srgbClr val="E48312"/>
              </a:buClr>
              <a:buSzPct val="100000"/>
            </a:pPr>
            <a:r>
              <a:rPr b="1">
                <a:solidFill>
                  <a:srgbClr val="3F3F3F"/>
                </a:solidFill>
              </a:rPr>
              <a:t>Narrow spectrum (</a:t>
            </a:r>
            <a:r>
              <a:t>Natural </a:t>
            </a:r>
            <a:r>
              <a:t>penicillins</a:t>
            </a:r>
            <a:r>
              <a:t>) </a:t>
            </a:r>
            <a:r>
              <a:rPr>
                <a:solidFill>
                  <a:srgbClr val="3F3F3F"/>
                </a:solidFill>
              </a:rPr>
              <a:t>e.g. benzyl penicillin (</a:t>
            </a:r>
            <a:r>
              <a:t>penicillin G </a:t>
            </a:r>
            <a:r>
              <a:rPr>
                <a:solidFill>
                  <a:srgbClr val="3F3F3F"/>
                </a:solidFill>
              </a:rPr>
              <a:t>), phenoxy methyl penicillin, </a:t>
            </a:r>
            <a:r>
              <a:rPr>
                <a:solidFill>
                  <a:srgbClr val="3F3F3F"/>
                </a:solidFill>
              </a:rPr>
              <a:t>penethicillin</a:t>
            </a:r>
            <a:r>
              <a:rPr>
                <a:solidFill>
                  <a:srgbClr val="3F3F3F"/>
                </a:solidFill>
              </a:rPr>
              <a:t>.,</a:t>
            </a:r>
            <a:r>
              <a:t>Penicillin V </a:t>
            </a:r>
            <a:endParaRPr>
              <a:solidFill>
                <a:srgbClr val="3F3F3F"/>
              </a:solidFill>
            </a:endParaRPr>
          </a:p>
          <a:p>
            <a:pPr>
              <a:buClr>
                <a:srgbClr val="E48312"/>
              </a:buClr>
              <a:buSzPct val="100000"/>
            </a:pPr>
            <a:r>
              <a:rPr b="1">
                <a:solidFill>
                  <a:srgbClr val="3F3F3F"/>
                </a:solidFill>
              </a:rPr>
              <a:t>Antistaphylococcal</a:t>
            </a:r>
            <a:r>
              <a:rPr b="1">
                <a:solidFill>
                  <a:srgbClr val="3F3F3F"/>
                </a:solidFill>
              </a:rPr>
              <a:t> penicillin </a:t>
            </a:r>
            <a:r>
              <a:rPr>
                <a:solidFill>
                  <a:srgbClr val="3F3F3F"/>
                </a:solidFill>
              </a:rPr>
              <a:t>also called beta-lactamase resistant penicillin, or penicillinase resistant penicillin's e.g. nafcillin, cloxacillin, flucloxacillin, methicillin.</a:t>
            </a:r>
            <a:r>
              <a:t> Dicloxacillin, oxacillin</a:t>
            </a:r>
            <a:endParaRPr>
              <a:solidFill>
                <a:srgbClr val="3F3F3F"/>
              </a:solidFill>
            </a:endParaRPr>
          </a:p>
          <a:p>
            <a:pPr>
              <a:buClr>
                <a:srgbClr val="E48312"/>
              </a:buClr>
              <a:buSzPct val="100000"/>
            </a:pPr>
            <a:r>
              <a:rPr b="1">
                <a:solidFill>
                  <a:srgbClr val="3F3F3F"/>
                </a:solidFill>
              </a:rPr>
              <a:t>Broad spectrum penicillin (</a:t>
            </a:r>
            <a:r>
              <a:t>Amino </a:t>
            </a:r>
            <a:r>
              <a:t>penicillins</a:t>
            </a:r>
            <a:r>
              <a:rPr b="1">
                <a:solidFill>
                  <a:srgbClr val="3F3F3F"/>
                </a:solidFill>
              </a:rPr>
              <a:t>) e.g. </a:t>
            </a:r>
            <a:r>
              <a:rPr>
                <a:solidFill>
                  <a:srgbClr val="3F3F3F"/>
                </a:solidFill>
              </a:rPr>
              <a:t>ampicillin, amoxicillin, bacampicillin</a:t>
            </a:r>
            <a:endParaRPr>
              <a:solidFill>
                <a:srgbClr val="3F3F3F"/>
              </a:solidFill>
            </a:endParaRPr>
          </a:p>
          <a:p>
            <a:pPr>
              <a:buClr>
                <a:srgbClr val="E48312"/>
              </a:buClr>
              <a:buSzPct val="100000"/>
            </a:pPr>
            <a:r>
              <a:rPr b="1">
                <a:solidFill>
                  <a:srgbClr val="3F3F3F"/>
                </a:solidFill>
              </a:rPr>
              <a:t>Antipseudomonal (extended spectrum penicillin) e.</a:t>
            </a:r>
            <a:r>
              <a:rPr>
                <a:solidFill>
                  <a:srgbClr val="3F3F3F"/>
                </a:solidFill>
              </a:rPr>
              <a:t>g. carbecillin, carfecillin, ticarcillin, temocillin.</a:t>
            </a:r>
            <a:r>
              <a:t> Piperacillin. Have wider spectrum of activity than all the other </a:t>
            </a:r>
            <a:r>
              <a:t>penicillins</a:t>
            </a:r>
            <a:r>
              <a:t>  </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861" name=""/>
        <p:cNvGrpSpPr/>
        <p:nvPr/>
      </p:nvGrpSpPr>
      <p:grpSpPr>
        <a:xfrm>
          <a:off x="0" y="0"/>
          <a:ext cx="0" cy="0"/>
          <a:chOff x="0" y="0"/>
          <a:chExt cx="0" cy="0"/>
        </a:xfrm>
      </p:grpSpPr>
      <p:sp>
        <p:nvSpPr>
          <p:cNvPr id="1048989" name="Title 1"/>
          <p:cNvSpPr>
            <a:spLocks noGrp="1"/>
          </p:cNvSpPr>
          <p:nvPr>
            <p:ph type="title"/>
          </p:nvPr>
        </p:nvSpPr>
        <p:spPr/>
        <p:txBody>
          <a:bodyPr/>
          <a:p>
            <a:r>
              <a:rPr b="1"/>
              <a:t>Mechanism of action </a:t>
            </a:r>
            <a:endParaRPr b="1"/>
          </a:p>
        </p:txBody>
      </p:sp>
      <p:sp>
        <p:nvSpPr>
          <p:cNvPr id="1048990" name="Content Placeholder 2"/>
          <p:cNvSpPr>
            <a:spLocks noGrp="1"/>
          </p:cNvSpPr>
          <p:nvPr>
            <p:ph idx="1"/>
          </p:nvPr>
        </p:nvSpPr>
        <p:spPr>
          <a:xfrm>
            <a:off x="838204" y="1438279"/>
            <a:ext cx="10515600" cy="5054593"/>
          </a:xfrm>
        </p:spPr>
        <p:txBody>
          <a:bodyPr/>
          <a:p>
            <a:r>
              <a:rPr sz="3600"/>
              <a:t>All beta lactam anti biotics inhibit bacteria cell wall synthesis.</a:t>
            </a:r>
            <a:endParaRPr sz="3600"/>
          </a:p>
          <a:p>
            <a:pPr lvl="1"/>
            <a:r>
              <a:rPr sz="3200"/>
              <a:t>Penicillins</a:t>
            </a:r>
            <a:r>
              <a:rPr sz="3200"/>
              <a:t> work by </a:t>
            </a:r>
            <a:r>
              <a:rPr b="1" sz="3200"/>
              <a:t>interfering with bacterial cell wall synthesis</a:t>
            </a:r>
            <a:r>
              <a:rPr sz="3200"/>
              <a:t> and by causing autolysis of the bacteria</a:t>
            </a:r>
            <a:endParaRPr sz="3200"/>
          </a:p>
          <a:p>
            <a:pPr lvl="1"/>
            <a:r>
              <a:rPr sz="3200"/>
              <a:t>They </a:t>
            </a:r>
            <a:r>
              <a:rPr sz="3200">
                <a:solidFill>
                  <a:srgbClr val="FF0000"/>
                </a:solidFill>
              </a:rPr>
              <a:t>inhibit transpeptidation enzyme </a:t>
            </a:r>
            <a:r>
              <a:rPr sz="3200"/>
              <a:t>located in the bacteria cell membrane and inactivate an inhibitor of autolytic enzymes in the cell wall</a:t>
            </a:r>
            <a:endParaRPr sz="3200"/>
          </a:p>
          <a:p>
            <a:r>
              <a:rPr sz="3600"/>
              <a:t>They are</a:t>
            </a:r>
            <a:r>
              <a:rPr b="1" sz="3600"/>
              <a:t> bactericidal </a:t>
            </a:r>
            <a:r>
              <a:rPr sz="3600"/>
              <a:t>agents acting against multiplying bacteria (diving cells) as resting bacteria do not make new cell walls.</a:t>
            </a:r>
            <a:endParaRPr sz="3600"/>
          </a:p>
          <a:p>
            <a:pPr indent="0" marL="0">
              <a:buNone/>
            </a:pPr>
          </a:p>
          <a:p>
            <a:pPr indent="0" marL="0">
              <a:buNone/>
            </a:pPr>
          </a:p>
          <a:p>
            <a:pPr indent="0" marL="0">
              <a:buNone/>
            </a:pP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862" name=""/>
        <p:cNvGrpSpPr/>
        <p:nvPr/>
      </p:nvGrpSpPr>
      <p:grpSpPr>
        <a:xfrm>
          <a:off x="0" y="0"/>
          <a:ext cx="0" cy="0"/>
          <a:chOff x="0" y="0"/>
          <a:chExt cx="0" cy="0"/>
        </a:xfrm>
      </p:grpSpPr>
      <p:sp>
        <p:nvSpPr>
          <p:cNvPr id="1048991" name="Title 1"/>
          <p:cNvSpPr>
            <a:spLocks noGrp="1"/>
          </p:cNvSpPr>
          <p:nvPr>
            <p:ph type="title"/>
          </p:nvPr>
        </p:nvSpPr>
        <p:spPr/>
        <p:txBody>
          <a:bodyPr/>
          <a:p>
            <a:r>
              <a:rPr b="1"/>
              <a:t>Mechanism  of bacterial resistance</a:t>
            </a:r>
            <a:endParaRPr b="1"/>
          </a:p>
        </p:txBody>
      </p:sp>
      <p:sp>
        <p:nvSpPr>
          <p:cNvPr id="1048992" name="Content Placeholder 2"/>
          <p:cNvSpPr>
            <a:spLocks noGrp="1"/>
          </p:cNvSpPr>
          <p:nvPr>
            <p:ph idx="1"/>
          </p:nvPr>
        </p:nvSpPr>
        <p:spPr/>
        <p:txBody>
          <a:bodyPr/>
          <a:p>
            <a:pPr indent="0" marL="0">
              <a:buNone/>
            </a:pPr>
            <a:r>
              <a:rPr sz="3600"/>
              <a:t> General mechanism of bacteria resistance to antibiotics  including beta –lactams are;</a:t>
            </a:r>
            <a:endParaRPr sz="3600"/>
          </a:p>
          <a:p>
            <a:pPr indent="-514350" marL="514350">
              <a:buFont typeface="+mj-lt"/>
              <a:buAutoNum type="arabicPeriod"/>
            </a:pPr>
            <a:r>
              <a:rPr sz="3600"/>
              <a:t>Decreased penetration to the target cells</a:t>
            </a:r>
            <a:endParaRPr sz="3600"/>
          </a:p>
          <a:p>
            <a:pPr indent="-514350" marL="514350">
              <a:buFont typeface="+mj-lt"/>
              <a:buAutoNum type="arabicPeriod"/>
            </a:pPr>
            <a:r>
              <a:rPr sz="3600"/>
              <a:t>Alteration of the target site</a:t>
            </a:r>
            <a:endParaRPr sz="3600"/>
          </a:p>
          <a:p>
            <a:pPr indent="-514350" marL="514350">
              <a:buFont typeface="+mj-lt"/>
              <a:buAutoNum type="arabicPeriod"/>
            </a:pPr>
            <a:r>
              <a:rPr sz="3600"/>
              <a:t>Inactivation of the antibiotics by a bacterial enzyme e.g. beta –lactamase.</a:t>
            </a:r>
            <a:endParaRPr sz="3600"/>
          </a:p>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863" name=""/>
        <p:cNvGrpSpPr/>
        <p:nvPr/>
      </p:nvGrpSpPr>
      <p:grpSpPr>
        <a:xfrm>
          <a:off x="0" y="0"/>
          <a:ext cx="0" cy="0"/>
          <a:chOff x="0" y="0"/>
          <a:chExt cx="0" cy="0"/>
        </a:xfrm>
      </p:grpSpPr>
      <p:sp>
        <p:nvSpPr>
          <p:cNvPr id="1048993" name="Title 1"/>
          <p:cNvSpPr>
            <a:spLocks noGrp="1"/>
          </p:cNvSpPr>
          <p:nvPr>
            <p:ph type="title"/>
          </p:nvPr>
        </p:nvSpPr>
        <p:spPr>
          <a:xfrm>
            <a:off x="838204" y="365126"/>
            <a:ext cx="10515600" cy="682618"/>
          </a:xfrm>
        </p:spPr>
        <p:txBody>
          <a:bodyPr>
            <a:normAutofit fontScale="90000"/>
          </a:bodyPr>
          <a:p>
            <a:r>
              <a:t>                      </a:t>
            </a:r>
            <a:r>
              <a:rPr b="1"/>
              <a:t>Pharmacokinetics</a:t>
            </a:r>
            <a:endParaRPr b="1"/>
          </a:p>
        </p:txBody>
      </p:sp>
      <p:sp>
        <p:nvSpPr>
          <p:cNvPr id="1048994" name="Content Placeholder 2"/>
          <p:cNvSpPr>
            <a:spLocks noGrp="1"/>
          </p:cNvSpPr>
          <p:nvPr>
            <p:ph idx="1"/>
          </p:nvPr>
        </p:nvSpPr>
        <p:spPr>
          <a:xfrm>
            <a:off x="838204" y="1133470"/>
            <a:ext cx="10515600" cy="5359403"/>
          </a:xfrm>
        </p:spPr>
        <p:txBody>
          <a:bodyPr>
            <a:normAutofit/>
          </a:bodyPr>
          <a:p>
            <a:r>
              <a:t>Benzylpenicillin is destroyed by gastric acid hence it is parenterally administered.</a:t>
            </a:r>
          </a:p>
          <a:p>
            <a:r>
              <a:t>It is best to give oral </a:t>
            </a:r>
            <a:r>
              <a:t>penicillins</a:t>
            </a:r>
            <a:r>
              <a:t> on an empty stomach, 1 hour before or 2 hours after a meal. </a:t>
            </a:r>
          </a:p>
          <a:p>
            <a:pPr lvl="1"/>
            <a:r>
              <a:t>Bacampicillin (</a:t>
            </a:r>
            <a:r>
              <a:t>Spectrobid</a:t>
            </a:r>
            <a:r>
              <a:t>), penicillin V (Pen-Vee K), and amoxicillin (Amoxil) may be given without regard to meals</a:t>
            </a:r>
          </a:p>
          <a:p>
            <a:r>
              <a:rPr b="1"/>
              <a:t>Metabolism </a:t>
            </a:r>
            <a:r>
              <a:t>is in the liver.</a:t>
            </a:r>
          </a:p>
          <a:p>
            <a:r>
              <a:rPr b="1"/>
              <a:t>Half life  less than 2hours</a:t>
            </a:r>
            <a:r>
              <a:t>. </a:t>
            </a:r>
            <a:r>
              <a:t>E.g</a:t>
            </a:r>
            <a:r>
              <a:t> Penicillin G and V = 30mins, Nafcillin= 20-30 mins Amoxicillin -1-1.3 hour, </a:t>
            </a:r>
            <a:r>
              <a:t>Ampicilin</a:t>
            </a:r>
            <a:r>
              <a:t> 40- 90 min, Carbenicillin 45-60min</a:t>
            </a:r>
          </a:p>
          <a:p>
            <a:r>
              <a:t>Widely distributed in body fluids, passing into joints, saliva, milk and can cross the placenta. </a:t>
            </a:r>
          </a:p>
          <a:p>
            <a:r>
              <a:rPr>
                <a:solidFill>
                  <a:srgbClr val="FF0000"/>
                </a:solidFill>
              </a:rPr>
              <a:t>They do not cross the blood-brain barrier (</a:t>
            </a:r>
            <a:r>
              <a:t>poor lipid solubility) </a:t>
            </a:r>
            <a:r>
              <a:rPr>
                <a:solidFill>
                  <a:srgbClr val="FF0000"/>
                </a:solidFill>
              </a:rPr>
              <a:t>unless the meninges are inflamed </a:t>
            </a:r>
            <a:endParaRPr>
              <a:solidFill>
                <a:srgbClr val="FF0000"/>
              </a:solidFill>
            </a:endParaRPr>
          </a:p>
          <a:p>
            <a:r>
              <a:rPr b="1"/>
              <a:t>Elimination</a:t>
            </a:r>
            <a:r>
              <a:t> in the kidneys by glomerular filtration and tubular secretion.</a:t>
            </a: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864" name=""/>
        <p:cNvGrpSpPr/>
        <p:nvPr/>
      </p:nvGrpSpPr>
      <p:grpSpPr>
        <a:xfrm>
          <a:off x="0" y="0"/>
          <a:ext cx="0" cy="0"/>
          <a:chOff x="0" y="0"/>
          <a:chExt cx="0" cy="0"/>
        </a:xfrm>
      </p:grpSpPr>
      <p:sp>
        <p:nvSpPr>
          <p:cNvPr id="1048995" name="Title 1"/>
          <p:cNvSpPr>
            <a:spLocks noGrp="1"/>
          </p:cNvSpPr>
          <p:nvPr>
            <p:ph type="title"/>
          </p:nvPr>
        </p:nvSpPr>
        <p:spPr>
          <a:xfrm>
            <a:off x="838204" y="500062"/>
            <a:ext cx="10515600" cy="709617"/>
          </a:xfrm>
        </p:spPr>
        <p:txBody>
          <a:bodyPr>
            <a:normAutofit fontScale="93182"/>
          </a:bodyPr>
          <a:p>
            <a:r>
              <a:rPr b="1"/>
              <a:t>                  Benzyl penicillin G</a:t>
            </a:r>
            <a:endParaRPr b="1"/>
          </a:p>
        </p:txBody>
      </p:sp>
      <p:sp>
        <p:nvSpPr>
          <p:cNvPr id="1048996" name="Content Placeholder 2"/>
          <p:cNvSpPr>
            <a:spLocks noGrp="1"/>
          </p:cNvSpPr>
          <p:nvPr>
            <p:ph idx="1"/>
          </p:nvPr>
        </p:nvSpPr>
        <p:spPr>
          <a:xfrm>
            <a:off x="838204" y="1343025"/>
            <a:ext cx="10515600" cy="5276845"/>
          </a:xfrm>
        </p:spPr>
        <p:txBody>
          <a:bodyPr>
            <a:normAutofit/>
          </a:bodyPr>
          <a:p>
            <a:r>
              <a:t>There are three salt forms: </a:t>
            </a:r>
            <a:r>
              <a:rPr b="1"/>
              <a:t>penicillin G potassium, penicillin G procaine, penicillin G benzathine.</a:t>
            </a:r>
            <a:endParaRPr b="1"/>
          </a:p>
          <a:p>
            <a:r>
              <a:rPr b="1"/>
              <a:t>Given by injection either IV or IM</a:t>
            </a:r>
            <a:r>
              <a:t>. The benzathine and procaine salt are used as long acting IM injections.</a:t>
            </a:r>
            <a:endParaRPr b="1"/>
          </a:p>
          <a:p>
            <a:r>
              <a:t>Penicillin G is gastric acid unstable is used where high plasma concentration era required.</a:t>
            </a:r>
          </a:p>
          <a:p>
            <a:r>
              <a:t>Maximum plasma concentration is reached after 15 minute of administration </a:t>
            </a:r>
          </a:p>
          <a:p>
            <a:r>
              <a:t>Half life 0.5 hours hence reasonably spaced doses have to be large to maintain a therapeutic concentration high doses can be maintained by use of probenecid.</a:t>
            </a:r>
          </a:p>
          <a:p>
            <a:pPr indent="0" marL="0">
              <a:buNone/>
            </a:pPr>
            <a:endParaRPr b="1" sz="400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865" name=""/>
        <p:cNvGrpSpPr/>
        <p:nvPr/>
      </p:nvGrpSpPr>
      <p:grpSpPr>
        <a:xfrm>
          <a:off x="0" y="0"/>
          <a:ext cx="0" cy="0"/>
          <a:chOff x="0" y="0"/>
          <a:chExt cx="0" cy="0"/>
        </a:xfrm>
      </p:grpSpPr>
      <p:sp>
        <p:nvSpPr>
          <p:cNvPr id="1048997" name="Title 1"/>
          <p:cNvSpPr>
            <a:spLocks noGrp="1"/>
          </p:cNvSpPr>
          <p:nvPr>
            <p:ph type="title"/>
          </p:nvPr>
        </p:nvSpPr>
        <p:spPr>
          <a:xfrm>
            <a:off x="838204" y="376414"/>
            <a:ext cx="10515600" cy="728481"/>
          </a:xfrm>
        </p:spPr>
        <p:txBody>
          <a:bodyPr/>
          <a:p>
            <a:r>
              <a:rPr b="1"/>
              <a:t>Indication for penicillin G</a:t>
            </a:r>
            <a:endParaRPr b="1"/>
          </a:p>
        </p:txBody>
      </p:sp>
      <p:sp>
        <p:nvSpPr>
          <p:cNvPr id="1048998" name="Content Placeholder 2"/>
          <p:cNvSpPr>
            <a:spLocks noGrp="1"/>
          </p:cNvSpPr>
          <p:nvPr>
            <p:ph idx="1"/>
          </p:nvPr>
        </p:nvSpPr>
        <p:spPr>
          <a:xfrm>
            <a:off x="838204" y="1104895"/>
            <a:ext cx="10515600" cy="5191120"/>
          </a:xfrm>
        </p:spPr>
        <p:txBody>
          <a:bodyPr>
            <a:normAutofit/>
          </a:bodyPr>
          <a:p>
            <a:pPr indent="0" marL="0">
              <a:buNone/>
            </a:pPr>
            <a:r>
              <a:t>It is generally active against gram positive and gram negative cocci, hence indicated for treatment of conditions such as;</a:t>
            </a:r>
          </a:p>
          <a:p>
            <a:r>
              <a:rPr sz="3200">
                <a:solidFill>
                  <a:srgbClr val="FF0000"/>
                </a:solidFill>
              </a:rPr>
              <a:t>Otitis media </a:t>
            </a:r>
            <a:endParaRPr sz="3200">
              <a:solidFill>
                <a:srgbClr val="FF0000"/>
              </a:solidFill>
            </a:endParaRPr>
          </a:p>
          <a:p>
            <a:r>
              <a:rPr sz="3200">
                <a:solidFill>
                  <a:srgbClr val="FF0000"/>
                </a:solidFill>
              </a:rPr>
              <a:t>Gonococcus infection</a:t>
            </a:r>
            <a:endParaRPr sz="3200">
              <a:solidFill>
                <a:srgbClr val="FF0000"/>
              </a:solidFill>
            </a:endParaRPr>
          </a:p>
          <a:p>
            <a:r>
              <a:rPr sz="3200">
                <a:solidFill>
                  <a:srgbClr val="FF0000"/>
                </a:solidFill>
              </a:rPr>
              <a:t>Throat infections</a:t>
            </a:r>
            <a:endParaRPr sz="3200">
              <a:solidFill>
                <a:srgbClr val="FF0000"/>
              </a:solidFill>
            </a:endParaRPr>
          </a:p>
          <a:p>
            <a:r>
              <a:rPr sz="3200">
                <a:solidFill>
                  <a:srgbClr val="FF0000"/>
                </a:solidFill>
              </a:rPr>
              <a:t>Streptococcal endocarditis</a:t>
            </a:r>
            <a:endParaRPr sz="3200">
              <a:solidFill>
                <a:srgbClr val="FF0000"/>
              </a:solidFill>
            </a:endParaRPr>
          </a:p>
          <a:p>
            <a:r>
              <a:rPr sz="3200">
                <a:solidFill>
                  <a:srgbClr val="FF0000"/>
                </a:solidFill>
              </a:rPr>
              <a:t>Meningococcal meningitis</a:t>
            </a:r>
            <a:endParaRPr sz="3200">
              <a:solidFill>
                <a:srgbClr val="FF0000"/>
              </a:solidFill>
            </a:endParaRPr>
          </a:p>
          <a:p>
            <a:r>
              <a:rPr sz="3200">
                <a:solidFill>
                  <a:srgbClr val="FF0000"/>
                </a:solidFill>
              </a:rPr>
              <a:t>Pneumonia meningitis</a:t>
            </a:r>
            <a:endParaRPr sz="3200">
              <a:solidFill>
                <a:srgbClr val="FF0000"/>
              </a:solidFill>
            </a:endParaRPr>
          </a:p>
          <a:p>
            <a:r>
              <a:rPr sz="3200">
                <a:solidFill>
                  <a:srgbClr val="FF0000"/>
                </a:solidFill>
              </a:rPr>
              <a:t>actinomycosis</a:t>
            </a:r>
            <a:endParaRPr sz="3200">
              <a:solidFill>
                <a:srgbClr val="FF0000"/>
              </a:solidFill>
            </a:endParaRP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866" name=""/>
        <p:cNvGrpSpPr/>
        <p:nvPr/>
      </p:nvGrpSpPr>
      <p:grpSpPr>
        <a:xfrm>
          <a:off x="0" y="0"/>
          <a:ext cx="0" cy="0"/>
          <a:chOff x="0" y="0"/>
          <a:chExt cx="0" cy="0"/>
        </a:xfrm>
      </p:grpSpPr>
      <p:sp>
        <p:nvSpPr>
          <p:cNvPr id="1048999" name="Title 1"/>
          <p:cNvSpPr>
            <a:spLocks noGrp="1"/>
          </p:cNvSpPr>
          <p:nvPr>
            <p:ph type="title"/>
          </p:nvPr>
        </p:nvSpPr>
        <p:spPr/>
        <p:txBody>
          <a:bodyPr/>
          <a:p>
            <a:r>
              <a:t>Penicillin V (</a:t>
            </a:r>
            <a:r>
              <a:t>beepen</a:t>
            </a:r>
            <a:r>
              <a:t> VK, </a:t>
            </a:r>
            <a:r>
              <a:t>veetids</a:t>
            </a:r>
            <a:r>
              <a:t>) </a:t>
            </a:r>
          </a:p>
        </p:txBody>
      </p:sp>
      <p:sp>
        <p:nvSpPr>
          <p:cNvPr id="1049000" name="Content Placeholder 2"/>
          <p:cNvSpPr>
            <a:spLocks noGrp="1"/>
          </p:cNvSpPr>
          <p:nvPr>
            <p:ph idx="1"/>
          </p:nvPr>
        </p:nvSpPr>
        <p:spPr/>
        <p:txBody>
          <a:bodyPr>
            <a:normAutofit/>
          </a:bodyPr>
          <a:p>
            <a:r>
              <a:rPr sz="4000"/>
              <a:t>Available in oral preparations </a:t>
            </a:r>
            <a:endParaRPr sz="4000"/>
          </a:p>
          <a:p>
            <a:endParaRPr sz="4000"/>
          </a:p>
          <a:p>
            <a:r>
              <a:rPr sz="4000"/>
              <a:t>Used mainly in treatment of Gram-positive bacterial infections </a:t>
            </a:r>
            <a:endParaRPr sz="4000"/>
          </a:p>
          <a:p>
            <a:endParaRPr sz="4000"/>
          </a:p>
          <a:p>
            <a:r>
              <a:rPr sz="4000"/>
              <a:t>Usuall</a:t>
            </a:r>
            <a:r>
              <a:rPr sz="4000"/>
              <a:t> dosage range 125-500mg q6-8h</a:t>
            </a:r>
            <a:endParaRPr sz="400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867" name=""/>
        <p:cNvGrpSpPr/>
        <p:nvPr/>
      </p:nvGrpSpPr>
      <p:grpSpPr>
        <a:xfrm>
          <a:off x="0" y="0"/>
          <a:ext cx="0" cy="0"/>
          <a:chOff x="0" y="0"/>
          <a:chExt cx="0" cy="0"/>
        </a:xfrm>
      </p:grpSpPr>
      <p:sp>
        <p:nvSpPr>
          <p:cNvPr id="1049001" name="Title 1"/>
          <p:cNvSpPr>
            <a:spLocks noGrp="1"/>
          </p:cNvSpPr>
          <p:nvPr>
            <p:ph type="title"/>
          </p:nvPr>
        </p:nvSpPr>
        <p:spPr>
          <a:xfrm>
            <a:off x="838204" y="365126"/>
            <a:ext cx="10515600" cy="758828"/>
          </a:xfrm>
        </p:spPr>
        <p:txBody>
          <a:bodyPr/>
          <a:p>
            <a:r>
              <a:rPr b="1"/>
              <a:t>                       Cloxacillin</a:t>
            </a:r>
            <a:endParaRPr b="1"/>
          </a:p>
        </p:txBody>
      </p:sp>
      <p:sp>
        <p:nvSpPr>
          <p:cNvPr id="1049002" name="Content Placeholder 2"/>
          <p:cNvSpPr>
            <a:spLocks noGrp="1"/>
          </p:cNvSpPr>
          <p:nvPr>
            <p:ph idx="1"/>
          </p:nvPr>
        </p:nvSpPr>
        <p:spPr>
          <a:xfrm>
            <a:off x="504820" y="1343025"/>
            <a:ext cx="11125204" cy="5429250"/>
          </a:xfrm>
        </p:spPr>
        <p:txBody>
          <a:bodyPr>
            <a:normAutofit/>
          </a:bodyPr>
          <a:p>
            <a:r>
              <a:rPr>
                <a:solidFill>
                  <a:srgbClr val="FF0000"/>
                </a:solidFill>
              </a:rPr>
              <a:t>Penicillinase resistant </a:t>
            </a:r>
            <a:r>
              <a:rPr>
                <a:solidFill>
                  <a:srgbClr val="FF0000"/>
                </a:solidFill>
              </a:rPr>
              <a:t>penicillins</a:t>
            </a:r>
            <a:r>
              <a:rPr>
                <a:solidFill>
                  <a:srgbClr val="FF0000"/>
                </a:solidFill>
              </a:rPr>
              <a:t> Mainly used in the treatment of penicillinase producing staphylococcus aureus infections</a:t>
            </a:r>
            <a:endParaRPr>
              <a:solidFill>
                <a:srgbClr val="FF0000"/>
              </a:solidFill>
            </a:endParaRPr>
          </a:p>
          <a:p>
            <a:r>
              <a:t>half live is 30 minutes</a:t>
            </a:r>
          </a:p>
          <a:p>
            <a:pPr indent="0" marL="0">
              <a:buNone/>
            </a:pPr>
            <a:r>
              <a:rPr b="1"/>
              <a:t> </a:t>
            </a:r>
            <a:r>
              <a:rPr b="1" sz="4000"/>
              <a:t>indication </a:t>
            </a:r>
            <a:r>
              <a:t>for infections due to penicillinase (enzyme against penicillin) producing staphylococci especially skin infections and soft tissue infections e.g. </a:t>
            </a:r>
            <a:r>
              <a:rPr b="1"/>
              <a:t>cellulitis, otitis externa, impetigo</a:t>
            </a:r>
            <a:endParaRPr b="1" sz="4000"/>
          </a:p>
          <a:p>
            <a:pPr indent="0" marL="0">
              <a:buNone/>
            </a:pPr>
            <a:r>
              <a:rPr b="1"/>
              <a:t>Dosage; </a:t>
            </a:r>
            <a:r>
              <a:t>Adults by oral 500mg every 6 hours at least 30 minutes before meals because food decreases absorption.</a:t>
            </a:r>
          </a:p>
          <a:p>
            <a:pPr indent="0" marL="0">
              <a:buNone/>
            </a:pPr>
            <a:r>
              <a:t>IM 250mg every 4-6 hours.</a:t>
            </a:r>
          </a:p>
          <a:p>
            <a:pPr indent="0" marL="0">
              <a:buNone/>
            </a:pPr>
            <a:r>
              <a:t>IV injection or infusion 500mg every 4-6 hours .</a:t>
            </a:r>
          </a:p>
          <a:p>
            <a:pPr indent="0" marL="0">
              <a:buNone/>
            </a:pPr>
            <a:r>
              <a:t>The dose may be increased in severe infections. </a:t>
            </a:r>
          </a:p>
          <a:p>
            <a:r>
              <a:t> A child less than 2 years should get ¼ of adult dose.</a:t>
            </a:r>
          </a:p>
          <a:p>
            <a:r>
              <a:t>Children  2-10 years should receive  ½ of adult dose.</a:t>
            </a:r>
          </a:p>
          <a:p>
            <a:pPr indent="0" marL="0">
              <a:buNone/>
            </a:pPr>
          </a:p>
          <a:p>
            <a:pPr indent="0" marL="0">
              <a:buNone/>
            </a:pP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868" name=""/>
        <p:cNvGrpSpPr/>
        <p:nvPr/>
      </p:nvGrpSpPr>
      <p:grpSpPr>
        <a:xfrm>
          <a:off x="0" y="0"/>
          <a:ext cx="0" cy="0"/>
          <a:chOff x="0" y="0"/>
          <a:chExt cx="0" cy="0"/>
        </a:xfrm>
      </p:grpSpPr>
      <p:sp>
        <p:nvSpPr>
          <p:cNvPr id="1049003" name="Title 1"/>
          <p:cNvSpPr>
            <a:spLocks noGrp="1"/>
          </p:cNvSpPr>
          <p:nvPr>
            <p:ph type="title"/>
          </p:nvPr>
        </p:nvSpPr>
        <p:spPr>
          <a:xfrm>
            <a:off x="838204" y="365126"/>
            <a:ext cx="10515600" cy="768343"/>
          </a:xfrm>
        </p:spPr>
        <p:txBody>
          <a:bodyPr/>
          <a:p>
            <a:r>
              <a:t>                               Ampicillin</a:t>
            </a:r>
          </a:p>
        </p:txBody>
      </p:sp>
      <p:sp>
        <p:nvSpPr>
          <p:cNvPr id="1049004" name="Content Placeholder 2"/>
          <p:cNvSpPr>
            <a:spLocks noGrp="1"/>
          </p:cNvSpPr>
          <p:nvPr>
            <p:ph idx="1"/>
          </p:nvPr>
        </p:nvSpPr>
        <p:spPr>
          <a:xfrm>
            <a:off x="352429" y="1257300"/>
            <a:ext cx="11401425" cy="5372100"/>
          </a:xfrm>
        </p:spPr>
        <p:txBody>
          <a:bodyPr>
            <a:normAutofit/>
          </a:bodyPr>
          <a:p>
            <a:r>
              <a:rPr sz="3200"/>
              <a:t>Available in three salt forms: </a:t>
            </a:r>
            <a:r>
              <a:rPr b="1" sz="3200"/>
              <a:t>anhydrous ampicillin, trihydrate ampicillin and ampicillin sodium</a:t>
            </a:r>
            <a:endParaRPr b="1" sz="3200"/>
          </a:p>
          <a:p>
            <a:r>
              <a:rPr sz="3200"/>
              <a:t>Is gastric stable, it is moderately 50 % absorbed orally  as food interferes with absorption..</a:t>
            </a:r>
            <a:endParaRPr sz="3200"/>
          </a:p>
          <a:p>
            <a:r>
              <a:rPr sz="3200"/>
              <a:t>The drug is concentrated in the bile and it under </a:t>
            </a:r>
            <a:r>
              <a:rPr sz="3200">
                <a:solidFill>
                  <a:srgbClr val="FF0000"/>
                </a:solidFill>
              </a:rPr>
              <a:t>goes enteral hepatic recycling.</a:t>
            </a:r>
            <a:endParaRPr sz="3200">
              <a:solidFill>
                <a:srgbClr val="FF0000"/>
              </a:solidFill>
            </a:endParaRPr>
          </a:p>
          <a:p>
            <a:r>
              <a:rPr sz="3200"/>
              <a:t>Excretion is through the kidneys 1/3 of the administered drug appears unchanged in urine.</a:t>
            </a:r>
            <a:endParaRPr sz="3200"/>
          </a:p>
          <a:p>
            <a:r>
              <a:rPr sz="3200">
                <a:solidFill>
                  <a:srgbClr val="FF0000"/>
                </a:solidFill>
              </a:rPr>
              <a:t>Almost all staphylococcus aureus ,50% of E.coli, and 50% of haemophilus influenza are now resistant </a:t>
            </a:r>
            <a:r>
              <a:rPr sz="3200"/>
              <a:t>.</a:t>
            </a:r>
            <a:endParaRPr sz="320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869" name=""/>
        <p:cNvGrpSpPr/>
        <p:nvPr/>
      </p:nvGrpSpPr>
      <p:grpSpPr>
        <a:xfrm>
          <a:off x="0" y="0"/>
          <a:ext cx="0" cy="0"/>
          <a:chOff x="0" y="0"/>
          <a:chExt cx="0" cy="0"/>
        </a:xfrm>
      </p:grpSpPr>
      <p:sp>
        <p:nvSpPr>
          <p:cNvPr id="1049005" name="Title 1"/>
          <p:cNvSpPr>
            <a:spLocks noGrp="1"/>
          </p:cNvSpPr>
          <p:nvPr>
            <p:ph type="title"/>
          </p:nvPr>
        </p:nvSpPr>
        <p:spPr/>
        <p:txBody>
          <a:bodyPr/>
          <a:p>
            <a:r>
              <a:rPr b="1"/>
              <a:t>                                                                                       Indications                    </a:t>
            </a:r>
            <a:endParaRPr b="1"/>
          </a:p>
        </p:txBody>
      </p:sp>
      <p:sp>
        <p:nvSpPr>
          <p:cNvPr id="1049006" name="Content Placeholder 2"/>
          <p:cNvSpPr>
            <a:spLocks noGrp="1"/>
          </p:cNvSpPr>
          <p:nvPr>
            <p:ph idx="1"/>
          </p:nvPr>
        </p:nvSpPr>
        <p:spPr/>
        <p:txBody>
          <a:bodyPr>
            <a:normAutofit lnSpcReduction="10000"/>
          </a:bodyPr>
          <a:p>
            <a:r>
              <a:t>Used </a:t>
            </a:r>
            <a:r>
              <a:rPr b="1"/>
              <a:t>primarily</a:t>
            </a:r>
            <a:r>
              <a:t> in treatment of infections caused by </a:t>
            </a:r>
            <a:r>
              <a:rPr b="1"/>
              <a:t>gram –</a:t>
            </a:r>
            <a:r>
              <a:rPr b="1"/>
              <a:t>ve</a:t>
            </a:r>
            <a:r>
              <a:rPr b="1"/>
              <a:t> bacteria</a:t>
            </a:r>
            <a:r>
              <a:t>: shigella, salmonella typhi, E.coli, proteus, Neisseria sp. </a:t>
            </a:r>
          </a:p>
          <a:p>
            <a:r>
              <a:t>They also effective against some </a:t>
            </a:r>
            <a:r>
              <a:t>gram+ve</a:t>
            </a:r>
            <a:r>
              <a:t> bacteria strep. </a:t>
            </a:r>
            <a:r>
              <a:t>Faecallis</a:t>
            </a:r>
          </a:p>
          <a:p>
            <a:pPr lvl="1"/>
            <a:r>
              <a:rPr>
                <a:solidFill>
                  <a:srgbClr val="FF0000"/>
                </a:solidFill>
              </a:rPr>
              <a:t>Urinary tract infections.</a:t>
            </a:r>
            <a:endParaRPr>
              <a:solidFill>
                <a:srgbClr val="FF0000"/>
              </a:solidFill>
            </a:endParaRPr>
          </a:p>
          <a:p>
            <a:pPr lvl="1"/>
            <a:r>
              <a:rPr>
                <a:solidFill>
                  <a:srgbClr val="FF0000"/>
                </a:solidFill>
              </a:rPr>
              <a:t>Sinusitis .</a:t>
            </a:r>
            <a:endParaRPr>
              <a:solidFill>
                <a:srgbClr val="FF0000"/>
              </a:solidFill>
            </a:endParaRPr>
          </a:p>
          <a:p>
            <a:pPr lvl="1"/>
            <a:r>
              <a:rPr>
                <a:solidFill>
                  <a:srgbClr val="FF0000"/>
                </a:solidFill>
              </a:rPr>
              <a:t>Chronic bronchitis.</a:t>
            </a:r>
            <a:endParaRPr>
              <a:solidFill>
                <a:srgbClr val="FF0000"/>
              </a:solidFill>
            </a:endParaRPr>
          </a:p>
          <a:p>
            <a:pPr lvl="1"/>
            <a:r>
              <a:rPr>
                <a:solidFill>
                  <a:srgbClr val="FF0000"/>
                </a:solidFill>
              </a:rPr>
              <a:t>Invasive salmonellosis gonorrhea</a:t>
            </a:r>
            <a:endParaRPr>
              <a:solidFill>
                <a:srgbClr val="FF0000"/>
              </a:solidFill>
            </a:endParaRPr>
          </a:p>
          <a:p>
            <a:pPr indent="0" marL="0">
              <a:buNone/>
            </a:pPr>
            <a:r>
              <a:rPr b="1" sz="4000"/>
              <a:t>Side effects</a:t>
            </a:r>
            <a:endParaRPr b="1" sz="4000"/>
          </a:p>
          <a:p>
            <a:pPr indent="0" marL="0">
              <a:buNone/>
            </a:pPr>
            <a:r>
              <a:t>Diarrhea is quiet common, nausea</a:t>
            </a:r>
          </a:p>
          <a:p>
            <a:pPr indent="0" marL="0">
              <a:buNone/>
            </a:pPr>
            <a:r>
              <a:t>Macular rashes resembling measles/rubella – discontinue treatment</a:t>
            </a:r>
          </a:p>
          <a:p>
            <a:pPr indent="0" marL="0">
              <a:buNone/>
            </a:pPr>
          </a:p>
          <a:p>
            <a:pPr indent="0" marL="0">
              <a:buNone/>
            </a:pPr>
            <a:endParaRPr b="1"/>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870" name=""/>
        <p:cNvGrpSpPr/>
        <p:nvPr/>
      </p:nvGrpSpPr>
      <p:grpSpPr>
        <a:xfrm>
          <a:off x="0" y="0"/>
          <a:ext cx="0" cy="0"/>
          <a:chOff x="0" y="0"/>
          <a:chExt cx="0" cy="0"/>
        </a:xfrm>
      </p:grpSpPr>
      <p:sp>
        <p:nvSpPr>
          <p:cNvPr id="1049007" name="Content Placeholder 2"/>
          <p:cNvSpPr>
            <a:spLocks noGrp="1"/>
          </p:cNvSpPr>
          <p:nvPr>
            <p:ph idx="1"/>
          </p:nvPr>
        </p:nvSpPr>
        <p:spPr>
          <a:xfrm>
            <a:off x="838204" y="895354"/>
            <a:ext cx="10515600" cy="5281617"/>
          </a:xfrm>
        </p:spPr>
        <p:txBody>
          <a:bodyPr>
            <a:normAutofit/>
          </a:bodyPr>
          <a:p>
            <a:pPr indent="0" marL="0">
              <a:buNone/>
            </a:pPr>
            <a:r>
              <a:rPr b="1" sz="4800"/>
              <a:t>Dosage</a:t>
            </a:r>
            <a:endParaRPr b="1" sz="4800"/>
          </a:p>
          <a:p>
            <a:r>
              <a:rPr sz="3600"/>
              <a:t>Adults oral 0.25 to 1g 6 hourly  at least 30 minutes before food.</a:t>
            </a:r>
            <a:endParaRPr sz="3600"/>
          </a:p>
          <a:p>
            <a:r>
              <a:rPr sz="3600"/>
              <a:t>Different dose are used  in treating different condition.</a:t>
            </a:r>
            <a:endParaRPr sz="3600"/>
          </a:p>
          <a:p>
            <a:pPr lvl="1"/>
            <a:r>
              <a:rPr sz="3200"/>
              <a:t>Gonorrhea 2-3g is administered  as a single dose with probenecid.</a:t>
            </a:r>
            <a:endParaRPr sz="3200"/>
          </a:p>
          <a:p>
            <a:pPr lvl="1"/>
            <a:r>
              <a:rPr sz="3200"/>
              <a:t>UTI :500mg every 8 hours  IM/IV/infusion.</a:t>
            </a:r>
            <a:endParaRPr sz="3200"/>
          </a:p>
          <a:p>
            <a:r>
              <a:rPr sz="3600"/>
              <a:t> Children under age 10 years give half the adult dose.</a:t>
            </a:r>
            <a:endParaRPr sz="360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871" name=""/>
        <p:cNvGrpSpPr/>
        <p:nvPr/>
      </p:nvGrpSpPr>
      <p:grpSpPr>
        <a:xfrm>
          <a:off x="0" y="0"/>
          <a:ext cx="0" cy="0"/>
          <a:chOff x="0" y="0"/>
          <a:chExt cx="0" cy="0"/>
        </a:xfrm>
      </p:grpSpPr>
      <p:sp>
        <p:nvSpPr>
          <p:cNvPr id="1049008" name="Title 1"/>
          <p:cNvSpPr>
            <a:spLocks noGrp="1"/>
          </p:cNvSpPr>
          <p:nvPr>
            <p:ph type="title"/>
          </p:nvPr>
        </p:nvSpPr>
        <p:spPr>
          <a:xfrm>
            <a:off x="838204" y="365126"/>
            <a:ext cx="10515600" cy="863598"/>
          </a:xfrm>
        </p:spPr>
        <p:txBody>
          <a:bodyPr/>
          <a:p>
            <a:r>
              <a:t>                          </a:t>
            </a:r>
            <a:r>
              <a:rPr b="1"/>
              <a:t>Amoxicillin</a:t>
            </a:r>
            <a:endParaRPr b="1"/>
          </a:p>
        </p:txBody>
      </p:sp>
      <p:sp>
        <p:nvSpPr>
          <p:cNvPr id="1049009" name="Content Placeholder 2"/>
          <p:cNvSpPr>
            <a:spLocks noGrp="1"/>
          </p:cNvSpPr>
          <p:nvPr>
            <p:ph idx="1"/>
          </p:nvPr>
        </p:nvSpPr>
        <p:spPr>
          <a:xfrm>
            <a:off x="581029" y="1228725"/>
            <a:ext cx="10772775" cy="5333995"/>
          </a:xfrm>
        </p:spPr>
        <p:txBody>
          <a:bodyPr>
            <a:normAutofit lnSpcReduction="10000"/>
          </a:bodyPr>
          <a:p>
            <a:r>
              <a:t>This is a broad spectrum penicillin. </a:t>
            </a:r>
          </a:p>
          <a:p>
            <a:r>
              <a:t>A derivative of  ampicillin and differs by only one hydroxyl (OH) group.</a:t>
            </a:r>
          </a:p>
          <a:p>
            <a:r>
              <a:t>Have similar anti bacteria spectrum as ampicillin.</a:t>
            </a:r>
          </a:p>
          <a:p>
            <a:r>
              <a:t> when given orally absorption is better than ampicillin.</a:t>
            </a:r>
          </a:p>
          <a:p>
            <a:r>
              <a:t>Absorption is not affected by food in the stomach.</a:t>
            </a:r>
          </a:p>
          <a:p>
            <a:r>
              <a:t>Half life is 1 hour’</a:t>
            </a:r>
          </a:p>
          <a:p>
            <a:pPr indent="0" marL="0">
              <a:buNone/>
            </a:pPr>
            <a:r>
              <a:rPr b="1" sz="4000"/>
              <a:t>Indication</a:t>
            </a:r>
            <a:endParaRPr b="1" sz="4000"/>
          </a:p>
          <a:p>
            <a:pPr indent="0" marL="0">
              <a:buNone/>
            </a:pPr>
            <a:r>
              <a:rPr sz="2800"/>
              <a:t>Used in treatment of various susceptible gram negative and gram positive infections of the nose, ears, throat, Genitourinary tract, skin and GIT</a:t>
            </a:r>
            <a:endParaRPr b="1" sz="4000"/>
          </a:p>
          <a:p>
            <a:pPr lvl="1"/>
            <a:r>
              <a:t>UTI, otitis media, sinusitis, chronic bronchitis, inversive salmonellosis and gonorrhea.</a:t>
            </a: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872" name=""/>
        <p:cNvGrpSpPr/>
        <p:nvPr/>
      </p:nvGrpSpPr>
      <p:grpSpPr>
        <a:xfrm>
          <a:off x="0" y="0"/>
          <a:ext cx="0" cy="0"/>
          <a:chOff x="0" y="0"/>
          <a:chExt cx="0" cy="0"/>
        </a:xfrm>
      </p:grpSpPr>
      <p:sp>
        <p:nvSpPr>
          <p:cNvPr id="1049010" name="Title 1"/>
          <p:cNvSpPr>
            <a:spLocks noGrp="1"/>
          </p:cNvSpPr>
          <p:nvPr>
            <p:ph type="title"/>
          </p:nvPr>
        </p:nvSpPr>
        <p:spPr>
          <a:xfrm>
            <a:off x="838204" y="365126"/>
            <a:ext cx="10515600" cy="863598"/>
          </a:xfrm>
        </p:spPr>
        <p:txBody>
          <a:bodyPr/>
          <a:p>
            <a:r>
              <a:rPr b="1"/>
              <a:t>  Dosage</a:t>
            </a:r>
            <a:endParaRPr b="1"/>
          </a:p>
        </p:txBody>
      </p:sp>
      <p:sp>
        <p:nvSpPr>
          <p:cNvPr id="1049011" name="Content Placeholder 2"/>
          <p:cNvSpPr>
            <a:spLocks noGrp="1"/>
          </p:cNvSpPr>
          <p:nvPr>
            <p:ph idx="1"/>
          </p:nvPr>
        </p:nvSpPr>
        <p:spPr>
          <a:xfrm>
            <a:off x="466729" y="1343025"/>
            <a:ext cx="10887075" cy="5362570"/>
          </a:xfrm>
        </p:spPr>
        <p:txBody>
          <a:bodyPr>
            <a:normAutofit/>
          </a:bodyPr>
          <a:p>
            <a:r>
              <a:rPr sz="3200"/>
              <a:t>Adult dose orally 250mgs 8 hourly which can be doubled in severe infections.</a:t>
            </a:r>
            <a:endParaRPr sz="3200"/>
          </a:p>
          <a:p>
            <a:r>
              <a:rPr sz="3200"/>
              <a:t>Children up to 10 years of age get 125mg 8 hourly this is doubled in severe infections.</a:t>
            </a:r>
            <a:endParaRPr sz="3200"/>
          </a:p>
          <a:p>
            <a:r>
              <a:rPr sz="3200"/>
              <a:t>IM/IV  adults 500 mg 8 hourly. </a:t>
            </a:r>
            <a:endParaRPr sz="3200"/>
          </a:p>
          <a:p>
            <a:r>
              <a:rPr sz="3200"/>
              <a:t>IM/IV children get 50-100mg /kg daily in divided doses.</a:t>
            </a:r>
            <a:endParaRPr sz="3200"/>
          </a:p>
          <a:p>
            <a:pPr indent="0" marL="0">
              <a:buNone/>
            </a:pPr>
            <a:r>
              <a:rPr b="1" sz="4400"/>
              <a:t>Side effects</a:t>
            </a:r>
            <a:endParaRPr sz="4400"/>
          </a:p>
          <a:p>
            <a:pPr indent="0" marL="0">
              <a:buNone/>
            </a:pPr>
            <a:r>
              <a:rPr sz="3200"/>
              <a:t>Diarrhea is less frequent with the use of amoxicillin than ampicillin</a:t>
            </a:r>
            <a:endParaRPr sz="3200"/>
          </a:p>
          <a:p/>
          <a:p/>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873" name=""/>
        <p:cNvGrpSpPr/>
        <p:nvPr/>
      </p:nvGrpSpPr>
      <p:grpSpPr>
        <a:xfrm>
          <a:off x="0" y="0"/>
          <a:ext cx="0" cy="0"/>
          <a:chOff x="0" y="0"/>
          <a:chExt cx="0" cy="0"/>
        </a:xfrm>
      </p:grpSpPr>
      <p:sp>
        <p:nvSpPr>
          <p:cNvPr id="1049012" name="Title 1"/>
          <p:cNvSpPr>
            <a:spLocks noGrp="1"/>
          </p:cNvSpPr>
          <p:nvPr>
            <p:ph type="title"/>
          </p:nvPr>
        </p:nvSpPr>
        <p:spPr>
          <a:xfrm>
            <a:off x="838204" y="365126"/>
            <a:ext cx="10515600" cy="1460506"/>
          </a:xfrm>
        </p:spPr>
        <p:txBody>
          <a:bodyPr>
            <a:normAutofit/>
          </a:bodyPr>
          <a:p>
            <a:r>
              <a:rPr b="1">
                <a:solidFill>
                  <a:srgbClr val="3F3F3F"/>
                </a:solidFill>
              </a:rPr>
              <a:t>Antipseudomonal (extended spectrum penicillin)</a:t>
            </a:r>
          </a:p>
        </p:txBody>
      </p:sp>
      <p:sp>
        <p:nvSpPr>
          <p:cNvPr id="1049013" name="Content Placeholder 2"/>
          <p:cNvSpPr>
            <a:spLocks noGrp="1"/>
          </p:cNvSpPr>
          <p:nvPr>
            <p:ph idx="1"/>
          </p:nvPr>
        </p:nvSpPr>
        <p:spPr>
          <a:xfrm>
            <a:off x="428625" y="1825618"/>
            <a:ext cx="11239504" cy="4351339"/>
          </a:xfrm>
        </p:spPr>
        <p:txBody>
          <a:bodyPr>
            <a:normAutofit fontScale="92500"/>
          </a:bodyPr>
          <a:p>
            <a:pPr indent="0" marL="0">
              <a:buNone/>
            </a:pPr>
          </a:p>
          <a:p>
            <a:pPr indent="0" marL="0">
              <a:buNone/>
            </a:pPr>
            <a:r>
              <a:rPr b="1" sz="3600">
                <a:solidFill>
                  <a:srgbClr val="3F3F3F"/>
                </a:solidFill>
              </a:rPr>
              <a:t>e.</a:t>
            </a:r>
            <a:r>
              <a:rPr sz="3600">
                <a:solidFill>
                  <a:srgbClr val="3F3F3F"/>
                </a:solidFill>
              </a:rPr>
              <a:t>g. </a:t>
            </a:r>
            <a:r>
              <a:rPr sz="3600">
                <a:solidFill>
                  <a:srgbClr val="3F3F3F"/>
                </a:solidFill>
              </a:rPr>
              <a:t>carbecillin</a:t>
            </a:r>
            <a:r>
              <a:rPr sz="3600">
                <a:solidFill>
                  <a:srgbClr val="3F3F3F"/>
                </a:solidFill>
              </a:rPr>
              <a:t>, carfecillin, ticarcillin, temocillin.</a:t>
            </a:r>
            <a:r>
              <a:rPr sz="3600"/>
              <a:t> Piperacillin</a:t>
            </a:r>
            <a:endParaRPr sz="3600"/>
          </a:p>
          <a:p>
            <a:pPr indent="0" marL="0">
              <a:buNone/>
            </a:pPr>
            <a:endParaRPr sz="3600"/>
          </a:p>
          <a:p>
            <a:pPr indent="0" marL="0">
              <a:buNone/>
            </a:pPr>
            <a:r>
              <a:rPr sz="3600"/>
              <a:t>Used mainly in the treatment of serious infections caused by Pseudomonas </a:t>
            </a:r>
            <a:r>
              <a:rPr sz="3600"/>
              <a:t>aeroginosa</a:t>
            </a:r>
            <a:r>
              <a:rPr sz="3600"/>
              <a:t>, and proteus which are not susceptible to other </a:t>
            </a:r>
            <a:r>
              <a:rPr sz="3600"/>
              <a:t>penicillins</a:t>
            </a:r>
            <a:r>
              <a:rPr sz="3600"/>
              <a:t> </a:t>
            </a:r>
            <a:endParaRPr sz="3600"/>
          </a:p>
          <a:p>
            <a:pPr indent="0" marL="0">
              <a:buNone/>
            </a:pPr>
            <a:endParaRPr sz="3600"/>
          </a:p>
          <a:p>
            <a:pPr indent="0" marL="0">
              <a:buNone/>
            </a:pPr>
            <a:r>
              <a:rPr sz="3600"/>
              <a:t>Also used to treat </a:t>
            </a:r>
            <a:r>
              <a:rPr sz="3600"/>
              <a:t>othe</a:t>
            </a:r>
            <a:r>
              <a:rPr sz="3600"/>
              <a:t> gram-</a:t>
            </a:r>
            <a:r>
              <a:rPr sz="3600"/>
              <a:t>ve</a:t>
            </a:r>
            <a:r>
              <a:rPr sz="3600"/>
              <a:t> and gram +</a:t>
            </a:r>
            <a:r>
              <a:rPr sz="3600"/>
              <a:t>ve</a:t>
            </a:r>
            <a:r>
              <a:rPr sz="3600"/>
              <a:t> bacterial infection</a:t>
            </a:r>
            <a:endParaRPr sz="360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874" name=""/>
        <p:cNvGrpSpPr/>
        <p:nvPr/>
      </p:nvGrpSpPr>
      <p:grpSpPr>
        <a:xfrm>
          <a:off x="0" y="0"/>
          <a:ext cx="0" cy="0"/>
          <a:chOff x="0" y="0"/>
          <a:chExt cx="0" cy="0"/>
        </a:xfrm>
      </p:grpSpPr>
      <p:sp>
        <p:nvSpPr>
          <p:cNvPr id="1049014" name="Title 1"/>
          <p:cNvSpPr>
            <a:spLocks noGrp="1"/>
          </p:cNvSpPr>
          <p:nvPr>
            <p:ph type="title"/>
          </p:nvPr>
        </p:nvSpPr>
        <p:spPr>
          <a:xfrm>
            <a:off x="838204" y="365126"/>
            <a:ext cx="10515600" cy="634998"/>
          </a:xfrm>
        </p:spPr>
        <p:txBody>
          <a:bodyPr>
            <a:normAutofit fontScale="90000"/>
          </a:bodyPr>
          <a:p>
            <a:r>
              <a:t>Contraindications</a:t>
            </a:r>
          </a:p>
        </p:txBody>
      </p:sp>
      <p:sp>
        <p:nvSpPr>
          <p:cNvPr id="1049015" name="Content Placeholder 2"/>
          <p:cNvSpPr>
            <a:spLocks noGrp="1"/>
          </p:cNvSpPr>
          <p:nvPr>
            <p:ph idx="1"/>
          </p:nvPr>
        </p:nvSpPr>
        <p:spPr>
          <a:xfrm>
            <a:off x="361945" y="1276345"/>
            <a:ext cx="11449045" cy="5438779"/>
          </a:xfrm>
        </p:spPr>
        <p:txBody>
          <a:bodyPr>
            <a:normAutofit fontScale="85000" lnSpcReduction="10000"/>
          </a:bodyPr>
          <a:p>
            <a:r>
              <a:t>Penicillins</a:t>
            </a:r>
            <a:r>
              <a:t> are usually very safe well tolerated drugs and are only contraindicated in patients with known allergy </a:t>
            </a:r>
          </a:p>
          <a:p>
            <a:pPr indent="0" marL="0">
              <a:buNone/>
            </a:pPr>
            <a:r>
              <a:rPr b="1"/>
              <a:t>Unwanted effects </a:t>
            </a:r>
            <a:endParaRPr b="1"/>
          </a:p>
          <a:p>
            <a:r>
              <a:t>Allergic reactions; the most common being pruritis, urticaria, angioedema, fever, sneezing (1gE –mediated allergic reactions.)</a:t>
            </a:r>
          </a:p>
          <a:p>
            <a:pPr lvl="1"/>
            <a:r>
              <a:t>Anaphylactic </a:t>
            </a:r>
            <a:r>
              <a:rPr b="1"/>
              <a:t>shock is a rare </a:t>
            </a:r>
            <a:r>
              <a:t>but a serious allergic reaction. </a:t>
            </a:r>
          </a:p>
          <a:p>
            <a:pPr lvl="1"/>
            <a:r>
              <a:t>Patients who are allergic to </a:t>
            </a:r>
            <a:r>
              <a:t>penicillins</a:t>
            </a:r>
            <a:r>
              <a:t> may also be allergic to other beta lactams (cross </a:t>
            </a:r>
            <a:r>
              <a:t>senstivity</a:t>
            </a:r>
            <a:r>
              <a:t>) </a:t>
            </a:r>
          </a:p>
          <a:p>
            <a:r>
              <a:t>A wide variety of idiosyncratic reactions can occur such as maculopapular eruption, </a:t>
            </a:r>
            <a:r>
              <a:t>eosinophhillia</a:t>
            </a:r>
            <a:r>
              <a:t>, stevens-</a:t>
            </a:r>
            <a:r>
              <a:t>johnson</a:t>
            </a:r>
            <a:r>
              <a:t> syndrome, and </a:t>
            </a:r>
            <a:r>
              <a:t>exofoliative</a:t>
            </a:r>
            <a:r>
              <a:t> dermatitis </a:t>
            </a:r>
          </a:p>
          <a:p>
            <a:r>
              <a:t>Proconvalsunt</a:t>
            </a:r>
            <a:r>
              <a:t> effect when administered intrathecally </a:t>
            </a:r>
          </a:p>
          <a:p>
            <a:r>
              <a:t>GIT disturbances </a:t>
            </a:r>
            <a:r>
              <a:t>e.g</a:t>
            </a:r>
            <a:r>
              <a:t> vomiting, nausea, diarrhea </a:t>
            </a:r>
          </a:p>
          <a:p>
            <a:r>
              <a:rPr>
                <a:solidFill>
                  <a:srgbClr val="FF0000"/>
                </a:solidFill>
              </a:rPr>
              <a:t>Superinfection by other penicillin insensitive micro-organism </a:t>
            </a:r>
            <a:r>
              <a:rPr>
                <a:solidFill>
                  <a:srgbClr val="FF0000"/>
                </a:solidFill>
              </a:rPr>
              <a:t>e.g</a:t>
            </a:r>
            <a:r>
              <a:rPr>
                <a:solidFill>
                  <a:srgbClr val="FF0000"/>
                </a:solidFill>
              </a:rPr>
              <a:t> oral and vaginal candidiasis, </a:t>
            </a:r>
            <a:r>
              <a:rPr>
                <a:solidFill>
                  <a:srgbClr val="FF0000"/>
                </a:solidFill>
              </a:rPr>
              <a:t>pseudomembrenous</a:t>
            </a:r>
            <a:r>
              <a:rPr>
                <a:solidFill>
                  <a:srgbClr val="FF0000"/>
                </a:solidFill>
              </a:rPr>
              <a:t> colitis</a:t>
            </a:r>
            <a:r>
              <a:t>. </a:t>
            </a:r>
          </a:p>
          <a:p>
            <a:r>
              <a:t>Other rare reactions include lethargy, hallucinations, anxiety, depression, taste alteration, hyperkalemia, stomatitis, </a:t>
            </a:r>
            <a:r>
              <a:t>glositis</a:t>
            </a:r>
            <a:r>
              <a:t> and phlebitis at the site of IV injections</a:t>
            </a: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875" name=""/>
        <p:cNvGrpSpPr/>
        <p:nvPr/>
      </p:nvGrpSpPr>
      <p:grpSpPr>
        <a:xfrm>
          <a:off x="0" y="0"/>
          <a:ext cx="0" cy="0"/>
          <a:chOff x="0" y="0"/>
          <a:chExt cx="0" cy="0"/>
        </a:xfrm>
      </p:grpSpPr>
      <p:sp>
        <p:nvSpPr>
          <p:cNvPr id="1049016" name="Title 1"/>
          <p:cNvSpPr>
            <a:spLocks noGrp="1"/>
          </p:cNvSpPr>
          <p:nvPr>
            <p:ph type="title"/>
          </p:nvPr>
        </p:nvSpPr>
        <p:spPr>
          <a:xfrm>
            <a:off x="838204" y="365126"/>
            <a:ext cx="10515600" cy="854068"/>
          </a:xfrm>
        </p:spPr>
        <p:txBody>
          <a:bodyPr/>
          <a:p>
            <a:r>
              <a:t>             </a:t>
            </a:r>
            <a:r>
              <a:rPr b="1"/>
              <a:t>precautions and drug interactions</a:t>
            </a:r>
            <a:endParaRPr b="1"/>
          </a:p>
        </p:txBody>
      </p:sp>
      <p:sp>
        <p:nvSpPr>
          <p:cNvPr id="1049017" name="Content Placeholder 2"/>
          <p:cNvSpPr>
            <a:spLocks noGrp="1"/>
          </p:cNvSpPr>
          <p:nvPr>
            <p:ph idx="1"/>
          </p:nvPr>
        </p:nvSpPr>
        <p:spPr>
          <a:xfrm>
            <a:off x="495304" y="1371600"/>
            <a:ext cx="11210929" cy="5038729"/>
          </a:xfrm>
        </p:spPr>
        <p:txBody>
          <a:bodyPr>
            <a:normAutofit lnSpcReduction="10000"/>
          </a:bodyPr>
          <a:p>
            <a:r>
              <a:rPr b="1"/>
              <a:t>Precautions </a:t>
            </a:r>
            <a:endParaRPr b="1"/>
          </a:p>
          <a:p>
            <a:pPr lvl="1"/>
            <a:r>
              <a:t>Used cautiously in patients with renal disease </a:t>
            </a:r>
          </a:p>
          <a:p>
            <a:pPr lvl="1"/>
            <a:r>
              <a:t>In lactating mothers because it may cause diarrhea or candidiasis in the breastfeeding infant </a:t>
            </a:r>
          </a:p>
          <a:p>
            <a:pPr lvl="1"/>
            <a:r>
              <a:t>Used with caution in patients with asthma and bleeding disorders</a:t>
            </a:r>
          </a:p>
          <a:p>
            <a:r>
              <a:rPr b="1"/>
              <a:t>Important interactions </a:t>
            </a:r>
            <a:endParaRPr b="1"/>
          </a:p>
          <a:p>
            <a:pPr lvl="1"/>
            <a:r>
              <a:t>Some </a:t>
            </a:r>
            <a:r>
              <a:t>penicillins</a:t>
            </a:r>
            <a:r>
              <a:t> (ampicillin, bacampicillin, pen V) may reduce the effectiveness of oral contraceptives in some women </a:t>
            </a:r>
          </a:p>
          <a:p>
            <a:pPr lvl="1"/>
            <a:r>
              <a:t>Large doses of </a:t>
            </a:r>
            <a:r>
              <a:t>penicillins</a:t>
            </a:r>
            <a:r>
              <a:t> can increase the risk of bleeding in patients taking anticoagulants </a:t>
            </a:r>
          </a:p>
          <a:p>
            <a:pPr lvl="1"/>
            <a:r>
              <a:t>Probenicid</a:t>
            </a:r>
            <a:r>
              <a:t> competes with </a:t>
            </a:r>
            <a:r>
              <a:t>penicillins</a:t>
            </a:r>
            <a:r>
              <a:t> for elimination prolonging the effects of </a:t>
            </a:r>
            <a:r>
              <a:t>penicillins</a:t>
            </a:r>
            <a:r>
              <a:t> </a:t>
            </a:r>
          </a:p>
          <a:p>
            <a:pPr lvl="1"/>
            <a:r>
              <a:t>Rifampin reduces the effect of </a:t>
            </a:r>
            <a:r>
              <a:t>penicillins</a:t>
            </a:r>
            <a:r>
              <a:t> </a:t>
            </a:r>
          </a:p>
          <a:p>
            <a:pPr lvl="1"/>
            <a:r>
              <a:t>May increase metabolism of warfarin, decreasing its effects</a:t>
            </a: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876" name=""/>
        <p:cNvGrpSpPr/>
        <p:nvPr/>
      </p:nvGrpSpPr>
      <p:grpSpPr>
        <a:xfrm>
          <a:off x="0" y="0"/>
          <a:ext cx="0" cy="0"/>
          <a:chOff x="0" y="0"/>
          <a:chExt cx="0" cy="0"/>
        </a:xfrm>
      </p:grpSpPr>
      <p:sp>
        <p:nvSpPr>
          <p:cNvPr id="1049018" name="Title 1"/>
          <p:cNvSpPr>
            <a:spLocks noGrp="1"/>
          </p:cNvSpPr>
          <p:nvPr>
            <p:ph type="title"/>
          </p:nvPr>
        </p:nvSpPr>
        <p:spPr/>
        <p:txBody>
          <a:bodyPr/>
          <a:p>
            <a:r>
              <a:rPr b="1"/>
              <a:t>Penicillin-beta lactamase inhibitor combinations </a:t>
            </a:r>
            <a:endParaRPr b="1"/>
          </a:p>
        </p:txBody>
      </p:sp>
      <p:sp>
        <p:nvSpPr>
          <p:cNvPr id="1049019" name="Content Placeholder 2"/>
          <p:cNvSpPr>
            <a:spLocks noGrp="1"/>
          </p:cNvSpPr>
          <p:nvPr>
            <p:ph idx="1"/>
          </p:nvPr>
        </p:nvSpPr>
        <p:spPr>
          <a:xfrm>
            <a:off x="838204" y="1690682"/>
            <a:ext cx="11001375" cy="4986337"/>
          </a:xfrm>
        </p:spPr>
        <p:txBody>
          <a:bodyPr>
            <a:normAutofit/>
          </a:bodyPr>
          <a:p>
            <a:r>
              <a:rPr sz="3200"/>
              <a:t>Some bacteria produce penicillinases (beta-lactamases) that can inactivate the </a:t>
            </a:r>
            <a:r>
              <a:rPr sz="3200"/>
              <a:t>penicillins</a:t>
            </a:r>
            <a:r>
              <a:rPr sz="3200"/>
              <a:t>, and are resistant to </a:t>
            </a:r>
            <a:r>
              <a:rPr sz="3200"/>
              <a:t>penicillins</a:t>
            </a:r>
            <a:r>
              <a:rPr sz="3200"/>
              <a:t>. </a:t>
            </a:r>
            <a:endParaRPr sz="3200"/>
          </a:p>
          <a:p>
            <a:r>
              <a:rPr sz="3200"/>
              <a:t>To overcome the resistance of these bacteria, </a:t>
            </a:r>
            <a:r>
              <a:rPr sz="3200"/>
              <a:t>penicillins</a:t>
            </a:r>
            <a:r>
              <a:rPr sz="3200"/>
              <a:t> are combined with </a:t>
            </a:r>
            <a:r>
              <a:rPr b="1" sz="3200"/>
              <a:t>beta-lactamase inhibitors like clavulanic acid(clavulanate), sulbactam, tazobactam </a:t>
            </a:r>
            <a:endParaRPr b="1" sz="3200"/>
          </a:p>
          <a:p>
            <a:r>
              <a:rPr sz="3200"/>
              <a:t>Examples; </a:t>
            </a:r>
            <a:endParaRPr sz="3200"/>
          </a:p>
          <a:p>
            <a:pPr lvl="1"/>
            <a:r>
              <a:rPr sz="2800"/>
              <a:t>Ampicillin+ sulbactam (Unasyn) </a:t>
            </a:r>
            <a:endParaRPr sz="2800"/>
          </a:p>
          <a:p>
            <a:pPr lvl="1"/>
            <a:r>
              <a:rPr sz="2800"/>
              <a:t>Amoxicillin+ clavulanic acid (Augmentin) </a:t>
            </a:r>
            <a:endParaRPr sz="2800"/>
          </a:p>
          <a:p>
            <a:pPr lvl="1"/>
            <a:r>
              <a:rPr sz="2800"/>
              <a:t>Ticarcillin + clavulanic acid (</a:t>
            </a:r>
            <a:r>
              <a:rPr sz="2800"/>
              <a:t>Timentin</a:t>
            </a:r>
            <a:r>
              <a:rPr sz="2800"/>
              <a:t>) </a:t>
            </a:r>
            <a:endParaRPr sz="2800"/>
          </a:p>
          <a:p>
            <a:pPr lvl="1"/>
            <a:r>
              <a:rPr sz="2800"/>
              <a:t>Pipercillin</a:t>
            </a:r>
            <a:r>
              <a:rPr sz="2800"/>
              <a:t> + tazobactam (</a:t>
            </a:r>
            <a:r>
              <a:rPr sz="2800"/>
              <a:t>zosyn</a:t>
            </a:r>
            <a:r>
              <a:rPr sz="2800"/>
              <a:t>) </a:t>
            </a:r>
            <a:endParaRPr sz="2800"/>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877" name=""/>
        <p:cNvGrpSpPr/>
        <p:nvPr/>
      </p:nvGrpSpPr>
      <p:grpSpPr>
        <a:xfrm>
          <a:off x="0" y="0"/>
          <a:ext cx="0" cy="0"/>
          <a:chOff x="0" y="0"/>
          <a:chExt cx="0" cy="0"/>
        </a:xfrm>
      </p:grpSpPr>
      <p:sp>
        <p:nvSpPr>
          <p:cNvPr id="1049020" name="Title 1"/>
          <p:cNvSpPr>
            <a:spLocks noGrp="1"/>
          </p:cNvSpPr>
          <p:nvPr>
            <p:ph type="title"/>
          </p:nvPr>
        </p:nvSpPr>
        <p:spPr>
          <a:xfrm>
            <a:off x="838204" y="385902"/>
            <a:ext cx="10515600" cy="814247"/>
          </a:xfrm>
        </p:spPr>
        <p:txBody>
          <a:bodyPr>
            <a:normAutofit fontScale="90000"/>
          </a:bodyPr>
          <a:p>
            <a:r>
              <a:t>                            </a:t>
            </a:r>
            <a:br/>
            <a:r>
              <a:rPr b="1" sz="4000"/>
              <a:t>co- amoxiclav</a:t>
            </a:r>
            <a:br>
              <a:rPr b="1" sz="4000"/>
            </a:br>
            <a:endParaRPr b="1" sz="4000"/>
          </a:p>
        </p:txBody>
      </p:sp>
      <p:sp>
        <p:nvSpPr>
          <p:cNvPr id="1049021" name="Content Placeholder 2"/>
          <p:cNvSpPr>
            <a:spLocks noGrp="1"/>
          </p:cNvSpPr>
          <p:nvPr>
            <p:ph idx="1"/>
          </p:nvPr>
        </p:nvSpPr>
        <p:spPr>
          <a:xfrm>
            <a:off x="723904" y="1276345"/>
            <a:ext cx="10848970" cy="5324479"/>
          </a:xfrm>
        </p:spPr>
        <p:txBody>
          <a:bodyPr>
            <a:normAutofit/>
          </a:bodyPr>
          <a:p>
            <a:r>
              <a:rPr b="1" sz="3200"/>
              <a:t>Amoxicillin ( 250mg or 500mg )can be combined with clavulanic acid (125mg) to make co- amoxiclav.</a:t>
            </a:r>
            <a:endParaRPr b="1" sz="3200"/>
          </a:p>
          <a:p>
            <a:r>
              <a:rPr sz="3200">
                <a:solidFill>
                  <a:srgbClr val="FF0000"/>
                </a:solidFill>
              </a:rPr>
              <a:t> clavulanic acid </a:t>
            </a:r>
            <a:r>
              <a:rPr sz="3200"/>
              <a:t>itself has no significant anti bacteria activity </a:t>
            </a:r>
            <a:r>
              <a:rPr sz="3200">
                <a:solidFill>
                  <a:srgbClr val="FF0000"/>
                </a:solidFill>
              </a:rPr>
              <a:t>but binds to beta-lactamase and there by competitively inhibits its activity hence protecting the penicillin</a:t>
            </a:r>
            <a:r>
              <a:rPr sz="3200"/>
              <a:t>. </a:t>
            </a:r>
            <a:r>
              <a:rPr b="1" sz="3200"/>
              <a:t>This potentiate the action of penicillin.</a:t>
            </a:r>
            <a:endParaRPr b="1" sz="3200"/>
          </a:p>
          <a:p>
            <a:pPr indent="0" marL="0">
              <a:buNone/>
            </a:pPr>
            <a:r>
              <a:rPr b="1" sz="4400"/>
              <a:t>Indication </a:t>
            </a:r>
            <a:endParaRPr b="1" sz="4400"/>
          </a:p>
          <a:p>
            <a:pPr indent="0" marL="0">
              <a:buNone/>
            </a:pPr>
            <a:r>
              <a:rPr sz="3200"/>
              <a:t>Active against beta-lactamase producing bacteria that are resistant to amoxicillin which include; staphylococcus aureus, 50% of E-coli, 15% of H. influenzae strains and klebsiella spp,</a:t>
            </a:r>
            <a:endParaRPr sz="3200"/>
          </a:p>
          <a:p>
            <a:pPr indent="0" marL="0">
              <a:buNone/>
            </a:pP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878" name=""/>
        <p:cNvGrpSpPr/>
        <p:nvPr/>
      </p:nvGrpSpPr>
      <p:grpSpPr>
        <a:xfrm>
          <a:off x="0" y="0"/>
          <a:ext cx="0" cy="0"/>
          <a:chOff x="0" y="0"/>
          <a:chExt cx="0" cy="0"/>
        </a:xfrm>
      </p:grpSpPr>
      <p:sp>
        <p:nvSpPr>
          <p:cNvPr id="1049022" name="Content Placeholder 2"/>
          <p:cNvSpPr>
            <a:spLocks noGrp="1"/>
          </p:cNvSpPr>
          <p:nvPr>
            <p:ph idx="1"/>
          </p:nvPr>
        </p:nvSpPr>
        <p:spPr>
          <a:xfrm>
            <a:off x="838204" y="733420"/>
            <a:ext cx="10515600" cy="5443537"/>
          </a:xfrm>
        </p:spPr>
        <p:txBody>
          <a:bodyPr>
            <a:normAutofit/>
          </a:bodyPr>
          <a:p>
            <a:pPr indent="0" marL="0">
              <a:buNone/>
            </a:pPr>
            <a:r>
              <a:rPr b="1" sz="3200"/>
              <a:t>Nursing Administration</a:t>
            </a:r>
            <a:r>
              <a:rPr sz="3200"/>
              <a:t> </a:t>
            </a:r>
            <a:endParaRPr sz="3200"/>
          </a:p>
          <a:p>
            <a:r>
              <a:rPr sz="3200"/>
              <a:t> Instruct clients that penicillin V, amoxicillin, and amoxicillin-clavulanate may be taken with meals. All others should be taken with a full glass of water 1 hours before meals or 2 hours after. </a:t>
            </a:r>
            <a:endParaRPr sz="3200"/>
          </a:p>
          <a:p>
            <a:r>
              <a:rPr sz="3200"/>
              <a:t> Instruct clients to report any signs of an allergic response such as skin rash, itching, and/or hives. </a:t>
            </a:r>
            <a:endParaRPr sz="3200"/>
          </a:p>
          <a:p>
            <a:r>
              <a:rPr sz="3200"/>
              <a:t> IM injection should be done cautiously to avoid injection into a nerve or an artery. </a:t>
            </a:r>
            <a:endParaRPr sz="3200"/>
          </a:p>
          <a:p>
            <a:r>
              <a:rPr sz="3200"/>
              <a:t> Advise clients to complete the entire course of therapy regardless of presence of absence of symptoms.</a:t>
            </a:r>
            <a:endParaRPr sz="320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879" name=""/>
        <p:cNvGrpSpPr/>
        <p:nvPr/>
      </p:nvGrpSpPr>
      <p:grpSpPr>
        <a:xfrm>
          <a:off x="0" y="0"/>
          <a:ext cx="0" cy="0"/>
          <a:chOff x="0" y="0"/>
          <a:chExt cx="0" cy="0"/>
        </a:xfrm>
      </p:grpSpPr>
      <p:sp>
        <p:nvSpPr>
          <p:cNvPr id="1049023" name="Title 1"/>
          <p:cNvSpPr>
            <a:spLocks noGrp="1"/>
          </p:cNvSpPr>
          <p:nvPr>
            <p:ph type="title"/>
          </p:nvPr>
        </p:nvSpPr>
        <p:spPr>
          <a:xfrm>
            <a:off x="838204" y="365126"/>
            <a:ext cx="10515600" cy="882643"/>
          </a:xfrm>
        </p:spPr>
        <p:txBody>
          <a:bodyPr/>
          <a:p>
            <a:r>
              <a:t>                  </a:t>
            </a:r>
            <a:r>
              <a:rPr b="1"/>
              <a:t>Cephalosporins</a:t>
            </a:r>
            <a:endParaRPr b="1"/>
          </a:p>
        </p:txBody>
      </p:sp>
      <p:sp>
        <p:nvSpPr>
          <p:cNvPr id="1049024" name="Content Placeholder 2"/>
          <p:cNvSpPr>
            <a:spLocks noGrp="1"/>
          </p:cNvSpPr>
          <p:nvPr>
            <p:ph idx="1"/>
          </p:nvPr>
        </p:nvSpPr>
        <p:spPr>
          <a:xfrm>
            <a:off x="838204" y="1428750"/>
            <a:ext cx="10515600" cy="5064123"/>
          </a:xfrm>
        </p:spPr>
        <p:txBody>
          <a:bodyPr>
            <a:normAutofit fontScale="92500"/>
          </a:bodyPr>
          <a:p>
            <a:r>
              <a:rPr sz="3600"/>
              <a:t>Cephalosporins are semisynthetic </a:t>
            </a:r>
            <a:r>
              <a:rPr b="1" sz="3600"/>
              <a:t>derivatives of cephalosporin C, produced by </a:t>
            </a:r>
            <a:r>
              <a:rPr b="1" sz="3600"/>
              <a:t>Cephalosporium</a:t>
            </a:r>
            <a:r>
              <a:rPr b="1" sz="3600"/>
              <a:t> fungus</a:t>
            </a:r>
            <a:endParaRPr b="1" sz="3600"/>
          </a:p>
          <a:p>
            <a:endParaRPr b="1" sz="3600"/>
          </a:p>
          <a:p>
            <a:r>
              <a:rPr sz="3600"/>
              <a:t>Cephalosporins are the most frequently prescribed class of antibiotics.</a:t>
            </a:r>
            <a:endParaRPr sz="3600"/>
          </a:p>
          <a:p>
            <a:endParaRPr sz="3600"/>
          </a:p>
          <a:p>
            <a:r>
              <a:rPr sz="3600"/>
              <a:t>They are structurally and pharmacologically related to the penicillins. they  </a:t>
            </a:r>
            <a:r>
              <a:rPr b="1" sz="3600"/>
              <a:t>have a wider spectrum of activity than penicillins </a:t>
            </a:r>
            <a:r>
              <a:rPr sz="3600"/>
              <a:t>hence they are </a:t>
            </a:r>
            <a:r>
              <a:rPr b="1" sz="3600"/>
              <a:t>more expensive</a:t>
            </a:r>
            <a:r>
              <a:rPr sz="3600"/>
              <a:t>.</a:t>
            </a:r>
            <a:endParaRPr sz="3600"/>
          </a:p>
          <a:p>
            <a:pPr indent="0" marL="0">
              <a:buNone/>
            </a:pPr>
            <a:endParaRPr>
              <a:solidFill>
                <a:srgbClr val="FF0000"/>
              </a:solidFill>
            </a:endParaRP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880" name=""/>
        <p:cNvGrpSpPr/>
        <p:nvPr/>
      </p:nvGrpSpPr>
      <p:grpSpPr>
        <a:xfrm>
          <a:off x="0" y="0"/>
          <a:ext cx="0" cy="0"/>
          <a:chOff x="0" y="0"/>
          <a:chExt cx="0" cy="0"/>
        </a:xfrm>
      </p:grpSpPr>
      <p:sp>
        <p:nvSpPr>
          <p:cNvPr id="1049025" name="Title 1"/>
          <p:cNvSpPr>
            <a:spLocks noGrp="1"/>
          </p:cNvSpPr>
          <p:nvPr>
            <p:ph type="title"/>
          </p:nvPr>
        </p:nvSpPr>
        <p:spPr>
          <a:xfrm>
            <a:off x="838204" y="365126"/>
            <a:ext cx="10515600" cy="958853"/>
          </a:xfrm>
        </p:spPr>
        <p:txBody>
          <a:bodyPr/>
          <a:p>
            <a:r>
              <a:t>        </a:t>
            </a:r>
            <a:r>
              <a:rPr b="1"/>
              <a:t>Classification of cephalosporins</a:t>
            </a:r>
            <a:endParaRPr b="1"/>
          </a:p>
        </p:txBody>
      </p:sp>
      <p:sp>
        <p:nvSpPr>
          <p:cNvPr id="1049026" name="Content Placeholder 2"/>
          <p:cNvSpPr>
            <a:spLocks noGrp="1"/>
          </p:cNvSpPr>
          <p:nvPr>
            <p:ph idx="1"/>
          </p:nvPr>
        </p:nvSpPr>
        <p:spPr>
          <a:xfrm>
            <a:off x="514350" y="1323979"/>
            <a:ext cx="11401425" cy="5362570"/>
          </a:xfrm>
        </p:spPr>
        <p:txBody>
          <a:bodyPr>
            <a:normAutofit/>
          </a:bodyPr>
          <a:p>
            <a:r>
              <a:t>They are grouped in “generations” based on  their spectrum of antimicrobial activity.</a:t>
            </a:r>
          </a:p>
          <a:p>
            <a:r>
              <a:t>The first cephalosporins were designated first generation while later, more extended generation cephalosporins.</a:t>
            </a:r>
          </a:p>
          <a:p>
            <a:r>
              <a:t>Each newer generation of cephalosporins has a significantly</a:t>
            </a:r>
            <a:r>
              <a:rPr b="1"/>
              <a:t> greater gram negative</a:t>
            </a:r>
            <a:r>
              <a:t> </a:t>
            </a:r>
            <a:r>
              <a:rPr b="1"/>
              <a:t>antimicrobial</a:t>
            </a:r>
            <a:r>
              <a:t> properties than the preceding generation, in most cases </a:t>
            </a:r>
            <a:r>
              <a:rPr b="1">
                <a:solidFill>
                  <a:srgbClr val="FF0000"/>
                </a:solidFill>
              </a:rPr>
              <a:t>with decreased activity against gram positive organism.</a:t>
            </a:r>
            <a:endParaRPr b="1">
              <a:solidFill>
                <a:srgbClr val="FF0000"/>
              </a:solidFill>
            </a:endParaRPr>
          </a:p>
          <a:p>
            <a:pPr lvl="1"/>
            <a:r>
              <a:t>Generally, progression from the first-generation to the second-generation and then to the third and fourth generation cephalosporin shows an increase in the sensitivity of gram-negative microorganisms and a decrease in the sensitivity of gram-positive microorganisms.</a:t>
            </a:r>
            <a:endParaRPr b="1">
              <a:solidFill>
                <a:srgbClr val="FF0000"/>
              </a:solidFill>
            </a:endParaRPr>
          </a:p>
          <a:p>
            <a:r>
              <a:rPr b="1"/>
              <a:t>The newer agents have a much longer half life resulting in the decreased of dosing frequency</a:t>
            </a:r>
            <a:r>
              <a:t>.</a:t>
            </a: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881" name=""/>
        <p:cNvGrpSpPr/>
        <p:nvPr/>
      </p:nvGrpSpPr>
      <p:grpSpPr>
        <a:xfrm>
          <a:off x="0" y="0"/>
          <a:ext cx="0" cy="0"/>
          <a:chOff x="0" y="0"/>
          <a:chExt cx="0" cy="0"/>
        </a:xfrm>
      </p:grpSpPr>
      <p:sp>
        <p:nvSpPr>
          <p:cNvPr id="1049027" name="Title 1"/>
          <p:cNvSpPr>
            <a:spLocks noGrp="1"/>
          </p:cNvSpPr>
          <p:nvPr>
            <p:ph type="title"/>
          </p:nvPr>
        </p:nvSpPr>
        <p:spPr>
          <a:xfrm>
            <a:off x="838204" y="365126"/>
            <a:ext cx="10515600" cy="854068"/>
          </a:xfrm>
        </p:spPr>
        <p:txBody>
          <a:bodyPr/>
          <a:p>
            <a:r>
              <a:rPr b="1"/>
              <a:t> First generation cephalosporins</a:t>
            </a:r>
            <a:endParaRPr b="1"/>
          </a:p>
        </p:txBody>
      </p:sp>
      <p:sp>
        <p:nvSpPr>
          <p:cNvPr id="1049028" name="Content Placeholder 2"/>
          <p:cNvSpPr>
            <a:spLocks noGrp="1"/>
          </p:cNvSpPr>
          <p:nvPr>
            <p:ph idx="1"/>
          </p:nvPr>
        </p:nvSpPr>
        <p:spPr>
          <a:xfrm>
            <a:off x="838204" y="1825618"/>
            <a:ext cx="10515600" cy="4803781"/>
          </a:xfrm>
        </p:spPr>
        <p:txBody>
          <a:bodyPr>
            <a:normAutofit lnSpcReduction="10000"/>
          </a:bodyPr>
          <a:p>
            <a:r>
              <a:t>These are </a:t>
            </a:r>
            <a:r>
              <a:rPr>
                <a:solidFill>
                  <a:srgbClr val="FF0000"/>
                </a:solidFill>
              </a:rPr>
              <a:t>generally active against gram positive bacteria</a:t>
            </a:r>
            <a:r>
              <a:t>. They have </a:t>
            </a:r>
            <a:r>
              <a:rPr b="1"/>
              <a:t>moderate activity against gram negative </a:t>
            </a:r>
            <a:r>
              <a:t>bacterial. </a:t>
            </a:r>
          </a:p>
          <a:p>
            <a:r>
              <a:t>They include;</a:t>
            </a:r>
          </a:p>
          <a:p>
            <a:r>
              <a:t>cephalexin.</a:t>
            </a:r>
          </a:p>
          <a:p>
            <a:r>
              <a:t>Cephaloridine</a:t>
            </a:r>
          </a:p>
          <a:p>
            <a:r>
              <a:t>Cephalothin</a:t>
            </a:r>
          </a:p>
          <a:p>
            <a:r>
              <a:t>Cephapirin</a:t>
            </a:r>
          </a:p>
          <a:p>
            <a:r>
              <a:t>Cefazolin</a:t>
            </a:r>
          </a:p>
          <a:p>
            <a:r>
              <a:t>Cephradine</a:t>
            </a:r>
          </a:p>
          <a:p>
            <a:r>
              <a:t>Cefadroxil.</a:t>
            </a:r>
          </a:p>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882" name=""/>
        <p:cNvGrpSpPr/>
        <p:nvPr/>
      </p:nvGrpSpPr>
      <p:grpSpPr>
        <a:xfrm>
          <a:off x="0" y="0"/>
          <a:ext cx="0" cy="0"/>
          <a:chOff x="0" y="0"/>
          <a:chExt cx="0" cy="0"/>
        </a:xfrm>
      </p:grpSpPr>
      <p:sp>
        <p:nvSpPr>
          <p:cNvPr id="1049029" name="Title 1"/>
          <p:cNvSpPr>
            <a:spLocks noGrp="1"/>
          </p:cNvSpPr>
          <p:nvPr>
            <p:ph type="title"/>
          </p:nvPr>
        </p:nvSpPr>
        <p:spPr/>
        <p:txBody>
          <a:bodyPr/>
          <a:p>
            <a:r>
              <a:t> </a:t>
            </a:r>
            <a:r>
              <a:rPr b="1"/>
              <a:t>second generation cephalosporin</a:t>
            </a:r>
            <a:endParaRPr b="1"/>
          </a:p>
        </p:txBody>
      </p:sp>
      <p:sp>
        <p:nvSpPr>
          <p:cNvPr id="1049030" name="Content Placeholder 2"/>
          <p:cNvSpPr>
            <a:spLocks noGrp="1"/>
          </p:cNvSpPr>
          <p:nvPr>
            <p:ph idx="1"/>
          </p:nvPr>
        </p:nvSpPr>
        <p:spPr>
          <a:xfrm>
            <a:off x="838204" y="1590670"/>
            <a:ext cx="10515600" cy="5086350"/>
          </a:xfrm>
        </p:spPr>
        <p:txBody>
          <a:bodyPr>
            <a:normAutofit fontScale="92500" lnSpcReduction="10000"/>
          </a:bodyPr>
          <a:p>
            <a:pPr indent="0" marL="0">
              <a:buNone/>
            </a:pPr>
            <a:r>
              <a:rPr>
                <a:solidFill>
                  <a:srgbClr val="FF0000"/>
                </a:solidFill>
              </a:rPr>
              <a:t>Cefamandole, Cefaclor, Cefoxitin, </a:t>
            </a:r>
            <a:r>
              <a:rPr>
                <a:solidFill>
                  <a:srgbClr val="FF0000"/>
                </a:solidFill>
              </a:rPr>
              <a:t>Cefprozil</a:t>
            </a:r>
            <a:r>
              <a:rPr>
                <a:solidFill>
                  <a:srgbClr val="FF0000"/>
                </a:solidFill>
              </a:rPr>
              <a:t>, Cefuroxime, Loracarbef, </a:t>
            </a:r>
            <a:r>
              <a:rPr>
                <a:solidFill>
                  <a:srgbClr val="FF0000"/>
                </a:solidFill>
              </a:rPr>
              <a:t>Axetil,Cefonicid</a:t>
            </a:r>
            <a:r>
              <a:rPr>
                <a:solidFill>
                  <a:srgbClr val="FF0000"/>
                </a:solidFill>
              </a:rPr>
              <a:t>, Cefmetazole</a:t>
            </a:r>
            <a:endParaRPr>
              <a:solidFill>
                <a:srgbClr val="FF0000"/>
              </a:solidFill>
            </a:endParaRPr>
          </a:p>
          <a:p>
            <a:r>
              <a:t>They have </a:t>
            </a:r>
            <a:r>
              <a:rPr b="1"/>
              <a:t>a greater gram-negative spectrum </a:t>
            </a:r>
            <a:r>
              <a:t>eg H.influenza n. gonorrhea, E.coli, shigella.</a:t>
            </a:r>
          </a:p>
          <a:p>
            <a:r>
              <a:t>Also some gram-positive organism e.g. clostridium, staphylococcus,  streptococcus and pneumococcus.</a:t>
            </a:r>
          </a:p>
          <a:p>
            <a:pPr indent="0" marL="0">
              <a:buNone/>
            </a:pPr>
            <a:r>
              <a:rPr i="1"/>
              <a:t>Effective in H. </a:t>
            </a:r>
            <a:r>
              <a:rPr i="1"/>
              <a:t>infl</a:t>
            </a:r>
            <a:r>
              <a:rPr i="1"/>
              <a:t> </a:t>
            </a:r>
            <a:r>
              <a:rPr i="1"/>
              <a:t>uenzae</a:t>
            </a:r>
            <a:r>
              <a:rPr i="1"/>
              <a:t>, Enterobacter aerogenes, and Neisseria species</a:t>
            </a:r>
            <a:endParaRPr i="1"/>
          </a:p>
          <a:p>
            <a:r>
              <a:rPr b="1"/>
              <a:t>they are more resistant to beta lactamase</a:t>
            </a:r>
            <a:r>
              <a:t>.</a:t>
            </a:r>
          </a:p>
          <a:p>
            <a:pPr indent="0" marL="0">
              <a:buNone/>
            </a:pPr>
            <a:r>
              <a:rPr b="1"/>
              <a:t>Indication</a:t>
            </a:r>
            <a:endParaRPr b="1"/>
          </a:p>
          <a:p>
            <a:r>
              <a:t>Upper and lower respiratory tract infection</a:t>
            </a:r>
          </a:p>
          <a:p>
            <a:r>
              <a:t>Sinusitis</a:t>
            </a:r>
          </a:p>
          <a:p>
            <a:r>
              <a:t>Otitis media</a:t>
            </a: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883" name=""/>
        <p:cNvGrpSpPr/>
        <p:nvPr/>
      </p:nvGrpSpPr>
      <p:grpSpPr>
        <a:xfrm>
          <a:off x="0" y="0"/>
          <a:ext cx="0" cy="0"/>
          <a:chOff x="0" y="0"/>
          <a:chExt cx="0" cy="0"/>
        </a:xfrm>
      </p:grpSpPr>
      <p:sp>
        <p:nvSpPr>
          <p:cNvPr id="1049031" name="Title 1"/>
          <p:cNvSpPr>
            <a:spLocks noGrp="1"/>
          </p:cNvSpPr>
          <p:nvPr>
            <p:ph type="title"/>
          </p:nvPr>
        </p:nvSpPr>
        <p:spPr/>
        <p:txBody>
          <a:bodyPr/>
          <a:p>
            <a:r>
              <a:rPr b="1"/>
              <a:t>Third generation cephalosporins</a:t>
            </a:r>
            <a:endParaRPr b="1"/>
          </a:p>
        </p:txBody>
      </p:sp>
      <p:sp>
        <p:nvSpPr>
          <p:cNvPr id="1049032" name="Content Placeholder 2"/>
          <p:cNvSpPr>
            <a:spLocks noGrp="1"/>
          </p:cNvSpPr>
          <p:nvPr>
            <p:ph idx="1"/>
          </p:nvPr>
        </p:nvSpPr>
        <p:spPr>
          <a:xfrm>
            <a:off x="838204" y="1581154"/>
            <a:ext cx="10515600" cy="5143500"/>
          </a:xfrm>
        </p:spPr>
        <p:txBody>
          <a:bodyPr>
            <a:normAutofit fontScale="92500" lnSpcReduction="20000"/>
          </a:bodyPr>
          <a:p>
            <a:r>
              <a:t>They are especially </a:t>
            </a:r>
            <a:r>
              <a:rPr b="1"/>
              <a:t>better than SECOND AND FIRST generation </a:t>
            </a:r>
            <a:r>
              <a:t>cephalosporin against gram negative bacteria.</a:t>
            </a:r>
          </a:p>
          <a:p>
            <a:r>
              <a:t>These are;</a:t>
            </a:r>
          </a:p>
          <a:p>
            <a:pPr lvl="1"/>
            <a:r>
              <a:rPr sz="3000">
                <a:solidFill>
                  <a:srgbClr val="FF0000"/>
                </a:solidFill>
              </a:rPr>
              <a:t>Cefriaxone</a:t>
            </a:r>
            <a:endParaRPr sz="3000">
              <a:solidFill>
                <a:srgbClr val="FF0000"/>
              </a:solidFill>
            </a:endParaRPr>
          </a:p>
          <a:p>
            <a:pPr lvl="1"/>
            <a:r>
              <a:rPr sz="3000"/>
              <a:t>Cefperazone</a:t>
            </a:r>
            <a:endParaRPr sz="3000"/>
          </a:p>
          <a:p>
            <a:pPr lvl="1"/>
            <a:r>
              <a:rPr sz="3000"/>
              <a:t>Cefotaxime</a:t>
            </a:r>
            <a:endParaRPr sz="3000"/>
          </a:p>
          <a:p>
            <a:pPr lvl="1"/>
            <a:r>
              <a:rPr sz="3000"/>
              <a:t>Ceftazidine</a:t>
            </a:r>
            <a:endParaRPr sz="3000"/>
          </a:p>
          <a:p>
            <a:pPr lvl="1"/>
            <a:r>
              <a:rPr sz="3000"/>
              <a:t>Cefodizime</a:t>
            </a:r>
            <a:endParaRPr sz="3000"/>
          </a:p>
          <a:p>
            <a:pPr lvl="1"/>
            <a:r>
              <a:rPr sz="3000"/>
              <a:t>Ceftizoxime </a:t>
            </a:r>
            <a:endParaRPr sz="3000"/>
          </a:p>
          <a:p>
            <a:pPr lvl="1"/>
            <a:r>
              <a:rPr sz="3000">
                <a:solidFill>
                  <a:srgbClr val="FF0000"/>
                </a:solidFill>
              </a:rPr>
              <a:t>Cefixime </a:t>
            </a:r>
            <a:endParaRPr sz="3000">
              <a:solidFill>
                <a:srgbClr val="FF0000"/>
              </a:solidFill>
            </a:endParaRPr>
          </a:p>
          <a:p>
            <a:pPr lvl="1"/>
            <a:r>
              <a:rPr sz="3000"/>
              <a:t>Cefpodoxime </a:t>
            </a:r>
            <a:endParaRPr sz="3000"/>
          </a:p>
          <a:p>
            <a:pPr lvl="1"/>
            <a:r>
              <a:rPr sz="3000"/>
              <a:t>Ceftibuten </a:t>
            </a:r>
            <a:endParaRPr sz="3000"/>
          </a:p>
          <a:p>
            <a:pPr lvl="1"/>
            <a:r>
              <a:rPr sz="3000"/>
              <a:t>Proxeti</a:t>
            </a:r>
            <a:endParaRPr sz="3000"/>
          </a:p>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884" name=""/>
        <p:cNvGrpSpPr/>
        <p:nvPr/>
      </p:nvGrpSpPr>
      <p:grpSpPr>
        <a:xfrm>
          <a:off x="0" y="0"/>
          <a:ext cx="0" cy="0"/>
          <a:chOff x="0" y="0"/>
          <a:chExt cx="0" cy="0"/>
        </a:xfrm>
      </p:grpSpPr>
      <p:sp>
        <p:nvSpPr>
          <p:cNvPr id="1049033" name="Title 1"/>
          <p:cNvSpPr>
            <a:spLocks noGrp="1"/>
          </p:cNvSpPr>
          <p:nvPr>
            <p:ph type="title"/>
          </p:nvPr>
        </p:nvSpPr>
        <p:spPr/>
        <p:txBody>
          <a:bodyPr/>
          <a:p>
            <a:r>
              <a:rPr b="1"/>
              <a:t>Fourth generation cephalosporin</a:t>
            </a:r>
            <a:endParaRPr b="1"/>
          </a:p>
        </p:txBody>
      </p:sp>
      <p:sp>
        <p:nvSpPr>
          <p:cNvPr id="1049034" name="Content Placeholder 2"/>
          <p:cNvSpPr>
            <a:spLocks noGrp="1"/>
          </p:cNvSpPr>
          <p:nvPr>
            <p:ph idx="1"/>
          </p:nvPr>
        </p:nvSpPr>
        <p:spPr/>
        <p:txBody>
          <a:bodyPr>
            <a:normAutofit/>
          </a:bodyPr>
          <a:p>
            <a:r>
              <a:rPr sz="4000"/>
              <a:t>These drugs are </a:t>
            </a:r>
            <a:r>
              <a:rPr b="1" sz="4000"/>
              <a:t>very good against both gram positive and gram negative bacteria</a:t>
            </a:r>
            <a:endParaRPr b="1" sz="4000"/>
          </a:p>
          <a:p>
            <a:r>
              <a:rPr sz="4000"/>
              <a:t>Examples ;</a:t>
            </a:r>
            <a:endParaRPr sz="4000"/>
          </a:p>
          <a:p>
            <a:pPr lvl="1"/>
            <a:r>
              <a:rPr sz="3600"/>
              <a:t>Cefepime</a:t>
            </a:r>
            <a:endParaRPr sz="3600"/>
          </a:p>
          <a:p>
            <a:pPr lvl="1"/>
            <a:r>
              <a:rPr sz="3600"/>
              <a:t>Cefditoren </a:t>
            </a:r>
            <a:endParaRPr sz="3600"/>
          </a:p>
          <a:p>
            <a:pPr lvl="1"/>
            <a:r>
              <a:rPr sz="3600"/>
              <a:t>Cefepime </a:t>
            </a:r>
            <a:endParaRPr sz="3600"/>
          </a:p>
          <a:p>
            <a:pPr lvl="1"/>
            <a:r>
              <a:rPr sz="3600"/>
              <a:t>Cefdinir</a:t>
            </a:r>
            <a:endParaRPr sz="3600"/>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885" name=""/>
        <p:cNvGrpSpPr/>
        <p:nvPr/>
      </p:nvGrpSpPr>
      <p:grpSpPr>
        <a:xfrm>
          <a:off x="0" y="0"/>
          <a:ext cx="0" cy="0"/>
          <a:chOff x="0" y="0"/>
          <a:chExt cx="0" cy="0"/>
        </a:xfrm>
      </p:grpSpPr>
      <p:sp>
        <p:nvSpPr>
          <p:cNvPr id="1049035" name="Title 1"/>
          <p:cNvSpPr>
            <a:spLocks noGrp="1"/>
          </p:cNvSpPr>
          <p:nvPr>
            <p:ph type="title"/>
          </p:nvPr>
        </p:nvSpPr>
        <p:spPr/>
        <p:txBody>
          <a:bodyPr/>
          <a:p>
            <a:r>
              <a:t>Cephalosporins </a:t>
            </a:r>
            <a:r>
              <a:t>cont</a:t>
            </a:r>
          </a:p>
        </p:txBody>
      </p:sp>
      <p:sp>
        <p:nvSpPr>
          <p:cNvPr id="1049036" name="Content Placeholder 2"/>
          <p:cNvSpPr>
            <a:spLocks noGrp="1"/>
          </p:cNvSpPr>
          <p:nvPr>
            <p:ph idx="1"/>
          </p:nvPr>
        </p:nvSpPr>
        <p:spPr/>
        <p:txBody>
          <a:bodyPr>
            <a:normAutofit/>
          </a:bodyPr>
          <a:p>
            <a:pPr indent="0" marL="0">
              <a:buNone/>
            </a:pPr>
            <a:r>
              <a:rPr b="1" sz="4400"/>
              <a:t>Mechanisms of action</a:t>
            </a:r>
            <a:endParaRPr b="1" sz="4400"/>
          </a:p>
          <a:p>
            <a:r>
              <a:rPr sz="3200"/>
              <a:t>They are </a:t>
            </a:r>
            <a:r>
              <a:rPr b="1" sz="3200"/>
              <a:t>bactericidal</a:t>
            </a:r>
            <a:r>
              <a:rPr sz="3200"/>
              <a:t>, </a:t>
            </a:r>
            <a:r>
              <a:rPr sz="3200">
                <a:solidFill>
                  <a:srgbClr val="FF0000"/>
                </a:solidFill>
              </a:rPr>
              <a:t>interfere with  the bacterial cell wall synthesis</a:t>
            </a:r>
            <a:endParaRPr sz="320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886" name=""/>
        <p:cNvGrpSpPr/>
        <p:nvPr/>
      </p:nvGrpSpPr>
      <p:grpSpPr>
        <a:xfrm>
          <a:off x="0" y="0"/>
          <a:ext cx="0" cy="0"/>
          <a:chOff x="0" y="0"/>
          <a:chExt cx="0" cy="0"/>
        </a:xfrm>
      </p:grpSpPr>
      <p:sp>
        <p:nvSpPr>
          <p:cNvPr id="1049037" name="Content Placeholder 2"/>
          <p:cNvSpPr>
            <a:spLocks noGrp="1"/>
          </p:cNvSpPr>
          <p:nvPr>
            <p:ph idx="1"/>
          </p:nvPr>
        </p:nvSpPr>
        <p:spPr>
          <a:xfrm>
            <a:off x="371475" y="323854"/>
            <a:ext cx="11439529" cy="6296029"/>
          </a:xfrm>
        </p:spPr>
        <p:txBody>
          <a:bodyPr>
            <a:normAutofit/>
          </a:bodyPr>
          <a:p>
            <a:pPr indent="0" marL="0">
              <a:buNone/>
            </a:pPr>
            <a:r>
              <a:rPr b="1" sz="2400"/>
              <a:t>Pharmacokinetic of cephalosporins </a:t>
            </a:r>
            <a:endParaRPr b="1" sz="2400"/>
          </a:p>
          <a:p>
            <a:pPr indent="0" marL="0">
              <a:buNone/>
            </a:pPr>
            <a:r>
              <a:rPr sz="2400"/>
              <a:t>Usually given parenterally (IM and IV), though few may be given orally e.g.</a:t>
            </a:r>
            <a:endParaRPr sz="2400"/>
          </a:p>
          <a:p>
            <a:pPr indent="0" marL="0">
              <a:buNone/>
            </a:pPr>
            <a:r>
              <a:rPr sz="2400"/>
              <a:t>       cephalexin</a:t>
            </a:r>
            <a:endParaRPr sz="2400"/>
          </a:p>
          <a:p>
            <a:pPr indent="0" marL="0">
              <a:buNone/>
            </a:pPr>
            <a:r>
              <a:rPr sz="2400"/>
              <a:t>        </a:t>
            </a:r>
            <a:r>
              <a:rPr sz="2400"/>
              <a:t>cephradine</a:t>
            </a:r>
            <a:endParaRPr sz="2400"/>
          </a:p>
          <a:p>
            <a:pPr indent="0" marL="0">
              <a:buNone/>
            </a:pPr>
            <a:r>
              <a:rPr sz="2400"/>
              <a:t>        cefadroxil</a:t>
            </a:r>
            <a:endParaRPr b="1" sz="2400"/>
          </a:p>
          <a:p>
            <a:pPr indent="0" marL="0">
              <a:buNone/>
            </a:pPr>
            <a:r>
              <a:rPr b="1" sz="2400"/>
              <a:t>Distribution- </a:t>
            </a:r>
            <a:r>
              <a:rPr sz="2400"/>
              <a:t>After absorption they are widely distributed in the body and </a:t>
            </a:r>
            <a:r>
              <a:rPr sz="2400">
                <a:solidFill>
                  <a:srgbClr val="FF0000"/>
                </a:solidFill>
              </a:rPr>
              <a:t>some such as cefotaxime, cefuroxime, ceftriaxone cross the blood-brain barrier</a:t>
            </a:r>
            <a:r>
              <a:rPr sz="2400"/>
              <a:t>. (because of lipid solubility</a:t>
            </a:r>
            <a:r>
              <a:rPr b="1" sz="2400"/>
              <a:t>.)</a:t>
            </a:r>
            <a:endParaRPr b="1" sz="2400"/>
          </a:p>
          <a:p>
            <a:pPr indent="0" marL="0">
              <a:buNone/>
            </a:pPr>
            <a:r>
              <a:rPr b="1" sz="2400"/>
              <a:t>Metabolism- </a:t>
            </a:r>
            <a:r>
              <a:rPr sz="2400"/>
              <a:t>in the liver with half life of 1-4 hours.</a:t>
            </a:r>
            <a:endParaRPr sz="2400"/>
          </a:p>
          <a:p>
            <a:pPr indent="0" marL="0">
              <a:buNone/>
            </a:pPr>
            <a:r>
              <a:rPr b="1" sz="2400"/>
              <a:t>Excretion- </a:t>
            </a:r>
            <a:r>
              <a:rPr sz="2400"/>
              <a:t>mainly renal largely by tubular secretion but 40% of ceftriaxone is eliminated in the </a:t>
            </a:r>
            <a:r>
              <a:rPr sz="2400"/>
              <a:t>bille</a:t>
            </a:r>
            <a:r>
              <a:rPr sz="2400"/>
              <a:t> and </a:t>
            </a:r>
            <a:r>
              <a:rPr sz="2400">
                <a:solidFill>
                  <a:srgbClr val="FF0000"/>
                </a:solidFill>
              </a:rPr>
              <a:t>cefoperazone</a:t>
            </a:r>
            <a:r>
              <a:rPr sz="2400">
                <a:solidFill>
                  <a:srgbClr val="FF0000"/>
                </a:solidFill>
              </a:rPr>
              <a:t> is principally excreted in the bile</a:t>
            </a:r>
            <a:r>
              <a:rPr sz="2400"/>
              <a:t>. For these reason </a:t>
            </a:r>
            <a:r>
              <a:rPr sz="2400"/>
              <a:t>cefoperazone</a:t>
            </a:r>
            <a:r>
              <a:rPr sz="2400"/>
              <a:t> may be a better choice for patients with renal impairment..</a:t>
            </a:r>
            <a:endParaRPr sz="2400"/>
          </a:p>
          <a:p>
            <a:r>
              <a:rPr sz="2400"/>
              <a:t>Dosage should be reduced for patients with renal impairment.</a:t>
            </a:r>
            <a:endParaRPr sz="2400"/>
          </a:p>
          <a:p>
            <a:r>
              <a:rPr sz="2400">
                <a:solidFill>
                  <a:srgbClr val="FF0000"/>
                </a:solidFill>
              </a:rPr>
              <a:t>Active excretion in the kidneys can be blocked by probenecid.</a:t>
            </a:r>
            <a:endParaRPr sz="2400">
              <a:solidFill>
                <a:srgbClr val="FF0000"/>
              </a:solidFill>
            </a:endParaRP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887" name=""/>
        <p:cNvGrpSpPr/>
        <p:nvPr/>
      </p:nvGrpSpPr>
      <p:grpSpPr>
        <a:xfrm>
          <a:off x="0" y="0"/>
          <a:ext cx="0" cy="0"/>
          <a:chOff x="0" y="0"/>
          <a:chExt cx="0" cy="0"/>
        </a:xfrm>
      </p:grpSpPr>
      <p:sp>
        <p:nvSpPr>
          <p:cNvPr id="1049038" name="Title 1"/>
          <p:cNvSpPr>
            <a:spLocks noGrp="1"/>
          </p:cNvSpPr>
          <p:nvPr>
            <p:ph type="title"/>
          </p:nvPr>
        </p:nvSpPr>
        <p:spPr>
          <a:xfrm>
            <a:off x="838204" y="365126"/>
            <a:ext cx="10515600" cy="692148"/>
          </a:xfrm>
        </p:spPr>
        <p:txBody>
          <a:bodyPr>
            <a:normAutofit fontScale="90000"/>
          </a:bodyPr>
          <a:p>
            <a:r>
              <a:t>Indications of cephalosporins</a:t>
            </a:r>
          </a:p>
        </p:txBody>
      </p:sp>
      <p:sp>
        <p:nvSpPr>
          <p:cNvPr id="1049039" name="Content Placeholder 2"/>
          <p:cNvSpPr>
            <a:spLocks noGrp="1"/>
          </p:cNvSpPr>
          <p:nvPr>
            <p:ph idx="1"/>
          </p:nvPr>
        </p:nvSpPr>
        <p:spPr>
          <a:xfrm>
            <a:off x="838204" y="1323979"/>
            <a:ext cx="10515600" cy="5276845"/>
          </a:xfrm>
        </p:spPr>
        <p:txBody>
          <a:bodyPr>
            <a:normAutofit/>
          </a:bodyPr>
          <a:p>
            <a:r>
              <a:t>Septicaemia</a:t>
            </a:r>
          </a:p>
          <a:p>
            <a:r>
              <a:t> Pneumonia </a:t>
            </a:r>
          </a:p>
          <a:p>
            <a:r>
              <a:t>Meningitis (ceftriaxone, cefotaxime) </a:t>
            </a:r>
          </a:p>
          <a:p>
            <a:r>
              <a:t>Billiary</a:t>
            </a:r>
            <a:r>
              <a:t> tract infection </a:t>
            </a:r>
          </a:p>
          <a:p>
            <a:r>
              <a:t>Urinary tract infection (especially in pregnant women or patients unresponsive to other drugs) </a:t>
            </a:r>
          </a:p>
          <a:p>
            <a:r>
              <a:t>Sinusitis(cefadroxil) </a:t>
            </a:r>
          </a:p>
          <a:p>
            <a:r>
              <a:t>Intraabdominal infections </a:t>
            </a:r>
          </a:p>
          <a:p>
            <a:r>
              <a:t>Several susceptible infections of the respiratory system, bone and otitis media Cephalosporins are also used for prophylaxis because of their good safety profiles</a:t>
            </a: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888" name=""/>
        <p:cNvGrpSpPr/>
        <p:nvPr/>
      </p:nvGrpSpPr>
      <p:grpSpPr>
        <a:xfrm>
          <a:off x="0" y="0"/>
          <a:ext cx="0" cy="0"/>
          <a:chOff x="0" y="0"/>
          <a:chExt cx="0" cy="0"/>
        </a:xfrm>
      </p:grpSpPr>
      <p:sp>
        <p:nvSpPr>
          <p:cNvPr id="1049040" name="Title 1"/>
          <p:cNvSpPr>
            <a:spLocks noGrp="1"/>
          </p:cNvSpPr>
          <p:nvPr>
            <p:ph type="title"/>
          </p:nvPr>
        </p:nvSpPr>
        <p:spPr/>
        <p:txBody>
          <a:bodyPr/>
          <a:p>
            <a:r>
              <a:rPr b="1"/>
              <a:t>Unwanted effects of cephalosporins (similar to </a:t>
            </a:r>
            <a:r>
              <a:rPr b="1"/>
              <a:t>penicillins</a:t>
            </a:r>
            <a:r>
              <a:rPr b="1"/>
              <a:t>)</a:t>
            </a:r>
            <a:endParaRPr b="1"/>
          </a:p>
        </p:txBody>
      </p:sp>
      <p:sp>
        <p:nvSpPr>
          <p:cNvPr id="1049041" name="Content Placeholder 2"/>
          <p:cNvSpPr>
            <a:spLocks noGrp="1"/>
          </p:cNvSpPr>
          <p:nvPr>
            <p:ph idx="1"/>
          </p:nvPr>
        </p:nvSpPr>
        <p:spPr>
          <a:xfrm>
            <a:off x="838204" y="1825618"/>
            <a:ext cx="10515600" cy="4775206"/>
          </a:xfrm>
        </p:spPr>
        <p:txBody>
          <a:bodyPr>
            <a:normAutofit/>
          </a:bodyPr>
          <a:p>
            <a:r>
              <a:rPr b="1"/>
              <a:t>Hypersensitivit</a:t>
            </a:r>
            <a:r>
              <a:t>y is the most common</a:t>
            </a:r>
          </a:p>
          <a:p>
            <a:r>
              <a:rPr>
                <a:solidFill>
                  <a:srgbClr val="FF0000"/>
                </a:solidFill>
              </a:rPr>
              <a:t>Because of chemical similarity of cephalosporins, a person who has had an allergic reactions to </a:t>
            </a:r>
            <a:r>
              <a:rPr>
                <a:solidFill>
                  <a:srgbClr val="FF0000"/>
                </a:solidFill>
              </a:rPr>
              <a:t>penicillins</a:t>
            </a:r>
            <a:r>
              <a:rPr>
                <a:solidFill>
                  <a:srgbClr val="FF0000"/>
                </a:solidFill>
              </a:rPr>
              <a:t> may also be allergic to cephalosporins(Cross sensitivity).</a:t>
            </a:r>
            <a:endParaRPr>
              <a:solidFill>
                <a:srgbClr val="FF0000"/>
              </a:solidFill>
            </a:endParaRPr>
          </a:p>
          <a:p>
            <a:pPr indent="0" marL="0">
              <a:buNone/>
            </a:pPr>
            <a:r>
              <a:t>10% of the patients sensitive to penicillin are sensitive to cephalosporin.</a:t>
            </a:r>
          </a:p>
          <a:p>
            <a:r>
              <a:rPr b="1"/>
              <a:t>Hemorrhage</a:t>
            </a:r>
            <a:r>
              <a:t> due to interference with blood clotting factors.</a:t>
            </a:r>
          </a:p>
          <a:p>
            <a:r>
              <a:t>Use of cephalosporin for more than two weeks causes </a:t>
            </a:r>
            <a:r>
              <a:rPr b="1"/>
              <a:t>thrombocytopenia, neutropenia, interstitial nephritis and abnormal liver function tests.</a:t>
            </a:r>
            <a:endParaRPr b="1"/>
          </a:p>
          <a:p>
            <a:pPr indent="0" marL="0">
              <a:buNone/>
            </a:pP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889" name=""/>
        <p:cNvGrpSpPr/>
        <p:nvPr/>
      </p:nvGrpSpPr>
      <p:grpSpPr>
        <a:xfrm>
          <a:off x="0" y="0"/>
          <a:ext cx="0" cy="0"/>
          <a:chOff x="0" y="0"/>
          <a:chExt cx="0" cy="0"/>
        </a:xfrm>
      </p:grpSpPr>
      <p:sp>
        <p:nvSpPr>
          <p:cNvPr id="1049042" name="Title 1"/>
          <p:cNvSpPr>
            <a:spLocks noGrp="1"/>
          </p:cNvSpPr>
          <p:nvPr>
            <p:ph type="title"/>
          </p:nvPr>
        </p:nvSpPr>
        <p:spPr/>
        <p:txBody>
          <a:bodyPr/>
          <a:p>
            <a:r>
              <a:t>Drug interactions</a:t>
            </a:r>
            <a:br/>
          </a:p>
        </p:txBody>
      </p:sp>
      <p:sp>
        <p:nvSpPr>
          <p:cNvPr id="1049043" name="Content Placeholder 2"/>
          <p:cNvSpPr>
            <a:spLocks noGrp="1"/>
          </p:cNvSpPr>
          <p:nvPr>
            <p:ph idx="1"/>
          </p:nvPr>
        </p:nvSpPr>
        <p:spPr>
          <a:xfrm>
            <a:off x="838204" y="1362070"/>
            <a:ext cx="10515600" cy="5248270"/>
          </a:xfrm>
        </p:spPr>
        <p:txBody>
          <a:bodyPr/>
          <a:p>
            <a:r>
              <a:rPr sz="3600"/>
              <a:t>Cephalosporin with </a:t>
            </a:r>
            <a:r>
              <a:rPr b="1" sz="3600"/>
              <a:t>alcohol</a:t>
            </a:r>
            <a:r>
              <a:rPr sz="3600"/>
              <a:t>- disulfiram like effects.</a:t>
            </a:r>
            <a:endParaRPr sz="3600"/>
          </a:p>
          <a:p>
            <a:pPr indent="0" marL="0">
              <a:buNone/>
            </a:pPr>
            <a:r>
              <a:rPr sz="3600"/>
              <a:t>Patient should avoid alcohol when taking the drug.</a:t>
            </a:r>
            <a:endParaRPr sz="3600"/>
          </a:p>
          <a:p>
            <a:r>
              <a:rPr sz="3600"/>
              <a:t>Cephalosporin with high fu</a:t>
            </a:r>
            <a:r>
              <a:rPr b="1" sz="3600"/>
              <a:t>rosemide </a:t>
            </a:r>
            <a:r>
              <a:rPr sz="3600"/>
              <a:t>and </a:t>
            </a:r>
            <a:r>
              <a:rPr b="1" sz="3600"/>
              <a:t>torsemide</a:t>
            </a:r>
            <a:r>
              <a:rPr sz="3600"/>
              <a:t> are likely to cause nephrotoxicity.</a:t>
            </a:r>
            <a:endParaRPr sz="3600"/>
          </a:p>
          <a:p>
            <a:r>
              <a:rPr sz="3600"/>
              <a:t>Cephalosporin with </a:t>
            </a:r>
            <a:r>
              <a:rPr b="1" sz="3600"/>
              <a:t>aminoglycoside</a:t>
            </a:r>
            <a:r>
              <a:rPr sz="3600"/>
              <a:t> – nephrotoxicity.</a:t>
            </a:r>
            <a:endParaRPr sz="3600"/>
          </a:p>
          <a:p>
            <a:r>
              <a:rPr sz="3600"/>
              <a:t>Cephalosporin with </a:t>
            </a:r>
            <a:r>
              <a:rPr b="1" sz="3600"/>
              <a:t>oral anticoagulant </a:t>
            </a:r>
            <a:r>
              <a:rPr sz="3600"/>
              <a:t>like warfarin may cause bleed because both interfere with clotting factors.</a:t>
            </a:r>
            <a:endParaRPr sz="3600"/>
          </a:p>
          <a:p/>
          <a:p>
            <a:pPr indent="0" marL="0">
              <a:buNone/>
            </a:pP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890" name=""/>
        <p:cNvGrpSpPr/>
        <p:nvPr/>
      </p:nvGrpSpPr>
      <p:grpSpPr>
        <a:xfrm>
          <a:off x="0" y="0"/>
          <a:ext cx="0" cy="0"/>
          <a:chOff x="0" y="0"/>
          <a:chExt cx="0" cy="0"/>
        </a:xfrm>
      </p:grpSpPr>
      <p:sp>
        <p:nvSpPr>
          <p:cNvPr id="1049044" name="Title 1"/>
          <p:cNvSpPr>
            <a:spLocks noGrp="1"/>
          </p:cNvSpPr>
          <p:nvPr>
            <p:ph type="title"/>
          </p:nvPr>
        </p:nvSpPr>
        <p:spPr/>
        <p:txBody>
          <a:bodyPr/>
          <a:p>
            <a:r>
              <a:rPr b="1"/>
              <a:t>Ceftriaxone (Rocephin)</a:t>
            </a:r>
            <a:endParaRPr b="1"/>
          </a:p>
        </p:txBody>
      </p:sp>
      <p:sp>
        <p:nvSpPr>
          <p:cNvPr id="1049045" name="Content Placeholder 2"/>
          <p:cNvSpPr>
            <a:spLocks noGrp="1"/>
          </p:cNvSpPr>
          <p:nvPr>
            <p:ph idx="1"/>
          </p:nvPr>
        </p:nvSpPr>
        <p:spPr>
          <a:xfrm>
            <a:off x="838204" y="1476370"/>
            <a:ext cx="10515600" cy="5105395"/>
          </a:xfrm>
        </p:spPr>
        <p:txBody>
          <a:bodyPr>
            <a:normAutofit fontScale="47500" lnSpcReduction="20000"/>
          </a:bodyPr>
          <a:p>
            <a:r>
              <a:rPr sz="5900">
                <a:solidFill>
                  <a:srgbClr val="FF0000"/>
                </a:solidFill>
              </a:rPr>
              <a:t>Half life 4hours </a:t>
            </a:r>
            <a:r>
              <a:rPr sz="5900"/>
              <a:t>hence requires to be administered once a daily. (Adult: 1–2 g/d IM or IV in divided doses b.i.d.–</a:t>
            </a:r>
            <a:r>
              <a:rPr sz="5900"/>
              <a:t>q.i.d</a:t>
            </a:r>
            <a:r>
              <a:rPr sz="5900"/>
              <a:t>.)</a:t>
            </a:r>
            <a:endParaRPr sz="5900"/>
          </a:p>
          <a:p>
            <a:pPr indent="0" marL="0">
              <a:buNone/>
            </a:pPr>
            <a:r>
              <a:rPr b="1" sz="6700"/>
              <a:t>Indication;</a:t>
            </a:r>
            <a:r>
              <a:rPr sz="5900"/>
              <a:t>.</a:t>
            </a:r>
            <a:endParaRPr sz="5900"/>
          </a:p>
          <a:p>
            <a:pPr indent="0" marL="0">
              <a:buNone/>
            </a:pPr>
            <a:r>
              <a:rPr sz="5900"/>
              <a:t>Treatment of moderate to severe skin, urinary tract, and respiratory tract infections; pelvic </a:t>
            </a:r>
            <a:r>
              <a:rPr sz="5900"/>
              <a:t>infl</a:t>
            </a:r>
            <a:r>
              <a:rPr sz="5900"/>
              <a:t> </a:t>
            </a:r>
            <a:r>
              <a:rPr sz="5900"/>
              <a:t>ammatory</a:t>
            </a:r>
            <a:r>
              <a:rPr sz="5900"/>
              <a:t> disease; intra-abdominal infections; peritonitis; septicemia; bone infections; CNS infections; preoperative prophylaxis; off-label use for treatment of Lyme disease</a:t>
            </a:r>
            <a:endParaRPr sz="5900"/>
          </a:p>
          <a:p>
            <a:pPr indent="0" marL="0">
              <a:buNone/>
            </a:pPr>
            <a:r>
              <a:rPr b="1" sz="6700"/>
              <a:t>Contraindication;</a:t>
            </a:r>
            <a:endParaRPr b="1" sz="6700"/>
          </a:p>
          <a:p>
            <a:r>
              <a:rPr sz="6700"/>
              <a:t> </a:t>
            </a:r>
            <a:r>
              <a:rPr sz="5900"/>
              <a:t>penicillin sensitivity</a:t>
            </a:r>
            <a:endParaRPr sz="5900"/>
          </a:p>
          <a:p>
            <a:r>
              <a:rPr sz="5900"/>
              <a:t>Administer with caution in renal impairment.</a:t>
            </a:r>
            <a:endParaRPr sz="5900"/>
          </a:p>
          <a:p>
            <a:r>
              <a:rPr sz="5900"/>
              <a:t>Do not administer to infants below 6 weeks.</a:t>
            </a:r>
            <a:endParaRPr sz="5900"/>
          </a:p>
          <a:p>
            <a:r>
              <a:rPr sz="5900"/>
              <a:t>Cephalosporin hypersensitivity. </a:t>
            </a:r>
            <a:endParaRPr b="1" sz="5900"/>
          </a:p>
          <a:p>
            <a:pPr indent="0" marL="0">
              <a:buNone/>
            </a:pPr>
            <a:r>
              <a:rPr sz="5100"/>
              <a:t> </a:t>
            </a:r>
            <a:endParaRPr sz="5100"/>
          </a:p>
          <a:p>
            <a:endParaRPr sz="4000"/>
          </a:p>
          <a:p>
            <a:pPr indent="0" marL="0">
              <a:buNone/>
            </a:pP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891" name=""/>
        <p:cNvGrpSpPr/>
        <p:nvPr/>
      </p:nvGrpSpPr>
      <p:grpSpPr>
        <a:xfrm>
          <a:off x="0" y="0"/>
          <a:ext cx="0" cy="0"/>
          <a:chOff x="0" y="0"/>
          <a:chExt cx="0" cy="0"/>
        </a:xfrm>
      </p:grpSpPr>
      <p:sp>
        <p:nvSpPr>
          <p:cNvPr id="1049046" name="Content Placeholder 2"/>
          <p:cNvSpPr>
            <a:spLocks noGrp="1"/>
          </p:cNvSpPr>
          <p:nvPr>
            <p:ph idx="1"/>
          </p:nvPr>
        </p:nvSpPr>
        <p:spPr>
          <a:xfrm>
            <a:off x="323854" y="495304"/>
            <a:ext cx="11029950" cy="6115050"/>
          </a:xfrm>
        </p:spPr>
        <p:txBody>
          <a:bodyPr>
            <a:normAutofit/>
          </a:bodyPr>
          <a:p>
            <a:r>
              <a:rPr b="1"/>
              <a:t>Nursing administration</a:t>
            </a:r>
            <a:endParaRPr b="1"/>
          </a:p>
          <a:p>
            <a:pPr lvl="1"/>
            <a:r>
              <a:t>Check culture and sensitivity reports to ensure that this is the drug of choice for this patient. </a:t>
            </a:r>
          </a:p>
          <a:p>
            <a:pPr lvl="1"/>
            <a:r>
              <a:t>Monitor renal function test values before and periodically during therapy to arrange for appropriate dose reduction as needed. </a:t>
            </a:r>
          </a:p>
          <a:p>
            <a:pPr lvl="1"/>
            <a:r>
              <a:t>Ensure that patient receives the full course of the cephalosporin as prescribed, divided around the clock to increase effectiveness and to decrease the risk of development of resistant strains. </a:t>
            </a:r>
          </a:p>
          <a:p>
            <a:pPr lvl="1"/>
            <a:r>
              <a:t>Monitor the infection site and presenting signs and symptoms (e.g., fever, lethargy) throughout the course of drug therapy. Failure of these signs and symptoms to resolve may indicate the need to </a:t>
            </a:r>
            <a:r>
              <a:t>reculture</a:t>
            </a:r>
            <a:r>
              <a:t> the site. Arrange to continue drug therapy for at least 2 days after the resolution of all signs and symptoms to help prevent the development of resistant strains of bacteria. </a:t>
            </a:r>
          </a:p>
          <a:p>
            <a:pPr lvl="1"/>
            <a:r>
              <a:t>Provide small, frequent meals as tolerated, frequent mouth care, and ice chips or sugarless candy to suck if stomatitis and sore mouth are problems to relieve discomfort and provide nutrition. </a:t>
            </a: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892" name=""/>
        <p:cNvGrpSpPr/>
        <p:nvPr/>
      </p:nvGrpSpPr>
      <p:grpSpPr>
        <a:xfrm>
          <a:off x="0" y="0"/>
          <a:ext cx="0" cy="0"/>
          <a:chOff x="0" y="0"/>
          <a:chExt cx="0" cy="0"/>
        </a:xfrm>
      </p:grpSpPr>
      <p:sp>
        <p:nvSpPr>
          <p:cNvPr id="1049047" name="Title 1"/>
          <p:cNvSpPr>
            <a:spLocks noGrp="1"/>
          </p:cNvSpPr>
          <p:nvPr>
            <p:ph type="title"/>
          </p:nvPr>
        </p:nvSpPr>
        <p:spPr/>
        <p:txBody>
          <a:bodyPr/>
          <a:p>
            <a:r>
              <a:t>NURSING INTERVENTIONS CONT’</a:t>
            </a:r>
          </a:p>
        </p:txBody>
      </p:sp>
      <p:sp>
        <p:nvSpPr>
          <p:cNvPr id="1049048" name="Content Placeholder 2"/>
          <p:cNvSpPr>
            <a:spLocks noGrp="1"/>
          </p:cNvSpPr>
          <p:nvPr>
            <p:ph idx="1"/>
          </p:nvPr>
        </p:nvSpPr>
        <p:spPr/>
        <p:txBody>
          <a:bodyPr/>
          <a:p>
            <a:pPr lvl="1"/>
            <a:r>
              <a:t>Provide adequate </a:t>
            </a:r>
            <a:r>
              <a:t>fl</a:t>
            </a:r>
            <a:r>
              <a:t> </a:t>
            </a:r>
            <a:r>
              <a:t>uids</a:t>
            </a:r>
            <a:r>
              <a:t> to replace </a:t>
            </a:r>
            <a:r>
              <a:t>fl</a:t>
            </a:r>
            <a:r>
              <a:t> </a:t>
            </a:r>
            <a:r>
              <a:t>uid</a:t>
            </a:r>
            <a:r>
              <a:t> lost with diarrhea</a:t>
            </a:r>
          </a:p>
          <a:p>
            <a:pPr lvl="1"/>
            <a:r>
              <a:t>Monitor the patient for any signs of superinfection to arrange for treatment if superinfection occurs. </a:t>
            </a:r>
          </a:p>
          <a:p>
            <a:pPr lvl="1"/>
            <a:r>
              <a:t>Monitor injection sites regularly to provide warm compresses and gentle massage to injection sites if they are painful or swollen. If signs of phlebitis occur, remove the IV line and reinsert in a different vein. </a:t>
            </a:r>
          </a:p>
          <a:p>
            <a:pPr lvl="1"/>
            <a:r>
              <a:t>Initiate safety measures, including adequate lighting, side rails on the bed, and assistance with ambulation to protect the patient from injury if CNS effects occur.</a:t>
            </a:r>
          </a:p>
          <a:p>
            <a:pPr lvl="1"/>
            <a:r>
              <a:t> Instruct the patient about the appropriate dosage schedule and about possible side effects to enhance patient knowledge about drug therapy and to promote compliance</a:t>
            </a:r>
          </a:p>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893" name=""/>
        <p:cNvGrpSpPr/>
        <p:nvPr/>
      </p:nvGrpSpPr>
      <p:grpSpPr>
        <a:xfrm>
          <a:off x="0" y="0"/>
          <a:ext cx="0" cy="0"/>
          <a:chOff x="0" y="0"/>
          <a:chExt cx="0" cy="0"/>
        </a:xfrm>
      </p:grpSpPr>
      <p:sp>
        <p:nvSpPr>
          <p:cNvPr id="1049049" name="Title 1"/>
          <p:cNvSpPr>
            <a:spLocks noGrp="1"/>
          </p:cNvSpPr>
          <p:nvPr>
            <p:ph type="title"/>
          </p:nvPr>
        </p:nvSpPr>
        <p:spPr/>
        <p:txBody>
          <a:bodyPr/>
          <a:p>
            <a:r>
              <a:t>Patient education </a:t>
            </a:r>
          </a:p>
        </p:txBody>
      </p:sp>
      <p:sp>
        <p:nvSpPr>
          <p:cNvPr id="1049050" name="Content Placeholder 2"/>
          <p:cNvSpPr>
            <a:spLocks noGrp="1"/>
          </p:cNvSpPr>
          <p:nvPr>
            <p:ph idx="1"/>
          </p:nvPr>
        </p:nvSpPr>
        <p:spPr/>
        <p:txBody>
          <a:bodyPr/>
          <a:p>
            <a:r>
              <a:t>Take safety precautions, including changing position slowly and avoiding driving and hazardous tasks, if CNS effects occur. </a:t>
            </a:r>
          </a:p>
          <a:p>
            <a:r>
              <a:t>Try to drink a lot of </a:t>
            </a:r>
            <a:r>
              <a:t>fl</a:t>
            </a:r>
            <a:r>
              <a:t> </a:t>
            </a:r>
            <a:r>
              <a:t>uids</a:t>
            </a:r>
            <a:r>
              <a:t> and to maintain nutrition (very important) even though nausea, vomiting, and diarrhea may occur. </a:t>
            </a:r>
          </a:p>
          <a:p>
            <a:r>
              <a:t>Report </a:t>
            </a:r>
            <a:r>
              <a:t>diffi</a:t>
            </a:r>
            <a:r>
              <a:t> </a:t>
            </a:r>
            <a:r>
              <a:t>culty</a:t>
            </a:r>
            <a:r>
              <a:t> breathing, severe headache, severe diarrhea, dizziness, or weakness. </a:t>
            </a:r>
          </a:p>
          <a:p>
            <a:r>
              <a:t>Avoid consuming alcoholic beverages while receiving cephalosporins and for at least 72 hours after completing the drug course because serious side effects could occur</a:t>
            </a: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894" name=""/>
        <p:cNvGrpSpPr/>
        <p:nvPr/>
      </p:nvGrpSpPr>
      <p:grpSpPr>
        <a:xfrm>
          <a:off x="0" y="0"/>
          <a:ext cx="0" cy="0"/>
          <a:chOff x="0" y="0"/>
          <a:chExt cx="0" cy="0"/>
        </a:xfrm>
      </p:grpSpPr>
      <p:sp>
        <p:nvSpPr>
          <p:cNvPr id="1049051" name="Title 1"/>
          <p:cNvSpPr>
            <a:spLocks noGrp="1"/>
          </p:cNvSpPr>
          <p:nvPr>
            <p:ph type="title"/>
          </p:nvPr>
        </p:nvSpPr>
        <p:spPr/>
        <p:txBody>
          <a:bodyPr/>
          <a:p>
            <a:r>
              <a:t>Other beta lactams</a:t>
            </a:r>
          </a:p>
        </p:txBody>
      </p:sp>
      <p:sp>
        <p:nvSpPr>
          <p:cNvPr id="1049052" name="Content Placeholder 2"/>
          <p:cNvSpPr>
            <a:spLocks noGrp="1"/>
          </p:cNvSpPr>
          <p:nvPr>
            <p:ph idx="1"/>
          </p:nvPr>
        </p:nvSpPr>
        <p:spPr>
          <a:xfrm>
            <a:off x="371475" y="1400175"/>
            <a:ext cx="11449045" cy="4776782"/>
          </a:xfrm>
        </p:spPr>
        <p:txBody>
          <a:bodyPr>
            <a:normAutofit/>
          </a:bodyPr>
          <a:p>
            <a:pPr indent="0" marL="0">
              <a:buNone/>
            </a:pPr>
            <a:r>
              <a:rPr b="1"/>
              <a:t>Carbapenems </a:t>
            </a:r>
            <a:endParaRPr b="1"/>
          </a:p>
          <a:p>
            <a:r>
              <a:rPr sz="3200"/>
              <a:t>Bactericidal beta-lactams with a </a:t>
            </a:r>
            <a:r>
              <a:rPr b="1" sz="3200"/>
              <a:t>very broad antibacterial spectrum</a:t>
            </a:r>
            <a:r>
              <a:rPr sz="3200"/>
              <a:t>. </a:t>
            </a:r>
            <a:endParaRPr sz="3200"/>
          </a:p>
          <a:p>
            <a:r>
              <a:rPr sz="3200"/>
              <a:t>Often </a:t>
            </a:r>
            <a:r>
              <a:rPr b="1" sz="3200"/>
              <a:t>reserved for complicated bacterial infection </a:t>
            </a:r>
            <a:r>
              <a:rPr sz="3200"/>
              <a:t>including </a:t>
            </a:r>
            <a:r>
              <a:rPr sz="3200">
                <a:solidFill>
                  <a:srgbClr val="0070C0"/>
                </a:solidFill>
              </a:rPr>
              <a:t>those of body cavity and connective tissue infections in acutely ill hospitalized patients</a:t>
            </a:r>
            <a:r>
              <a:rPr sz="3200"/>
              <a:t>. </a:t>
            </a:r>
            <a:endParaRPr sz="3200"/>
          </a:p>
          <a:p>
            <a:r>
              <a:rPr sz="3200"/>
              <a:t>Mechanism of action</a:t>
            </a:r>
            <a:endParaRPr sz="3200"/>
          </a:p>
          <a:p>
            <a:r>
              <a:rPr sz="3200"/>
              <a:t>Interference with cell wall synthesis after binding to bacterial penicillin binding proteins</a:t>
            </a:r>
            <a:r>
              <a:t>.</a:t>
            </a: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895" name=""/>
        <p:cNvGrpSpPr/>
        <p:nvPr/>
      </p:nvGrpSpPr>
      <p:grpSpPr>
        <a:xfrm>
          <a:off x="0" y="0"/>
          <a:ext cx="0" cy="0"/>
          <a:chOff x="0" y="0"/>
          <a:chExt cx="0" cy="0"/>
        </a:xfrm>
      </p:grpSpPr>
      <p:sp>
        <p:nvSpPr>
          <p:cNvPr id="1049053" name="Title 1"/>
          <p:cNvSpPr>
            <a:spLocks noGrp="1"/>
          </p:cNvSpPr>
          <p:nvPr>
            <p:ph type="title"/>
          </p:nvPr>
        </p:nvSpPr>
        <p:spPr>
          <a:xfrm>
            <a:off x="838204" y="365126"/>
            <a:ext cx="10515600" cy="711193"/>
          </a:xfrm>
        </p:spPr>
        <p:txBody>
          <a:bodyPr/>
          <a:p>
            <a:r>
              <a:t>Other beta lactams </a:t>
            </a:r>
            <a:r>
              <a:t>cont</a:t>
            </a:r>
            <a:r>
              <a:t>: Carbapenems</a:t>
            </a:r>
          </a:p>
        </p:txBody>
      </p:sp>
      <p:sp>
        <p:nvSpPr>
          <p:cNvPr id="1049054" name="Content Placeholder 2"/>
          <p:cNvSpPr>
            <a:spLocks noGrp="1"/>
          </p:cNvSpPr>
          <p:nvPr>
            <p:ph idx="1"/>
          </p:nvPr>
        </p:nvSpPr>
        <p:spPr>
          <a:xfrm>
            <a:off x="400050" y="1247770"/>
            <a:ext cx="11172825" cy="5400675"/>
          </a:xfrm>
        </p:spPr>
        <p:txBody>
          <a:bodyPr>
            <a:normAutofit/>
          </a:bodyPr>
          <a:p>
            <a:r>
              <a:t> Examples of Carbapenems</a:t>
            </a:r>
          </a:p>
          <a:p>
            <a:r>
              <a:t>I</a:t>
            </a:r>
            <a:r>
              <a:rPr>
                <a:solidFill>
                  <a:srgbClr val="0070C0"/>
                </a:solidFill>
              </a:rPr>
              <a:t>mipenem-</a:t>
            </a:r>
            <a:r>
              <a:t> in combination with </a:t>
            </a:r>
            <a:r>
              <a:t>cilastatin</a:t>
            </a:r>
            <a:r>
              <a:t> (Imipenem-</a:t>
            </a:r>
            <a:r>
              <a:t>cilastatin</a:t>
            </a:r>
            <a:r>
              <a:t> combination </a:t>
            </a:r>
            <a:r>
              <a:rPr b="1"/>
              <a:t>(</a:t>
            </a:r>
            <a:r>
              <a:rPr b="1"/>
              <a:t>primaxin</a:t>
            </a:r>
            <a:r>
              <a:rPr b="1"/>
              <a:t>))</a:t>
            </a:r>
            <a:endParaRPr b="1"/>
          </a:p>
          <a:p>
            <a:pPr lvl="1"/>
            <a:r>
              <a:t>Cilastatin</a:t>
            </a:r>
            <a:r>
              <a:t> is usually used in combination with imipenem </a:t>
            </a:r>
            <a:r>
              <a:rPr>
                <a:solidFill>
                  <a:srgbClr val="FF0000"/>
                </a:solidFill>
              </a:rPr>
              <a:t>to block its rapid inactivation in the kidney thus prolonging its activity</a:t>
            </a:r>
            <a:endParaRPr>
              <a:solidFill>
                <a:srgbClr val="FF0000"/>
              </a:solidFill>
            </a:endParaRPr>
          </a:p>
          <a:p>
            <a:pPr lvl="1"/>
            <a:r>
              <a:rPr b="1"/>
              <a:t>Used in </a:t>
            </a:r>
            <a:r>
              <a:t>aerobic and anaerobic gram positive and gram-negative bacteria including: bone, joint, skin, soft tissue infections, bacterial endocarditis caused by </a:t>
            </a:r>
            <a:r>
              <a:t>S.aureus</a:t>
            </a:r>
            <a:r>
              <a:t>( However many of methicillin-resistant </a:t>
            </a:r>
            <a:r>
              <a:t>S.aureus</a:t>
            </a:r>
            <a:r>
              <a:t> are less susceptible), intraabdominal bacterial infections, pneumonia, UTIs, pelvic infections and bacterial </a:t>
            </a:r>
            <a:r>
              <a:t>septicaemia</a:t>
            </a:r>
            <a:r>
              <a:t> due susceptible bacteria</a:t>
            </a:r>
          </a:p>
          <a:p>
            <a:pPr indent="0" lvl="1" marL="457200">
              <a:buNone/>
            </a:pPr>
            <a:r>
              <a:rPr>
                <a:solidFill>
                  <a:srgbClr val="0070C0"/>
                </a:solidFill>
              </a:rPr>
              <a:t>Meropenem (</a:t>
            </a:r>
            <a:r>
              <a:rPr>
                <a:solidFill>
                  <a:srgbClr val="0070C0"/>
                </a:solidFill>
              </a:rPr>
              <a:t>Merrem</a:t>
            </a:r>
            <a:r>
              <a:rPr>
                <a:solidFill>
                  <a:srgbClr val="0070C0"/>
                </a:solidFill>
              </a:rPr>
              <a:t>)-  </a:t>
            </a:r>
            <a:r>
              <a:t>Less active against gram positive bacteria but more active against </a:t>
            </a:r>
            <a:r>
              <a:t>enterobacteriaceae</a:t>
            </a:r>
            <a:r>
              <a:t>. </a:t>
            </a:r>
            <a:r>
              <a:rPr b="1"/>
              <a:t>The only carbapenem indicated for bacterial meningitis</a:t>
            </a:r>
            <a:r>
              <a:t>.</a:t>
            </a:r>
          </a:p>
          <a:p>
            <a:r>
              <a:rPr>
                <a:solidFill>
                  <a:srgbClr val="0070C0"/>
                </a:solidFill>
              </a:rPr>
              <a:t>Ertapenem (</a:t>
            </a:r>
            <a:r>
              <a:rPr>
                <a:solidFill>
                  <a:srgbClr val="0070C0"/>
                </a:solidFill>
              </a:rPr>
              <a:t>Invanz</a:t>
            </a:r>
            <a:r>
              <a:rPr>
                <a:solidFill>
                  <a:srgbClr val="0070C0"/>
                </a:solidFill>
              </a:rPr>
              <a:t>) </a:t>
            </a:r>
            <a:r>
              <a:t>Have a broad spectrum against bacteria like imipenem</a:t>
            </a: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896" name=""/>
        <p:cNvGrpSpPr/>
        <p:nvPr/>
      </p:nvGrpSpPr>
      <p:grpSpPr>
        <a:xfrm>
          <a:off x="0" y="0"/>
          <a:ext cx="0" cy="0"/>
          <a:chOff x="0" y="0"/>
          <a:chExt cx="0" cy="0"/>
        </a:xfrm>
      </p:grpSpPr>
      <p:sp>
        <p:nvSpPr>
          <p:cNvPr id="1049055" name="Title 1"/>
          <p:cNvSpPr>
            <a:spLocks noGrp="1"/>
          </p:cNvSpPr>
          <p:nvPr>
            <p:ph type="title"/>
          </p:nvPr>
        </p:nvSpPr>
        <p:spPr/>
        <p:txBody>
          <a:bodyPr/>
          <a:p>
            <a:r>
              <a:t>Carbapenems </a:t>
            </a:r>
          </a:p>
        </p:txBody>
      </p:sp>
      <p:sp>
        <p:nvSpPr>
          <p:cNvPr id="1049056" name="Content Placeholder 2"/>
          <p:cNvSpPr>
            <a:spLocks noGrp="1"/>
          </p:cNvSpPr>
          <p:nvPr>
            <p:ph idx="1"/>
          </p:nvPr>
        </p:nvSpPr>
        <p:spPr>
          <a:xfrm>
            <a:off x="838204" y="1504945"/>
            <a:ext cx="10515600" cy="5133970"/>
          </a:xfrm>
        </p:spPr>
        <p:txBody>
          <a:bodyPr>
            <a:normAutofit lnSpcReduction="10000"/>
          </a:bodyPr>
          <a:p>
            <a:pPr indent="0" marL="0">
              <a:buNone/>
            </a:pPr>
            <a:r>
              <a:rPr b="1" sz="3600"/>
              <a:t>Adverse drug reactions: </a:t>
            </a:r>
            <a:endParaRPr b="1" sz="3600"/>
          </a:p>
          <a:p>
            <a:r>
              <a:rPr sz="3600"/>
              <a:t>Generally </a:t>
            </a:r>
            <a:r>
              <a:rPr b="1" sz="3600"/>
              <a:t>similar to those of other beta-lactams</a:t>
            </a:r>
            <a:r>
              <a:rPr sz="3600"/>
              <a:t>. However </a:t>
            </a:r>
            <a:r>
              <a:rPr sz="3600">
                <a:solidFill>
                  <a:srgbClr val="FF0000"/>
                </a:solidFill>
              </a:rPr>
              <a:t>seizures are common </a:t>
            </a:r>
            <a:r>
              <a:rPr sz="3600">
                <a:solidFill>
                  <a:srgbClr val="FF0000"/>
                </a:solidFill>
              </a:rPr>
              <a:t>esp</a:t>
            </a:r>
            <a:r>
              <a:rPr sz="3600">
                <a:solidFill>
                  <a:srgbClr val="FF0000"/>
                </a:solidFill>
              </a:rPr>
              <a:t> among patients receiving doses greater than 500mg </a:t>
            </a:r>
            <a:r>
              <a:rPr sz="3600"/>
              <a:t>q6h of imipenem-</a:t>
            </a:r>
            <a:r>
              <a:rPr sz="3600"/>
              <a:t>cilastatin</a:t>
            </a:r>
            <a:r>
              <a:rPr sz="3600"/>
              <a:t> and </a:t>
            </a:r>
            <a:r>
              <a:rPr sz="3600">
                <a:solidFill>
                  <a:srgbClr val="FF0000"/>
                </a:solidFill>
              </a:rPr>
              <a:t>in geriatric and renally impaired patients</a:t>
            </a:r>
            <a:r>
              <a:rPr sz="3600"/>
              <a:t>. </a:t>
            </a:r>
            <a:endParaRPr sz="3600"/>
          </a:p>
          <a:p>
            <a:pPr indent="0" marL="0">
              <a:buNone/>
            </a:pPr>
            <a:r>
              <a:rPr sz="3600"/>
              <a:t>Potential drug-drug interactions </a:t>
            </a:r>
            <a:endParaRPr sz="3600"/>
          </a:p>
          <a:p>
            <a:r>
              <a:rPr sz="3600"/>
              <a:t>Carbapenems can interact with cyclosporine, ganciclovir and </a:t>
            </a:r>
            <a:r>
              <a:rPr sz="3600"/>
              <a:t>probenicid</a:t>
            </a:r>
            <a:r>
              <a:rPr sz="3600"/>
              <a:t> all of which potentiate the CNS the side effects </a:t>
            </a:r>
            <a:endParaRPr sz="3600"/>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897" name=""/>
        <p:cNvGrpSpPr/>
        <p:nvPr/>
      </p:nvGrpSpPr>
      <p:grpSpPr>
        <a:xfrm>
          <a:off x="0" y="0"/>
          <a:ext cx="0" cy="0"/>
          <a:chOff x="0" y="0"/>
          <a:chExt cx="0" cy="0"/>
        </a:xfrm>
      </p:grpSpPr>
      <p:sp>
        <p:nvSpPr>
          <p:cNvPr id="1049057" name="Title 1"/>
          <p:cNvSpPr>
            <a:spLocks noGrp="1"/>
          </p:cNvSpPr>
          <p:nvPr>
            <p:ph type="title"/>
          </p:nvPr>
        </p:nvSpPr>
        <p:spPr>
          <a:xfrm>
            <a:off x="838204" y="365126"/>
            <a:ext cx="10515600" cy="825493"/>
          </a:xfrm>
        </p:spPr>
        <p:txBody>
          <a:bodyPr/>
          <a:p>
            <a:r>
              <a:t>Beta lactams </a:t>
            </a:r>
            <a:r>
              <a:t>cont</a:t>
            </a:r>
            <a:r>
              <a:t>’</a:t>
            </a:r>
          </a:p>
        </p:txBody>
      </p:sp>
      <p:sp>
        <p:nvSpPr>
          <p:cNvPr id="1049058" name="Content Placeholder 2"/>
          <p:cNvSpPr>
            <a:spLocks noGrp="1"/>
          </p:cNvSpPr>
          <p:nvPr>
            <p:ph idx="1"/>
          </p:nvPr>
        </p:nvSpPr>
        <p:spPr>
          <a:xfrm>
            <a:off x="838204" y="1495429"/>
            <a:ext cx="10515600" cy="5267329"/>
          </a:xfrm>
        </p:spPr>
        <p:txBody>
          <a:bodyPr>
            <a:normAutofit lnSpcReduction="10000"/>
          </a:bodyPr>
          <a:p>
            <a:pPr indent="0" marL="0">
              <a:buNone/>
            </a:pPr>
            <a:r>
              <a:t>d) </a:t>
            </a:r>
            <a:r>
              <a:rPr b="1" sz="3200"/>
              <a:t>Monobactams </a:t>
            </a:r>
            <a:endParaRPr b="1" sz="3200"/>
          </a:p>
          <a:p>
            <a:r>
              <a:rPr sz="3200"/>
              <a:t>MOA; interference with cell wall synthesis after binding to bacterial penicillin binding proteins. </a:t>
            </a:r>
            <a:endParaRPr sz="3200"/>
          </a:p>
          <a:p>
            <a:r>
              <a:rPr sz="3200"/>
              <a:t>EXAMPLES; Aztreonam is the main monobactam </a:t>
            </a:r>
            <a:endParaRPr sz="3200"/>
          </a:p>
          <a:p>
            <a:r>
              <a:rPr sz="3200"/>
              <a:t>USES; Effective </a:t>
            </a:r>
            <a:r>
              <a:rPr b="1" sz="3200"/>
              <a:t>only against Gram-negative aerobic bacteria </a:t>
            </a:r>
            <a:r>
              <a:rPr sz="3200"/>
              <a:t>including pseudomonas, </a:t>
            </a:r>
            <a:r>
              <a:rPr sz="3200"/>
              <a:t>neisseria</a:t>
            </a:r>
            <a:r>
              <a:rPr sz="3200"/>
              <a:t> </a:t>
            </a:r>
            <a:r>
              <a:rPr sz="3200"/>
              <a:t>menengitidis</a:t>
            </a:r>
            <a:r>
              <a:rPr sz="3200"/>
              <a:t>, klebsiella spp. and </a:t>
            </a:r>
            <a:r>
              <a:rPr sz="3200"/>
              <a:t>H.influenzae</a:t>
            </a:r>
            <a:r>
              <a:rPr sz="3200"/>
              <a:t>. </a:t>
            </a:r>
            <a:endParaRPr sz="3200"/>
          </a:p>
          <a:p>
            <a:pPr lvl="1"/>
            <a:r>
              <a:rPr sz="2800">
                <a:solidFill>
                  <a:srgbClr val="FF0000"/>
                </a:solidFill>
              </a:rPr>
              <a:t>Has no activity against Gram + </a:t>
            </a:r>
            <a:r>
              <a:rPr sz="2800">
                <a:solidFill>
                  <a:srgbClr val="FF0000"/>
                </a:solidFill>
              </a:rPr>
              <a:t>ve</a:t>
            </a:r>
            <a:r>
              <a:rPr sz="2800">
                <a:solidFill>
                  <a:srgbClr val="FF0000"/>
                </a:solidFill>
              </a:rPr>
              <a:t> </a:t>
            </a:r>
            <a:r>
              <a:rPr sz="2800"/>
              <a:t>and anaerobic bacteria and therefore has a theoretical advantage of preserving gram-positive and anaerobic normal flora </a:t>
            </a:r>
            <a:endParaRPr sz="2800"/>
          </a:p>
          <a:p>
            <a:r>
              <a:rPr sz="3200"/>
              <a:t>Indicated for the treatment of moderately severe systemic infections. </a:t>
            </a:r>
            <a:endParaRPr sz="3200"/>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898" name=""/>
        <p:cNvGrpSpPr/>
        <p:nvPr/>
      </p:nvGrpSpPr>
      <p:grpSpPr>
        <a:xfrm>
          <a:off x="0" y="0"/>
          <a:ext cx="0" cy="0"/>
          <a:chOff x="0" y="0"/>
          <a:chExt cx="0" cy="0"/>
        </a:xfrm>
      </p:grpSpPr>
      <p:sp>
        <p:nvSpPr>
          <p:cNvPr id="1049059" name="Title 1"/>
          <p:cNvSpPr>
            <a:spLocks noGrp="1"/>
          </p:cNvSpPr>
          <p:nvPr>
            <p:ph type="title"/>
          </p:nvPr>
        </p:nvSpPr>
        <p:spPr/>
        <p:txBody>
          <a:bodyPr/>
          <a:p>
            <a:r>
              <a:t>                    </a:t>
            </a:r>
            <a:r>
              <a:rPr b="1"/>
              <a:t>tetracyclines</a:t>
            </a:r>
            <a:endParaRPr b="1"/>
          </a:p>
        </p:txBody>
      </p:sp>
      <p:sp>
        <p:nvSpPr>
          <p:cNvPr id="1049060" name="Content Placeholder 2"/>
          <p:cNvSpPr>
            <a:spLocks noGrp="1"/>
          </p:cNvSpPr>
          <p:nvPr>
            <p:ph idx="1"/>
          </p:nvPr>
        </p:nvSpPr>
        <p:spPr>
          <a:xfrm>
            <a:off x="668861" y="1581154"/>
            <a:ext cx="10515600" cy="5067304"/>
          </a:xfrm>
        </p:spPr>
        <p:txBody>
          <a:bodyPr>
            <a:normAutofit/>
          </a:bodyPr>
          <a:p>
            <a:r>
              <a:rPr sz="3200"/>
              <a:t>First isolated in 1948, </a:t>
            </a:r>
            <a:r>
              <a:rPr b="1" sz="3200"/>
              <a:t>isolated from Streptomyces fungi</a:t>
            </a:r>
            <a:r>
              <a:rPr sz="3200"/>
              <a:t>. </a:t>
            </a:r>
            <a:endParaRPr sz="3200"/>
          </a:p>
          <a:p>
            <a:r>
              <a:rPr b="1" sz="3200"/>
              <a:t>Naturally occurring;</a:t>
            </a:r>
            <a:endParaRPr b="1" sz="3200"/>
          </a:p>
          <a:p>
            <a:pPr indent="0" lvl="1" marL="457200">
              <a:buNone/>
            </a:pPr>
            <a:r>
              <a:rPr sz="2800"/>
              <a:t>-tetracycline</a:t>
            </a:r>
            <a:endParaRPr sz="2800"/>
          </a:p>
          <a:p>
            <a:pPr indent="0" lvl="1" marL="457200">
              <a:buNone/>
            </a:pPr>
            <a:r>
              <a:rPr sz="2800"/>
              <a:t>-chlortetracycline</a:t>
            </a:r>
            <a:endParaRPr sz="2800"/>
          </a:p>
          <a:p>
            <a:pPr indent="0" lvl="1" marL="457200">
              <a:buNone/>
            </a:pPr>
            <a:r>
              <a:rPr sz="2800"/>
              <a:t>-oxytetracycline</a:t>
            </a:r>
            <a:endParaRPr sz="2800"/>
          </a:p>
          <a:p>
            <a:pPr indent="0" lvl="1" marL="457200">
              <a:buNone/>
            </a:pPr>
            <a:r>
              <a:rPr sz="2800"/>
              <a:t>-demeclocycline</a:t>
            </a:r>
            <a:endParaRPr sz="2800"/>
          </a:p>
          <a:p>
            <a:pPr indent="0" marL="0">
              <a:buNone/>
            </a:pPr>
            <a:r>
              <a:rPr b="1" sz="3200"/>
              <a:t>Semi-synthetic</a:t>
            </a:r>
            <a:endParaRPr b="1" sz="3200"/>
          </a:p>
          <a:p>
            <a:pPr indent="0" marL="0">
              <a:buNone/>
            </a:pPr>
            <a:r>
              <a:rPr sz="3200"/>
              <a:t>Doxycycline, lymecycline, meclocycline, methacyline, minocycline, rolitetracycline.</a:t>
            </a:r>
            <a:endParaRPr sz="3200"/>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899" name=""/>
        <p:cNvGrpSpPr/>
        <p:nvPr/>
      </p:nvGrpSpPr>
      <p:grpSpPr>
        <a:xfrm>
          <a:off x="0" y="0"/>
          <a:ext cx="0" cy="0"/>
          <a:chOff x="0" y="0"/>
          <a:chExt cx="0" cy="0"/>
        </a:xfrm>
      </p:grpSpPr>
      <p:sp>
        <p:nvSpPr>
          <p:cNvPr id="1049061" name="Title 1"/>
          <p:cNvSpPr>
            <a:spLocks noGrp="1"/>
          </p:cNvSpPr>
          <p:nvPr>
            <p:ph type="title"/>
          </p:nvPr>
        </p:nvSpPr>
        <p:spPr>
          <a:xfrm>
            <a:off x="838204" y="365126"/>
            <a:ext cx="10515600" cy="796918"/>
          </a:xfrm>
        </p:spPr>
        <p:txBody>
          <a:bodyPr/>
          <a:p>
            <a:r>
              <a:rPr b="1"/>
              <a:t>                  pharmacokinetics</a:t>
            </a:r>
            <a:endParaRPr b="1"/>
          </a:p>
        </p:txBody>
      </p:sp>
      <p:sp>
        <p:nvSpPr>
          <p:cNvPr id="1049062" name="Content Placeholder 2"/>
          <p:cNvSpPr>
            <a:spLocks noGrp="1"/>
          </p:cNvSpPr>
          <p:nvPr>
            <p:ph idx="1"/>
          </p:nvPr>
        </p:nvSpPr>
        <p:spPr>
          <a:xfrm>
            <a:off x="838204" y="1162045"/>
            <a:ext cx="10515600" cy="5330828"/>
          </a:xfrm>
        </p:spPr>
        <p:txBody>
          <a:bodyPr>
            <a:normAutofit lnSpcReduction="10000"/>
          </a:bodyPr>
          <a:p>
            <a:r>
              <a:t>Tetracyclines are partially absorbed in the alimentary tract EXCEPT </a:t>
            </a:r>
            <a:r>
              <a:rPr>
                <a:solidFill>
                  <a:srgbClr val="FF0000"/>
                </a:solidFill>
              </a:rPr>
              <a:t>minocycline and doxycycline which have a good absorption</a:t>
            </a:r>
            <a:r>
              <a:t>.</a:t>
            </a:r>
          </a:p>
          <a:p>
            <a:r>
              <a:t>Absorption is </a:t>
            </a:r>
            <a:r>
              <a:rPr b="1"/>
              <a:t>increased in absence of food achieve </a:t>
            </a:r>
            <a:r>
              <a:rPr>
                <a:solidFill>
                  <a:srgbClr val="0070C0"/>
                </a:solidFill>
              </a:rPr>
              <a:t>Good tissue penetration</a:t>
            </a:r>
            <a:endParaRPr b="1">
              <a:solidFill>
                <a:srgbClr val="0070C0"/>
              </a:solidFill>
            </a:endParaRPr>
          </a:p>
          <a:p>
            <a:r>
              <a:t> antacids and milk decrease absorption as they contain metals like </a:t>
            </a:r>
            <a:r>
              <a:rPr b="1"/>
              <a:t>magnesium, calcium, aluminum ,iron </a:t>
            </a:r>
            <a:r>
              <a:t>which chelate with them.</a:t>
            </a:r>
            <a:r>
              <a:rPr>
                <a:solidFill>
                  <a:srgbClr val="FF0000"/>
                </a:solidFill>
              </a:rPr>
              <a:t> (decreased cations (Ca, Mg, </a:t>
            </a:r>
            <a:r>
              <a:rPr>
                <a:solidFill>
                  <a:srgbClr val="FF0000"/>
                </a:solidFill>
              </a:rPr>
              <a:t>Fe,Al</a:t>
            </a:r>
            <a:r>
              <a:rPr>
                <a:solidFill>
                  <a:srgbClr val="FF0000"/>
                </a:solidFill>
              </a:rPr>
              <a:t>).)</a:t>
            </a:r>
            <a:endParaRPr>
              <a:solidFill>
                <a:srgbClr val="FF0000"/>
              </a:solidFill>
            </a:endParaRPr>
          </a:p>
          <a:p>
            <a:r>
              <a:rPr b="1"/>
              <a:t>Distribution</a:t>
            </a:r>
            <a:r>
              <a:t> is narrow but they cross the placenta barrier. </a:t>
            </a:r>
            <a:r>
              <a:rPr>
                <a:solidFill>
                  <a:srgbClr val="0070C0"/>
                </a:solidFill>
              </a:rPr>
              <a:t>They undergo enterohepatic cycling</a:t>
            </a:r>
            <a:endParaRPr>
              <a:solidFill>
                <a:srgbClr val="0070C0"/>
              </a:solidFill>
            </a:endParaRPr>
          </a:p>
          <a:p>
            <a:r>
              <a:rPr b="1"/>
              <a:t>Metabolism</a:t>
            </a:r>
            <a:r>
              <a:t> is in the liver</a:t>
            </a:r>
          </a:p>
          <a:p>
            <a:r>
              <a:rPr b="1"/>
              <a:t>Excretion</a:t>
            </a:r>
            <a:r>
              <a:t> primarily in urine  via glomerular filtration unchanged.</a:t>
            </a:r>
          </a:p>
          <a:p>
            <a:pPr lvl="1"/>
            <a:r>
              <a:t>Doxycycline is more lipid-soluble than other tetracyclines and </a:t>
            </a:r>
            <a:r>
              <a:rPr>
                <a:solidFill>
                  <a:srgbClr val="FF0000"/>
                </a:solidFill>
              </a:rPr>
              <a:t>less dependent on renal elimination</a:t>
            </a:r>
            <a:r>
              <a:t>; </a:t>
            </a:r>
            <a:r>
              <a:rPr b="1"/>
              <a:t>more than 50% of the drug is eliminated in the feces</a:t>
            </a:r>
            <a:endParaRPr b="1"/>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900" name=""/>
        <p:cNvGrpSpPr/>
        <p:nvPr/>
      </p:nvGrpSpPr>
      <p:grpSpPr>
        <a:xfrm>
          <a:off x="0" y="0"/>
          <a:ext cx="0" cy="0"/>
          <a:chOff x="0" y="0"/>
          <a:chExt cx="0" cy="0"/>
        </a:xfrm>
      </p:grpSpPr>
      <p:sp>
        <p:nvSpPr>
          <p:cNvPr id="1049063" name="Title 1"/>
          <p:cNvSpPr>
            <a:spLocks noGrp="1"/>
          </p:cNvSpPr>
          <p:nvPr>
            <p:ph type="title"/>
          </p:nvPr>
        </p:nvSpPr>
        <p:spPr>
          <a:xfrm>
            <a:off x="838204" y="365126"/>
            <a:ext cx="10515600" cy="892173"/>
          </a:xfrm>
        </p:spPr>
        <p:txBody>
          <a:bodyPr/>
          <a:p>
            <a:r>
              <a:rPr b="1"/>
              <a:t>pharmacodynamics</a:t>
            </a:r>
            <a:endParaRPr b="1"/>
          </a:p>
        </p:txBody>
      </p:sp>
      <p:sp>
        <p:nvSpPr>
          <p:cNvPr id="1049064" name="Content Placeholder 2"/>
          <p:cNvSpPr>
            <a:spLocks noGrp="1"/>
          </p:cNvSpPr>
          <p:nvPr>
            <p:ph idx="1"/>
          </p:nvPr>
        </p:nvSpPr>
        <p:spPr>
          <a:xfrm>
            <a:off x="600075" y="1362070"/>
            <a:ext cx="10753729" cy="5130803"/>
          </a:xfrm>
        </p:spPr>
        <p:txBody>
          <a:bodyPr>
            <a:normAutofit/>
          </a:bodyPr>
          <a:p>
            <a:r>
              <a:rPr sz="3200">
                <a:solidFill>
                  <a:srgbClr val="FF0000"/>
                </a:solidFill>
              </a:rPr>
              <a:t>Broad-spectrum antibiotics with good activity versus chlamydia and </a:t>
            </a:r>
            <a:r>
              <a:rPr sz="3200">
                <a:solidFill>
                  <a:srgbClr val="FF0000"/>
                </a:solidFill>
              </a:rPr>
              <a:t>mycoplasmal</a:t>
            </a:r>
            <a:r>
              <a:rPr sz="3200">
                <a:solidFill>
                  <a:srgbClr val="FF0000"/>
                </a:solidFill>
              </a:rPr>
              <a:t> species, H. pylori, Rickettsia, Brucella, and </a:t>
            </a:r>
            <a:r>
              <a:rPr sz="3200" u="sng">
                <a:solidFill>
                  <a:srgbClr val="FF0000"/>
                </a:solidFill>
              </a:rPr>
              <a:t>Vibrio bacteria.</a:t>
            </a:r>
            <a:endParaRPr sz="3200" u="sng">
              <a:solidFill>
                <a:srgbClr val="FF0000"/>
              </a:solidFill>
            </a:endParaRPr>
          </a:p>
          <a:p>
            <a:r>
              <a:rPr sz="3200"/>
              <a:t>Moa; </a:t>
            </a:r>
            <a:endParaRPr sz="3200"/>
          </a:p>
          <a:p>
            <a:pPr lvl="1"/>
            <a:r>
              <a:rPr b="1" sz="2800"/>
              <a:t>Bacteriostatic</a:t>
            </a:r>
            <a:r>
              <a:rPr sz="2800"/>
              <a:t> drugs, actively taken up by susceptible bacteria where they inhibit protein synthesis by binding to the 30s sub unit of the bacterial ribosomes.</a:t>
            </a:r>
            <a:endParaRPr sz="2800"/>
          </a:p>
          <a:p>
            <a:r>
              <a:rPr b="1" sz="3200"/>
              <a:t>Indication; </a:t>
            </a:r>
            <a:r>
              <a:rPr sz="3200"/>
              <a:t>psittacosis, pneumonia, brucellosis, shigellosis, rickettsia diseases e.g. Q fever, typhus, cholera, borrelia ( lame disease, relapsing fever)acne ,amoebic dysentery, spirochetes, protozoa, bacillary dysentery and chlamydia infections</a:t>
            </a:r>
            <a:endParaRPr sz="3200"/>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901" name=""/>
        <p:cNvGrpSpPr/>
        <p:nvPr/>
      </p:nvGrpSpPr>
      <p:grpSpPr>
        <a:xfrm>
          <a:off x="0" y="0"/>
          <a:ext cx="0" cy="0"/>
          <a:chOff x="0" y="0"/>
          <a:chExt cx="0" cy="0"/>
        </a:xfrm>
      </p:grpSpPr>
      <p:sp>
        <p:nvSpPr>
          <p:cNvPr id="1049065" name="Title 1"/>
          <p:cNvSpPr>
            <a:spLocks noGrp="1"/>
          </p:cNvSpPr>
          <p:nvPr>
            <p:ph type="title"/>
          </p:nvPr>
        </p:nvSpPr>
        <p:spPr/>
        <p:txBody>
          <a:bodyPr/>
          <a:p>
            <a:r>
              <a:t>Uses of tetracyclines</a:t>
            </a:r>
          </a:p>
        </p:txBody>
      </p:sp>
      <p:sp>
        <p:nvSpPr>
          <p:cNvPr id="1049066" name="Content Placeholder 2"/>
          <p:cNvSpPr>
            <a:spLocks noGrp="1"/>
          </p:cNvSpPr>
          <p:nvPr>
            <p:ph idx="1"/>
          </p:nvPr>
        </p:nvSpPr>
        <p:spPr>
          <a:xfrm>
            <a:off x="733420" y="1371600"/>
            <a:ext cx="10620370" cy="5257800"/>
          </a:xfrm>
        </p:spPr>
        <p:txBody>
          <a:bodyPr>
            <a:normAutofit lnSpcReduction="10000"/>
          </a:bodyPr>
          <a:p>
            <a:r>
              <a:rPr sz="3200"/>
              <a:t>Increasing bacterial resistance has limited their use, they however;</a:t>
            </a:r>
            <a:endParaRPr sz="3200"/>
          </a:p>
          <a:p>
            <a:pPr lvl="1"/>
            <a:r>
              <a:rPr b="1" sz="2800"/>
              <a:t>Treatment of choice for infections </a:t>
            </a:r>
            <a:r>
              <a:rPr sz="2800"/>
              <a:t>caused </a:t>
            </a:r>
            <a:r>
              <a:rPr sz="2800">
                <a:solidFill>
                  <a:srgbClr val="0070C0"/>
                </a:solidFill>
              </a:rPr>
              <a:t>by chlamydia </a:t>
            </a:r>
            <a:r>
              <a:rPr sz="2800"/>
              <a:t>(trachoma, psittacosis, salpingitis, urethritis, and lymphogranuloma venereum), rickettsia (including Q-fever), </a:t>
            </a:r>
            <a:r>
              <a:rPr b="1" sz="2800"/>
              <a:t>brucella (doxycycline with either streptomycin or rifampicin)</a:t>
            </a:r>
            <a:r>
              <a:rPr sz="2800"/>
              <a:t>, and the spirochaete, Borrelia burgdorferi (Lyme disease). </a:t>
            </a:r>
            <a:endParaRPr sz="2800"/>
          </a:p>
          <a:p>
            <a:pPr lvl="1"/>
            <a:r>
              <a:rPr sz="2800"/>
              <a:t>They are also used in respiratory and genital mycoplasma infections, in acne, in destructive (refractory) periodontal disease, in exacerbations of chronic bronchitis (because of their activity against </a:t>
            </a:r>
            <a:r>
              <a:rPr sz="2800"/>
              <a:t>Haemophilus</a:t>
            </a:r>
            <a:r>
              <a:rPr sz="2800"/>
              <a:t> influenzae), and for leptospirosis in penicillin hypersensitivity (as an alternative to erythromycin). </a:t>
            </a:r>
            <a:endParaRPr sz="2800"/>
          </a:p>
          <a:p>
            <a:pPr lvl="1"/>
            <a:r>
              <a:rPr sz="2800">
                <a:solidFill>
                  <a:srgbClr val="0070C0"/>
                </a:solidFill>
              </a:rPr>
              <a:t>Minocycline has a broader spectrum; it is active against Neisseria meningitidis</a:t>
            </a:r>
            <a:r>
              <a:rPr sz="2800"/>
              <a:t>. </a:t>
            </a:r>
            <a:endParaRPr sz="2800"/>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902" name=""/>
        <p:cNvGrpSpPr/>
        <p:nvPr/>
      </p:nvGrpSpPr>
      <p:grpSpPr>
        <a:xfrm>
          <a:off x="0" y="0"/>
          <a:ext cx="0" cy="0"/>
          <a:chOff x="0" y="0"/>
          <a:chExt cx="0" cy="0"/>
        </a:xfrm>
      </p:grpSpPr>
      <p:sp>
        <p:nvSpPr>
          <p:cNvPr id="1049067" name="Title 1"/>
          <p:cNvSpPr>
            <a:spLocks noGrp="1"/>
          </p:cNvSpPr>
          <p:nvPr>
            <p:ph type="title"/>
          </p:nvPr>
        </p:nvSpPr>
        <p:spPr/>
        <p:txBody>
          <a:bodyPr/>
          <a:p>
            <a:r>
              <a:rPr>
                <a:solidFill>
                  <a:srgbClr val="FF0000"/>
                </a:solidFill>
              </a:rPr>
              <a:t>Cautions:</a:t>
            </a:r>
            <a:r>
              <a:t> </a:t>
            </a:r>
          </a:p>
        </p:txBody>
      </p:sp>
      <p:sp>
        <p:nvSpPr>
          <p:cNvPr id="1049068" name="Content Placeholder 2"/>
          <p:cNvSpPr>
            <a:spLocks noGrp="1"/>
          </p:cNvSpPr>
          <p:nvPr>
            <p:ph idx="1"/>
          </p:nvPr>
        </p:nvSpPr>
        <p:spPr/>
        <p:txBody>
          <a:bodyPr/>
          <a:p>
            <a:r>
              <a:rPr sz="3600"/>
              <a:t>Tetracyclines </a:t>
            </a:r>
            <a:r>
              <a:rPr b="1" sz="3600"/>
              <a:t>may increase muscle weakness in patients with myasthenia gravis</a:t>
            </a:r>
            <a:r>
              <a:rPr sz="3600"/>
              <a:t>, and </a:t>
            </a:r>
            <a:r>
              <a:rPr b="1" sz="3600"/>
              <a:t>exacerbate systemic lupus erythematosus and hepatic impairment</a:t>
            </a:r>
            <a:r>
              <a:rPr b="1"/>
              <a:t>.</a:t>
            </a:r>
            <a:endParaRPr b="1"/>
          </a:p>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903" name=""/>
        <p:cNvGrpSpPr/>
        <p:nvPr/>
      </p:nvGrpSpPr>
      <p:grpSpPr>
        <a:xfrm>
          <a:off x="0" y="0"/>
          <a:ext cx="0" cy="0"/>
          <a:chOff x="0" y="0"/>
          <a:chExt cx="0" cy="0"/>
        </a:xfrm>
      </p:grpSpPr>
      <p:sp>
        <p:nvSpPr>
          <p:cNvPr id="1049069" name="Title 1"/>
          <p:cNvSpPr>
            <a:spLocks noGrp="1"/>
          </p:cNvSpPr>
          <p:nvPr>
            <p:ph type="title"/>
          </p:nvPr>
        </p:nvSpPr>
        <p:spPr>
          <a:xfrm>
            <a:off x="838204" y="365126"/>
            <a:ext cx="10515600" cy="796918"/>
          </a:xfrm>
        </p:spPr>
        <p:txBody>
          <a:bodyPr/>
          <a:p>
            <a:r>
              <a:t>Tetracyclines </a:t>
            </a:r>
            <a:r>
              <a:t>cont</a:t>
            </a:r>
            <a:r>
              <a:t>’</a:t>
            </a:r>
          </a:p>
        </p:txBody>
      </p:sp>
      <p:sp>
        <p:nvSpPr>
          <p:cNvPr id="1049070" name="Content Placeholder 2"/>
          <p:cNvSpPr>
            <a:spLocks noGrp="1"/>
          </p:cNvSpPr>
          <p:nvPr>
            <p:ph idx="1"/>
          </p:nvPr>
        </p:nvSpPr>
        <p:spPr>
          <a:xfrm>
            <a:off x="838204" y="1162045"/>
            <a:ext cx="10515600" cy="5514975"/>
          </a:xfrm>
        </p:spPr>
        <p:txBody>
          <a:bodyPr>
            <a:normAutofit lnSpcReduction="10000"/>
          </a:bodyPr>
          <a:p>
            <a:pPr indent="0" marL="0">
              <a:buNone/>
            </a:pPr>
            <a:r>
              <a:rPr b="1"/>
              <a:t>Interactions:</a:t>
            </a:r>
            <a:endParaRPr b="1"/>
          </a:p>
          <a:p>
            <a:r>
              <a:t>Antacids, and </a:t>
            </a:r>
            <a:r>
              <a:t>aluminium</a:t>
            </a:r>
            <a:r>
              <a:t>, calcium, iron, magnesium and zinc salts decrease the absorption of tetracyclines; milk also reduces the absorption of demeclocycline, oxytetracycline, and tetracycline. (tetracyclines). </a:t>
            </a:r>
          </a:p>
          <a:p>
            <a:pPr indent="0" marL="0">
              <a:buNone/>
            </a:pPr>
            <a:r>
              <a:rPr b="1"/>
              <a:t>Contra-indications: </a:t>
            </a:r>
            <a:endParaRPr b="1"/>
          </a:p>
          <a:p>
            <a:r>
              <a:t>Should not be given to children under 12 years or to pregnant or breastfeeding women </a:t>
            </a:r>
            <a:r>
              <a:rPr>
                <a:solidFill>
                  <a:srgbClr val="FF0000"/>
                </a:solidFill>
              </a:rPr>
              <a:t>because tetracyclines deposits in growing bone and teeth (by binding to calcium) causes staining and occasionally dental hypoplasia</a:t>
            </a:r>
            <a:r>
              <a:t>. </a:t>
            </a:r>
          </a:p>
          <a:p>
            <a:r>
              <a:rPr b="1"/>
              <a:t>Doxycycline</a:t>
            </a:r>
            <a:r>
              <a:t> may however be used in children </a:t>
            </a:r>
            <a:r>
              <a:rPr b="1"/>
              <a:t>for treatment and post-exposure prophylaxis of anthrax </a:t>
            </a:r>
            <a:r>
              <a:t>when an alternative antibacterial cannot be given.</a:t>
            </a:r>
          </a:p>
          <a:p>
            <a:r>
              <a:t>Tetracyclines should not be given to patients with acute porphyria.</a:t>
            </a:r>
          </a:p>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904" name=""/>
        <p:cNvGrpSpPr/>
        <p:nvPr/>
      </p:nvGrpSpPr>
      <p:grpSpPr>
        <a:xfrm>
          <a:off x="0" y="0"/>
          <a:ext cx="0" cy="0"/>
          <a:chOff x="0" y="0"/>
          <a:chExt cx="0" cy="0"/>
        </a:xfrm>
      </p:grpSpPr>
      <p:sp>
        <p:nvSpPr>
          <p:cNvPr id="1049071" name="Title 1"/>
          <p:cNvSpPr>
            <a:spLocks noGrp="1"/>
          </p:cNvSpPr>
          <p:nvPr>
            <p:ph type="title"/>
          </p:nvPr>
        </p:nvSpPr>
        <p:spPr/>
        <p:txBody>
          <a:bodyPr/>
          <a:p>
            <a:r>
              <a:t>Tetracyclines </a:t>
            </a:r>
            <a:r>
              <a:t>cont</a:t>
            </a:r>
            <a:r>
              <a:t>’</a:t>
            </a:r>
          </a:p>
        </p:txBody>
      </p:sp>
      <p:sp>
        <p:nvSpPr>
          <p:cNvPr id="1049072" name="Content Placeholder 2"/>
          <p:cNvSpPr>
            <a:spLocks noGrp="1"/>
          </p:cNvSpPr>
          <p:nvPr>
            <p:ph idx="1"/>
          </p:nvPr>
        </p:nvSpPr>
        <p:spPr>
          <a:xfrm>
            <a:off x="838204" y="1485900"/>
            <a:ext cx="10515600" cy="5006973"/>
          </a:xfrm>
        </p:spPr>
        <p:txBody>
          <a:bodyPr>
            <a:normAutofit fontScale="92500"/>
          </a:bodyPr>
          <a:p>
            <a:r>
              <a:rPr b="1" sz="3600"/>
              <a:t>Renal impairment</a:t>
            </a:r>
            <a:r>
              <a:rPr sz="3600"/>
              <a:t>: </a:t>
            </a:r>
            <a:r>
              <a:rPr b="1" sz="3600"/>
              <a:t>With the exception of doxycycline and minocycline, </a:t>
            </a:r>
            <a:r>
              <a:rPr sz="3600"/>
              <a:t>the tetracyclines may exacerbate renal failure and </a:t>
            </a:r>
            <a:r>
              <a:rPr sz="3600">
                <a:solidFill>
                  <a:srgbClr val="FF0000"/>
                </a:solidFill>
              </a:rPr>
              <a:t>should not be given to patients with renal impairment</a:t>
            </a:r>
            <a:r>
              <a:rPr sz="3600"/>
              <a:t>. </a:t>
            </a:r>
            <a:endParaRPr sz="3600"/>
          </a:p>
          <a:p>
            <a:r>
              <a:rPr b="1" sz="3600"/>
              <a:t>Pregnancy: </a:t>
            </a:r>
            <a:r>
              <a:rPr sz="3600"/>
              <a:t>Tetracyclines </a:t>
            </a:r>
            <a:r>
              <a:rPr b="1" sz="3600"/>
              <a:t>should not be given to pregnant women</a:t>
            </a:r>
            <a:r>
              <a:rPr sz="3600"/>
              <a:t>. Administration during the second or third trimester may </a:t>
            </a:r>
            <a:r>
              <a:rPr b="1" sz="3600">
                <a:solidFill>
                  <a:srgbClr val="FF0000"/>
                </a:solidFill>
              </a:rPr>
              <a:t>cause discoloration of the child’s teeth, and maternal hepatotoxicity </a:t>
            </a:r>
            <a:r>
              <a:rPr sz="3600"/>
              <a:t>has been reported with large parenteral doses. </a:t>
            </a:r>
            <a:endParaRPr sz="3600"/>
          </a:p>
          <a:p>
            <a:r>
              <a:rPr b="1" sz="3600"/>
              <a:t>Breast-feeding: </a:t>
            </a:r>
            <a:r>
              <a:rPr sz="3600"/>
              <a:t>Tetracyclines should not be given to women who are breast-feeding </a:t>
            </a:r>
            <a:endParaRPr sz="3600"/>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905" name=""/>
        <p:cNvGrpSpPr/>
        <p:nvPr/>
      </p:nvGrpSpPr>
      <p:grpSpPr>
        <a:xfrm>
          <a:off x="0" y="0"/>
          <a:ext cx="0" cy="0"/>
          <a:chOff x="0" y="0"/>
          <a:chExt cx="0" cy="0"/>
        </a:xfrm>
      </p:grpSpPr>
      <p:sp>
        <p:nvSpPr>
          <p:cNvPr id="1049073" name="Title 1"/>
          <p:cNvSpPr>
            <a:spLocks noGrp="1"/>
          </p:cNvSpPr>
          <p:nvPr>
            <p:ph type="title"/>
          </p:nvPr>
        </p:nvSpPr>
        <p:spPr>
          <a:xfrm>
            <a:off x="838204" y="365126"/>
            <a:ext cx="10515600" cy="987428"/>
          </a:xfrm>
        </p:spPr>
        <p:txBody>
          <a:bodyPr/>
          <a:p>
            <a:r>
              <a:t>Side-effects  of tetracyclines</a:t>
            </a:r>
          </a:p>
        </p:txBody>
      </p:sp>
      <p:sp>
        <p:nvSpPr>
          <p:cNvPr id="1049074" name="Content Placeholder 2"/>
          <p:cNvSpPr>
            <a:spLocks noGrp="1"/>
          </p:cNvSpPr>
          <p:nvPr>
            <p:ph idx="1"/>
          </p:nvPr>
        </p:nvSpPr>
        <p:spPr>
          <a:xfrm>
            <a:off x="333370" y="1247770"/>
            <a:ext cx="11610979" cy="5448295"/>
          </a:xfrm>
        </p:spPr>
        <p:txBody>
          <a:bodyPr>
            <a:normAutofit fontScale="92500"/>
          </a:bodyPr>
          <a:p>
            <a:r>
              <a:rPr sz="3600"/>
              <a:t>Nausea, vomiting, </a:t>
            </a:r>
            <a:r>
              <a:rPr sz="3600"/>
              <a:t>diarrhoea</a:t>
            </a:r>
            <a:r>
              <a:rPr sz="3600"/>
              <a:t> (antibiotic-associated colitis reported occasionally), dysphagia, and </a:t>
            </a:r>
            <a:r>
              <a:rPr sz="3600"/>
              <a:t>oesophageal</a:t>
            </a:r>
            <a:r>
              <a:rPr sz="3600"/>
              <a:t> irritation. </a:t>
            </a:r>
            <a:endParaRPr sz="3600"/>
          </a:p>
          <a:p>
            <a:r>
              <a:rPr sz="3600"/>
              <a:t>Other rare side-effects include hepatotoxicity, pancreatitis, blood disorders, photosensitivity (particularly with demeclocycline), </a:t>
            </a:r>
            <a:endParaRPr sz="3600"/>
          </a:p>
          <a:p>
            <a:r>
              <a:rPr sz="3600"/>
              <a:t>Hypersensitivity reactions (including rash, exfoliative dermatitis, Stevens-Johnson syndrome, urticaria, angioedema, anaphylaxis, pericarditis). </a:t>
            </a:r>
            <a:endParaRPr sz="3600"/>
          </a:p>
          <a:p>
            <a:r>
              <a:rPr sz="3600"/>
              <a:t>Headache and visual disturbances may indicate benign intracranial hypertension (discontinue treatment); bulging fontanelles have been reported in infants. </a:t>
            </a:r>
            <a:endParaRPr sz="3600"/>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906" name=""/>
        <p:cNvGrpSpPr/>
        <p:nvPr/>
      </p:nvGrpSpPr>
      <p:grpSpPr>
        <a:xfrm>
          <a:off x="0" y="0"/>
          <a:ext cx="0" cy="0"/>
          <a:chOff x="0" y="0"/>
          <a:chExt cx="0" cy="0"/>
        </a:xfrm>
      </p:grpSpPr>
      <p:sp>
        <p:nvSpPr>
          <p:cNvPr id="1049075" name="Title 1"/>
          <p:cNvSpPr>
            <a:spLocks noGrp="1"/>
          </p:cNvSpPr>
          <p:nvPr>
            <p:ph type="title"/>
          </p:nvPr>
        </p:nvSpPr>
        <p:spPr>
          <a:xfrm>
            <a:off x="838204" y="346081"/>
            <a:ext cx="10515600" cy="749298"/>
          </a:xfrm>
        </p:spPr>
        <p:txBody>
          <a:bodyPr/>
          <a:p>
            <a:r>
              <a:rPr b="1"/>
              <a:t>Doses </a:t>
            </a:r>
          </a:p>
        </p:txBody>
      </p:sp>
      <p:sp>
        <p:nvSpPr>
          <p:cNvPr id="1049076" name="Content Placeholder 2"/>
          <p:cNvSpPr>
            <a:spLocks noGrp="1"/>
          </p:cNvSpPr>
          <p:nvPr>
            <p:ph idx="1"/>
          </p:nvPr>
        </p:nvSpPr>
        <p:spPr>
          <a:xfrm>
            <a:off x="371475" y="1095379"/>
            <a:ext cx="11449045" cy="5524504"/>
          </a:xfrm>
        </p:spPr>
        <p:txBody>
          <a:bodyPr>
            <a:normAutofit/>
          </a:bodyPr>
          <a:p>
            <a:pPr indent="0" marL="0">
              <a:buNone/>
            </a:pPr>
            <a:r>
              <a:t>a) Tetracycline </a:t>
            </a:r>
          </a:p>
          <a:p>
            <a:r>
              <a:t>250 mg every 6 hours, increased in severe infections to 500 mg every 6–8 hours. </a:t>
            </a:r>
          </a:p>
          <a:p>
            <a:r>
              <a:t>Non-gonococcal urethritis, 500 mg every 6 hours for 7–14 days (21 days if failure or relapse after first course). </a:t>
            </a:r>
          </a:p>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907" name=""/>
        <p:cNvGrpSpPr/>
        <p:nvPr/>
      </p:nvGrpSpPr>
      <p:grpSpPr>
        <a:xfrm>
          <a:off x="0" y="0"/>
          <a:ext cx="0" cy="0"/>
          <a:chOff x="0" y="0"/>
          <a:chExt cx="0" cy="0"/>
        </a:xfrm>
      </p:grpSpPr>
      <p:sp>
        <p:nvSpPr>
          <p:cNvPr id="1049077" name="Title 1"/>
          <p:cNvSpPr>
            <a:spLocks noGrp="1"/>
          </p:cNvSpPr>
          <p:nvPr>
            <p:ph type="title"/>
          </p:nvPr>
        </p:nvSpPr>
        <p:spPr>
          <a:xfrm>
            <a:off x="838204" y="365126"/>
            <a:ext cx="10515600" cy="758828"/>
          </a:xfrm>
        </p:spPr>
        <p:txBody>
          <a:bodyPr/>
          <a:p>
            <a:r>
              <a:t>b) Doxycycline </a:t>
            </a:r>
          </a:p>
        </p:txBody>
      </p:sp>
      <p:sp>
        <p:nvSpPr>
          <p:cNvPr id="1049078" name="Content Placeholder 2"/>
          <p:cNvSpPr>
            <a:spLocks noGrp="1"/>
          </p:cNvSpPr>
          <p:nvPr>
            <p:ph idx="1"/>
          </p:nvPr>
        </p:nvSpPr>
        <p:spPr>
          <a:xfrm>
            <a:off x="390520" y="1304920"/>
            <a:ext cx="11496679" cy="5187953"/>
          </a:xfrm>
        </p:spPr>
        <p:txBody>
          <a:bodyPr>
            <a:normAutofit fontScale="92500" lnSpcReduction="10000"/>
          </a:bodyPr>
          <a:p>
            <a:pPr indent="0" marL="0">
              <a:buNone/>
            </a:pPr>
            <a:r>
              <a:rPr b="1"/>
              <a:t>Specific indications: chronic prostatitis; sinusitis, syphilis, pelvic inflammatory disease; treatment and prophylaxis of anthrax, </a:t>
            </a:r>
            <a:r>
              <a:rPr b="1">
                <a:solidFill>
                  <a:srgbClr val="FF0000"/>
                </a:solidFill>
              </a:rPr>
              <a:t>malaria treatment and prophylaxis (non antibacterial use); </a:t>
            </a:r>
            <a:r>
              <a:rPr b="1"/>
              <a:t>recurrent aphthous ulceration, adjunct to gingival scaling and root </a:t>
            </a:r>
            <a:r>
              <a:rPr b="1"/>
              <a:t>planing</a:t>
            </a:r>
            <a:r>
              <a:rPr b="1"/>
              <a:t> for periodontitis); oral herpes simplex; rosacea, acne vulgaris </a:t>
            </a:r>
            <a:endParaRPr b="1"/>
          </a:p>
          <a:p>
            <a:pPr lvl="1"/>
            <a:r>
              <a:t>Generally: 200 mg on first day, then 100 mg daily; severe infections (including refractory urinary-tract infections), 200 mg daily. </a:t>
            </a:r>
          </a:p>
          <a:p>
            <a:pPr lvl="1"/>
            <a:r>
              <a:t>Early syphilis, 100 mg twice daily for 14 days; late latent syphilis, 100 mg twice daily for 28 days; neurosyphilis, 200 mg twice daily for 28 days. </a:t>
            </a:r>
          </a:p>
          <a:p>
            <a:pPr lvl="1"/>
            <a:r>
              <a:t>Uncomplicated genital chlamydia, non-gonococcal urethritis, 100 mg twice daily for 7 days (14 days in pelvic inflammatory disease). </a:t>
            </a:r>
          </a:p>
          <a:p>
            <a:pPr lvl="1"/>
            <a:r>
              <a:t>Lyme disease: 100 mg twice daily for 10–14 days (28 days in Lyme arthritis) </a:t>
            </a:r>
          </a:p>
          <a:p>
            <a:pPr lvl="1"/>
            <a:r>
              <a:t>Anthrax (treatment or post-exposure prophylaxis: 100 mg twice daily; child (only if alternative antibacterial cannot be given), 5 mg/kg daily in 2 divided doses (max. 200 mg daily) </a:t>
            </a:r>
          </a:p>
          <a:p>
            <a:pPr indent="0" marL="0">
              <a:buNone/>
            </a:pPr>
            <a:r>
              <a:rPr b="1"/>
              <a:t>Counselling: </a:t>
            </a:r>
            <a:r>
              <a:t>Capsules should be swallowed whole with plenty of fluid during meals while sitting or standing</a:t>
            </a:r>
          </a:p>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908" name=""/>
        <p:cNvGrpSpPr/>
        <p:nvPr/>
      </p:nvGrpSpPr>
      <p:grpSpPr>
        <a:xfrm>
          <a:off x="0" y="0"/>
          <a:ext cx="0" cy="0"/>
          <a:chOff x="0" y="0"/>
          <a:chExt cx="0" cy="0"/>
        </a:xfrm>
      </p:grpSpPr>
      <p:sp>
        <p:nvSpPr>
          <p:cNvPr id="1049079" name="Title 1"/>
          <p:cNvSpPr>
            <a:spLocks noGrp="1"/>
          </p:cNvSpPr>
          <p:nvPr>
            <p:ph type="title"/>
          </p:nvPr>
        </p:nvSpPr>
        <p:spPr>
          <a:xfrm>
            <a:off x="880536" y="365126"/>
            <a:ext cx="10473267" cy="825493"/>
          </a:xfrm>
        </p:spPr>
        <p:txBody>
          <a:bodyPr/>
          <a:p>
            <a:r>
              <a:t>                          </a:t>
            </a:r>
            <a:r>
              <a:rPr b="1"/>
              <a:t>Aminoglycosides</a:t>
            </a:r>
            <a:endParaRPr b="1"/>
          </a:p>
        </p:txBody>
      </p:sp>
      <p:sp>
        <p:nvSpPr>
          <p:cNvPr id="1049080" name="Content Placeholder 2"/>
          <p:cNvSpPr>
            <a:spLocks noGrp="1"/>
          </p:cNvSpPr>
          <p:nvPr>
            <p:ph idx="1"/>
          </p:nvPr>
        </p:nvSpPr>
        <p:spPr>
          <a:xfrm>
            <a:off x="419095" y="1352554"/>
            <a:ext cx="10584749" cy="5381629"/>
          </a:xfrm>
        </p:spPr>
        <p:txBody>
          <a:bodyPr>
            <a:normAutofit fontScale="92500" lnSpcReduction="10000"/>
          </a:bodyPr>
          <a:p>
            <a:pPr indent="0" marL="0">
              <a:buNone/>
            </a:pPr>
            <a:r>
              <a:t>A group of natural and semi synthetic antibiotics derived from streptomyces fungus</a:t>
            </a:r>
          </a:p>
          <a:p>
            <a:pPr indent="0" marL="0">
              <a:buNone/>
            </a:pPr>
            <a:r>
              <a:rPr b="1"/>
              <a:t>Natural aminoglycosides: </a:t>
            </a:r>
            <a:endParaRPr b="1"/>
          </a:p>
          <a:p>
            <a:r>
              <a:t>Obtained from streptomyces </a:t>
            </a:r>
            <a:r>
              <a:t>sps</a:t>
            </a:r>
            <a:r>
              <a:t> by a fermentation process </a:t>
            </a:r>
          </a:p>
          <a:p>
            <a:r>
              <a:rPr>
                <a:solidFill>
                  <a:srgbClr val="FF0000"/>
                </a:solidFill>
              </a:rPr>
              <a:t>Gentamicin, Kanamycin Neomycin </a:t>
            </a:r>
            <a:r>
              <a:rPr>
                <a:solidFill>
                  <a:srgbClr val="FF0000"/>
                </a:solidFill>
              </a:rPr>
              <a:t>Paramomycin</a:t>
            </a:r>
            <a:r>
              <a:rPr>
                <a:solidFill>
                  <a:srgbClr val="FF0000"/>
                </a:solidFill>
              </a:rPr>
              <a:t> Streptomycin Tobramycin </a:t>
            </a:r>
            <a:endParaRPr>
              <a:solidFill>
                <a:srgbClr val="FF0000"/>
              </a:solidFill>
            </a:endParaRPr>
          </a:p>
          <a:p>
            <a:pPr indent="0" marL="0">
              <a:buNone/>
            </a:pPr>
            <a:r>
              <a:rPr b="1"/>
              <a:t>Semisynthetic aminoglycosides</a:t>
            </a:r>
            <a:endParaRPr b="1"/>
          </a:p>
          <a:p>
            <a:r>
              <a:rPr>
                <a:solidFill>
                  <a:srgbClr val="FF0000"/>
                </a:solidFill>
              </a:rPr>
              <a:t>Amikacin</a:t>
            </a:r>
            <a:r>
              <a:t>: chemical derivative of kanamycin </a:t>
            </a:r>
          </a:p>
          <a:p>
            <a:r>
              <a:rPr>
                <a:solidFill>
                  <a:srgbClr val="FF0000"/>
                </a:solidFill>
              </a:rPr>
              <a:t>Netilmicin</a:t>
            </a:r>
            <a:r>
              <a:t> </a:t>
            </a:r>
          </a:p>
          <a:p>
            <a:pPr indent="0" marL="0">
              <a:buNone/>
            </a:pPr>
            <a:r>
              <a:rPr b="1"/>
              <a:t>Nb </a:t>
            </a:r>
            <a:r>
              <a:rPr b="1" u="sng"/>
              <a:t>Gentamycin, tobramycin, and amikacin </a:t>
            </a:r>
            <a:r>
              <a:rPr b="1"/>
              <a:t>are the three commonly used aminoglycosides for </a:t>
            </a:r>
            <a:r>
              <a:rPr b="1">
                <a:solidFill>
                  <a:srgbClr val="FF0000"/>
                </a:solidFill>
              </a:rPr>
              <a:t>systemic infection.</a:t>
            </a:r>
            <a:endParaRPr b="1">
              <a:solidFill>
                <a:srgbClr val="FF0000"/>
              </a:solidFill>
            </a:endParaRPr>
          </a:p>
          <a:p>
            <a:pPr indent="0" marL="0">
              <a:buNone/>
            </a:pPr>
            <a:r>
              <a:t>They are always used in combination of beta lactam antibiotic  </a:t>
            </a:r>
            <a:r>
              <a:rPr b="1"/>
              <a:t>because of their synergism effect.</a:t>
            </a:r>
            <a:endParaRPr b="1"/>
          </a:p>
          <a:p>
            <a:pPr indent="0" marL="0">
              <a:buNone/>
            </a:pPr>
            <a:r>
              <a:t> </a:t>
            </a: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909" name=""/>
        <p:cNvGrpSpPr/>
        <p:nvPr/>
      </p:nvGrpSpPr>
      <p:grpSpPr>
        <a:xfrm>
          <a:off x="0" y="0"/>
          <a:ext cx="0" cy="0"/>
          <a:chOff x="0" y="0"/>
          <a:chExt cx="0" cy="0"/>
        </a:xfrm>
      </p:grpSpPr>
      <p:sp>
        <p:nvSpPr>
          <p:cNvPr id="1049081" name="Title 1"/>
          <p:cNvSpPr>
            <a:spLocks noGrp="1"/>
          </p:cNvSpPr>
          <p:nvPr>
            <p:ph type="title"/>
          </p:nvPr>
        </p:nvSpPr>
        <p:spPr/>
        <p:txBody>
          <a:bodyPr/>
          <a:p>
            <a:r>
              <a:rPr b="1"/>
              <a:t>Pharmacokinetics</a:t>
            </a:r>
          </a:p>
        </p:txBody>
      </p:sp>
      <p:sp>
        <p:nvSpPr>
          <p:cNvPr id="1049082" name="Content Placeholder 2"/>
          <p:cNvSpPr>
            <a:spLocks noGrp="1"/>
          </p:cNvSpPr>
          <p:nvPr>
            <p:ph idx="1"/>
          </p:nvPr>
        </p:nvSpPr>
        <p:spPr>
          <a:xfrm>
            <a:off x="552454" y="1552579"/>
            <a:ext cx="11153779" cy="5029200"/>
          </a:xfrm>
        </p:spPr>
        <p:txBody>
          <a:bodyPr/>
          <a:p>
            <a:pPr indent="0" marL="0">
              <a:buNone/>
            </a:pPr>
            <a:r>
              <a:t>They are water soluble (highly polar) hence hey not absorbed through the gut . For this reason </a:t>
            </a:r>
            <a:r>
              <a:rPr b="1"/>
              <a:t>they are not given orally</a:t>
            </a:r>
            <a:r>
              <a:t> but are </a:t>
            </a:r>
            <a:r>
              <a:rPr>
                <a:solidFill>
                  <a:srgbClr val="7030A0"/>
                </a:solidFill>
              </a:rPr>
              <a:t>mainly given IM and IV</a:t>
            </a:r>
            <a:endParaRPr>
              <a:solidFill>
                <a:srgbClr val="7030A0"/>
              </a:solidFill>
            </a:endParaRPr>
          </a:p>
          <a:p>
            <a:pPr indent="0" marL="0">
              <a:buNone/>
            </a:pPr>
            <a:r>
              <a:rPr b="1"/>
              <a:t>distribution; </a:t>
            </a:r>
            <a:r>
              <a:t>Widely distributed in tissue fluids, they cross the placenta </a:t>
            </a:r>
            <a:r>
              <a:rPr>
                <a:solidFill>
                  <a:srgbClr val="FF0000"/>
                </a:solidFill>
              </a:rPr>
              <a:t>but not the blood-brain barrie</a:t>
            </a:r>
            <a:r>
              <a:t>r and high concentrations can be attained in joint and pleural fluids</a:t>
            </a:r>
          </a:p>
          <a:p>
            <a:pPr indent="0" marL="0">
              <a:buNone/>
            </a:pPr>
            <a:r>
              <a:t>The plasma half life is 2-3 hours </a:t>
            </a:r>
          </a:p>
          <a:p>
            <a:pPr indent="0" marL="0">
              <a:buNone/>
            </a:pPr>
            <a:r>
              <a:rPr b="1"/>
              <a:t>Elimination</a:t>
            </a:r>
            <a:r>
              <a:t> is </a:t>
            </a:r>
            <a:r>
              <a:rPr b="1"/>
              <a:t>almost entirely renal excretion </a:t>
            </a:r>
            <a:r>
              <a:t>glomerular filtration, 50-60% of a dose being </a:t>
            </a:r>
            <a:r>
              <a:rPr b="1"/>
              <a:t>excreted unchanged within 24 hours</a:t>
            </a:r>
            <a:r>
              <a:t>. If </a:t>
            </a:r>
            <a:r>
              <a:rPr u="sng"/>
              <a:t>renal function is impaired accumulation occurs rapidly, with a resultant increase in toxic effect</a:t>
            </a:r>
            <a:r>
              <a:t>.</a:t>
            </a:r>
            <a:endParaRPr b="1"/>
          </a:p>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910" name=""/>
        <p:cNvGrpSpPr/>
        <p:nvPr/>
      </p:nvGrpSpPr>
      <p:grpSpPr>
        <a:xfrm>
          <a:off x="0" y="0"/>
          <a:ext cx="0" cy="0"/>
          <a:chOff x="0" y="0"/>
          <a:chExt cx="0" cy="0"/>
        </a:xfrm>
      </p:grpSpPr>
      <p:sp>
        <p:nvSpPr>
          <p:cNvPr id="1049083" name="Title 1"/>
          <p:cNvSpPr>
            <a:spLocks noGrp="1"/>
          </p:cNvSpPr>
          <p:nvPr>
            <p:ph type="title"/>
          </p:nvPr>
        </p:nvSpPr>
        <p:spPr/>
        <p:txBody>
          <a:bodyPr>
            <a:normAutofit/>
          </a:bodyPr>
          <a:p>
            <a:r>
              <a:t>                                                                       </a:t>
            </a:r>
            <a:r>
              <a:rPr b="1"/>
              <a:t>Pharmacodynamics/mechanism of action</a:t>
            </a:r>
            <a:endParaRPr b="1"/>
          </a:p>
        </p:txBody>
      </p:sp>
      <p:sp>
        <p:nvSpPr>
          <p:cNvPr id="1049084" name="Content Placeholder 2"/>
          <p:cNvSpPr>
            <a:spLocks noGrp="1"/>
          </p:cNvSpPr>
          <p:nvPr>
            <p:ph idx="1"/>
          </p:nvPr>
        </p:nvSpPr>
        <p:spPr/>
        <p:txBody>
          <a:bodyPr>
            <a:normAutofit/>
          </a:bodyPr>
          <a:p>
            <a:r>
              <a:rPr sz="3200"/>
              <a:t>They are </a:t>
            </a:r>
            <a:r>
              <a:rPr b="1" sz="3200"/>
              <a:t>bactericidal</a:t>
            </a:r>
            <a:r>
              <a:rPr sz="3200"/>
              <a:t> act by binding to the 30s ribosomal sub unit and </a:t>
            </a:r>
            <a:r>
              <a:rPr sz="3200" u="sng"/>
              <a:t>they inhibit bacterial protein synthesis</a:t>
            </a:r>
            <a:r>
              <a:rPr sz="3200"/>
              <a:t>.</a:t>
            </a:r>
            <a:endParaRPr sz="3200"/>
          </a:p>
          <a:p>
            <a:endParaRPr sz="3200"/>
          </a:p>
          <a:p>
            <a:r>
              <a:rPr sz="3200"/>
              <a:t>Have a </a:t>
            </a:r>
            <a:r>
              <a:rPr b="1" sz="3200"/>
              <a:t>minimal effect against anaerobic bacteria</a:t>
            </a:r>
            <a:endParaRPr b="1" sz="320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911" name=""/>
        <p:cNvGrpSpPr/>
        <p:nvPr/>
      </p:nvGrpSpPr>
      <p:grpSpPr>
        <a:xfrm>
          <a:off x="0" y="0"/>
          <a:ext cx="0" cy="0"/>
          <a:chOff x="0" y="0"/>
          <a:chExt cx="0" cy="0"/>
        </a:xfrm>
      </p:grpSpPr>
      <p:sp>
        <p:nvSpPr>
          <p:cNvPr id="1049085" name="Title 1"/>
          <p:cNvSpPr>
            <a:spLocks noGrp="1"/>
          </p:cNvSpPr>
          <p:nvPr>
            <p:ph type="title"/>
          </p:nvPr>
        </p:nvSpPr>
        <p:spPr/>
        <p:txBody>
          <a:bodyPr/>
          <a:p>
            <a:r>
              <a:rPr b="1"/>
              <a:t>Drug interaction;</a:t>
            </a:r>
          </a:p>
        </p:txBody>
      </p:sp>
      <p:sp>
        <p:nvSpPr>
          <p:cNvPr id="1049086" name="Content Placeholder 2"/>
          <p:cNvSpPr>
            <a:spLocks noGrp="1"/>
          </p:cNvSpPr>
          <p:nvPr>
            <p:ph idx="1"/>
          </p:nvPr>
        </p:nvSpPr>
        <p:spPr>
          <a:xfrm>
            <a:off x="590545" y="1514475"/>
            <a:ext cx="11210929" cy="5162545"/>
          </a:xfrm>
        </p:spPr>
        <p:txBody>
          <a:bodyPr>
            <a:normAutofit/>
          </a:bodyPr>
          <a:p>
            <a:r>
              <a:rPr b="1" sz="3200"/>
              <a:t>Synergic effect when give with beta lactam antibiotic </a:t>
            </a:r>
            <a:r>
              <a:rPr sz="3200"/>
              <a:t>. </a:t>
            </a:r>
            <a:endParaRPr sz="3200"/>
          </a:p>
          <a:p>
            <a:r>
              <a:rPr sz="3200"/>
              <a:t>Bone marrow depression when give with bone marrow depressing agents.</a:t>
            </a:r>
            <a:endParaRPr sz="3200"/>
          </a:p>
          <a:p>
            <a:r>
              <a:rPr sz="3200"/>
              <a:t>When the aminoglycosides are administered with </a:t>
            </a:r>
            <a:r>
              <a:rPr sz="3200">
                <a:solidFill>
                  <a:srgbClr val="FF0000"/>
                </a:solidFill>
              </a:rPr>
              <a:t>loop diuretics </a:t>
            </a:r>
            <a:r>
              <a:rPr sz="3200"/>
              <a:t>there is an increased risk of </a:t>
            </a:r>
            <a:r>
              <a:rPr sz="3200">
                <a:solidFill>
                  <a:srgbClr val="FF0000"/>
                </a:solidFill>
              </a:rPr>
              <a:t>ototoxicity. </a:t>
            </a:r>
            <a:endParaRPr sz="3200">
              <a:solidFill>
                <a:srgbClr val="FF0000"/>
              </a:solidFill>
            </a:endParaRPr>
          </a:p>
          <a:p>
            <a:r>
              <a:rPr sz="3200"/>
              <a:t>There is an increased risk of </a:t>
            </a:r>
            <a:r>
              <a:rPr sz="3200">
                <a:solidFill>
                  <a:srgbClr val="FF0000"/>
                </a:solidFill>
              </a:rPr>
              <a:t>neuromuscular blockage </a:t>
            </a:r>
            <a:r>
              <a:rPr sz="3200"/>
              <a:t>(paralysis of the respiratory muscles) if the aminoglycosides are given shortly after general anesthetics (neuromuscular junction blockers). </a:t>
            </a:r>
            <a:endParaRPr sz="3200"/>
          </a:p>
          <a:p>
            <a:r>
              <a:rPr sz="3200"/>
              <a:t>There is an increased risk of </a:t>
            </a:r>
            <a:r>
              <a:rPr sz="3200">
                <a:solidFill>
                  <a:srgbClr val="FF0000"/>
                </a:solidFill>
              </a:rPr>
              <a:t>nephrotoxicity</a:t>
            </a:r>
            <a:r>
              <a:rPr sz="3200"/>
              <a:t> when co-</a:t>
            </a:r>
            <a:r>
              <a:rPr sz="3200"/>
              <a:t>adminstered</a:t>
            </a:r>
            <a:r>
              <a:rPr sz="3200"/>
              <a:t> with </a:t>
            </a:r>
            <a:r>
              <a:rPr sz="3200">
                <a:solidFill>
                  <a:srgbClr val="FF0000"/>
                </a:solidFill>
              </a:rPr>
              <a:t>cephalosporins or other nephrotoxic drugs</a:t>
            </a:r>
            <a:endParaRPr sz="3200">
              <a:solidFill>
                <a:srgbClr val="FF0000"/>
              </a:solidFill>
            </a:endParaRPr>
          </a:p>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912" name=""/>
        <p:cNvGrpSpPr/>
        <p:nvPr/>
      </p:nvGrpSpPr>
      <p:grpSpPr>
        <a:xfrm>
          <a:off x="0" y="0"/>
          <a:ext cx="0" cy="0"/>
          <a:chOff x="0" y="0"/>
          <a:chExt cx="0" cy="0"/>
        </a:xfrm>
      </p:grpSpPr>
      <p:sp>
        <p:nvSpPr>
          <p:cNvPr id="1049087" name="Title 1"/>
          <p:cNvSpPr>
            <a:spLocks noGrp="1"/>
          </p:cNvSpPr>
          <p:nvPr>
            <p:ph type="title"/>
          </p:nvPr>
        </p:nvSpPr>
        <p:spPr>
          <a:xfrm>
            <a:off x="838204" y="365126"/>
            <a:ext cx="10515600" cy="854068"/>
          </a:xfrm>
        </p:spPr>
        <p:txBody>
          <a:bodyPr/>
          <a:p>
            <a:r>
              <a:t>Clinical uses/indications</a:t>
            </a:r>
          </a:p>
        </p:txBody>
      </p:sp>
      <p:sp>
        <p:nvSpPr>
          <p:cNvPr id="1049088" name="Content Placeholder 2"/>
          <p:cNvSpPr>
            <a:spLocks noGrp="1"/>
          </p:cNvSpPr>
          <p:nvPr>
            <p:ph idx="1"/>
          </p:nvPr>
        </p:nvSpPr>
        <p:spPr>
          <a:xfrm>
            <a:off x="542925" y="1390645"/>
            <a:ext cx="11077570" cy="5181604"/>
          </a:xfrm>
        </p:spPr>
        <p:txBody>
          <a:bodyPr>
            <a:normAutofit fontScale="92500" lnSpcReduction="10000"/>
          </a:bodyPr>
          <a:p>
            <a:r>
              <a:t>The </a:t>
            </a:r>
            <a:r>
              <a:rPr>
                <a:solidFill>
                  <a:srgbClr val="FF0000"/>
                </a:solidFill>
              </a:rPr>
              <a:t>toxicity</a:t>
            </a:r>
            <a:r>
              <a:t> associated with aminoglycosides </a:t>
            </a:r>
            <a:r>
              <a:rPr b="1"/>
              <a:t>restricts their clinical use to treatment of severe/serious or life threatening infections caused by aerobic gram-negative bacteria</a:t>
            </a:r>
            <a:r>
              <a:t>. </a:t>
            </a:r>
          </a:p>
          <a:p>
            <a:r>
              <a:t>They are also used to </a:t>
            </a:r>
            <a:r>
              <a:rPr>
                <a:solidFill>
                  <a:srgbClr val="FF0000"/>
                </a:solidFill>
              </a:rPr>
              <a:t>treat specific gram-positive </a:t>
            </a:r>
            <a:r>
              <a:t>caused infections in </a:t>
            </a:r>
            <a:r>
              <a:rPr b="1"/>
              <a:t>combination with penicillin</a:t>
            </a:r>
            <a:r>
              <a:t>.</a:t>
            </a:r>
          </a:p>
          <a:p>
            <a:r>
              <a:t> The </a:t>
            </a:r>
            <a:r>
              <a:rPr b="1"/>
              <a:t>oral aminoglycosides kanamycin (</a:t>
            </a:r>
            <a:r>
              <a:rPr b="1"/>
              <a:t>Kantrex</a:t>
            </a:r>
            <a:r>
              <a:rPr b="1"/>
              <a:t>) and neomycin (</a:t>
            </a:r>
            <a:r>
              <a:rPr b="1"/>
              <a:t>Mycifradin</a:t>
            </a:r>
            <a:r>
              <a:t>) are used </a:t>
            </a:r>
            <a:r>
              <a:rPr>
                <a:solidFill>
                  <a:srgbClr val="FF0000"/>
                </a:solidFill>
              </a:rPr>
              <a:t>preoperatively to reduce the number of bacteria normally present in the intestine</a:t>
            </a:r>
            <a:r>
              <a:t> (bowel prep), in order to lessen the possibility of possibility of abdominal infection that may occur after surgery on the bowel. </a:t>
            </a:r>
          </a:p>
          <a:p>
            <a:r>
              <a:t>Kanamycin, neomycin, and paromomycin are used orally in </a:t>
            </a:r>
            <a:r>
              <a:rPr>
                <a:solidFill>
                  <a:srgbClr val="FF0000"/>
                </a:solidFill>
              </a:rPr>
              <a:t>the management of hepatic coma</a:t>
            </a:r>
            <a:r>
              <a:t>. In this disorder, liver failure results in an elevation of blood ammonia levels. By reducing the number of </a:t>
            </a:r>
            <a:r>
              <a:t>ammoniaforming</a:t>
            </a:r>
            <a:r>
              <a:t> bacteria in the intestines, blood ammonia levels may be lowered, thereby temporarily reducing some of the symptoms associated with this disorder</a:t>
            </a:r>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913" name=""/>
        <p:cNvGrpSpPr/>
        <p:nvPr/>
      </p:nvGrpSpPr>
      <p:grpSpPr>
        <a:xfrm>
          <a:off x="0" y="0"/>
          <a:ext cx="0" cy="0"/>
          <a:chOff x="0" y="0"/>
          <a:chExt cx="0" cy="0"/>
        </a:xfrm>
      </p:grpSpPr>
      <p:sp>
        <p:nvSpPr>
          <p:cNvPr id="1049089" name="Title 1"/>
          <p:cNvSpPr>
            <a:spLocks noGrp="1"/>
          </p:cNvSpPr>
          <p:nvPr>
            <p:ph type="title"/>
          </p:nvPr>
        </p:nvSpPr>
        <p:spPr>
          <a:xfrm>
            <a:off x="838204" y="365126"/>
            <a:ext cx="10515600" cy="835023"/>
          </a:xfrm>
        </p:spPr>
        <p:txBody>
          <a:bodyPr/>
          <a:p>
            <a:r>
              <a:t>Side effects</a:t>
            </a:r>
          </a:p>
        </p:txBody>
      </p:sp>
      <p:sp>
        <p:nvSpPr>
          <p:cNvPr id="1049090" name="Content Placeholder 2"/>
          <p:cNvSpPr>
            <a:spLocks noGrp="1"/>
          </p:cNvSpPr>
          <p:nvPr>
            <p:ph idx="1"/>
          </p:nvPr>
        </p:nvSpPr>
        <p:spPr>
          <a:xfrm>
            <a:off x="381004" y="1400175"/>
            <a:ext cx="11353804" cy="5457825"/>
          </a:xfrm>
        </p:spPr>
        <p:txBody>
          <a:bodyPr>
            <a:normAutofit/>
          </a:bodyPr>
          <a:p>
            <a:r>
              <a:rPr b="1"/>
              <a:t>The main unwanted effects are: ototoxicity and nephrotoxicity. They dose dependent </a:t>
            </a:r>
            <a:endParaRPr b="1"/>
          </a:p>
          <a:p>
            <a:r>
              <a:rPr b="1"/>
              <a:t>Ototoxicity; </a:t>
            </a:r>
            <a:r>
              <a:t>progressive damage to the sensory cells in the cochlea and vestibular organ of the ear (damage of the eighth cranial nerve). </a:t>
            </a:r>
          </a:p>
          <a:p>
            <a:pPr lvl="1"/>
            <a:r>
              <a:t>The ototoxicity (</a:t>
            </a:r>
            <a:r>
              <a:rPr>
                <a:solidFill>
                  <a:srgbClr val="FF0000"/>
                </a:solidFill>
              </a:rPr>
              <a:t>usually irreversible) </a:t>
            </a:r>
            <a:r>
              <a:t>may manifest as</a:t>
            </a:r>
          </a:p>
          <a:p>
            <a:pPr lvl="1"/>
            <a:r>
              <a:t>Vestibular damage: tinnitus, dizziness, vertigo, ataxia and loss of balance</a:t>
            </a:r>
          </a:p>
          <a:p>
            <a:pPr lvl="1"/>
            <a:r>
              <a:t>Cochlear damage- Auditory disturbances or hearing loss. </a:t>
            </a:r>
          </a:p>
          <a:p>
            <a:pPr lvl="1"/>
            <a:r>
              <a:t>Ototoxicity </a:t>
            </a:r>
            <a:r>
              <a:rPr b="1"/>
              <a:t>may occur during drug </a:t>
            </a:r>
            <a:r>
              <a:t>therapy or </a:t>
            </a:r>
            <a:r>
              <a:rPr b="1"/>
              <a:t>even after the drug is discontinued</a:t>
            </a:r>
            <a:r>
              <a:t>. </a:t>
            </a:r>
          </a:p>
          <a:p>
            <a:pPr lvl="1"/>
            <a:r>
              <a:rPr>
                <a:solidFill>
                  <a:srgbClr val="7030A0"/>
                </a:solidFill>
              </a:rPr>
              <a:t>Streptomycin and gentamicin are more likely to interfere with vestibular function, whereas neomycin and amikacin mostly affect hearing. </a:t>
            </a:r>
            <a:endParaRPr>
              <a:solidFill>
                <a:srgbClr val="7030A0"/>
              </a:solidFill>
            </a:endParaRPr>
          </a:p>
          <a:p>
            <a:pPr lvl="1"/>
            <a:r>
              <a:rPr>
                <a:solidFill>
                  <a:srgbClr val="00B0F0"/>
                </a:solidFill>
              </a:rPr>
              <a:t>Netilmicin is less ototoxic than other aminoglycosides and is </a:t>
            </a:r>
            <a:r>
              <a:rPr b="1">
                <a:solidFill>
                  <a:srgbClr val="00B0F0"/>
                </a:solidFill>
              </a:rPr>
              <a:t>preferred when prolonged use is necessary</a:t>
            </a:r>
            <a:endParaRPr b="1">
              <a:solidFill>
                <a:srgbClr val="00B0F0"/>
              </a:solidFill>
            </a:endParaRPr>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914" name=""/>
        <p:cNvGrpSpPr/>
        <p:nvPr/>
      </p:nvGrpSpPr>
      <p:grpSpPr>
        <a:xfrm>
          <a:off x="0" y="0"/>
          <a:ext cx="0" cy="0"/>
          <a:chOff x="0" y="0"/>
          <a:chExt cx="0" cy="0"/>
        </a:xfrm>
      </p:grpSpPr>
      <p:sp>
        <p:nvSpPr>
          <p:cNvPr id="1049091" name="Title 1"/>
          <p:cNvSpPr>
            <a:spLocks noGrp="1"/>
          </p:cNvSpPr>
          <p:nvPr>
            <p:ph type="title"/>
          </p:nvPr>
        </p:nvSpPr>
        <p:spPr>
          <a:xfrm>
            <a:off x="838204" y="365126"/>
            <a:ext cx="10515600" cy="854068"/>
          </a:xfrm>
        </p:spPr>
        <p:txBody>
          <a:bodyPr/>
          <a:p>
            <a:r>
              <a:rPr b="1"/>
              <a:t>Contraindication </a:t>
            </a:r>
          </a:p>
        </p:txBody>
      </p:sp>
      <p:sp>
        <p:nvSpPr>
          <p:cNvPr id="1049092" name="Content Placeholder 2"/>
          <p:cNvSpPr>
            <a:spLocks noGrp="1"/>
          </p:cNvSpPr>
          <p:nvPr>
            <p:ph idx="1"/>
          </p:nvPr>
        </p:nvSpPr>
        <p:spPr>
          <a:xfrm>
            <a:off x="523879" y="1457325"/>
            <a:ext cx="11258550" cy="4924429"/>
          </a:xfrm>
        </p:spPr>
        <p:txBody>
          <a:bodyPr>
            <a:normAutofit lnSpcReduction="10000"/>
          </a:bodyPr>
          <a:p>
            <a:r>
              <a:t>Patients with </a:t>
            </a:r>
            <a:r>
              <a:rPr b="1"/>
              <a:t>hearing deficit </a:t>
            </a:r>
            <a:r>
              <a:t>because thy damage the 8</a:t>
            </a:r>
            <a:r>
              <a:rPr baseline="30000"/>
              <a:t>th</a:t>
            </a:r>
            <a:r>
              <a:t> cranial nerve(vestibular cochlear/auditory nerve)</a:t>
            </a:r>
          </a:p>
          <a:p>
            <a:r>
              <a:rPr b="1"/>
              <a:t>Myasthenia gravis </a:t>
            </a:r>
            <a:r>
              <a:t>since they cause neural muscular blockade.</a:t>
            </a:r>
          </a:p>
          <a:p>
            <a:r>
              <a:t>Patients with </a:t>
            </a:r>
            <a:r>
              <a:rPr b="1"/>
              <a:t>severe renal disease </a:t>
            </a:r>
            <a:r>
              <a:t>as they are nephrotoxic</a:t>
            </a:r>
          </a:p>
          <a:p>
            <a:r>
              <a:t>Hypersensitivity to aminoglycosides</a:t>
            </a:r>
          </a:p>
          <a:p>
            <a:r>
              <a:t>Neonates, geriatrics, infant, botulism and patients with parkinsonism</a:t>
            </a:r>
          </a:p>
          <a:p>
            <a:r>
              <a:t>In pregnancy: </a:t>
            </a:r>
            <a:r>
              <a:rPr b="1"/>
              <a:t>Aminoglycosides cross the placenta and cause fetal harm including bilateral congenital deafness.</a:t>
            </a:r>
            <a:endParaRPr b="1"/>
          </a:p>
          <a:p>
            <a:r>
              <a:t>Should not be given to patients requiring long-term therapy because of the </a:t>
            </a:r>
            <a:r>
              <a:rPr>
                <a:solidFill>
                  <a:srgbClr val="FF0000"/>
                </a:solidFill>
              </a:rPr>
              <a:t>potential for ototoxicity and nephrotoxicity. </a:t>
            </a:r>
            <a:endParaRPr>
              <a:solidFill>
                <a:srgbClr val="FF0000"/>
              </a:solidFill>
            </a:endParaRPr>
          </a:p>
          <a:p>
            <a:pPr lvl="1"/>
            <a:r>
              <a:t>One exception is the use of streptomycin for long-term management of tuberculosis. </a:t>
            </a:r>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915" name=""/>
        <p:cNvGrpSpPr/>
        <p:nvPr/>
      </p:nvGrpSpPr>
      <p:grpSpPr>
        <a:xfrm>
          <a:off x="0" y="0"/>
          <a:ext cx="0" cy="0"/>
          <a:chOff x="0" y="0"/>
          <a:chExt cx="0" cy="0"/>
        </a:xfrm>
      </p:grpSpPr>
      <p:sp>
        <p:nvSpPr>
          <p:cNvPr id="1049093" name="Title 1"/>
          <p:cNvSpPr>
            <a:spLocks noGrp="1"/>
          </p:cNvSpPr>
          <p:nvPr>
            <p:ph type="title"/>
          </p:nvPr>
        </p:nvSpPr>
        <p:spPr>
          <a:xfrm>
            <a:off x="838204" y="365126"/>
            <a:ext cx="10515600" cy="815978"/>
          </a:xfrm>
        </p:spPr>
        <p:txBody>
          <a:bodyPr/>
          <a:p>
            <a:r>
              <a:t>Side effects </a:t>
            </a:r>
            <a:r>
              <a:t>cont</a:t>
            </a:r>
            <a:r>
              <a:t>’</a:t>
            </a:r>
          </a:p>
        </p:txBody>
      </p:sp>
      <p:sp>
        <p:nvSpPr>
          <p:cNvPr id="1049094" name="Content Placeholder 2"/>
          <p:cNvSpPr>
            <a:spLocks noGrp="1"/>
          </p:cNvSpPr>
          <p:nvPr>
            <p:ph idx="1"/>
          </p:nvPr>
        </p:nvSpPr>
        <p:spPr>
          <a:xfrm>
            <a:off x="838204" y="1304920"/>
            <a:ext cx="10515600" cy="5372100"/>
          </a:xfrm>
        </p:spPr>
        <p:txBody>
          <a:bodyPr>
            <a:normAutofit lnSpcReduction="10000"/>
          </a:bodyPr>
          <a:p>
            <a:r>
              <a:rPr b="1"/>
              <a:t>Nephrotoxicity</a:t>
            </a:r>
            <a:r>
              <a:t> </a:t>
            </a:r>
          </a:p>
          <a:p>
            <a:pPr lvl="1"/>
            <a:r>
              <a:t>Involves damage to renal tubules and </a:t>
            </a:r>
            <a:r>
              <a:rPr b="1"/>
              <a:t>can be reversed </a:t>
            </a:r>
            <a:r>
              <a:t>if the drug is stopped. </a:t>
            </a:r>
          </a:p>
          <a:p>
            <a:pPr lvl="1"/>
            <a:r>
              <a:t>Manifested by urinary casts, </a:t>
            </a:r>
            <a:r>
              <a:rPr>
                <a:solidFill>
                  <a:srgbClr val="FF0000"/>
                </a:solidFill>
              </a:rPr>
              <a:t>reduced urine output</a:t>
            </a:r>
            <a:r>
              <a:t>, hematuria, proteinuria and increased BUN and serum creatinine levels. </a:t>
            </a:r>
          </a:p>
          <a:p>
            <a:pPr lvl="1"/>
            <a:r>
              <a:t>It is more </a:t>
            </a:r>
            <a:r>
              <a:rPr b="1"/>
              <a:t>common</a:t>
            </a:r>
            <a:r>
              <a:t> in patients with </a:t>
            </a:r>
            <a:r>
              <a:rPr b="1"/>
              <a:t>pre-existing renal disease </a:t>
            </a:r>
            <a:r>
              <a:t>or in conditions which </a:t>
            </a:r>
            <a:r>
              <a:rPr b="1"/>
              <a:t>urine volume is reduced</a:t>
            </a:r>
            <a:r>
              <a:t>. </a:t>
            </a:r>
          </a:p>
          <a:p>
            <a:r>
              <a:rPr b="1"/>
              <a:t>Neurotoxicity: </a:t>
            </a:r>
            <a:endParaRPr b="1"/>
          </a:p>
          <a:p>
            <a:pPr lvl="1"/>
            <a:r>
              <a:t>Signs and symptoms of neurotoxicity include numbness, skin tingling, circumoral (around the mouth) paresthesia, peripheral paresthesia, tremors, muscle twitching, convulsions, muscle weakness, and neuromuscular blockade (acute muscular paralysis and apnea).</a:t>
            </a:r>
          </a:p>
          <a:p>
            <a:pPr indent="0" marL="0">
              <a:buNone/>
            </a:pPr>
            <a:r>
              <a:t>Other unwanted effects include: headache, paresthesia, dizziness, skin rash and fever, nausea, vomiting,  diarrhea , lethargy, hypersensitivity and headache</a:t>
            </a:r>
            <a:r>
              <a:rPr b="1"/>
              <a:t>,</a:t>
            </a:r>
            <a:r>
              <a:t> bone marrow depression, palpitation</a:t>
            </a:r>
            <a:endParaRPr b="1"/>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916" name=""/>
        <p:cNvGrpSpPr/>
        <p:nvPr/>
      </p:nvGrpSpPr>
      <p:grpSpPr>
        <a:xfrm>
          <a:off x="0" y="0"/>
          <a:ext cx="0" cy="0"/>
          <a:chOff x="0" y="0"/>
          <a:chExt cx="0" cy="0"/>
        </a:xfrm>
      </p:grpSpPr>
      <p:sp>
        <p:nvSpPr>
          <p:cNvPr id="1049095" name="Title 1"/>
          <p:cNvSpPr>
            <a:spLocks noGrp="1"/>
          </p:cNvSpPr>
          <p:nvPr>
            <p:ph type="title"/>
          </p:nvPr>
        </p:nvSpPr>
        <p:spPr/>
        <p:txBody>
          <a:bodyPr/>
          <a:p>
            <a:r>
              <a:t>Precaution </a:t>
            </a:r>
          </a:p>
        </p:txBody>
      </p:sp>
      <p:sp>
        <p:nvSpPr>
          <p:cNvPr id="1049096" name="Content Placeholder 2"/>
          <p:cNvSpPr>
            <a:spLocks noGrp="1"/>
          </p:cNvSpPr>
          <p:nvPr>
            <p:ph idx="1"/>
          </p:nvPr>
        </p:nvSpPr>
        <p:spPr/>
        <p:txBody>
          <a:bodyPr>
            <a:normAutofit/>
          </a:bodyPr>
          <a:p>
            <a:r>
              <a:rPr sz="3600"/>
              <a:t>Aminoglycosides should be used with </a:t>
            </a:r>
            <a:r>
              <a:rPr sz="3600">
                <a:solidFill>
                  <a:srgbClr val="FF0000"/>
                </a:solidFill>
              </a:rPr>
              <a:t>caution in premature and full term neonates because of renal immaturity and also in patients with preexisting renal function</a:t>
            </a:r>
            <a:r>
              <a:rPr sz="3600"/>
              <a:t>. </a:t>
            </a:r>
            <a:endParaRPr sz="3600"/>
          </a:p>
          <a:p>
            <a:endParaRPr sz="3600"/>
          </a:p>
          <a:p>
            <a:r>
              <a:rPr sz="3600"/>
              <a:t>Used cautiously in patients with renal failure (dosage adjustments may be necessary), in the elderly, and in patients with neuromuscular disorders</a:t>
            </a:r>
            <a:endParaRPr sz="3600"/>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917" name=""/>
        <p:cNvGrpSpPr/>
        <p:nvPr/>
      </p:nvGrpSpPr>
      <p:grpSpPr>
        <a:xfrm>
          <a:off x="0" y="0"/>
          <a:ext cx="0" cy="0"/>
          <a:chOff x="0" y="0"/>
          <a:chExt cx="0" cy="0"/>
        </a:xfrm>
      </p:grpSpPr>
      <p:sp>
        <p:nvSpPr>
          <p:cNvPr id="1049097" name="Title 1"/>
          <p:cNvSpPr>
            <a:spLocks noGrp="1"/>
          </p:cNvSpPr>
          <p:nvPr>
            <p:ph type="title"/>
          </p:nvPr>
        </p:nvSpPr>
        <p:spPr>
          <a:xfrm>
            <a:off x="838204" y="365126"/>
            <a:ext cx="10515600" cy="854068"/>
          </a:xfrm>
        </p:spPr>
        <p:txBody>
          <a:bodyPr/>
          <a:p>
            <a:r>
              <a:t>                        </a:t>
            </a:r>
            <a:r>
              <a:rPr b="1"/>
              <a:t>Gentamycin</a:t>
            </a:r>
            <a:endParaRPr b="1"/>
          </a:p>
        </p:txBody>
      </p:sp>
      <p:sp>
        <p:nvSpPr>
          <p:cNvPr id="1049098" name="Content Placeholder 2"/>
          <p:cNvSpPr>
            <a:spLocks noGrp="1"/>
          </p:cNvSpPr>
          <p:nvPr>
            <p:ph idx="1"/>
          </p:nvPr>
        </p:nvSpPr>
        <p:spPr>
          <a:xfrm>
            <a:off x="523879" y="1304920"/>
            <a:ext cx="11277595" cy="5187953"/>
          </a:xfrm>
        </p:spPr>
        <p:txBody>
          <a:bodyPr>
            <a:normAutofit lnSpcReduction="10000"/>
          </a:bodyPr>
          <a:p>
            <a:r>
              <a:t>This is the </a:t>
            </a:r>
            <a:r>
              <a:rPr b="1"/>
              <a:t>most active aminoglycoside.</a:t>
            </a:r>
            <a:endParaRPr b="1"/>
          </a:p>
          <a:p>
            <a:r>
              <a:t>Half life 2-3 hours and reaches peak plasma concentration within 30 minute.</a:t>
            </a:r>
          </a:p>
          <a:p>
            <a:r>
              <a:rPr b="1"/>
              <a:t>route</a:t>
            </a:r>
            <a:r>
              <a:t> of administration IM/IV. </a:t>
            </a:r>
          </a:p>
          <a:p>
            <a:r>
              <a:rPr b="1"/>
              <a:t>indication</a:t>
            </a:r>
            <a:r>
              <a:t> gram negative and gram positive; </a:t>
            </a:r>
            <a:r>
              <a:rPr b="1"/>
              <a:t>septicemia, meningitis</a:t>
            </a:r>
            <a:r>
              <a:t>, </a:t>
            </a:r>
            <a:r>
              <a:rPr b="1"/>
              <a:t>endocarditis, UTI, neonatal sepsis</a:t>
            </a:r>
            <a:r>
              <a:t> and </a:t>
            </a:r>
            <a:r>
              <a:rPr b="1"/>
              <a:t>acute pyelonephritis </a:t>
            </a:r>
            <a:r>
              <a:t>among other infections. </a:t>
            </a:r>
          </a:p>
          <a:p>
            <a:pPr indent="0" marL="0">
              <a:buNone/>
            </a:pPr>
            <a:r>
              <a:rPr b="1"/>
              <a:t>Contraindications; </a:t>
            </a:r>
            <a:r>
              <a:t>is like for the other aminoglycoside.</a:t>
            </a:r>
            <a:endParaRPr b="1"/>
          </a:p>
          <a:p>
            <a:pPr indent="0" marL="0">
              <a:buNone/>
            </a:pPr>
            <a:r>
              <a:rPr b="1"/>
              <a:t>dosage adults </a:t>
            </a:r>
            <a:r>
              <a:t>GIVE 2-5 MG/kg body weight daily 8hrly for 7 days. Reduce the dose in renal impairment and the elderly.</a:t>
            </a:r>
          </a:p>
          <a:p>
            <a:pPr indent="0" marL="0">
              <a:buNone/>
            </a:pPr>
            <a:r>
              <a:rPr b="1"/>
              <a:t>Children below 2wks </a:t>
            </a:r>
            <a:r>
              <a:t>3mgs/kg body weight every 12 hours.</a:t>
            </a:r>
          </a:p>
          <a:p>
            <a:pPr indent="0" marL="0">
              <a:buNone/>
            </a:pPr>
            <a:r>
              <a:t>Those aged 2wks-12years 2mg/kg every 8 hourly.</a:t>
            </a:r>
          </a:p>
          <a:p/>
          <a:p/>
          <a:p/>
          <a:p/>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918" name=""/>
        <p:cNvGrpSpPr/>
        <p:nvPr/>
      </p:nvGrpSpPr>
      <p:grpSpPr>
        <a:xfrm>
          <a:off x="0" y="0"/>
          <a:ext cx="0" cy="0"/>
          <a:chOff x="0" y="0"/>
          <a:chExt cx="0" cy="0"/>
        </a:xfrm>
      </p:grpSpPr>
      <p:sp>
        <p:nvSpPr>
          <p:cNvPr id="1049099" name="Title 1"/>
          <p:cNvSpPr>
            <a:spLocks noGrp="1"/>
          </p:cNvSpPr>
          <p:nvPr>
            <p:ph type="title"/>
          </p:nvPr>
        </p:nvSpPr>
        <p:spPr/>
        <p:txBody>
          <a:bodyPr/>
          <a:p>
            <a:r>
              <a:t>                     </a:t>
            </a:r>
            <a:endParaRPr b="1"/>
          </a:p>
        </p:txBody>
      </p:sp>
      <p:sp>
        <p:nvSpPr>
          <p:cNvPr id="1049100" name="Content Placeholder 2"/>
          <p:cNvSpPr>
            <a:spLocks noGrp="1"/>
          </p:cNvSpPr>
          <p:nvPr>
            <p:ph idx="1"/>
          </p:nvPr>
        </p:nvSpPr>
        <p:spPr>
          <a:xfrm>
            <a:off x="561970" y="676270"/>
            <a:ext cx="10791820" cy="5991220"/>
          </a:xfrm>
        </p:spPr>
        <p:txBody>
          <a:bodyPr>
            <a:normAutofit/>
          </a:bodyPr>
          <a:p>
            <a:r>
              <a:t>Aminoglycoside can replace penicillin in penicillin sensitive patients</a:t>
            </a:r>
          </a:p>
          <a:p>
            <a:r>
              <a:rPr b="1"/>
              <a:t>Gentamycin</a:t>
            </a:r>
            <a:r>
              <a:t> combine </a:t>
            </a:r>
            <a:r>
              <a:rPr b="1"/>
              <a:t>with penicillin </a:t>
            </a:r>
            <a:r>
              <a:t>have a </a:t>
            </a:r>
            <a:r>
              <a:rPr>
                <a:solidFill>
                  <a:srgbClr val="FF0000"/>
                </a:solidFill>
              </a:rPr>
              <a:t>synergic antibiotic </a:t>
            </a:r>
            <a:r>
              <a:t>effect expands the spectrum of antibiotics activity and prevent emergence of resistance..</a:t>
            </a:r>
          </a:p>
          <a:p>
            <a:r>
              <a:rPr b="1"/>
              <a:t>Neomycin</a:t>
            </a:r>
            <a:r>
              <a:t> and</a:t>
            </a:r>
            <a:r>
              <a:rPr b="1"/>
              <a:t> kanamycin </a:t>
            </a:r>
            <a:r>
              <a:t>can be used for </a:t>
            </a:r>
            <a:r>
              <a:rPr>
                <a:solidFill>
                  <a:srgbClr val="FF0000"/>
                </a:solidFill>
              </a:rPr>
              <a:t>hepatic coma to reduce normal flora and therefore ammonia gas formation</a:t>
            </a:r>
            <a:r>
              <a:t>.</a:t>
            </a:r>
          </a:p>
          <a:p>
            <a:r>
              <a:rPr b="1"/>
              <a:t>Amikacin</a:t>
            </a:r>
            <a:r>
              <a:t> has </a:t>
            </a:r>
            <a:r>
              <a:rPr u="sng"/>
              <a:t>broadest antibacterial spectrum </a:t>
            </a:r>
            <a:r>
              <a:t>because it is stable to 8 of the 9 classified aminoglycoside inactivating enzymes whereas gentamycin is inactivated by five of them.</a:t>
            </a:r>
          </a:p>
          <a:p>
            <a:r>
              <a:rPr b="1"/>
              <a:t> Amikacin </a:t>
            </a:r>
            <a:r>
              <a:t>is  indicated for serious gram negative infections resistant to gentamycin.</a:t>
            </a:r>
          </a:p>
          <a:p>
            <a:r>
              <a:t> Neomycin and framycetin are too toxic for systemic use hence used topically for treatment of </a:t>
            </a:r>
            <a:r>
              <a:rPr b="1"/>
              <a:t>aer, nose </a:t>
            </a:r>
            <a:r>
              <a:t>and </a:t>
            </a:r>
            <a:r>
              <a:rPr b="1"/>
              <a:t>skin</a:t>
            </a:r>
            <a:r>
              <a:t> infections,</a:t>
            </a:r>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919" name=""/>
        <p:cNvGrpSpPr/>
        <p:nvPr/>
      </p:nvGrpSpPr>
      <p:grpSpPr>
        <a:xfrm>
          <a:off x="0" y="0"/>
          <a:ext cx="0" cy="0"/>
          <a:chOff x="0" y="0"/>
          <a:chExt cx="0" cy="0"/>
        </a:xfrm>
      </p:grpSpPr>
      <p:sp>
        <p:nvSpPr>
          <p:cNvPr id="1049101" name="Title 1"/>
          <p:cNvSpPr>
            <a:spLocks noGrp="1"/>
          </p:cNvSpPr>
          <p:nvPr>
            <p:ph type="title"/>
          </p:nvPr>
        </p:nvSpPr>
        <p:spPr/>
        <p:txBody>
          <a:bodyPr/>
          <a:p>
            <a:r>
              <a:t>                           </a:t>
            </a:r>
            <a:r>
              <a:rPr b="1"/>
              <a:t>quinolones</a:t>
            </a:r>
            <a:br>
              <a:rPr b="1"/>
            </a:br>
            <a:endParaRPr b="1"/>
          </a:p>
        </p:txBody>
      </p:sp>
      <p:sp>
        <p:nvSpPr>
          <p:cNvPr id="1049102" name="Content Placeholder 2"/>
          <p:cNvSpPr>
            <a:spLocks noGrp="1"/>
          </p:cNvSpPr>
          <p:nvPr>
            <p:ph idx="1"/>
          </p:nvPr>
        </p:nvSpPr>
        <p:spPr>
          <a:xfrm>
            <a:off x="838204" y="1285875"/>
            <a:ext cx="10515600" cy="4891082"/>
          </a:xfrm>
        </p:spPr>
        <p:txBody>
          <a:bodyPr>
            <a:normAutofit/>
          </a:bodyPr>
          <a:p>
            <a:r>
              <a:t>these are broad spectrum antibiotic though some like </a:t>
            </a:r>
            <a:r>
              <a:rPr>
                <a:solidFill>
                  <a:srgbClr val="FF0000"/>
                </a:solidFill>
              </a:rPr>
              <a:t>nalidixic acid (the first quinolone) and cinoxacin </a:t>
            </a:r>
            <a:r>
              <a:t>have a narrow antibacterial spectrum.</a:t>
            </a:r>
          </a:p>
          <a:p>
            <a:pPr indent="0" marL="0">
              <a:buNone/>
            </a:pPr>
            <a:r>
              <a:t>other newer quinolones include</a:t>
            </a:r>
          </a:p>
          <a:p>
            <a:pPr indent="0" marL="0">
              <a:buNone/>
            </a:pPr>
            <a:r>
              <a:rPr b="1"/>
              <a:t>Norfloxacin</a:t>
            </a:r>
            <a:r>
              <a:t> </a:t>
            </a:r>
            <a:endParaRPr b="1"/>
          </a:p>
          <a:p>
            <a:pPr indent="0" marL="0">
              <a:buNone/>
            </a:pPr>
            <a:r>
              <a:rPr b="1"/>
              <a:t>Ciprofloxacin</a:t>
            </a:r>
            <a:endParaRPr b="1"/>
          </a:p>
          <a:p>
            <a:pPr indent="0" marL="0">
              <a:buNone/>
            </a:pPr>
            <a:r>
              <a:rPr b="1"/>
              <a:t>Ofloxacin</a:t>
            </a:r>
            <a:endParaRPr b="1"/>
          </a:p>
          <a:p>
            <a:pPr indent="0" marL="0">
              <a:buNone/>
            </a:pPr>
            <a:r>
              <a:rPr b="1"/>
              <a:t>Levofloxacin</a:t>
            </a:r>
            <a:endParaRPr b="1"/>
          </a:p>
          <a:p>
            <a:pPr indent="0" marL="0">
              <a:buNone/>
            </a:pPr>
            <a:r>
              <a:rPr b="1"/>
              <a:t>Acrofloxacin</a:t>
            </a:r>
            <a:endParaRPr b="1"/>
          </a:p>
          <a:p>
            <a:pPr indent="0" marL="0">
              <a:buNone/>
            </a:pPr>
            <a:r>
              <a:rPr b="1"/>
              <a:t>Pefloxacin</a:t>
            </a:r>
            <a:endParaRPr b="1"/>
          </a:p>
          <a:p>
            <a:pPr indent="0" marL="0">
              <a:buNone/>
            </a:pPr>
            <a:endParaRPr b="1"/>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920" name=""/>
        <p:cNvGrpSpPr/>
        <p:nvPr/>
      </p:nvGrpSpPr>
      <p:grpSpPr>
        <a:xfrm>
          <a:off x="0" y="0"/>
          <a:ext cx="0" cy="0"/>
          <a:chOff x="0" y="0"/>
          <a:chExt cx="0" cy="0"/>
        </a:xfrm>
      </p:grpSpPr>
      <p:sp>
        <p:nvSpPr>
          <p:cNvPr id="1049103" name="Title 1"/>
          <p:cNvSpPr>
            <a:spLocks noGrp="1"/>
          </p:cNvSpPr>
          <p:nvPr>
            <p:ph type="title"/>
          </p:nvPr>
        </p:nvSpPr>
        <p:spPr/>
        <p:txBody>
          <a:bodyPr/>
          <a:p>
            <a:r>
              <a:rPr b="1"/>
              <a:t>Pharmacodynamics </a:t>
            </a:r>
            <a:endParaRPr b="1"/>
          </a:p>
        </p:txBody>
      </p:sp>
      <p:sp>
        <p:nvSpPr>
          <p:cNvPr id="1049104" name="Content Placeholder 2"/>
          <p:cNvSpPr>
            <a:spLocks noGrp="1"/>
          </p:cNvSpPr>
          <p:nvPr>
            <p:ph idx="1"/>
          </p:nvPr>
        </p:nvSpPr>
        <p:spPr/>
        <p:txBody>
          <a:bodyPr/>
          <a:p>
            <a:r>
              <a:rPr sz="3200"/>
              <a:t>They are act by inhibiting bacterial DNA  gyrase (topoisomerase II), the enzyme that produces negative supercoil in DNA thus permitting transcription and/or DNA synthesis.</a:t>
            </a:r>
            <a:endParaRPr sz="3200"/>
          </a:p>
          <a:p>
            <a:endParaRPr sz="3200"/>
          </a:p>
          <a:p>
            <a:r>
              <a:rPr sz="3200"/>
              <a:t>They are </a:t>
            </a:r>
            <a:r>
              <a:rPr b="1" sz="3200"/>
              <a:t>bactericidal</a:t>
            </a:r>
            <a:r>
              <a:rPr sz="3200"/>
              <a:t> but some are </a:t>
            </a:r>
            <a:r>
              <a:rPr b="1" sz="3200"/>
              <a:t>bacteriostatic</a:t>
            </a:r>
            <a:endParaRPr b="1" sz="3200"/>
          </a:p>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921" name=""/>
        <p:cNvGrpSpPr/>
        <p:nvPr/>
      </p:nvGrpSpPr>
      <p:grpSpPr>
        <a:xfrm>
          <a:off x="0" y="0"/>
          <a:ext cx="0" cy="0"/>
          <a:chOff x="0" y="0"/>
          <a:chExt cx="0" cy="0"/>
        </a:xfrm>
      </p:grpSpPr>
      <p:sp>
        <p:nvSpPr>
          <p:cNvPr id="1049105" name="Title 1"/>
          <p:cNvSpPr>
            <a:spLocks noGrp="1"/>
          </p:cNvSpPr>
          <p:nvPr>
            <p:ph type="title"/>
          </p:nvPr>
        </p:nvSpPr>
        <p:spPr/>
        <p:txBody>
          <a:bodyPr/>
          <a:p>
            <a:r>
              <a:rPr b="1"/>
              <a:t>Pharmacokinetics</a:t>
            </a:r>
            <a:br>
              <a:rPr b="1"/>
            </a:br>
            <a:endParaRPr b="1"/>
          </a:p>
        </p:txBody>
      </p:sp>
      <p:sp>
        <p:nvSpPr>
          <p:cNvPr id="1049106" name="Content Placeholder 2"/>
          <p:cNvSpPr>
            <a:spLocks noGrp="1"/>
          </p:cNvSpPr>
          <p:nvPr>
            <p:ph idx="1"/>
          </p:nvPr>
        </p:nvSpPr>
        <p:spPr>
          <a:xfrm>
            <a:off x="533395" y="1276345"/>
            <a:ext cx="10820395" cy="5372100"/>
          </a:xfrm>
        </p:spPr>
        <p:txBody>
          <a:bodyPr>
            <a:normAutofit fontScale="92500" lnSpcReduction="10000"/>
          </a:bodyPr>
          <a:p>
            <a:r>
              <a:t>Quinolones are absorbed in the gut </a:t>
            </a:r>
            <a:r>
              <a:rPr b="1"/>
              <a:t>though aluminum and magnesium antacid</a:t>
            </a:r>
            <a:r>
              <a:t> interfere with the </a:t>
            </a:r>
            <a:r>
              <a:rPr b="1"/>
              <a:t>absorption</a:t>
            </a:r>
            <a:r>
              <a:t>.</a:t>
            </a:r>
            <a:endParaRPr b="1"/>
          </a:p>
          <a:p>
            <a:r>
              <a:rPr b="1"/>
              <a:t>Distribution </a:t>
            </a:r>
            <a:r>
              <a:t>wide distribution such that </a:t>
            </a:r>
            <a:r>
              <a:rPr b="1"/>
              <a:t>they cross the placenta  </a:t>
            </a:r>
            <a:r>
              <a:t>and are </a:t>
            </a:r>
            <a:r>
              <a:rPr b="1"/>
              <a:t>distributed in breast milk.</a:t>
            </a:r>
            <a:endParaRPr b="1"/>
          </a:p>
          <a:p>
            <a:r>
              <a:t>They are concentrated/accumulate in the lungs, kidneys, prostate, and phagocytes.</a:t>
            </a:r>
          </a:p>
          <a:p>
            <a:r>
              <a:t>They don’t cross the BBB e</a:t>
            </a:r>
            <a:r>
              <a:rPr b="1"/>
              <a:t>xcept ofloxacin and pefloxacin</a:t>
            </a:r>
            <a:r>
              <a:t>.</a:t>
            </a:r>
          </a:p>
          <a:p>
            <a:r>
              <a:rPr b="1"/>
              <a:t>Metabolism  </a:t>
            </a:r>
            <a:r>
              <a:t>they under go hepatic metabolism with a variable half life</a:t>
            </a:r>
          </a:p>
          <a:p>
            <a:pPr lvl="1"/>
            <a:r>
              <a:t>Ciprofloxacin and norfloxacin is partly hepatic and partly renal; ofloxacin elimination is mainly renal</a:t>
            </a:r>
          </a:p>
          <a:p>
            <a:r>
              <a:t>Norfloxacin and ciprofloxacin half life of 2-3 hours, 5 hour ofloxacin, perfloxacin10 hour.</a:t>
            </a:r>
          </a:p>
          <a:p>
            <a:r>
              <a:rPr b="1"/>
              <a:t>Excretion</a:t>
            </a:r>
            <a:r>
              <a:t>/elimination via renal and biliary.</a:t>
            </a:r>
          </a:p>
          <a:p/>
          <a:p/>
          <a:p/>
          <a:p/>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922" name=""/>
        <p:cNvGrpSpPr/>
        <p:nvPr/>
      </p:nvGrpSpPr>
      <p:grpSpPr>
        <a:xfrm>
          <a:off x="0" y="0"/>
          <a:ext cx="0" cy="0"/>
          <a:chOff x="0" y="0"/>
          <a:chExt cx="0" cy="0"/>
        </a:xfrm>
      </p:grpSpPr>
      <p:sp>
        <p:nvSpPr>
          <p:cNvPr id="1049107" name="Title 1"/>
          <p:cNvSpPr>
            <a:spLocks noGrp="1"/>
          </p:cNvSpPr>
          <p:nvPr>
            <p:ph type="title"/>
          </p:nvPr>
        </p:nvSpPr>
        <p:spPr>
          <a:xfrm>
            <a:off x="838204" y="365126"/>
            <a:ext cx="10515600" cy="844553"/>
          </a:xfrm>
        </p:spPr>
        <p:txBody>
          <a:bodyPr/>
          <a:p>
            <a:r>
              <a:t>Adverse effects</a:t>
            </a:r>
          </a:p>
        </p:txBody>
      </p:sp>
      <p:sp>
        <p:nvSpPr>
          <p:cNvPr id="1049108" name="Content Placeholder 2"/>
          <p:cNvSpPr>
            <a:spLocks noGrp="1"/>
          </p:cNvSpPr>
          <p:nvPr>
            <p:ph idx="1"/>
          </p:nvPr>
        </p:nvSpPr>
        <p:spPr>
          <a:xfrm>
            <a:off x="361945" y="1562095"/>
            <a:ext cx="11439529" cy="5057775"/>
          </a:xfrm>
        </p:spPr>
        <p:txBody>
          <a:bodyPr>
            <a:normAutofit fontScale="85000" lnSpcReduction="20000"/>
          </a:bodyPr>
          <a:p>
            <a:pPr indent="0" marL="0">
              <a:buNone/>
            </a:pPr>
            <a:r>
              <a:rPr b="1"/>
              <a:t>Adverse drug effects Unwanted effects are infrequent, disappearing quickly when the drugs are withdrawn. </a:t>
            </a:r>
            <a:endParaRPr b="1"/>
          </a:p>
          <a:p>
            <a:r>
              <a:t>GIT effects like nausea, vomiting, and </a:t>
            </a:r>
            <a:r>
              <a:t>diarrhea,constipation</a:t>
            </a:r>
            <a:r>
              <a:t>, increased AST and ALT levels ,flatulence, heartburn, oral </a:t>
            </a:r>
            <a:r>
              <a:t>candiasis</a:t>
            </a:r>
            <a:r>
              <a:t>, </a:t>
            </a:r>
            <a:r>
              <a:t>pseudomembrenous</a:t>
            </a:r>
            <a:r>
              <a:t> colitis and dysphagia</a:t>
            </a:r>
          </a:p>
          <a:p>
            <a:r>
              <a:t>CNS effects like dizziness, headache, confusion and </a:t>
            </a:r>
            <a:r>
              <a:t>Insomnia,depression</a:t>
            </a:r>
            <a:r>
              <a:t>, </a:t>
            </a:r>
            <a:r>
              <a:t>restlness</a:t>
            </a:r>
            <a:r>
              <a:t>, convulsions associated with CNS pathology, or concurrent use with </a:t>
            </a:r>
            <a:r>
              <a:t>theophyline</a:t>
            </a:r>
            <a:r>
              <a:t> or NSAID </a:t>
            </a:r>
          </a:p>
          <a:p>
            <a:r>
              <a:t>Allergic reactions in form of skin rashes, </a:t>
            </a:r>
          </a:p>
          <a:p>
            <a:pPr indent="0" marL="0">
              <a:buNone/>
            </a:pPr>
            <a:r>
              <a:t>They are reported to cause arthropathy in immature animals (arthropathy in young individuals (under 18 years))  hence not recommended for children and adolescence unless the benefit out ways the risk.</a:t>
            </a:r>
          </a:p>
          <a:p>
            <a:r>
              <a:t>Integumentary: rash, pruritis, urticaria, photosensitivity (mainly with lomefloxacin). </a:t>
            </a:r>
          </a:p>
          <a:p>
            <a:r>
              <a:t>Bone marrow suppression. </a:t>
            </a:r>
          </a:p>
          <a:p>
            <a:r>
              <a:t>Others: fevers, chills blurred vision </a:t>
            </a:r>
          </a:p>
          <a:p>
            <a:r>
              <a:t>All fluoroquinolone drugs can cause pain, inflammation, or rupture of a tendon. </a:t>
            </a:r>
            <a:r>
              <a:rPr b="1"/>
              <a:t>The Achilles tendon is particularly vulnerable. </a:t>
            </a:r>
            <a:endParaRPr b="1"/>
          </a:p>
          <a:p>
            <a:pPr indent="0" marL="0">
              <a:buNone/>
            </a:pPr>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923" name=""/>
        <p:cNvGrpSpPr/>
        <p:nvPr/>
      </p:nvGrpSpPr>
      <p:grpSpPr>
        <a:xfrm>
          <a:off x="0" y="0"/>
          <a:ext cx="0" cy="0"/>
          <a:chOff x="0" y="0"/>
          <a:chExt cx="0" cy="0"/>
        </a:xfrm>
      </p:grpSpPr>
      <p:sp>
        <p:nvSpPr>
          <p:cNvPr id="1049109" name="Title 1"/>
          <p:cNvSpPr>
            <a:spLocks noGrp="1"/>
          </p:cNvSpPr>
          <p:nvPr>
            <p:ph type="title"/>
          </p:nvPr>
        </p:nvSpPr>
        <p:spPr/>
        <p:txBody>
          <a:bodyPr/>
          <a:p>
            <a:r>
              <a:rPr b="1"/>
              <a:t>                                                                            contraindication</a:t>
            </a:r>
            <a:endParaRPr b="1"/>
          </a:p>
        </p:txBody>
      </p:sp>
      <p:sp>
        <p:nvSpPr>
          <p:cNvPr id="1049110" name="Content Placeholder 2"/>
          <p:cNvSpPr>
            <a:spLocks noGrp="1"/>
          </p:cNvSpPr>
          <p:nvPr>
            <p:ph idx="1"/>
          </p:nvPr>
        </p:nvSpPr>
        <p:spPr/>
        <p:txBody>
          <a:bodyPr>
            <a:normAutofit/>
          </a:bodyPr>
          <a:p>
            <a:r>
              <a:t>History of epilepsy or seizures.</a:t>
            </a:r>
          </a:p>
          <a:p>
            <a:r>
              <a:t>Glucose-7-phosphatedehydrogenase deficiency.</a:t>
            </a:r>
          </a:p>
          <a:p>
            <a:r>
              <a:t>Myasthenia gravis.</a:t>
            </a:r>
          </a:p>
          <a:p>
            <a:r>
              <a:t>Pregnancy and breast feeding.</a:t>
            </a:r>
          </a:p>
          <a:p>
            <a:pPr indent="0" marL="0">
              <a:buNone/>
            </a:pPr>
            <a:r>
              <a:rPr b="1"/>
              <a:t>Precautions </a:t>
            </a:r>
            <a:endParaRPr b="1"/>
          </a:p>
          <a:p>
            <a:pPr indent="0" marL="0">
              <a:buNone/>
            </a:pPr>
            <a:r>
              <a:t>The fluoroquinolones are used cautiously in patients with renal impairment or a history of seizures, in geriatric patients, and in patients on dialysis</a:t>
            </a:r>
          </a:p>
          <a:p>
            <a:pPr indent="0" marL="0">
              <a:buNone/>
            </a:pPr>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924" name=""/>
        <p:cNvGrpSpPr/>
        <p:nvPr/>
      </p:nvGrpSpPr>
      <p:grpSpPr>
        <a:xfrm>
          <a:off x="0" y="0"/>
          <a:ext cx="0" cy="0"/>
          <a:chOff x="0" y="0"/>
          <a:chExt cx="0" cy="0"/>
        </a:xfrm>
      </p:grpSpPr>
      <p:sp>
        <p:nvSpPr>
          <p:cNvPr id="1049111" name="Title 1"/>
          <p:cNvSpPr>
            <a:spLocks noGrp="1"/>
          </p:cNvSpPr>
          <p:nvPr>
            <p:ph type="title"/>
          </p:nvPr>
        </p:nvSpPr>
        <p:spPr>
          <a:xfrm>
            <a:off x="838204" y="365126"/>
            <a:ext cx="10515600" cy="1054093"/>
          </a:xfrm>
        </p:spPr>
        <p:txBody>
          <a:bodyPr/>
          <a:p>
            <a:r>
              <a:rPr b="1"/>
              <a:t>Indication; </a:t>
            </a:r>
          </a:p>
        </p:txBody>
      </p:sp>
      <p:sp>
        <p:nvSpPr>
          <p:cNvPr id="1049112" name="Content Placeholder 2"/>
          <p:cNvSpPr>
            <a:spLocks noGrp="1"/>
          </p:cNvSpPr>
          <p:nvPr>
            <p:ph idx="1"/>
          </p:nvPr>
        </p:nvSpPr>
        <p:spPr>
          <a:xfrm>
            <a:off x="838204" y="1352554"/>
            <a:ext cx="10515600" cy="5219695"/>
          </a:xfrm>
        </p:spPr>
        <p:txBody>
          <a:bodyPr>
            <a:normAutofit lnSpcReduction="10000"/>
          </a:bodyPr>
          <a:p>
            <a:r>
              <a:rPr sz="3600"/>
              <a:t>Quinolones are basically </a:t>
            </a:r>
            <a:r>
              <a:rPr b="1" sz="3600"/>
              <a:t>indicated for  UTI </a:t>
            </a:r>
            <a:r>
              <a:rPr sz="3600"/>
              <a:t>ciprofloxacin has a broader spectrum of antibacterial activity. </a:t>
            </a:r>
            <a:endParaRPr sz="3600"/>
          </a:p>
          <a:p>
            <a:pPr lvl="1"/>
            <a:r>
              <a:rPr sz="3200"/>
              <a:t>These are often caused by gram negative organisms like E.coli, proteus  spp. Therefore infections like </a:t>
            </a:r>
            <a:r>
              <a:rPr sz="3200">
                <a:solidFill>
                  <a:srgbClr val="FF0000"/>
                </a:solidFill>
              </a:rPr>
              <a:t>complicated UTI, inversive otitis externa, salmonella typhi infection, gonorrhea, bacteria prostatitis and cervicitis.</a:t>
            </a:r>
            <a:endParaRPr sz="3200">
              <a:solidFill>
                <a:srgbClr val="FF0000"/>
              </a:solidFill>
            </a:endParaRPr>
          </a:p>
          <a:p>
            <a:r>
              <a:rPr sz="3600"/>
              <a:t> They are also indicated </a:t>
            </a:r>
            <a:r>
              <a:rPr b="1" sz="3600"/>
              <a:t>for anthrax </a:t>
            </a:r>
            <a:r>
              <a:rPr sz="3600"/>
              <a:t>which has been used as a biological warfare. </a:t>
            </a:r>
            <a:endParaRPr sz="3600"/>
          </a:p>
          <a:p>
            <a:pPr lvl="1"/>
            <a:r>
              <a:rPr sz="3200"/>
              <a:t>So the soldiers can take quinolones just before they go to war just in case they are at risk of exposure to anthrax.</a:t>
            </a:r>
            <a:endParaRPr sz="3200"/>
          </a:p>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925" name=""/>
        <p:cNvGrpSpPr/>
        <p:nvPr/>
      </p:nvGrpSpPr>
      <p:grpSpPr>
        <a:xfrm>
          <a:off x="0" y="0"/>
          <a:ext cx="0" cy="0"/>
          <a:chOff x="0" y="0"/>
          <a:chExt cx="0" cy="0"/>
        </a:xfrm>
      </p:grpSpPr>
      <p:sp>
        <p:nvSpPr>
          <p:cNvPr id="1049113" name="Title 1"/>
          <p:cNvSpPr>
            <a:spLocks noGrp="1"/>
          </p:cNvSpPr>
          <p:nvPr>
            <p:ph type="title"/>
          </p:nvPr>
        </p:nvSpPr>
        <p:spPr>
          <a:xfrm>
            <a:off x="838204" y="365126"/>
            <a:ext cx="10515600" cy="406398"/>
          </a:xfrm>
        </p:spPr>
        <p:txBody>
          <a:bodyPr>
            <a:normAutofit fontScale="90000"/>
          </a:bodyPr>
          <a:p>
            <a:r>
              <a:t> </a:t>
            </a:r>
            <a:r>
              <a:rPr b="1"/>
              <a:t>drug interactions</a:t>
            </a:r>
            <a:endParaRPr b="1"/>
          </a:p>
        </p:txBody>
      </p:sp>
      <p:sp>
        <p:nvSpPr>
          <p:cNvPr id="1049114" name="Content Placeholder 2"/>
          <p:cNvSpPr>
            <a:spLocks noGrp="1"/>
          </p:cNvSpPr>
          <p:nvPr>
            <p:ph idx="1"/>
          </p:nvPr>
        </p:nvSpPr>
        <p:spPr>
          <a:xfrm>
            <a:off x="561970" y="1066804"/>
            <a:ext cx="10791820" cy="5514975"/>
          </a:xfrm>
        </p:spPr>
        <p:txBody>
          <a:bodyPr>
            <a:normAutofit fontScale="85000" lnSpcReduction="20000"/>
          </a:bodyPr>
          <a:p>
            <a:r>
              <a:t>These antibiotics are enzyme (cytochrome p-450) inhibitor hence interact with other drugs at metabolism e.g. theophylline, warfarin, and caffeine. </a:t>
            </a:r>
          </a:p>
          <a:p>
            <a:pPr lvl="1"/>
            <a:r>
              <a:t>Flouroqinolones</a:t>
            </a:r>
            <a:r>
              <a:t> increases serum levels and thus toxicity of </a:t>
            </a:r>
            <a:r>
              <a:t>theophyline</a:t>
            </a:r>
            <a:r>
              <a:t> in asthmatics through inhibition of P450 enzymes</a:t>
            </a:r>
          </a:p>
          <a:p>
            <a:pPr lvl="1"/>
            <a:r>
              <a:t>Oral </a:t>
            </a:r>
            <a:r>
              <a:t>flouroquinolones</a:t>
            </a:r>
            <a:r>
              <a:t> can increase effect of oral anticoagulants by altering the intestinal flora, increasing the risk of bleeding</a:t>
            </a:r>
          </a:p>
          <a:p>
            <a:r>
              <a:t>NSAIDS and quinolones causes an increase in the risk of convulsion.</a:t>
            </a:r>
          </a:p>
          <a:p>
            <a:r>
              <a:t>NSAIDS tends to potentiate the effect.</a:t>
            </a:r>
          </a:p>
          <a:p>
            <a:r>
              <a:t>Aluminium</a:t>
            </a:r>
            <a:r>
              <a:t> and magnesium antacids, iron or zinc preparation sucralfate reduces greatly the oral absorption of </a:t>
            </a:r>
            <a:r>
              <a:t>flouroquinolones</a:t>
            </a:r>
            <a:r>
              <a:t>.</a:t>
            </a:r>
          </a:p>
          <a:p>
            <a:r>
              <a:t>Probenicid</a:t>
            </a:r>
            <a:r>
              <a:t> can reduce the renal excretion of fluroquinolones.</a:t>
            </a:r>
          </a:p>
          <a:p>
            <a:r>
              <a:t> When used concurrently with cimetidine, the cimetidine may interfere with the elimination of the fluoroquinolones </a:t>
            </a:r>
          </a:p>
          <a:p>
            <a:r>
              <a:t>Nitrofurantoin can antagonize the antibacterial activity of </a:t>
            </a:r>
            <a:r>
              <a:t>flouroquinolones</a:t>
            </a:r>
            <a:r>
              <a:t>. </a:t>
            </a:r>
          </a:p>
          <a:p>
            <a:r>
              <a:t>There is a risk of severe cardiac arrhythmias when the fluoroquinolones </a:t>
            </a:r>
            <a:r>
              <a:t>gatifloxacin</a:t>
            </a:r>
            <a:r>
              <a:t> and moxifloxacin are administered with some antiarrhythmic agents and </a:t>
            </a:r>
            <a:r>
              <a:t>coadminstration</a:t>
            </a:r>
            <a:r>
              <a:t> of these drugs should be avoided</a:t>
            </a:r>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926" name=""/>
        <p:cNvGrpSpPr/>
        <p:nvPr/>
      </p:nvGrpSpPr>
      <p:grpSpPr>
        <a:xfrm>
          <a:off x="0" y="0"/>
          <a:ext cx="0" cy="0"/>
          <a:chOff x="0" y="0"/>
          <a:chExt cx="0" cy="0"/>
        </a:xfrm>
      </p:grpSpPr>
      <p:sp>
        <p:nvSpPr>
          <p:cNvPr id="1049115" name="Title 1"/>
          <p:cNvSpPr>
            <a:spLocks noGrp="1"/>
          </p:cNvSpPr>
          <p:nvPr>
            <p:ph type="title"/>
          </p:nvPr>
        </p:nvSpPr>
        <p:spPr>
          <a:xfrm>
            <a:off x="838204" y="365126"/>
            <a:ext cx="10515600" cy="796918"/>
          </a:xfrm>
        </p:spPr>
        <p:txBody>
          <a:bodyPr/>
          <a:p>
            <a:r>
              <a:t>                            </a:t>
            </a:r>
            <a:r>
              <a:rPr b="1"/>
              <a:t>Ciprofloxacin</a:t>
            </a:r>
            <a:endParaRPr b="1"/>
          </a:p>
        </p:txBody>
      </p:sp>
      <p:sp>
        <p:nvSpPr>
          <p:cNvPr id="1049116" name="Content Placeholder 2"/>
          <p:cNvSpPr>
            <a:spLocks noGrp="1"/>
          </p:cNvSpPr>
          <p:nvPr>
            <p:ph idx="1"/>
          </p:nvPr>
        </p:nvSpPr>
        <p:spPr>
          <a:xfrm>
            <a:off x="838204" y="1162045"/>
            <a:ext cx="10515600" cy="5486400"/>
          </a:xfrm>
        </p:spPr>
        <p:txBody>
          <a:bodyPr>
            <a:noAutofit/>
          </a:bodyPr>
          <a:p>
            <a:r>
              <a:t> half life is 3hours</a:t>
            </a:r>
          </a:p>
          <a:p>
            <a:r>
              <a:t>It is mostly effective against gram negative bacteria e.g. salmonella, shigella, Campylobacter,  pseudomonas,  enterobacteria.</a:t>
            </a:r>
          </a:p>
          <a:p>
            <a:r>
              <a:t>It is indicated for chlamydia and some mycobacteria</a:t>
            </a:r>
          </a:p>
          <a:p>
            <a:pPr indent="0" marL="0">
              <a:buNone/>
            </a:pPr>
            <a:r>
              <a:rPr b="1" sz="4000"/>
              <a:t>Indication</a:t>
            </a:r>
            <a:r>
              <a:rPr b="1"/>
              <a:t> </a:t>
            </a:r>
            <a:r>
              <a:t>UTI and genital urinary tract infections. </a:t>
            </a:r>
            <a:r>
              <a:rPr b="1"/>
              <a:t>Respiratory, skin, urinary tract, prostate, intraabdominal, GI tract, bone and joint infections, typhoid fever, gonorrhea, nosocomial pneumonia, Anthrax (inhalation and postexposure)</a:t>
            </a:r>
            <a:endParaRPr b="1"/>
          </a:p>
          <a:p>
            <a:pPr indent="0" marL="0">
              <a:buNone/>
            </a:pPr>
            <a:r>
              <a:rPr b="1" sz="4000"/>
              <a:t>Dosage </a:t>
            </a:r>
            <a:r>
              <a:rPr b="1"/>
              <a:t> </a:t>
            </a:r>
            <a:endParaRPr b="1"/>
          </a:p>
          <a:p>
            <a:r>
              <a:rPr b="1"/>
              <a:t>Oral </a:t>
            </a:r>
            <a:r>
              <a:t>250-750mg bd.</a:t>
            </a:r>
            <a:endParaRPr b="1"/>
          </a:p>
          <a:p>
            <a:r>
              <a:rPr b="1"/>
              <a:t>IV</a:t>
            </a:r>
            <a:r>
              <a:t> infusion (30-60) 200-400mg twice daily.</a:t>
            </a:r>
          </a:p>
          <a:p>
            <a:pPr indent="0" marL="0">
              <a:buNone/>
            </a:pPr>
            <a:r>
              <a:t> </a:t>
            </a:r>
          </a:p>
          <a:p>
            <a:pPr indent="0" marL="0">
              <a:buNone/>
            </a:pPr>
          </a:p>
          <a:p>
            <a:pPr indent="0" marL="0">
              <a:buNone/>
            </a:pPr>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927" name=""/>
        <p:cNvGrpSpPr/>
        <p:nvPr/>
      </p:nvGrpSpPr>
      <p:grpSpPr>
        <a:xfrm>
          <a:off x="0" y="0"/>
          <a:ext cx="0" cy="0"/>
          <a:chOff x="0" y="0"/>
          <a:chExt cx="0" cy="0"/>
        </a:xfrm>
      </p:grpSpPr>
      <p:sp>
        <p:nvSpPr>
          <p:cNvPr id="1049117" name="Title 1"/>
          <p:cNvSpPr>
            <a:spLocks noGrp="1"/>
          </p:cNvSpPr>
          <p:nvPr>
            <p:ph type="title"/>
          </p:nvPr>
        </p:nvSpPr>
        <p:spPr/>
        <p:txBody>
          <a:bodyPr/>
          <a:p>
            <a:r>
              <a:t>Norfloxacin</a:t>
            </a:r>
          </a:p>
        </p:txBody>
      </p:sp>
      <p:sp>
        <p:nvSpPr>
          <p:cNvPr id="1049118" name="Content Placeholder 2"/>
          <p:cNvSpPr>
            <a:spLocks noGrp="1"/>
          </p:cNvSpPr>
          <p:nvPr>
            <p:ph idx="1"/>
          </p:nvPr>
        </p:nvSpPr>
        <p:spPr>
          <a:xfrm>
            <a:off x="838204" y="1466854"/>
            <a:ext cx="10515600" cy="5026018"/>
          </a:xfrm>
        </p:spPr>
        <p:txBody>
          <a:bodyPr>
            <a:normAutofit/>
          </a:bodyPr>
          <a:p>
            <a:r>
              <a:rPr sz="3200"/>
              <a:t>Extensive Gram negative and selected G +</a:t>
            </a:r>
            <a:r>
              <a:rPr sz="3200"/>
              <a:t>ve</a:t>
            </a:r>
            <a:r>
              <a:rPr sz="3200"/>
              <a:t> coverage</a:t>
            </a:r>
            <a:endParaRPr sz="3200"/>
          </a:p>
          <a:p>
            <a:r>
              <a:rPr sz="3200"/>
              <a:t>Indications </a:t>
            </a:r>
            <a:endParaRPr sz="3200"/>
          </a:p>
          <a:p>
            <a:r>
              <a:rPr sz="3200"/>
              <a:t>Urinary tract infection (including complicated UTI), bacterial </a:t>
            </a:r>
            <a:r>
              <a:rPr sz="3200"/>
              <a:t>prostatis</a:t>
            </a:r>
            <a:r>
              <a:rPr sz="3200"/>
              <a:t>, bacteria STDs</a:t>
            </a:r>
            <a:endParaRPr sz="3200"/>
          </a:p>
          <a:p>
            <a:r>
              <a:rPr sz="3200"/>
              <a:t>Dose </a:t>
            </a:r>
            <a:endParaRPr sz="3200"/>
          </a:p>
          <a:p>
            <a:pPr lvl="1"/>
            <a:r>
              <a:rPr sz="2800"/>
              <a:t>400 mg PO q12h; 800 mg as single dose for gonorrhea</a:t>
            </a:r>
            <a:endParaRPr sz="2800"/>
          </a:p>
          <a:p>
            <a:pPr indent="0" marL="0">
              <a:buNone/>
            </a:pPr>
            <a:r>
              <a:rPr sz="3200"/>
              <a:t>Nb </a:t>
            </a:r>
            <a:endParaRPr sz="3200"/>
          </a:p>
          <a:p>
            <a:r>
              <a:rPr sz="3200"/>
              <a:t>Ciprofloxacin, norfloxacin, and ofloxacin are available in ophthalmic forms for infections in the eyes</a:t>
            </a:r>
            <a:endParaRPr sz="3200"/>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928" name=""/>
        <p:cNvGrpSpPr/>
        <p:nvPr/>
      </p:nvGrpSpPr>
      <p:grpSpPr>
        <a:xfrm>
          <a:off x="0" y="0"/>
          <a:ext cx="0" cy="0"/>
          <a:chOff x="0" y="0"/>
          <a:chExt cx="0" cy="0"/>
        </a:xfrm>
      </p:grpSpPr>
      <p:sp>
        <p:nvSpPr>
          <p:cNvPr id="1049119" name="Title 1"/>
          <p:cNvSpPr>
            <a:spLocks noGrp="1"/>
          </p:cNvSpPr>
          <p:nvPr>
            <p:ph type="title"/>
          </p:nvPr>
        </p:nvSpPr>
        <p:spPr/>
        <p:txBody>
          <a:bodyPr/>
          <a:p>
            <a:r>
              <a:rPr b="1" sz="2800">
                <a:solidFill>
                  <a:srgbClr val="000000"/>
                </a:solidFill>
                <a:latin typeface="Calibri"/>
                <a:ea typeface="+mn-ea"/>
                <a:cs typeface="+mn-cs"/>
              </a:rPr>
              <a:t>Interactions Medication/Food Interactions Nursing Interventions/Client Education </a:t>
            </a:r>
            <a:endParaRPr b="1"/>
          </a:p>
        </p:txBody>
      </p:sp>
      <p:sp>
        <p:nvSpPr>
          <p:cNvPr id="1049120" name="Content Placeholder 2"/>
          <p:cNvSpPr>
            <a:spLocks noGrp="1"/>
          </p:cNvSpPr>
          <p:nvPr>
            <p:ph idx="1"/>
          </p:nvPr>
        </p:nvSpPr>
        <p:spPr/>
        <p:txBody>
          <a:bodyPr>
            <a:normAutofit fontScale="92500"/>
          </a:bodyPr>
          <a:p>
            <a:r>
              <a:t> </a:t>
            </a:r>
            <a:r>
              <a:rPr b="1"/>
              <a:t>Cationic compounds (aluminum-magnesium antacids, iron salts, sucralfate, milk and dairy products) decrease absorption of ciprofloxacin;</a:t>
            </a:r>
            <a:endParaRPr b="1"/>
          </a:p>
          <a:p>
            <a:pPr indent="0" marL="0">
              <a:buNone/>
            </a:pPr>
            <a:r>
              <a:t> Administer cationic compounds 6 hrs. before or 2 hrs after ciprofloxacin</a:t>
            </a:r>
          </a:p>
          <a:p>
            <a:r>
              <a:t> </a:t>
            </a:r>
            <a:r>
              <a:rPr b="1"/>
              <a:t>Plasma levels of theophylline  can be the increased with concurrent use of ciprofloxacin;</a:t>
            </a:r>
            <a:endParaRPr b="1"/>
          </a:p>
          <a:p>
            <a:pPr indent="0" marL="0">
              <a:buNone/>
            </a:pPr>
            <a:r>
              <a:t> Monitor levels and adjust dosage accordingly.</a:t>
            </a:r>
          </a:p>
          <a:p>
            <a:r>
              <a:t> </a:t>
            </a:r>
            <a:r>
              <a:rPr b="1"/>
              <a:t>Plasma levels of warfarin  can be increased with concurrent use of ciprofloxacin; </a:t>
            </a:r>
            <a:endParaRPr b="1"/>
          </a:p>
          <a:p>
            <a:pPr indent="0" marL="0">
              <a:buNone/>
            </a:pPr>
            <a:r>
              <a:t> Monitor prothrombin time and INR, and adjust the dosage of warfarin accordingly.</a:t>
            </a:r>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929" name=""/>
        <p:cNvGrpSpPr/>
        <p:nvPr/>
      </p:nvGrpSpPr>
      <p:grpSpPr>
        <a:xfrm>
          <a:off x="0" y="0"/>
          <a:ext cx="0" cy="0"/>
          <a:chOff x="0" y="0"/>
          <a:chExt cx="0" cy="0"/>
        </a:xfrm>
      </p:grpSpPr>
      <p:sp>
        <p:nvSpPr>
          <p:cNvPr id="1049121" name="Title 1"/>
          <p:cNvSpPr>
            <a:spLocks noGrp="1"/>
          </p:cNvSpPr>
          <p:nvPr>
            <p:ph type="title"/>
          </p:nvPr>
        </p:nvSpPr>
        <p:spPr>
          <a:xfrm>
            <a:off x="838204" y="365126"/>
            <a:ext cx="10515600" cy="873128"/>
          </a:xfrm>
        </p:spPr>
        <p:txBody>
          <a:bodyPr>
            <a:normAutofit fontScale="90000"/>
          </a:bodyPr>
          <a:p>
            <a:pPr indent="-228600" marL="228600"/>
            <a:r>
              <a:rPr sz="2600">
                <a:solidFill>
                  <a:srgbClr val="000000"/>
                </a:solidFill>
                <a:latin typeface="Calibri"/>
                <a:ea typeface="+mn-ea"/>
                <a:cs typeface="+mn-cs"/>
              </a:rPr>
              <a:t>                                                                                                                                                                                                                                             </a:t>
            </a:r>
            <a:r>
              <a:rPr b="1" sz="3100">
                <a:solidFill>
                  <a:srgbClr val="000000"/>
                </a:solidFill>
                <a:latin typeface="Calibri"/>
                <a:ea typeface="+mn-ea"/>
                <a:cs typeface="+mn-cs"/>
              </a:rPr>
              <a:t>Nursing Administration </a:t>
            </a:r>
            <a:br>
              <a:rPr sz="2600">
                <a:solidFill>
                  <a:srgbClr val="000000"/>
                </a:solidFill>
                <a:ea typeface="+mn-ea"/>
                <a:cs typeface="+mn-cs"/>
              </a:rPr>
            </a:br>
          </a:p>
        </p:txBody>
      </p:sp>
      <p:sp>
        <p:nvSpPr>
          <p:cNvPr id="1049122" name="Content Placeholder 2"/>
          <p:cNvSpPr>
            <a:spLocks noGrp="1"/>
          </p:cNvSpPr>
          <p:nvPr>
            <p:ph idx="1"/>
          </p:nvPr>
        </p:nvSpPr>
        <p:spPr>
          <a:xfrm>
            <a:off x="838204" y="1333495"/>
            <a:ext cx="10515600" cy="5248270"/>
          </a:xfrm>
        </p:spPr>
        <p:txBody>
          <a:bodyPr>
            <a:normAutofit/>
          </a:bodyPr>
          <a:p>
            <a:pPr indent="0" marL="0">
              <a:buNone/>
            </a:pPr>
            <a:r>
              <a:t> </a:t>
            </a:r>
            <a:r>
              <a:rPr sz="3600"/>
              <a:t>Ciprofloxacin is available in oral and intravenous forms. </a:t>
            </a:r>
            <a:endParaRPr sz="3600"/>
          </a:p>
          <a:p>
            <a:pPr lvl="1"/>
            <a:r>
              <a:rPr sz="3200"/>
              <a:t>Decrease doses of ciprofloxacin in clients with renal dysfunction.</a:t>
            </a:r>
            <a:endParaRPr sz="3200"/>
          </a:p>
          <a:p>
            <a:pPr lvl="1"/>
            <a:r>
              <a:rPr sz="3200"/>
              <a:t>Intravenous ciprofloxacin should be administered slowly over 60 min.  </a:t>
            </a:r>
            <a:endParaRPr sz="3200"/>
          </a:p>
          <a:p>
            <a:r>
              <a:rPr sz="3600"/>
              <a:t>For inhalation anthrax infection, ciprofloxacin is administered every 12 hrs for 60 days. </a:t>
            </a:r>
            <a:endParaRPr sz="3600"/>
          </a:p>
          <a:p>
            <a:r>
              <a:rPr sz="3600"/>
              <a:t> Instruct clients to complete the prescribed course of antimicrobial therapy, even though symptoms may resolve before the full  course is completed.    </a:t>
            </a:r>
            <a:endParaRPr sz="3600"/>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930" name=""/>
        <p:cNvGrpSpPr/>
        <p:nvPr/>
      </p:nvGrpSpPr>
      <p:grpSpPr>
        <a:xfrm>
          <a:off x="0" y="0"/>
          <a:ext cx="0" cy="0"/>
          <a:chOff x="0" y="0"/>
          <a:chExt cx="0" cy="0"/>
        </a:xfrm>
      </p:grpSpPr>
      <p:sp>
        <p:nvSpPr>
          <p:cNvPr id="1049123" name="Title 1"/>
          <p:cNvSpPr>
            <a:spLocks noGrp="1"/>
          </p:cNvSpPr>
          <p:nvPr>
            <p:ph type="title"/>
          </p:nvPr>
        </p:nvSpPr>
        <p:spPr>
          <a:xfrm>
            <a:off x="838204" y="365126"/>
            <a:ext cx="10515600" cy="758828"/>
          </a:xfrm>
        </p:spPr>
        <p:txBody>
          <a:bodyPr/>
          <a:p>
            <a:r>
              <a:rPr b="1"/>
              <a:t>                            MACROLIDES</a:t>
            </a:r>
            <a:endParaRPr b="1"/>
          </a:p>
        </p:txBody>
      </p:sp>
      <p:sp>
        <p:nvSpPr>
          <p:cNvPr id="1049124" name="Content Placeholder 2"/>
          <p:cNvSpPr>
            <a:spLocks noGrp="1"/>
          </p:cNvSpPr>
          <p:nvPr>
            <p:ph idx="1"/>
          </p:nvPr>
        </p:nvSpPr>
        <p:spPr>
          <a:xfrm>
            <a:off x="485775" y="1257300"/>
            <a:ext cx="11296654" cy="5457825"/>
          </a:xfrm>
        </p:spPr>
        <p:txBody>
          <a:bodyPr>
            <a:normAutofit fontScale="92500" lnSpcReduction="10000"/>
          </a:bodyPr>
          <a:p>
            <a:r>
              <a:rPr>
                <a:solidFill>
                  <a:srgbClr val="FF0000"/>
                </a:solidFill>
              </a:rPr>
              <a:t>Macrolides are often used as an alternative drugs to beta lactams in patients with allergies to beta lactams. </a:t>
            </a:r>
            <a:endParaRPr>
              <a:solidFill>
                <a:srgbClr val="FF0000"/>
              </a:solidFill>
            </a:endParaRPr>
          </a:p>
          <a:p>
            <a:r>
              <a:t>These broad spectrum antimicrobials including;</a:t>
            </a:r>
          </a:p>
          <a:p>
            <a:pPr lvl="1"/>
            <a:r>
              <a:t>Erythromycin</a:t>
            </a:r>
          </a:p>
          <a:p>
            <a:pPr lvl="1"/>
            <a:r>
              <a:t>Azithromycin</a:t>
            </a:r>
          </a:p>
          <a:p>
            <a:pPr lvl="1"/>
            <a:r>
              <a:t>Spiramycin</a:t>
            </a:r>
          </a:p>
          <a:p>
            <a:pPr lvl="1"/>
            <a:r>
              <a:t>Clarithromycin</a:t>
            </a:r>
          </a:p>
          <a:p>
            <a:pPr indent="0" marL="0">
              <a:buNone/>
            </a:pPr>
            <a:r>
              <a:rPr b="1" sz="4000"/>
              <a:t>Pharmacodynamics;</a:t>
            </a:r>
            <a:r>
              <a:t> they </a:t>
            </a:r>
            <a:r>
              <a:rPr b="1"/>
              <a:t>inhibit protein synthesis </a:t>
            </a:r>
            <a:r>
              <a:t>by irreversibly binding to ribosomal 50s sub unit of the sensitive micro-organism hence they are </a:t>
            </a:r>
            <a:r>
              <a:rPr b="1"/>
              <a:t>bacteriostatic.</a:t>
            </a:r>
            <a:endParaRPr b="1"/>
          </a:p>
          <a:p>
            <a:pPr indent="0" marL="0">
              <a:buNone/>
            </a:pPr>
            <a:r>
              <a:t>However in high concentration they may be bactericidal in susceptible bacteria. </a:t>
            </a:r>
          </a:p>
          <a:p>
            <a:pPr indent="0" marL="0">
              <a:buNone/>
            </a:pPr>
            <a:r>
              <a:rPr sz="3000"/>
              <a:t>Example azithromycin is bactericidal against </a:t>
            </a:r>
            <a:r>
              <a:rPr b="1" sz="3000"/>
              <a:t>streptococcus pyogenes, streptococcus pneumonia and hemophilus influenza</a:t>
            </a:r>
            <a:endParaRPr b="1" sz="3000"/>
          </a:p>
          <a:p>
            <a:pPr indent="0" marL="0">
              <a:buNone/>
            </a:pPr>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931" name=""/>
        <p:cNvGrpSpPr/>
        <p:nvPr/>
      </p:nvGrpSpPr>
      <p:grpSpPr>
        <a:xfrm>
          <a:off x="0" y="0"/>
          <a:ext cx="0" cy="0"/>
          <a:chOff x="0" y="0"/>
          <a:chExt cx="0" cy="0"/>
        </a:xfrm>
      </p:grpSpPr>
      <p:sp>
        <p:nvSpPr>
          <p:cNvPr id="1049125" name="Title 1"/>
          <p:cNvSpPr>
            <a:spLocks noGrp="1"/>
          </p:cNvSpPr>
          <p:nvPr>
            <p:ph type="title"/>
          </p:nvPr>
        </p:nvSpPr>
        <p:spPr>
          <a:xfrm>
            <a:off x="838204" y="365126"/>
            <a:ext cx="10515600" cy="806448"/>
          </a:xfrm>
        </p:spPr>
        <p:txBody>
          <a:bodyPr/>
          <a:p>
            <a:r>
              <a:t>Antibacterial spectrum </a:t>
            </a:r>
          </a:p>
        </p:txBody>
      </p:sp>
      <p:sp>
        <p:nvSpPr>
          <p:cNvPr id="1049126" name="Content Placeholder 2"/>
          <p:cNvSpPr>
            <a:spLocks noGrp="1"/>
          </p:cNvSpPr>
          <p:nvPr>
            <p:ph idx="1"/>
          </p:nvPr>
        </p:nvSpPr>
        <p:spPr>
          <a:xfrm>
            <a:off x="438154" y="1323979"/>
            <a:ext cx="11277595" cy="5391145"/>
          </a:xfrm>
        </p:spPr>
        <p:txBody>
          <a:bodyPr>
            <a:normAutofit/>
          </a:bodyPr>
          <a:p>
            <a:r>
              <a:t>Antimicrobial spectrum of erythromycin is very similar to that of </a:t>
            </a:r>
            <a:r>
              <a:t>penicillins</a:t>
            </a:r>
            <a:r>
              <a:t> and </a:t>
            </a:r>
            <a:r>
              <a:rPr b="1"/>
              <a:t>it is a safe and effective alternative for penicillin-sensitive patients</a:t>
            </a:r>
            <a:r>
              <a:t>. </a:t>
            </a:r>
          </a:p>
          <a:p>
            <a:r>
              <a:rPr b="1"/>
              <a:t>Erythromycin is effective against gram-positive bacteria and spirochaetes </a:t>
            </a:r>
            <a:r>
              <a:rPr>
                <a:solidFill>
                  <a:srgbClr val="FF0000"/>
                </a:solidFill>
              </a:rPr>
              <a:t>but not against most gram negative bacteria except (</a:t>
            </a:r>
            <a:r>
              <a:rPr>
                <a:solidFill>
                  <a:srgbClr val="FF0000"/>
                </a:solidFill>
              </a:rPr>
              <a:t>N.gonnorrhoea</a:t>
            </a:r>
            <a:r>
              <a:rPr>
                <a:solidFill>
                  <a:srgbClr val="FF0000"/>
                </a:solidFill>
              </a:rPr>
              <a:t>, mild </a:t>
            </a:r>
            <a:r>
              <a:rPr>
                <a:solidFill>
                  <a:srgbClr val="FF0000"/>
                </a:solidFill>
              </a:rPr>
              <a:t>effectH.influenza</a:t>
            </a:r>
            <a:r>
              <a:rPr>
                <a:solidFill>
                  <a:srgbClr val="FF0000"/>
                </a:solidFill>
              </a:rPr>
              <a:t>), </a:t>
            </a:r>
            <a:r>
              <a:t>Mycoplasma pneumonia, legionella and some chlamydial micro-organisms. </a:t>
            </a:r>
          </a:p>
          <a:p>
            <a:r>
              <a:rPr>
                <a:solidFill>
                  <a:srgbClr val="FF0000"/>
                </a:solidFill>
              </a:rPr>
              <a:t>Azithromycin is less active against gram +VE bacteria </a:t>
            </a:r>
            <a:r>
              <a:t>than erythromycin </a:t>
            </a:r>
            <a:r>
              <a:rPr b="1"/>
              <a:t>but more effective against </a:t>
            </a:r>
            <a:r>
              <a:rPr b="1"/>
              <a:t>H.influenza</a:t>
            </a:r>
            <a:r>
              <a:rPr b="1"/>
              <a:t>.  it has excellent action against toxoplasma </a:t>
            </a:r>
            <a:r>
              <a:rPr b="1"/>
              <a:t>gondii,killing</a:t>
            </a:r>
            <a:r>
              <a:rPr b="1"/>
              <a:t> the cysts</a:t>
            </a:r>
            <a:r>
              <a:t>. </a:t>
            </a:r>
          </a:p>
          <a:p>
            <a:r>
              <a:t>Clarithromycin is active against </a:t>
            </a:r>
            <a:r>
              <a:t>H.influenza</a:t>
            </a:r>
            <a:r>
              <a:t> and its metabolite is twice as active as </a:t>
            </a:r>
            <a:r>
              <a:t>erthromycin</a:t>
            </a:r>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932" name=""/>
        <p:cNvGrpSpPr/>
        <p:nvPr/>
      </p:nvGrpSpPr>
      <p:grpSpPr>
        <a:xfrm>
          <a:off x="0" y="0"/>
          <a:ext cx="0" cy="0"/>
          <a:chOff x="0" y="0"/>
          <a:chExt cx="0" cy="0"/>
        </a:xfrm>
      </p:grpSpPr>
      <p:sp>
        <p:nvSpPr>
          <p:cNvPr id="1049127" name="Title 1"/>
          <p:cNvSpPr>
            <a:spLocks noGrp="1"/>
          </p:cNvSpPr>
          <p:nvPr>
            <p:ph type="title"/>
          </p:nvPr>
        </p:nvSpPr>
        <p:spPr>
          <a:xfrm>
            <a:off x="838204" y="365126"/>
            <a:ext cx="10515600" cy="882643"/>
          </a:xfrm>
        </p:spPr>
        <p:txBody>
          <a:bodyPr/>
          <a:p>
            <a:r>
              <a:rPr b="1"/>
              <a:t>                        pharmacokinetics</a:t>
            </a:r>
            <a:endParaRPr b="1"/>
          </a:p>
        </p:txBody>
      </p:sp>
      <p:sp>
        <p:nvSpPr>
          <p:cNvPr id="1049128" name="Content Placeholder 2"/>
          <p:cNvSpPr>
            <a:spLocks noGrp="1"/>
          </p:cNvSpPr>
          <p:nvPr>
            <p:ph idx="1"/>
          </p:nvPr>
        </p:nvSpPr>
        <p:spPr>
          <a:xfrm>
            <a:off x="333370" y="1247770"/>
            <a:ext cx="11334745" cy="5448295"/>
          </a:xfrm>
        </p:spPr>
        <p:txBody>
          <a:bodyPr>
            <a:normAutofit fontScale="85000" lnSpcReduction="20000"/>
          </a:bodyPr>
          <a:p>
            <a:r>
              <a:t>They can be administered orally </a:t>
            </a:r>
            <a:r>
              <a:rPr b="1"/>
              <a:t>though erythromycin is unstable in acidic environment. </a:t>
            </a:r>
            <a:endParaRPr b="1"/>
          </a:p>
          <a:p>
            <a:r>
              <a:t>Absorption of oral erythromycin is enhanced on an empty stomach, but because of its irritant effects it is taken after a meal. </a:t>
            </a:r>
          </a:p>
          <a:p>
            <a:r>
              <a:t>Erythromycin can also be given parenterally, but intravenous injections might result in local thrombophlebitis.</a:t>
            </a:r>
            <a:endParaRPr b="1"/>
          </a:p>
          <a:p>
            <a:r>
              <a:rPr b="1"/>
              <a:t>Distribution:  </a:t>
            </a:r>
            <a:endParaRPr b="1"/>
          </a:p>
          <a:p>
            <a:pPr lvl="1"/>
            <a:r>
              <a:t>Diffuse into most tissues but do not cross the blood brain barrier </a:t>
            </a:r>
          </a:p>
          <a:p>
            <a:pPr lvl="1"/>
            <a:r>
              <a:t>There is poor penetration into synovial fluid. </a:t>
            </a:r>
          </a:p>
          <a:p>
            <a:pPr lvl="1"/>
            <a:r>
              <a:t>Highly bound to plasma proteins. </a:t>
            </a:r>
          </a:p>
          <a:p>
            <a:pPr lvl="1"/>
            <a:r>
              <a:t>Enter and concentrate in phagocytes  </a:t>
            </a:r>
          </a:p>
          <a:p>
            <a:r>
              <a:rPr b="1"/>
              <a:t>Metabolism </a:t>
            </a:r>
            <a:r>
              <a:t>is in the liver and have variable half life.</a:t>
            </a:r>
          </a:p>
          <a:p>
            <a:pPr indent="0" marL="0">
              <a:buNone/>
            </a:pPr>
            <a:r>
              <a:t>E.g. clarithromycin has4.5 hours , azithromycin less than 3.5 hours and erythromycin has1.4 to 2 hours.</a:t>
            </a:r>
          </a:p>
          <a:p>
            <a:pPr indent="0" marL="0">
              <a:buNone/>
            </a:pPr>
            <a:r>
              <a:t>(clarithromycin is converted into an active metabolite) </a:t>
            </a:r>
          </a:p>
          <a:p>
            <a:pPr indent="0" marL="0">
              <a:buNone/>
            </a:pPr>
            <a:r>
              <a:rPr b="1"/>
              <a:t>Elimination </a:t>
            </a:r>
            <a:r>
              <a:t>: Mainly eliminated in the bile.</a:t>
            </a:r>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933" name=""/>
        <p:cNvGrpSpPr/>
        <p:nvPr/>
      </p:nvGrpSpPr>
      <p:grpSpPr>
        <a:xfrm>
          <a:off x="0" y="0"/>
          <a:ext cx="0" cy="0"/>
          <a:chOff x="0" y="0"/>
          <a:chExt cx="0" cy="0"/>
        </a:xfrm>
      </p:grpSpPr>
      <p:sp>
        <p:nvSpPr>
          <p:cNvPr id="1049129" name="Content Placeholder 2"/>
          <p:cNvSpPr>
            <a:spLocks noGrp="1"/>
          </p:cNvSpPr>
          <p:nvPr>
            <p:ph idx="1"/>
          </p:nvPr>
        </p:nvSpPr>
        <p:spPr>
          <a:xfrm>
            <a:off x="581029" y="419095"/>
            <a:ext cx="11296654" cy="6172200"/>
          </a:xfrm>
        </p:spPr>
        <p:txBody>
          <a:bodyPr>
            <a:normAutofit/>
          </a:bodyPr>
          <a:p>
            <a:pPr indent="0" marL="0">
              <a:buNone/>
            </a:pPr>
            <a:r>
              <a:rPr b="1"/>
              <a:t>Therapeutic Uses/indication </a:t>
            </a:r>
            <a:endParaRPr b="1"/>
          </a:p>
          <a:p>
            <a:r>
              <a:t>Used to treat infections in </a:t>
            </a:r>
            <a:r>
              <a:rPr b="1"/>
              <a:t>clients with a penicillin allergy</a:t>
            </a:r>
            <a:r>
              <a:t>, such as for </a:t>
            </a:r>
            <a:r>
              <a:rPr b="1"/>
              <a:t>prophylaxis against rheumatic fever </a:t>
            </a:r>
            <a:r>
              <a:t>and</a:t>
            </a:r>
            <a:r>
              <a:rPr b="1"/>
              <a:t> bacterial endocarditis</a:t>
            </a:r>
            <a:r>
              <a:t>. (Treatment of upper and lower respiratory tract infection caused by streptococcus and H. influenza)</a:t>
            </a:r>
          </a:p>
          <a:p>
            <a:r>
              <a:t> Used for clients </a:t>
            </a:r>
            <a:r>
              <a:rPr b="1"/>
              <a:t>with Legionnaires’ disease, whooping cough </a:t>
            </a:r>
            <a:r>
              <a:t>(pertussis), </a:t>
            </a:r>
            <a:r>
              <a:rPr b="1"/>
              <a:t>and acute diphtheria </a:t>
            </a:r>
            <a:r>
              <a:t>(eliminates the carrier state of diphtheria) .</a:t>
            </a:r>
          </a:p>
          <a:p>
            <a:r>
              <a:t> Used for chlamydia infections (</a:t>
            </a:r>
            <a:r>
              <a:rPr b="1"/>
              <a:t>urethritis and cervicitis; pneumonia </a:t>
            </a:r>
            <a:r>
              <a:t>caused by Mycoplasma pneumoniae</a:t>
            </a:r>
            <a:r>
              <a:rPr b="1"/>
              <a:t>; respiratory tract infections</a:t>
            </a:r>
            <a:r>
              <a:t> caused by </a:t>
            </a:r>
            <a:r>
              <a:rPr b="1"/>
              <a:t>Streptococcus pneumoniae and Neisseria gonorrhea.</a:t>
            </a:r>
            <a:endParaRPr b="1"/>
          </a:p>
          <a:p>
            <a:r>
              <a:rPr b="1"/>
              <a:t>Spirochaetal</a:t>
            </a:r>
            <a:r>
              <a:rPr b="1"/>
              <a:t> infection </a:t>
            </a:r>
            <a:r>
              <a:t>such as syphilis and </a:t>
            </a:r>
            <a:r>
              <a:t>lyme</a:t>
            </a:r>
            <a:r>
              <a:t> disease, </a:t>
            </a:r>
            <a:r>
              <a:t>corynobacterium</a:t>
            </a:r>
            <a:r>
              <a:t> infections, Listeria monocytogenes</a:t>
            </a:r>
            <a:endParaRPr b="1"/>
          </a:p>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934" name=""/>
        <p:cNvGrpSpPr/>
        <p:nvPr/>
      </p:nvGrpSpPr>
      <p:grpSpPr>
        <a:xfrm>
          <a:off x="0" y="0"/>
          <a:ext cx="0" cy="0"/>
          <a:chOff x="0" y="0"/>
          <a:chExt cx="0" cy="0"/>
        </a:xfrm>
      </p:grpSpPr>
      <p:sp>
        <p:nvSpPr>
          <p:cNvPr id="1049130" name="Title 1"/>
          <p:cNvSpPr>
            <a:spLocks noGrp="1"/>
          </p:cNvSpPr>
          <p:nvPr>
            <p:ph type="title"/>
          </p:nvPr>
        </p:nvSpPr>
        <p:spPr/>
        <p:txBody>
          <a:bodyPr/>
          <a:p>
            <a:r>
              <a:rPr b="1"/>
              <a:t>Therapeutic Uses/indication </a:t>
            </a:r>
          </a:p>
        </p:txBody>
      </p:sp>
      <p:sp>
        <p:nvSpPr>
          <p:cNvPr id="1049131" name="Content Placeholder 2"/>
          <p:cNvSpPr>
            <a:spLocks noGrp="1"/>
          </p:cNvSpPr>
          <p:nvPr>
            <p:ph idx="1"/>
          </p:nvPr>
        </p:nvSpPr>
        <p:spPr>
          <a:xfrm>
            <a:off x="838204" y="1552579"/>
            <a:ext cx="10515600" cy="5133970"/>
          </a:xfrm>
        </p:spPr>
        <p:txBody>
          <a:bodyPr>
            <a:normAutofit fontScale="92500"/>
          </a:bodyPr>
          <a:p>
            <a:r>
              <a:rPr sz="3200"/>
              <a:t>Azithromycin and clarithromycin are used in treatment of mycobacterium avium complex (MAC) infections associated with HIV</a:t>
            </a:r>
            <a:endParaRPr sz="3200"/>
          </a:p>
          <a:p>
            <a:r>
              <a:rPr b="1" sz="3200"/>
              <a:t>Clarithromycin in combination with omeprazole </a:t>
            </a:r>
            <a:r>
              <a:rPr sz="3200"/>
              <a:t>used treatment of patients with active ulcers associated with </a:t>
            </a:r>
            <a:r>
              <a:rPr b="1" sz="3200"/>
              <a:t>H. pylori. </a:t>
            </a:r>
            <a:endParaRPr b="1" sz="3200"/>
          </a:p>
          <a:p>
            <a:r>
              <a:rPr b="1" sz="3200"/>
              <a:t>Erythromycin used to increase gastric motility in conditions such as delayed gastric emptying </a:t>
            </a:r>
            <a:r>
              <a:rPr sz="3200"/>
              <a:t>e.g</a:t>
            </a:r>
            <a:r>
              <a:rPr sz="3200"/>
              <a:t> diabetic gastroparesis. </a:t>
            </a:r>
            <a:endParaRPr sz="3200"/>
          </a:p>
          <a:p>
            <a:r>
              <a:rPr sz="3200"/>
              <a:t>Erythromycin Also has some benefit for facilitating passage of feeding tubes from the stomach into the small bowel. How? The irritant effect stimulates GI smooth </a:t>
            </a:r>
            <a:r>
              <a:rPr sz="3200"/>
              <a:t>muscle,inducing</a:t>
            </a:r>
            <a:r>
              <a:rPr sz="3200"/>
              <a:t> gastric motility</a:t>
            </a:r>
            <a:endParaRPr b="1" sz="3200"/>
          </a:p>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935" name=""/>
        <p:cNvGrpSpPr/>
        <p:nvPr/>
      </p:nvGrpSpPr>
      <p:grpSpPr>
        <a:xfrm>
          <a:off x="0" y="0"/>
          <a:ext cx="0" cy="0"/>
          <a:chOff x="0" y="0"/>
          <a:chExt cx="0" cy="0"/>
        </a:xfrm>
      </p:grpSpPr>
      <p:sp>
        <p:nvSpPr>
          <p:cNvPr id="1049132" name="Content Placeholder 2"/>
          <p:cNvSpPr>
            <a:spLocks noGrp="1"/>
          </p:cNvSpPr>
          <p:nvPr>
            <p:ph idx="1"/>
          </p:nvPr>
        </p:nvSpPr>
        <p:spPr>
          <a:xfrm>
            <a:off x="400050" y="281354"/>
            <a:ext cx="10953754" cy="6471874"/>
          </a:xfrm>
        </p:spPr>
        <p:txBody>
          <a:bodyPr>
            <a:normAutofit/>
          </a:bodyPr>
          <a:p>
            <a:pPr indent="0" marL="0">
              <a:buNone/>
            </a:pPr>
            <a:r>
              <a:rPr b="1" sz="3600"/>
              <a:t>Complications /Side/Adverse Effects</a:t>
            </a:r>
            <a:r>
              <a:rPr sz="3600"/>
              <a:t>; Nursing Interventions/Client Education</a:t>
            </a:r>
            <a:endParaRPr sz="3600"/>
          </a:p>
          <a:p>
            <a:r>
              <a:t> </a:t>
            </a:r>
            <a:r>
              <a:rPr b="1"/>
              <a:t>Gastrointestinal discomfort</a:t>
            </a:r>
            <a:endParaRPr b="1"/>
          </a:p>
          <a:p>
            <a:pPr lvl="1"/>
            <a:r>
              <a:t>(nausea, vomiting, epigastric pain/</a:t>
            </a:r>
            <a:r>
              <a:t>heartburn,diarrhea</a:t>
            </a:r>
            <a:r>
              <a:t>, flatulence, anorexia)  Administer erythromycin with meals. </a:t>
            </a:r>
          </a:p>
          <a:p>
            <a:pPr lvl="1"/>
            <a:r>
              <a:t>Observe for GI symptoms and notify the provider. </a:t>
            </a:r>
          </a:p>
          <a:p>
            <a:pPr lvl="1"/>
            <a:r>
              <a:t>Opportunistic infections of the gastrointestinal tract or vagina can occur</a:t>
            </a:r>
          </a:p>
          <a:p>
            <a:r>
              <a:rPr b="1"/>
              <a:t>Hepatotoxicity</a:t>
            </a:r>
            <a:r>
              <a:t> (abdominal pain, lethargy, jaundice) . Instruct clients to notify the provider because the medication should be discontinued. </a:t>
            </a:r>
          </a:p>
          <a:p>
            <a:pPr lvl="1"/>
            <a:r>
              <a:t>CVS- Prolonged QT interval causing dysrhythmias and possible sudden cardiac death. Use in clients with prolonged QT intervals is not recommended. </a:t>
            </a:r>
          </a:p>
          <a:p>
            <a:pPr lvl="1"/>
            <a:r>
              <a:t>Palpitations</a:t>
            </a:r>
          </a:p>
          <a:p>
            <a:pPr lvl="1"/>
            <a:r>
              <a:t>Thrombophlebitis (IV site) </a:t>
            </a:r>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936" name=""/>
        <p:cNvGrpSpPr/>
        <p:nvPr/>
      </p:nvGrpSpPr>
      <p:grpSpPr>
        <a:xfrm>
          <a:off x="0" y="0"/>
          <a:ext cx="0" cy="0"/>
          <a:chOff x="0" y="0"/>
          <a:chExt cx="0" cy="0"/>
        </a:xfrm>
      </p:grpSpPr>
      <p:sp>
        <p:nvSpPr>
          <p:cNvPr id="1049133" name="Title 1"/>
          <p:cNvSpPr>
            <a:spLocks noGrp="1"/>
          </p:cNvSpPr>
          <p:nvPr>
            <p:ph type="title"/>
          </p:nvPr>
        </p:nvSpPr>
        <p:spPr/>
        <p:txBody>
          <a:bodyPr/>
          <a:p>
            <a:r>
              <a:rPr b="1" sz="4400"/>
              <a:t>Complications /Side/Adverse Effects</a:t>
            </a:r>
            <a:r>
              <a:rPr sz="4400"/>
              <a:t>;</a:t>
            </a:r>
          </a:p>
        </p:txBody>
      </p:sp>
      <p:sp>
        <p:nvSpPr>
          <p:cNvPr id="1049134" name="Content Placeholder 2"/>
          <p:cNvSpPr>
            <a:spLocks noGrp="1"/>
          </p:cNvSpPr>
          <p:nvPr>
            <p:ph idx="1"/>
          </p:nvPr>
        </p:nvSpPr>
        <p:spPr>
          <a:xfrm>
            <a:off x="838204" y="1581154"/>
            <a:ext cx="10515600" cy="4911718"/>
          </a:xfrm>
        </p:spPr>
        <p:txBody>
          <a:bodyPr/>
          <a:p>
            <a:r>
              <a:rPr sz="3200"/>
              <a:t>Erythromycin is also associated with hypersensitivity reactions </a:t>
            </a:r>
            <a:r>
              <a:rPr sz="3200"/>
              <a:t>e.g</a:t>
            </a:r>
            <a:r>
              <a:rPr sz="3200"/>
              <a:t> skin rashes, fever, transient hearing disturbances and rarely cholestatic jaundice if treatment is longer than 2 weeks </a:t>
            </a:r>
            <a:endParaRPr sz="3200"/>
          </a:p>
          <a:p>
            <a:r>
              <a:rPr sz="3200"/>
              <a:t>Hearing </a:t>
            </a:r>
            <a:r>
              <a:rPr sz="3200"/>
              <a:t>loss,tinnitus</a:t>
            </a:r>
            <a:r>
              <a:rPr sz="3200"/>
              <a:t> </a:t>
            </a:r>
            <a:endParaRPr sz="3200"/>
          </a:p>
          <a:p>
            <a:r>
              <a:rPr sz="3200"/>
              <a:t>CNS-Headache, dizziness, vertigo, somnolence</a:t>
            </a:r>
            <a:endParaRPr sz="3200"/>
          </a:p>
          <a:p>
            <a:pPr indent="0" marL="0">
              <a:buNone/>
            </a:pPr>
            <a:r>
              <a:rPr b="1" sz="3200"/>
              <a:t> Contraindications/Precautions.</a:t>
            </a:r>
            <a:endParaRPr b="1" sz="3200"/>
          </a:p>
          <a:p>
            <a:r>
              <a:rPr sz="3200"/>
              <a:t>pre-existing liver disease</a:t>
            </a:r>
            <a:endParaRPr sz="3200"/>
          </a:p>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937" name=""/>
        <p:cNvGrpSpPr/>
        <p:nvPr/>
      </p:nvGrpSpPr>
      <p:grpSpPr>
        <a:xfrm>
          <a:off x="0" y="0"/>
          <a:ext cx="0" cy="0"/>
          <a:chOff x="0" y="0"/>
          <a:chExt cx="0" cy="0"/>
        </a:xfrm>
      </p:grpSpPr>
      <p:sp>
        <p:nvSpPr>
          <p:cNvPr id="1049135" name="Title 1"/>
          <p:cNvSpPr>
            <a:spLocks noGrp="1"/>
          </p:cNvSpPr>
          <p:nvPr>
            <p:ph type="title"/>
          </p:nvPr>
        </p:nvSpPr>
        <p:spPr/>
        <p:txBody>
          <a:bodyPr/>
          <a:p>
            <a:r>
              <a:t>Potential interactions </a:t>
            </a:r>
          </a:p>
        </p:txBody>
      </p:sp>
      <p:sp>
        <p:nvSpPr>
          <p:cNvPr id="1049136" name="Content Placeholder 2"/>
          <p:cNvSpPr>
            <a:spLocks noGrp="1"/>
          </p:cNvSpPr>
          <p:nvPr>
            <p:ph idx="1"/>
          </p:nvPr>
        </p:nvSpPr>
        <p:spPr>
          <a:xfrm>
            <a:off x="381004" y="1476370"/>
            <a:ext cx="11325229" cy="4700587"/>
          </a:xfrm>
        </p:spPr>
        <p:txBody>
          <a:bodyPr/>
          <a:p>
            <a:r>
              <a:rPr sz="4000"/>
              <a:t>Macrolides enhances the effects of </a:t>
            </a:r>
            <a:r>
              <a:rPr sz="4000"/>
              <a:t>carbamezipine</a:t>
            </a:r>
            <a:r>
              <a:rPr sz="4000"/>
              <a:t>, </a:t>
            </a:r>
            <a:r>
              <a:rPr sz="4000"/>
              <a:t>cyclosporine,digoxin</a:t>
            </a:r>
            <a:r>
              <a:rPr sz="4000"/>
              <a:t>, theophylline and warfarin (compete for hepatic metabolizing </a:t>
            </a:r>
            <a:r>
              <a:rPr sz="4000"/>
              <a:t>enymes</a:t>
            </a:r>
            <a:r>
              <a:rPr sz="4000"/>
              <a:t>). </a:t>
            </a:r>
            <a:endParaRPr sz="4000"/>
          </a:p>
          <a:p>
            <a:r>
              <a:rPr sz="4000"/>
              <a:t>This arises from displacement from plasma protein and competition for P450</a:t>
            </a:r>
            <a:endParaRPr sz="4000"/>
          </a:p>
          <a:p>
            <a:r>
              <a:rPr sz="4000"/>
              <a:t>Avoid concurrent use with medications that affect hepatic drug metabolizing enzymes.</a:t>
            </a:r>
            <a:endParaRPr sz="4000"/>
          </a:p>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938" name=""/>
        <p:cNvGrpSpPr/>
        <p:nvPr/>
      </p:nvGrpSpPr>
      <p:grpSpPr>
        <a:xfrm>
          <a:off x="0" y="0"/>
          <a:ext cx="0" cy="0"/>
          <a:chOff x="0" y="0"/>
          <a:chExt cx="0" cy="0"/>
        </a:xfrm>
      </p:grpSpPr>
      <p:sp>
        <p:nvSpPr>
          <p:cNvPr id="1049137" name="Title 1"/>
          <p:cNvSpPr>
            <a:spLocks noGrp="1"/>
          </p:cNvSpPr>
          <p:nvPr>
            <p:ph type="title"/>
          </p:nvPr>
        </p:nvSpPr>
        <p:spPr/>
        <p:txBody>
          <a:bodyPr/>
          <a:p>
            <a:r>
              <a:t>       </a:t>
            </a:r>
            <a:r>
              <a:rPr b="1"/>
              <a:t>Erythromycin</a:t>
            </a:r>
            <a:endParaRPr b="1"/>
          </a:p>
        </p:txBody>
      </p:sp>
      <p:sp>
        <p:nvSpPr>
          <p:cNvPr id="1049138" name="Content Placeholder 2"/>
          <p:cNvSpPr>
            <a:spLocks noGrp="1"/>
          </p:cNvSpPr>
          <p:nvPr>
            <p:ph idx="1"/>
          </p:nvPr>
        </p:nvSpPr>
        <p:spPr>
          <a:xfrm>
            <a:off x="838204" y="1524004"/>
            <a:ext cx="10515600" cy="4968868"/>
          </a:xfrm>
        </p:spPr>
        <p:txBody>
          <a:bodyPr>
            <a:normAutofit lnSpcReduction="10000"/>
          </a:bodyPr>
          <a:p>
            <a:r>
              <a:t>Erythromycin is the commonest macrolide in use.</a:t>
            </a:r>
          </a:p>
          <a:p>
            <a:pPr indent="0" marL="0">
              <a:buNone/>
            </a:pPr>
            <a:r>
              <a:rPr b="1"/>
              <a:t>Pharmacokinetic;  </a:t>
            </a:r>
          </a:p>
          <a:p>
            <a:pPr indent="0" marL="0">
              <a:buNone/>
            </a:pPr>
            <a:r>
              <a:t>Erythromycin is </a:t>
            </a:r>
            <a:r>
              <a:rPr b="1"/>
              <a:t>inactivated by gastric enzymes </a:t>
            </a:r>
            <a:r>
              <a:t>hence it is administered as protected enteric coated tablets.</a:t>
            </a:r>
          </a:p>
          <a:p>
            <a:pPr indent="0" marL="0">
              <a:buNone/>
            </a:pPr>
            <a:r>
              <a:t>It is hydrolyzed in the 1</a:t>
            </a:r>
            <a:r>
              <a:rPr baseline="30000"/>
              <a:t>st</a:t>
            </a:r>
            <a:r>
              <a:t> phase </a:t>
            </a:r>
            <a:r>
              <a:rPr b="1"/>
              <a:t>metabolism to release the active erythromycin.</a:t>
            </a:r>
            <a:endParaRPr b="1"/>
          </a:p>
          <a:p>
            <a:pPr indent="0" marL="0">
              <a:buNone/>
            </a:pPr>
            <a:r>
              <a:t>It is dissolved and absorbed in the small intestines where it undergoes enetro hepatic recirculation.</a:t>
            </a:r>
          </a:p>
          <a:p>
            <a:r>
              <a:rPr b="1"/>
              <a:t>Distribution </a:t>
            </a:r>
            <a:r>
              <a:t>is very  good as it is well distributed in the spleen, liver, placenta, breast milk and inflamed meninges.</a:t>
            </a:r>
          </a:p>
          <a:p>
            <a:r>
              <a:rPr b="1"/>
              <a:t>Excretion</a:t>
            </a:r>
            <a:r>
              <a:t> 90% in feaces and small amounts in urine.</a:t>
            </a:r>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939" name=""/>
        <p:cNvGrpSpPr/>
        <p:nvPr/>
      </p:nvGrpSpPr>
      <p:grpSpPr>
        <a:xfrm>
          <a:off x="0" y="0"/>
          <a:ext cx="0" cy="0"/>
          <a:chOff x="0" y="0"/>
          <a:chExt cx="0" cy="0"/>
        </a:xfrm>
      </p:grpSpPr>
      <p:sp>
        <p:nvSpPr>
          <p:cNvPr id="1049139" name="Title 1"/>
          <p:cNvSpPr>
            <a:spLocks noGrp="1"/>
          </p:cNvSpPr>
          <p:nvPr>
            <p:ph type="title"/>
          </p:nvPr>
        </p:nvSpPr>
        <p:spPr/>
        <p:txBody>
          <a:bodyPr/>
          <a:p>
            <a:r>
              <a:rPr b="1"/>
              <a:t>                                                                         Dosage and route of administration                         </a:t>
            </a:r>
            <a:endParaRPr b="1"/>
          </a:p>
        </p:txBody>
      </p:sp>
      <p:sp>
        <p:nvSpPr>
          <p:cNvPr id="1049140" name="Content Placeholder 2"/>
          <p:cNvSpPr>
            <a:spLocks noGrp="1"/>
          </p:cNvSpPr>
          <p:nvPr>
            <p:ph idx="1"/>
          </p:nvPr>
        </p:nvSpPr>
        <p:spPr>
          <a:xfrm>
            <a:off x="600075" y="1825618"/>
            <a:ext cx="10753729" cy="4756146"/>
          </a:xfrm>
        </p:spPr>
        <p:txBody>
          <a:bodyPr>
            <a:normAutofit lnSpcReduction="10000"/>
          </a:bodyPr>
          <a:p>
            <a:r>
              <a:t>Orally adults and children above 8years 250-500mg 6 hourly.</a:t>
            </a:r>
          </a:p>
          <a:p>
            <a:r>
              <a:t>Maximum dose is 4g in severe infections.</a:t>
            </a:r>
          </a:p>
          <a:p>
            <a:r>
              <a:t>Children up to 2years 125mg 6hourly.</a:t>
            </a:r>
          </a:p>
          <a:p>
            <a:r>
              <a:t>IV infusion 25-50/kg body wt. daily as continuous infusion.</a:t>
            </a:r>
          </a:p>
          <a:p>
            <a:pPr indent="0" marL="0">
              <a:buNone/>
            </a:pPr>
            <a:r>
              <a:rPr b="1" sz="4000"/>
              <a:t>Drug interaction</a:t>
            </a:r>
            <a:endParaRPr b="1" sz="4000"/>
          </a:p>
          <a:p>
            <a:pPr indent="0" marL="0">
              <a:buNone/>
            </a:pPr>
            <a:r>
              <a:t>Macrolides are enzyme inhibitor and they interfere with the metabolism of </a:t>
            </a:r>
            <a:r>
              <a:rPr b="1"/>
              <a:t>drugs like warfarin, carbamazepine, theophylline , corticosteroids, oral contraceptives</a:t>
            </a:r>
            <a:r>
              <a:t>, </a:t>
            </a:r>
            <a:r>
              <a:rPr b="1"/>
              <a:t>digoxin, </a:t>
            </a:r>
            <a:r>
              <a:t>and </a:t>
            </a:r>
            <a:r>
              <a:rPr b="1"/>
              <a:t>cyloserine</a:t>
            </a:r>
            <a:r>
              <a:t> and </a:t>
            </a:r>
            <a:r>
              <a:rPr b="1"/>
              <a:t>sodium valproate</a:t>
            </a:r>
            <a:endParaRPr b="1"/>
          </a:p>
          <a:p>
            <a:r>
              <a:t> </a:t>
            </a:r>
            <a:r>
              <a:rPr b="1"/>
              <a:t>food tends to decrease the absorption of macrolide</a:t>
            </a:r>
            <a:r>
              <a:t>, hence should be given one hour before food or 2-3 hours after meals.</a:t>
            </a:r>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940" name=""/>
        <p:cNvGrpSpPr/>
        <p:nvPr/>
      </p:nvGrpSpPr>
      <p:grpSpPr>
        <a:xfrm>
          <a:off x="0" y="0"/>
          <a:ext cx="0" cy="0"/>
          <a:chOff x="0" y="0"/>
          <a:chExt cx="0" cy="0"/>
        </a:xfrm>
      </p:grpSpPr>
      <p:sp>
        <p:nvSpPr>
          <p:cNvPr id="1049141" name="Title 1"/>
          <p:cNvSpPr>
            <a:spLocks noGrp="1"/>
          </p:cNvSpPr>
          <p:nvPr>
            <p:ph type="title"/>
          </p:nvPr>
        </p:nvSpPr>
        <p:spPr/>
        <p:txBody>
          <a:bodyPr/>
          <a:p>
            <a:r>
              <a:t>Azithromycin </a:t>
            </a:r>
          </a:p>
        </p:txBody>
      </p:sp>
      <p:sp>
        <p:nvSpPr>
          <p:cNvPr id="1049142" name="Content Placeholder 2"/>
          <p:cNvSpPr>
            <a:spLocks noGrp="1"/>
          </p:cNvSpPr>
          <p:nvPr>
            <p:ph idx="1"/>
          </p:nvPr>
        </p:nvSpPr>
        <p:spPr/>
        <p:txBody>
          <a:bodyPr/>
          <a:p>
            <a:r>
              <a:t> </a:t>
            </a:r>
            <a:r>
              <a:rPr sz="4000"/>
              <a:t>azithromycin is derived from erythromycin by adding a methylated nitrogen into the lactogen ring,</a:t>
            </a:r>
            <a:endParaRPr sz="4000"/>
          </a:p>
          <a:p>
            <a:r>
              <a:rPr sz="4000"/>
              <a:t>Its specrum of activity and clinical uses are virtually identical to those of clarithromycin.</a:t>
            </a:r>
            <a:endParaRPr sz="4000"/>
          </a:p>
          <a:p>
            <a:r>
              <a:rPr sz="4000"/>
              <a:t>Azithromycin is active against </a:t>
            </a:r>
            <a:r>
              <a:rPr b="1" sz="4000"/>
              <a:t>mycobacteria avium </a:t>
            </a:r>
            <a:r>
              <a:rPr sz="4000"/>
              <a:t>complex and </a:t>
            </a:r>
            <a:r>
              <a:rPr b="1" sz="4000"/>
              <a:t>toxoplasma gondii </a:t>
            </a:r>
            <a:endParaRPr b="1" sz="4000"/>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941" name=""/>
        <p:cNvGrpSpPr/>
        <p:nvPr/>
      </p:nvGrpSpPr>
      <p:grpSpPr>
        <a:xfrm>
          <a:off x="0" y="0"/>
          <a:ext cx="0" cy="0"/>
          <a:chOff x="0" y="0"/>
          <a:chExt cx="0" cy="0"/>
        </a:xfrm>
      </p:grpSpPr>
      <p:sp>
        <p:nvSpPr>
          <p:cNvPr id="1049143" name="Title 1"/>
          <p:cNvSpPr>
            <a:spLocks noGrp="1"/>
          </p:cNvSpPr>
          <p:nvPr>
            <p:ph type="title"/>
          </p:nvPr>
        </p:nvSpPr>
        <p:spPr>
          <a:xfrm>
            <a:off x="838204" y="365126"/>
            <a:ext cx="10515600" cy="844553"/>
          </a:xfrm>
        </p:spPr>
        <p:txBody>
          <a:bodyPr/>
          <a:p>
            <a:r>
              <a:rPr b="1"/>
              <a:t>                                </a:t>
            </a:r>
            <a:r>
              <a:rPr b="1"/>
              <a:t>Sulphonamide</a:t>
            </a:r>
            <a:endParaRPr b="1"/>
          </a:p>
        </p:txBody>
      </p:sp>
      <p:sp>
        <p:nvSpPr>
          <p:cNvPr id="1049144" name="Content Placeholder 2"/>
          <p:cNvSpPr>
            <a:spLocks noGrp="1"/>
          </p:cNvSpPr>
          <p:nvPr>
            <p:ph idx="1"/>
          </p:nvPr>
        </p:nvSpPr>
        <p:spPr>
          <a:xfrm>
            <a:off x="438154" y="1209679"/>
            <a:ext cx="11258550" cy="5429250"/>
          </a:xfrm>
        </p:spPr>
        <p:txBody>
          <a:bodyPr>
            <a:normAutofit/>
          </a:bodyPr>
          <a:p>
            <a:r>
              <a:rPr sz="3200"/>
              <a:t>These are among the first antibacterial drugs to be discovered in 1935.</a:t>
            </a:r>
            <a:endParaRPr sz="3200"/>
          </a:p>
          <a:p>
            <a:r>
              <a:rPr sz="3200"/>
              <a:t>Are bacteriostatic, group drugs derived from sulfanilamide.</a:t>
            </a:r>
            <a:endParaRPr sz="3200"/>
          </a:p>
          <a:p>
            <a:r>
              <a:rPr sz="3200"/>
              <a:t>Examples</a:t>
            </a:r>
            <a:endParaRPr sz="3200"/>
          </a:p>
          <a:p>
            <a:pPr lvl="1"/>
            <a:r>
              <a:rPr sz="2800"/>
              <a:t>Sulphfamethoxazole,</a:t>
            </a:r>
            <a:endParaRPr sz="2800"/>
          </a:p>
          <a:p>
            <a:pPr lvl="1"/>
            <a:r>
              <a:rPr sz="2800"/>
              <a:t> sulphadiazine,</a:t>
            </a:r>
            <a:endParaRPr sz="2800"/>
          </a:p>
          <a:p>
            <a:pPr lvl="1"/>
            <a:r>
              <a:rPr sz="2800"/>
              <a:t> sulfisoxazole, </a:t>
            </a:r>
            <a:endParaRPr sz="2800"/>
          </a:p>
          <a:p>
            <a:pPr lvl="1"/>
            <a:r>
              <a:rPr sz="2800"/>
              <a:t>sulphadimidine,</a:t>
            </a:r>
            <a:endParaRPr sz="2800"/>
          </a:p>
          <a:p>
            <a:pPr lvl="1"/>
            <a:r>
              <a:rPr sz="2800"/>
              <a:t> sulfasazine, </a:t>
            </a:r>
            <a:endParaRPr sz="2800"/>
          </a:p>
          <a:p>
            <a:pPr lvl="1"/>
            <a:r>
              <a:rPr sz="2800"/>
              <a:t>sulfametopyrazine,</a:t>
            </a:r>
            <a:endParaRPr sz="2800"/>
          </a:p>
          <a:p>
            <a:pPr lvl="1"/>
            <a:r>
              <a:rPr sz="2800"/>
              <a:t> </a:t>
            </a:r>
            <a:r>
              <a:rPr sz="2800"/>
              <a:t>sulphaloxate</a:t>
            </a:r>
            <a:endParaRPr sz="2800"/>
          </a:p>
          <a:p>
            <a:pPr indent="0" marL="0">
              <a:buNone/>
            </a:pPr>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942" name=""/>
        <p:cNvGrpSpPr/>
        <p:nvPr/>
      </p:nvGrpSpPr>
      <p:grpSpPr>
        <a:xfrm>
          <a:off x="0" y="0"/>
          <a:ext cx="0" cy="0"/>
          <a:chOff x="0" y="0"/>
          <a:chExt cx="0" cy="0"/>
        </a:xfrm>
      </p:grpSpPr>
      <p:sp>
        <p:nvSpPr>
          <p:cNvPr id="1049145" name="Title 1"/>
          <p:cNvSpPr>
            <a:spLocks noGrp="1"/>
          </p:cNvSpPr>
          <p:nvPr>
            <p:ph type="title"/>
          </p:nvPr>
        </p:nvSpPr>
        <p:spPr/>
        <p:txBody>
          <a:bodyPr/>
          <a:p>
            <a:r>
              <a:rPr b="1"/>
              <a:t>Common combinations </a:t>
            </a:r>
          </a:p>
        </p:txBody>
      </p:sp>
      <p:sp>
        <p:nvSpPr>
          <p:cNvPr id="1049146" name="Content Placeholder 2"/>
          <p:cNvSpPr>
            <a:spLocks noGrp="1"/>
          </p:cNvSpPr>
          <p:nvPr>
            <p:ph idx="1"/>
          </p:nvPr>
        </p:nvSpPr>
        <p:spPr/>
        <p:txBody>
          <a:bodyPr/>
          <a:p>
            <a:r>
              <a:t>Sulfamethoxazole 500 mg and phenazopyridine hydrochloride 100 mg : AZO GANTANOL tablets (film-coated). </a:t>
            </a:r>
          </a:p>
          <a:p>
            <a:r>
              <a:t>sulfisoxazole</a:t>
            </a:r>
            <a:r>
              <a:t> 500 mg and phenazopyridine hydrochloride 50 mg examples: AZO GANTRISIN, AZO-</a:t>
            </a:r>
            <a:r>
              <a:t>sULFISOXAZOLE</a:t>
            </a:r>
            <a:r>
              <a:t> tablets (film-coated). </a:t>
            </a:r>
          </a:p>
          <a:p>
            <a:r>
              <a:t>Sulfisoxazole</a:t>
            </a:r>
            <a:r>
              <a:t> 600 mg and erythromycin </a:t>
            </a:r>
            <a:r>
              <a:t>ethylsuccinate</a:t>
            </a:r>
            <a:r>
              <a:t> 200 mg/5 ml examples: ERYZOLE, PEDIAZOLE, SULFIMYCIN suspension. </a:t>
            </a:r>
          </a:p>
          <a:p>
            <a:r>
              <a:t>Sulfamethoxazole-trimethoprim: Co-trimoxazole.</a:t>
            </a:r>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943" name=""/>
        <p:cNvGrpSpPr/>
        <p:nvPr/>
      </p:nvGrpSpPr>
      <p:grpSpPr>
        <a:xfrm>
          <a:off x="0" y="0"/>
          <a:ext cx="0" cy="0"/>
          <a:chOff x="0" y="0"/>
          <a:chExt cx="0" cy="0"/>
        </a:xfrm>
      </p:grpSpPr>
      <p:sp>
        <p:nvSpPr>
          <p:cNvPr id="1049147" name="Title 1"/>
          <p:cNvSpPr>
            <a:spLocks noGrp="1"/>
          </p:cNvSpPr>
          <p:nvPr>
            <p:ph type="title"/>
          </p:nvPr>
        </p:nvSpPr>
        <p:spPr/>
        <p:txBody>
          <a:bodyPr/>
          <a:p>
            <a:r>
              <a:t>Mechanism of action </a:t>
            </a:r>
          </a:p>
        </p:txBody>
      </p:sp>
      <p:sp>
        <p:nvSpPr>
          <p:cNvPr id="1049148" name="Content Placeholder 2"/>
          <p:cNvSpPr>
            <a:spLocks noGrp="1"/>
          </p:cNvSpPr>
          <p:nvPr>
            <p:ph idx="1"/>
          </p:nvPr>
        </p:nvSpPr>
        <p:spPr/>
        <p:txBody>
          <a:bodyPr>
            <a:normAutofit/>
          </a:bodyPr>
          <a:p>
            <a:r>
              <a:rPr sz="3600"/>
              <a:t>Sulphonamides</a:t>
            </a:r>
            <a:r>
              <a:rPr sz="3600"/>
              <a:t> </a:t>
            </a:r>
            <a:r>
              <a:rPr b="1" sz="3600"/>
              <a:t>inhibit bacterial growth by interfering with folic acid synthesis</a:t>
            </a:r>
            <a:r>
              <a:rPr sz="3600"/>
              <a:t> by competing with PABA for the enzyme dihydropteroate synthetase. </a:t>
            </a:r>
            <a:endParaRPr sz="3600"/>
          </a:p>
          <a:p>
            <a:endParaRPr sz="3600"/>
          </a:p>
          <a:p>
            <a:r>
              <a:rPr sz="3600"/>
              <a:t>This in turn results in inhibition of bacterial growth/multiplication because folic acid is required for the synthesis of nucleic acid precursors during cell division.</a:t>
            </a:r>
            <a:endParaRPr sz="3600"/>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944" name=""/>
        <p:cNvGrpSpPr/>
        <p:nvPr/>
      </p:nvGrpSpPr>
      <p:grpSpPr>
        <a:xfrm>
          <a:off x="0" y="0"/>
          <a:ext cx="0" cy="0"/>
          <a:chOff x="0" y="0"/>
          <a:chExt cx="0" cy="0"/>
        </a:xfrm>
      </p:grpSpPr>
      <p:sp>
        <p:nvSpPr>
          <p:cNvPr id="1049149" name="Title 1"/>
          <p:cNvSpPr>
            <a:spLocks noGrp="1"/>
          </p:cNvSpPr>
          <p:nvPr>
            <p:ph type="title"/>
          </p:nvPr>
        </p:nvSpPr>
        <p:spPr>
          <a:xfrm>
            <a:off x="838204" y="365126"/>
            <a:ext cx="10515600" cy="796918"/>
          </a:xfrm>
        </p:spPr>
        <p:txBody>
          <a:bodyPr/>
          <a:p>
            <a:r>
              <a:t> </a:t>
            </a:r>
            <a:r>
              <a:rPr b="1"/>
              <a:t>pharmacokinetics</a:t>
            </a:r>
            <a:endParaRPr b="1"/>
          </a:p>
        </p:txBody>
      </p:sp>
      <p:sp>
        <p:nvSpPr>
          <p:cNvPr id="1049150" name="Content Placeholder 2"/>
          <p:cNvSpPr>
            <a:spLocks noGrp="1"/>
          </p:cNvSpPr>
          <p:nvPr>
            <p:ph idx="1"/>
          </p:nvPr>
        </p:nvSpPr>
        <p:spPr>
          <a:xfrm>
            <a:off x="838204" y="1381129"/>
            <a:ext cx="10515600" cy="5248270"/>
          </a:xfrm>
        </p:spPr>
        <p:txBody>
          <a:bodyPr/>
          <a:p>
            <a:r>
              <a:t> they have </a:t>
            </a:r>
            <a:r>
              <a:rPr b="1"/>
              <a:t>good absorption</a:t>
            </a:r>
            <a:r>
              <a:t> except a few of them sulpadiazine and  which are poorly absorbed in the gut. </a:t>
            </a:r>
          </a:p>
          <a:p>
            <a:pPr lvl="1"/>
            <a:r>
              <a:t>Can be administered orally, usually </a:t>
            </a:r>
            <a:r>
              <a:rPr b="1"/>
              <a:t>on empty stomach</a:t>
            </a:r>
            <a:r>
              <a:t> 1 hour before or 2 hours after a meal unless specified otherwise</a:t>
            </a:r>
          </a:p>
          <a:p>
            <a:pPr lvl="1"/>
          </a:p>
          <a:p>
            <a:r>
              <a:t>Distribution </a:t>
            </a:r>
            <a:r>
              <a:rPr b="1"/>
              <a:t>widely distributed in body tissues and fluid </a:t>
            </a:r>
            <a:r>
              <a:t>including </a:t>
            </a:r>
            <a:r>
              <a:rPr>
                <a:solidFill>
                  <a:srgbClr val="FF0000"/>
                </a:solidFill>
              </a:rPr>
              <a:t>Crossing both placental and blood-brain barrier and can pass into inflammatory exudates. </a:t>
            </a:r>
            <a:endParaRPr>
              <a:solidFill>
                <a:srgbClr val="FF0000"/>
              </a:solidFill>
            </a:endParaRPr>
          </a:p>
          <a:p>
            <a:endParaRPr>
              <a:solidFill>
                <a:srgbClr val="FF0000"/>
              </a:solidFill>
            </a:endParaRPr>
          </a:p>
          <a:p>
            <a:r>
              <a:t>They are </a:t>
            </a:r>
            <a:r>
              <a:rPr b="1"/>
              <a:t>metabolized in the liver </a:t>
            </a:r>
            <a:r>
              <a:t>withhalf life of 10 hours.</a:t>
            </a:r>
          </a:p>
          <a:p>
            <a:r>
              <a:t>Majority are </a:t>
            </a:r>
            <a:r>
              <a:rPr b="1"/>
              <a:t>excreted in urine </a:t>
            </a:r>
            <a:r>
              <a:t>hence dose should be reduced in renal impairment.</a:t>
            </a:r>
          </a:p>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945" name=""/>
        <p:cNvGrpSpPr/>
        <p:nvPr/>
      </p:nvGrpSpPr>
      <p:grpSpPr>
        <a:xfrm>
          <a:off x="0" y="0"/>
          <a:ext cx="0" cy="0"/>
          <a:chOff x="0" y="0"/>
          <a:chExt cx="0" cy="0"/>
        </a:xfrm>
      </p:grpSpPr>
      <p:sp>
        <p:nvSpPr>
          <p:cNvPr id="1049151" name="Title 1"/>
          <p:cNvSpPr>
            <a:spLocks noGrp="1"/>
          </p:cNvSpPr>
          <p:nvPr>
            <p:ph type="title"/>
          </p:nvPr>
        </p:nvSpPr>
        <p:spPr>
          <a:xfrm>
            <a:off x="838204" y="365126"/>
            <a:ext cx="10515600" cy="739768"/>
          </a:xfrm>
        </p:spPr>
        <p:txBody>
          <a:bodyPr/>
          <a:p>
            <a:r>
              <a:t>Clinical uses/indications </a:t>
            </a:r>
          </a:p>
        </p:txBody>
      </p:sp>
      <p:sp>
        <p:nvSpPr>
          <p:cNvPr id="1049152" name="Content Placeholder 2"/>
          <p:cNvSpPr>
            <a:spLocks noGrp="1"/>
          </p:cNvSpPr>
          <p:nvPr>
            <p:ph idx="1"/>
          </p:nvPr>
        </p:nvSpPr>
        <p:spPr>
          <a:xfrm>
            <a:off x="476245" y="1238254"/>
            <a:ext cx="11134720" cy="5333995"/>
          </a:xfrm>
        </p:spPr>
        <p:txBody>
          <a:bodyPr>
            <a:normAutofit fontScale="92500" lnSpcReduction="20000"/>
          </a:bodyPr>
          <a:p>
            <a:r>
              <a:t>Drugs of choice in treatment of urinary tract infections caused by susceptible bacteria: Enterobacter </a:t>
            </a:r>
            <a:r>
              <a:t>spp</a:t>
            </a:r>
            <a:r>
              <a:t>, </a:t>
            </a:r>
            <a:r>
              <a:t>Escherchia</a:t>
            </a:r>
            <a:r>
              <a:t> coli, Klebsiella </a:t>
            </a:r>
            <a:r>
              <a:t>spp</a:t>
            </a:r>
            <a:r>
              <a:t>, Proteus mirabilis </a:t>
            </a:r>
            <a:r>
              <a:t>S.aureus</a:t>
            </a:r>
            <a:r>
              <a:t>, Proteus vulgaris. </a:t>
            </a:r>
          </a:p>
          <a:p>
            <a:r>
              <a:t>Sulfamethoxazole in combination with trimethoprim (cotrimoxazole) used for treating Pneumocystis carinii pneumonia, otitis media and diarrhea due to E.coli </a:t>
            </a:r>
          </a:p>
          <a:p>
            <a:r>
              <a:t>Treatment of respiratory tract infection </a:t>
            </a:r>
            <a:r>
              <a:t>particulary</a:t>
            </a:r>
            <a:r>
              <a:t> infection with </a:t>
            </a:r>
            <a:r>
              <a:t>Norcadia</a:t>
            </a:r>
            <a:r>
              <a:t> </a:t>
            </a:r>
          </a:p>
          <a:p>
            <a:r>
              <a:t>Alternative treatment for chlamydia, trachoma and chancroid </a:t>
            </a:r>
          </a:p>
          <a:p>
            <a:r>
              <a:t>Mafenide (</a:t>
            </a:r>
            <a:r>
              <a:t>Sulfamylon</a:t>
            </a:r>
            <a:r>
              <a:t>) and silver sulfadiazine (Silvadene) are topical sulfonamides used in the treatment of second- and third-degree burns. </a:t>
            </a:r>
          </a:p>
          <a:p>
            <a:r>
              <a:t>Sulfapyridine</a:t>
            </a:r>
            <a:r>
              <a:t> used in treatment of herpes-like skin infection (dermatitis herpetiformis) </a:t>
            </a:r>
          </a:p>
          <a:p>
            <a:r>
              <a:t>Sulfisoxazole</a:t>
            </a:r>
            <a:r>
              <a:t> used in treatment of otitis media </a:t>
            </a:r>
          </a:p>
          <a:p>
            <a:r>
              <a:t>Sulfisoxazole</a:t>
            </a:r>
            <a:r>
              <a:t> in combination with erythromycin are used in treatment of </a:t>
            </a:r>
            <a:r>
              <a:t>H.influenza</a:t>
            </a:r>
            <a:r>
              <a:t> infection and otitis media mainly for </a:t>
            </a:r>
            <a:r>
              <a:t>peads</a:t>
            </a:r>
            <a:r>
              <a:t> &gt; 2mo</a:t>
            </a:r>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946" name=""/>
        <p:cNvGrpSpPr/>
        <p:nvPr/>
      </p:nvGrpSpPr>
      <p:grpSpPr>
        <a:xfrm>
          <a:off x="0" y="0"/>
          <a:ext cx="0" cy="0"/>
          <a:chOff x="0" y="0"/>
          <a:chExt cx="0" cy="0"/>
        </a:xfrm>
      </p:grpSpPr>
      <p:sp>
        <p:nvSpPr>
          <p:cNvPr id="1049153" name="Title 1"/>
          <p:cNvSpPr>
            <a:spLocks noGrp="1"/>
          </p:cNvSpPr>
          <p:nvPr>
            <p:ph type="title"/>
          </p:nvPr>
        </p:nvSpPr>
        <p:spPr>
          <a:xfrm>
            <a:off x="838204" y="365126"/>
            <a:ext cx="10515600" cy="730253"/>
          </a:xfrm>
        </p:spPr>
        <p:txBody>
          <a:bodyPr/>
          <a:p>
            <a:r>
              <a:t>Contraindication </a:t>
            </a:r>
          </a:p>
        </p:txBody>
      </p:sp>
      <p:sp>
        <p:nvSpPr>
          <p:cNvPr id="1049154" name="Content Placeholder 2"/>
          <p:cNvSpPr>
            <a:spLocks noGrp="1"/>
          </p:cNvSpPr>
          <p:nvPr>
            <p:ph idx="1"/>
          </p:nvPr>
        </p:nvSpPr>
        <p:spPr>
          <a:xfrm>
            <a:off x="552454" y="1609729"/>
            <a:ext cx="10801350" cy="4991095"/>
          </a:xfrm>
        </p:spPr>
        <p:txBody>
          <a:bodyPr>
            <a:normAutofit fontScale="92500"/>
          </a:bodyPr>
          <a:p>
            <a:r>
              <a:rPr sz="3600"/>
              <a:t>Cases of known drug allergy to </a:t>
            </a:r>
            <a:r>
              <a:rPr sz="3600"/>
              <a:t>sulphonamides</a:t>
            </a:r>
            <a:r>
              <a:rPr sz="3600"/>
              <a:t> and related drugs such as sulfonylureas, thiazide diuretics. </a:t>
            </a:r>
            <a:endParaRPr sz="3600"/>
          </a:p>
          <a:p>
            <a:r>
              <a:rPr sz="3600"/>
              <a:t>Near the end (at term) of pregnancy (Pregnancy Category D) , </a:t>
            </a:r>
            <a:endParaRPr sz="3600"/>
          </a:p>
          <a:p>
            <a:r>
              <a:rPr sz="3600"/>
              <a:t>Infants under 2 months, </a:t>
            </a:r>
            <a:endParaRPr sz="3600"/>
          </a:p>
          <a:p>
            <a:endParaRPr sz="3600"/>
          </a:p>
          <a:p>
            <a:pPr indent="0" marL="0">
              <a:buNone/>
            </a:pPr>
            <a:r>
              <a:rPr sz="3600"/>
              <a:t>During lactation If the sulfonamides are given near the end of pregnancy, significant blood levels of the drug may occur, causing jaundice or hemolytic anemia in the neonate.</a:t>
            </a:r>
            <a:endParaRPr sz="3600"/>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947" name=""/>
        <p:cNvGrpSpPr/>
        <p:nvPr/>
      </p:nvGrpSpPr>
      <p:grpSpPr>
        <a:xfrm>
          <a:off x="0" y="0"/>
          <a:ext cx="0" cy="0"/>
          <a:chOff x="0" y="0"/>
          <a:chExt cx="0" cy="0"/>
        </a:xfrm>
      </p:grpSpPr>
      <p:sp>
        <p:nvSpPr>
          <p:cNvPr id="1049155" name="Title 1"/>
          <p:cNvSpPr>
            <a:spLocks noGrp="1"/>
          </p:cNvSpPr>
          <p:nvPr>
            <p:ph type="title"/>
          </p:nvPr>
        </p:nvSpPr>
        <p:spPr/>
        <p:txBody>
          <a:bodyPr/>
          <a:p>
            <a:r>
              <a:t>Unwanted effects </a:t>
            </a:r>
          </a:p>
        </p:txBody>
      </p:sp>
      <p:sp>
        <p:nvSpPr>
          <p:cNvPr id="1049156" name="Content Placeholder 2"/>
          <p:cNvSpPr>
            <a:spLocks noGrp="1"/>
          </p:cNvSpPr>
          <p:nvPr>
            <p:ph idx="1"/>
          </p:nvPr>
        </p:nvSpPr>
        <p:spPr/>
        <p:txBody>
          <a:bodyPr>
            <a:normAutofit lnSpcReduction="10000"/>
          </a:bodyPr>
          <a:p>
            <a:pPr indent="0" marL="0">
              <a:buNone/>
            </a:pPr>
            <a:r>
              <a:t>Mild to moderate unwanted effects include: </a:t>
            </a:r>
          </a:p>
          <a:p>
            <a:pPr indent="-571500" marL="571500">
              <a:buAutoNum type="romanLcPeriod"/>
            </a:pPr>
            <a:r>
              <a:t>Nausea and vomiting </a:t>
            </a:r>
          </a:p>
          <a:p>
            <a:pPr indent="-571500" marL="571500">
              <a:buAutoNum type="romanLcPeriod"/>
            </a:pPr>
            <a:r>
              <a:t>diarrhea </a:t>
            </a:r>
          </a:p>
          <a:p>
            <a:pPr indent="-571500" marL="571500">
              <a:buAutoNum type="romanLcPeriod"/>
            </a:pPr>
            <a:r>
              <a:t>Headache </a:t>
            </a:r>
          </a:p>
          <a:p>
            <a:pPr indent="-571500" marL="571500">
              <a:buAutoNum type="romanLcPeriod"/>
            </a:pPr>
            <a:r>
              <a:t>Mental depression </a:t>
            </a:r>
          </a:p>
          <a:p>
            <a:pPr indent="-571500" marL="571500">
              <a:buAutoNum type="romanLcPeriod"/>
            </a:pPr>
            <a:r>
              <a:t>Anorexia (loss of appetite) </a:t>
            </a:r>
          </a:p>
          <a:p>
            <a:pPr indent="-571500" marL="571500">
              <a:buAutoNum type="romanLcPeriod"/>
            </a:pPr>
            <a:r>
              <a:t>Burning sensation or pain when Mafenide (</a:t>
            </a:r>
            <a:r>
              <a:t>Sulfamylon</a:t>
            </a:r>
            <a:r>
              <a:t>) or silver sulfadiazine (Silvadene is applied to the skin </a:t>
            </a:r>
          </a:p>
          <a:p>
            <a:pPr indent="-571500" marL="571500">
              <a:buAutoNum type="romanLcPeriod"/>
            </a:pPr>
            <a:r>
              <a:t>Cyanosis caused by </a:t>
            </a:r>
            <a:r>
              <a:t>methhemoglobinemia</a:t>
            </a:r>
            <a:r>
              <a:t> may occur</a:t>
            </a:r>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948" name=""/>
        <p:cNvGrpSpPr/>
        <p:nvPr/>
      </p:nvGrpSpPr>
      <p:grpSpPr>
        <a:xfrm>
          <a:off x="0" y="0"/>
          <a:ext cx="0" cy="0"/>
          <a:chOff x="0" y="0"/>
          <a:chExt cx="0" cy="0"/>
        </a:xfrm>
      </p:grpSpPr>
      <p:sp>
        <p:nvSpPr>
          <p:cNvPr id="1049157" name="Title 1"/>
          <p:cNvSpPr>
            <a:spLocks noGrp="1"/>
          </p:cNvSpPr>
          <p:nvPr>
            <p:ph type="title"/>
          </p:nvPr>
        </p:nvSpPr>
        <p:spPr>
          <a:xfrm>
            <a:off x="838204" y="365126"/>
            <a:ext cx="10515600" cy="682618"/>
          </a:xfrm>
        </p:spPr>
        <p:txBody>
          <a:bodyPr>
            <a:normAutofit fontScale="90000"/>
          </a:bodyPr>
          <a:p>
            <a:r>
              <a:t>Unwanted effects</a:t>
            </a:r>
          </a:p>
        </p:txBody>
      </p:sp>
      <p:sp>
        <p:nvSpPr>
          <p:cNvPr id="1049158" name="Content Placeholder 2"/>
          <p:cNvSpPr>
            <a:spLocks noGrp="1"/>
          </p:cNvSpPr>
          <p:nvPr>
            <p:ph idx="1"/>
          </p:nvPr>
        </p:nvSpPr>
        <p:spPr>
          <a:xfrm>
            <a:off x="838204" y="1162045"/>
            <a:ext cx="10515600" cy="5330828"/>
          </a:xfrm>
        </p:spPr>
        <p:txBody>
          <a:bodyPr>
            <a:normAutofit fontScale="92500" lnSpcReduction="20000"/>
          </a:bodyPr>
          <a:p>
            <a:pPr indent="0" marL="0">
              <a:buNone/>
            </a:pPr>
            <a:r>
              <a:t>Serious adverse reactions which necessitates cessation of therapy: </a:t>
            </a:r>
          </a:p>
          <a:p>
            <a:pPr indent="-571500" marL="571500">
              <a:buAutoNum type="romanLcPeriod"/>
            </a:pPr>
            <a:r>
              <a:t>Agranulocytosis—decrease in or lack of granulocytes, a type of white blood cell </a:t>
            </a:r>
          </a:p>
          <a:p>
            <a:pPr indent="-571500" marL="571500">
              <a:buAutoNum type="romanLcPeriod"/>
            </a:pPr>
            <a:r>
              <a:t>Thrombocytopenia—decrease in the number of platelets </a:t>
            </a:r>
          </a:p>
          <a:p>
            <a:pPr indent="-571500" marL="571500">
              <a:buAutoNum type="romanLcPeriod"/>
            </a:pPr>
            <a:r>
              <a:t>Aplastic anemia—anemia due to deficient red blood cell production in the bone marrow </a:t>
            </a:r>
          </a:p>
          <a:p>
            <a:pPr indent="-571500" marL="571500">
              <a:buAutoNum type="romanLcPeriod"/>
            </a:pPr>
            <a:r>
              <a:t>Leukopenia—decrease in the number of white blood cells </a:t>
            </a:r>
          </a:p>
          <a:p>
            <a:pPr indent="-571500" marL="571500">
              <a:buAutoNum type="romanLcPeriod"/>
            </a:pPr>
            <a:r>
              <a:t>Hepatitis </a:t>
            </a:r>
          </a:p>
          <a:p>
            <a:pPr indent="-571500" marL="571500">
              <a:buAutoNum type="romanLcPeriod"/>
            </a:pPr>
            <a:r>
              <a:t>Hypersensitivity reactions/allergic reactions (skin rashes, fever, anaphylactic reaction, Stevens-Johnson syndrome)</a:t>
            </a:r>
          </a:p>
          <a:p>
            <a:pPr indent="-571500" marL="571500">
              <a:buAutoNum type="romanLcPeriod"/>
            </a:pPr>
            <a:r>
              <a:t>Crystalluria due to </a:t>
            </a:r>
            <a:r>
              <a:t>crystalization</a:t>
            </a:r>
            <a:r>
              <a:t> of acetylated derivative of </a:t>
            </a:r>
            <a:r>
              <a:t>sulphonamides</a:t>
            </a:r>
            <a:r>
              <a:t>. This potentially serious problem often can be prevented by increasing fluid intake during sulfonamide therapy. </a:t>
            </a:r>
          </a:p>
          <a:p>
            <a:pPr indent="-571500" marL="571500">
              <a:buAutoNum type="romanLcPeriod"/>
            </a:pPr>
            <a:r>
              <a:t>Toxic </a:t>
            </a:r>
            <a:r>
              <a:t>nephrosi</a:t>
            </a:r>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949" name=""/>
        <p:cNvGrpSpPr/>
        <p:nvPr/>
      </p:nvGrpSpPr>
      <p:grpSpPr>
        <a:xfrm>
          <a:off x="0" y="0"/>
          <a:ext cx="0" cy="0"/>
          <a:chOff x="0" y="0"/>
          <a:chExt cx="0" cy="0"/>
        </a:xfrm>
      </p:grpSpPr>
      <p:sp>
        <p:nvSpPr>
          <p:cNvPr id="1049159" name="Content Placeholder 2"/>
          <p:cNvSpPr>
            <a:spLocks noGrp="1"/>
          </p:cNvSpPr>
          <p:nvPr>
            <p:ph idx="1"/>
          </p:nvPr>
        </p:nvSpPr>
        <p:spPr>
          <a:xfrm>
            <a:off x="873365" y="269634"/>
            <a:ext cx="10515600" cy="6389079"/>
          </a:xfrm>
        </p:spPr>
        <p:txBody>
          <a:bodyPr>
            <a:normAutofit/>
          </a:bodyPr>
          <a:p>
            <a:pPr indent="0" marL="0">
              <a:buNone/>
            </a:pPr>
            <a:r>
              <a:rPr sz="3600"/>
              <a:t>Side and adverse effects</a:t>
            </a:r>
            <a:endParaRPr sz="3600"/>
          </a:p>
          <a:p>
            <a:r>
              <a:rPr b="1"/>
              <a:t>Hypersensitivity including Stevens-Johnson syndrome </a:t>
            </a:r>
          </a:p>
          <a:p>
            <a:pPr indent="0" marL="0">
              <a:buNone/>
            </a:pPr>
            <a:r>
              <a:t>- Do not administer TMP-SMZ to clients with allergies to: Sulfonamides (sulfa), Thiazide diuretics [hydrochlorothiazide (HCTZ)] , Sulfonylurea-type oral hypoglycemics [tolbutamide (Orinase)], Loop diuretics [furosemide (Lasix)] </a:t>
            </a:r>
          </a:p>
          <a:p>
            <a:pPr indent="0" marL="0">
              <a:buNone/>
            </a:pPr>
            <a:r>
              <a:t>- Stop TMP-SMZ at the first indication of hypersensitivity, such as rash.</a:t>
            </a:r>
          </a:p>
          <a:p>
            <a:r>
              <a:t> </a:t>
            </a:r>
            <a:r>
              <a:rPr b="1"/>
              <a:t>Blood dyscrasias (hemolytic anemia, agranulocytosis, aplastic anemia) </a:t>
            </a:r>
            <a:r>
              <a:t>•</a:t>
            </a:r>
          </a:p>
          <a:p>
            <a:pPr indent="0" marL="0">
              <a:buNone/>
            </a:pPr>
            <a:r>
              <a:t> -Draw the client’s baseline and periodic CBC levels to detect any hematologic disorders.</a:t>
            </a:r>
          </a:p>
          <a:p>
            <a:pPr indent="0" marL="0">
              <a:buNone/>
            </a:pPr>
            <a:r>
              <a:t> - Observe for any bleeding episodes, sore throat, or pallor. • If the above symptoms occur, instruct clients to notify the provider.</a:t>
            </a:r>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950" name=""/>
        <p:cNvGrpSpPr/>
        <p:nvPr/>
      </p:nvGrpSpPr>
      <p:grpSpPr>
        <a:xfrm>
          <a:off x="0" y="0"/>
          <a:ext cx="0" cy="0"/>
          <a:chOff x="0" y="0"/>
          <a:chExt cx="0" cy="0"/>
        </a:xfrm>
      </p:grpSpPr>
      <p:sp>
        <p:nvSpPr>
          <p:cNvPr id="1049160" name="Title 1"/>
          <p:cNvSpPr>
            <a:spLocks noGrp="1"/>
          </p:cNvSpPr>
          <p:nvPr>
            <p:ph type="title"/>
          </p:nvPr>
        </p:nvSpPr>
        <p:spPr/>
        <p:txBody>
          <a:bodyPr/>
          <a:p>
            <a:r>
              <a:rPr sz="4400"/>
              <a:t>Side and adverse effects</a:t>
            </a:r>
          </a:p>
        </p:txBody>
      </p:sp>
      <p:sp>
        <p:nvSpPr>
          <p:cNvPr id="1049161" name="Content Placeholder 2"/>
          <p:cNvSpPr>
            <a:spLocks noGrp="1"/>
          </p:cNvSpPr>
          <p:nvPr>
            <p:ph idx="1"/>
          </p:nvPr>
        </p:nvSpPr>
        <p:spPr/>
        <p:txBody>
          <a:bodyPr/>
          <a:p>
            <a:r>
              <a:rPr b="1"/>
              <a:t> Crystalluria </a:t>
            </a:r>
            <a:endParaRPr b="1"/>
          </a:p>
          <a:p>
            <a:pPr indent="0" marL="0">
              <a:buNone/>
            </a:pPr>
            <a:r>
              <a:t>- Maintain adequate oral fluid intake.</a:t>
            </a:r>
          </a:p>
          <a:p>
            <a:pPr indent="0" marL="0">
              <a:buNone/>
            </a:pPr>
            <a:r>
              <a:t> - Instruct client to drink 2 to 3 L/day.</a:t>
            </a:r>
          </a:p>
          <a:p>
            <a:r>
              <a:t> </a:t>
            </a:r>
            <a:r>
              <a:rPr b="1"/>
              <a:t>Kernicterus (jaundice, increased bilirubin levels)</a:t>
            </a:r>
            <a:endParaRPr b="1"/>
          </a:p>
          <a:p>
            <a:pPr indent="0" marL="0">
              <a:buNone/>
            </a:pPr>
            <a:r>
              <a:rPr b="1"/>
              <a:t> -</a:t>
            </a:r>
            <a:r>
              <a:t> Avoid administering TMP-SMZ to women who are pregnant near term, breastfeeding mothers, and infants younger than 2 months.</a:t>
            </a:r>
          </a:p>
          <a:p>
            <a:pPr indent="0" marL="0">
              <a:buNone/>
            </a:pPr>
            <a:r>
              <a:t> - Monitor the client’s liver function. Photosensitivity</a:t>
            </a:r>
          </a:p>
          <a:p>
            <a:pPr indent="0" marL="0">
              <a:buNone/>
            </a:pPr>
            <a:r>
              <a:t> - Avoid prolonged exposure to sunlight, use sunscreen, and wear appropriate </a:t>
            </a:r>
          </a:p>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951" name=""/>
        <p:cNvGrpSpPr/>
        <p:nvPr/>
      </p:nvGrpSpPr>
      <p:grpSpPr>
        <a:xfrm>
          <a:off x="0" y="0"/>
          <a:ext cx="0" cy="0"/>
          <a:chOff x="0" y="0"/>
          <a:chExt cx="0" cy="0"/>
        </a:xfrm>
      </p:grpSpPr>
      <p:sp>
        <p:nvSpPr>
          <p:cNvPr id="1049162" name="Title 1"/>
          <p:cNvSpPr>
            <a:spLocks noGrp="1"/>
          </p:cNvSpPr>
          <p:nvPr>
            <p:ph type="title"/>
          </p:nvPr>
        </p:nvSpPr>
        <p:spPr/>
        <p:txBody>
          <a:bodyPr/>
          <a:p>
            <a:r>
              <a:t>Important drug-drug interaction </a:t>
            </a:r>
          </a:p>
        </p:txBody>
      </p:sp>
      <p:sp>
        <p:nvSpPr>
          <p:cNvPr id="1049163" name="Content Placeholder 2"/>
          <p:cNvSpPr>
            <a:spLocks noGrp="1"/>
          </p:cNvSpPr>
          <p:nvPr>
            <p:ph idx="1"/>
          </p:nvPr>
        </p:nvSpPr>
        <p:spPr>
          <a:xfrm>
            <a:off x="523879" y="1825618"/>
            <a:ext cx="10829925" cy="4667254"/>
          </a:xfrm>
        </p:spPr>
        <p:txBody>
          <a:bodyPr>
            <a:normAutofit lnSpcReduction="10000"/>
          </a:bodyPr>
          <a:p>
            <a:r>
              <a:t>Sulphonamide</a:t>
            </a:r>
            <a:r>
              <a:t> can potentiate: </a:t>
            </a:r>
          </a:p>
          <a:p>
            <a:pPr lvl="1"/>
            <a:r>
              <a:t>Hypoglycaemic</a:t>
            </a:r>
            <a:r>
              <a:t> effect </a:t>
            </a:r>
            <a:r>
              <a:t>sulfonyureas</a:t>
            </a:r>
            <a:r>
              <a:t> </a:t>
            </a:r>
          </a:p>
          <a:p>
            <a:pPr lvl="1"/>
            <a:r>
              <a:t>Toxic effect of phenytoin </a:t>
            </a:r>
          </a:p>
          <a:p>
            <a:pPr lvl="1"/>
            <a:r>
              <a:t>Anticoagulant effect of warfarin which can lead to hemorrhage </a:t>
            </a:r>
          </a:p>
          <a:p>
            <a:r>
              <a:t>Can inhibit the immunosuppressant effect of cyclosporine for transplant patients</a:t>
            </a:r>
          </a:p>
          <a:p>
            <a:r>
              <a:rPr b="1"/>
              <a:t>Precautions</a:t>
            </a:r>
            <a:r>
              <a:t> </a:t>
            </a:r>
          </a:p>
          <a:p>
            <a:pPr indent="0" marL="0">
              <a:buNone/>
            </a:pPr>
            <a:r>
              <a:t>The sulfonamides are used with caution (close monitoring) in patients with: </a:t>
            </a:r>
          </a:p>
          <a:p>
            <a:pPr lvl="1"/>
            <a:r>
              <a:t>Renal or hepatic impairment </a:t>
            </a:r>
          </a:p>
          <a:p>
            <a:pPr lvl="1"/>
            <a:r>
              <a:t>Bronchial asthma </a:t>
            </a:r>
          </a:p>
          <a:p>
            <a:pPr lvl="1"/>
            <a:r>
              <a:t>Patients on sulfonylureas, phenytoin, warfarin and cyclosporine </a:t>
            </a:r>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952" name=""/>
        <p:cNvGrpSpPr/>
        <p:nvPr/>
      </p:nvGrpSpPr>
      <p:grpSpPr>
        <a:xfrm>
          <a:off x="0" y="0"/>
          <a:ext cx="0" cy="0"/>
          <a:chOff x="0" y="0"/>
          <a:chExt cx="0" cy="0"/>
        </a:xfrm>
      </p:grpSpPr>
      <p:sp>
        <p:nvSpPr>
          <p:cNvPr id="1049164" name="Title 1"/>
          <p:cNvSpPr>
            <a:spLocks noGrp="1"/>
          </p:cNvSpPr>
          <p:nvPr>
            <p:ph type="title"/>
          </p:nvPr>
        </p:nvSpPr>
        <p:spPr>
          <a:xfrm>
            <a:off x="838204" y="307976"/>
            <a:ext cx="10515600" cy="1139818"/>
          </a:xfrm>
        </p:spPr>
        <p:txBody>
          <a:bodyPr>
            <a:normAutofit fontScale="90000"/>
          </a:bodyPr>
          <a:p>
            <a:r>
              <a:t>cotrimoxazole(</a:t>
            </a:r>
            <a:r>
              <a:t>sulphonamides</a:t>
            </a:r>
            <a:r>
              <a:t> 400mg/trimethoprim 80mg) </a:t>
            </a:r>
            <a:r>
              <a:t>septrin</a:t>
            </a:r>
          </a:p>
        </p:txBody>
      </p:sp>
      <p:sp>
        <p:nvSpPr>
          <p:cNvPr id="1049165" name="Content Placeholder 2"/>
          <p:cNvSpPr>
            <a:spLocks noGrp="1"/>
          </p:cNvSpPr>
          <p:nvPr>
            <p:ph idx="1"/>
          </p:nvPr>
        </p:nvSpPr>
        <p:spPr>
          <a:xfrm>
            <a:off x="457200" y="1647820"/>
            <a:ext cx="11401425" cy="5029200"/>
          </a:xfrm>
        </p:spPr>
        <p:txBody>
          <a:bodyPr>
            <a:normAutofit fontScale="92500" lnSpcReduction="10000"/>
          </a:bodyPr>
          <a:p>
            <a:r>
              <a:t>Mechanisms of action </a:t>
            </a:r>
          </a:p>
          <a:p>
            <a:pPr lvl="1"/>
            <a:r>
              <a:rPr>
                <a:solidFill>
                  <a:srgbClr val="FF0000"/>
                </a:solidFill>
              </a:rPr>
              <a:t>Trimethoprim</a:t>
            </a:r>
            <a:r>
              <a:t> is an analog of folic acid that </a:t>
            </a:r>
            <a:r>
              <a:rPr b="1"/>
              <a:t>inhibits dihydrofolate reductase</a:t>
            </a:r>
            <a:r>
              <a:t>. </a:t>
            </a:r>
            <a:r>
              <a:rPr u="sng"/>
              <a:t>When used with sulfamethoxazole </a:t>
            </a:r>
            <a:r>
              <a:t>(TMP-SMX, cotrimoxazole), </a:t>
            </a:r>
            <a:r>
              <a:rPr b="1"/>
              <a:t>there is synergism and decreased emergence of resistance </a:t>
            </a:r>
            <a:r>
              <a:t>resulting from the sequential </a:t>
            </a:r>
            <a:r>
              <a:rPr b="1"/>
              <a:t>blockade of folic acid synthesis</a:t>
            </a:r>
            <a:r>
              <a:t>; the combination is </a:t>
            </a:r>
            <a:r>
              <a:rPr>
                <a:solidFill>
                  <a:srgbClr val="FF0000"/>
                </a:solidFill>
              </a:rPr>
              <a:t>usually bactericidal</a:t>
            </a:r>
            <a:endParaRPr>
              <a:solidFill>
                <a:srgbClr val="FF0000"/>
              </a:solidFill>
            </a:endParaRPr>
          </a:p>
          <a:p>
            <a:r>
              <a:t>Uses:</a:t>
            </a:r>
          </a:p>
          <a:p>
            <a:pPr lvl="1"/>
            <a:r>
              <a:t>Combination </a:t>
            </a:r>
            <a:r>
              <a:rPr b="1"/>
              <a:t>drug of choice in complicated UT infections and in respiratory, ear, and sinus infections associated with H. influenza or M. catarrhalis</a:t>
            </a:r>
            <a:r>
              <a:t>; </a:t>
            </a:r>
          </a:p>
          <a:p>
            <a:pPr lvl="1"/>
            <a:r>
              <a:t>Backup drug for L. monocytogenes, Proteus mirabilis, S. typhi, MRSA, and </a:t>
            </a:r>
            <a:r>
              <a:t>vibrios</a:t>
            </a:r>
            <a:r>
              <a:t>. </a:t>
            </a:r>
          </a:p>
          <a:p>
            <a:pPr lvl="1"/>
            <a:r>
              <a:rPr b="1"/>
              <a:t>Drug of choice for </a:t>
            </a:r>
            <a:r>
              <a:t>prophylaxis and treatment of Pneumocystis carinii pneumonia.</a:t>
            </a:r>
          </a:p>
          <a:p>
            <a:r>
              <a:t>Crystalluria and drug interactions are not common with TMP-SMX.</a:t>
            </a:r>
          </a:p>
          <a:p>
            <a:r>
              <a:rPr>
                <a:solidFill>
                  <a:srgbClr val="FF0000"/>
                </a:solidFill>
              </a:rPr>
              <a:t>Trimethoprim may cause anemia, leukopenia, and thrombocytopenia, most commonly in debilitated or immunosuppressed patients. </a:t>
            </a:r>
            <a:r>
              <a:rPr>
                <a:solidFill>
                  <a:srgbClr val="FF0000"/>
                </a:solidFill>
              </a:rPr>
              <a:t>Hematotoxicity</a:t>
            </a:r>
            <a:r>
              <a:rPr>
                <a:solidFill>
                  <a:srgbClr val="FF0000"/>
                </a:solidFill>
              </a:rPr>
              <a:t>, drug fever; rashes, and severe GI distress are problematic in patients with AIDS</a:t>
            </a:r>
            <a:endParaRPr>
              <a:solidFill>
                <a:srgbClr val="FF0000"/>
              </a:solidFill>
            </a:endParaRPr>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953" name=""/>
        <p:cNvGrpSpPr/>
        <p:nvPr/>
      </p:nvGrpSpPr>
      <p:grpSpPr>
        <a:xfrm>
          <a:off x="0" y="0"/>
          <a:ext cx="0" cy="0"/>
          <a:chOff x="0" y="0"/>
          <a:chExt cx="0" cy="0"/>
        </a:xfrm>
      </p:grpSpPr>
      <p:sp>
        <p:nvSpPr>
          <p:cNvPr id="1049166" name="Title 1"/>
          <p:cNvSpPr>
            <a:spLocks noGrp="1"/>
          </p:cNvSpPr>
          <p:nvPr>
            <p:ph type="title"/>
          </p:nvPr>
        </p:nvSpPr>
        <p:spPr/>
        <p:txBody>
          <a:bodyPr/>
          <a:p>
            <a:r>
              <a:t> cotrimoxazole(sulphonamides 400mg/trimethoprim 80mg) </a:t>
            </a:r>
            <a:r>
              <a:t>septrin</a:t>
            </a:r>
            <a:r>
              <a:t>.</a:t>
            </a:r>
          </a:p>
        </p:txBody>
      </p:sp>
      <p:sp>
        <p:nvSpPr>
          <p:cNvPr id="1049167" name="Content Placeholder 2"/>
          <p:cNvSpPr>
            <a:spLocks noGrp="1"/>
          </p:cNvSpPr>
          <p:nvPr>
            <p:ph idx="1"/>
          </p:nvPr>
        </p:nvSpPr>
        <p:spPr>
          <a:xfrm>
            <a:off x="838204" y="1882768"/>
            <a:ext cx="10515600" cy="4351339"/>
          </a:xfrm>
        </p:spPr>
        <p:txBody>
          <a:bodyPr>
            <a:normAutofit/>
          </a:bodyPr>
          <a:p>
            <a:r>
              <a:t>. This has replaced use of sulphonamide due to resistance.</a:t>
            </a:r>
          </a:p>
          <a:p>
            <a:pPr indent="0" marL="0">
              <a:buNone/>
            </a:pPr>
            <a:r>
              <a:rPr b="1"/>
              <a:t>Dosage for children</a:t>
            </a:r>
            <a:endParaRPr b="1"/>
          </a:p>
          <a:p>
            <a:r>
              <a:t>6weeks to 5months 120mg every 12 hours</a:t>
            </a:r>
          </a:p>
          <a:p>
            <a:r>
              <a:t>6months to 5years 240mg 10 hourly</a:t>
            </a:r>
          </a:p>
          <a:p>
            <a:r>
              <a:t>6years to 12 years 480mg 12hourly</a:t>
            </a:r>
            <a:endParaRPr b="1"/>
          </a:p>
          <a:p>
            <a:r>
              <a:rPr sz="3200"/>
              <a:t>Others sulphonamides are used for topical application for prophylaxis </a:t>
            </a:r>
            <a:r>
              <a:rPr b="1" sz="3200"/>
              <a:t>of burns, leg ulcers, pressure sores </a:t>
            </a:r>
            <a:r>
              <a:rPr sz="3200"/>
              <a:t>because of their wide anti bacteria spectrum</a:t>
            </a:r>
            <a:endParaRPr sz="3200"/>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954" name=""/>
        <p:cNvGrpSpPr/>
        <p:nvPr/>
      </p:nvGrpSpPr>
      <p:grpSpPr>
        <a:xfrm>
          <a:off x="0" y="0"/>
          <a:ext cx="0" cy="0"/>
          <a:chOff x="0" y="0"/>
          <a:chExt cx="0" cy="0"/>
        </a:xfrm>
      </p:grpSpPr>
      <p:sp>
        <p:nvSpPr>
          <p:cNvPr id="1049168" name="Title 1"/>
          <p:cNvSpPr>
            <a:spLocks noGrp="1"/>
          </p:cNvSpPr>
          <p:nvPr>
            <p:ph type="title"/>
          </p:nvPr>
        </p:nvSpPr>
        <p:spPr/>
        <p:txBody>
          <a:bodyPr>
            <a:normAutofit/>
          </a:bodyPr>
          <a:p>
            <a:r>
              <a:rPr sz="4000">
                <a:solidFill>
                  <a:srgbClr val="000000"/>
                </a:solidFill>
                <a:latin typeface="Calibri"/>
                <a:ea typeface="+mn-ea"/>
                <a:cs typeface="+mn-cs"/>
              </a:rPr>
              <a:t>Nursing Interventions/Client Education </a:t>
            </a:r>
            <a:endParaRPr sz="4000"/>
          </a:p>
        </p:txBody>
      </p:sp>
      <p:sp>
        <p:nvSpPr>
          <p:cNvPr id="1049169" name="Content Placeholder 2"/>
          <p:cNvSpPr>
            <a:spLocks noGrp="1"/>
          </p:cNvSpPr>
          <p:nvPr>
            <p:ph idx="1"/>
          </p:nvPr>
        </p:nvSpPr>
        <p:spPr/>
        <p:txBody>
          <a:bodyPr>
            <a:normAutofit/>
          </a:bodyPr>
          <a:p>
            <a:pPr indent="0" marL="0">
              <a:buNone/>
            </a:pPr>
            <a:r>
              <a:rPr b="1"/>
              <a:t>Nursing Administration  </a:t>
            </a:r>
            <a:r>
              <a:t>Instruct</a:t>
            </a:r>
            <a:r>
              <a:rPr b="1"/>
              <a:t> </a:t>
            </a:r>
            <a:r>
              <a:t>clients to take  the drugs on an empty stomach with a full glass of water. </a:t>
            </a:r>
            <a:r>
              <a:rPr b="1"/>
              <a:t>(Plenty of oral fluids)</a:t>
            </a:r>
            <a:endParaRPr b="1"/>
          </a:p>
          <a:p>
            <a:pPr>
              <a:buChar char="-"/>
            </a:pPr>
            <a:r>
              <a:t>Instruct clients to complete the prescribed course of antimicrobial therapy, even though symptoms may resolve before the full course is completed.</a:t>
            </a:r>
          </a:p>
          <a:p>
            <a:pPr indent="0" marL="0">
              <a:buNone/>
            </a:pPr>
            <a:r>
              <a:t> </a:t>
            </a:r>
            <a:r>
              <a:rPr b="1"/>
              <a:t>Nursing Evaluation of Medication Effectiveness </a:t>
            </a:r>
            <a:endParaRPr b="1"/>
          </a:p>
          <a:p>
            <a:pPr>
              <a:buChar char="-"/>
            </a:pPr>
            <a:r>
              <a:t> Depending on therapeutic intent, effectiveness may be evidenced by:  </a:t>
            </a:r>
          </a:p>
          <a:p>
            <a:pPr lvl="1">
              <a:buChar char="-"/>
            </a:pPr>
            <a:r>
              <a:t>Improvement of infection symptoms, such as improvement of urinary tract symptoms (decreased frequency, burning, and pain during urination) and negative urine cultures</a:t>
            </a:r>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955" name=""/>
        <p:cNvGrpSpPr/>
        <p:nvPr/>
      </p:nvGrpSpPr>
      <p:grpSpPr>
        <a:xfrm>
          <a:off x="0" y="0"/>
          <a:ext cx="0" cy="0"/>
          <a:chOff x="0" y="0"/>
          <a:chExt cx="0" cy="0"/>
        </a:xfrm>
      </p:grpSpPr>
      <p:sp>
        <p:nvSpPr>
          <p:cNvPr id="1049170" name="Title 1"/>
          <p:cNvSpPr>
            <a:spLocks noGrp="1"/>
          </p:cNvSpPr>
          <p:nvPr>
            <p:ph type="title"/>
          </p:nvPr>
        </p:nvSpPr>
        <p:spPr/>
        <p:txBody>
          <a:bodyPr>
            <a:normAutofit/>
          </a:bodyPr>
          <a:p>
            <a:r>
              <a:rPr b="1"/>
              <a:t>Glycopeptide antibiotics: Vancomycin and teicoplanin</a:t>
            </a:r>
            <a:endParaRPr b="1"/>
          </a:p>
        </p:txBody>
      </p:sp>
      <p:sp>
        <p:nvSpPr>
          <p:cNvPr id="1049171" name="Content Placeholder 2"/>
          <p:cNvSpPr>
            <a:spLocks noGrp="1"/>
          </p:cNvSpPr>
          <p:nvPr>
            <p:ph idx="1"/>
          </p:nvPr>
        </p:nvSpPr>
        <p:spPr>
          <a:xfrm>
            <a:off x="400050" y="1552579"/>
            <a:ext cx="11401425" cy="5191120"/>
          </a:xfrm>
        </p:spPr>
        <p:txBody>
          <a:bodyPr>
            <a:normAutofit/>
          </a:bodyPr>
          <a:p>
            <a:pPr indent="0" marL="0">
              <a:buNone/>
            </a:pPr>
            <a:r>
              <a:rPr b="1" sz="3200"/>
              <a:t>Mechanism of action and spectrum </a:t>
            </a:r>
            <a:endParaRPr b="1" sz="3200"/>
          </a:p>
          <a:p>
            <a:r>
              <a:rPr b="1" sz="3200"/>
              <a:t>Bactericidal</a:t>
            </a:r>
            <a:r>
              <a:rPr sz="3200"/>
              <a:t> drugs that acts at </a:t>
            </a:r>
            <a:r>
              <a:rPr b="1" sz="3200"/>
              <a:t>an early stage in cell-wall synthesis</a:t>
            </a:r>
            <a:r>
              <a:rPr sz="3200"/>
              <a:t>, binding at the D-ala-D-ala pentapeptide to sterically hinder the </a:t>
            </a:r>
            <a:r>
              <a:rPr sz="3200"/>
              <a:t>transglycosylation</a:t>
            </a:r>
            <a:r>
              <a:rPr sz="3200"/>
              <a:t> reactions involved in elongation of peptidoglycan chains. </a:t>
            </a:r>
            <a:endParaRPr sz="3200"/>
          </a:p>
          <a:p>
            <a:r>
              <a:rPr sz="3200"/>
              <a:t>Activity is </a:t>
            </a:r>
            <a:r>
              <a:rPr b="1" sz="3200"/>
              <a:t>restricted to gram-positive cocci including MRSA </a:t>
            </a:r>
            <a:r>
              <a:rPr sz="3200"/>
              <a:t>(</a:t>
            </a:r>
            <a:r>
              <a:rPr sz="3200">
                <a:solidFill>
                  <a:srgbClr val="FF0000"/>
                </a:solidFill>
              </a:rPr>
              <a:t>Drug of choice</a:t>
            </a:r>
            <a:r>
              <a:rPr sz="3200"/>
              <a:t>) and </a:t>
            </a:r>
            <a:r>
              <a:rPr b="1" sz="3200"/>
              <a:t>enterococci and the anaerobe Clostridium </a:t>
            </a:r>
            <a:r>
              <a:rPr b="1" sz="3200"/>
              <a:t>dificile</a:t>
            </a:r>
            <a:r>
              <a:rPr b="1" sz="3200"/>
              <a:t> </a:t>
            </a:r>
            <a:r>
              <a:rPr sz="3200"/>
              <a:t>(backup drug). </a:t>
            </a:r>
            <a:endParaRPr sz="3200"/>
          </a:p>
          <a:p>
            <a:r>
              <a:rPr sz="3200"/>
              <a:t>Vancomycin (+/- rifampin) is also active against </a:t>
            </a:r>
            <a:r>
              <a:rPr b="1" sz="3200"/>
              <a:t>pneumococci resistant to the </a:t>
            </a:r>
            <a:r>
              <a:rPr b="1" sz="3200"/>
              <a:t>penicillins</a:t>
            </a:r>
            <a:endParaRPr b="1" sz="3200"/>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956" name=""/>
        <p:cNvGrpSpPr/>
        <p:nvPr/>
      </p:nvGrpSpPr>
      <p:grpSpPr>
        <a:xfrm>
          <a:off x="0" y="0"/>
          <a:ext cx="0" cy="0"/>
          <a:chOff x="0" y="0"/>
          <a:chExt cx="0" cy="0"/>
        </a:xfrm>
      </p:grpSpPr>
      <p:sp>
        <p:nvSpPr>
          <p:cNvPr id="1049172" name="Title 1"/>
          <p:cNvSpPr>
            <a:spLocks noGrp="1"/>
          </p:cNvSpPr>
          <p:nvPr>
            <p:ph type="title"/>
          </p:nvPr>
        </p:nvSpPr>
        <p:spPr/>
        <p:txBody>
          <a:bodyPr/>
          <a:p>
            <a:r>
              <a:rPr b="1"/>
              <a:t>Glycopeptide antibiotics CONT’</a:t>
            </a:r>
          </a:p>
        </p:txBody>
      </p:sp>
      <p:sp>
        <p:nvSpPr>
          <p:cNvPr id="1049173" name="Content Placeholder 2"/>
          <p:cNvSpPr>
            <a:spLocks noGrp="1"/>
          </p:cNvSpPr>
          <p:nvPr>
            <p:ph idx="1"/>
          </p:nvPr>
        </p:nvSpPr>
        <p:spPr/>
        <p:txBody>
          <a:bodyPr>
            <a:normAutofit/>
          </a:bodyPr>
          <a:p>
            <a:pPr indent="0" marL="0">
              <a:buNone/>
            </a:pPr>
            <a:r>
              <a:rPr sz="4000"/>
              <a:t>Pharmacokinetics </a:t>
            </a:r>
            <a:endParaRPr sz="4000"/>
          </a:p>
          <a:p>
            <a:r>
              <a:rPr sz="4000"/>
              <a:t>Not significantly absorbed orally. </a:t>
            </a:r>
            <a:endParaRPr sz="4000"/>
          </a:p>
          <a:p>
            <a:r>
              <a:rPr sz="4000"/>
              <a:t>Enters most tissues (e.g., bone), but not CNS. </a:t>
            </a:r>
            <a:endParaRPr sz="4000"/>
          </a:p>
          <a:p>
            <a:r>
              <a:rPr sz="4000"/>
              <a:t>Eliminated by renal filtration (important to decrease dose in renal dysfunction) and has a long half-life</a:t>
            </a:r>
            <a:endParaRPr sz="4000"/>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957" name=""/>
        <p:cNvGrpSpPr/>
        <p:nvPr/>
      </p:nvGrpSpPr>
      <p:grpSpPr>
        <a:xfrm>
          <a:off x="0" y="0"/>
          <a:ext cx="0" cy="0"/>
          <a:chOff x="0" y="0"/>
          <a:chExt cx="0" cy="0"/>
        </a:xfrm>
      </p:grpSpPr>
      <p:sp>
        <p:nvSpPr>
          <p:cNvPr id="1049174" name="Title 1"/>
          <p:cNvSpPr>
            <a:spLocks noGrp="1"/>
          </p:cNvSpPr>
          <p:nvPr>
            <p:ph type="title"/>
          </p:nvPr>
        </p:nvSpPr>
        <p:spPr>
          <a:xfrm>
            <a:off x="838204" y="365126"/>
            <a:ext cx="10515600" cy="863598"/>
          </a:xfrm>
        </p:spPr>
        <p:txBody>
          <a:bodyPr/>
          <a:p>
            <a:r>
              <a:t>Vancomycin Indications </a:t>
            </a:r>
          </a:p>
        </p:txBody>
      </p:sp>
      <p:sp>
        <p:nvSpPr>
          <p:cNvPr id="1049175" name="Content Placeholder 2"/>
          <p:cNvSpPr>
            <a:spLocks noGrp="1"/>
          </p:cNvSpPr>
          <p:nvPr>
            <p:ph idx="1"/>
          </p:nvPr>
        </p:nvSpPr>
        <p:spPr>
          <a:xfrm>
            <a:off x="838204" y="1228725"/>
            <a:ext cx="10515600" cy="4948232"/>
          </a:xfrm>
        </p:spPr>
        <p:txBody>
          <a:bodyPr>
            <a:normAutofit lnSpcReduction="10000"/>
          </a:bodyPr>
          <a:p>
            <a:r>
              <a:rPr sz="3600"/>
              <a:t>Used by the intravenous route in the treatment of endocarditis and other serious infections caused by Gram-positive cocci. It has a long duration of action and can therefore be given every 12 hours. </a:t>
            </a:r>
            <a:endParaRPr sz="3600"/>
          </a:p>
          <a:p>
            <a:r>
              <a:rPr sz="3600"/>
              <a:t>Vancomycin (added to dialysis fluid) is also used in the treatment of peritonitis associated with peritoneal dialysis </a:t>
            </a:r>
            <a:endParaRPr sz="3600"/>
          </a:p>
          <a:p>
            <a:r>
              <a:rPr sz="3600"/>
              <a:t>Given by mouth for 10–14 days is effective in the treatment of </a:t>
            </a:r>
            <a:r>
              <a:rPr b="1" sz="3600"/>
              <a:t>Clostridium difficile infection</a:t>
            </a:r>
            <a:r>
              <a:rPr sz="3600"/>
              <a:t>. </a:t>
            </a:r>
            <a:endParaRPr sz="3600"/>
          </a:p>
          <a:p>
            <a:r>
              <a:rPr sz="3600"/>
              <a:t>Treatment of MRSA infection</a:t>
            </a:r>
            <a:endParaRPr sz="3600"/>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958" name=""/>
        <p:cNvGrpSpPr/>
        <p:nvPr/>
      </p:nvGrpSpPr>
      <p:grpSpPr>
        <a:xfrm>
          <a:off x="0" y="0"/>
          <a:ext cx="0" cy="0"/>
          <a:chOff x="0" y="0"/>
          <a:chExt cx="0" cy="0"/>
        </a:xfrm>
      </p:grpSpPr>
      <p:sp>
        <p:nvSpPr>
          <p:cNvPr id="1049176" name="Title 1"/>
          <p:cNvSpPr>
            <a:spLocks noGrp="1"/>
          </p:cNvSpPr>
          <p:nvPr>
            <p:ph type="title"/>
          </p:nvPr>
        </p:nvSpPr>
        <p:spPr/>
        <p:txBody>
          <a:bodyPr/>
          <a:p>
            <a:r>
              <a:t>Cautions</a:t>
            </a:r>
          </a:p>
        </p:txBody>
      </p:sp>
      <p:sp>
        <p:nvSpPr>
          <p:cNvPr id="1049177" name="Content Placeholder 2"/>
          <p:cNvSpPr>
            <a:spLocks noGrp="1"/>
          </p:cNvSpPr>
          <p:nvPr>
            <p:ph idx="1"/>
          </p:nvPr>
        </p:nvSpPr>
        <p:spPr>
          <a:xfrm>
            <a:off x="838204" y="1438279"/>
            <a:ext cx="10515600" cy="4738692"/>
          </a:xfrm>
        </p:spPr>
        <p:txBody>
          <a:bodyPr>
            <a:normAutofit fontScale="92500" lnSpcReduction="10000"/>
          </a:bodyPr>
          <a:p>
            <a:r>
              <a:t>Avoid rapid infusion (risk of anaphylactoid reactions); </a:t>
            </a:r>
          </a:p>
          <a:p>
            <a:r>
              <a:t>Rotate infusion sites; </a:t>
            </a:r>
          </a:p>
          <a:p>
            <a:r>
              <a:t>Elderly; avoid if history of deafness; </a:t>
            </a:r>
          </a:p>
          <a:p>
            <a:r>
              <a:t>All patients require plasma-vancomycin measurement (after 3 or 4 doses if renal function normal, earlier if renal impairment), blood counts, urinalysis, and renal function tests; </a:t>
            </a:r>
          </a:p>
          <a:p>
            <a:r>
              <a:t>Monitor auditory function in elderly or if renal impairment;</a:t>
            </a:r>
          </a:p>
          <a:p>
            <a:r>
              <a:rPr b="1"/>
              <a:t>Renal impairment </a:t>
            </a:r>
            <a:r>
              <a:t>Reduce dose—monitor plasma-vancomycin concentration and renal function regularly; </a:t>
            </a:r>
          </a:p>
          <a:p>
            <a:r>
              <a:rPr b="1"/>
              <a:t>Pregnancy ;</a:t>
            </a:r>
            <a:r>
              <a:t>Used only if potential benefit outweighs risk. Plasma-vancomycin concentration monitoring essential to reduce risk of fetal toxicity</a:t>
            </a:r>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959" name=""/>
        <p:cNvGrpSpPr/>
        <p:nvPr/>
      </p:nvGrpSpPr>
      <p:grpSpPr>
        <a:xfrm>
          <a:off x="0" y="0"/>
          <a:ext cx="0" cy="0"/>
          <a:chOff x="0" y="0"/>
          <a:chExt cx="0" cy="0"/>
        </a:xfrm>
      </p:grpSpPr>
      <p:sp>
        <p:nvSpPr>
          <p:cNvPr id="1049178" name="Title 1"/>
          <p:cNvSpPr>
            <a:spLocks noGrp="1"/>
          </p:cNvSpPr>
          <p:nvPr>
            <p:ph type="title"/>
          </p:nvPr>
        </p:nvSpPr>
        <p:spPr>
          <a:xfrm>
            <a:off x="838204" y="365126"/>
            <a:ext cx="10515600" cy="796918"/>
          </a:xfrm>
        </p:spPr>
        <p:txBody>
          <a:bodyPr/>
          <a:p>
            <a:r>
              <a:t>Side-effects</a:t>
            </a:r>
          </a:p>
        </p:txBody>
      </p:sp>
      <p:sp>
        <p:nvSpPr>
          <p:cNvPr id="1049179" name="Content Placeholder 2"/>
          <p:cNvSpPr>
            <a:spLocks noGrp="1"/>
          </p:cNvSpPr>
          <p:nvPr>
            <p:ph idx="1"/>
          </p:nvPr>
        </p:nvSpPr>
        <p:spPr>
          <a:xfrm>
            <a:off x="838204" y="1228725"/>
            <a:ext cx="10515600" cy="5264148"/>
          </a:xfrm>
        </p:spPr>
        <p:txBody>
          <a:bodyPr>
            <a:normAutofit lnSpcReduction="10000"/>
          </a:bodyPr>
          <a:p>
            <a:r>
              <a:rPr b="1" sz="3200"/>
              <a:t>After parenteral administration: </a:t>
            </a:r>
            <a:endParaRPr b="1" sz="3200"/>
          </a:p>
          <a:p>
            <a:pPr lvl="1"/>
            <a:r>
              <a:rPr b="1" sz="2800"/>
              <a:t>nephrotoxicity</a:t>
            </a:r>
            <a:r>
              <a:rPr sz="2800"/>
              <a:t> including renal failure and interstitial nephritis; </a:t>
            </a:r>
            <a:endParaRPr sz="2800"/>
          </a:p>
          <a:p>
            <a:pPr lvl="1"/>
            <a:r>
              <a:rPr b="1" sz="2800"/>
              <a:t>ototoxicity</a:t>
            </a:r>
            <a:r>
              <a:rPr sz="2800"/>
              <a:t> (discontinue if tinnitus occurs); </a:t>
            </a:r>
            <a:endParaRPr sz="2800"/>
          </a:p>
          <a:p>
            <a:pPr lvl="1"/>
            <a:r>
              <a:rPr b="1" sz="2800"/>
              <a:t>blood disorders </a:t>
            </a:r>
            <a:r>
              <a:rPr sz="2800"/>
              <a:t>including neutropenia (usually after 1 week or cumulative dose of 25 g), rarely agranulocytosis and thrombocytopenia; </a:t>
            </a:r>
            <a:endParaRPr sz="2800"/>
          </a:p>
          <a:p>
            <a:pPr lvl="1"/>
            <a:r>
              <a:rPr sz="2800"/>
              <a:t>nausea; chills, fever; eosinophilia, anaphylaxis, rashes (including exfoliative dermatitis, Stevens-Johnson syndrome, toxic epidermal necrolysis, and vasculitis); phlebitis (irritant to tissue). </a:t>
            </a:r>
            <a:endParaRPr sz="2800"/>
          </a:p>
          <a:p>
            <a:r>
              <a:rPr b="1" sz="3200"/>
              <a:t>On rapid infusion</a:t>
            </a:r>
            <a:r>
              <a:rPr sz="3200"/>
              <a:t>: severe hypotension (including shock and cardiac arrest), wheezing, </a:t>
            </a:r>
            <a:r>
              <a:rPr sz="3200"/>
              <a:t>dyspnoea</a:t>
            </a:r>
            <a:r>
              <a:rPr sz="3200"/>
              <a:t>, urticaria, pruritus, flushing of the upper body (‘red man’ syndrome), pain and muscle spasm of back and chest</a:t>
            </a:r>
            <a:endParaRPr sz="3200"/>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960" name=""/>
        <p:cNvGrpSpPr/>
        <p:nvPr/>
      </p:nvGrpSpPr>
      <p:grpSpPr>
        <a:xfrm>
          <a:off x="0" y="0"/>
          <a:ext cx="0" cy="0"/>
          <a:chOff x="0" y="0"/>
          <a:chExt cx="0" cy="0"/>
        </a:xfrm>
      </p:grpSpPr>
      <p:sp>
        <p:nvSpPr>
          <p:cNvPr id="1049180" name="Title 1"/>
          <p:cNvSpPr>
            <a:spLocks noGrp="1"/>
          </p:cNvSpPr>
          <p:nvPr>
            <p:ph type="title"/>
          </p:nvPr>
        </p:nvSpPr>
        <p:spPr>
          <a:xfrm>
            <a:off x="838204" y="365126"/>
            <a:ext cx="10515600" cy="882643"/>
          </a:xfrm>
        </p:spPr>
        <p:txBody>
          <a:bodyPr/>
          <a:p>
            <a:r>
              <a:t>Dose</a:t>
            </a:r>
          </a:p>
        </p:txBody>
      </p:sp>
      <p:sp>
        <p:nvSpPr>
          <p:cNvPr id="1049181" name="Content Placeholder 2"/>
          <p:cNvSpPr>
            <a:spLocks noGrp="1"/>
          </p:cNvSpPr>
          <p:nvPr>
            <p:ph idx="1"/>
          </p:nvPr>
        </p:nvSpPr>
        <p:spPr>
          <a:xfrm>
            <a:off x="419095" y="1181104"/>
            <a:ext cx="10934695" cy="5311768"/>
          </a:xfrm>
        </p:spPr>
        <p:txBody>
          <a:bodyPr>
            <a:normAutofit/>
          </a:bodyPr>
          <a:p>
            <a:r>
              <a:t>Oral for clostridium difficile infection, </a:t>
            </a:r>
          </a:p>
          <a:p>
            <a:pPr lvl="1"/>
            <a:r>
              <a:rPr b="1"/>
              <a:t>Adult and child over 12 years,</a:t>
            </a:r>
            <a:r>
              <a:t>125 mg every 6 hours for 10–14 days (increased up to 500 mg every 6 hours if infection fails to respond or is </a:t>
            </a:r>
            <a:r>
              <a:t>lifethreatening</a:t>
            </a:r>
            <a:r>
              <a:t>); </a:t>
            </a:r>
          </a:p>
          <a:p>
            <a:pPr lvl="1"/>
            <a:r>
              <a:rPr b="1"/>
              <a:t>Child 1 month–5 years</a:t>
            </a:r>
            <a:r>
              <a:t>: 5 mg/kg every 6 hours for 10–14 days (increased up to 10 mg/kg every 6 hours if infection fails to respond or is life-threatening); </a:t>
            </a:r>
          </a:p>
          <a:p>
            <a:pPr lvl="1"/>
            <a:r>
              <a:rPr b="1"/>
              <a:t>5–12 years, </a:t>
            </a:r>
            <a:r>
              <a:t>half adult dose. </a:t>
            </a:r>
          </a:p>
          <a:p>
            <a:r>
              <a:t>B</a:t>
            </a:r>
            <a:r>
              <a:rPr b="1"/>
              <a:t>y intravenous infusion, </a:t>
            </a:r>
            <a:endParaRPr b="1"/>
          </a:p>
          <a:p>
            <a:pPr lvl="1"/>
            <a:r>
              <a:t>1–1.5 g every 12 hours; </a:t>
            </a:r>
          </a:p>
          <a:p>
            <a:pPr lvl="1"/>
            <a:r>
              <a:t>Elderly over 65 years, 500 mg every 12 hours or 1 g once daily; </a:t>
            </a:r>
          </a:p>
          <a:p>
            <a:pPr lvl="1"/>
            <a:r>
              <a:t>Child over 1 month, 15 mg/kg every 8 hours (max. 2 g daily) </a:t>
            </a:r>
          </a:p>
          <a:p>
            <a:r>
              <a:rPr b="1"/>
              <a:t>Surgical prophylaxis</a:t>
            </a:r>
            <a:r>
              <a:t>, by intravenous infusion, adult over 18 years, 1 g</a:t>
            </a:r>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961" name=""/>
        <p:cNvGrpSpPr/>
        <p:nvPr/>
      </p:nvGrpSpPr>
      <p:grpSpPr>
        <a:xfrm>
          <a:off x="0" y="0"/>
          <a:ext cx="0" cy="0"/>
          <a:chOff x="0" y="0"/>
          <a:chExt cx="0" cy="0"/>
        </a:xfrm>
      </p:grpSpPr>
      <p:sp>
        <p:nvSpPr>
          <p:cNvPr id="1049182" name="Title 1"/>
          <p:cNvSpPr>
            <a:spLocks noGrp="1"/>
          </p:cNvSpPr>
          <p:nvPr>
            <p:ph type="title"/>
          </p:nvPr>
        </p:nvSpPr>
        <p:spPr>
          <a:xfrm>
            <a:off x="838204" y="365126"/>
            <a:ext cx="10515600" cy="1016003"/>
          </a:xfrm>
        </p:spPr>
        <p:txBody>
          <a:bodyPr/>
          <a:p>
            <a:r>
              <a:t>                          </a:t>
            </a:r>
            <a:r>
              <a:rPr b="1"/>
              <a:t>Chloramphenicol</a:t>
            </a:r>
            <a:endParaRPr b="1"/>
          </a:p>
        </p:txBody>
      </p:sp>
      <p:sp>
        <p:nvSpPr>
          <p:cNvPr id="1049183" name="Content Placeholder 2"/>
          <p:cNvSpPr>
            <a:spLocks noGrp="1"/>
          </p:cNvSpPr>
          <p:nvPr>
            <p:ph idx="1"/>
          </p:nvPr>
        </p:nvSpPr>
        <p:spPr>
          <a:xfrm>
            <a:off x="685800" y="1381129"/>
            <a:ext cx="10934695" cy="5248270"/>
          </a:xfrm>
        </p:spPr>
        <p:txBody>
          <a:bodyPr>
            <a:normAutofit lnSpcReduction="10000"/>
          </a:bodyPr>
          <a:p>
            <a:r>
              <a:rPr sz="3600"/>
              <a:t>It is </a:t>
            </a:r>
            <a:r>
              <a:rPr b="1" sz="3600"/>
              <a:t>soluble in water </a:t>
            </a:r>
            <a:r>
              <a:rPr sz="3600"/>
              <a:t>and poorly soluble in alcohol</a:t>
            </a:r>
            <a:endParaRPr sz="3600"/>
          </a:p>
          <a:p>
            <a:r>
              <a:rPr sz="3600"/>
              <a:t>Chloramphenicol succinate which is used for </a:t>
            </a:r>
            <a:r>
              <a:rPr b="1" sz="3600"/>
              <a:t>parentera</a:t>
            </a:r>
            <a:r>
              <a:rPr sz="3600"/>
              <a:t>l administration is </a:t>
            </a:r>
            <a:r>
              <a:rPr b="1" sz="3600"/>
              <a:t>highly water soluble </a:t>
            </a:r>
            <a:endParaRPr b="1" sz="3600"/>
          </a:p>
          <a:p>
            <a:r>
              <a:rPr b="1" sz="3600"/>
              <a:t>MOA</a:t>
            </a:r>
            <a:endParaRPr b="1" sz="3600"/>
          </a:p>
          <a:p>
            <a:r>
              <a:rPr b="1" sz="3600"/>
              <a:t>Bacteriostatic </a:t>
            </a:r>
            <a:r>
              <a:rPr sz="3600"/>
              <a:t>drug which act by </a:t>
            </a:r>
            <a:r>
              <a:rPr b="1" sz="3600"/>
              <a:t>inhibiting protein synthesis </a:t>
            </a:r>
            <a:r>
              <a:rPr sz="3600"/>
              <a:t>with a wide spectrum of activity against both aerobic and anaerobic gram positive and gram negative  bacterial.</a:t>
            </a:r>
            <a:endParaRPr sz="3600"/>
          </a:p>
          <a:p>
            <a:endParaRPr sz="3600"/>
          </a:p>
          <a:p>
            <a:pPr indent="0" marL="0">
              <a:buNone/>
            </a:pPr>
            <a:r>
              <a:rPr sz="3600"/>
              <a:t>It binds to the 50s sub unit of the bacteria ribosome</a:t>
            </a:r>
            <a:endParaRPr sz="3600"/>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962" name=""/>
        <p:cNvGrpSpPr/>
        <p:nvPr/>
      </p:nvGrpSpPr>
      <p:grpSpPr>
        <a:xfrm>
          <a:off x="0" y="0"/>
          <a:ext cx="0" cy="0"/>
          <a:chOff x="0" y="0"/>
          <a:chExt cx="0" cy="0"/>
        </a:xfrm>
      </p:grpSpPr>
      <p:sp>
        <p:nvSpPr>
          <p:cNvPr id="1049184" name="Title 1"/>
          <p:cNvSpPr>
            <a:spLocks noGrp="1"/>
          </p:cNvSpPr>
          <p:nvPr>
            <p:ph type="title"/>
          </p:nvPr>
        </p:nvSpPr>
        <p:spPr>
          <a:xfrm>
            <a:off x="838204" y="306511"/>
            <a:ext cx="10515600" cy="1325556"/>
          </a:xfrm>
        </p:spPr>
        <p:txBody>
          <a:bodyPr/>
          <a:p>
            <a:r>
              <a:rPr b="1"/>
              <a:t>pharmacokinetics</a:t>
            </a:r>
            <a:endParaRPr b="1"/>
          </a:p>
        </p:txBody>
      </p:sp>
      <p:sp>
        <p:nvSpPr>
          <p:cNvPr id="1049185" name="Content Placeholder 2"/>
          <p:cNvSpPr>
            <a:spLocks noGrp="1"/>
          </p:cNvSpPr>
          <p:nvPr>
            <p:ph idx="1"/>
          </p:nvPr>
        </p:nvSpPr>
        <p:spPr/>
        <p:txBody>
          <a:bodyPr>
            <a:normAutofit/>
          </a:bodyPr>
          <a:p>
            <a:r>
              <a:t>The usual dosage of chloramphenicol is 50-100mg/kg/d.</a:t>
            </a:r>
          </a:p>
          <a:p>
            <a:r>
              <a:t>After oral administration </a:t>
            </a:r>
            <a:r>
              <a:rPr b="1"/>
              <a:t>crystalline chloramphenicol is rapidly and completely absorbed.</a:t>
            </a:r>
            <a:r>
              <a:t> </a:t>
            </a:r>
          </a:p>
          <a:p>
            <a:r>
              <a:t>Distribution: good tissue distribution, including CSF</a:t>
            </a:r>
            <a:endParaRPr b="1"/>
          </a:p>
          <a:p>
            <a:r>
              <a:t>A 1g oral dose produces blood levels between 10and 15mcg/ml</a:t>
            </a:r>
          </a:p>
          <a:p>
            <a:r>
              <a:rPr b="1"/>
              <a:t>Chloramphenicol palmitate </a:t>
            </a:r>
            <a:r>
              <a:t>is a pro drug that is hydrolyzed in the intestine to yield free chloramphenicol.</a:t>
            </a:r>
          </a:p>
          <a:p>
            <a:r>
              <a:t>Metabolized by hepatic glucuronidation, and </a:t>
            </a:r>
            <a:r>
              <a:rPr b="1"/>
              <a:t>dose reductions are needed in liver dysfunction and in neonates</a:t>
            </a:r>
            <a:r>
              <a:t>.</a:t>
            </a:r>
          </a:p>
          <a:p>
            <a:pPr indent="0" marL="0">
              <a:buNone/>
            </a:pPr>
          </a:p>
          <a:p>
            <a:pPr indent="0" marL="0">
              <a:buNone/>
            </a:pPr>
            <a:endParaRPr b="1"/>
          </a:p>
          <a:p>
            <a:pPr indent="0" marL="0">
              <a:buNone/>
            </a:pPr>
            <a:endParaRPr b="1"/>
          </a:p>
          <a:p>
            <a:pPr indent="0" marL="0">
              <a:buNone/>
            </a:pPr>
            <a:endParaRPr b="1"/>
          </a:p>
          <a:p>
            <a:pPr indent="0" marL="0">
              <a:buNone/>
            </a:pPr>
            <a:endParaRPr b="1"/>
          </a:p>
          <a:p>
            <a:pPr indent="0" marL="0">
              <a:buNone/>
            </a:pPr>
            <a:endParaRPr b="1"/>
          </a:p>
          <a:p>
            <a:pPr indent="0" marL="0">
              <a:buNone/>
            </a:pPr>
            <a:endParaRPr b="1"/>
          </a:p>
          <a:p>
            <a:pPr indent="0" marL="0">
              <a:buNone/>
            </a:pPr>
            <a:endParaRPr b="1"/>
          </a:p>
          <a:p>
            <a:pPr indent="0" marL="0">
              <a:buNone/>
            </a:pPr>
            <a:endParaRPr b="1"/>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963" name=""/>
        <p:cNvGrpSpPr/>
        <p:nvPr/>
      </p:nvGrpSpPr>
      <p:grpSpPr>
        <a:xfrm>
          <a:off x="0" y="0"/>
          <a:ext cx="0" cy="0"/>
          <a:chOff x="0" y="0"/>
          <a:chExt cx="0" cy="0"/>
        </a:xfrm>
      </p:grpSpPr>
      <p:sp>
        <p:nvSpPr>
          <p:cNvPr id="1049186" name="Title 1"/>
          <p:cNvSpPr>
            <a:spLocks noGrp="1"/>
          </p:cNvSpPr>
          <p:nvPr>
            <p:ph type="title"/>
          </p:nvPr>
        </p:nvSpPr>
        <p:spPr/>
        <p:txBody>
          <a:bodyPr/>
          <a:p>
            <a:r>
              <a:t> </a:t>
            </a:r>
            <a:r>
              <a:rPr b="1"/>
              <a:t>clinical uses</a:t>
            </a:r>
            <a:endParaRPr b="1"/>
          </a:p>
        </p:txBody>
      </p:sp>
      <p:sp>
        <p:nvSpPr>
          <p:cNvPr id="1049187" name="Content Placeholder 2"/>
          <p:cNvSpPr>
            <a:spLocks noGrp="1"/>
          </p:cNvSpPr>
          <p:nvPr>
            <p:ph idx="1"/>
          </p:nvPr>
        </p:nvSpPr>
        <p:spPr>
          <a:xfrm>
            <a:off x="838204" y="1362070"/>
            <a:ext cx="10515600" cy="5200650"/>
          </a:xfrm>
        </p:spPr>
        <p:txBody>
          <a:bodyPr>
            <a:normAutofit/>
          </a:bodyPr>
          <a:p>
            <a:r>
              <a:t> it is </a:t>
            </a:r>
            <a:r>
              <a:rPr>
                <a:solidFill>
                  <a:srgbClr val="FF0000"/>
                </a:solidFill>
              </a:rPr>
              <a:t>rarely used due </a:t>
            </a:r>
            <a:r>
              <a:t>to it potential toxicity and bacterial resistance.</a:t>
            </a:r>
            <a:r>
              <a:rPr>
                <a:solidFill>
                  <a:srgbClr val="FF0000"/>
                </a:solidFill>
              </a:rPr>
              <a:t> Reserved for the treatment of life-threatening infections, particularly those caused by </a:t>
            </a:r>
            <a:r>
              <a:rPr>
                <a:solidFill>
                  <a:srgbClr val="FF0000"/>
                </a:solidFill>
              </a:rPr>
              <a:t>Haemophilus</a:t>
            </a:r>
            <a:r>
              <a:rPr>
                <a:solidFill>
                  <a:srgbClr val="FF0000"/>
                </a:solidFill>
              </a:rPr>
              <a:t> influenzae</a:t>
            </a:r>
            <a:endParaRPr>
              <a:solidFill>
                <a:srgbClr val="FF0000"/>
              </a:solidFill>
            </a:endParaRPr>
          </a:p>
          <a:p>
            <a:r>
              <a:t>Used to treat</a:t>
            </a:r>
            <a:r>
              <a:rPr b="1"/>
              <a:t>; serious rickettsia infections </a:t>
            </a:r>
            <a:r>
              <a:t>such as  </a:t>
            </a:r>
            <a:r>
              <a:rPr b="1"/>
              <a:t>typhus</a:t>
            </a:r>
            <a:r>
              <a:t> and </a:t>
            </a:r>
            <a:r>
              <a:rPr b="1"/>
              <a:t>rocky mountain spotted fever.</a:t>
            </a:r>
            <a:endParaRPr b="1"/>
          </a:p>
          <a:p>
            <a:r>
              <a:t>Alternative for beta lactam antibiotics for treatment of </a:t>
            </a:r>
            <a:r>
              <a:rPr b="1"/>
              <a:t>meningococcal meningitis </a:t>
            </a:r>
            <a:r>
              <a:t>and</a:t>
            </a:r>
            <a:r>
              <a:rPr b="1"/>
              <a:t> pneumococcal  meningitis</a:t>
            </a:r>
            <a:endParaRPr b="1"/>
          </a:p>
          <a:p>
            <a:r>
              <a:rPr b="1"/>
              <a:t>Topical eye infections</a:t>
            </a:r>
            <a:endParaRPr b="1"/>
          </a:p>
          <a:p>
            <a:pPr indent="0" marL="0">
              <a:buNone/>
            </a:pPr>
            <a:r>
              <a:t>Also currently a backup drug for infections due to Salmonella typhi, B. fragilis, Rickettsia, and sometime bacterial meningitis</a:t>
            </a:r>
            <a:endParaRPr b="1"/>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964" name=""/>
        <p:cNvGrpSpPr/>
        <p:nvPr/>
      </p:nvGrpSpPr>
      <p:grpSpPr>
        <a:xfrm>
          <a:off x="0" y="0"/>
          <a:ext cx="0" cy="0"/>
          <a:chOff x="0" y="0"/>
          <a:chExt cx="0" cy="0"/>
        </a:xfrm>
      </p:grpSpPr>
      <p:sp>
        <p:nvSpPr>
          <p:cNvPr id="1049188" name="Title 1"/>
          <p:cNvSpPr>
            <a:spLocks noGrp="1"/>
          </p:cNvSpPr>
          <p:nvPr>
            <p:ph type="title"/>
          </p:nvPr>
        </p:nvSpPr>
        <p:spPr>
          <a:xfrm>
            <a:off x="838204" y="365126"/>
            <a:ext cx="10515600" cy="558803"/>
          </a:xfrm>
        </p:spPr>
        <p:txBody>
          <a:bodyPr>
            <a:normAutofit fontScale="90000"/>
          </a:bodyPr>
          <a:p>
            <a:r>
              <a:t>Cautions and Contra indications</a:t>
            </a:r>
          </a:p>
        </p:txBody>
      </p:sp>
      <p:sp>
        <p:nvSpPr>
          <p:cNvPr id="1049189" name="Content Placeholder 2"/>
          <p:cNvSpPr>
            <a:spLocks noGrp="1"/>
          </p:cNvSpPr>
          <p:nvPr>
            <p:ph idx="1"/>
          </p:nvPr>
        </p:nvSpPr>
        <p:spPr>
          <a:xfrm>
            <a:off x="228600" y="1104895"/>
            <a:ext cx="11734795" cy="5514975"/>
          </a:xfrm>
        </p:spPr>
        <p:txBody>
          <a:bodyPr>
            <a:normAutofit fontScale="92500" lnSpcReduction="20000"/>
          </a:bodyPr>
          <a:p>
            <a:r>
              <a:rPr b="1"/>
              <a:t>Cautions </a:t>
            </a:r>
            <a:endParaRPr b="1"/>
          </a:p>
          <a:p>
            <a:pPr lvl="1"/>
            <a:r>
              <a:t>Avoid repeated courses and prolonged treatment; blood counts required before and periodically during treatment; </a:t>
            </a:r>
          </a:p>
          <a:p>
            <a:pPr lvl="1"/>
            <a:r>
              <a:t>Monitor plasma-chloramphenicol concentration in neonates. </a:t>
            </a:r>
          </a:p>
          <a:p>
            <a:r>
              <a:rPr b="1"/>
              <a:t>Contra-indications</a:t>
            </a:r>
            <a:r>
              <a:t> </a:t>
            </a:r>
          </a:p>
          <a:p>
            <a:pPr lvl="1"/>
            <a:r>
              <a:t>Acute porphyria </a:t>
            </a:r>
          </a:p>
          <a:p>
            <a:r>
              <a:rPr b="1"/>
              <a:t>Interactions: </a:t>
            </a:r>
            <a:endParaRPr b="1"/>
          </a:p>
          <a:p>
            <a:pPr lvl="1"/>
            <a:r>
              <a:t>Inhibits metabolism of phenytoin, sulfonylureas, and warfarin. </a:t>
            </a:r>
          </a:p>
          <a:p>
            <a:r>
              <a:rPr b="1"/>
              <a:t>Hepatic impairment- </a:t>
            </a:r>
            <a:r>
              <a:t>Should be avoided if possible—increased risk of bone-marrow depression; reduce dose and monitor plasma chloramphenicol concentration </a:t>
            </a:r>
          </a:p>
          <a:p>
            <a:r>
              <a:rPr b="1"/>
              <a:t>Renal impairment: </a:t>
            </a:r>
            <a:r>
              <a:t>avoid in severe renal impairment unless no alternative; dose-related depression of </a:t>
            </a:r>
            <a:r>
              <a:t>haematopoiesis</a:t>
            </a:r>
            <a:r>
              <a:t> </a:t>
            </a:r>
          </a:p>
          <a:p>
            <a:r>
              <a:rPr b="1"/>
              <a:t>Pregnancy</a:t>
            </a:r>
            <a:r>
              <a:t> -</a:t>
            </a:r>
            <a:r>
              <a:rPr>
                <a:solidFill>
                  <a:srgbClr val="FF0000"/>
                </a:solidFill>
              </a:rPr>
              <a:t>Neonatal ‘grey syndrome’ </a:t>
            </a:r>
            <a:r>
              <a:t>occurs if used in third trimester </a:t>
            </a:r>
          </a:p>
          <a:p>
            <a:r>
              <a:rPr b="1"/>
              <a:t>Breast-feeding </a:t>
            </a:r>
            <a:r>
              <a:rPr>
                <a:solidFill>
                  <a:srgbClr val="FF0000"/>
                </a:solidFill>
              </a:rPr>
              <a:t>Avoid</a:t>
            </a:r>
            <a:r>
              <a:t>: use another antibiotic; may cause bone-marrow toxicity in infant</a:t>
            </a:r>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965" name=""/>
        <p:cNvGrpSpPr/>
        <p:nvPr/>
      </p:nvGrpSpPr>
      <p:grpSpPr>
        <a:xfrm>
          <a:off x="0" y="0"/>
          <a:ext cx="0" cy="0"/>
          <a:chOff x="0" y="0"/>
          <a:chExt cx="0" cy="0"/>
        </a:xfrm>
      </p:grpSpPr>
      <p:sp>
        <p:nvSpPr>
          <p:cNvPr id="1049190" name="Content Placeholder 2"/>
          <p:cNvSpPr>
            <a:spLocks noGrp="1"/>
          </p:cNvSpPr>
          <p:nvPr>
            <p:ph idx="1"/>
          </p:nvPr>
        </p:nvSpPr>
        <p:spPr>
          <a:xfrm>
            <a:off x="428625" y="234460"/>
            <a:ext cx="10925179" cy="6342184"/>
          </a:xfrm>
        </p:spPr>
        <p:txBody>
          <a:bodyPr>
            <a:normAutofit fontScale="92500" lnSpcReduction="20000"/>
          </a:bodyPr>
          <a:p>
            <a:pPr indent="0" marL="0">
              <a:buNone/>
            </a:pPr>
            <a:r>
              <a:rPr b="1" sz="3600"/>
              <a:t>                                 Adverse reactions</a:t>
            </a:r>
            <a:endParaRPr b="1" sz="3600"/>
          </a:p>
          <a:p>
            <a:pPr indent="0" marL="0">
              <a:buNone/>
            </a:pPr>
            <a:r>
              <a:rPr b="1"/>
              <a:t>GIT disturbance </a:t>
            </a:r>
            <a:r>
              <a:t>nausea, vomiting and diarrhea. stomatitis, glossitis, dry mouth</a:t>
            </a:r>
          </a:p>
          <a:p>
            <a:pPr indent="0" marL="0">
              <a:buNone/>
            </a:pPr>
            <a:r>
              <a:t>-This rare in children.</a:t>
            </a:r>
          </a:p>
          <a:p>
            <a:pPr indent="0" marL="0">
              <a:buNone/>
            </a:pPr>
            <a:r>
              <a:t>-Oral and vaginal candidiasis may occur due to alteration of the normal flora.</a:t>
            </a:r>
          </a:p>
          <a:p>
            <a:pPr indent="0" marL="0">
              <a:buNone/>
            </a:pPr>
            <a:r>
              <a:rPr b="1"/>
              <a:t>Born marrow disturbance </a:t>
            </a:r>
            <a:endParaRPr b="1"/>
          </a:p>
          <a:p>
            <a:pPr indent="0" marL="0">
              <a:buNone/>
            </a:pPr>
            <a:r>
              <a:t>-suppression of the born marrow</a:t>
            </a:r>
          </a:p>
          <a:p>
            <a:pPr indent="0" marL="0">
              <a:buNone/>
            </a:pPr>
            <a:r>
              <a:t>-Aplastic anemia it is irreversible and fatal (with reports of resulting </a:t>
            </a:r>
            <a:r>
              <a:t>leukaemia</a:t>
            </a:r>
            <a:r>
              <a:t>)</a:t>
            </a:r>
          </a:p>
          <a:p>
            <a:pPr indent="0" marL="0">
              <a:buNone/>
            </a:pPr>
            <a:r>
              <a:rPr b="1"/>
              <a:t>Toxicity for new born infants:</a:t>
            </a:r>
            <a:endParaRPr b="1"/>
          </a:p>
          <a:p>
            <a:pPr indent="0" marL="0">
              <a:buNone/>
            </a:pPr>
            <a:r>
              <a:rPr b="1"/>
              <a:t>- </a:t>
            </a:r>
            <a:r>
              <a:t>new</a:t>
            </a:r>
            <a:r>
              <a:rPr b="1"/>
              <a:t> </a:t>
            </a:r>
            <a:r>
              <a:t>born</a:t>
            </a:r>
            <a:r>
              <a:rPr b="1"/>
              <a:t> </a:t>
            </a:r>
            <a:r>
              <a:t>infants lack glucuronic acid for the conjugation and detoxification of chloramphenicol.</a:t>
            </a:r>
          </a:p>
          <a:p>
            <a:pPr indent="0" marL="0">
              <a:buNone/>
            </a:pPr>
            <a:r>
              <a:t>-Therefore drugs may accumulate resulting in </a:t>
            </a:r>
            <a:r>
              <a:rPr b="1"/>
              <a:t>grey baby syndrome </a:t>
            </a:r>
            <a:r>
              <a:t>abdominal distension with vomiting, flaccidity, hypothermia, gray colour, shock and collapse </a:t>
            </a:r>
          </a:p>
          <a:p>
            <a:pPr indent="0" marL="0">
              <a:buNone/>
            </a:pPr>
            <a:r>
              <a:rPr b="1"/>
              <a:t>peripheral neuritis, optic neuritis, headache, depression, urticaria, erythema multiforme, </a:t>
            </a:r>
            <a:endParaRPr b="1"/>
          </a:p>
          <a:p>
            <a:pPr indent="0" marL="0">
              <a:buNone/>
            </a:pPr>
            <a:r>
              <a:rPr b="1"/>
              <a:t>nocturnal </a:t>
            </a:r>
            <a:r>
              <a:rPr b="1"/>
              <a:t>haemoglobinuria</a:t>
            </a:r>
            <a:r>
              <a:rPr b="1"/>
              <a:t>; </a:t>
            </a:r>
            <a:endParaRPr b="1"/>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966" name=""/>
        <p:cNvGrpSpPr/>
        <p:nvPr/>
      </p:nvGrpSpPr>
      <p:grpSpPr>
        <a:xfrm>
          <a:off x="0" y="0"/>
          <a:ext cx="0" cy="0"/>
          <a:chOff x="0" y="0"/>
          <a:chExt cx="0" cy="0"/>
        </a:xfrm>
      </p:grpSpPr>
      <p:sp>
        <p:nvSpPr>
          <p:cNvPr id="1049191" name="Title 1"/>
          <p:cNvSpPr>
            <a:spLocks noGrp="1"/>
          </p:cNvSpPr>
          <p:nvPr>
            <p:ph type="title"/>
          </p:nvPr>
        </p:nvSpPr>
        <p:spPr>
          <a:xfrm>
            <a:off x="838204" y="365126"/>
            <a:ext cx="10515600" cy="825493"/>
          </a:xfrm>
        </p:spPr>
        <p:txBody>
          <a:bodyPr>
            <a:normAutofit/>
          </a:bodyPr>
          <a:p>
            <a:r>
              <a:rPr b="1" sz="4000"/>
              <a:t>                                       AZOLES</a:t>
            </a:r>
            <a:endParaRPr b="1" sz="4000"/>
          </a:p>
        </p:txBody>
      </p:sp>
      <p:sp>
        <p:nvSpPr>
          <p:cNvPr id="1049192" name="Content Placeholder 2"/>
          <p:cNvSpPr>
            <a:spLocks noGrp="1"/>
          </p:cNvSpPr>
          <p:nvPr>
            <p:ph idx="1"/>
          </p:nvPr>
        </p:nvSpPr>
        <p:spPr>
          <a:xfrm>
            <a:off x="838204" y="1190620"/>
            <a:ext cx="10515600" cy="5419720"/>
          </a:xfrm>
        </p:spPr>
        <p:txBody>
          <a:bodyPr>
            <a:normAutofit lnSpcReduction="10000"/>
          </a:bodyPr>
          <a:p>
            <a:r>
              <a:rPr sz="3600"/>
              <a:t>This includes several classes of drugs e.g. </a:t>
            </a:r>
            <a:r>
              <a:rPr b="1" sz="3600"/>
              <a:t>metronidazole and tinidazole  </a:t>
            </a:r>
            <a:r>
              <a:rPr sz="3600"/>
              <a:t>which  have both anti bacteria and anti protozoal activity.</a:t>
            </a:r>
            <a:endParaRPr sz="3600"/>
          </a:p>
          <a:p>
            <a:endParaRPr sz="3600"/>
          </a:p>
          <a:p>
            <a:r>
              <a:rPr sz="3600"/>
              <a:t> </a:t>
            </a:r>
            <a:r>
              <a:rPr sz="3600">
                <a:solidFill>
                  <a:srgbClr val="FF0000"/>
                </a:solidFill>
              </a:rPr>
              <a:t>others are </a:t>
            </a:r>
            <a:r>
              <a:rPr b="1" sz="3600">
                <a:solidFill>
                  <a:srgbClr val="FF0000"/>
                </a:solidFill>
              </a:rPr>
              <a:t>fluconazole, itraconazole econazole, ketoconazole</a:t>
            </a:r>
            <a:r>
              <a:rPr sz="3600">
                <a:solidFill>
                  <a:srgbClr val="FF0000"/>
                </a:solidFill>
              </a:rPr>
              <a:t>,  and miconazole which are anti fungal drugs .( to be  covered under anti fungal drugs)</a:t>
            </a:r>
            <a:endParaRPr sz="3600">
              <a:solidFill>
                <a:srgbClr val="FF0000"/>
              </a:solidFill>
            </a:endParaRPr>
          </a:p>
          <a:p>
            <a:endParaRPr sz="3600">
              <a:solidFill>
                <a:srgbClr val="FF0000"/>
              </a:solidFill>
            </a:endParaRPr>
          </a:p>
          <a:p>
            <a:r>
              <a:rPr sz="3600">
                <a:solidFill>
                  <a:srgbClr val="FF0000"/>
                </a:solidFill>
              </a:rPr>
              <a:t>others are </a:t>
            </a:r>
            <a:r>
              <a:rPr b="1" sz="3600">
                <a:solidFill>
                  <a:srgbClr val="FF0000"/>
                </a:solidFill>
              </a:rPr>
              <a:t>mebendazole, thiabendazole, </a:t>
            </a:r>
            <a:r>
              <a:rPr sz="3600">
                <a:solidFill>
                  <a:srgbClr val="FF0000"/>
                </a:solidFill>
              </a:rPr>
              <a:t>which are anti helminths (to be covered under ant-helminths)</a:t>
            </a:r>
            <a:endParaRPr sz="3600">
              <a:solidFill>
                <a:srgbClr val="FF0000"/>
              </a:solidFill>
            </a:endParaRPr>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967" name=""/>
        <p:cNvGrpSpPr/>
        <p:nvPr/>
      </p:nvGrpSpPr>
      <p:grpSpPr>
        <a:xfrm>
          <a:off x="0" y="0"/>
          <a:ext cx="0" cy="0"/>
          <a:chOff x="0" y="0"/>
          <a:chExt cx="0" cy="0"/>
        </a:xfrm>
      </p:grpSpPr>
      <p:sp>
        <p:nvSpPr>
          <p:cNvPr id="1049193" name="Title 1"/>
          <p:cNvSpPr>
            <a:spLocks noGrp="1"/>
          </p:cNvSpPr>
          <p:nvPr>
            <p:ph type="title"/>
          </p:nvPr>
        </p:nvSpPr>
        <p:spPr>
          <a:xfrm>
            <a:off x="838204" y="365126"/>
            <a:ext cx="10515600" cy="787403"/>
          </a:xfrm>
        </p:spPr>
        <p:txBody>
          <a:bodyPr/>
          <a:p>
            <a:r>
              <a:rPr b="1"/>
              <a:t>metronidazole</a:t>
            </a:r>
            <a:endParaRPr b="1"/>
          </a:p>
        </p:txBody>
      </p:sp>
      <p:sp>
        <p:nvSpPr>
          <p:cNvPr id="1049194" name="Content Placeholder 2"/>
          <p:cNvSpPr>
            <a:spLocks noGrp="1"/>
          </p:cNvSpPr>
          <p:nvPr>
            <p:ph idx="1"/>
          </p:nvPr>
        </p:nvSpPr>
        <p:spPr>
          <a:xfrm>
            <a:off x="447670" y="1285875"/>
            <a:ext cx="10906120" cy="5206998"/>
          </a:xfrm>
        </p:spPr>
        <p:txBody>
          <a:bodyPr>
            <a:normAutofit lnSpcReduction="10000"/>
          </a:bodyPr>
          <a:p>
            <a:r>
              <a:t>It is very effective against </a:t>
            </a:r>
            <a:r>
              <a:rPr b="1"/>
              <a:t>anaerobic bacterial and protozoa</a:t>
            </a:r>
            <a:r>
              <a:t>.</a:t>
            </a:r>
          </a:p>
          <a:p>
            <a:pPr indent="0" marL="0">
              <a:buNone/>
            </a:pPr>
            <a:r>
              <a:rPr b="1"/>
              <a:t>Pharmacodynamics/MOA</a:t>
            </a:r>
            <a:endParaRPr b="1"/>
          </a:p>
          <a:p>
            <a:r>
              <a:t>metronidazole is </a:t>
            </a:r>
            <a:r>
              <a:rPr u="sng"/>
              <a:t>converted into an active form and bind to the bacterial DNA and prevents nucleic acid formation </a:t>
            </a:r>
            <a:r>
              <a:t>which consequently interferes with bacterial replication hence its  </a:t>
            </a:r>
            <a:r>
              <a:rPr>
                <a:solidFill>
                  <a:srgbClr val="FF0000"/>
                </a:solidFill>
              </a:rPr>
              <a:t>bacteriostatic</a:t>
            </a:r>
            <a:r>
              <a:t>.</a:t>
            </a:r>
          </a:p>
          <a:p>
            <a:pPr indent="0" marL="0">
              <a:buNone/>
            </a:pPr>
            <a:r>
              <a:rPr b="1"/>
              <a:t>Pharmacokinetics</a:t>
            </a:r>
            <a:r>
              <a:t>;</a:t>
            </a:r>
          </a:p>
          <a:p>
            <a:pPr indent="0" marL="0">
              <a:buNone/>
            </a:pPr>
            <a:r>
              <a:t> well absorbed after oral and rectal administration</a:t>
            </a:r>
          </a:p>
          <a:p>
            <a:pPr indent="0" marL="0">
              <a:buNone/>
            </a:pPr>
            <a:r>
              <a:rPr b="1"/>
              <a:t>Distribution</a:t>
            </a:r>
            <a:r>
              <a:t> is wide.</a:t>
            </a:r>
          </a:p>
          <a:p>
            <a:pPr indent="0" marL="0">
              <a:buNone/>
            </a:pPr>
            <a:r>
              <a:rPr b="1"/>
              <a:t>Metabolism</a:t>
            </a:r>
            <a:r>
              <a:t> is in the liver.</a:t>
            </a:r>
          </a:p>
          <a:p>
            <a:pPr indent="0" marL="0">
              <a:buNone/>
            </a:pPr>
            <a:r>
              <a:t>It is </a:t>
            </a:r>
            <a:r>
              <a:rPr b="1"/>
              <a:t>excreted</a:t>
            </a:r>
            <a:r>
              <a:t> in urine partly unchanged and partly as metabolite.</a:t>
            </a:r>
          </a:p>
          <a:p>
            <a:pPr indent="0" marL="0">
              <a:buNone/>
            </a:pPr>
            <a:r>
              <a:t>Half life is 8 hours.</a:t>
            </a:r>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968" name=""/>
        <p:cNvGrpSpPr/>
        <p:nvPr/>
      </p:nvGrpSpPr>
      <p:grpSpPr>
        <a:xfrm>
          <a:off x="0" y="0"/>
          <a:ext cx="0" cy="0"/>
          <a:chOff x="0" y="0"/>
          <a:chExt cx="0" cy="0"/>
        </a:xfrm>
      </p:grpSpPr>
      <p:sp>
        <p:nvSpPr>
          <p:cNvPr id="1049195" name="Content Placeholder 2"/>
          <p:cNvSpPr>
            <a:spLocks noGrp="1"/>
          </p:cNvSpPr>
          <p:nvPr>
            <p:ph idx="1"/>
          </p:nvPr>
        </p:nvSpPr>
        <p:spPr>
          <a:xfrm>
            <a:off x="466729" y="257914"/>
            <a:ext cx="11363320" cy="6330464"/>
          </a:xfrm>
        </p:spPr>
        <p:txBody>
          <a:bodyPr>
            <a:normAutofit/>
          </a:bodyPr>
          <a:p>
            <a:pPr indent="0" marL="0">
              <a:buNone/>
            </a:pPr>
            <a:r>
              <a:rPr b="1" sz="4700">
                <a:solidFill>
                  <a:srgbClr val="000000"/>
                </a:solidFill>
                <a:latin typeface="Calibri Light"/>
                <a:ea typeface="+mj-ea"/>
                <a:cs typeface="+mj-cs"/>
              </a:rPr>
              <a:t>Indications</a:t>
            </a:r>
            <a:endParaRPr b="1" sz="4700">
              <a:solidFill>
                <a:srgbClr val="000000"/>
              </a:solidFill>
              <a:latin typeface="Calibri Light"/>
              <a:ea typeface="+mj-ea"/>
              <a:cs typeface="+mj-cs"/>
            </a:endParaRPr>
          </a:p>
          <a:p>
            <a:r>
              <a:rPr>
                <a:solidFill>
                  <a:srgbClr val="000000"/>
                </a:solidFill>
                <a:ea typeface="+mj-ea"/>
                <a:cs typeface="+mj-cs"/>
              </a:rPr>
              <a:t>Used for treatment of sepsis caused by orgasms like Bacteroides and anaerobic cocci.</a:t>
            </a:r>
            <a:endParaRPr>
              <a:solidFill>
                <a:srgbClr val="000000"/>
              </a:solidFill>
              <a:ea typeface="+mj-ea"/>
              <a:cs typeface="+mj-cs"/>
            </a:endParaRPr>
          </a:p>
          <a:p>
            <a:r>
              <a:rPr>
                <a:solidFill>
                  <a:srgbClr val="000000"/>
                </a:solidFill>
                <a:ea typeface="+mj-ea"/>
                <a:cs typeface="+mj-cs"/>
              </a:rPr>
              <a:t>Intra-abdominal infections</a:t>
            </a:r>
            <a:endParaRPr>
              <a:solidFill>
                <a:srgbClr val="000000"/>
              </a:solidFill>
              <a:ea typeface="+mj-ea"/>
              <a:cs typeface="+mj-cs"/>
            </a:endParaRPr>
          </a:p>
          <a:p>
            <a:r>
              <a:rPr>
                <a:solidFill>
                  <a:srgbClr val="000000"/>
                </a:solidFill>
                <a:ea typeface="+mj-ea"/>
                <a:cs typeface="+mj-cs"/>
              </a:rPr>
              <a:t>Septicemia, wounds, </a:t>
            </a:r>
            <a:endParaRPr>
              <a:solidFill>
                <a:srgbClr val="000000"/>
              </a:solidFill>
              <a:ea typeface="+mj-ea"/>
              <a:cs typeface="+mj-cs"/>
            </a:endParaRPr>
          </a:p>
          <a:p>
            <a:r>
              <a:rPr>
                <a:solidFill>
                  <a:srgbClr val="000000"/>
                </a:solidFill>
                <a:ea typeface="+mj-ea"/>
                <a:cs typeface="+mj-cs"/>
              </a:rPr>
              <a:t>Osteomyelitis.</a:t>
            </a:r>
            <a:endParaRPr>
              <a:solidFill>
                <a:srgbClr val="000000"/>
              </a:solidFill>
              <a:ea typeface="+mj-ea"/>
              <a:cs typeface="+mj-cs"/>
            </a:endParaRPr>
          </a:p>
          <a:p>
            <a:r>
              <a:rPr>
                <a:solidFill>
                  <a:srgbClr val="000000"/>
                </a:solidFill>
              </a:rPr>
              <a:t>Pelvic infections: </a:t>
            </a:r>
            <a:r>
              <a:t>Used for surgical and </a:t>
            </a:r>
            <a:r>
              <a:t>gynaecological</a:t>
            </a:r>
            <a:r>
              <a:t> sepsis in which its activity against colonic anaerobes, especially Bacteroides fragilis, is important</a:t>
            </a:r>
            <a:endParaRPr>
              <a:solidFill>
                <a:srgbClr val="000000"/>
              </a:solidFill>
              <a:ea typeface="+mj-ea"/>
              <a:cs typeface="+mj-cs"/>
            </a:endParaRPr>
          </a:p>
          <a:p>
            <a:r>
              <a:rPr>
                <a:solidFill>
                  <a:srgbClr val="000000"/>
                </a:solidFill>
                <a:ea typeface="+mj-ea"/>
                <a:cs typeface="+mj-cs"/>
              </a:rPr>
              <a:t>Infections of the brain and lungs.</a:t>
            </a:r>
            <a:endParaRPr>
              <a:solidFill>
                <a:srgbClr val="000000"/>
              </a:solidFill>
              <a:ea typeface="+mj-ea"/>
              <a:cs typeface="+mj-cs"/>
            </a:endParaRPr>
          </a:p>
          <a:p>
            <a:r>
              <a:rPr>
                <a:solidFill>
                  <a:srgbClr val="000000"/>
                </a:solidFill>
                <a:ea typeface="+mj-ea"/>
                <a:cs typeface="+mj-cs"/>
              </a:rPr>
              <a:t>Used in prevention of post operative infection especially after bowel, antibiotic related colitis, eg pseudomembranous colitis , amoebiasis EH</a:t>
            </a:r>
            <a:endParaRPr>
              <a:solidFill>
                <a:srgbClr val="000000"/>
              </a:solidFill>
              <a:ea typeface="+mj-ea"/>
              <a:cs typeface="+mj-cs"/>
            </a:endParaRPr>
          </a:p>
          <a:p>
            <a:endParaRPr>
              <a:solidFill>
                <a:srgbClr val="000000"/>
              </a:solidFill>
              <a:ea typeface="+mj-ea"/>
              <a:cs typeface="+mj-cs"/>
            </a:endParaRPr>
          </a:p>
          <a:p/>
        </p:txBody>
      </p:sp>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969" name=""/>
        <p:cNvGrpSpPr/>
        <p:nvPr/>
      </p:nvGrpSpPr>
      <p:grpSpPr>
        <a:xfrm>
          <a:off x="0" y="0"/>
          <a:ext cx="0" cy="0"/>
          <a:chOff x="0" y="0"/>
          <a:chExt cx="0" cy="0"/>
        </a:xfrm>
      </p:grpSpPr>
      <p:sp>
        <p:nvSpPr>
          <p:cNvPr id="1049196" name="Title 1"/>
          <p:cNvSpPr>
            <a:spLocks noGrp="1"/>
          </p:cNvSpPr>
          <p:nvPr>
            <p:ph type="title"/>
          </p:nvPr>
        </p:nvSpPr>
        <p:spPr>
          <a:xfrm>
            <a:off x="838204" y="365126"/>
            <a:ext cx="10515600" cy="787403"/>
          </a:xfrm>
        </p:spPr>
        <p:txBody>
          <a:bodyPr/>
          <a:p>
            <a:r>
              <a:rPr b="1" sz="4400">
                <a:solidFill>
                  <a:srgbClr val="000000"/>
                </a:solidFill>
                <a:latin typeface="Calibri Light"/>
                <a:ea typeface="+mj-ea"/>
                <a:cs typeface="+mj-cs"/>
              </a:rPr>
              <a:t>Indications </a:t>
            </a:r>
            <a:r>
              <a:rPr b="1" sz="4400">
                <a:solidFill>
                  <a:srgbClr val="000000"/>
                </a:solidFill>
                <a:latin typeface="Calibri Light"/>
                <a:ea typeface="+mj-ea"/>
                <a:cs typeface="+mj-cs"/>
              </a:rPr>
              <a:t>cont</a:t>
            </a:r>
            <a:r>
              <a:rPr b="1" sz="4400">
                <a:solidFill>
                  <a:srgbClr val="000000"/>
                </a:solidFill>
                <a:latin typeface="Calibri Light"/>
                <a:ea typeface="+mj-ea"/>
                <a:cs typeface="+mj-cs"/>
              </a:rPr>
              <a:t>’</a:t>
            </a:r>
          </a:p>
        </p:txBody>
      </p:sp>
      <p:sp>
        <p:nvSpPr>
          <p:cNvPr id="1049197" name="Content Placeholder 2"/>
          <p:cNvSpPr>
            <a:spLocks noGrp="1"/>
          </p:cNvSpPr>
          <p:nvPr>
            <p:ph idx="1"/>
          </p:nvPr>
        </p:nvSpPr>
        <p:spPr>
          <a:xfrm>
            <a:off x="542925" y="1323979"/>
            <a:ext cx="10810879" cy="5168893"/>
          </a:xfrm>
        </p:spPr>
        <p:txBody>
          <a:bodyPr>
            <a:normAutofit lnSpcReduction="10000"/>
          </a:bodyPr>
          <a:p>
            <a:r>
              <a:t>Treatment of protozoal infections (</a:t>
            </a:r>
            <a:r>
              <a:rPr b="1"/>
              <a:t>intestinal amoebiasis, giardiasis, trichomoniasis</a:t>
            </a:r>
            <a:r>
              <a:t>) and obligate anaerobic bacteria (</a:t>
            </a:r>
            <a:r>
              <a:rPr b="1"/>
              <a:t>antibiotic-induced Clostridium difficile, Gardnerella vaginalis- bacterial vaginosis</a:t>
            </a:r>
            <a:r>
              <a:t>)</a:t>
            </a:r>
          </a:p>
          <a:p>
            <a:r>
              <a:t>Treatment of H. pylori in clients who have peptic ulcer disease in combination with tetracycline and bismuth salicylate.</a:t>
            </a:r>
          </a:p>
          <a:p>
            <a:r>
              <a:t>Drug of first choice for the treatment of acute </a:t>
            </a:r>
            <a:r>
              <a:t>necrotising</a:t>
            </a:r>
            <a:r>
              <a:t> ulcerative gingivitis (Vincent’s infection) and pericoronitis </a:t>
            </a:r>
          </a:p>
          <a:p>
            <a:r>
              <a:t>Intravenous metronidazole is used for the treatment of established cases of tetanus </a:t>
            </a:r>
          </a:p>
          <a:p>
            <a:r>
              <a:t>Topical metronidazole reduces the </a:t>
            </a:r>
            <a:r>
              <a:t>odour</a:t>
            </a:r>
            <a:r>
              <a:t> produced by anaerobic bacteria in fungating </a:t>
            </a:r>
            <a:r>
              <a:t>tumours</a:t>
            </a:r>
            <a:r>
              <a:t> </a:t>
            </a:r>
          </a:p>
          <a:p>
            <a:r>
              <a:t>It is also used in the management of rosacea. </a:t>
            </a:r>
          </a:p>
          <a:p/>
        </p:txBody>
      </p:sp>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970" name=""/>
        <p:cNvGrpSpPr/>
        <p:nvPr/>
      </p:nvGrpSpPr>
      <p:grpSpPr>
        <a:xfrm>
          <a:off x="0" y="0"/>
          <a:ext cx="0" cy="0"/>
          <a:chOff x="0" y="0"/>
          <a:chExt cx="0" cy="0"/>
        </a:xfrm>
      </p:grpSpPr>
      <p:sp>
        <p:nvSpPr>
          <p:cNvPr id="1049198" name="Title 1"/>
          <p:cNvSpPr>
            <a:spLocks noGrp="1"/>
          </p:cNvSpPr>
          <p:nvPr>
            <p:ph type="title"/>
          </p:nvPr>
        </p:nvSpPr>
        <p:spPr>
          <a:xfrm>
            <a:off x="838204" y="365126"/>
            <a:ext cx="10515600" cy="730253"/>
          </a:xfrm>
        </p:spPr>
        <p:txBody>
          <a:bodyPr/>
          <a:p>
            <a:r>
              <a:rPr b="1"/>
              <a:t>Dosage and route of administration</a:t>
            </a:r>
            <a:endParaRPr b="1"/>
          </a:p>
        </p:txBody>
      </p:sp>
      <p:sp>
        <p:nvSpPr>
          <p:cNvPr id="1049199" name="Content Placeholder 2"/>
          <p:cNvSpPr>
            <a:spLocks noGrp="1"/>
          </p:cNvSpPr>
          <p:nvPr>
            <p:ph idx="1"/>
          </p:nvPr>
        </p:nvSpPr>
        <p:spPr>
          <a:xfrm>
            <a:off x="609604" y="1285875"/>
            <a:ext cx="11039479" cy="5276845"/>
          </a:xfrm>
        </p:spPr>
        <p:txBody>
          <a:bodyPr>
            <a:normAutofit fontScale="92500" lnSpcReduction="10000"/>
          </a:bodyPr>
          <a:p>
            <a:pPr indent="0" marL="0">
              <a:buNone/>
            </a:pPr>
            <a:r>
              <a:t>Established anaerobe are usually treated for 7 days.</a:t>
            </a:r>
          </a:p>
          <a:p>
            <a:pPr lvl="1"/>
            <a:r>
              <a:t>The dose per oral is then 800 mgs initially for 3 days then 400mg or 500mg 8  hourly, or just 400mg 8 hourly for 7 days.</a:t>
            </a:r>
          </a:p>
          <a:p>
            <a:pPr lvl="1"/>
            <a:r>
              <a:t>By rectum 1gm every 8 hours for 3 days then1gm 12 hourly.</a:t>
            </a:r>
          </a:p>
          <a:p>
            <a:pPr lvl="1"/>
            <a:r>
              <a:t>By infusion 500mg 8 hourly.</a:t>
            </a:r>
          </a:p>
          <a:p>
            <a:pPr lvl="1"/>
            <a:r>
              <a:t>In children 7.5/kg every 8 hours by any route.</a:t>
            </a:r>
          </a:p>
          <a:p>
            <a:r>
              <a:t>Leg ulcers and pressure sores, by mouth, 400 mg every 8 hours for 7 days </a:t>
            </a:r>
          </a:p>
          <a:p>
            <a:r>
              <a:t>Bacterial vaginosis, by mouth, 400–500 mg twice daily for 5–7 days or 2 g as a single dose </a:t>
            </a:r>
          </a:p>
          <a:p>
            <a:r>
              <a:t>Pelvic inflammatory disease, by mouth, 400 mg twice daily for 14 days</a:t>
            </a:r>
          </a:p>
          <a:p>
            <a:pPr indent="0" marL="0">
              <a:buNone/>
            </a:pPr>
            <a:r>
              <a:rPr b="1"/>
              <a:t>for surgical prophylaxis</a:t>
            </a:r>
            <a:endParaRPr b="1"/>
          </a:p>
          <a:p>
            <a:r>
              <a:t>Per oral 400mg 8 hourly started 24 hours before surgery then continued postoperatively by IV infusion until oral administration can be resumed for 2days</a:t>
            </a:r>
          </a:p>
          <a:p>
            <a:pPr indent="0" marL="0">
              <a:buNone/>
            </a:pPr>
          </a:p>
        </p:txBody>
      </p:sp>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971" name=""/>
        <p:cNvGrpSpPr/>
        <p:nvPr/>
      </p:nvGrpSpPr>
      <p:grpSpPr>
        <a:xfrm>
          <a:off x="0" y="0"/>
          <a:ext cx="0" cy="0"/>
          <a:chOff x="0" y="0"/>
          <a:chExt cx="0" cy="0"/>
        </a:xfrm>
      </p:grpSpPr>
      <p:sp>
        <p:nvSpPr>
          <p:cNvPr id="1049200" name="Title 1"/>
          <p:cNvSpPr>
            <a:spLocks noGrp="1"/>
          </p:cNvSpPr>
          <p:nvPr>
            <p:ph type="title"/>
          </p:nvPr>
        </p:nvSpPr>
        <p:spPr/>
        <p:txBody>
          <a:bodyPr/>
          <a:p>
            <a:r>
              <a:rPr b="1" sz="2800">
                <a:solidFill>
                  <a:srgbClr val="000000"/>
                </a:solidFill>
                <a:latin typeface="Calibri"/>
                <a:ea typeface="+mn-ea"/>
                <a:cs typeface="+mn-cs"/>
              </a:rPr>
              <a:t>Complications Side/Adverse Effects Nursing Interventions/Client Education</a:t>
            </a:r>
            <a:endParaRPr b="1"/>
          </a:p>
        </p:txBody>
      </p:sp>
      <p:sp>
        <p:nvSpPr>
          <p:cNvPr id="1049201" name="Content Placeholder 2"/>
          <p:cNvSpPr>
            <a:spLocks noGrp="1"/>
          </p:cNvSpPr>
          <p:nvPr>
            <p:ph idx="1"/>
          </p:nvPr>
        </p:nvSpPr>
        <p:spPr>
          <a:xfrm>
            <a:off x="447670" y="1690682"/>
            <a:ext cx="11401425" cy="4802190"/>
          </a:xfrm>
        </p:spPr>
        <p:txBody>
          <a:bodyPr>
            <a:normAutofit fontScale="92500" lnSpcReduction="10000"/>
          </a:bodyPr>
          <a:p>
            <a:r>
              <a:rPr b="1"/>
              <a:t>Gastrointestinal discomfort </a:t>
            </a:r>
            <a:r>
              <a:t>(nausea, vomiting, dry mouth, and metallic taste, furred tongue, oral mucositis, anorexia). Rarely hepatitis, jaundice, pancreatitis</a:t>
            </a:r>
          </a:p>
          <a:p>
            <a:pPr lvl="1"/>
            <a:r>
              <a:t>Advise clients to observe for symptoms and to notify the provider. </a:t>
            </a:r>
          </a:p>
          <a:p>
            <a:r>
              <a:rPr b="1"/>
              <a:t>Darkening of urine</a:t>
            </a:r>
            <a:r>
              <a:t> </a:t>
            </a:r>
          </a:p>
          <a:p>
            <a:pPr lvl="1"/>
            <a:r>
              <a:t>Advise clients that this is a harmless effect of metronidazole.</a:t>
            </a:r>
          </a:p>
          <a:p>
            <a:r>
              <a:rPr b="1"/>
              <a:t>CNS symptoms </a:t>
            </a:r>
            <a:r>
              <a:t>(numbness of extremities, ataxia, and seizures, drowsiness, dizziness, headache, ataxia, psychotic disorders) </a:t>
            </a:r>
          </a:p>
          <a:p>
            <a:pPr lvl="1"/>
            <a:r>
              <a:t> Advise clients to notify the provider if symptoms occur. </a:t>
            </a:r>
          </a:p>
          <a:p>
            <a:pPr lvl="1"/>
            <a:r>
              <a:t> Stop metronidazole.</a:t>
            </a:r>
          </a:p>
          <a:p>
            <a:r>
              <a:t>Thrombocytopenia, pancytopenia, myalgia, arthralgia, visual disturbances, rash, pruritus, and erythema multiforme; </a:t>
            </a:r>
          </a:p>
          <a:p>
            <a:r>
              <a:t>On prolonged or intensive therapy peripheral neuropathy, transient epileptiform seizures, and leucopenia</a:t>
            </a:r>
          </a:p>
          <a:p>
            <a:pPr indent="0" marL="0">
              <a:buNone/>
            </a:pPr>
          </a:p>
        </p:txBody>
      </p:sp>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972" name=""/>
        <p:cNvGrpSpPr/>
        <p:nvPr/>
      </p:nvGrpSpPr>
      <p:grpSpPr>
        <a:xfrm>
          <a:off x="0" y="0"/>
          <a:ext cx="0" cy="0"/>
          <a:chOff x="0" y="0"/>
          <a:chExt cx="0" cy="0"/>
        </a:xfrm>
      </p:grpSpPr>
      <p:sp>
        <p:nvSpPr>
          <p:cNvPr id="1049202" name="Title 1"/>
          <p:cNvSpPr>
            <a:spLocks noGrp="1"/>
          </p:cNvSpPr>
          <p:nvPr>
            <p:ph type="title"/>
          </p:nvPr>
        </p:nvSpPr>
        <p:spPr>
          <a:xfrm>
            <a:off x="838204" y="365126"/>
            <a:ext cx="10515600" cy="844553"/>
          </a:xfrm>
        </p:spPr>
        <p:txBody>
          <a:bodyPr/>
          <a:p>
            <a:r>
              <a:rPr b="1" sz="2800">
                <a:solidFill>
                  <a:srgbClr val="000000"/>
                </a:solidFill>
                <a:latin typeface="Calibri"/>
                <a:ea typeface="+mn-ea"/>
                <a:cs typeface="+mn-cs"/>
              </a:rPr>
              <a:t>Contraindications/Precautions</a:t>
            </a:r>
          </a:p>
        </p:txBody>
      </p:sp>
      <p:sp>
        <p:nvSpPr>
          <p:cNvPr id="1049203" name="Content Placeholder 2"/>
          <p:cNvSpPr>
            <a:spLocks noGrp="1"/>
          </p:cNvSpPr>
          <p:nvPr>
            <p:ph idx="1"/>
          </p:nvPr>
        </p:nvSpPr>
        <p:spPr>
          <a:xfrm>
            <a:off x="714375" y="1295404"/>
            <a:ext cx="10639429" cy="5197468"/>
          </a:xfrm>
        </p:spPr>
        <p:txBody>
          <a:bodyPr>
            <a:normAutofit fontScale="92500" lnSpcReduction="10000"/>
          </a:bodyPr>
          <a:p>
            <a:pPr indent="0" marL="0">
              <a:buNone/>
            </a:pPr>
            <a:r>
              <a:t>Cautions  </a:t>
            </a:r>
          </a:p>
          <a:p>
            <a:r>
              <a:t>Use cautiously in clients with renal dysfunction to prevent accumulation of toxic levels with prolonged use.</a:t>
            </a:r>
          </a:p>
          <a:p>
            <a:r>
              <a:t> Avoid use during the first trimester of pregnancy and use with caution during the rest of pregnancy because metronidazole can pass through the placenta.</a:t>
            </a:r>
          </a:p>
          <a:p>
            <a:r>
              <a:t>Breast-feeding: Significant amount in milk; avoid large single doses</a:t>
            </a:r>
          </a:p>
          <a:p>
            <a:r>
              <a:t>Disulfiram-like reaction with alcohol avoid alcohol; </a:t>
            </a:r>
          </a:p>
          <a:p>
            <a:r>
              <a:t>Avoid in acute porphyria; </a:t>
            </a:r>
          </a:p>
          <a:p>
            <a:r>
              <a:t>Hepatic impairment In severe liver disease; total daily dose is reduced to one-third, and give once daily; </a:t>
            </a:r>
          </a:p>
          <a:p>
            <a:r>
              <a:t>use with caution in hepatic encephalopathy </a:t>
            </a:r>
          </a:p>
        </p:txBody>
      </p:sp>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973" name=""/>
        <p:cNvGrpSpPr/>
        <p:nvPr/>
      </p:nvGrpSpPr>
      <p:grpSpPr>
        <a:xfrm>
          <a:off x="0" y="0"/>
          <a:ext cx="0" cy="0"/>
          <a:chOff x="0" y="0"/>
          <a:chExt cx="0" cy="0"/>
        </a:xfrm>
      </p:grpSpPr>
      <p:sp>
        <p:nvSpPr>
          <p:cNvPr id="1049204" name="Title 1"/>
          <p:cNvSpPr>
            <a:spLocks noGrp="1"/>
          </p:cNvSpPr>
          <p:nvPr>
            <p:ph type="title"/>
          </p:nvPr>
        </p:nvSpPr>
        <p:spPr/>
        <p:txBody>
          <a:bodyPr/>
          <a:p>
            <a:r>
              <a:rPr b="1" sz="2800">
                <a:solidFill>
                  <a:srgbClr val="000000"/>
                </a:solidFill>
                <a:latin typeface="Calibri"/>
                <a:ea typeface="+mn-ea"/>
                <a:cs typeface="+mn-cs"/>
              </a:rPr>
              <a:t>Interactions</a:t>
            </a:r>
          </a:p>
        </p:txBody>
      </p:sp>
      <p:sp>
        <p:nvSpPr>
          <p:cNvPr id="1049205" name="Content Placeholder 2"/>
          <p:cNvSpPr>
            <a:spLocks noGrp="1"/>
          </p:cNvSpPr>
          <p:nvPr>
            <p:ph idx="1"/>
          </p:nvPr>
        </p:nvSpPr>
        <p:spPr>
          <a:xfrm>
            <a:off x="838204" y="1419220"/>
            <a:ext cx="10515600" cy="4757737"/>
          </a:xfrm>
        </p:spPr>
        <p:txBody>
          <a:bodyPr/>
          <a:p>
            <a:pPr indent="0" marL="0">
              <a:buNone/>
            </a:pPr>
            <a:r>
              <a:rPr b="1"/>
              <a:t> </a:t>
            </a:r>
            <a:r>
              <a:rPr b="1" sz="3200"/>
              <a:t>Medication/Food Interactions Nursing Interventions/Client Education</a:t>
            </a:r>
            <a:endParaRPr b="1" sz="3200"/>
          </a:p>
          <a:p>
            <a:r>
              <a:rPr sz="3200"/>
              <a:t> Alcohol causes a disulfiram-like reaction/ Advise clients to avoid alcohol consumption.</a:t>
            </a:r>
            <a:endParaRPr sz="3200"/>
          </a:p>
          <a:p>
            <a:endParaRPr sz="3200"/>
          </a:p>
          <a:p>
            <a:pPr indent="0" marL="0">
              <a:buNone/>
            </a:pPr>
            <a:r>
              <a:rPr sz="3200"/>
              <a:t> </a:t>
            </a:r>
            <a:r>
              <a:rPr b="1" sz="3200"/>
              <a:t>Metronidazole inhibits inactivation of warfarin</a:t>
            </a:r>
            <a:r>
              <a:rPr sz="3200"/>
              <a:t>. </a:t>
            </a:r>
            <a:endParaRPr sz="3200"/>
          </a:p>
          <a:p>
            <a:r>
              <a:rPr sz="3200"/>
              <a:t> Monitor prothrombin time and INR, and adjust warfarin dosage accordingly</a:t>
            </a:r>
            <a:endParaRPr sz="3200"/>
          </a:p>
          <a:p>
            <a:pPr indent="0" marL="0">
              <a:buNone/>
            </a:pPr>
          </a:p>
        </p:txBody>
      </p:sp>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974" name=""/>
        <p:cNvGrpSpPr/>
        <p:nvPr/>
      </p:nvGrpSpPr>
      <p:grpSpPr>
        <a:xfrm>
          <a:off x="0" y="0"/>
          <a:ext cx="0" cy="0"/>
          <a:chOff x="0" y="0"/>
          <a:chExt cx="0" cy="0"/>
        </a:xfrm>
      </p:grpSpPr>
      <p:sp>
        <p:nvSpPr>
          <p:cNvPr id="1049206" name="Content Placeholder 2"/>
          <p:cNvSpPr>
            <a:spLocks noGrp="1"/>
          </p:cNvSpPr>
          <p:nvPr>
            <p:ph idx="1"/>
          </p:nvPr>
        </p:nvSpPr>
        <p:spPr>
          <a:xfrm>
            <a:off x="838204" y="866779"/>
            <a:ext cx="10515600" cy="5543550"/>
          </a:xfrm>
        </p:spPr>
        <p:txBody>
          <a:bodyPr>
            <a:normAutofit/>
          </a:bodyPr>
          <a:p>
            <a:pPr indent="0" marL="0">
              <a:buNone/>
            </a:pPr>
            <a:r>
              <a:rPr b="1"/>
              <a:t>Nursing Administration </a:t>
            </a:r>
            <a:endParaRPr b="1"/>
          </a:p>
          <a:p>
            <a:r>
              <a:t>Administer by oral or IV route. </a:t>
            </a:r>
          </a:p>
          <a:p>
            <a:r>
              <a:t> Instruct clients to complete the prescribed course of antimicrobial therapy, even though symptoms may resolve before the full course is completed. </a:t>
            </a:r>
          </a:p>
          <a:p>
            <a:pPr indent="0" marL="0">
              <a:buNone/>
            </a:pPr>
            <a:r>
              <a:rPr b="1"/>
              <a:t>Nursing Evaluation of Medication Effectiveness </a:t>
            </a:r>
            <a:endParaRPr b="1"/>
          </a:p>
          <a:p>
            <a:r>
              <a:t> Depending on therapeutic intent, effectiveness may be evidenced by:  Improvement of symptoms (resolution of bloody mucoid diarrhea, formed stools, negative stool results for ameba and Giardia, , decrease or absence of watery vaginal/ urethral discharge, negative blood cultures for anaerobic organisms in the CNS, blood, bones and joints, and soft tissues)</a:t>
            </a:r>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975" name=""/>
        <p:cNvGrpSpPr/>
        <p:nvPr/>
      </p:nvGrpSpPr>
      <p:grpSpPr>
        <a:xfrm>
          <a:off x="0" y="0"/>
          <a:ext cx="0" cy="0"/>
          <a:chOff x="0" y="0"/>
          <a:chExt cx="0" cy="0"/>
        </a:xfrm>
      </p:grpSpPr>
      <p:sp>
        <p:nvSpPr>
          <p:cNvPr id="1049207" name="Title 1"/>
          <p:cNvSpPr>
            <a:spLocks noGrp="1"/>
          </p:cNvSpPr>
          <p:nvPr>
            <p:ph type="title"/>
          </p:nvPr>
        </p:nvSpPr>
        <p:spPr>
          <a:xfrm>
            <a:off x="838204" y="365126"/>
            <a:ext cx="10515600" cy="787403"/>
          </a:xfrm>
        </p:spPr>
        <p:txBody>
          <a:bodyPr/>
          <a:p>
            <a:r>
              <a:t>Fusidic</a:t>
            </a:r>
            <a:r>
              <a:t> acid </a:t>
            </a:r>
          </a:p>
        </p:txBody>
      </p:sp>
      <p:sp>
        <p:nvSpPr>
          <p:cNvPr id="1049208" name="Content Placeholder 2"/>
          <p:cNvSpPr>
            <a:spLocks noGrp="1"/>
          </p:cNvSpPr>
          <p:nvPr>
            <p:ph idx="1"/>
          </p:nvPr>
        </p:nvSpPr>
        <p:spPr>
          <a:xfrm>
            <a:off x="838204" y="1266829"/>
            <a:ext cx="10515600" cy="4910142"/>
          </a:xfrm>
        </p:spPr>
        <p:txBody>
          <a:bodyPr>
            <a:normAutofit fontScale="92500"/>
          </a:bodyPr>
          <a:p>
            <a:r>
              <a:rPr sz="3600"/>
              <a:t>Fusidic</a:t>
            </a:r>
            <a:r>
              <a:rPr sz="3600"/>
              <a:t> acid and its salts are narrow-spectrum antibiotics. </a:t>
            </a:r>
            <a:endParaRPr sz="3600"/>
          </a:p>
          <a:p>
            <a:r>
              <a:rPr b="1" sz="3600"/>
              <a:t>The only indication for their use is in infections caused by penicillin-resistant staphylococci</a:t>
            </a:r>
            <a:r>
              <a:rPr sz="3600"/>
              <a:t>, </a:t>
            </a:r>
            <a:r>
              <a:rPr sz="3600">
                <a:solidFill>
                  <a:srgbClr val="FF0000"/>
                </a:solidFill>
              </a:rPr>
              <a:t>especially osteomyelitis</a:t>
            </a:r>
            <a:r>
              <a:rPr sz="3600"/>
              <a:t>, as </a:t>
            </a:r>
            <a:r>
              <a:rPr sz="3600">
                <a:solidFill>
                  <a:srgbClr val="0070C0"/>
                </a:solidFill>
              </a:rPr>
              <a:t>they are well concentrated in bone</a:t>
            </a:r>
            <a:r>
              <a:rPr sz="3600"/>
              <a:t>; </a:t>
            </a:r>
            <a:endParaRPr sz="3600"/>
          </a:p>
          <a:p>
            <a:endParaRPr sz="3600"/>
          </a:p>
          <a:p>
            <a:r>
              <a:rPr sz="3600"/>
              <a:t>They are </a:t>
            </a:r>
            <a:r>
              <a:rPr b="1" sz="3600"/>
              <a:t>also used for staphylococcal endocarditis</a:t>
            </a:r>
            <a:r>
              <a:rPr sz="3600"/>
              <a:t>. </a:t>
            </a:r>
            <a:endParaRPr sz="3600"/>
          </a:p>
          <a:p>
            <a:r>
              <a:rPr sz="3600"/>
              <a:t>A second </a:t>
            </a:r>
            <a:r>
              <a:rPr sz="3600"/>
              <a:t>antistaphylococcal</a:t>
            </a:r>
            <a:r>
              <a:rPr sz="3600"/>
              <a:t> antibiotic is usually required to prevent emergence of resistance. </a:t>
            </a:r>
            <a:endParaRPr sz="3600"/>
          </a:p>
        </p:txBody>
      </p:sp>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976" name=""/>
        <p:cNvGrpSpPr/>
        <p:nvPr/>
      </p:nvGrpSpPr>
      <p:grpSpPr>
        <a:xfrm>
          <a:off x="0" y="0"/>
          <a:ext cx="0" cy="0"/>
          <a:chOff x="0" y="0"/>
          <a:chExt cx="0" cy="0"/>
        </a:xfrm>
      </p:grpSpPr>
      <p:sp>
        <p:nvSpPr>
          <p:cNvPr id="1049209" name="Title 1"/>
          <p:cNvSpPr>
            <a:spLocks noGrp="1"/>
          </p:cNvSpPr>
          <p:nvPr>
            <p:ph type="title"/>
          </p:nvPr>
        </p:nvSpPr>
        <p:spPr/>
        <p:txBody>
          <a:bodyPr/>
          <a:p>
            <a:r>
              <a:t>Antimycobacterial drugs/agents</a:t>
            </a:r>
          </a:p>
        </p:txBody>
      </p:sp>
      <p:sp>
        <p:nvSpPr>
          <p:cNvPr id="1049210" name="Content Placeholder 2"/>
          <p:cNvSpPr>
            <a:spLocks noGrp="1"/>
          </p:cNvSpPr>
          <p:nvPr>
            <p:ph idx="1"/>
          </p:nvPr>
        </p:nvSpPr>
        <p:spPr>
          <a:xfrm>
            <a:off x="838204" y="1825618"/>
            <a:ext cx="10515600" cy="4667254"/>
          </a:xfrm>
        </p:spPr>
        <p:txBody>
          <a:bodyPr>
            <a:normAutofit/>
          </a:bodyPr>
          <a:p>
            <a:r>
              <a:rPr sz="3600"/>
              <a:t>Two important human mycobacterial infections: </a:t>
            </a:r>
            <a:endParaRPr sz="3600"/>
          </a:p>
          <a:p>
            <a:pPr lvl="1"/>
            <a:r>
              <a:rPr sz="3200"/>
              <a:t>a) tuberculosis (M. tuberculosis) </a:t>
            </a:r>
            <a:endParaRPr sz="3200"/>
          </a:p>
          <a:p>
            <a:pPr lvl="1"/>
            <a:r>
              <a:rPr sz="3200"/>
              <a:t>b) Leprosy (</a:t>
            </a:r>
            <a:r>
              <a:rPr sz="3200"/>
              <a:t>M.leprae</a:t>
            </a:r>
            <a:r>
              <a:rPr sz="3200"/>
              <a:t>).</a:t>
            </a:r>
            <a:endParaRPr sz="3200"/>
          </a:p>
          <a:p>
            <a:r>
              <a:rPr sz="3600"/>
              <a:t> Other NTM infections include those caused by M. avium </a:t>
            </a:r>
            <a:r>
              <a:rPr sz="3600"/>
              <a:t>intracellulare</a:t>
            </a:r>
            <a:r>
              <a:rPr sz="3600"/>
              <a:t>, M. </a:t>
            </a:r>
            <a:r>
              <a:rPr sz="3600"/>
              <a:t>flavescence</a:t>
            </a:r>
            <a:r>
              <a:rPr sz="3600"/>
              <a:t>, M. </a:t>
            </a:r>
            <a:r>
              <a:rPr sz="3600"/>
              <a:t>marinum</a:t>
            </a:r>
            <a:r>
              <a:rPr sz="3600"/>
              <a:t>, </a:t>
            </a:r>
            <a:r>
              <a:rPr sz="3600"/>
              <a:t>M.xenopi</a:t>
            </a:r>
            <a:r>
              <a:rPr sz="3600"/>
              <a:t>, </a:t>
            </a:r>
            <a:r>
              <a:rPr sz="3600"/>
              <a:t>M.chelonae</a:t>
            </a:r>
            <a:r>
              <a:rPr sz="3600"/>
              <a:t>, M </a:t>
            </a:r>
            <a:r>
              <a:rPr sz="3600"/>
              <a:t>fortuitum</a:t>
            </a:r>
            <a:endParaRPr sz="3600"/>
          </a:p>
          <a:p>
            <a:r>
              <a:rPr sz="3600"/>
              <a:t>a) Antitubercular drugs/agents Used primarily in the prophylaxis and treatment of tuberculosis</a:t>
            </a:r>
            <a:endParaRPr sz="3600"/>
          </a:p>
        </p:txBody>
      </p:sp>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977" name=""/>
        <p:cNvGrpSpPr/>
        <p:nvPr/>
      </p:nvGrpSpPr>
      <p:grpSpPr>
        <a:xfrm>
          <a:off x="0" y="0"/>
          <a:ext cx="0" cy="0"/>
          <a:chOff x="0" y="0"/>
          <a:chExt cx="0" cy="0"/>
        </a:xfrm>
      </p:grpSpPr>
      <p:sp>
        <p:nvSpPr>
          <p:cNvPr id="1049211" name="Title 1"/>
          <p:cNvSpPr>
            <a:spLocks noGrp="1"/>
          </p:cNvSpPr>
          <p:nvPr>
            <p:ph type="title"/>
          </p:nvPr>
        </p:nvSpPr>
        <p:spPr>
          <a:xfrm>
            <a:off x="838204" y="365126"/>
            <a:ext cx="10515600" cy="844553"/>
          </a:xfrm>
        </p:spPr>
        <p:txBody>
          <a:bodyPr/>
          <a:p>
            <a:r>
              <a:rPr b="1"/>
              <a:t>Anti mycobacterial agents (anti-tuberculosis)</a:t>
            </a:r>
            <a:endParaRPr b="1"/>
          </a:p>
        </p:txBody>
      </p:sp>
      <p:sp>
        <p:nvSpPr>
          <p:cNvPr id="1049212" name="Content Placeholder 2"/>
          <p:cNvSpPr>
            <a:spLocks noGrp="1"/>
          </p:cNvSpPr>
          <p:nvPr>
            <p:ph idx="1"/>
          </p:nvPr>
        </p:nvSpPr>
        <p:spPr>
          <a:xfrm>
            <a:off x="838204" y="1352554"/>
            <a:ext cx="10515600" cy="5140318"/>
          </a:xfrm>
        </p:spPr>
        <p:txBody>
          <a:bodyPr>
            <a:normAutofit fontScale="92500"/>
          </a:bodyPr>
          <a:p>
            <a:r>
              <a:rPr sz="3600"/>
              <a:t>The main mycobacterial infection are the </a:t>
            </a:r>
            <a:r>
              <a:rPr b="1" sz="3600"/>
              <a:t>tuberculosis</a:t>
            </a:r>
            <a:r>
              <a:rPr sz="3600"/>
              <a:t> and </a:t>
            </a:r>
            <a:r>
              <a:rPr b="1" sz="3600"/>
              <a:t>leprosy. </a:t>
            </a:r>
            <a:r>
              <a:rPr sz="3600"/>
              <a:t>The treatment of tuberculosis assumes the principle of combination therapy for two main reasons,</a:t>
            </a:r>
            <a:endParaRPr sz="3600"/>
          </a:p>
          <a:p>
            <a:pPr indent="-571500" marL="571500">
              <a:buFont typeface="+mj-lt"/>
              <a:buAutoNum type="romanUcPeriod"/>
            </a:pPr>
            <a:r>
              <a:rPr sz="3600"/>
              <a:t>To prevent emergency of resistance (tubercle bacilli develops resistant very fast when monotherapy is used).</a:t>
            </a:r>
            <a:endParaRPr sz="3600"/>
          </a:p>
          <a:p>
            <a:pPr indent="-571500" marL="571500">
              <a:buFont typeface="+mj-lt"/>
              <a:buAutoNum type="romanUcPeriod"/>
            </a:pPr>
            <a:r>
              <a:rPr sz="3600"/>
              <a:t>To reduce the rate of spread by reducing bacterial population rapidly.</a:t>
            </a:r>
            <a:endParaRPr sz="3600"/>
          </a:p>
          <a:p>
            <a:pPr indent="0" marL="0">
              <a:buNone/>
            </a:pPr>
            <a:r>
              <a:rPr sz="3600"/>
              <a:t>For this reason the available tablets contain multiple drugs in a fixed dose combination (FDC).</a:t>
            </a:r>
            <a:endParaRPr sz="3600"/>
          </a:p>
          <a:p>
            <a:pPr indent="-571500" marL="571500">
              <a:buFont typeface="+mj-lt"/>
              <a:buAutoNum type="romanUcPeriod"/>
            </a:pPr>
          </a:p>
        </p:txBody>
      </p:sp>
    </p:spTree>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978" name=""/>
        <p:cNvGrpSpPr/>
        <p:nvPr/>
      </p:nvGrpSpPr>
      <p:grpSpPr>
        <a:xfrm>
          <a:off x="0" y="0"/>
          <a:ext cx="0" cy="0"/>
          <a:chOff x="0" y="0"/>
          <a:chExt cx="0" cy="0"/>
        </a:xfrm>
      </p:grpSpPr>
      <p:sp>
        <p:nvSpPr>
          <p:cNvPr id="1049213" name="Title 1"/>
          <p:cNvSpPr>
            <a:spLocks noGrp="1"/>
          </p:cNvSpPr>
          <p:nvPr>
            <p:ph type="title"/>
          </p:nvPr>
        </p:nvSpPr>
        <p:spPr>
          <a:xfrm>
            <a:off x="838204" y="365126"/>
            <a:ext cx="10515600" cy="930278"/>
          </a:xfrm>
        </p:spPr>
        <p:txBody>
          <a:bodyPr/>
          <a:p>
            <a:r>
              <a:t>Examples of FDC</a:t>
            </a:r>
          </a:p>
        </p:txBody>
      </p:sp>
      <p:sp>
        <p:nvSpPr>
          <p:cNvPr id="1049214" name="Content Placeholder 2"/>
          <p:cNvSpPr>
            <a:spLocks noGrp="1"/>
          </p:cNvSpPr>
          <p:nvPr>
            <p:ph idx="1"/>
          </p:nvPr>
        </p:nvSpPr>
        <p:spPr>
          <a:xfrm>
            <a:off x="838204" y="1295404"/>
            <a:ext cx="10515600" cy="5197468"/>
          </a:xfrm>
        </p:spPr>
        <p:txBody>
          <a:bodyPr>
            <a:normAutofit/>
          </a:bodyPr>
          <a:p>
            <a:r>
              <a:rPr sz="3600">
                <a:solidFill>
                  <a:srgbClr val="FF0000"/>
                </a:solidFill>
              </a:rPr>
              <a:t>FDC of rifampicin 150mg + isoniazid 75mg + pyrazinamide 400mg + ethambutol 275mg </a:t>
            </a:r>
            <a:endParaRPr sz="3600">
              <a:solidFill>
                <a:srgbClr val="FF0000"/>
              </a:solidFill>
            </a:endParaRPr>
          </a:p>
          <a:p>
            <a:r>
              <a:rPr sz="3600"/>
              <a:t>FDC of rifampicin 150mg + isoniazid 75mg +pyrazinamide 400mg </a:t>
            </a:r>
            <a:endParaRPr sz="3600"/>
          </a:p>
          <a:p>
            <a:r>
              <a:rPr sz="3600"/>
              <a:t>FDC of rifampicin 150mg + isoniazid 75mg </a:t>
            </a:r>
            <a:endParaRPr sz="3600"/>
          </a:p>
          <a:p>
            <a:r>
              <a:rPr sz="3600"/>
              <a:t>FDC of rifampicin 150mg + isoniazid 100mg </a:t>
            </a:r>
            <a:endParaRPr sz="3600"/>
          </a:p>
          <a:p>
            <a:r>
              <a:rPr sz="3600"/>
              <a:t>FDC of rifampicin 300mg + isoniazid 150mg  FDC of ethambutol 400mg + isoniazid 150</a:t>
            </a:r>
            <a:endParaRPr sz="3600"/>
          </a:p>
        </p:txBody>
      </p:sp>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979" name=""/>
        <p:cNvGrpSpPr/>
        <p:nvPr/>
      </p:nvGrpSpPr>
      <p:grpSpPr>
        <a:xfrm>
          <a:off x="0" y="0"/>
          <a:ext cx="0" cy="0"/>
          <a:chOff x="0" y="0"/>
          <a:chExt cx="0" cy="0"/>
        </a:xfrm>
      </p:grpSpPr>
      <p:sp>
        <p:nvSpPr>
          <p:cNvPr id="1049215" name="Title 1"/>
          <p:cNvSpPr>
            <a:spLocks noGrp="1"/>
          </p:cNvSpPr>
          <p:nvPr>
            <p:ph type="title"/>
          </p:nvPr>
        </p:nvSpPr>
        <p:spPr>
          <a:xfrm>
            <a:off x="838204" y="365126"/>
            <a:ext cx="10515600" cy="863598"/>
          </a:xfrm>
        </p:spPr>
        <p:txBody>
          <a:bodyPr/>
          <a:p>
            <a:r>
              <a:t>Advantages of fixed dose combinations (FDC) </a:t>
            </a:r>
          </a:p>
        </p:txBody>
      </p:sp>
      <p:sp>
        <p:nvSpPr>
          <p:cNvPr id="1049216" name="Content Placeholder 2"/>
          <p:cNvSpPr>
            <a:spLocks noGrp="1"/>
          </p:cNvSpPr>
          <p:nvPr>
            <p:ph idx="1"/>
          </p:nvPr>
        </p:nvSpPr>
        <p:spPr>
          <a:xfrm>
            <a:off x="838204" y="1438279"/>
            <a:ext cx="10515600" cy="5054593"/>
          </a:xfrm>
        </p:spPr>
        <p:txBody>
          <a:bodyPr>
            <a:normAutofit/>
          </a:bodyPr>
          <a:p>
            <a:r>
              <a:rPr sz="3200"/>
              <a:t>FDCs may prevent acquisition of drug resistance due to monotherapy, which may occur with separate (“loose”) drugs. </a:t>
            </a:r>
            <a:endParaRPr sz="3200"/>
          </a:p>
          <a:p>
            <a:r>
              <a:rPr sz="3200"/>
              <a:t>With FDCs, patients cannot be selective in the choice of drugs to ingest. </a:t>
            </a:r>
            <a:endParaRPr sz="3200"/>
          </a:p>
          <a:p>
            <a:r>
              <a:rPr sz="3200"/>
              <a:t>Prescription errors are likely to be less frequent because dosage recommendations are more straightforward, </a:t>
            </a:r>
            <a:endParaRPr sz="3200"/>
          </a:p>
          <a:p>
            <a:r>
              <a:rPr sz="3200"/>
              <a:t>Adjustment of dosage according to patient weight is easier. </a:t>
            </a:r>
            <a:endParaRPr sz="3200"/>
          </a:p>
          <a:p>
            <a:r>
              <a:rPr sz="3200"/>
              <a:t>The number of tablets to ingest is smaller and may thus encourage patient adherence</a:t>
            </a:r>
            <a:endParaRPr sz="3200"/>
          </a:p>
        </p:txBody>
      </p:sp>
    </p:spTree>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980" name=""/>
        <p:cNvGrpSpPr/>
        <p:nvPr/>
      </p:nvGrpSpPr>
      <p:grpSpPr>
        <a:xfrm>
          <a:off x="0" y="0"/>
          <a:ext cx="0" cy="0"/>
          <a:chOff x="0" y="0"/>
          <a:chExt cx="0" cy="0"/>
        </a:xfrm>
      </p:grpSpPr>
      <p:sp>
        <p:nvSpPr>
          <p:cNvPr id="1049217" name="Title 1"/>
          <p:cNvSpPr>
            <a:spLocks noGrp="1"/>
          </p:cNvSpPr>
          <p:nvPr>
            <p:ph type="title"/>
          </p:nvPr>
        </p:nvSpPr>
        <p:spPr/>
        <p:txBody>
          <a:bodyPr/>
          <a:p>
            <a:r>
              <a:t>TB Pharmacotherapy </a:t>
            </a:r>
          </a:p>
        </p:txBody>
      </p:sp>
      <p:sp>
        <p:nvSpPr>
          <p:cNvPr id="1049218" name="Content Placeholder 2"/>
          <p:cNvSpPr>
            <a:spLocks noGrp="1"/>
          </p:cNvSpPr>
          <p:nvPr>
            <p:ph idx="1"/>
          </p:nvPr>
        </p:nvSpPr>
        <p:spPr/>
        <p:txBody>
          <a:bodyPr>
            <a:normAutofit/>
          </a:bodyPr>
          <a:p>
            <a:r>
              <a:rPr sz="3600"/>
              <a:t>Therapy aims </a:t>
            </a:r>
            <a:endParaRPr sz="3600"/>
          </a:p>
          <a:p>
            <a:pPr lvl="1"/>
            <a:r>
              <a:rPr sz="3200"/>
              <a:t>To cure patients and therefore prevent suffering and death from TB </a:t>
            </a:r>
            <a:endParaRPr sz="3200"/>
          </a:p>
          <a:p>
            <a:pPr lvl="1"/>
            <a:r>
              <a:rPr sz="3200"/>
              <a:t>To prevent long term complications or squeal of TB </a:t>
            </a:r>
            <a:endParaRPr sz="3200"/>
          </a:p>
          <a:p>
            <a:pPr lvl="1"/>
            <a:r>
              <a:rPr sz="3200"/>
              <a:t>To prevent relapse of the disease </a:t>
            </a:r>
            <a:endParaRPr sz="3200"/>
          </a:p>
          <a:p>
            <a:pPr lvl="1"/>
            <a:r>
              <a:rPr sz="3200"/>
              <a:t>To prevent transmission of the infection </a:t>
            </a:r>
            <a:endParaRPr sz="3200"/>
          </a:p>
          <a:p>
            <a:pPr lvl="1"/>
            <a:r>
              <a:rPr sz="3200"/>
              <a:t>To prevent the development of resistant tubercle bacilli </a:t>
            </a:r>
            <a:endParaRPr sz="3200"/>
          </a:p>
          <a:p>
            <a:pPr lvl="1"/>
            <a:r>
              <a:rPr sz="3200"/>
              <a:t>To do the above without inflicting adverse events.</a:t>
            </a:r>
            <a:endParaRPr sz="3200"/>
          </a:p>
        </p:txBody>
      </p:sp>
    </p:spTree>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981" name=""/>
        <p:cNvGrpSpPr/>
        <p:nvPr/>
      </p:nvGrpSpPr>
      <p:grpSpPr>
        <a:xfrm>
          <a:off x="0" y="0"/>
          <a:ext cx="0" cy="0"/>
          <a:chOff x="0" y="0"/>
          <a:chExt cx="0" cy="0"/>
        </a:xfrm>
      </p:grpSpPr>
      <p:sp>
        <p:nvSpPr>
          <p:cNvPr id="1049219" name="Title 1"/>
          <p:cNvSpPr>
            <a:spLocks noGrp="1"/>
          </p:cNvSpPr>
          <p:nvPr>
            <p:ph type="title"/>
          </p:nvPr>
        </p:nvSpPr>
        <p:spPr/>
        <p:txBody>
          <a:bodyPr/>
          <a:p>
            <a:r>
              <a:t> anti-TB conti’</a:t>
            </a:r>
          </a:p>
        </p:txBody>
      </p:sp>
      <p:sp>
        <p:nvSpPr>
          <p:cNvPr id="1049220" name="Content Placeholder 2"/>
          <p:cNvSpPr>
            <a:spLocks noGrp="1"/>
          </p:cNvSpPr>
          <p:nvPr>
            <p:ph idx="1"/>
          </p:nvPr>
        </p:nvSpPr>
        <p:spPr>
          <a:xfrm>
            <a:off x="466729" y="1825618"/>
            <a:ext cx="10887075" cy="4351339"/>
          </a:xfrm>
        </p:spPr>
        <p:txBody>
          <a:bodyPr>
            <a:normAutofit/>
          </a:bodyPr>
          <a:p>
            <a:r>
              <a:t>Anti TB are divided into two </a:t>
            </a:r>
            <a:r>
              <a:rPr b="1"/>
              <a:t>first line </a:t>
            </a:r>
            <a:r>
              <a:t>and </a:t>
            </a:r>
            <a:r>
              <a:rPr b="1"/>
              <a:t>second line. </a:t>
            </a:r>
            <a:r>
              <a:rPr sz="2800"/>
              <a:t>this is not a universal principle but depend on local scientific evidence</a:t>
            </a:r>
            <a:endParaRPr b="1"/>
          </a:p>
        </p:txBody>
      </p:sp>
      <p:sp>
        <p:nvSpPr>
          <p:cNvPr id="1049221" name="TextBox 2"/>
          <p:cNvSpPr txBox="1"/>
          <p:nvPr/>
        </p:nvSpPr>
        <p:spPr>
          <a:xfrm>
            <a:off x="6210304" y="2921054"/>
            <a:ext cx="4914900" cy="3785657"/>
          </a:xfrm>
          <a:prstGeom prst="rect"/>
          <a:noFill/>
        </p:spPr>
        <p:txBody>
          <a:bodyPr wrap="square">
            <a:spAutoFit/>
          </a:bodyPr>
          <a:p>
            <a:pPr indent="0" marL="0">
              <a:buNone/>
            </a:pPr>
            <a:r>
              <a:rPr b="1" sz="2400"/>
              <a:t>ii Second line drugs </a:t>
            </a:r>
            <a:r>
              <a:rPr sz="2400"/>
              <a:t>s </a:t>
            </a:r>
            <a:r>
              <a:rPr sz="2400">
                <a:solidFill>
                  <a:srgbClr val="00B050"/>
                </a:solidFill>
              </a:rPr>
              <a:t>(less effective than first line drugs) </a:t>
            </a:r>
            <a:endParaRPr sz="2400">
              <a:solidFill>
                <a:srgbClr val="00B050"/>
              </a:solidFill>
            </a:endParaRPr>
          </a:p>
          <a:p>
            <a:pPr indent="-342900" lvl="2" marL="1257300">
              <a:buFont typeface="Arial"/>
              <a:buChar char="•"/>
            </a:pPr>
            <a:r>
              <a:rPr sz="2400"/>
              <a:t>Amikacin </a:t>
            </a:r>
            <a:endParaRPr sz="2400"/>
          </a:p>
          <a:p>
            <a:pPr indent="-342900" lvl="2" marL="1257300">
              <a:buFont typeface="Arial"/>
              <a:buChar char="•"/>
            </a:pPr>
            <a:r>
              <a:rPr sz="2400"/>
              <a:t>Capreomycin </a:t>
            </a:r>
            <a:endParaRPr sz="2400"/>
          </a:p>
          <a:p>
            <a:pPr indent="-342900" lvl="2" marL="1257300">
              <a:buFont typeface="Arial"/>
              <a:buChar char="•"/>
            </a:pPr>
            <a:r>
              <a:rPr sz="2400"/>
              <a:t>Ciprofloxacin </a:t>
            </a:r>
            <a:endParaRPr sz="2400"/>
          </a:p>
          <a:p>
            <a:pPr indent="-342900" lvl="2" marL="1257300">
              <a:buFont typeface="Arial"/>
              <a:buChar char="•"/>
            </a:pPr>
            <a:r>
              <a:rPr sz="2400"/>
              <a:t>Cycloserine</a:t>
            </a:r>
            <a:r>
              <a:rPr sz="2400"/>
              <a:t> </a:t>
            </a:r>
            <a:endParaRPr sz="2400"/>
          </a:p>
          <a:p>
            <a:pPr indent="-342900" lvl="2" marL="1257300">
              <a:buFont typeface="Arial"/>
              <a:buChar char="•"/>
            </a:pPr>
            <a:r>
              <a:rPr sz="2400"/>
              <a:t>Ethionamide </a:t>
            </a:r>
            <a:endParaRPr sz="2400"/>
          </a:p>
          <a:p>
            <a:pPr indent="-342900" lvl="2" marL="1257300">
              <a:buFont typeface="Arial"/>
              <a:buChar char="•"/>
            </a:pPr>
            <a:r>
              <a:rPr sz="2400"/>
              <a:t>Kanamycin </a:t>
            </a:r>
            <a:endParaRPr sz="2400"/>
          </a:p>
          <a:p>
            <a:pPr indent="-342900" lvl="2" marL="1257300">
              <a:buFont typeface="Arial"/>
              <a:buChar char="•"/>
            </a:pPr>
            <a:r>
              <a:rPr sz="2400"/>
              <a:t>Ofloxacin</a:t>
            </a:r>
            <a:endParaRPr b="1" sz="2400"/>
          </a:p>
          <a:p>
            <a:pPr indent="-342900" lvl="2" marL="1257300">
              <a:buFont typeface="Arial"/>
              <a:buChar char="•"/>
            </a:pPr>
            <a:r>
              <a:rPr sz="2400"/>
              <a:t>clarithromycin </a:t>
            </a:r>
            <a:endParaRPr sz="2400"/>
          </a:p>
        </p:txBody>
      </p:sp>
      <p:sp>
        <p:nvSpPr>
          <p:cNvPr id="1049222" name="TextBox 4"/>
          <p:cNvSpPr txBox="1"/>
          <p:nvPr/>
        </p:nvSpPr>
        <p:spPr>
          <a:xfrm>
            <a:off x="561970" y="2921054"/>
            <a:ext cx="4810129" cy="3785657"/>
          </a:xfrm>
          <a:prstGeom prst="rect"/>
          <a:noFill/>
        </p:spPr>
        <p:txBody>
          <a:bodyPr wrap="square">
            <a:spAutoFit/>
          </a:bodyPr>
          <a:p>
            <a:pPr indent="-571500" marL="571500">
              <a:buFont typeface="+mj-lt"/>
              <a:buAutoNum type="romanUcPeriod"/>
            </a:pPr>
            <a:r>
              <a:rPr b="1" sz="2400"/>
              <a:t>First line; </a:t>
            </a:r>
            <a:r>
              <a:rPr sz="2400"/>
              <a:t>s </a:t>
            </a:r>
            <a:r>
              <a:rPr sz="2400">
                <a:solidFill>
                  <a:srgbClr val="0070C0"/>
                </a:solidFill>
              </a:rPr>
              <a:t>( safer and generally most effective)</a:t>
            </a:r>
            <a:endParaRPr sz="2400"/>
          </a:p>
          <a:p>
            <a:pPr indent="-342900" lvl="1" marL="800100">
              <a:buFont typeface="Arial"/>
              <a:buChar char="•"/>
            </a:pPr>
            <a:r>
              <a:rPr b="1" sz="2400"/>
              <a:t>Isoniazid (INH) </a:t>
            </a:r>
            <a:endParaRPr b="1" sz="2400"/>
          </a:p>
          <a:p>
            <a:pPr indent="-342900" lvl="1" marL="800100">
              <a:buFont typeface="Arial"/>
              <a:buChar char="•"/>
            </a:pPr>
            <a:r>
              <a:rPr b="1" sz="2400"/>
              <a:t>Ethambutol (</a:t>
            </a:r>
            <a:r>
              <a:rPr b="1" sz="2400"/>
              <a:t>Myambutol</a:t>
            </a:r>
            <a:r>
              <a:rPr b="1" sz="2400"/>
              <a:t>) </a:t>
            </a:r>
            <a:endParaRPr b="1" sz="2400"/>
          </a:p>
          <a:p>
            <a:pPr indent="-342900" lvl="1" marL="800100">
              <a:buFont typeface="Arial"/>
              <a:buChar char="•"/>
            </a:pPr>
            <a:r>
              <a:rPr b="1" sz="2400"/>
              <a:t>Pyrazinamide (PZA,Z) </a:t>
            </a:r>
            <a:endParaRPr b="1" sz="2400"/>
          </a:p>
          <a:p>
            <a:pPr indent="-342900" lvl="1" marL="800100">
              <a:buFont typeface="Arial"/>
              <a:buChar char="•"/>
            </a:pPr>
            <a:r>
              <a:rPr b="1" sz="2400"/>
              <a:t>Rifampicin/rifampin (</a:t>
            </a:r>
            <a:r>
              <a:rPr b="1" sz="2400"/>
              <a:t>Rifadin</a:t>
            </a:r>
            <a:r>
              <a:rPr b="1" sz="2400"/>
              <a:t>, </a:t>
            </a:r>
            <a:r>
              <a:rPr b="1" sz="2400"/>
              <a:t>rimactane</a:t>
            </a:r>
            <a:r>
              <a:rPr b="1" sz="2400"/>
              <a:t>) </a:t>
            </a:r>
            <a:endParaRPr b="1" sz="2400"/>
          </a:p>
          <a:p>
            <a:pPr indent="-342900" lvl="1" marL="800100">
              <a:buFont typeface="Arial"/>
              <a:buChar char="•"/>
            </a:pPr>
            <a:r>
              <a:rPr b="1" sz="2400"/>
              <a:t>Streptomycin </a:t>
            </a:r>
            <a:endParaRPr b="1" sz="2400"/>
          </a:p>
          <a:p>
            <a:pPr indent="-342900" lvl="1" marL="800100">
              <a:buFont typeface="Arial"/>
              <a:buChar char="•"/>
            </a:pPr>
            <a:r>
              <a:rPr sz="2400"/>
              <a:t>Rifapentine(</a:t>
            </a:r>
            <a:r>
              <a:rPr sz="2400"/>
              <a:t>Priftin</a:t>
            </a:r>
            <a:r>
              <a:rPr sz="2400"/>
              <a:t>) </a:t>
            </a:r>
            <a:endParaRPr sz="2400"/>
          </a:p>
          <a:p>
            <a:pPr indent="-342900" lvl="1" marL="800100">
              <a:buFont typeface="Arial"/>
              <a:buChar char="•"/>
            </a:pPr>
            <a:r>
              <a:rPr sz="2400"/>
              <a:t>Rifabutin</a:t>
            </a:r>
            <a:endParaRPr sz="2400"/>
          </a:p>
        </p:txBody>
      </p:sp>
    </p:spTree>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982" name=""/>
        <p:cNvGrpSpPr/>
        <p:nvPr/>
      </p:nvGrpSpPr>
      <p:grpSpPr>
        <a:xfrm>
          <a:off x="0" y="0"/>
          <a:ext cx="0" cy="0"/>
          <a:chOff x="0" y="0"/>
          <a:chExt cx="0" cy="0"/>
        </a:xfrm>
      </p:grpSpPr>
      <p:sp>
        <p:nvSpPr>
          <p:cNvPr id="1049223" name="Title 1"/>
          <p:cNvSpPr>
            <a:spLocks noGrp="1"/>
          </p:cNvSpPr>
          <p:nvPr>
            <p:ph type="title"/>
          </p:nvPr>
        </p:nvSpPr>
        <p:spPr>
          <a:xfrm>
            <a:off x="838204" y="308674"/>
            <a:ext cx="10515600" cy="1325556"/>
          </a:xfrm>
        </p:spPr>
        <p:txBody>
          <a:bodyPr/>
          <a:p>
            <a:r>
              <a:t>Anti TB  cont.’</a:t>
            </a:r>
          </a:p>
        </p:txBody>
      </p:sp>
      <p:sp>
        <p:nvSpPr>
          <p:cNvPr id="1049224" name="Content Placeholder 2"/>
          <p:cNvSpPr>
            <a:spLocks noGrp="1"/>
          </p:cNvSpPr>
          <p:nvPr>
            <p:ph idx="1"/>
          </p:nvPr>
        </p:nvSpPr>
        <p:spPr>
          <a:xfrm>
            <a:off x="638179" y="1253337"/>
            <a:ext cx="10515600" cy="4351339"/>
          </a:xfrm>
        </p:spPr>
        <p:txBody>
          <a:bodyPr/>
          <a:p>
            <a:r>
              <a:rPr b="1"/>
              <a:t>First initial phase</a:t>
            </a:r>
            <a:r>
              <a:t>: takes </a:t>
            </a:r>
            <a:r>
              <a:rPr b="1"/>
              <a:t>two months </a:t>
            </a:r>
            <a:r>
              <a:t>and three drugs are used concomitantly. </a:t>
            </a:r>
          </a:p>
          <a:p>
            <a:pPr lvl="1"/>
            <a:r>
              <a:t>These includes </a:t>
            </a:r>
            <a:r>
              <a:rPr b="1"/>
              <a:t>Isoniazid (H), Rifampicin (R) Pyrazinamide (Z) plus (Ethambutol or streptomycin) </a:t>
            </a:r>
            <a:r>
              <a:t>if resistant organism are suspected. This combination reduces  bacterial population rapidly.</a:t>
            </a:r>
          </a:p>
          <a:p>
            <a:r>
              <a:rPr b="1"/>
              <a:t>Continuation phase</a:t>
            </a:r>
            <a:r>
              <a:t> takes </a:t>
            </a:r>
            <a:r>
              <a:rPr b="1"/>
              <a:t>4-6 months </a:t>
            </a:r>
            <a:r>
              <a:t>and two drugs are used these are </a:t>
            </a:r>
            <a:r>
              <a:rPr>
                <a:solidFill>
                  <a:srgbClr val="FF0000"/>
                </a:solidFill>
              </a:rPr>
              <a:t>isoniazid and rifampicin</a:t>
            </a:r>
            <a:endParaRPr>
              <a:solidFill>
                <a:srgbClr val="FF0000"/>
              </a:solidFill>
            </a:endParaRPr>
          </a:p>
          <a:p>
            <a:r>
              <a:rPr b="1"/>
              <a:t>Longer duration is required in </a:t>
            </a:r>
            <a:r>
              <a:rPr b="1"/>
              <a:t>tubercuolus</a:t>
            </a:r>
            <a:r>
              <a:rPr b="1"/>
              <a:t> meningitis, where there is bone/joint involvement and in cases of resistance/ treatment failure</a:t>
            </a:r>
            <a:r>
              <a:t>.</a:t>
            </a:r>
          </a:p>
          <a:p>
            <a:endParaRPr>
              <a:solidFill>
                <a:srgbClr val="FF0000"/>
              </a:solidFill>
            </a:endParaRPr>
          </a:p>
        </p:txBody>
      </p:sp>
      <p:graphicFrame>
        <p:nvGraphicFramePr>
          <p:cNvPr id="4194307" name="Table 2"/>
          <p:cNvGraphicFramePr>
            <a:graphicFrameLocks noGrp="1"/>
          </p:cNvGraphicFramePr>
          <p:nvPr/>
        </p:nvGraphicFramePr>
        <p:xfrm>
          <a:off x="1038225" y="5299005"/>
          <a:ext cx="8940801" cy="1107440"/>
        </p:xfrm>
        <a:graphic>
          <a:graphicData uri="http://schemas.openxmlformats.org/drawingml/2006/table">
            <a:tbl>
              <a:tblPr firstRow="1" bandRow="1">
                <a:tableStyleId>{5C22544A-7EE6-4342-B048-85BDC9FD1C3A}</a:tableStyleId>
              </a:tblPr>
              <a:tblGrid>
                <a:gridCol w="3533775"/>
                <a:gridCol w="2838450"/>
                <a:gridCol w="2568576"/>
              </a:tblGrid>
              <a:tr h="0">
                <a:tc>
                  <a:txBody>
                    <a:bodyPr/>
                    <a:p>
                      <a:r>
                        <a:rPr>
                          <a:solidFill>
                            <a:schemeClr val="tx1"/>
                          </a:solidFill>
                        </a:rPr>
                        <a:t>Intensive treatment phase </a:t>
                      </a:r>
                      <a:endParaRPr>
                        <a:solidFill>
                          <a:schemeClr val="tx1"/>
                        </a:solidFill>
                      </a:endParaRPr>
                    </a:p>
                  </a:txBody>
                </a:tc>
                <a:tc>
                  <a:txBody>
                    <a:bodyPr/>
                    <a:p>
                      <a:r>
                        <a:rPr>
                          <a:solidFill>
                            <a:schemeClr val="tx1"/>
                          </a:solidFill>
                        </a:rPr>
                        <a:t>Continuous phase </a:t>
                      </a:r>
                      <a:endParaRPr>
                        <a:solidFill>
                          <a:schemeClr val="tx1"/>
                        </a:solidFill>
                      </a:endParaRPr>
                    </a:p>
                  </a:txBody>
                </a:tc>
                <a:tc>
                  <a:txBody>
                    <a:bodyPr/>
                    <a:p>
                      <a:r>
                        <a:rPr>
                          <a:solidFill>
                            <a:schemeClr val="tx1"/>
                          </a:solidFill>
                        </a:rPr>
                        <a:t>Abbreviation</a:t>
                      </a:r>
                      <a:endParaRPr>
                        <a:solidFill>
                          <a:schemeClr val="tx1"/>
                        </a:solidFill>
                      </a:endParaRPr>
                    </a:p>
                  </a:txBody>
                </a:tc>
              </a:tr>
              <a:tr h="370840">
                <a:tc>
                  <a:txBody>
                    <a:bodyPr/>
                    <a:p>
                      <a:r>
                        <a:rPr>
                          <a:solidFill>
                            <a:schemeClr val="tx1"/>
                          </a:solidFill>
                        </a:rPr>
                        <a:t>2 months of HRZE</a:t>
                      </a:r>
                      <a:endParaRPr>
                        <a:solidFill>
                          <a:schemeClr val="tx1"/>
                        </a:solidFill>
                      </a:endParaRPr>
                    </a:p>
                  </a:txBody>
                </a:tc>
                <a:tc>
                  <a:txBody>
                    <a:bodyPr/>
                    <a:p>
                      <a:r>
                        <a:rPr>
                          <a:solidFill>
                            <a:schemeClr val="tx1"/>
                          </a:solidFill>
                        </a:rPr>
                        <a:t>4 months of HR</a:t>
                      </a:r>
                      <a:endParaRPr>
                        <a:solidFill>
                          <a:schemeClr val="tx1"/>
                        </a:solidFill>
                      </a:endParaRPr>
                    </a:p>
                  </a:txBody>
                </a:tc>
                <a:tc>
                  <a:txBody>
                    <a:bodyPr/>
                    <a:p>
                      <a:r>
                        <a:rPr>
                          <a:solidFill>
                            <a:schemeClr val="tx1"/>
                          </a:solidFill>
                        </a:rPr>
                        <a:t>2HRZE/4RH</a:t>
                      </a:r>
                      <a:endParaRPr>
                        <a:solidFill>
                          <a:schemeClr val="tx1"/>
                        </a:solidFill>
                      </a:endParaRPr>
                    </a:p>
                  </a:txBody>
                </a:tc>
              </a:tr>
              <a:tr h="370840">
                <a:tc>
                  <a:txBody>
                    <a:bodyPr/>
                    <a:p>
                      <a:r>
                        <a:rPr>
                          <a:solidFill>
                            <a:schemeClr val="tx1"/>
                          </a:solidFill>
                        </a:rPr>
                        <a:t>2 months of ERHZ</a:t>
                      </a:r>
                      <a:endParaRPr>
                        <a:solidFill>
                          <a:schemeClr val="tx1"/>
                        </a:solidFill>
                      </a:endParaRPr>
                    </a:p>
                  </a:txBody>
                </a:tc>
                <a:tc>
                  <a:txBody>
                    <a:bodyPr/>
                    <a:p>
                      <a:r>
                        <a:rPr>
                          <a:solidFill>
                            <a:schemeClr val="tx1"/>
                          </a:solidFill>
                        </a:rPr>
                        <a:t>6 months of EH</a:t>
                      </a:r>
                      <a:endParaRPr>
                        <a:solidFill>
                          <a:schemeClr val="tx1"/>
                        </a:solidFill>
                      </a:endParaRPr>
                    </a:p>
                  </a:txBody>
                </a:tc>
                <a:tc>
                  <a:txBody>
                    <a:bodyPr/>
                    <a:p>
                      <a:r>
                        <a:rPr>
                          <a:solidFill>
                            <a:schemeClr val="tx1"/>
                          </a:solidFill>
                        </a:rPr>
                        <a:t>2ERHZ/6EH </a:t>
                      </a:r>
                      <a:endParaRPr>
                        <a:solidFill>
                          <a:schemeClr val="tx1"/>
                        </a:solidFill>
                      </a:endParaRPr>
                    </a:p>
                  </a:txBody>
                </a:tc>
              </a:tr>
            </a:tbl>
          </a:graphicData>
        </a:graphic>
      </p:graphicFrame>
    </p:spTree>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983" name=""/>
        <p:cNvGrpSpPr/>
        <p:nvPr/>
      </p:nvGrpSpPr>
      <p:grpSpPr>
        <a:xfrm>
          <a:off x="0" y="0"/>
          <a:ext cx="0" cy="0"/>
          <a:chOff x="0" y="0"/>
          <a:chExt cx="0" cy="0"/>
        </a:xfrm>
      </p:grpSpPr>
      <p:sp>
        <p:nvSpPr>
          <p:cNvPr id="1049225" name="Title 1"/>
          <p:cNvSpPr>
            <a:spLocks noGrp="1"/>
          </p:cNvSpPr>
          <p:nvPr>
            <p:ph type="title"/>
          </p:nvPr>
        </p:nvSpPr>
        <p:spPr/>
        <p:txBody>
          <a:bodyPr/>
          <a:p>
            <a:r>
              <a:t>Drug resistant TB </a:t>
            </a:r>
          </a:p>
        </p:txBody>
      </p:sp>
      <p:sp>
        <p:nvSpPr>
          <p:cNvPr id="1049226" name="Content Placeholder 2"/>
          <p:cNvSpPr>
            <a:spLocks noGrp="1"/>
          </p:cNvSpPr>
          <p:nvPr>
            <p:ph idx="1"/>
          </p:nvPr>
        </p:nvSpPr>
        <p:spPr/>
        <p:txBody>
          <a:bodyPr>
            <a:normAutofit fontScale="92500" lnSpcReduction="20000"/>
          </a:bodyPr>
          <a:p>
            <a:pPr indent="0" marL="0">
              <a:buNone/>
            </a:pPr>
            <a:r>
              <a:rPr sz="3600"/>
              <a:t>The TB bacillus are said to be </a:t>
            </a:r>
            <a:endParaRPr sz="3600"/>
          </a:p>
          <a:p>
            <a:r>
              <a:rPr sz="3600"/>
              <a:t>Mono-resistant when there is resistance to any </a:t>
            </a:r>
            <a:r>
              <a:rPr b="1" sz="3600"/>
              <a:t>one single drug </a:t>
            </a:r>
            <a:endParaRPr b="1" sz="3600"/>
          </a:p>
          <a:p>
            <a:endParaRPr b="1" sz="3600"/>
          </a:p>
          <a:p>
            <a:r>
              <a:rPr sz="3600"/>
              <a:t>Poly resistant when there is resistance to two or more drugs </a:t>
            </a:r>
            <a:r>
              <a:rPr b="1" sz="3600"/>
              <a:t>but excluding resistance to both rifampicin and isoniazid </a:t>
            </a:r>
            <a:endParaRPr b="1" sz="3600"/>
          </a:p>
          <a:p>
            <a:endParaRPr b="1" sz="3600"/>
          </a:p>
          <a:p>
            <a:r>
              <a:rPr sz="3600"/>
              <a:t>Multi-Drug resistant (MDR-TB)when there is </a:t>
            </a:r>
            <a:r>
              <a:rPr sz="3600">
                <a:solidFill>
                  <a:srgbClr val="FF0000"/>
                </a:solidFill>
              </a:rPr>
              <a:t>resistance to both rifampicin and isoniazid</a:t>
            </a:r>
            <a:endParaRPr sz="3600">
              <a:solidFill>
                <a:srgbClr val="FF0000"/>
              </a:solidFill>
            </a:endParaRPr>
          </a:p>
        </p:txBody>
      </p:sp>
    </p:spTree>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984" name=""/>
        <p:cNvGrpSpPr/>
        <p:nvPr/>
      </p:nvGrpSpPr>
      <p:grpSpPr>
        <a:xfrm>
          <a:off x="0" y="0"/>
          <a:ext cx="0" cy="0"/>
          <a:chOff x="0" y="0"/>
          <a:chExt cx="0" cy="0"/>
        </a:xfrm>
      </p:grpSpPr>
      <p:sp>
        <p:nvSpPr>
          <p:cNvPr id="1049227" name="Title 1"/>
          <p:cNvSpPr>
            <a:spLocks noGrp="1"/>
          </p:cNvSpPr>
          <p:nvPr>
            <p:ph type="title"/>
          </p:nvPr>
        </p:nvSpPr>
        <p:spPr>
          <a:xfrm>
            <a:off x="838204" y="365126"/>
            <a:ext cx="10515600" cy="654043"/>
          </a:xfrm>
        </p:spPr>
        <p:txBody>
          <a:bodyPr>
            <a:normAutofit fontScale="90000"/>
          </a:bodyPr>
          <a:p>
            <a:r>
              <a:t>The drug regimen for treating MDRTB </a:t>
            </a:r>
          </a:p>
        </p:txBody>
      </p:sp>
      <p:sp>
        <p:nvSpPr>
          <p:cNvPr id="1049228" name="Content Placeholder 2"/>
          <p:cNvSpPr>
            <a:spLocks noGrp="1"/>
          </p:cNvSpPr>
          <p:nvPr>
            <p:ph idx="1"/>
          </p:nvPr>
        </p:nvSpPr>
        <p:spPr>
          <a:xfrm>
            <a:off x="514350" y="1228725"/>
            <a:ext cx="11334745" cy="5486400"/>
          </a:xfrm>
        </p:spPr>
        <p:txBody>
          <a:bodyPr>
            <a:normAutofit fontScale="85000" lnSpcReduction="20000"/>
          </a:bodyPr>
          <a:p>
            <a:r>
              <a:t>A standard regimen for treating MDRTB in </a:t>
            </a:r>
            <a:r>
              <a:t>kenya</a:t>
            </a:r>
            <a:r>
              <a:t>, consist of: </a:t>
            </a:r>
          </a:p>
          <a:p>
            <a:r>
              <a:rPr b="1"/>
              <a:t>1. An intensive phase lasting 6 months in which an injectable will be used under strict DOT and preferably in hospital consisting of: </a:t>
            </a:r>
            <a:endParaRPr b="1"/>
          </a:p>
          <a:p>
            <a:pPr lvl="1"/>
            <a:r>
              <a:t>Pyrazinamide: This drug is chosen because routine DST  (drug susceptibility test)on it is not done. </a:t>
            </a:r>
          </a:p>
          <a:p>
            <a:pPr lvl="1"/>
            <a:r>
              <a:t>Ethionamide. </a:t>
            </a:r>
          </a:p>
          <a:p>
            <a:pPr lvl="1"/>
            <a:r>
              <a:t>Capreomycin is chosen because the aminoglycosides (Kanamycin and Amikacin) have been available for a long time in Kenya and have been extensively used for treating non-tuberculous infections. </a:t>
            </a:r>
          </a:p>
          <a:p>
            <a:pPr lvl="1"/>
            <a:r>
              <a:t>Cycloserine</a:t>
            </a:r>
            <a:r>
              <a:t>. </a:t>
            </a:r>
          </a:p>
          <a:p>
            <a:pPr lvl="1"/>
            <a:r>
              <a:t>Ofloxacin. </a:t>
            </a:r>
          </a:p>
          <a:p>
            <a:pPr lvl="1"/>
            <a:r>
              <a:t>Ethambutol will be used only in those patients where susceptibility to the drug is confirmed by drug susceptibility test (DST). If resistance to this drug is present, para-</a:t>
            </a:r>
            <a:r>
              <a:t>aminosalicylic</a:t>
            </a:r>
            <a:r>
              <a:t> acid (PAS) will be used instead to provide at least five drugs to which the bacilli may be sensitive. </a:t>
            </a:r>
          </a:p>
          <a:p>
            <a:r>
              <a:t>2</a:t>
            </a:r>
            <a:r>
              <a:rPr b="1"/>
              <a:t>. A Continuation phase that will go on for 18 months after culture conversion and should be administered as health care worker DOT on an ambulatory basis consisting of:</a:t>
            </a:r>
            <a:r>
              <a:t> </a:t>
            </a:r>
          </a:p>
          <a:p>
            <a:pPr lvl="1"/>
            <a:r>
              <a:t>Ofloxacin. </a:t>
            </a:r>
          </a:p>
          <a:p>
            <a:pPr lvl="1"/>
            <a:r>
              <a:t>Cycloserine</a:t>
            </a:r>
            <a:r>
              <a:t>. </a:t>
            </a:r>
          </a:p>
          <a:p>
            <a:pPr lvl="1"/>
            <a:r>
              <a:t>Ethionamide. </a:t>
            </a:r>
          </a:p>
          <a:p>
            <a:pPr lvl="1"/>
            <a:r>
              <a:t>Pyrazinamide or para-</a:t>
            </a:r>
            <a:r>
              <a:t>aminosalicylic</a:t>
            </a:r>
            <a:r>
              <a:t> acid (PAS (PASER)).</a:t>
            </a:r>
          </a:p>
        </p:txBody>
      </p:sp>
    </p:spTree>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985" name=""/>
        <p:cNvGrpSpPr/>
        <p:nvPr/>
      </p:nvGrpSpPr>
      <p:grpSpPr>
        <a:xfrm>
          <a:off x="0" y="0"/>
          <a:ext cx="0" cy="0"/>
          <a:chOff x="0" y="0"/>
          <a:chExt cx="0" cy="0"/>
        </a:xfrm>
      </p:grpSpPr>
      <p:sp>
        <p:nvSpPr>
          <p:cNvPr id="1049229" name="Title 1"/>
          <p:cNvSpPr>
            <a:spLocks noGrp="1"/>
          </p:cNvSpPr>
          <p:nvPr>
            <p:ph type="title"/>
          </p:nvPr>
        </p:nvSpPr>
        <p:spPr>
          <a:xfrm>
            <a:off x="838204" y="365126"/>
            <a:ext cx="10515600" cy="711193"/>
          </a:xfrm>
        </p:spPr>
        <p:txBody>
          <a:bodyPr/>
          <a:p>
            <a:r>
              <a:t>ISONIAZID</a:t>
            </a:r>
          </a:p>
        </p:txBody>
      </p:sp>
      <p:sp>
        <p:nvSpPr>
          <p:cNvPr id="1049230" name="Content Placeholder 2"/>
          <p:cNvSpPr>
            <a:spLocks noGrp="1"/>
          </p:cNvSpPr>
          <p:nvPr>
            <p:ph idx="1"/>
          </p:nvPr>
        </p:nvSpPr>
        <p:spPr>
          <a:xfrm>
            <a:off x="838204" y="1333495"/>
            <a:ext cx="10515600" cy="4843462"/>
          </a:xfrm>
        </p:spPr>
        <p:txBody>
          <a:bodyPr>
            <a:normAutofit/>
          </a:bodyPr>
          <a:p>
            <a:r>
              <a:rPr b="1"/>
              <a:t>Expected Pharmacological Action </a:t>
            </a:r>
            <a:endParaRPr b="1"/>
          </a:p>
          <a:p>
            <a:r>
              <a:t> This medication is highly specific for mycobacteria. highly </a:t>
            </a:r>
            <a:r>
              <a:rPr>
                <a:solidFill>
                  <a:srgbClr val="FF0000"/>
                </a:solidFill>
              </a:rPr>
              <a:t>bactericidal</a:t>
            </a:r>
            <a:endParaRPr>
              <a:solidFill>
                <a:srgbClr val="FF0000"/>
              </a:solidFill>
            </a:endParaRPr>
          </a:p>
          <a:p>
            <a:r>
              <a:t>Isoniazid inhibits growth of mycobacteria </a:t>
            </a:r>
            <a:r>
              <a:rPr b="1"/>
              <a:t>by preventing synthesis of mycolic  acid </a:t>
            </a:r>
            <a:r>
              <a:t>in the </a:t>
            </a:r>
            <a:r>
              <a:rPr b="1"/>
              <a:t>c</a:t>
            </a:r>
            <a:r>
              <a:t>ell wall. </a:t>
            </a:r>
          </a:p>
          <a:p>
            <a:r>
              <a:t>It also combines with an intracellular enzyme disrupting cellular metabolism in susceptible strains</a:t>
            </a:r>
          </a:p>
          <a:p>
            <a:r>
              <a:rPr b="1"/>
              <a:t>  Therapeutic Uses</a:t>
            </a:r>
            <a:r>
              <a:t>; </a:t>
            </a:r>
            <a:r>
              <a:rPr b="1"/>
              <a:t>Indicated for active and latent tuberculosis </a:t>
            </a:r>
            <a:endParaRPr b="1"/>
          </a:p>
          <a:p>
            <a:r>
              <a:t> Latent: INH only – 6 to 9 months </a:t>
            </a:r>
          </a:p>
          <a:p>
            <a:r>
              <a:t> Active: Multiple medication therapy including INH, for a minimum of 6 months</a:t>
            </a:r>
          </a:p>
        </p:txBody>
      </p:sp>
    </p:spTree>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986" name=""/>
        <p:cNvGrpSpPr/>
        <p:nvPr/>
      </p:nvGrpSpPr>
      <p:grpSpPr>
        <a:xfrm>
          <a:off x="0" y="0"/>
          <a:ext cx="0" cy="0"/>
          <a:chOff x="0" y="0"/>
          <a:chExt cx="0" cy="0"/>
        </a:xfrm>
      </p:grpSpPr>
      <p:sp>
        <p:nvSpPr>
          <p:cNvPr id="1049231" name="Title 1"/>
          <p:cNvSpPr>
            <a:spLocks noGrp="1"/>
          </p:cNvSpPr>
          <p:nvPr>
            <p:ph type="title"/>
          </p:nvPr>
        </p:nvSpPr>
        <p:spPr/>
        <p:txBody>
          <a:bodyPr/>
          <a:p>
            <a:r>
              <a:t>Isoniazid </a:t>
            </a:r>
          </a:p>
        </p:txBody>
      </p:sp>
      <p:sp>
        <p:nvSpPr>
          <p:cNvPr id="1049232" name="Content Placeholder 2"/>
          <p:cNvSpPr>
            <a:spLocks noGrp="1"/>
          </p:cNvSpPr>
          <p:nvPr>
            <p:ph idx="1"/>
          </p:nvPr>
        </p:nvSpPr>
        <p:spPr>
          <a:xfrm>
            <a:off x="838204" y="1333495"/>
            <a:ext cx="10515600" cy="5159378"/>
          </a:xfrm>
        </p:spPr>
        <p:txBody>
          <a:bodyPr>
            <a:normAutofit lnSpcReduction="10000"/>
          </a:bodyPr>
          <a:p>
            <a:r>
              <a:t>It is rapidly absorbed from the GIT and diffuses readily into all fluids and tissues including the CSF. </a:t>
            </a:r>
          </a:p>
          <a:p>
            <a:r>
              <a:t>It also penetrates well the necrotic tuberculous lesions. Metabolized in the liver by a process called acetylation.</a:t>
            </a:r>
          </a:p>
          <a:p>
            <a:r>
              <a:t>Isoniazid is largely excreted in the urine within 24 hours, mostly as inactive metabolites. </a:t>
            </a:r>
          </a:p>
          <a:p>
            <a:r>
              <a:t>Isoniazid is normally taken orally but may be administered intramuscularly or intravenously to critically ill patients</a:t>
            </a:r>
          </a:p>
          <a:p>
            <a:r>
              <a:t> </a:t>
            </a:r>
            <a:r>
              <a:rPr b="1"/>
              <a:t>The initial</a:t>
            </a:r>
            <a:r>
              <a:t> </a:t>
            </a:r>
            <a:r>
              <a:rPr b="1"/>
              <a:t>phase (induction phase</a:t>
            </a:r>
            <a:r>
              <a:t>) focuses on eradicating the active tubercle bacilli, which will result in non infectious sputum. </a:t>
            </a:r>
          </a:p>
          <a:p>
            <a:r>
              <a:rPr b="1"/>
              <a:t>The second phase (continuation phase) </a:t>
            </a:r>
            <a:r>
              <a:t>works toward eliminating any other pathogens in the body. </a:t>
            </a:r>
          </a:p>
          <a:p/>
        </p:txBody>
      </p:sp>
    </p:spTree>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987" name=""/>
        <p:cNvGrpSpPr/>
        <p:nvPr/>
      </p:nvGrpSpPr>
      <p:grpSpPr>
        <a:xfrm>
          <a:off x="0" y="0"/>
          <a:ext cx="0" cy="0"/>
          <a:chOff x="0" y="0"/>
          <a:chExt cx="0" cy="0"/>
        </a:xfrm>
      </p:grpSpPr>
      <p:sp>
        <p:nvSpPr>
          <p:cNvPr id="1049233" name="Title 1"/>
          <p:cNvSpPr>
            <a:spLocks noGrp="1"/>
          </p:cNvSpPr>
          <p:nvPr>
            <p:ph type="title"/>
          </p:nvPr>
        </p:nvSpPr>
        <p:spPr>
          <a:xfrm>
            <a:off x="838204" y="195797"/>
            <a:ext cx="10515600" cy="1325556"/>
          </a:xfrm>
        </p:spPr>
        <p:txBody>
          <a:bodyPr/>
          <a:p>
            <a:r>
              <a:t>isoniazid cont.’</a:t>
            </a:r>
          </a:p>
        </p:txBody>
      </p:sp>
      <p:sp>
        <p:nvSpPr>
          <p:cNvPr id="1049234" name="Content Placeholder 2"/>
          <p:cNvSpPr>
            <a:spLocks noGrp="1"/>
          </p:cNvSpPr>
          <p:nvPr>
            <p:ph idx="1"/>
          </p:nvPr>
        </p:nvSpPr>
        <p:spPr/>
        <p:txBody>
          <a:bodyPr/>
          <a:p>
            <a:endParaRPr sz="4400">
              <a:solidFill>
                <a:srgbClr val="000000"/>
              </a:solidFill>
              <a:latin typeface="Calibri Light"/>
              <a:ea typeface="+mj-ea"/>
              <a:cs typeface="+mj-cs"/>
            </a:endParaRPr>
          </a:p>
          <a:p>
            <a:r>
              <a:rPr sz="4000"/>
              <a:t>Length of treatment varies and may be as short as 6 months for medication-sensitive tuberculosis (2 months for the initial phase and 4 months for the continuation phase) or as long as 24 months for medication-resistant infections.</a:t>
            </a:r>
            <a:endParaRPr sz="4000"/>
          </a:p>
        </p:txBody>
      </p:sp>
    </p:spTree>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988" name=""/>
        <p:cNvGrpSpPr/>
        <p:nvPr/>
      </p:nvGrpSpPr>
      <p:grpSpPr>
        <a:xfrm>
          <a:off x="0" y="0"/>
          <a:ext cx="0" cy="0"/>
          <a:chOff x="0" y="0"/>
          <a:chExt cx="0" cy="0"/>
        </a:xfrm>
      </p:grpSpPr>
      <p:sp>
        <p:nvSpPr>
          <p:cNvPr id="1049235" name="Title 1"/>
          <p:cNvSpPr>
            <a:spLocks noGrp="1"/>
          </p:cNvSpPr>
          <p:nvPr>
            <p:ph type="title"/>
          </p:nvPr>
        </p:nvSpPr>
        <p:spPr>
          <a:xfrm>
            <a:off x="838204" y="365126"/>
            <a:ext cx="10515600" cy="587378"/>
          </a:xfrm>
        </p:spPr>
        <p:txBody>
          <a:bodyPr/>
          <a:p>
            <a:r>
              <a:rPr b="1" sz="2600">
                <a:solidFill>
                  <a:srgbClr val="000000"/>
                </a:solidFill>
                <a:latin typeface="Calibri"/>
                <a:ea typeface="+mn-ea"/>
                <a:cs typeface="+mn-cs"/>
              </a:rPr>
              <a:t>Complications Side/Adverse Effects Nursing Interventions/Client Education</a:t>
            </a:r>
            <a:endParaRPr b="1"/>
          </a:p>
        </p:txBody>
      </p:sp>
      <p:sp>
        <p:nvSpPr>
          <p:cNvPr id="1049236" name="Content Placeholder 2"/>
          <p:cNvSpPr>
            <a:spLocks noGrp="1"/>
          </p:cNvSpPr>
          <p:nvPr>
            <p:ph idx="1"/>
          </p:nvPr>
        </p:nvSpPr>
        <p:spPr>
          <a:xfrm>
            <a:off x="361945" y="1028700"/>
            <a:ext cx="11239504" cy="5648320"/>
          </a:xfrm>
        </p:spPr>
        <p:txBody>
          <a:bodyPr>
            <a:normAutofit lnSpcReduction="10000"/>
          </a:bodyPr>
          <a:p>
            <a:r>
              <a:t>Systemic or cutaneous hypersensitivity/ </a:t>
            </a:r>
            <a:r>
              <a:rPr b="1"/>
              <a:t>Allergic skin eruptions in </a:t>
            </a:r>
            <a:r>
              <a:t>first weeks of treatment are the commonest side effects</a:t>
            </a:r>
          </a:p>
          <a:p>
            <a:r>
              <a:t>Others are fever , GIT disturbance</a:t>
            </a:r>
          </a:p>
          <a:p>
            <a:r>
              <a:t>Sleepiness or lethargy-managed by reassurance or adjustment of the timing of administration</a:t>
            </a:r>
          </a:p>
          <a:p>
            <a:r>
              <a:t> </a:t>
            </a:r>
            <a:r>
              <a:rPr b="1"/>
              <a:t>Peripheral neuropathy (tingling, numbness, burning, and pain resulting from deficiency of pyridoxine, (vitamin B6 ). </a:t>
            </a:r>
            <a:endParaRPr b="1"/>
          </a:p>
          <a:p>
            <a:pPr lvl="1"/>
            <a:r>
              <a:t> Instruct clients to observe for symptoms and to notify the provider if symptoms occur. </a:t>
            </a:r>
          </a:p>
          <a:p>
            <a:pPr lvl="1"/>
            <a:r>
              <a:t> Administer 50 to 200 mg of vitamin B6 daily. The risk of peripheral neuropathy is excluded if vulnerable patients receive daily supplements of pyridoxine</a:t>
            </a:r>
          </a:p>
          <a:p>
            <a:pPr lvl="1"/>
            <a:r>
              <a:t>Other less common forms of neurological disturbance, including optic neuritis, toxic psychosis and generalized convulsions, can develop in susceptible individuals (malnourished </a:t>
            </a:r>
            <a:r>
              <a:t>patients,alcoholics</a:t>
            </a:r>
            <a:r>
              <a:t>) and occasionally necessitate the withdrawal of isoniazid</a:t>
            </a:r>
          </a:p>
        </p:txBody>
      </p:sp>
    </p:spTree>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989" name=""/>
        <p:cNvGrpSpPr/>
        <p:nvPr/>
      </p:nvGrpSpPr>
      <p:grpSpPr>
        <a:xfrm>
          <a:off x="0" y="0"/>
          <a:ext cx="0" cy="0"/>
          <a:chOff x="0" y="0"/>
          <a:chExt cx="0" cy="0"/>
        </a:xfrm>
      </p:grpSpPr>
      <p:sp>
        <p:nvSpPr>
          <p:cNvPr id="1049237" name="Title 1"/>
          <p:cNvSpPr>
            <a:spLocks noGrp="1"/>
          </p:cNvSpPr>
          <p:nvPr>
            <p:ph type="title"/>
          </p:nvPr>
        </p:nvSpPr>
        <p:spPr>
          <a:xfrm>
            <a:off x="838204" y="365126"/>
            <a:ext cx="10515600" cy="1073153"/>
          </a:xfrm>
        </p:spPr>
        <p:txBody>
          <a:bodyPr/>
          <a:p>
            <a:r>
              <a:t>Adverse reactions </a:t>
            </a:r>
          </a:p>
        </p:txBody>
      </p:sp>
      <p:sp>
        <p:nvSpPr>
          <p:cNvPr id="1049238" name="Content Placeholder 2"/>
          <p:cNvSpPr>
            <a:spLocks noGrp="1"/>
          </p:cNvSpPr>
          <p:nvPr>
            <p:ph idx="1"/>
          </p:nvPr>
        </p:nvSpPr>
        <p:spPr>
          <a:xfrm>
            <a:off x="638179" y="1514475"/>
            <a:ext cx="10715625" cy="4978398"/>
          </a:xfrm>
        </p:spPr>
        <p:txBody>
          <a:bodyPr>
            <a:normAutofit/>
          </a:bodyPr>
          <a:p>
            <a:r>
              <a:rPr b="1"/>
              <a:t>Symptomatic hepatitis </a:t>
            </a:r>
            <a:r>
              <a:t>and </a:t>
            </a:r>
            <a:r>
              <a:rPr b="1"/>
              <a:t>Hepatotoxicity</a:t>
            </a:r>
            <a:r>
              <a:t> (</a:t>
            </a:r>
            <a:r>
              <a:rPr b="1"/>
              <a:t>anorexia, malaise, fatigue, nausea, and yellowish discoloration of skin and eyes).</a:t>
            </a:r>
            <a:r>
              <a:t> </a:t>
            </a:r>
          </a:p>
          <a:p>
            <a:pPr lvl="1"/>
            <a:r>
              <a:t> Instruct clients to observe for symptoms and notify the provider if symptoms occur. </a:t>
            </a:r>
          </a:p>
          <a:p>
            <a:pPr lvl="1"/>
            <a:r>
              <a:t> Monitor liver function tests.</a:t>
            </a:r>
          </a:p>
          <a:p>
            <a:pPr lvl="1"/>
            <a:r>
              <a:t>  Instruct clients to avoid consumption of alcohol. </a:t>
            </a:r>
          </a:p>
          <a:p>
            <a:pPr lvl="1"/>
            <a:r>
              <a:t> Medication may need to be discontinued if liver function test (hepatic transaminases) results are elevated. </a:t>
            </a:r>
          </a:p>
          <a:p>
            <a:pPr indent="0" marL="0">
              <a:buNone/>
            </a:pPr>
            <a:r>
              <a:t>Others ;A lupus-like syndrome, pellagra, </a:t>
            </a:r>
            <a:r>
              <a:t>anaemia</a:t>
            </a:r>
            <a:r>
              <a:t>, and arthralgias are other rare adverse effects</a:t>
            </a:r>
          </a:p>
          <a:p>
            <a:pPr indent="0" marL="0">
              <a:buNone/>
            </a:pPr>
            <a:r>
              <a:t>Haemolytic</a:t>
            </a:r>
            <a:r>
              <a:t> </a:t>
            </a:r>
            <a:r>
              <a:t>anaemia</a:t>
            </a:r>
            <a:r>
              <a:t> may occur in patients with glucose-6-phosphate dehydrogenase deficiency</a:t>
            </a:r>
          </a:p>
          <a:p/>
        </p:txBody>
      </p:sp>
    </p:spTree>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990" name=""/>
        <p:cNvGrpSpPr/>
        <p:nvPr/>
      </p:nvGrpSpPr>
      <p:grpSpPr>
        <a:xfrm>
          <a:off x="0" y="0"/>
          <a:ext cx="0" cy="0"/>
          <a:chOff x="0" y="0"/>
          <a:chExt cx="0" cy="0"/>
        </a:xfrm>
      </p:grpSpPr>
      <p:sp>
        <p:nvSpPr>
          <p:cNvPr id="1049239" name="Content Placeholder 2"/>
          <p:cNvSpPr>
            <a:spLocks noGrp="1"/>
          </p:cNvSpPr>
          <p:nvPr>
            <p:ph idx="1"/>
          </p:nvPr>
        </p:nvSpPr>
        <p:spPr>
          <a:xfrm>
            <a:off x="447670" y="269634"/>
            <a:ext cx="11277595" cy="6166339"/>
          </a:xfrm>
        </p:spPr>
        <p:txBody>
          <a:bodyPr>
            <a:normAutofit fontScale="92500" lnSpcReduction="10000"/>
          </a:bodyPr>
          <a:p>
            <a:pPr indent="0" marL="0">
              <a:buNone/>
            </a:pPr>
            <a:r>
              <a:rPr b="1"/>
              <a:t>Precautions </a:t>
            </a:r>
            <a:endParaRPr b="1"/>
          </a:p>
          <a:p>
            <a:r>
              <a:t>Clinical monitoring (and liver function tests, if possible) in patients with pre-existing liver disease. </a:t>
            </a:r>
          </a:p>
          <a:p>
            <a:r>
              <a:t>Patients at risk of peripheral neuropathy, as a result of malnutrition, chronic alcohol dependence, HIV infection, pregnancy, breastfeeding, renal failure or diabetes, should </a:t>
            </a:r>
            <a:r>
              <a:rPr b="1"/>
              <a:t>additionally receive pyridoxine</a:t>
            </a:r>
            <a:r>
              <a:t>, 10 mg daily-25mg/day.</a:t>
            </a:r>
          </a:p>
          <a:p>
            <a:r>
              <a:t>Since isoniazid interacts with anticonvulsants used for epilepsy, it may be necessary to reduce the dosage of these drugs during treatment with isoniazid. If possible, serum concentrations of phenytoin and carbamazepine should be measured in patients receiving isoniazid with or without rifampicin</a:t>
            </a:r>
            <a:endParaRPr b="1" sz="3200">
              <a:solidFill>
                <a:srgbClr val="000000"/>
              </a:solidFill>
            </a:endParaRPr>
          </a:p>
          <a:p>
            <a:pPr indent="0" marL="0">
              <a:buNone/>
            </a:pPr>
            <a:r>
              <a:rPr b="1" sz="3200">
                <a:solidFill>
                  <a:srgbClr val="000000"/>
                </a:solidFill>
              </a:rPr>
              <a:t>Contraindications </a:t>
            </a:r>
            <a:endParaRPr b="1" sz="3200">
              <a:solidFill>
                <a:srgbClr val="000000"/>
              </a:solidFill>
            </a:endParaRPr>
          </a:p>
          <a:p>
            <a:r>
              <a:rPr sz="3200">
                <a:solidFill>
                  <a:srgbClr val="000000"/>
                </a:solidFill>
              </a:rPr>
              <a:t>INH is contraindicated for clients with liver disease (with jaundice).</a:t>
            </a:r>
            <a:endParaRPr sz="3200">
              <a:solidFill>
                <a:srgbClr val="000000"/>
              </a:solidFill>
            </a:endParaRPr>
          </a:p>
          <a:p>
            <a:r>
              <a:rPr sz="3200"/>
              <a:t>Known hypersensitivity.</a:t>
            </a:r>
            <a:endParaRPr sz="3200"/>
          </a:p>
          <a:p>
            <a:r>
              <a:rPr sz="3200"/>
              <a:t>Patients with optic neuritis </a:t>
            </a:r>
            <a:endParaRPr sz="3200"/>
          </a:p>
          <a:p>
            <a:r>
              <a:rPr sz="3200"/>
              <a:t>SC and IM use is contraindicated due to soft tissue toxicity</a:t>
            </a:r>
            <a:endParaRPr sz="3200"/>
          </a:p>
          <a:p>
            <a:pPr indent="0" marL="0">
              <a:buNone/>
            </a:pPr>
            <a:endParaRPr b="1" sz="3200">
              <a:solidFill>
                <a:srgbClr val="000000"/>
              </a:solidFill>
            </a:endParaRPr>
          </a:p>
          <a:p>
            <a:pPr indent="0" marL="0">
              <a:buNone/>
            </a:pPr>
            <a:endParaRPr sz="3200"/>
          </a:p>
        </p:txBody>
      </p:sp>
    </p:spTree>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991" name=""/>
        <p:cNvGrpSpPr/>
        <p:nvPr/>
      </p:nvGrpSpPr>
      <p:grpSpPr>
        <a:xfrm>
          <a:off x="0" y="0"/>
          <a:ext cx="0" cy="0"/>
          <a:chOff x="0" y="0"/>
          <a:chExt cx="0" cy="0"/>
        </a:xfrm>
      </p:grpSpPr>
      <p:sp>
        <p:nvSpPr>
          <p:cNvPr id="1049240" name="Title 1"/>
          <p:cNvSpPr>
            <a:spLocks noGrp="1"/>
          </p:cNvSpPr>
          <p:nvPr>
            <p:ph type="title"/>
          </p:nvPr>
        </p:nvSpPr>
        <p:spPr/>
        <p:txBody>
          <a:bodyPr>
            <a:normAutofit/>
          </a:bodyPr>
          <a:p>
            <a:r>
              <a:rPr b="1">
                <a:solidFill>
                  <a:srgbClr val="000000"/>
                </a:solidFill>
              </a:rPr>
              <a:t>Interactions Medication/Food Interactions Nursing        Interventions/Client Education</a:t>
            </a:r>
          </a:p>
        </p:txBody>
      </p:sp>
      <p:sp>
        <p:nvSpPr>
          <p:cNvPr id="1049241" name="Content Placeholder 2"/>
          <p:cNvSpPr>
            <a:spLocks noGrp="1"/>
          </p:cNvSpPr>
          <p:nvPr>
            <p:ph idx="1"/>
          </p:nvPr>
        </p:nvSpPr>
        <p:spPr/>
        <p:txBody>
          <a:bodyPr>
            <a:normAutofit fontScale="92500" lnSpcReduction="10000"/>
          </a:bodyPr>
          <a:p>
            <a:r>
              <a:rPr b="1" sz="2800"/>
              <a:t>INH inhibits metabolism of phenytoin,</a:t>
            </a:r>
            <a:r>
              <a:t> carbamazepine, </a:t>
            </a:r>
            <a:r>
              <a:t>benzodiazepineacetaminophen</a:t>
            </a:r>
            <a:r>
              <a:t>/paracetamol, valproate, serotonergic antidepressants, disulfiram, warfarin and </a:t>
            </a:r>
            <a:r>
              <a:t>theophyllines</a:t>
            </a:r>
            <a:r>
              <a:rPr b="1" sz="2800"/>
              <a:t> leading to buildup of medication and toxicity.</a:t>
            </a:r>
            <a:endParaRPr b="1" sz="2800"/>
          </a:p>
          <a:p>
            <a:pPr lvl="1"/>
            <a:r>
              <a:t> Ataxia and incoordination may indicate toxicity. </a:t>
            </a:r>
          </a:p>
          <a:p>
            <a:pPr lvl="1"/>
            <a:r>
              <a:t> Monitor the client’s levels of phenytoin.</a:t>
            </a:r>
          </a:p>
          <a:p>
            <a:pPr lvl="1"/>
            <a:r>
              <a:t> Dosage of phenytoin may need to be adjusted based on phenytoin levels.</a:t>
            </a:r>
          </a:p>
          <a:p>
            <a:r>
              <a:rPr b="1" sz="2800"/>
              <a:t> Concurrent use of alcohol, rifampin, and pyrazinamide increases the risk for hepatotoxicity. </a:t>
            </a:r>
            <a:endParaRPr b="1" sz="2800"/>
          </a:p>
          <a:p>
            <a:pPr lvl="1"/>
            <a:r>
              <a:t> Instruct clients to avoid alcohol consumption. </a:t>
            </a:r>
          </a:p>
          <a:p>
            <a:pPr lvl="1"/>
            <a:r>
              <a:t> Monitor liver function. </a:t>
            </a:r>
          </a:p>
          <a:p>
            <a:r>
              <a:t>Antacids reduces the absorption of isoniazid</a:t>
            </a:r>
            <a:endParaRPr sz="2800"/>
          </a:p>
          <a:p/>
        </p:txBody>
      </p:sp>
    </p:spTree>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992" name=""/>
        <p:cNvGrpSpPr/>
        <p:nvPr/>
      </p:nvGrpSpPr>
      <p:grpSpPr>
        <a:xfrm>
          <a:off x="0" y="0"/>
          <a:ext cx="0" cy="0"/>
          <a:chOff x="0" y="0"/>
          <a:chExt cx="0" cy="0"/>
        </a:xfrm>
      </p:grpSpPr>
      <p:sp>
        <p:nvSpPr>
          <p:cNvPr id="1049242" name="Title 1"/>
          <p:cNvSpPr>
            <a:spLocks noGrp="1"/>
          </p:cNvSpPr>
          <p:nvPr>
            <p:ph type="title"/>
          </p:nvPr>
        </p:nvSpPr>
        <p:spPr/>
        <p:txBody>
          <a:bodyPr/>
          <a:p>
            <a:r>
              <a:rPr b="1"/>
              <a:t>Interactions cont.’</a:t>
            </a:r>
            <a:endParaRPr b="1"/>
          </a:p>
        </p:txBody>
      </p:sp>
      <p:sp>
        <p:nvSpPr>
          <p:cNvPr id="1049243" name="Content Placeholder 2"/>
          <p:cNvSpPr>
            <a:spLocks noGrp="1"/>
          </p:cNvSpPr>
          <p:nvPr>
            <p:ph idx="1"/>
          </p:nvPr>
        </p:nvSpPr>
        <p:spPr/>
        <p:txBody>
          <a:bodyPr>
            <a:normAutofit/>
          </a:bodyPr>
          <a:p>
            <a:r>
              <a:rPr b="1" sz="3600"/>
              <a:t>Induce liver enzymes </a:t>
            </a:r>
            <a:r>
              <a:rPr sz="3600"/>
              <a:t>,hence affect the metabolism of </a:t>
            </a:r>
            <a:r>
              <a:rPr b="1" sz="3600"/>
              <a:t>warfarin, glucocorticoids, narcotics, oral anti diabetes, dapsone </a:t>
            </a:r>
            <a:r>
              <a:rPr sz="3600"/>
              <a:t>and </a:t>
            </a:r>
            <a:r>
              <a:rPr b="1" sz="3600"/>
              <a:t>estrogens</a:t>
            </a:r>
            <a:r>
              <a:rPr sz="3600"/>
              <a:t> and </a:t>
            </a:r>
            <a:r>
              <a:rPr b="1" sz="3600"/>
              <a:t>oral contraceptives</a:t>
            </a:r>
            <a:r>
              <a:rPr sz="3600"/>
              <a:t>.</a:t>
            </a:r>
            <a:endParaRPr sz="3600"/>
          </a:p>
          <a:p>
            <a:endParaRPr sz="3600"/>
          </a:p>
          <a:p>
            <a:r>
              <a:rPr sz="3600"/>
              <a:t>Advice clients on oral contraceptives to change method of family planning or use a back up method.</a:t>
            </a:r>
            <a:endParaRPr sz="3600"/>
          </a:p>
        </p:txBody>
      </p:sp>
    </p:spTree>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993" name=""/>
        <p:cNvGrpSpPr/>
        <p:nvPr/>
      </p:nvGrpSpPr>
      <p:grpSpPr>
        <a:xfrm>
          <a:off x="0" y="0"/>
          <a:ext cx="0" cy="0"/>
          <a:chOff x="0" y="0"/>
          <a:chExt cx="0" cy="0"/>
        </a:xfrm>
      </p:grpSpPr>
      <p:sp>
        <p:nvSpPr>
          <p:cNvPr id="1049244" name="Title 1"/>
          <p:cNvSpPr>
            <a:spLocks noGrp="1"/>
          </p:cNvSpPr>
          <p:nvPr>
            <p:ph type="title"/>
          </p:nvPr>
        </p:nvSpPr>
        <p:spPr/>
        <p:txBody>
          <a:bodyPr/>
          <a:p>
            <a:r>
              <a:t>Use in pregnancy Isoniazid </a:t>
            </a:r>
          </a:p>
        </p:txBody>
      </p:sp>
      <p:sp>
        <p:nvSpPr>
          <p:cNvPr id="1049245" name="Content Placeholder 2"/>
          <p:cNvSpPr>
            <a:spLocks noGrp="1"/>
          </p:cNvSpPr>
          <p:nvPr>
            <p:ph idx="1"/>
          </p:nvPr>
        </p:nvSpPr>
        <p:spPr>
          <a:xfrm>
            <a:off x="581029" y="1485900"/>
            <a:ext cx="10772775" cy="5006973"/>
          </a:xfrm>
        </p:spPr>
        <p:txBody>
          <a:bodyPr>
            <a:normAutofit lnSpcReduction="10000"/>
          </a:bodyPr>
          <a:p>
            <a:r>
              <a:t>is not known to be harmful in pregnancy </a:t>
            </a:r>
          </a:p>
          <a:p>
            <a:r>
              <a:t>Pyridoxine supplementation is recommended for all pregnant (or breastfeeding) women taking isoniazid. </a:t>
            </a:r>
          </a:p>
          <a:p>
            <a:r>
              <a:rPr b="1"/>
              <a:t>Overdosage</a:t>
            </a:r>
            <a:r>
              <a:t> </a:t>
            </a:r>
          </a:p>
          <a:p>
            <a:pPr lvl="1"/>
            <a:r>
              <a:t>Nausea, vomiting, dizziness, blurred vision and slurring of speech occur within 30 minutes to 3 hours of overdosage. </a:t>
            </a:r>
          </a:p>
          <a:p>
            <a:pPr lvl="1"/>
            <a:r>
              <a:t>Massive poisoning results in coma preceded by respiratory depression and stupor. Severe intractable seizures may occur. </a:t>
            </a:r>
          </a:p>
          <a:p>
            <a:r>
              <a:t>Mnx</a:t>
            </a:r>
            <a:r>
              <a:t> of overdose </a:t>
            </a:r>
          </a:p>
          <a:p>
            <a:pPr lvl="1"/>
            <a:r>
              <a:t>Emesis and gastric lavage, activated charcoal, antiepileptics and IV sodium bicarbonate can be of value if instituted within a few hours of ingestion. </a:t>
            </a:r>
          </a:p>
          <a:p>
            <a:pPr lvl="1"/>
            <a:r>
              <a:t>Subsequently, </a:t>
            </a:r>
            <a:r>
              <a:t>haemodialysis</a:t>
            </a:r>
            <a:r>
              <a:t> may be of value. </a:t>
            </a:r>
          </a:p>
          <a:p>
            <a:pPr lvl="1"/>
            <a:r>
              <a:t>High doses of pyridoxine must be administered to prevent seizures. </a:t>
            </a:r>
          </a:p>
        </p:txBody>
      </p:sp>
    </p:spTree>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994" name=""/>
        <p:cNvGrpSpPr/>
        <p:nvPr/>
      </p:nvGrpSpPr>
      <p:grpSpPr>
        <a:xfrm>
          <a:off x="0" y="0"/>
          <a:ext cx="0" cy="0"/>
          <a:chOff x="0" y="0"/>
          <a:chExt cx="0" cy="0"/>
        </a:xfrm>
      </p:grpSpPr>
      <p:sp>
        <p:nvSpPr>
          <p:cNvPr id="1049246" name="Content Placeholder 2"/>
          <p:cNvSpPr>
            <a:spLocks noGrp="1"/>
          </p:cNvSpPr>
          <p:nvPr>
            <p:ph idx="1"/>
          </p:nvPr>
        </p:nvSpPr>
        <p:spPr>
          <a:xfrm>
            <a:off x="838204" y="838204"/>
            <a:ext cx="10515600" cy="5338767"/>
          </a:xfrm>
        </p:spPr>
        <p:txBody>
          <a:bodyPr>
            <a:normAutofit lnSpcReduction="10000"/>
          </a:bodyPr>
          <a:p>
            <a:pPr indent="0" marL="0">
              <a:buNone/>
            </a:pPr>
            <a:r>
              <a:rPr b="1" sz="3200">
                <a:solidFill>
                  <a:srgbClr val="000000"/>
                </a:solidFill>
              </a:rPr>
              <a:t>Nursing Administration </a:t>
            </a:r>
            <a:endParaRPr b="1" sz="3200">
              <a:solidFill>
                <a:srgbClr val="000000"/>
              </a:solidFill>
            </a:endParaRPr>
          </a:p>
          <a:p>
            <a:r>
              <a:rPr sz="3200">
                <a:solidFill>
                  <a:srgbClr val="000000"/>
                </a:solidFill>
              </a:rPr>
              <a:t> Administer by oral route </a:t>
            </a:r>
            <a:endParaRPr sz="3200">
              <a:solidFill>
                <a:srgbClr val="000000"/>
              </a:solidFill>
            </a:endParaRPr>
          </a:p>
          <a:p>
            <a:r>
              <a:rPr sz="3200">
                <a:solidFill>
                  <a:srgbClr val="000000"/>
                </a:solidFill>
              </a:rPr>
              <a:t>For active tuberculosis, direct observation therapy (DOT) is done to ensure adherence. </a:t>
            </a:r>
            <a:endParaRPr sz="3200">
              <a:solidFill>
                <a:srgbClr val="000000"/>
              </a:solidFill>
            </a:endParaRPr>
          </a:p>
          <a:p>
            <a:r>
              <a:rPr sz="3200">
                <a:solidFill>
                  <a:srgbClr val="000000"/>
                </a:solidFill>
              </a:rPr>
              <a:t> Advise clients to take INH 1 hours before meals or 2 hours after. </a:t>
            </a:r>
            <a:endParaRPr sz="3200">
              <a:solidFill>
                <a:srgbClr val="000000"/>
              </a:solidFill>
            </a:endParaRPr>
          </a:p>
          <a:p>
            <a:r>
              <a:rPr sz="3200">
                <a:solidFill>
                  <a:srgbClr val="000000"/>
                </a:solidFill>
              </a:rPr>
              <a:t>If gastric discomfort occurs, the client may take INH with meals. </a:t>
            </a:r>
            <a:endParaRPr sz="3200">
              <a:solidFill>
                <a:srgbClr val="000000"/>
              </a:solidFill>
            </a:endParaRPr>
          </a:p>
          <a:p>
            <a:r>
              <a:rPr sz="3200">
                <a:solidFill>
                  <a:srgbClr val="000000"/>
                </a:solidFill>
              </a:rPr>
              <a:t> Instruct clients to complete the prescribed course of antimicrobial therapy, even though </a:t>
            </a:r>
            <a:r>
              <a:rPr sz="3200"/>
              <a:t>symptoms may resolve before the full course is completed.</a:t>
            </a:r>
            <a:r>
              <a:rPr sz="3200">
                <a:solidFill>
                  <a:srgbClr val="000000"/>
                </a:solidFill>
              </a:rPr>
              <a:t> </a:t>
            </a:r>
            <a:endParaRPr b="1" sz="3200">
              <a:solidFill>
                <a:srgbClr val="000000"/>
              </a:solidFill>
            </a:endParaRPr>
          </a:p>
          <a:p/>
        </p:txBody>
      </p:sp>
    </p:spTree>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995" name=""/>
        <p:cNvGrpSpPr/>
        <p:nvPr/>
      </p:nvGrpSpPr>
      <p:grpSpPr>
        <a:xfrm>
          <a:off x="0" y="0"/>
          <a:ext cx="0" cy="0"/>
          <a:chOff x="0" y="0"/>
          <a:chExt cx="0" cy="0"/>
        </a:xfrm>
      </p:grpSpPr>
      <p:sp>
        <p:nvSpPr>
          <p:cNvPr id="1049247" name="Title 1"/>
          <p:cNvSpPr>
            <a:spLocks noGrp="1"/>
          </p:cNvSpPr>
          <p:nvPr>
            <p:ph type="title"/>
          </p:nvPr>
        </p:nvSpPr>
        <p:spPr>
          <a:xfrm>
            <a:off x="838204" y="365126"/>
            <a:ext cx="10515600" cy="739768"/>
          </a:xfrm>
        </p:spPr>
        <p:txBody>
          <a:bodyPr/>
          <a:p>
            <a:r>
              <a:rPr b="1"/>
              <a:t>                        Rifampicin </a:t>
            </a:r>
            <a:endParaRPr b="1"/>
          </a:p>
        </p:txBody>
      </p:sp>
      <p:sp>
        <p:nvSpPr>
          <p:cNvPr id="1049248" name="Content Placeholder 2"/>
          <p:cNvSpPr>
            <a:spLocks noGrp="1"/>
          </p:cNvSpPr>
          <p:nvPr>
            <p:ph idx="1"/>
          </p:nvPr>
        </p:nvSpPr>
        <p:spPr>
          <a:xfrm>
            <a:off x="695022" y="1104895"/>
            <a:ext cx="10515600" cy="5495929"/>
          </a:xfrm>
        </p:spPr>
        <p:txBody>
          <a:bodyPr>
            <a:normAutofit fontScale="92500" lnSpcReduction="10000"/>
          </a:bodyPr>
          <a:p>
            <a:r>
              <a:t>A semisynthetic macrocyclic antibiotic </a:t>
            </a:r>
            <a:r>
              <a:rPr b="1"/>
              <a:t>derived from rifamycin </a:t>
            </a:r>
            <a:endParaRPr b="1"/>
          </a:p>
          <a:p>
            <a:r>
              <a:t>This is one of the most active anti TB .it is </a:t>
            </a:r>
            <a:r>
              <a:rPr b="1"/>
              <a:t>also active against gram positive and gram negative bacteria.</a:t>
            </a:r>
            <a:endParaRPr b="1"/>
          </a:p>
          <a:p>
            <a:r>
              <a:rPr b="1"/>
              <a:t>Mechanism of action: </a:t>
            </a:r>
            <a:r>
              <a:t>Rifampin is bactericidal as a result of inhibition </a:t>
            </a:r>
            <a:r>
              <a:rPr b="1"/>
              <a:t>of protein synthesis</a:t>
            </a:r>
            <a:r>
              <a:t>.(</a:t>
            </a:r>
            <a:r>
              <a:rPr>
                <a:solidFill>
                  <a:srgbClr val="FF0000"/>
                </a:solidFill>
              </a:rPr>
              <a:t>binding to and inhibiting, DNA dependent RNA polymerase thereby </a:t>
            </a:r>
            <a:r>
              <a:rPr>
                <a:solidFill>
                  <a:srgbClr val="FF0000"/>
                </a:solidFill>
              </a:rPr>
              <a:t>inhibing</a:t>
            </a:r>
            <a:r>
              <a:rPr>
                <a:solidFill>
                  <a:srgbClr val="FF0000"/>
                </a:solidFill>
              </a:rPr>
              <a:t> ribonucleic acid synthesis</a:t>
            </a:r>
            <a:r>
              <a:t>)</a:t>
            </a:r>
          </a:p>
          <a:p>
            <a:r>
              <a:rPr b="1"/>
              <a:t>Indications:</a:t>
            </a:r>
            <a:endParaRPr b="1"/>
          </a:p>
          <a:p>
            <a:pPr indent="0" marL="0">
              <a:buNone/>
            </a:pPr>
            <a:r>
              <a:t> Rifampin is a broad-spectrum antibiotic effective for gram-positive and gram-negative bacteria, </a:t>
            </a:r>
          </a:p>
          <a:p>
            <a:pPr indent="0" marL="0">
              <a:buNone/>
            </a:pPr>
            <a:r>
              <a:t>M. tuberculosis, and M. Leprae. </a:t>
            </a:r>
          </a:p>
          <a:p>
            <a:pPr indent="0" marL="0">
              <a:buNone/>
            </a:pPr>
            <a:r>
              <a:t>Has bactericidal action and a potent sterilizing effect against tubercle bacilli in both cellular and extracellular locations. </a:t>
            </a:r>
          </a:p>
          <a:p>
            <a:pPr indent="0" marL="0">
              <a:buNone/>
            </a:pPr>
            <a:r>
              <a:t>Resistance can develop rapidly</a:t>
            </a:r>
          </a:p>
        </p:txBody>
      </p:sp>
    </p:spTree>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996" name=""/>
        <p:cNvGrpSpPr/>
        <p:nvPr/>
      </p:nvGrpSpPr>
      <p:grpSpPr>
        <a:xfrm>
          <a:off x="0" y="0"/>
          <a:ext cx="0" cy="0"/>
          <a:chOff x="0" y="0"/>
          <a:chExt cx="0" cy="0"/>
        </a:xfrm>
      </p:grpSpPr>
      <p:sp>
        <p:nvSpPr>
          <p:cNvPr id="1049249" name="Title 1"/>
          <p:cNvSpPr>
            <a:spLocks noGrp="1"/>
          </p:cNvSpPr>
          <p:nvPr>
            <p:ph type="title"/>
          </p:nvPr>
        </p:nvSpPr>
        <p:spPr>
          <a:xfrm>
            <a:off x="838204" y="365126"/>
            <a:ext cx="10515600" cy="806448"/>
          </a:xfrm>
        </p:spPr>
        <p:txBody>
          <a:bodyPr/>
          <a:p>
            <a:r>
              <a:rPr b="1"/>
              <a:t>pharmacokinetic</a:t>
            </a:r>
            <a:r>
              <a:t>s</a:t>
            </a:r>
          </a:p>
        </p:txBody>
      </p:sp>
      <p:sp>
        <p:nvSpPr>
          <p:cNvPr id="1049250" name="Content Placeholder 2"/>
          <p:cNvSpPr>
            <a:spLocks noGrp="1"/>
          </p:cNvSpPr>
          <p:nvPr>
            <p:ph idx="1"/>
          </p:nvPr>
        </p:nvSpPr>
        <p:spPr>
          <a:xfrm>
            <a:off x="838204" y="1285875"/>
            <a:ext cx="10515600" cy="5124454"/>
          </a:xfrm>
        </p:spPr>
        <p:txBody>
          <a:bodyPr>
            <a:normAutofit fontScale="92500" lnSpcReduction="10000"/>
          </a:bodyPr>
          <a:p>
            <a:r>
              <a:t>Given orally- preferably at least 30 minutes before meals, since absorption is reduced when it is taken with food.</a:t>
            </a:r>
          </a:p>
          <a:p>
            <a:pPr lvl="1"/>
            <a:r>
              <a:t>Rapidly absorbed and distributed throughout the cellular tissues and body fluids; reaches greater amounts in </a:t>
            </a:r>
            <a:r>
              <a:t>csf</a:t>
            </a:r>
            <a:r>
              <a:t> if the meninges are inflamed. </a:t>
            </a:r>
          </a:p>
          <a:p>
            <a:r>
              <a:t>mainly given orally</a:t>
            </a:r>
          </a:p>
          <a:p>
            <a:r>
              <a:rPr>
                <a:solidFill>
                  <a:srgbClr val="FF0000"/>
                </a:solidFill>
              </a:rPr>
              <a:t>It causes orange tinge coloration to saliva ,sputum, tears, sweat and urine</a:t>
            </a:r>
            <a:r>
              <a:t>.</a:t>
            </a:r>
          </a:p>
          <a:p>
            <a:r>
              <a:t>It is excreted in urine and under goes enterohepatic recycling. </a:t>
            </a:r>
          </a:p>
          <a:p>
            <a:r>
              <a:rPr b="1"/>
              <a:t>Metabolism is in the liver </a:t>
            </a:r>
            <a:r>
              <a:t>and the </a:t>
            </a:r>
            <a:r>
              <a:rPr b="1"/>
              <a:t>metabolites has anti bacterial </a:t>
            </a:r>
            <a:r>
              <a:t>activity but poorly absorbed from the gut.</a:t>
            </a:r>
          </a:p>
          <a:p>
            <a:r>
              <a:t>It is </a:t>
            </a:r>
            <a:r>
              <a:rPr b="1"/>
              <a:t>extensively recycled in the enterohepatic circulation</a:t>
            </a:r>
            <a:r>
              <a:t>, and </a:t>
            </a:r>
            <a:r>
              <a:rPr b="1"/>
              <a:t>metabolites are eventually excreted in the </a:t>
            </a:r>
            <a:r>
              <a:rPr b="1"/>
              <a:t>faeces</a:t>
            </a:r>
            <a:r>
              <a:rPr b="1"/>
              <a:t> </a:t>
            </a:r>
            <a:endParaRPr b="1"/>
          </a:p>
          <a:p>
            <a:r>
              <a:t>Half life is 1-5 hours but reduces during treatment since it induces microsomal enzymes, hence its own metabolism.</a:t>
            </a:r>
          </a:p>
        </p:txBody>
      </p:sp>
    </p:spTree>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997" name=""/>
        <p:cNvGrpSpPr/>
        <p:nvPr/>
      </p:nvGrpSpPr>
      <p:grpSpPr>
        <a:xfrm>
          <a:off x="0" y="0"/>
          <a:ext cx="0" cy="0"/>
          <a:chOff x="0" y="0"/>
          <a:chExt cx="0" cy="0"/>
        </a:xfrm>
      </p:grpSpPr>
      <p:sp>
        <p:nvSpPr>
          <p:cNvPr id="1049251" name="Content Placeholder 2"/>
          <p:cNvSpPr>
            <a:spLocks noGrp="1"/>
          </p:cNvSpPr>
          <p:nvPr>
            <p:ph idx="1"/>
          </p:nvPr>
        </p:nvSpPr>
        <p:spPr>
          <a:xfrm>
            <a:off x="400050" y="211019"/>
            <a:ext cx="11344275" cy="6318744"/>
          </a:xfrm>
        </p:spPr>
        <p:txBody>
          <a:bodyPr>
            <a:normAutofit fontScale="77500" lnSpcReduction="20000"/>
          </a:bodyPr>
          <a:p>
            <a:pPr indent="0" marL="0">
              <a:buNone/>
            </a:pPr>
            <a:r>
              <a:rPr b="1" sz="3200">
                <a:solidFill>
                  <a:srgbClr val="000000"/>
                </a:solidFill>
              </a:rPr>
              <a:t>Side/adverse effects</a:t>
            </a:r>
            <a:endParaRPr b="1" sz="3200">
              <a:solidFill>
                <a:srgbClr val="000000"/>
              </a:solidFill>
            </a:endParaRPr>
          </a:p>
          <a:p>
            <a:pPr indent="0" marL="0">
              <a:buNone/>
            </a:pPr>
            <a:endParaRPr>
              <a:solidFill>
                <a:srgbClr val="000000"/>
              </a:solidFill>
            </a:endParaRPr>
          </a:p>
          <a:p>
            <a:pPr indent="0" marL="0">
              <a:buNone/>
            </a:pPr>
            <a:r>
              <a:rPr>
                <a:solidFill>
                  <a:srgbClr val="000000"/>
                </a:solidFill>
              </a:rPr>
              <a:t> </a:t>
            </a:r>
            <a:r>
              <a:rPr>
                <a:solidFill>
                  <a:srgbClr val="000000"/>
                </a:solidFill>
              </a:rPr>
              <a:t>i</a:t>
            </a:r>
            <a:r>
              <a:rPr>
                <a:solidFill>
                  <a:srgbClr val="000000"/>
                </a:solidFill>
              </a:rPr>
              <a:t>) </a:t>
            </a:r>
            <a:r>
              <a:rPr b="1">
                <a:solidFill>
                  <a:srgbClr val="000000"/>
                </a:solidFill>
              </a:rPr>
              <a:t>Discoloration of body fluids</a:t>
            </a:r>
            <a:r>
              <a:rPr>
                <a:solidFill>
                  <a:srgbClr val="000000"/>
                </a:solidFill>
              </a:rPr>
              <a:t>. </a:t>
            </a:r>
            <a:endParaRPr>
              <a:solidFill>
                <a:srgbClr val="000000"/>
              </a:solidFill>
            </a:endParaRPr>
          </a:p>
          <a:p>
            <a:pPr lvl="1"/>
            <a:r>
              <a:rPr>
                <a:solidFill>
                  <a:srgbClr val="000000"/>
                </a:solidFill>
              </a:rPr>
              <a:t> Inform clients of expected orange color of urine, saliva, sweat, and tears. </a:t>
            </a:r>
            <a:endParaRPr>
              <a:solidFill>
                <a:srgbClr val="000000"/>
              </a:solidFill>
            </a:endParaRPr>
          </a:p>
          <a:p>
            <a:pPr indent="0" marL="0">
              <a:buNone/>
            </a:pPr>
            <a:r>
              <a:rPr b="1">
                <a:solidFill>
                  <a:srgbClr val="000000"/>
                </a:solidFill>
              </a:rPr>
              <a:t>ii)Hepatotoxicity (jaundice, anorexia, and fatigue, increased </a:t>
            </a:r>
            <a:r>
              <a:t>transaminases</a:t>
            </a:r>
            <a:r>
              <a:rPr b="1">
                <a:solidFill>
                  <a:srgbClr val="000000"/>
                </a:solidFill>
              </a:rPr>
              <a:t>), </a:t>
            </a:r>
            <a:r>
              <a:t>dose-related hepatitis can occur and is potentially fatal</a:t>
            </a:r>
            <a:r>
              <a:rPr b="1">
                <a:solidFill>
                  <a:srgbClr val="000000"/>
                </a:solidFill>
              </a:rPr>
              <a:t> </a:t>
            </a:r>
            <a:endParaRPr b="1">
              <a:solidFill>
                <a:srgbClr val="000000"/>
              </a:solidFill>
            </a:endParaRPr>
          </a:p>
          <a:p>
            <a:pPr lvl="1"/>
            <a:r>
              <a:rPr>
                <a:solidFill>
                  <a:srgbClr val="000000"/>
                </a:solidFill>
              </a:rPr>
              <a:t> Monitor the client’s liver function.  </a:t>
            </a:r>
            <a:endParaRPr>
              <a:solidFill>
                <a:srgbClr val="000000"/>
              </a:solidFill>
            </a:endParaRPr>
          </a:p>
          <a:p>
            <a:pPr lvl="1"/>
            <a:r>
              <a:rPr>
                <a:solidFill>
                  <a:srgbClr val="000000"/>
                </a:solidFill>
              </a:rPr>
              <a:t>Inform clients regarding symptoms of anorexia, fatigue, and malaise, and instruct them to notify the provider if symptoms occur. </a:t>
            </a:r>
            <a:endParaRPr>
              <a:solidFill>
                <a:srgbClr val="000000"/>
              </a:solidFill>
            </a:endParaRPr>
          </a:p>
          <a:p>
            <a:pPr lvl="1"/>
            <a:r>
              <a:rPr>
                <a:solidFill>
                  <a:srgbClr val="000000"/>
                </a:solidFill>
              </a:rPr>
              <a:t> Avoid alcohol.</a:t>
            </a:r>
            <a:endParaRPr>
              <a:solidFill>
                <a:srgbClr val="000000"/>
              </a:solidFill>
            </a:endParaRPr>
          </a:p>
          <a:p>
            <a:pPr indent="0" marL="0">
              <a:buNone/>
            </a:pPr>
            <a:r>
              <a:rPr b="1">
                <a:solidFill>
                  <a:srgbClr val="000000"/>
                </a:solidFill>
              </a:rPr>
              <a:t>iii) Mild gastrointestinal discomfort associated (anorexia, nausea, and abdominal discomfort/</a:t>
            </a:r>
            <a:r>
              <a:t>pain</a:t>
            </a:r>
            <a:r>
              <a:rPr>
                <a:solidFill>
                  <a:srgbClr val="000000"/>
                </a:solidFill>
              </a:rPr>
              <a:t>.</a:t>
            </a:r>
            <a:endParaRPr>
              <a:solidFill>
                <a:srgbClr val="000000"/>
              </a:solidFill>
            </a:endParaRPr>
          </a:p>
          <a:p>
            <a:pPr lvl="1"/>
            <a:r>
              <a:rPr>
                <a:solidFill>
                  <a:srgbClr val="000000"/>
                </a:solidFill>
              </a:rPr>
              <a:t>Abdominal discomfort is mild and usually </a:t>
            </a:r>
            <a:r>
              <a:t>does not require intervention</a:t>
            </a:r>
          </a:p>
          <a:p>
            <a:r>
              <a:t>Pruritus with or without rash. </a:t>
            </a:r>
          </a:p>
          <a:p>
            <a:r>
              <a:t>(fever, influenza-like syndrome and thrombocytopenia) are more likely to occur with intermittent administration. </a:t>
            </a:r>
          </a:p>
          <a:p>
            <a:r>
              <a:t>Exfoliative dermatitis is more frequent in HIV-positive TB patients. </a:t>
            </a:r>
          </a:p>
          <a:p>
            <a:r>
              <a:t>Temporary oliguria, </a:t>
            </a:r>
            <a:r>
              <a:t>dyspnoea</a:t>
            </a:r>
            <a:r>
              <a:t> and </a:t>
            </a:r>
            <a:r>
              <a:t>haemolytic</a:t>
            </a:r>
            <a:r>
              <a:t> </a:t>
            </a:r>
            <a:r>
              <a:t>anaemia</a:t>
            </a:r>
            <a:r>
              <a:t> have also been reported in patients taking the drug 3 times weekly; these reactions usually subside if the regimen is changed to daily dosage. </a:t>
            </a:r>
          </a:p>
        </p:txBody>
      </p:sp>
    </p:spTree>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998" name=""/>
        <p:cNvGrpSpPr/>
        <p:nvPr/>
      </p:nvGrpSpPr>
      <p:grpSpPr>
        <a:xfrm>
          <a:off x="0" y="0"/>
          <a:ext cx="0" cy="0"/>
          <a:chOff x="0" y="0"/>
          <a:chExt cx="0" cy="0"/>
        </a:xfrm>
      </p:grpSpPr>
      <p:sp>
        <p:nvSpPr>
          <p:cNvPr id="1049252" name="Title 1"/>
          <p:cNvSpPr>
            <a:spLocks noGrp="1"/>
          </p:cNvSpPr>
          <p:nvPr>
            <p:ph type="title"/>
          </p:nvPr>
        </p:nvSpPr>
        <p:spPr>
          <a:xfrm>
            <a:off x="838204" y="365126"/>
            <a:ext cx="10515600" cy="758828"/>
          </a:xfrm>
        </p:spPr>
        <p:txBody>
          <a:bodyPr/>
          <a:p>
            <a:r>
              <a:rPr b="1" sz="2800">
                <a:solidFill>
                  <a:srgbClr val="000000"/>
                </a:solidFill>
                <a:latin typeface="Calibri"/>
                <a:ea typeface="+mn-ea"/>
                <a:cs typeface="+mn-cs"/>
              </a:rPr>
              <a:t>Contraindications</a:t>
            </a:r>
            <a:endParaRPr b="1"/>
          </a:p>
        </p:txBody>
      </p:sp>
      <p:sp>
        <p:nvSpPr>
          <p:cNvPr id="1049253" name="Content Placeholder 2"/>
          <p:cNvSpPr>
            <a:spLocks noGrp="1"/>
          </p:cNvSpPr>
          <p:nvPr>
            <p:ph idx="1"/>
          </p:nvPr>
        </p:nvSpPr>
        <p:spPr>
          <a:xfrm>
            <a:off x="841023" y="1228725"/>
            <a:ext cx="10515600" cy="4970822"/>
          </a:xfrm>
        </p:spPr>
        <p:txBody>
          <a:bodyPr>
            <a:normAutofit fontScale="85000" lnSpcReduction="20000"/>
          </a:bodyPr>
          <a:p>
            <a:r>
              <a:t>Known hypersensitivity to </a:t>
            </a:r>
            <a:r>
              <a:t>rifamycins</a:t>
            </a:r>
            <a:r>
              <a:t>. </a:t>
            </a:r>
          </a:p>
          <a:p>
            <a:r>
              <a:t>Active, unstable hepatic disease (with jaundice)</a:t>
            </a:r>
            <a:r>
              <a:rPr b="1">
                <a:solidFill>
                  <a:srgbClr val="000000"/>
                </a:solidFill>
              </a:rPr>
              <a:t> </a:t>
            </a:r>
            <a:endParaRPr b="1">
              <a:solidFill>
                <a:srgbClr val="000000"/>
              </a:solidFill>
            </a:endParaRPr>
          </a:p>
          <a:p>
            <a:pPr indent="0" marL="0">
              <a:buNone/>
            </a:pPr>
            <a:r>
              <a:rPr b="1">
                <a:solidFill>
                  <a:srgbClr val="000000"/>
                </a:solidFill>
              </a:rPr>
              <a:t>Precautions</a:t>
            </a:r>
          </a:p>
          <a:p>
            <a:r>
              <a:t>Serious immunological reactions resulting in renal impairment, </a:t>
            </a:r>
            <a:r>
              <a:t>haemolysis</a:t>
            </a:r>
            <a:r>
              <a:t> or thrombocytopenia have been reported in patients who resume taking rifampicin </a:t>
            </a:r>
            <a:r>
              <a:rPr b="1"/>
              <a:t>after a prolonged lapse of treatment</a:t>
            </a:r>
            <a:r>
              <a:t>. In this rare situation, rifampicin should be immediately and permanently withdrawn. </a:t>
            </a:r>
          </a:p>
          <a:p>
            <a:r>
              <a:t>Clinical monitoring (and liver function tests, if possible) should be performed during treatment of all patients with pre-existing liver disease, who are at increased risk of further liver damage. </a:t>
            </a:r>
          </a:p>
          <a:p>
            <a:r>
              <a:t>Patients should be warned that treatment may </a:t>
            </a:r>
            <a:r>
              <a:rPr b="1"/>
              <a:t>cause reddish coloration of all body secretions</a:t>
            </a:r>
            <a:r>
              <a:t> (urine, tears, saliva, sweat, semen and sputum), and that contact lenses and clothing may be irreversibly stained</a:t>
            </a:r>
          </a:p>
          <a:p>
            <a:r>
              <a:t>Use in pregnancy ; Vitamin K should be administered at birth to the infant of a mother taking rifampicin because of the risk of postnatal </a:t>
            </a:r>
            <a:r>
              <a:t>haemorrhage</a:t>
            </a:r>
          </a:p>
        </p:txBody>
      </p:sp>
    </p:spTree>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999" name=""/>
        <p:cNvGrpSpPr/>
        <p:nvPr/>
      </p:nvGrpSpPr>
      <p:grpSpPr>
        <a:xfrm>
          <a:off x="0" y="0"/>
          <a:ext cx="0" cy="0"/>
          <a:chOff x="0" y="0"/>
          <a:chExt cx="0" cy="0"/>
        </a:xfrm>
      </p:grpSpPr>
      <p:sp>
        <p:nvSpPr>
          <p:cNvPr id="1049254" name="Title 1"/>
          <p:cNvSpPr>
            <a:spLocks noGrp="1"/>
          </p:cNvSpPr>
          <p:nvPr>
            <p:ph type="title"/>
          </p:nvPr>
        </p:nvSpPr>
        <p:spPr/>
        <p:txBody>
          <a:bodyPr>
            <a:normAutofit fontScale="90000"/>
          </a:bodyPr>
          <a:p>
            <a:r>
              <a:rPr sz="2800">
                <a:solidFill>
                  <a:srgbClr val="000000"/>
                </a:solidFill>
                <a:latin typeface="Calibri"/>
                <a:ea typeface="+mn-ea"/>
                <a:cs typeface="+mn-cs"/>
              </a:rPr>
              <a:t> </a:t>
            </a:r>
            <a:r>
              <a:rPr b="1" sz="2800">
                <a:solidFill>
                  <a:srgbClr val="000000"/>
                </a:solidFill>
                <a:latin typeface="Calibri"/>
                <a:ea typeface="+mn-ea"/>
                <a:cs typeface="+mn-cs"/>
              </a:rPr>
              <a:t>Interactions Medication/Food Interactions Nursing Interventions/Client Education</a:t>
            </a:r>
            <a:br>
              <a:rPr b="1" sz="2800">
                <a:solidFill>
                  <a:srgbClr val="000000"/>
                </a:solidFill>
                <a:ea typeface="+mn-ea"/>
                <a:cs typeface="+mn-cs"/>
              </a:rPr>
            </a:br>
          </a:p>
        </p:txBody>
      </p:sp>
      <p:sp>
        <p:nvSpPr>
          <p:cNvPr id="1049255" name="Content Placeholder 2"/>
          <p:cNvSpPr>
            <a:spLocks noGrp="1"/>
          </p:cNvSpPr>
          <p:nvPr>
            <p:ph idx="1"/>
          </p:nvPr>
        </p:nvSpPr>
        <p:spPr>
          <a:xfrm>
            <a:off x="495304" y="1571625"/>
            <a:ext cx="11306170" cy="4921248"/>
          </a:xfrm>
        </p:spPr>
        <p:txBody>
          <a:bodyPr>
            <a:normAutofit fontScale="85000" lnSpcReduction="20000"/>
          </a:bodyPr>
          <a:p>
            <a:pPr indent="0" marL="0">
              <a:buNone/>
            </a:pPr>
            <a:r>
              <a:rPr b="1"/>
              <a:t>Rifampin </a:t>
            </a:r>
            <a:r>
              <a:t>induces hepatic enzymes; </a:t>
            </a:r>
            <a:r>
              <a:rPr b="1"/>
              <a:t>accelerates metabolism of </a:t>
            </a:r>
            <a:endParaRPr b="1"/>
          </a:p>
          <a:p>
            <a:pPr lvl="1"/>
            <a:r>
              <a:rPr b="1"/>
              <a:t>warfarin (Coumadin), oral contraceptives, protease inhibitors, and NNRTIs (medications for HIV), anti-infectives (including certain antiretroviral drugs (non-nucleoside reverse transcriptase inhibitors and protease inhibitors), mefloquine, azole antifungal agents, clarithromycin, erythromycin, doxycycline, atovaquone, chloramphenicol); — hormone therapy, including </a:t>
            </a:r>
            <a:r>
              <a:rPr b="1"/>
              <a:t>ethinylestradiol</a:t>
            </a:r>
            <a:r>
              <a:rPr b="1"/>
              <a:t>, norethindrone, tamoxifen, levothyroxine; — methadone; — warfarin; — cyclosporine; — corticosteroids; — anticonvulsants (including phenytoin); — cardiovascular agents including digoxin (in patients with renal insufficiency), digitoxin, verapamil, nifedipine, diltiazem, propranolol, </a:t>
            </a:r>
            <a:r>
              <a:rPr b="1"/>
              <a:t>metoprorol</a:t>
            </a:r>
            <a:r>
              <a:rPr b="1"/>
              <a:t>, enalapril, losartan, quinidine, mexiletine, tocainide, propafenone; — theophylline; — sulfonylurea </a:t>
            </a:r>
            <a:r>
              <a:rPr b="1"/>
              <a:t>hypoglycaemics</a:t>
            </a:r>
            <a:r>
              <a:rPr b="1"/>
              <a:t>; — </a:t>
            </a:r>
            <a:r>
              <a:rPr b="1"/>
              <a:t>hypolipidaemics</a:t>
            </a:r>
            <a:r>
              <a:rPr b="1"/>
              <a:t> including simvastatin and </a:t>
            </a:r>
            <a:r>
              <a:rPr b="1"/>
              <a:t>fluvastatin</a:t>
            </a:r>
            <a:r>
              <a:rPr b="1"/>
              <a:t>; — nortriptyline, haloperidol, quetiapine, benzodiazepines (including diazepam, triazolam), zolpidem, buspirone</a:t>
            </a:r>
            <a:r>
              <a:t>. </a:t>
            </a:r>
            <a:r>
              <a:rPr b="1"/>
              <a:t>resulting in diminished effectiveness</a:t>
            </a:r>
            <a:r>
              <a:t>. </a:t>
            </a:r>
          </a:p>
          <a:p>
            <a:r>
              <a:t> Increased dosages of HIV medications may be necessary. </a:t>
            </a:r>
          </a:p>
          <a:p>
            <a:r>
              <a:t> Monitor PT (prothrombin time) and INR (international normalized ratio)</a:t>
            </a:r>
          </a:p>
          <a:p>
            <a:r>
              <a:t> Clients may need to use alternative form of birth control.</a:t>
            </a:r>
          </a:p>
          <a:p>
            <a:pPr indent="0" marL="0">
              <a:buNone/>
            </a:pPr>
            <a:r>
              <a:rPr b="1"/>
              <a:t> Concurrent use with INH and pyrazinamide increases risk of hepatotoxicity. </a:t>
            </a:r>
            <a:endParaRPr b="1"/>
          </a:p>
          <a:p>
            <a:r>
              <a:t> Instruct clients to avoid alcohol consumption. Monitor liver function.</a:t>
            </a:r>
          </a:p>
          <a:p/>
        </p:txBody>
      </p:sp>
    </p:spTree>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000" name=""/>
        <p:cNvGrpSpPr/>
        <p:nvPr/>
      </p:nvGrpSpPr>
      <p:grpSpPr>
        <a:xfrm>
          <a:off x="0" y="0"/>
          <a:ext cx="0" cy="0"/>
          <a:chOff x="0" y="0"/>
          <a:chExt cx="0" cy="0"/>
        </a:xfrm>
      </p:grpSpPr>
      <p:sp>
        <p:nvSpPr>
          <p:cNvPr id="1049256" name="Title 1"/>
          <p:cNvSpPr>
            <a:spLocks noGrp="1"/>
          </p:cNvSpPr>
          <p:nvPr>
            <p:ph type="title"/>
          </p:nvPr>
        </p:nvSpPr>
        <p:spPr/>
        <p:txBody>
          <a:bodyPr/>
          <a:p>
            <a:r>
              <a:t>Nursing Evaluation of Medication Effectiveness</a:t>
            </a:r>
          </a:p>
        </p:txBody>
      </p:sp>
      <p:sp>
        <p:nvSpPr>
          <p:cNvPr id="1049257" name="Content Placeholder 2"/>
          <p:cNvSpPr>
            <a:spLocks noGrp="1"/>
          </p:cNvSpPr>
          <p:nvPr>
            <p:ph idx="1"/>
          </p:nvPr>
        </p:nvSpPr>
        <p:spPr/>
        <p:txBody>
          <a:bodyPr>
            <a:normAutofit/>
          </a:bodyPr>
          <a:p>
            <a:pPr indent="0" marL="0">
              <a:buNone/>
            </a:pPr>
            <a:r>
              <a:rPr sz="3600"/>
              <a:t>Depending on therapeutic intent, effectiveness may be evidenced by: </a:t>
            </a:r>
            <a:endParaRPr sz="3600"/>
          </a:p>
          <a:p>
            <a:r>
              <a:rPr sz="3600"/>
              <a:t> Improvement of tuberculosis symptoms such as clear breath sounds, no night sweats, increased appetite, no afternoon rises of temperature </a:t>
            </a:r>
            <a:endParaRPr sz="3600"/>
          </a:p>
          <a:p>
            <a:r>
              <a:rPr sz="3600"/>
              <a:t>3 negative sputum cultures for tuberculosis, usually taking 3 to 6 months to achieve.</a:t>
            </a:r>
            <a:endParaRPr sz="3600"/>
          </a:p>
        </p:txBody>
      </p:sp>
    </p:spTree>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49258" name="Title 1"/>
          <p:cNvSpPr>
            <a:spLocks noGrp="1"/>
          </p:cNvSpPr>
          <p:nvPr>
            <p:ph type="title"/>
          </p:nvPr>
        </p:nvSpPr>
        <p:spPr/>
        <p:txBody>
          <a:bodyPr/>
          <a:p>
            <a:r>
              <a:t>                               ethambutol</a:t>
            </a:r>
          </a:p>
        </p:txBody>
      </p:sp>
      <p:sp>
        <p:nvSpPr>
          <p:cNvPr id="1049259" name="Content Placeholder 2"/>
          <p:cNvSpPr>
            <a:spLocks noGrp="1"/>
          </p:cNvSpPr>
          <p:nvPr>
            <p:ph idx="1"/>
          </p:nvPr>
        </p:nvSpPr>
        <p:spPr>
          <a:xfrm>
            <a:off x="838204" y="1253337"/>
            <a:ext cx="10515600" cy="5239549"/>
          </a:xfrm>
        </p:spPr>
        <p:txBody>
          <a:bodyPr>
            <a:normAutofit fontScale="85000" lnSpcReduction="20000"/>
          </a:bodyPr>
          <a:p>
            <a:r>
              <a:t>is active against M. tuberculosis, M. </a:t>
            </a:r>
            <a:r>
              <a:t>bovis</a:t>
            </a:r>
            <a:r>
              <a:t> and some nonspecific mycobacteria. </a:t>
            </a:r>
          </a:p>
          <a:p>
            <a:r>
              <a:t>It is </a:t>
            </a:r>
            <a:r>
              <a:rPr b="1"/>
              <a:t>used in combination with other anti-TB drugs to prevent or delay the emergence of resistant strains.</a:t>
            </a:r>
            <a:endParaRPr b="1"/>
          </a:p>
          <a:p>
            <a:r>
              <a:rPr b="1"/>
              <a:t>Pharmacodynamics;</a:t>
            </a:r>
            <a:endParaRPr b="1"/>
          </a:p>
          <a:p>
            <a:r>
              <a:t>Mechanism of action through inhibiting inhibition of bacterial growth through suppression of RNA synthesis. </a:t>
            </a:r>
          </a:p>
          <a:p>
            <a:r>
              <a:t>Resistance emergence occurs rapidly if used on its own.</a:t>
            </a:r>
          </a:p>
          <a:p>
            <a:pPr indent="0" marL="0">
              <a:buNone/>
            </a:pPr>
            <a:r>
              <a:rPr b="1"/>
              <a:t>Pharmacokinetic</a:t>
            </a:r>
            <a:endParaRPr b="1"/>
          </a:p>
          <a:p>
            <a:r>
              <a:t> good absorption from GIT</a:t>
            </a:r>
            <a:r>
              <a:rPr b="1"/>
              <a:t>.</a:t>
            </a:r>
            <a:endParaRPr b="1"/>
          </a:p>
          <a:p>
            <a:r>
              <a:t>Metabolism is in the liver.</a:t>
            </a:r>
          </a:p>
          <a:p>
            <a:r>
              <a:t>Ethambutol is excreted in the urine both unchanged and as inactive hepatic metabolites. About 20% is excreted unchanged in the </a:t>
            </a:r>
            <a:r>
              <a:t>faeces</a:t>
            </a:r>
          </a:p>
          <a:p>
            <a:r>
              <a:t>It is well distributed and can reach therapeutic levels in the CSF in tuberculous meningitis</a:t>
            </a:r>
          </a:p>
          <a:p>
            <a:r>
              <a:t>Dosage must always be carefully </a:t>
            </a:r>
            <a:r>
              <a:rPr b="1"/>
              <a:t>calculated on a weight basis to avoid toxicity,</a:t>
            </a:r>
            <a:endParaRPr b="1"/>
          </a:p>
          <a:p>
            <a:endParaRPr b="1"/>
          </a:p>
        </p:txBody>
      </p:sp>
    </p:spTree>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002" name=""/>
        <p:cNvGrpSpPr/>
        <p:nvPr/>
      </p:nvGrpSpPr>
      <p:grpSpPr>
        <a:xfrm>
          <a:off x="0" y="0"/>
          <a:ext cx="0" cy="0"/>
          <a:chOff x="0" y="0"/>
          <a:chExt cx="0" cy="0"/>
        </a:xfrm>
      </p:grpSpPr>
      <p:sp>
        <p:nvSpPr>
          <p:cNvPr id="1049260" name="Title 1"/>
          <p:cNvSpPr>
            <a:spLocks noGrp="1"/>
          </p:cNvSpPr>
          <p:nvPr>
            <p:ph type="title"/>
          </p:nvPr>
        </p:nvSpPr>
        <p:spPr>
          <a:xfrm>
            <a:off x="838204" y="365126"/>
            <a:ext cx="10515600" cy="892173"/>
          </a:xfrm>
        </p:spPr>
        <p:txBody>
          <a:bodyPr/>
          <a:p>
            <a:r>
              <a:rPr b="1"/>
              <a:t>Unwanted effects</a:t>
            </a:r>
            <a:endParaRPr b="1"/>
          </a:p>
        </p:txBody>
      </p:sp>
      <p:sp>
        <p:nvSpPr>
          <p:cNvPr id="1049261" name="Content Placeholder 2"/>
          <p:cNvSpPr>
            <a:spLocks noGrp="1"/>
          </p:cNvSpPr>
          <p:nvPr>
            <p:ph idx="1"/>
          </p:nvPr>
        </p:nvSpPr>
        <p:spPr>
          <a:xfrm>
            <a:off x="495304" y="1419220"/>
            <a:ext cx="11048995" cy="5073653"/>
          </a:xfrm>
        </p:spPr>
        <p:txBody>
          <a:bodyPr>
            <a:normAutofit fontScale="92500" lnSpcReduction="20000"/>
          </a:bodyPr>
          <a:p>
            <a:pPr indent="0" marL="0">
              <a:buNone/>
            </a:pPr>
            <a:r>
              <a:t>These are common. </a:t>
            </a:r>
          </a:p>
          <a:p>
            <a:r>
              <a:rPr b="1"/>
              <a:t>Optic neuritis </a:t>
            </a:r>
            <a:r>
              <a:rPr>
                <a:solidFill>
                  <a:srgbClr val="FF0000"/>
                </a:solidFill>
              </a:rPr>
              <a:t>dose related </a:t>
            </a:r>
            <a:r>
              <a:t>especially if renal function decreases. This leads to visual disturbances, </a:t>
            </a:r>
            <a:r>
              <a:rPr b="1">
                <a:solidFill>
                  <a:srgbClr val="FF0000"/>
                </a:solidFill>
              </a:rPr>
              <a:t>red/ green </a:t>
            </a:r>
            <a:r>
              <a:rPr b="1"/>
              <a:t>color blindness </a:t>
            </a:r>
            <a:r>
              <a:t>followed by decreased visual acuity.</a:t>
            </a:r>
          </a:p>
          <a:p>
            <a:pPr indent="0" marL="0">
              <a:buNone/>
            </a:pPr>
            <a:r>
              <a:t>Monitor color vision in long treatments; </a:t>
            </a:r>
            <a:r>
              <a:rPr u="sng"/>
              <a:t>Early changes are usually reversible</a:t>
            </a:r>
            <a:r>
              <a:t>, but blindness can occur if treatment is not discontinued promptly </a:t>
            </a:r>
          </a:p>
          <a:p>
            <a:pPr indent="0" marL="0">
              <a:buNone/>
            </a:pPr>
            <a:r>
              <a:t>Signs of peripheral neuritis occasionally develop in the legs</a:t>
            </a:r>
          </a:p>
          <a:p>
            <a:pPr indent="0" marL="0">
              <a:buNone/>
            </a:pPr>
            <a:r>
              <a:t>Other rare adverse events include generalized cutaneous reaction, arthralgia and, very rarely, hepatitis</a:t>
            </a:r>
          </a:p>
          <a:p>
            <a:pPr indent="0" marL="0">
              <a:buNone/>
            </a:pPr>
            <a:r>
              <a:rPr b="1"/>
              <a:t>Contraindication</a:t>
            </a:r>
            <a:endParaRPr b="1"/>
          </a:p>
          <a:p>
            <a:r>
              <a:rPr b="1"/>
              <a:t>Patients with known optic neuritis</a:t>
            </a:r>
            <a:endParaRPr b="1"/>
          </a:p>
          <a:p>
            <a:pPr indent="0" marL="0">
              <a:buNone/>
            </a:pPr>
            <a:r>
              <a:t>Patients who are unable to appreciate and report visual side effects or changes in vision e.g</a:t>
            </a:r>
            <a:r>
              <a:rPr b="1"/>
              <a:t>.</a:t>
            </a:r>
            <a:endParaRPr b="1"/>
          </a:p>
          <a:p>
            <a:r>
              <a:rPr b="1"/>
              <a:t>young children  and unconscious patients</a:t>
            </a:r>
            <a:endParaRPr b="1"/>
          </a:p>
        </p:txBody>
      </p:sp>
    </p:spTree>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003" name=""/>
        <p:cNvGrpSpPr/>
        <p:nvPr/>
      </p:nvGrpSpPr>
      <p:grpSpPr>
        <a:xfrm>
          <a:off x="0" y="0"/>
          <a:ext cx="0" cy="0"/>
          <a:chOff x="0" y="0"/>
          <a:chExt cx="0" cy="0"/>
        </a:xfrm>
      </p:grpSpPr>
      <p:sp>
        <p:nvSpPr>
          <p:cNvPr id="1049262" name="Title 1"/>
          <p:cNvSpPr>
            <a:spLocks noGrp="1"/>
          </p:cNvSpPr>
          <p:nvPr>
            <p:ph type="title"/>
          </p:nvPr>
        </p:nvSpPr>
        <p:spPr>
          <a:xfrm>
            <a:off x="838204" y="365126"/>
            <a:ext cx="10515600" cy="711193"/>
          </a:xfrm>
        </p:spPr>
        <p:txBody>
          <a:bodyPr/>
          <a:p>
            <a:r>
              <a:t>Precautions</a:t>
            </a:r>
          </a:p>
        </p:txBody>
      </p:sp>
      <p:sp>
        <p:nvSpPr>
          <p:cNvPr id="1049263" name="Content Placeholder 2"/>
          <p:cNvSpPr>
            <a:spLocks noGrp="1"/>
          </p:cNvSpPr>
          <p:nvPr>
            <p:ph idx="1"/>
          </p:nvPr>
        </p:nvSpPr>
        <p:spPr>
          <a:xfrm>
            <a:off x="838204" y="1181104"/>
            <a:ext cx="10515600" cy="5486400"/>
          </a:xfrm>
        </p:spPr>
        <p:txBody>
          <a:bodyPr>
            <a:normAutofit/>
          </a:bodyPr>
          <a:p>
            <a:r>
              <a:rPr sz="3600"/>
              <a:t>Patients should be advised to discontinue treatment immediately and to report to a clinician if their sight or perception of </a:t>
            </a:r>
            <a:r>
              <a:rPr sz="3600"/>
              <a:t>colour</a:t>
            </a:r>
            <a:r>
              <a:rPr sz="3600"/>
              <a:t> deteriorates. </a:t>
            </a:r>
            <a:endParaRPr sz="3600"/>
          </a:p>
          <a:p>
            <a:r>
              <a:rPr sz="3600"/>
              <a:t>Ocular examination is recommended before and during treatment. </a:t>
            </a:r>
            <a:endParaRPr sz="3600"/>
          </a:p>
          <a:p>
            <a:r>
              <a:rPr sz="3600"/>
              <a:t>Whenever possible, renal function should be assessed before treatment. </a:t>
            </a:r>
            <a:endParaRPr sz="3600"/>
          </a:p>
          <a:p>
            <a:r>
              <a:rPr sz="3600"/>
              <a:t>Plasma ethambutol concentration should be monitored </a:t>
            </a:r>
            <a:r>
              <a:rPr b="1" sz="3600"/>
              <a:t>if creatinine clearance is less than 30 ml/min.</a:t>
            </a:r>
            <a:endParaRPr b="1" sz="3600"/>
          </a:p>
        </p:txBody>
      </p:sp>
    </p:spTree>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004" name=""/>
        <p:cNvGrpSpPr/>
        <p:nvPr/>
      </p:nvGrpSpPr>
      <p:grpSpPr>
        <a:xfrm>
          <a:off x="0" y="0"/>
          <a:ext cx="0" cy="0"/>
          <a:chOff x="0" y="0"/>
          <a:chExt cx="0" cy="0"/>
        </a:xfrm>
      </p:grpSpPr>
      <p:sp>
        <p:nvSpPr>
          <p:cNvPr id="1049264" name="Title 1"/>
          <p:cNvSpPr>
            <a:spLocks noGrp="1"/>
          </p:cNvSpPr>
          <p:nvPr>
            <p:ph type="title"/>
          </p:nvPr>
        </p:nvSpPr>
        <p:spPr>
          <a:xfrm>
            <a:off x="838204" y="365126"/>
            <a:ext cx="10515600" cy="854068"/>
          </a:xfrm>
        </p:spPr>
        <p:txBody>
          <a:bodyPr/>
          <a:p>
            <a:r>
              <a:t>                           </a:t>
            </a:r>
            <a:r>
              <a:rPr b="1"/>
              <a:t>pyrazinamide</a:t>
            </a:r>
            <a:endParaRPr b="1"/>
          </a:p>
        </p:txBody>
      </p:sp>
      <p:sp>
        <p:nvSpPr>
          <p:cNvPr id="1049265" name="Content Placeholder 2"/>
          <p:cNvSpPr>
            <a:spLocks noGrp="1"/>
          </p:cNvSpPr>
          <p:nvPr>
            <p:ph idx="1"/>
          </p:nvPr>
        </p:nvSpPr>
        <p:spPr>
          <a:xfrm>
            <a:off x="409579" y="1352554"/>
            <a:ext cx="10944225" cy="5229225"/>
          </a:xfrm>
        </p:spPr>
        <p:txBody>
          <a:bodyPr>
            <a:normAutofit fontScale="92500" lnSpcReduction="20000"/>
          </a:bodyPr>
          <a:p>
            <a:r>
              <a:t>a synthetic analogue of nicotinamide that is bacteriostatic or bactericidal </a:t>
            </a:r>
          </a:p>
          <a:p>
            <a:r>
              <a:t>highly effective during the first 2 months of treatment</a:t>
            </a:r>
          </a:p>
          <a:p>
            <a:r>
              <a:t>It is often inactive in neutral PH.</a:t>
            </a:r>
          </a:p>
          <a:p>
            <a:pPr indent="0" marL="0">
              <a:buNone/>
            </a:pPr>
            <a:r>
              <a:rPr b="1"/>
              <a:t>Pharmacodynamics.</a:t>
            </a:r>
            <a:endParaRPr b="1"/>
          </a:p>
          <a:p>
            <a:r>
              <a:t>MOA- inhibit lipid and nucleic acid synthesis in mycobacterium </a:t>
            </a:r>
          </a:p>
          <a:p>
            <a:r>
              <a:t>It is tuberculostatic at acidic PH.</a:t>
            </a:r>
          </a:p>
          <a:p>
            <a:r>
              <a:t>it is very effective </a:t>
            </a:r>
            <a:r>
              <a:rPr b="1"/>
              <a:t>against intracellular organism in macrophages </a:t>
            </a:r>
            <a:r>
              <a:t>since after phagocytosis, </a:t>
            </a:r>
            <a:r>
              <a:rPr>
                <a:solidFill>
                  <a:srgbClr val="FF0000"/>
                </a:solidFill>
              </a:rPr>
              <a:t>in which PH is low.</a:t>
            </a:r>
            <a:endParaRPr>
              <a:solidFill>
                <a:srgbClr val="FF0000"/>
              </a:solidFill>
            </a:endParaRPr>
          </a:p>
          <a:p>
            <a:pPr indent="0" marL="0">
              <a:buNone/>
            </a:pPr>
            <a:r>
              <a:rPr b="1"/>
              <a:t>Pharmacokinetic</a:t>
            </a:r>
            <a:endParaRPr b="1"/>
          </a:p>
          <a:p>
            <a:r>
              <a:t>Readily absorbed from the gastrointestinal tract and is rapidly distributed throughout all tissues and fluids, including the CSF..</a:t>
            </a:r>
          </a:p>
          <a:p>
            <a:r>
              <a:t>Metabolized mainly in the liver and excreted largely by the kidney via glomerular filtration</a:t>
            </a:r>
          </a:p>
        </p:txBody>
      </p:sp>
    </p:spTree>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005" name=""/>
        <p:cNvGrpSpPr/>
        <p:nvPr/>
      </p:nvGrpSpPr>
      <p:grpSpPr>
        <a:xfrm>
          <a:off x="0" y="0"/>
          <a:ext cx="0" cy="0"/>
          <a:chOff x="0" y="0"/>
          <a:chExt cx="0" cy="0"/>
        </a:xfrm>
      </p:grpSpPr>
      <p:sp>
        <p:nvSpPr>
          <p:cNvPr id="1049266" name="Title 1"/>
          <p:cNvSpPr>
            <a:spLocks noGrp="1"/>
          </p:cNvSpPr>
          <p:nvPr>
            <p:ph type="title"/>
          </p:nvPr>
        </p:nvSpPr>
        <p:spPr>
          <a:xfrm>
            <a:off x="838204" y="365126"/>
            <a:ext cx="10515600" cy="911218"/>
          </a:xfrm>
        </p:spPr>
        <p:txBody>
          <a:bodyPr/>
          <a:p>
            <a:r>
              <a:t>Unwanted effects </a:t>
            </a:r>
          </a:p>
        </p:txBody>
      </p:sp>
      <p:sp>
        <p:nvSpPr>
          <p:cNvPr id="1049267" name="Content Placeholder 2"/>
          <p:cNvSpPr>
            <a:spLocks noGrp="1"/>
          </p:cNvSpPr>
          <p:nvPr>
            <p:ph idx="1"/>
          </p:nvPr>
        </p:nvSpPr>
        <p:spPr>
          <a:xfrm>
            <a:off x="266704" y="1276345"/>
            <a:ext cx="11725279" cy="5486400"/>
          </a:xfrm>
        </p:spPr>
        <p:txBody>
          <a:bodyPr>
            <a:normAutofit fontScale="70000" lnSpcReduction="20000"/>
          </a:bodyPr>
          <a:p>
            <a:r>
              <a:t>Gastrointestinal disturbance. </a:t>
            </a:r>
          </a:p>
          <a:p>
            <a:r>
              <a:t>Malaise and fever </a:t>
            </a:r>
          </a:p>
          <a:p>
            <a:r>
              <a:t>Hypersensitivity reactions are rare, but some patients complain of slight flushing of the skin. </a:t>
            </a:r>
          </a:p>
          <a:p>
            <a:r>
              <a:t>Moderate </a:t>
            </a:r>
            <a:r>
              <a:rPr b="1"/>
              <a:t>rises in serum transaminase </a:t>
            </a:r>
            <a:r>
              <a:t>concentrations are common during the early phases of treatment. </a:t>
            </a:r>
          </a:p>
          <a:p>
            <a:r>
              <a:t>Hepatotoxicity, but rarely </a:t>
            </a:r>
          </a:p>
          <a:p>
            <a:r>
              <a:t>As a result of inhibition of renal tubular secretion, </a:t>
            </a:r>
            <a:r>
              <a:rPr b="1"/>
              <a:t>a degree of </a:t>
            </a:r>
            <a:r>
              <a:rPr b="1"/>
              <a:t>hyperuricaemia</a:t>
            </a:r>
            <a:r>
              <a:rPr b="1"/>
              <a:t> </a:t>
            </a:r>
            <a:r>
              <a:t>usually occurs, but this is often asymptomatic. </a:t>
            </a:r>
          </a:p>
          <a:p>
            <a:pPr lvl="1"/>
            <a:r>
              <a:t>Gout requiring treatment with allopurinol occasionally develops. </a:t>
            </a:r>
          </a:p>
          <a:p>
            <a:r>
              <a:rPr b="1"/>
              <a:t>Arthralgia, </a:t>
            </a:r>
            <a:r>
              <a:t>particularly of the shoulders, may occur and is responsive to simple analgesics (especially aspirin). </a:t>
            </a:r>
          </a:p>
          <a:p>
            <a:r>
              <a:t>Rare adverse events include sideroblastic </a:t>
            </a:r>
            <a:r>
              <a:t>anaemia</a:t>
            </a:r>
            <a:r>
              <a:t> and photosensitive dermatitis </a:t>
            </a:r>
          </a:p>
          <a:p>
            <a:pPr indent="0" marL="0">
              <a:buNone/>
            </a:pPr>
            <a:r>
              <a:rPr b="1"/>
              <a:t>Precautions </a:t>
            </a:r>
            <a:endParaRPr b="1"/>
          </a:p>
          <a:p>
            <a:r>
              <a:t>Patients with diabetes should be carefully monitored since blood glucose concentrations may fluctuate. </a:t>
            </a:r>
          </a:p>
          <a:p>
            <a:r>
              <a:t>Gout may be exacerbated. </a:t>
            </a:r>
          </a:p>
          <a:p>
            <a:r>
              <a:t>Clinical monitoring (and liver function tests, if possible) should be performed during treatment of patients with pre-existing liver disease.</a:t>
            </a:r>
          </a:p>
          <a:p>
            <a:r>
              <a:t>Use in pregnancy ;safe during pregnancy . </a:t>
            </a:r>
          </a:p>
        </p:txBody>
      </p:sp>
    </p:spTree>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006" name=""/>
        <p:cNvGrpSpPr/>
        <p:nvPr/>
      </p:nvGrpSpPr>
      <p:grpSpPr>
        <a:xfrm>
          <a:off x="0" y="0"/>
          <a:ext cx="0" cy="0"/>
          <a:chOff x="0" y="0"/>
          <a:chExt cx="0" cy="0"/>
        </a:xfrm>
      </p:grpSpPr>
      <p:sp>
        <p:nvSpPr>
          <p:cNvPr id="1049268" name="Title 1"/>
          <p:cNvSpPr>
            <a:spLocks noGrp="1"/>
          </p:cNvSpPr>
          <p:nvPr>
            <p:ph type="title"/>
          </p:nvPr>
        </p:nvSpPr>
        <p:spPr/>
        <p:txBody>
          <a:bodyPr/>
          <a:p>
            <a:r>
              <a:t>Streptomycin </a:t>
            </a:r>
          </a:p>
        </p:txBody>
      </p:sp>
      <p:sp>
        <p:nvSpPr>
          <p:cNvPr id="1049269" name="Content Placeholder 2"/>
          <p:cNvSpPr>
            <a:spLocks noGrp="1"/>
          </p:cNvSpPr>
          <p:nvPr>
            <p:ph idx="1"/>
          </p:nvPr>
        </p:nvSpPr>
        <p:spPr>
          <a:xfrm>
            <a:off x="838204" y="1447795"/>
            <a:ext cx="10972800" cy="4729162"/>
          </a:xfrm>
        </p:spPr>
        <p:txBody>
          <a:bodyPr>
            <a:normAutofit fontScale="92500" lnSpcReduction="20000"/>
          </a:bodyPr>
          <a:p>
            <a:r>
              <a:t>Streptomycin is an aminoglycoside antibiotic derived from Streptomyces griseus, </a:t>
            </a:r>
          </a:p>
          <a:p>
            <a:r>
              <a:t>acts by inhibiting protein synthesis. </a:t>
            </a:r>
          </a:p>
          <a:p>
            <a:r>
              <a:t>INDICATED for TB and Gram-negative infections. </a:t>
            </a:r>
          </a:p>
          <a:p>
            <a:pPr indent="0" marL="0">
              <a:buNone/>
            </a:pPr>
            <a:r>
              <a:rPr b="1"/>
              <a:t>Pharmacokinetics</a:t>
            </a:r>
            <a:r>
              <a:t> </a:t>
            </a:r>
          </a:p>
          <a:p>
            <a:r>
              <a:t>Streptomycin is </a:t>
            </a:r>
            <a:r>
              <a:rPr b="1">
                <a:solidFill>
                  <a:srgbClr val="FF0000"/>
                </a:solidFill>
              </a:rPr>
              <a:t>not absorbed from the gastrointestinal </a:t>
            </a:r>
            <a:r>
              <a:t>tract but, </a:t>
            </a:r>
            <a:r>
              <a:rPr b="1"/>
              <a:t>after deep intramuscular administration</a:t>
            </a:r>
            <a:r>
              <a:t>, it diffuses readily into the extracellular component of most body tissues and attains </a:t>
            </a:r>
            <a:r>
              <a:rPr>
                <a:solidFill>
                  <a:srgbClr val="FF0000"/>
                </a:solidFill>
              </a:rPr>
              <a:t>bactericidal </a:t>
            </a:r>
            <a:r>
              <a:t>concentrations, particularly in tuberculous cavities. </a:t>
            </a:r>
          </a:p>
          <a:p>
            <a:r>
              <a:t>Can also be given via IV</a:t>
            </a:r>
          </a:p>
          <a:p>
            <a:r>
              <a:t>Little normally enters the cerebrospinal fluid, although penetration increases when the meninges are inflamed. </a:t>
            </a:r>
          </a:p>
          <a:p>
            <a:r>
              <a:t>Streptomycin is eliminated unchanged in the urine.</a:t>
            </a:r>
          </a:p>
        </p:txBody>
      </p:sp>
    </p:spTree>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007" name=""/>
        <p:cNvGrpSpPr/>
        <p:nvPr/>
      </p:nvGrpSpPr>
      <p:grpSpPr>
        <a:xfrm>
          <a:off x="0" y="0"/>
          <a:ext cx="0" cy="0"/>
          <a:chOff x="0" y="0"/>
          <a:chExt cx="0" cy="0"/>
        </a:xfrm>
      </p:grpSpPr>
      <p:sp>
        <p:nvSpPr>
          <p:cNvPr id="1049270" name="Title 1"/>
          <p:cNvSpPr>
            <a:spLocks noGrp="1"/>
          </p:cNvSpPr>
          <p:nvPr>
            <p:ph type="title"/>
          </p:nvPr>
        </p:nvSpPr>
        <p:spPr/>
        <p:txBody>
          <a:bodyPr/>
          <a:p>
            <a:r>
              <a:t>Unwanted effects </a:t>
            </a:r>
          </a:p>
        </p:txBody>
      </p:sp>
      <p:sp>
        <p:nvSpPr>
          <p:cNvPr id="1049271" name="Content Placeholder 2"/>
          <p:cNvSpPr>
            <a:spLocks noGrp="1"/>
          </p:cNvSpPr>
          <p:nvPr>
            <p:ph idx="1"/>
          </p:nvPr>
        </p:nvSpPr>
        <p:spPr>
          <a:xfrm>
            <a:off x="628650" y="1492248"/>
            <a:ext cx="10725154" cy="5000625"/>
          </a:xfrm>
        </p:spPr>
        <p:txBody>
          <a:bodyPr>
            <a:normAutofit fontScale="85000" lnSpcReduction="20000"/>
          </a:bodyPr>
          <a:p>
            <a:r>
              <a:t>Streptomycin injections are painful. </a:t>
            </a:r>
          </a:p>
          <a:p>
            <a:r>
              <a:t>Rash, induration, or sterile abscesses can form at injection sites. </a:t>
            </a:r>
          </a:p>
          <a:p>
            <a:r>
              <a:t>Numbness and tingling around the mouth……. occur immediately after injection. </a:t>
            </a:r>
          </a:p>
          <a:p>
            <a:r>
              <a:t>Cutaneous hypersensitivity reactions can occur. </a:t>
            </a:r>
          </a:p>
          <a:p>
            <a:r>
              <a:t>Impairment of </a:t>
            </a:r>
            <a:r>
              <a:rPr b="1"/>
              <a:t>vestibular function </a:t>
            </a:r>
            <a:r>
              <a:t>but this uncommon with currently recommended doses. </a:t>
            </a:r>
          </a:p>
          <a:p>
            <a:r>
              <a:t>Damage to the auditory (8th cranial nerve): ringing in the ears, ataxia, vertigo and deafness; usually occurs in the first 2 months of treatment  </a:t>
            </a:r>
          </a:p>
          <a:p>
            <a:r>
              <a:t>Is reversible if the dosage is reduced or the drug is stopped. </a:t>
            </a:r>
          </a:p>
          <a:p>
            <a:r>
              <a:t>Although less common nephrotoxicity may occur. </a:t>
            </a:r>
          </a:p>
          <a:p>
            <a:r>
              <a:t>If urinary output falls, albuminuria occurs or tubular casts are detected in the urine, streptomycin should be stopped and renal function should be evaluated. </a:t>
            </a:r>
          </a:p>
          <a:p>
            <a:r>
              <a:t>Haemolytic</a:t>
            </a:r>
            <a:r>
              <a:t> </a:t>
            </a:r>
            <a:r>
              <a:t>anaemia</a:t>
            </a:r>
            <a:r>
              <a:t>, aplastic </a:t>
            </a:r>
            <a:r>
              <a:t>anaemia</a:t>
            </a:r>
            <a:r>
              <a:t>, agranulocytosis, thrombocytopenia and lupoid reactions are </a:t>
            </a:r>
            <a:r>
              <a:rPr b="1"/>
              <a:t>rare </a:t>
            </a:r>
            <a:r>
              <a:t>adverse effects.</a:t>
            </a:r>
          </a:p>
        </p:txBody>
      </p:sp>
    </p:spTree>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008" name=""/>
        <p:cNvGrpSpPr/>
        <p:nvPr/>
      </p:nvGrpSpPr>
      <p:grpSpPr>
        <a:xfrm>
          <a:off x="0" y="0"/>
          <a:ext cx="0" cy="0"/>
          <a:chOff x="0" y="0"/>
          <a:chExt cx="0" cy="0"/>
        </a:xfrm>
      </p:grpSpPr>
      <p:sp>
        <p:nvSpPr>
          <p:cNvPr id="1049272" name="Title 1"/>
          <p:cNvSpPr>
            <a:spLocks noGrp="1"/>
          </p:cNvSpPr>
          <p:nvPr>
            <p:ph type="title"/>
          </p:nvPr>
        </p:nvSpPr>
        <p:spPr/>
        <p:txBody>
          <a:bodyPr/>
          <a:p>
            <a:r>
              <a:t>Precautions</a:t>
            </a:r>
          </a:p>
        </p:txBody>
      </p:sp>
      <p:sp>
        <p:nvSpPr>
          <p:cNvPr id="1049273" name="Content Placeholder 2"/>
          <p:cNvSpPr>
            <a:spLocks noGrp="1"/>
          </p:cNvSpPr>
          <p:nvPr>
            <p:ph idx="1"/>
          </p:nvPr>
        </p:nvSpPr>
        <p:spPr>
          <a:xfrm>
            <a:off x="838204" y="1438279"/>
            <a:ext cx="10744200" cy="5054593"/>
          </a:xfrm>
        </p:spPr>
        <p:txBody>
          <a:bodyPr>
            <a:normAutofit fontScale="92500" lnSpcReduction="20000"/>
          </a:bodyPr>
          <a:p>
            <a:r>
              <a:rPr sz="3600"/>
              <a:t>Hypersensitivity reactions are rare. If they do occur (usually during the first weeks of treatment), streptomycin should be withdrawn immediately. </a:t>
            </a:r>
            <a:endParaRPr sz="3600"/>
          </a:p>
          <a:p>
            <a:r>
              <a:rPr sz="3600"/>
              <a:t>Streptomycin should be used with caution in patients with renal insufficiency, because of the increased risk of nephrotoxicity and ototoxicity </a:t>
            </a:r>
            <a:endParaRPr sz="3600"/>
          </a:p>
          <a:p>
            <a:r>
              <a:rPr sz="3600"/>
              <a:t>Protective gloves should be worn when streptomycin injections are administered, to avoid sensitization dermatitis.</a:t>
            </a:r>
            <a:endParaRPr sz="3600"/>
          </a:p>
          <a:p>
            <a:r>
              <a:rPr sz="3000"/>
              <a:t>Streptomycin should not be used in pregnancy: it crosses the placenta and can cause auditory nerve impairment and nephrotoxicity in the fetus</a:t>
            </a:r>
            <a:endParaRPr sz="4300"/>
          </a:p>
        </p:txBody>
      </p:sp>
    </p:spTree>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009" name=""/>
        <p:cNvGrpSpPr/>
        <p:nvPr/>
      </p:nvGrpSpPr>
      <p:grpSpPr>
        <a:xfrm>
          <a:off x="0" y="0"/>
          <a:ext cx="0" cy="0"/>
          <a:chOff x="0" y="0"/>
          <a:chExt cx="0" cy="0"/>
        </a:xfrm>
      </p:grpSpPr>
      <p:sp>
        <p:nvSpPr>
          <p:cNvPr id="1049274" name="Title 1"/>
          <p:cNvSpPr>
            <a:spLocks noGrp="1"/>
          </p:cNvSpPr>
          <p:nvPr>
            <p:ph type="title"/>
          </p:nvPr>
        </p:nvSpPr>
        <p:spPr/>
        <p:txBody>
          <a:bodyPr/>
          <a:p>
            <a:r>
              <a:t>Contraindications  </a:t>
            </a:r>
          </a:p>
        </p:txBody>
      </p:sp>
      <p:sp>
        <p:nvSpPr>
          <p:cNvPr id="1049275" name="Content Placeholder 2"/>
          <p:cNvSpPr>
            <a:spLocks noGrp="1"/>
          </p:cNvSpPr>
          <p:nvPr>
            <p:ph idx="1"/>
          </p:nvPr>
        </p:nvSpPr>
        <p:spPr/>
        <p:txBody>
          <a:bodyPr/>
          <a:p>
            <a:r>
              <a:t>Known hypersensitivity. </a:t>
            </a:r>
          </a:p>
          <a:p>
            <a:r>
              <a:t>Auditory nerve impairment. </a:t>
            </a:r>
          </a:p>
          <a:p>
            <a:r>
              <a:t>Myasthenia gravis. </a:t>
            </a:r>
          </a:p>
          <a:p>
            <a:r>
              <a:t>Pregnancy</a:t>
            </a:r>
          </a:p>
        </p:txBody>
      </p:sp>
    </p:spTree>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010" name=""/>
        <p:cNvGrpSpPr/>
        <p:nvPr/>
      </p:nvGrpSpPr>
      <p:grpSpPr>
        <a:xfrm>
          <a:off x="0" y="0"/>
          <a:ext cx="0" cy="0"/>
          <a:chOff x="0" y="0"/>
          <a:chExt cx="0" cy="0"/>
        </a:xfrm>
      </p:grpSpPr>
      <p:sp>
        <p:nvSpPr>
          <p:cNvPr id="1049276" name="Title 1"/>
          <p:cNvSpPr>
            <a:spLocks noGrp="1"/>
          </p:cNvSpPr>
          <p:nvPr>
            <p:ph type="title"/>
          </p:nvPr>
        </p:nvSpPr>
        <p:spPr/>
        <p:txBody>
          <a:bodyPr/>
          <a:p>
            <a:r>
              <a:t>Drug interactions </a:t>
            </a:r>
          </a:p>
        </p:txBody>
      </p:sp>
      <p:sp>
        <p:nvSpPr>
          <p:cNvPr id="1049277" name="Content Placeholder 2"/>
          <p:cNvSpPr>
            <a:spLocks noGrp="1"/>
          </p:cNvSpPr>
          <p:nvPr>
            <p:ph idx="1"/>
          </p:nvPr>
        </p:nvSpPr>
        <p:spPr>
          <a:xfrm>
            <a:off x="838204" y="1524004"/>
            <a:ext cx="10515600" cy="4652967"/>
          </a:xfrm>
        </p:spPr>
        <p:txBody>
          <a:bodyPr>
            <a:normAutofit/>
          </a:bodyPr>
          <a:p>
            <a:r>
              <a:rPr sz="3600"/>
              <a:t>Other ototoxic or nephrotoxic drugs should not be administered to patients receiving streptomycin. </a:t>
            </a:r>
            <a:endParaRPr sz="3600"/>
          </a:p>
          <a:p>
            <a:pPr lvl="1"/>
            <a:r>
              <a:rPr sz="3200"/>
              <a:t>These include other aminoglycoside antibiotics, amphotericin B, </a:t>
            </a:r>
            <a:r>
              <a:rPr sz="3200"/>
              <a:t>cefalosporins</a:t>
            </a:r>
            <a:r>
              <a:rPr sz="3200"/>
              <a:t>, etacrynic acid, cyclosporin, cisplatin, furosemide and vancomycin. </a:t>
            </a:r>
            <a:endParaRPr sz="3200"/>
          </a:p>
          <a:p>
            <a:r>
              <a:rPr sz="3600"/>
              <a:t>Streptomycin may potentiate the effect of neuromuscular blocking agents administered during </a:t>
            </a:r>
            <a:r>
              <a:rPr sz="3600"/>
              <a:t>anaesthesia</a:t>
            </a:r>
            <a:r>
              <a:rPr sz="3600"/>
              <a:t>.</a:t>
            </a:r>
            <a:endParaRPr sz="3600"/>
          </a:p>
        </p:txBody>
      </p:sp>
    </p:spTree>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011" name=""/>
        <p:cNvGrpSpPr/>
        <p:nvPr/>
      </p:nvGrpSpPr>
      <p:grpSpPr>
        <a:xfrm>
          <a:off x="0" y="0"/>
          <a:ext cx="0" cy="0"/>
          <a:chOff x="0" y="0"/>
          <a:chExt cx="0" cy="0"/>
        </a:xfrm>
      </p:grpSpPr>
      <p:sp>
        <p:nvSpPr>
          <p:cNvPr id="1049278" name="Title 1"/>
          <p:cNvSpPr>
            <a:spLocks noGrp="1"/>
          </p:cNvSpPr>
          <p:nvPr>
            <p:ph type="title"/>
          </p:nvPr>
        </p:nvSpPr>
        <p:spPr/>
        <p:txBody>
          <a:bodyPr/>
          <a:p>
            <a:r>
              <a:t>                                   </a:t>
            </a:r>
            <a:r>
              <a:rPr b="1"/>
              <a:t>DAPSONE </a:t>
            </a:r>
            <a:endParaRPr b="1"/>
          </a:p>
        </p:txBody>
      </p:sp>
      <p:sp>
        <p:nvSpPr>
          <p:cNvPr id="1049279" name="Content Placeholder 2"/>
          <p:cNvSpPr>
            <a:spLocks noGrp="1"/>
          </p:cNvSpPr>
          <p:nvPr>
            <p:ph idx="1"/>
          </p:nvPr>
        </p:nvSpPr>
        <p:spPr/>
        <p:txBody>
          <a:bodyPr>
            <a:normAutofit/>
          </a:bodyPr>
          <a:p>
            <a:r>
              <a:rPr b="1"/>
              <a:t>pharmacodynamics</a:t>
            </a:r>
            <a:r>
              <a:t> </a:t>
            </a:r>
          </a:p>
          <a:p>
            <a:r>
              <a:t>DAPSONE is chemically related to  sulphonemides and it </a:t>
            </a:r>
            <a:r>
              <a:rPr b="1"/>
              <a:t>acts by inhibiting the enzyme dihydrofolate reluctance hence inhibits folate  synthesis</a:t>
            </a:r>
            <a:r>
              <a:t>.</a:t>
            </a:r>
          </a:p>
          <a:p>
            <a:pPr lvl="1"/>
            <a:r>
              <a:t>Its action is antagonized by PABA. resistance to this drug</a:t>
            </a:r>
          </a:p>
          <a:p>
            <a:r>
              <a:t>Has increased, hence it ‘s combined with other drugs during treatment.</a:t>
            </a:r>
          </a:p>
          <a:p>
            <a:r>
              <a:rPr b="1"/>
              <a:t>Pharmacokinetic</a:t>
            </a:r>
            <a:endParaRPr b="1"/>
          </a:p>
          <a:p>
            <a:r>
              <a:t>Good oral </a:t>
            </a:r>
            <a:r>
              <a:rPr>
                <a:solidFill>
                  <a:srgbClr val="000000"/>
                </a:solidFill>
              </a:rPr>
              <a:t>absorption.</a:t>
            </a:r>
          </a:p>
          <a:p>
            <a:r>
              <a:t>It under goes enteral hepatic recycling.</a:t>
            </a:r>
          </a:p>
          <a:p>
            <a:r>
              <a:t>It has a half life of 24 to 48 hours</a:t>
            </a:r>
          </a:p>
          <a:p>
            <a:r>
              <a:t> it is excreted in feces</a:t>
            </a:r>
          </a:p>
        </p:txBody>
      </p:sp>
    </p:spTree>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012" name=""/>
        <p:cNvGrpSpPr/>
        <p:nvPr/>
      </p:nvGrpSpPr>
      <p:grpSpPr>
        <a:xfrm>
          <a:off x="0" y="0"/>
          <a:ext cx="0" cy="0"/>
          <a:chOff x="0" y="0"/>
          <a:chExt cx="0" cy="0"/>
        </a:xfrm>
      </p:grpSpPr>
      <p:sp>
        <p:nvSpPr>
          <p:cNvPr id="1049280" name="Title 1"/>
          <p:cNvSpPr>
            <a:spLocks noGrp="1"/>
          </p:cNvSpPr>
          <p:nvPr>
            <p:ph type="title"/>
          </p:nvPr>
        </p:nvSpPr>
        <p:spPr/>
        <p:txBody>
          <a:bodyPr/>
          <a:p>
            <a:r>
              <a:rPr b="1"/>
              <a:t>Unwanted effects</a:t>
            </a:r>
            <a:endParaRPr b="1"/>
          </a:p>
        </p:txBody>
      </p:sp>
      <p:sp>
        <p:nvSpPr>
          <p:cNvPr id="1049281" name="Content Placeholder 2"/>
          <p:cNvSpPr>
            <a:spLocks noGrp="1"/>
          </p:cNvSpPr>
          <p:nvPr>
            <p:ph idx="1"/>
          </p:nvPr>
        </p:nvSpPr>
        <p:spPr/>
        <p:txBody>
          <a:bodyPr/>
          <a:p>
            <a:r>
              <a:t>Hemolysis of white blood cells .</a:t>
            </a:r>
          </a:p>
          <a:p>
            <a:r>
              <a:t>Anorexia , nausea and vomiting.</a:t>
            </a:r>
          </a:p>
          <a:p>
            <a:r>
              <a:t>Fever and allergic dermatitis,</a:t>
            </a:r>
          </a:p>
          <a:p>
            <a:r>
              <a:t> neuropathy</a:t>
            </a:r>
          </a:p>
          <a:p>
            <a:r>
              <a:t>Leprareation where there is exacerbation of lepromatous lesions can occur and a syndrome resembling infectious mononucleosis which can be fatal.</a:t>
            </a:r>
          </a:p>
        </p:txBody>
      </p:sp>
    </p:spTree>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013" name=""/>
        <p:cNvGrpSpPr/>
        <p:nvPr/>
      </p:nvGrpSpPr>
      <p:grpSpPr>
        <a:xfrm>
          <a:off x="0" y="0"/>
          <a:ext cx="0" cy="0"/>
          <a:chOff x="0" y="0"/>
          <a:chExt cx="0" cy="0"/>
        </a:xfrm>
      </p:grpSpPr>
      <p:sp>
        <p:nvSpPr>
          <p:cNvPr id="1049282" name="Text Box 2"/>
          <p:cNvSpPr txBox="1">
            <a:spLocks noChangeArrowheads="1"/>
          </p:cNvSpPr>
          <p:nvPr/>
        </p:nvSpPr>
        <p:spPr bwMode="auto">
          <a:xfrm>
            <a:off x="3200400" y="2209804"/>
            <a:ext cx="5715000" cy="519107"/>
          </a:xfrm>
          <a:prstGeom prst="rect"/>
          <a:noFill/>
          <a:ln>
            <a:noFill/>
          </a:ln>
          <a:effectLst/>
        </p:spPr>
        <p:txBody>
          <a:bodyPr>
            <a:spAutoFit/>
          </a:bodyPr>
          <a:p>
            <a:r>
              <a:rPr b="1" sz="2800">
                <a:solidFill>
                  <a:schemeClr val="accent2"/>
                </a:solidFill>
                <a:latin typeface="Comic Sans MS"/>
              </a:rPr>
              <a:t>ANTIHEMINTHICS</a:t>
            </a:r>
            <a:endParaRPr b="1" sz="2800">
              <a:solidFill>
                <a:schemeClr val="accent2"/>
              </a:solidFill>
              <a:latin typeface="Comic Sans MS"/>
            </a:endParaRPr>
          </a:p>
        </p:txBody>
      </p:sp>
    </p:spTree>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016" name=""/>
        <p:cNvGrpSpPr/>
        <p:nvPr/>
      </p:nvGrpSpPr>
      <p:grpSpPr>
        <a:xfrm>
          <a:off x="0" y="0"/>
          <a:ext cx="0" cy="0"/>
          <a:chOff x="0" y="0"/>
          <a:chExt cx="0" cy="0"/>
        </a:xfrm>
      </p:grpSpPr>
      <p:sp>
        <p:nvSpPr>
          <p:cNvPr id="1049286" name="Rectangle 2"/>
          <p:cNvSpPr>
            <a:spLocks noGrp="1" noChangeArrowheads="1"/>
          </p:cNvSpPr>
          <p:nvPr>
            <p:ph type="body" sz="half" idx="1"/>
          </p:nvPr>
        </p:nvSpPr>
        <p:spPr>
          <a:xfrm>
            <a:off x="1152529" y="685800"/>
            <a:ext cx="4257675" cy="5943600"/>
          </a:xfrm>
        </p:spPr>
        <p:txBody>
          <a:bodyPr>
            <a:normAutofit/>
          </a:bodyPr>
          <a:p>
            <a:pPr>
              <a:lnSpc>
                <a:spcPct val="80000"/>
              </a:lnSpc>
              <a:buNone/>
            </a:pPr>
            <a:r>
              <a:rPr b="1" sz="2000">
                <a:solidFill>
                  <a:srgbClr val="CC0000"/>
                </a:solidFill>
                <a:latin typeface="Comic Sans MS"/>
              </a:rPr>
              <a:t>Intestinal nematodes</a:t>
            </a:r>
            <a:endParaRPr b="1" sz="2000">
              <a:solidFill>
                <a:srgbClr val="CC0000"/>
              </a:solidFill>
              <a:latin typeface="Comic Sans MS"/>
            </a:endParaRPr>
          </a:p>
          <a:p>
            <a:pPr>
              <a:lnSpc>
                <a:spcPct val="80000"/>
              </a:lnSpc>
            </a:pPr>
            <a:r>
              <a:rPr sz="1800">
                <a:latin typeface="Comic Sans MS"/>
              </a:rPr>
              <a:t>Ascaris lumbricoides (Round)</a:t>
            </a:r>
            <a:endParaRPr sz="1800">
              <a:latin typeface="Comic Sans MS"/>
            </a:endParaRPr>
          </a:p>
          <a:p>
            <a:pPr>
              <a:lnSpc>
                <a:spcPct val="80000"/>
              </a:lnSpc>
            </a:pPr>
            <a:r>
              <a:rPr sz="1800">
                <a:latin typeface="Comic Sans MS"/>
              </a:rPr>
              <a:t>A. duodenale (Hook)</a:t>
            </a:r>
            <a:endParaRPr sz="1800">
              <a:latin typeface="Comic Sans MS"/>
            </a:endParaRPr>
          </a:p>
          <a:p>
            <a:pPr>
              <a:lnSpc>
                <a:spcPct val="80000"/>
              </a:lnSpc>
            </a:pPr>
            <a:r>
              <a:rPr sz="1800">
                <a:latin typeface="Comic Sans MS"/>
              </a:rPr>
              <a:t>Necator</a:t>
            </a:r>
            <a:r>
              <a:rPr sz="1800">
                <a:latin typeface="Comic Sans MS"/>
              </a:rPr>
              <a:t> americanus (Hook)</a:t>
            </a:r>
            <a:endParaRPr sz="1800">
              <a:latin typeface="Comic Sans MS"/>
            </a:endParaRPr>
          </a:p>
          <a:p>
            <a:pPr>
              <a:lnSpc>
                <a:spcPct val="80000"/>
              </a:lnSpc>
            </a:pPr>
            <a:r>
              <a:rPr sz="1800">
                <a:latin typeface="Comic Sans MS"/>
              </a:rPr>
              <a:t>Strongyloides</a:t>
            </a:r>
            <a:r>
              <a:rPr sz="1800">
                <a:latin typeface="Comic Sans MS"/>
              </a:rPr>
              <a:t>. </a:t>
            </a:r>
            <a:r>
              <a:rPr sz="1800">
                <a:latin typeface="Comic Sans MS"/>
              </a:rPr>
              <a:t>stercoralis</a:t>
            </a:r>
            <a:r>
              <a:rPr sz="1800">
                <a:latin typeface="Comic Sans MS"/>
              </a:rPr>
              <a:t> (dwarf threadworm)</a:t>
            </a:r>
            <a:endParaRPr sz="1800">
              <a:latin typeface="Comic Sans MS"/>
            </a:endParaRPr>
          </a:p>
          <a:p>
            <a:pPr>
              <a:lnSpc>
                <a:spcPct val="80000"/>
              </a:lnSpc>
            </a:pPr>
            <a:r>
              <a:rPr sz="1800">
                <a:latin typeface="Comic Sans MS"/>
              </a:rPr>
              <a:t>Enterobius vermicularis (Pin)</a:t>
            </a:r>
            <a:endParaRPr sz="1800">
              <a:latin typeface="Comic Sans MS"/>
            </a:endParaRPr>
          </a:p>
          <a:p>
            <a:pPr>
              <a:lnSpc>
                <a:spcPct val="80000"/>
              </a:lnSpc>
            </a:pPr>
            <a:r>
              <a:rPr sz="1800">
                <a:latin typeface="Comic Sans MS"/>
              </a:rPr>
              <a:t>Trichuris </a:t>
            </a:r>
            <a:r>
              <a:rPr sz="1800">
                <a:latin typeface="Comic Sans MS"/>
              </a:rPr>
              <a:t>trichiura</a:t>
            </a:r>
            <a:r>
              <a:rPr sz="1800">
                <a:latin typeface="Comic Sans MS"/>
              </a:rPr>
              <a:t> (whip)</a:t>
            </a:r>
            <a:endParaRPr sz="1800">
              <a:latin typeface="Comic Sans MS"/>
            </a:endParaRPr>
          </a:p>
          <a:p>
            <a:pPr>
              <a:lnSpc>
                <a:spcPct val="80000"/>
              </a:lnSpc>
              <a:buNone/>
            </a:pPr>
            <a:endParaRPr sz="1800">
              <a:latin typeface="Comic Sans MS"/>
            </a:endParaRPr>
          </a:p>
          <a:p>
            <a:pPr>
              <a:lnSpc>
                <a:spcPct val="80000"/>
              </a:lnSpc>
              <a:buNone/>
            </a:pPr>
            <a:r>
              <a:rPr b="1" sz="2000">
                <a:solidFill>
                  <a:srgbClr val="CC0000"/>
                </a:solidFill>
                <a:latin typeface="Comic Sans MS"/>
              </a:rPr>
              <a:t>Tissue nematodes (filaria)</a:t>
            </a:r>
            <a:endParaRPr b="1" sz="2000">
              <a:solidFill>
                <a:srgbClr val="CC0000"/>
              </a:solidFill>
              <a:latin typeface="Comic Sans MS"/>
            </a:endParaRPr>
          </a:p>
          <a:p>
            <a:pPr>
              <a:lnSpc>
                <a:spcPct val="80000"/>
              </a:lnSpc>
            </a:pPr>
            <a:r>
              <a:rPr sz="1800">
                <a:latin typeface="Comic Sans MS"/>
              </a:rPr>
              <a:t>Onchocercia</a:t>
            </a:r>
            <a:r>
              <a:rPr sz="1800">
                <a:latin typeface="Comic Sans MS"/>
              </a:rPr>
              <a:t> volvulus</a:t>
            </a:r>
            <a:endParaRPr sz="1800">
              <a:latin typeface="Comic Sans MS"/>
            </a:endParaRPr>
          </a:p>
          <a:p>
            <a:pPr>
              <a:lnSpc>
                <a:spcPct val="80000"/>
              </a:lnSpc>
            </a:pPr>
            <a:r>
              <a:rPr sz="1800">
                <a:latin typeface="Comic Sans MS"/>
              </a:rPr>
              <a:t>Wuchereria</a:t>
            </a:r>
            <a:r>
              <a:rPr sz="1800">
                <a:latin typeface="Comic Sans MS"/>
              </a:rPr>
              <a:t> </a:t>
            </a:r>
            <a:r>
              <a:rPr sz="1800">
                <a:latin typeface="Comic Sans MS"/>
              </a:rPr>
              <a:t>bancrofti</a:t>
            </a:r>
            <a:endParaRPr sz="1800">
              <a:latin typeface="Comic Sans MS"/>
            </a:endParaRPr>
          </a:p>
          <a:p>
            <a:pPr>
              <a:lnSpc>
                <a:spcPct val="80000"/>
              </a:lnSpc>
            </a:pPr>
            <a:r>
              <a:rPr sz="1800">
                <a:latin typeface="Comic Sans MS"/>
              </a:rPr>
              <a:t>Brugia</a:t>
            </a:r>
            <a:r>
              <a:rPr sz="1800">
                <a:latin typeface="Comic Sans MS"/>
              </a:rPr>
              <a:t> </a:t>
            </a:r>
            <a:r>
              <a:rPr sz="1800">
                <a:latin typeface="Comic Sans MS"/>
              </a:rPr>
              <a:t>malayi</a:t>
            </a:r>
            <a:endParaRPr sz="1800">
              <a:latin typeface="Comic Sans MS"/>
            </a:endParaRPr>
          </a:p>
          <a:p>
            <a:pPr>
              <a:lnSpc>
                <a:spcPct val="80000"/>
              </a:lnSpc>
            </a:pPr>
            <a:r>
              <a:rPr sz="1800">
                <a:latin typeface="Comic Sans MS"/>
              </a:rPr>
              <a:t>Loa </a:t>
            </a:r>
            <a:r>
              <a:rPr sz="1800">
                <a:latin typeface="Comic Sans MS"/>
              </a:rPr>
              <a:t>loa</a:t>
            </a:r>
            <a:endParaRPr sz="1800">
              <a:latin typeface="Comic Sans MS"/>
            </a:endParaRPr>
          </a:p>
          <a:p>
            <a:pPr>
              <a:lnSpc>
                <a:spcPct val="80000"/>
              </a:lnSpc>
            </a:pPr>
            <a:r>
              <a:rPr sz="1800">
                <a:latin typeface="Comic Sans MS"/>
              </a:rPr>
              <a:t>Dracunculus medinensis (guinea worm)</a:t>
            </a:r>
            <a:endParaRPr sz="1800">
              <a:latin typeface="Comic Sans MS"/>
            </a:endParaRPr>
          </a:p>
          <a:p>
            <a:pPr>
              <a:lnSpc>
                <a:spcPct val="80000"/>
              </a:lnSpc>
            </a:pPr>
            <a:endParaRPr sz="1800">
              <a:latin typeface="Comic Sans MS"/>
            </a:endParaRPr>
          </a:p>
          <a:p>
            <a:pPr>
              <a:lnSpc>
                <a:spcPct val="80000"/>
              </a:lnSpc>
            </a:pPr>
            <a:r>
              <a:rPr sz="1800">
                <a:latin typeface="Comic Sans MS"/>
              </a:rPr>
              <a:t>T. </a:t>
            </a:r>
            <a:r>
              <a:rPr sz="1800">
                <a:latin typeface="Comic Sans MS"/>
              </a:rPr>
              <a:t>canis</a:t>
            </a:r>
            <a:r>
              <a:rPr sz="1800">
                <a:latin typeface="Comic Sans MS"/>
              </a:rPr>
              <a:t> larva (dog Round) (visceral larva </a:t>
            </a:r>
            <a:r>
              <a:rPr sz="1800">
                <a:latin typeface="Comic Sans MS"/>
              </a:rPr>
              <a:t>migrans</a:t>
            </a:r>
            <a:r>
              <a:rPr sz="1800">
                <a:latin typeface="Comic Sans MS"/>
              </a:rPr>
              <a:t>)</a:t>
            </a:r>
            <a:endParaRPr sz="1800">
              <a:latin typeface="Comic Sans MS"/>
            </a:endParaRPr>
          </a:p>
          <a:p>
            <a:pPr>
              <a:lnSpc>
                <a:spcPct val="80000"/>
              </a:lnSpc>
            </a:pPr>
            <a:r>
              <a:rPr sz="1800">
                <a:latin typeface="Comic Sans MS"/>
              </a:rPr>
              <a:t>Dog &amp; cat hookworm – cutaneous larva </a:t>
            </a:r>
            <a:r>
              <a:rPr sz="1800">
                <a:latin typeface="Comic Sans MS"/>
              </a:rPr>
              <a:t>migrans</a:t>
            </a:r>
            <a:endParaRPr sz="1800">
              <a:latin typeface="Comic Sans MS"/>
            </a:endParaRPr>
          </a:p>
          <a:p>
            <a:pPr>
              <a:lnSpc>
                <a:spcPct val="80000"/>
              </a:lnSpc>
            </a:pPr>
            <a:r>
              <a:rPr sz="1800">
                <a:latin typeface="Comic Sans MS"/>
              </a:rPr>
              <a:t>Trichinella spiralis larva</a:t>
            </a:r>
            <a:endParaRPr sz="1800">
              <a:latin typeface="Comic Sans MS"/>
            </a:endParaRPr>
          </a:p>
          <a:p>
            <a:pPr>
              <a:lnSpc>
                <a:spcPct val="80000"/>
              </a:lnSpc>
            </a:pPr>
            <a:endParaRPr sz="1800">
              <a:latin typeface="Comic Sans MS"/>
            </a:endParaRPr>
          </a:p>
        </p:txBody>
      </p:sp>
      <p:sp>
        <p:nvSpPr>
          <p:cNvPr id="1049287" name="Rectangle 3"/>
          <p:cNvSpPr>
            <a:spLocks noGrp="1" noChangeArrowheads="1"/>
          </p:cNvSpPr>
          <p:nvPr>
            <p:ph type="body" sz="half" idx="2"/>
          </p:nvPr>
        </p:nvSpPr>
        <p:spPr>
          <a:xfrm>
            <a:off x="5943600" y="761995"/>
            <a:ext cx="4419595" cy="5715000"/>
          </a:xfrm>
        </p:spPr>
        <p:txBody>
          <a:bodyPr>
            <a:normAutofit/>
          </a:bodyPr>
          <a:p>
            <a:pPr>
              <a:lnSpc>
                <a:spcPct val="80000"/>
              </a:lnSpc>
              <a:buNone/>
            </a:pPr>
            <a:r>
              <a:rPr b="1" sz="2000">
                <a:solidFill>
                  <a:srgbClr val="CC0000"/>
                </a:solidFill>
                <a:latin typeface="Comic Sans MS"/>
              </a:rPr>
              <a:t>Cestodes (tapeworms)</a:t>
            </a:r>
            <a:endParaRPr b="1" sz="2000">
              <a:solidFill>
                <a:srgbClr val="CC0000"/>
              </a:solidFill>
              <a:latin typeface="Comic Sans MS"/>
            </a:endParaRPr>
          </a:p>
          <a:p>
            <a:pPr>
              <a:lnSpc>
                <a:spcPct val="80000"/>
              </a:lnSpc>
            </a:pPr>
            <a:r>
              <a:rPr sz="1800">
                <a:latin typeface="Comic Sans MS"/>
              </a:rPr>
              <a:t>Taenia </a:t>
            </a:r>
            <a:r>
              <a:rPr sz="1800">
                <a:latin typeface="Comic Sans MS"/>
              </a:rPr>
              <a:t>solium</a:t>
            </a:r>
            <a:r>
              <a:rPr sz="1800">
                <a:latin typeface="Comic Sans MS"/>
              </a:rPr>
              <a:t> (pork)</a:t>
            </a:r>
            <a:endParaRPr sz="1800">
              <a:latin typeface="Comic Sans MS"/>
            </a:endParaRPr>
          </a:p>
          <a:p>
            <a:pPr>
              <a:lnSpc>
                <a:spcPct val="80000"/>
              </a:lnSpc>
            </a:pPr>
            <a:r>
              <a:rPr sz="1800">
                <a:latin typeface="Comic Sans MS"/>
              </a:rPr>
              <a:t>Taenia </a:t>
            </a:r>
            <a:r>
              <a:rPr sz="1800">
                <a:latin typeface="Comic Sans MS"/>
              </a:rPr>
              <a:t>saginata</a:t>
            </a:r>
            <a:r>
              <a:rPr sz="1800">
                <a:latin typeface="Comic Sans MS"/>
              </a:rPr>
              <a:t> (beef)</a:t>
            </a:r>
            <a:endParaRPr sz="1800">
              <a:latin typeface="Comic Sans MS"/>
            </a:endParaRPr>
          </a:p>
          <a:p>
            <a:pPr>
              <a:lnSpc>
                <a:spcPct val="80000"/>
              </a:lnSpc>
            </a:pPr>
            <a:r>
              <a:rPr sz="1800">
                <a:latin typeface="Comic Sans MS"/>
              </a:rPr>
              <a:t>Diphyllobothrium latum (fish)</a:t>
            </a:r>
            <a:endParaRPr sz="1800">
              <a:latin typeface="Comic Sans MS"/>
            </a:endParaRPr>
          </a:p>
          <a:p>
            <a:pPr>
              <a:lnSpc>
                <a:spcPct val="80000"/>
              </a:lnSpc>
            </a:pPr>
            <a:r>
              <a:rPr sz="1800">
                <a:latin typeface="Comic Sans MS"/>
              </a:rPr>
              <a:t>Echinococcus. </a:t>
            </a:r>
            <a:r>
              <a:rPr sz="1800">
                <a:latin typeface="Comic Sans MS"/>
              </a:rPr>
              <a:t>granulosus</a:t>
            </a:r>
            <a:r>
              <a:rPr sz="1800">
                <a:latin typeface="Comic Sans MS"/>
              </a:rPr>
              <a:t> (dog)</a:t>
            </a:r>
            <a:endParaRPr sz="1800">
              <a:latin typeface="Comic Sans MS"/>
            </a:endParaRPr>
          </a:p>
          <a:p>
            <a:pPr>
              <a:lnSpc>
                <a:spcPct val="80000"/>
              </a:lnSpc>
            </a:pPr>
            <a:r>
              <a:rPr sz="1800">
                <a:latin typeface="Comic Sans MS"/>
              </a:rPr>
              <a:t>Hymenolepis</a:t>
            </a:r>
            <a:r>
              <a:rPr sz="1800">
                <a:latin typeface="Comic Sans MS"/>
              </a:rPr>
              <a:t> nana (dwarf)</a:t>
            </a:r>
            <a:endParaRPr sz="1800">
              <a:latin typeface="Comic Sans MS"/>
            </a:endParaRPr>
          </a:p>
          <a:p>
            <a:pPr>
              <a:lnSpc>
                <a:spcPct val="80000"/>
              </a:lnSpc>
            </a:pPr>
            <a:endParaRPr sz="1800">
              <a:latin typeface="Comic Sans MS"/>
            </a:endParaRPr>
          </a:p>
          <a:p>
            <a:pPr>
              <a:lnSpc>
                <a:spcPct val="80000"/>
              </a:lnSpc>
            </a:pPr>
            <a:endParaRPr sz="1800">
              <a:latin typeface="Comic Sans MS"/>
            </a:endParaRPr>
          </a:p>
          <a:p>
            <a:pPr>
              <a:lnSpc>
                <a:spcPct val="80000"/>
              </a:lnSpc>
            </a:pPr>
            <a:endParaRPr sz="1800">
              <a:latin typeface="Comic Sans MS"/>
            </a:endParaRPr>
          </a:p>
          <a:p>
            <a:pPr>
              <a:lnSpc>
                <a:spcPct val="80000"/>
              </a:lnSpc>
            </a:pPr>
            <a:endParaRPr sz="1800">
              <a:latin typeface="Comic Sans MS"/>
            </a:endParaRPr>
          </a:p>
          <a:p>
            <a:pPr>
              <a:lnSpc>
                <a:spcPct val="80000"/>
              </a:lnSpc>
              <a:buNone/>
            </a:pPr>
            <a:r>
              <a:rPr b="1" sz="2000">
                <a:solidFill>
                  <a:srgbClr val="CC0000"/>
                </a:solidFill>
                <a:latin typeface="Comic Sans MS"/>
              </a:rPr>
              <a:t>Trematodes (flukes)</a:t>
            </a:r>
            <a:endParaRPr sz="1800">
              <a:latin typeface="Comic Sans MS"/>
            </a:endParaRPr>
          </a:p>
          <a:p>
            <a:pPr>
              <a:lnSpc>
                <a:spcPct val="80000"/>
              </a:lnSpc>
            </a:pPr>
            <a:r>
              <a:rPr sz="1800">
                <a:latin typeface="Comic Sans MS"/>
              </a:rPr>
              <a:t>Schistosoma </a:t>
            </a:r>
            <a:r>
              <a:rPr sz="1800">
                <a:latin typeface="Comic Sans MS"/>
              </a:rPr>
              <a:t>mansoni</a:t>
            </a:r>
            <a:endParaRPr sz="1800">
              <a:latin typeface="Comic Sans MS"/>
            </a:endParaRPr>
          </a:p>
          <a:p>
            <a:pPr>
              <a:lnSpc>
                <a:spcPct val="80000"/>
              </a:lnSpc>
            </a:pPr>
            <a:r>
              <a:rPr sz="1800">
                <a:latin typeface="Comic Sans MS"/>
              </a:rPr>
              <a:t>S. japonicum</a:t>
            </a:r>
            <a:endParaRPr sz="1800">
              <a:latin typeface="Comic Sans MS"/>
            </a:endParaRPr>
          </a:p>
          <a:p>
            <a:pPr>
              <a:lnSpc>
                <a:spcPct val="80000"/>
              </a:lnSpc>
            </a:pPr>
            <a:r>
              <a:rPr sz="1800">
                <a:latin typeface="Comic Sans MS"/>
              </a:rPr>
              <a:t>S. </a:t>
            </a:r>
            <a:r>
              <a:rPr sz="1800">
                <a:latin typeface="Comic Sans MS"/>
              </a:rPr>
              <a:t>hematobium</a:t>
            </a:r>
            <a:endParaRPr sz="1800">
              <a:latin typeface="Comic Sans MS"/>
            </a:endParaRPr>
          </a:p>
          <a:p>
            <a:pPr>
              <a:lnSpc>
                <a:spcPct val="80000"/>
              </a:lnSpc>
            </a:pPr>
            <a:r>
              <a:rPr sz="1800">
                <a:latin typeface="Comic Sans MS"/>
              </a:rPr>
              <a:t>Fasciola hepatica (liver fluke)</a:t>
            </a:r>
            <a:endParaRPr sz="1800">
              <a:latin typeface="Comic Sans MS"/>
            </a:endParaRPr>
          </a:p>
          <a:p>
            <a:pPr>
              <a:lnSpc>
                <a:spcPct val="80000"/>
              </a:lnSpc>
            </a:pPr>
            <a:r>
              <a:rPr sz="1800">
                <a:latin typeface="Comic Sans MS"/>
              </a:rPr>
              <a:t>Clonorchis sinensis (liver fluke)</a:t>
            </a:r>
            <a:endParaRPr sz="1800">
              <a:latin typeface="Comic Sans MS"/>
            </a:endParaRPr>
          </a:p>
          <a:p>
            <a:pPr>
              <a:lnSpc>
                <a:spcPct val="80000"/>
              </a:lnSpc>
            </a:pPr>
            <a:r>
              <a:rPr sz="1800">
                <a:latin typeface="Comic Sans MS"/>
              </a:rPr>
              <a:t>Paragonimus</a:t>
            </a:r>
            <a:r>
              <a:rPr sz="1800">
                <a:latin typeface="Comic Sans MS"/>
              </a:rPr>
              <a:t> </a:t>
            </a:r>
            <a:r>
              <a:rPr sz="1800">
                <a:latin typeface="Comic Sans MS"/>
              </a:rPr>
              <a:t>westermani</a:t>
            </a:r>
            <a:r>
              <a:rPr sz="1800">
                <a:latin typeface="Comic Sans MS"/>
              </a:rPr>
              <a:t> (lung fluke)</a:t>
            </a:r>
            <a:endParaRPr sz="1800">
              <a:latin typeface="Comic Sans MS"/>
            </a:endParaRPr>
          </a:p>
          <a:p>
            <a:pPr>
              <a:lnSpc>
                <a:spcPct val="80000"/>
              </a:lnSpc>
            </a:pPr>
            <a:r>
              <a:rPr sz="1800">
                <a:latin typeface="Comic Sans MS"/>
              </a:rPr>
              <a:t>Fasciolopsis</a:t>
            </a:r>
            <a:r>
              <a:rPr sz="1800">
                <a:latin typeface="Comic Sans MS"/>
              </a:rPr>
              <a:t> </a:t>
            </a:r>
            <a:r>
              <a:rPr sz="1800">
                <a:latin typeface="Comic Sans MS"/>
              </a:rPr>
              <a:t>buski</a:t>
            </a:r>
            <a:r>
              <a:rPr sz="1800">
                <a:latin typeface="Comic Sans MS"/>
              </a:rPr>
              <a:t> (intestinal fluke)</a:t>
            </a:r>
            <a:endParaRPr sz="1800">
              <a:latin typeface="Comic Sans MS"/>
            </a:endParaRPr>
          </a:p>
          <a:p>
            <a:pPr>
              <a:lnSpc>
                <a:spcPct val="80000"/>
              </a:lnSpc>
            </a:pPr>
            <a:endParaRPr sz="1800">
              <a:latin typeface="Comic Sans MS"/>
            </a:endParaRPr>
          </a:p>
        </p:txBody>
      </p:sp>
      <p:sp>
        <p:nvSpPr>
          <p:cNvPr id="1049288" name="Text Box 4"/>
          <p:cNvSpPr txBox="1">
            <a:spLocks noChangeArrowheads="1"/>
          </p:cNvSpPr>
          <p:nvPr/>
        </p:nvSpPr>
        <p:spPr bwMode="auto">
          <a:xfrm>
            <a:off x="3505195" y="152404"/>
            <a:ext cx="3865564" cy="457200"/>
          </a:xfrm>
          <a:prstGeom prst="rect"/>
          <a:noFill/>
          <a:ln>
            <a:noFill/>
          </a:ln>
          <a:effectLst/>
        </p:spPr>
        <p:txBody>
          <a:bodyPr wrap="none">
            <a:spAutoFit/>
          </a:bodyPr>
          <a:p>
            <a:r>
              <a:rPr b="1" sz="2400">
                <a:solidFill>
                  <a:schemeClr val="accent2"/>
                </a:solidFill>
                <a:latin typeface="Comic Sans MS"/>
              </a:rPr>
              <a:t>COMMOM HELMINTHS </a:t>
            </a:r>
            <a:endParaRPr b="1" sz="2400">
              <a:solidFill>
                <a:schemeClr val="accent2"/>
              </a:solidFill>
              <a:latin typeface="Comic Sans MS"/>
            </a:endParaRPr>
          </a:p>
        </p:txBody>
      </p:sp>
    </p:spTree>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019" name=""/>
        <p:cNvGrpSpPr/>
        <p:nvPr/>
      </p:nvGrpSpPr>
      <p:grpSpPr>
        <a:xfrm>
          <a:off x="0" y="0"/>
          <a:ext cx="0" cy="0"/>
          <a:chOff x="0" y="0"/>
          <a:chExt cx="0" cy="0"/>
        </a:xfrm>
      </p:grpSpPr>
      <p:sp>
        <p:nvSpPr>
          <p:cNvPr id="1049292" name="Rectangle 2"/>
          <p:cNvSpPr>
            <a:spLocks noGrp="1" noChangeArrowheads="1"/>
          </p:cNvSpPr>
          <p:nvPr>
            <p:ph type="body" idx="1"/>
          </p:nvPr>
        </p:nvSpPr>
        <p:spPr>
          <a:xfrm>
            <a:off x="1419220" y="381004"/>
            <a:ext cx="8791570" cy="4924429"/>
          </a:xfrm>
        </p:spPr>
        <p:txBody>
          <a:bodyPr/>
          <a:p>
            <a:pPr algn="ctr">
              <a:lnSpc>
                <a:spcPct val="90000"/>
              </a:lnSpc>
              <a:buNone/>
            </a:pPr>
            <a:r>
              <a:rPr b="1">
                <a:solidFill>
                  <a:schemeClr val="accent2"/>
                </a:solidFill>
                <a:latin typeface="Comic Sans MS"/>
              </a:rPr>
              <a:t>ANTIHELMINTHICS</a:t>
            </a:r>
            <a:endParaRPr b="1">
              <a:solidFill>
                <a:schemeClr val="accent2"/>
              </a:solidFill>
              <a:latin typeface="Comic Sans MS"/>
            </a:endParaRPr>
          </a:p>
          <a:p>
            <a:pPr algn="ctr">
              <a:lnSpc>
                <a:spcPct val="90000"/>
              </a:lnSpc>
              <a:buNone/>
            </a:pPr>
            <a:endParaRPr b="1">
              <a:solidFill>
                <a:schemeClr val="accent2"/>
              </a:solidFill>
              <a:latin typeface="Comic Sans MS"/>
            </a:endParaRPr>
          </a:p>
          <a:p>
            <a:pPr>
              <a:lnSpc>
                <a:spcPct val="90000"/>
              </a:lnSpc>
              <a:buNone/>
            </a:pPr>
            <a:r>
              <a:rPr u="sng"/>
              <a:t>Basis</a:t>
            </a:r>
            <a:r>
              <a:t> – </a:t>
            </a:r>
            <a:r>
              <a:rPr b="1"/>
              <a:t>must penetrate the cuticle </a:t>
            </a:r>
            <a:r>
              <a:t>or get into the GIT</a:t>
            </a:r>
          </a:p>
          <a:p>
            <a:pPr>
              <a:lnSpc>
                <a:spcPct val="90000"/>
              </a:lnSpc>
              <a:buNone/>
            </a:pPr>
          </a:p>
          <a:p>
            <a:pPr>
              <a:lnSpc>
                <a:spcPct val="90000"/>
              </a:lnSpc>
              <a:buNone/>
            </a:pPr>
            <a:r>
              <a:rPr u="sng"/>
              <a:t>Act by</a:t>
            </a:r>
            <a:r>
              <a:t> </a:t>
            </a:r>
          </a:p>
          <a:p>
            <a:pPr>
              <a:lnSpc>
                <a:spcPct val="90000"/>
              </a:lnSpc>
              <a:buNone/>
            </a:pPr>
            <a:r>
              <a:rPr>
                <a:cs typeface="Arial"/>
              </a:rPr>
              <a:t>► </a:t>
            </a:r>
            <a:r>
              <a:t>causing paralysis (ejected by peristalsis or digested)</a:t>
            </a:r>
          </a:p>
          <a:p>
            <a:pPr>
              <a:lnSpc>
                <a:spcPct val="90000"/>
              </a:lnSpc>
              <a:buNone/>
            </a:pPr>
            <a:r>
              <a:rPr>
                <a:cs typeface="Arial"/>
              </a:rPr>
              <a:t>►</a:t>
            </a:r>
            <a:r>
              <a:t> damaging the cuticle (digested, attacked by immune system)</a:t>
            </a:r>
          </a:p>
          <a:p>
            <a:pPr>
              <a:lnSpc>
                <a:spcPct val="90000"/>
              </a:lnSpc>
              <a:buNone/>
            </a:pPr>
            <a:r>
              <a:rPr>
                <a:cs typeface="Arial"/>
              </a:rPr>
              <a:t>►</a:t>
            </a:r>
            <a:r>
              <a:t> interfering with metabolic processes e.g. lack energy</a:t>
            </a:r>
          </a:p>
        </p:txBody>
      </p:sp>
    </p:spTree>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022" name=""/>
        <p:cNvGrpSpPr/>
        <p:nvPr/>
      </p:nvGrpSpPr>
      <p:grpSpPr>
        <a:xfrm>
          <a:off x="0" y="0"/>
          <a:ext cx="0" cy="0"/>
          <a:chOff x="0" y="0"/>
          <a:chExt cx="0" cy="0"/>
        </a:xfrm>
      </p:grpSpPr>
      <p:sp>
        <p:nvSpPr>
          <p:cNvPr id="1049296" name="Rectangle 2"/>
          <p:cNvSpPr>
            <a:spLocks noGrp="1" noChangeArrowheads="1"/>
          </p:cNvSpPr>
          <p:nvPr>
            <p:ph type="body" idx="1"/>
          </p:nvPr>
        </p:nvSpPr>
        <p:spPr>
          <a:xfrm>
            <a:off x="723904" y="228600"/>
            <a:ext cx="10734670" cy="6476995"/>
          </a:xfrm>
        </p:spPr>
        <p:txBody>
          <a:bodyPr>
            <a:normAutofit/>
          </a:bodyPr>
          <a:p>
            <a:pPr algn="ctr">
              <a:lnSpc>
                <a:spcPct val="80000"/>
              </a:lnSpc>
              <a:buNone/>
            </a:pPr>
            <a:r>
              <a:rPr b="1" sz="1800">
                <a:solidFill>
                  <a:srgbClr val="CC0000"/>
                </a:solidFill>
                <a:latin typeface="Comic Sans MS"/>
              </a:rPr>
              <a:t>ANTIHELMITICS</a:t>
            </a:r>
            <a:endParaRPr b="1" sz="1800">
              <a:solidFill>
                <a:srgbClr val="CC0000"/>
              </a:solidFill>
              <a:latin typeface="Comic Sans MS"/>
            </a:endParaRPr>
          </a:p>
          <a:p>
            <a:pPr>
              <a:lnSpc>
                <a:spcPct val="80000"/>
              </a:lnSpc>
              <a:buNone/>
            </a:pPr>
            <a:r>
              <a:rPr sz="1900"/>
              <a:t>Most are parasite specific thus one has to be fairly definite about the parasite</a:t>
            </a:r>
            <a:endParaRPr sz="1900"/>
          </a:p>
          <a:p>
            <a:pPr>
              <a:lnSpc>
                <a:spcPct val="80000"/>
              </a:lnSpc>
              <a:buNone/>
            </a:pPr>
            <a:r>
              <a:rPr b="1" sz="1900"/>
              <a:t>1. BENZIMIDAZOLES</a:t>
            </a:r>
            <a:endParaRPr b="1" sz="1900"/>
          </a:p>
          <a:p>
            <a:pPr>
              <a:lnSpc>
                <a:spcPct val="80000"/>
              </a:lnSpc>
              <a:buNone/>
            </a:pPr>
            <a:r>
              <a:rPr sz="1900"/>
              <a:t>	E.g. </a:t>
            </a:r>
            <a:r>
              <a:rPr sz="1900">
                <a:solidFill>
                  <a:srgbClr val="CC0000"/>
                </a:solidFill>
              </a:rPr>
              <a:t>Albendazole, mebendazole, thiabendazole</a:t>
            </a:r>
            <a:endParaRPr sz="1900">
              <a:solidFill>
                <a:srgbClr val="CC0000"/>
              </a:solidFill>
            </a:endParaRPr>
          </a:p>
          <a:p>
            <a:pPr>
              <a:lnSpc>
                <a:spcPct val="80000"/>
              </a:lnSpc>
              <a:buNone/>
            </a:pPr>
            <a:r>
              <a:rPr sz="1900" u="sng"/>
              <a:t>Spectrum</a:t>
            </a:r>
            <a:r>
              <a:rPr sz="1900"/>
              <a:t>: broad</a:t>
            </a:r>
            <a:endParaRPr sz="1900"/>
          </a:p>
          <a:p>
            <a:pPr>
              <a:lnSpc>
                <a:spcPct val="80000"/>
              </a:lnSpc>
              <a:buNone/>
            </a:pPr>
            <a:r>
              <a:rPr sz="1900" u="sng"/>
              <a:t>Mxn</a:t>
            </a:r>
            <a:r>
              <a:rPr sz="1900"/>
              <a:t>: inhibit microtubule syn and glucose uptake; effect develops slowly,- parasite immobilized </a:t>
            </a:r>
            <a:endParaRPr sz="1900"/>
          </a:p>
          <a:p>
            <a:pPr>
              <a:lnSpc>
                <a:spcPct val="80000"/>
              </a:lnSpc>
              <a:buNone/>
            </a:pPr>
            <a:r>
              <a:rPr sz="1900" u="sng"/>
              <a:t>Adm</a:t>
            </a:r>
            <a:r>
              <a:rPr sz="1900"/>
              <a:t>:  oral </a:t>
            </a:r>
            <a:endParaRPr sz="1900"/>
          </a:p>
          <a:p>
            <a:pPr>
              <a:lnSpc>
                <a:spcPct val="80000"/>
              </a:lnSpc>
              <a:buNone/>
            </a:pPr>
            <a:r>
              <a:rPr sz="1900"/>
              <a:t>Abs: minimal for Meb and Alb (empty stomach, Fatty meals increase), rapid for </a:t>
            </a:r>
            <a:r>
              <a:rPr sz="1900"/>
              <a:t>Thia</a:t>
            </a:r>
            <a:r>
              <a:rPr sz="1900"/>
              <a:t>. </a:t>
            </a:r>
            <a:endParaRPr sz="1900"/>
          </a:p>
          <a:p>
            <a:pPr>
              <a:lnSpc>
                <a:spcPct val="80000"/>
              </a:lnSpc>
              <a:buNone/>
            </a:pPr>
            <a:r>
              <a:rPr sz="1900" u="sng"/>
              <a:t>Distribution</a:t>
            </a:r>
            <a:r>
              <a:rPr sz="1900"/>
              <a:t>: plasma conc. of albendazole is x100 that of mebendazole</a:t>
            </a:r>
            <a:endParaRPr sz="1900"/>
          </a:p>
          <a:p>
            <a:pPr>
              <a:lnSpc>
                <a:spcPct val="80000"/>
              </a:lnSpc>
              <a:buNone/>
            </a:pPr>
            <a:r>
              <a:rPr sz="1900" u="sng"/>
              <a:t>Elimination</a:t>
            </a:r>
            <a:r>
              <a:rPr sz="1900"/>
              <a:t>: rapid metabolism (conjugation)</a:t>
            </a:r>
            <a:endParaRPr sz="1900"/>
          </a:p>
          <a:p>
            <a:pPr lvl="1">
              <a:lnSpc>
                <a:spcPct val="80000"/>
              </a:lnSpc>
              <a:buNone/>
            </a:pPr>
            <a:r>
              <a:rPr sz="1900"/>
              <a:t>Biliary and renal excretion of products</a:t>
            </a:r>
            <a:endParaRPr sz="1900"/>
          </a:p>
          <a:p>
            <a:pPr>
              <a:lnSpc>
                <a:spcPct val="80000"/>
              </a:lnSpc>
              <a:buNone/>
            </a:pPr>
            <a:r>
              <a:rPr sz="1900" u="sng"/>
              <a:t>S/E</a:t>
            </a:r>
            <a:r>
              <a:rPr sz="1900"/>
              <a:t> (Short &amp; long term)</a:t>
            </a:r>
            <a:endParaRPr sz="1900"/>
          </a:p>
          <a:p>
            <a:pPr>
              <a:lnSpc>
                <a:spcPct val="80000"/>
              </a:lnSpc>
              <a:buNone/>
            </a:pPr>
            <a:r>
              <a:rPr sz="1900"/>
              <a:t>	-GIT irritation</a:t>
            </a:r>
            <a:endParaRPr sz="1900"/>
          </a:p>
          <a:p>
            <a:pPr>
              <a:lnSpc>
                <a:spcPct val="80000"/>
              </a:lnSpc>
              <a:buNone/>
            </a:pPr>
            <a:r>
              <a:rPr sz="1900"/>
              <a:t>	-Rash </a:t>
            </a:r>
            <a:endParaRPr sz="1900"/>
          </a:p>
          <a:p>
            <a:pPr>
              <a:lnSpc>
                <a:spcPct val="80000"/>
              </a:lnSpc>
              <a:buNone/>
            </a:pPr>
            <a:r>
              <a:rPr sz="1900"/>
              <a:t>	-</a:t>
            </a:r>
            <a:r>
              <a:rPr sz="1900">
                <a:solidFill>
                  <a:srgbClr val="FF0000"/>
                </a:solidFill>
              </a:rPr>
              <a:t>Teratogenic and embryotoxic in animals (</a:t>
            </a:r>
            <a:r>
              <a:rPr sz="1900" u="sng">
                <a:solidFill>
                  <a:srgbClr val="FF0000"/>
                </a:solidFill>
              </a:rPr>
              <a:t>best</a:t>
            </a:r>
            <a:r>
              <a:rPr sz="1900">
                <a:solidFill>
                  <a:srgbClr val="FF0000"/>
                </a:solidFill>
              </a:rPr>
              <a:t> avoided in pregnancy)</a:t>
            </a:r>
            <a:endParaRPr sz="1900">
              <a:solidFill>
                <a:srgbClr val="FF0000"/>
              </a:solidFill>
            </a:endParaRPr>
          </a:p>
          <a:p>
            <a:pPr>
              <a:lnSpc>
                <a:spcPct val="80000"/>
              </a:lnSpc>
              <a:buNone/>
            </a:pPr>
            <a:r>
              <a:rPr sz="1900"/>
              <a:t>	-More toxic effects w/ </a:t>
            </a:r>
            <a:r>
              <a:rPr sz="1900"/>
              <a:t>Thia</a:t>
            </a:r>
            <a:r>
              <a:rPr sz="1900"/>
              <a:t> (CNS disturbance, hypotension, erythema multiforme, Steven Johnsons syndrome, dizziness, GIT) </a:t>
            </a:r>
            <a:endParaRPr sz="1900"/>
          </a:p>
          <a:p>
            <a:pPr>
              <a:lnSpc>
                <a:spcPct val="80000"/>
              </a:lnSpc>
              <a:buNone/>
            </a:pPr>
            <a:r>
              <a:rPr sz="1900"/>
              <a:t>Long term Albendazole-alopecia, leucopenia, eosinophilia, pruritus</a:t>
            </a:r>
            <a:endParaRPr sz="1900"/>
          </a:p>
          <a:p>
            <a:pPr>
              <a:lnSpc>
                <a:spcPct val="80000"/>
              </a:lnSpc>
              <a:buNone/>
            </a:pPr>
            <a:r>
              <a:rPr sz="1900" u="sng"/>
              <a:t>Uses</a:t>
            </a:r>
            <a:endParaRPr sz="1900" u="sng"/>
          </a:p>
          <a:p>
            <a:pPr>
              <a:lnSpc>
                <a:spcPct val="80000"/>
              </a:lnSpc>
              <a:buNone/>
            </a:pPr>
            <a:r>
              <a:rPr sz="1900"/>
              <a:t>	-Mebendazole: Hook, round, pin, whipworms</a:t>
            </a:r>
            <a:endParaRPr sz="1900"/>
          </a:p>
          <a:p>
            <a:pPr>
              <a:lnSpc>
                <a:spcPct val="80000"/>
              </a:lnSpc>
              <a:buNone/>
            </a:pPr>
            <a:r>
              <a:rPr sz="1900"/>
              <a:t>	-</a:t>
            </a:r>
            <a:r>
              <a:rPr sz="1900"/>
              <a:t>Thia</a:t>
            </a:r>
            <a:r>
              <a:rPr sz="1900"/>
              <a:t> – strongyloidiasis, cutaneous larva </a:t>
            </a:r>
            <a:r>
              <a:rPr sz="1900"/>
              <a:t>migrans</a:t>
            </a:r>
            <a:endParaRPr sz="1900"/>
          </a:p>
        </p:txBody>
      </p:sp>
    </p:spTree>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023" name=""/>
        <p:cNvGrpSpPr/>
        <p:nvPr/>
      </p:nvGrpSpPr>
      <p:grpSpPr>
        <a:xfrm>
          <a:off x="0" y="0"/>
          <a:ext cx="0" cy="0"/>
          <a:chOff x="0" y="0"/>
          <a:chExt cx="0" cy="0"/>
        </a:xfrm>
      </p:grpSpPr>
      <p:sp>
        <p:nvSpPr>
          <p:cNvPr id="1049297" name="Rectangle 2"/>
          <p:cNvSpPr>
            <a:spLocks noGrp="1" noChangeArrowheads="1"/>
          </p:cNvSpPr>
          <p:nvPr>
            <p:ph type="body" idx="1"/>
          </p:nvPr>
        </p:nvSpPr>
        <p:spPr>
          <a:xfrm>
            <a:off x="914400" y="152404"/>
            <a:ext cx="10144125" cy="6553204"/>
          </a:xfrm>
        </p:spPr>
        <p:txBody>
          <a:bodyPr>
            <a:normAutofit/>
          </a:bodyPr>
          <a:p>
            <a:pPr>
              <a:lnSpc>
                <a:spcPct val="80000"/>
              </a:lnSpc>
              <a:buNone/>
            </a:pPr>
            <a:r>
              <a:rPr sz="2000" u="sng"/>
              <a:t>Uses of albendazole</a:t>
            </a:r>
            <a:endParaRPr sz="2000" u="sng"/>
          </a:p>
          <a:p>
            <a:pPr>
              <a:lnSpc>
                <a:spcPct val="80000"/>
              </a:lnSpc>
              <a:buNone/>
            </a:pPr>
            <a:r>
              <a:rPr sz="2000"/>
              <a:t>	1. Intestinal Nematode infestation</a:t>
            </a:r>
            <a:endParaRPr sz="2000"/>
          </a:p>
          <a:p>
            <a:pPr>
              <a:lnSpc>
                <a:spcPct val="80000"/>
              </a:lnSpc>
              <a:buNone/>
            </a:pPr>
            <a:r>
              <a:rPr sz="2000"/>
              <a:t>	-Hookworm </a:t>
            </a:r>
            <a:endParaRPr sz="2000"/>
          </a:p>
          <a:p>
            <a:pPr>
              <a:lnSpc>
                <a:spcPct val="80000"/>
              </a:lnSpc>
              <a:buNone/>
            </a:pPr>
            <a:r>
              <a:rPr sz="2000"/>
              <a:t>	-Round worms </a:t>
            </a:r>
            <a:endParaRPr sz="2000"/>
          </a:p>
          <a:p>
            <a:pPr>
              <a:lnSpc>
                <a:spcPct val="80000"/>
              </a:lnSpc>
              <a:buNone/>
            </a:pPr>
            <a:r>
              <a:rPr sz="2000"/>
              <a:t>	-Pin/Threadworm</a:t>
            </a:r>
            <a:endParaRPr sz="2000"/>
          </a:p>
          <a:p>
            <a:pPr>
              <a:lnSpc>
                <a:spcPct val="80000"/>
              </a:lnSpc>
              <a:buNone/>
            </a:pPr>
            <a:r>
              <a:rPr sz="2000"/>
              <a:t>	-Whipworm</a:t>
            </a:r>
            <a:endParaRPr sz="2000"/>
          </a:p>
          <a:p>
            <a:pPr>
              <a:lnSpc>
                <a:spcPct val="80000"/>
              </a:lnSpc>
              <a:buNone/>
            </a:pPr>
            <a:r>
              <a:rPr sz="2000"/>
              <a:t>	-Threadworm - moderately effective NB. objective to cure to prevent autoinfection</a:t>
            </a:r>
            <a:endParaRPr sz="2000"/>
          </a:p>
          <a:p>
            <a:pPr>
              <a:lnSpc>
                <a:spcPct val="80000"/>
              </a:lnSpc>
              <a:buNone/>
            </a:pPr>
            <a:r>
              <a:rPr sz="2000"/>
              <a:t>	</a:t>
            </a:r>
            <a:endParaRPr sz="2000"/>
          </a:p>
          <a:p>
            <a:pPr>
              <a:lnSpc>
                <a:spcPct val="80000"/>
              </a:lnSpc>
              <a:buNone/>
            </a:pPr>
            <a:r>
              <a:rPr sz="2000"/>
              <a:t>2. Hydatid disease – DOC, Rx (long- 3 months) and pre &amp; post surgery Rx; (+ praziquantel) </a:t>
            </a:r>
            <a:endParaRPr sz="2000"/>
          </a:p>
          <a:p>
            <a:pPr>
              <a:lnSpc>
                <a:spcPct val="80000"/>
              </a:lnSpc>
              <a:buNone/>
            </a:pPr>
            <a:r>
              <a:rPr sz="2000"/>
              <a:t>	</a:t>
            </a:r>
            <a:endParaRPr sz="2000"/>
          </a:p>
          <a:p>
            <a:pPr>
              <a:lnSpc>
                <a:spcPct val="80000"/>
              </a:lnSpc>
              <a:buNone/>
            </a:pPr>
            <a:r>
              <a:rPr sz="2000"/>
              <a:t>3. Neurocysticercosis – DOC (preferred to surgery)(co-</a:t>
            </a:r>
            <a:r>
              <a:rPr sz="2000"/>
              <a:t>adm</a:t>
            </a:r>
            <a:r>
              <a:rPr sz="2000"/>
              <a:t> w/ a steroid), steroids increase abs for albendazole </a:t>
            </a:r>
            <a:endParaRPr sz="2000"/>
          </a:p>
          <a:p>
            <a:pPr>
              <a:lnSpc>
                <a:spcPct val="80000"/>
              </a:lnSpc>
              <a:buNone/>
            </a:pPr>
            <a:r>
              <a:rPr sz="2000"/>
              <a:t>	(albendazole is C/I in the acute phase of </a:t>
            </a:r>
            <a:r>
              <a:rPr sz="2000"/>
              <a:t>cysticercotic</a:t>
            </a:r>
            <a:r>
              <a:rPr sz="2000"/>
              <a:t> encephalitis – where steroids should be used)</a:t>
            </a:r>
            <a:endParaRPr sz="2000"/>
          </a:p>
          <a:p>
            <a:pPr>
              <a:lnSpc>
                <a:spcPct val="80000"/>
              </a:lnSpc>
              <a:buNone/>
            </a:pPr>
            <a:r>
              <a:rPr sz="2000"/>
              <a:t>	</a:t>
            </a:r>
            <a:endParaRPr sz="2000"/>
          </a:p>
          <a:p>
            <a:pPr>
              <a:lnSpc>
                <a:spcPct val="80000"/>
              </a:lnSpc>
              <a:buNone/>
            </a:pPr>
            <a:r>
              <a:rPr sz="2000"/>
              <a:t>4. Cutaneous  larva </a:t>
            </a:r>
            <a:r>
              <a:rPr sz="2000"/>
              <a:t>migrans</a:t>
            </a:r>
            <a:r>
              <a:rPr sz="2000"/>
              <a:t> (DOC)</a:t>
            </a:r>
            <a:endParaRPr sz="2000"/>
          </a:p>
          <a:p>
            <a:pPr>
              <a:lnSpc>
                <a:spcPct val="80000"/>
              </a:lnSpc>
              <a:buNone/>
            </a:pPr>
            <a:endParaRPr sz="2000"/>
          </a:p>
          <a:p>
            <a:pPr>
              <a:lnSpc>
                <a:spcPct val="80000"/>
              </a:lnSpc>
              <a:buNone/>
            </a:pPr>
            <a:r>
              <a:rPr sz="2000"/>
              <a:t>5. Others -	Trichinosis</a:t>
            </a:r>
            <a:endParaRPr sz="2000"/>
          </a:p>
          <a:p>
            <a:pPr>
              <a:lnSpc>
                <a:spcPct val="80000"/>
              </a:lnSpc>
              <a:buNone/>
            </a:pPr>
            <a:r>
              <a:rPr sz="2000"/>
              <a:t>			Toxocariasis</a:t>
            </a:r>
            <a:endParaRPr sz="2000"/>
          </a:p>
          <a:p>
            <a:pPr>
              <a:lnSpc>
                <a:spcPct val="80000"/>
              </a:lnSpc>
              <a:buNone/>
            </a:pPr>
            <a:r>
              <a:rPr sz="2000"/>
              <a:t>			</a:t>
            </a:r>
            <a:r>
              <a:rPr sz="2000"/>
              <a:t>Loiasis</a:t>
            </a:r>
            <a:endParaRPr sz="2000"/>
          </a:p>
        </p:txBody>
      </p:sp>
    </p:spTree>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024" name=""/>
        <p:cNvGrpSpPr/>
        <p:nvPr/>
      </p:nvGrpSpPr>
      <p:grpSpPr>
        <a:xfrm>
          <a:off x="0" y="0"/>
          <a:ext cx="0" cy="0"/>
          <a:chOff x="0" y="0"/>
          <a:chExt cx="0" cy="0"/>
        </a:xfrm>
      </p:grpSpPr>
      <p:sp>
        <p:nvSpPr>
          <p:cNvPr id="1049298" name="Rectangle 2"/>
          <p:cNvSpPr>
            <a:spLocks noGrp="1" noChangeArrowheads="1"/>
          </p:cNvSpPr>
          <p:nvPr>
            <p:ph type="body" idx="1"/>
          </p:nvPr>
        </p:nvSpPr>
        <p:spPr>
          <a:xfrm>
            <a:off x="761995" y="304795"/>
            <a:ext cx="10296529" cy="6324604"/>
          </a:xfrm>
        </p:spPr>
        <p:txBody>
          <a:bodyPr>
            <a:normAutofit/>
          </a:bodyPr>
          <a:p>
            <a:pPr>
              <a:lnSpc>
                <a:spcPct val="80000"/>
              </a:lnSpc>
              <a:buNone/>
            </a:pPr>
            <a:r>
              <a:rPr b="1" sz="3200">
                <a:solidFill>
                  <a:srgbClr val="CC0000"/>
                </a:solidFill>
              </a:rPr>
              <a:t>2. LEVAMISOLE</a:t>
            </a:r>
            <a:endParaRPr b="1" sz="3200">
              <a:solidFill>
                <a:srgbClr val="CC0000"/>
              </a:solidFill>
            </a:endParaRPr>
          </a:p>
          <a:p>
            <a:pPr>
              <a:lnSpc>
                <a:spcPct val="80000"/>
              </a:lnSpc>
              <a:buNone/>
            </a:pPr>
            <a:r>
              <a:rPr sz="3200" u="sng"/>
              <a:t>Mxn</a:t>
            </a:r>
            <a:r>
              <a:rPr sz="3200"/>
              <a:t>: Nicotinic action - continuous stimulation of muscle leading to blockage and  paralysis and expulsion </a:t>
            </a:r>
            <a:endParaRPr sz="3200"/>
          </a:p>
          <a:p>
            <a:pPr>
              <a:lnSpc>
                <a:spcPct val="80000"/>
              </a:lnSpc>
              <a:buNone/>
            </a:pPr>
            <a:r>
              <a:rPr sz="3200" u="sng"/>
              <a:t>Adm</a:t>
            </a:r>
            <a:r>
              <a:rPr sz="3200"/>
              <a:t>: oral</a:t>
            </a:r>
            <a:endParaRPr sz="3200"/>
          </a:p>
          <a:p>
            <a:pPr>
              <a:lnSpc>
                <a:spcPct val="80000"/>
              </a:lnSpc>
              <a:buNone/>
            </a:pPr>
            <a:r>
              <a:rPr sz="3200" u="sng"/>
              <a:t>Abs</a:t>
            </a:r>
            <a:r>
              <a:rPr sz="3200"/>
              <a:t>: rapid</a:t>
            </a:r>
            <a:endParaRPr sz="3200"/>
          </a:p>
          <a:p>
            <a:pPr>
              <a:lnSpc>
                <a:spcPct val="80000"/>
              </a:lnSpc>
              <a:buNone/>
            </a:pPr>
            <a:r>
              <a:rPr sz="3200" u="sng"/>
              <a:t>Distribution</a:t>
            </a:r>
            <a:r>
              <a:rPr sz="3200"/>
              <a:t>: wide including CSF</a:t>
            </a:r>
            <a:endParaRPr sz="3200"/>
          </a:p>
          <a:p>
            <a:pPr>
              <a:lnSpc>
                <a:spcPct val="80000"/>
              </a:lnSpc>
              <a:buNone/>
            </a:pPr>
            <a:r>
              <a:rPr sz="3200" u="sng"/>
              <a:t>Elimination</a:t>
            </a:r>
            <a:r>
              <a:rPr sz="3200"/>
              <a:t>: metabolized (to inactive </a:t>
            </a:r>
            <a:r>
              <a:rPr sz="3200"/>
              <a:t>cpds</a:t>
            </a:r>
            <a:r>
              <a:rPr sz="3200"/>
              <a:t>) renal elimination</a:t>
            </a:r>
            <a:endParaRPr sz="3200"/>
          </a:p>
          <a:p>
            <a:pPr>
              <a:lnSpc>
                <a:spcPct val="80000"/>
              </a:lnSpc>
              <a:buNone/>
            </a:pPr>
            <a:r>
              <a:rPr sz="3200" u="sng"/>
              <a:t>S/E (</a:t>
            </a:r>
            <a:r>
              <a:rPr sz="3200"/>
              <a:t>Few w/ single doses)   </a:t>
            </a:r>
            <a:endParaRPr sz="3200"/>
          </a:p>
          <a:p>
            <a:pPr>
              <a:lnSpc>
                <a:spcPct val="80000"/>
              </a:lnSpc>
              <a:buNone/>
            </a:pPr>
            <a:r>
              <a:rPr sz="3200">
                <a:cs typeface="Arial"/>
              </a:rPr>
              <a:t>	♦ </a:t>
            </a:r>
            <a:r>
              <a:rPr sz="3200"/>
              <a:t>GIT irritation</a:t>
            </a:r>
            <a:endParaRPr sz="3200"/>
          </a:p>
          <a:p>
            <a:pPr>
              <a:lnSpc>
                <a:spcPct val="80000"/>
              </a:lnSpc>
              <a:buNone/>
            </a:pPr>
            <a:r>
              <a:rPr sz="3200">
                <a:cs typeface="Arial"/>
              </a:rPr>
              <a:t>	♦ </a:t>
            </a:r>
            <a:r>
              <a:rPr sz="3200" u="sng"/>
              <a:t>High conc.</a:t>
            </a:r>
            <a:r>
              <a:rPr sz="3200"/>
              <a:t> – nicotinic effects on mammalian autonomic ganglia</a:t>
            </a:r>
            <a:endParaRPr sz="3200"/>
          </a:p>
          <a:p>
            <a:pPr>
              <a:lnSpc>
                <a:spcPct val="80000"/>
              </a:lnSpc>
              <a:buNone/>
            </a:pPr>
            <a:r>
              <a:rPr sz="3200" u="sng"/>
              <a:t>Uses</a:t>
            </a:r>
            <a:r>
              <a:rPr sz="3200"/>
              <a:t>: Round worms</a:t>
            </a:r>
            <a:endParaRPr sz="3200"/>
          </a:p>
          <a:p>
            <a:pPr>
              <a:lnSpc>
                <a:spcPct val="80000"/>
              </a:lnSpc>
              <a:buNone/>
            </a:pPr>
            <a:endParaRPr sz="1800"/>
          </a:p>
          <a:p>
            <a:pPr>
              <a:lnSpc>
                <a:spcPct val="80000"/>
              </a:lnSpc>
              <a:buNone/>
            </a:pPr>
            <a:endParaRPr sz="1800"/>
          </a:p>
          <a:p>
            <a:pPr>
              <a:lnSpc>
                <a:spcPct val="80000"/>
              </a:lnSpc>
              <a:buNone/>
            </a:pPr>
            <a:endParaRPr sz="1800"/>
          </a:p>
        </p:txBody>
      </p:sp>
    </p:spTree>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025" name=""/>
        <p:cNvGrpSpPr/>
        <p:nvPr/>
      </p:nvGrpSpPr>
      <p:grpSpPr>
        <a:xfrm>
          <a:off x="0" y="0"/>
          <a:ext cx="0" cy="0"/>
          <a:chOff x="0" y="0"/>
          <a:chExt cx="0" cy="0"/>
        </a:xfrm>
      </p:grpSpPr>
      <p:sp>
        <p:nvSpPr>
          <p:cNvPr id="1049299" name="Title 1"/>
          <p:cNvSpPr>
            <a:spLocks noGrp="1"/>
          </p:cNvSpPr>
          <p:nvPr>
            <p:ph type="title"/>
          </p:nvPr>
        </p:nvSpPr>
        <p:spPr>
          <a:xfrm>
            <a:off x="838204" y="365126"/>
            <a:ext cx="10515600" cy="1149348"/>
          </a:xfrm>
        </p:spPr>
        <p:txBody>
          <a:bodyPr/>
          <a:p>
            <a:r>
              <a:rPr b="1">
                <a:solidFill>
                  <a:srgbClr val="CC0000"/>
                </a:solidFill>
              </a:rPr>
              <a:t>3. PYRANTEL PAMOATE</a:t>
            </a:r>
          </a:p>
        </p:txBody>
      </p:sp>
      <p:sp>
        <p:nvSpPr>
          <p:cNvPr id="1049300" name="Content Placeholder 2"/>
          <p:cNvSpPr>
            <a:spLocks noGrp="1"/>
          </p:cNvSpPr>
          <p:nvPr>
            <p:ph idx="1"/>
          </p:nvPr>
        </p:nvSpPr>
        <p:spPr/>
        <p:txBody>
          <a:bodyPr>
            <a:normAutofit/>
          </a:bodyPr>
          <a:p>
            <a:pPr>
              <a:lnSpc>
                <a:spcPct val="80000"/>
              </a:lnSpc>
              <a:buNone/>
            </a:pPr>
            <a:r>
              <a:rPr sz="2800" u="sng"/>
              <a:t>Mxn</a:t>
            </a:r>
            <a:r>
              <a:rPr sz="2800"/>
              <a:t>: Depolarizing NMJ blocker, immobilizes parasite </a:t>
            </a:r>
            <a:endParaRPr sz="2800"/>
          </a:p>
          <a:p>
            <a:pPr>
              <a:lnSpc>
                <a:spcPct val="80000"/>
              </a:lnSpc>
              <a:buNone/>
            </a:pPr>
            <a:r>
              <a:rPr sz="2800" u="sng"/>
              <a:t>Adm</a:t>
            </a:r>
            <a:r>
              <a:rPr sz="2800"/>
              <a:t>: oral</a:t>
            </a:r>
            <a:endParaRPr sz="2800"/>
          </a:p>
          <a:p>
            <a:pPr>
              <a:lnSpc>
                <a:spcPct val="80000"/>
              </a:lnSpc>
              <a:buNone/>
            </a:pPr>
            <a:r>
              <a:rPr sz="2800" u="sng"/>
              <a:t>Abs</a:t>
            </a:r>
            <a:r>
              <a:rPr sz="2800"/>
              <a:t>: </a:t>
            </a:r>
            <a:r>
              <a:rPr sz="2800">
                <a:solidFill>
                  <a:srgbClr val="FF0000"/>
                </a:solidFill>
              </a:rPr>
              <a:t>poor</a:t>
            </a:r>
            <a:r>
              <a:rPr sz="2800"/>
              <a:t> (intestinally active)</a:t>
            </a:r>
            <a:endParaRPr sz="2800"/>
          </a:p>
          <a:p>
            <a:pPr>
              <a:lnSpc>
                <a:spcPct val="80000"/>
              </a:lnSpc>
              <a:buNone/>
            </a:pPr>
            <a:r>
              <a:rPr sz="2800" u="sng"/>
              <a:t>S/E</a:t>
            </a:r>
            <a:endParaRPr sz="2800" u="sng"/>
          </a:p>
          <a:p>
            <a:pPr>
              <a:lnSpc>
                <a:spcPct val="80000"/>
              </a:lnSpc>
              <a:buNone/>
            </a:pPr>
            <a:r>
              <a:rPr sz="2800">
                <a:cs typeface="Arial"/>
              </a:rPr>
              <a:t>♦ </a:t>
            </a:r>
            <a:r>
              <a:rPr sz="2800"/>
              <a:t>GIT irritation (nausea, vomiting, diarrhea)</a:t>
            </a:r>
            <a:endParaRPr sz="2800"/>
          </a:p>
          <a:p>
            <a:pPr>
              <a:lnSpc>
                <a:spcPct val="80000"/>
              </a:lnSpc>
              <a:buNone/>
            </a:pPr>
            <a:r>
              <a:rPr sz="2800">
                <a:cs typeface="Arial"/>
              </a:rPr>
              <a:t>♦ </a:t>
            </a:r>
            <a:r>
              <a:rPr sz="2800"/>
              <a:t>Mild CNS –headache, insomnia, drowsiness </a:t>
            </a:r>
            <a:endParaRPr sz="2800"/>
          </a:p>
          <a:p>
            <a:pPr>
              <a:lnSpc>
                <a:spcPct val="80000"/>
              </a:lnSpc>
              <a:buNone/>
            </a:pPr>
            <a:endParaRPr sz="2800" u="sng"/>
          </a:p>
          <a:p>
            <a:pPr>
              <a:lnSpc>
                <a:spcPct val="80000"/>
              </a:lnSpc>
              <a:buNone/>
            </a:pPr>
            <a:r>
              <a:rPr sz="2800" u="sng"/>
              <a:t>Uses</a:t>
            </a:r>
            <a:r>
              <a:rPr sz="2800"/>
              <a:t>:</a:t>
            </a:r>
            <a:endParaRPr sz="2800"/>
          </a:p>
          <a:p>
            <a:pPr>
              <a:lnSpc>
                <a:spcPct val="80000"/>
              </a:lnSpc>
              <a:buNone/>
            </a:pPr>
            <a:r>
              <a:rPr sz="2800"/>
              <a:t>1. Hook, round, pin worms</a:t>
            </a:r>
          </a:p>
        </p:txBody>
      </p:sp>
    </p:spTree>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026" name=""/>
        <p:cNvGrpSpPr/>
        <p:nvPr/>
      </p:nvGrpSpPr>
      <p:grpSpPr>
        <a:xfrm>
          <a:off x="0" y="0"/>
          <a:ext cx="0" cy="0"/>
          <a:chOff x="0" y="0"/>
          <a:chExt cx="0" cy="0"/>
        </a:xfrm>
      </p:grpSpPr>
      <p:sp>
        <p:nvSpPr>
          <p:cNvPr id="1049301" name="Rectangle 2"/>
          <p:cNvSpPr>
            <a:spLocks noGrp="1" noChangeArrowheads="1"/>
          </p:cNvSpPr>
          <p:nvPr>
            <p:ph type="body" idx="1"/>
          </p:nvPr>
        </p:nvSpPr>
        <p:spPr>
          <a:xfrm>
            <a:off x="609604" y="304795"/>
            <a:ext cx="10772775" cy="6400800"/>
          </a:xfrm>
        </p:spPr>
        <p:txBody>
          <a:bodyPr>
            <a:normAutofit lnSpcReduction="10000"/>
          </a:bodyPr>
          <a:p>
            <a:pPr>
              <a:lnSpc>
                <a:spcPct val="80000"/>
              </a:lnSpc>
              <a:buNone/>
            </a:pPr>
            <a:r>
              <a:rPr sz="2000">
                <a:solidFill>
                  <a:srgbClr val="CC0000"/>
                </a:solidFill>
              </a:rPr>
              <a:t>4. PIPERAZINE</a:t>
            </a:r>
            <a:endParaRPr sz="2000"/>
          </a:p>
          <a:p>
            <a:pPr>
              <a:lnSpc>
                <a:spcPct val="80000"/>
              </a:lnSpc>
              <a:buNone/>
            </a:pPr>
            <a:r>
              <a:rPr sz="2000" u="sng"/>
              <a:t>Mxn</a:t>
            </a:r>
            <a:r>
              <a:rPr sz="2000"/>
              <a:t>: inhibitor of neuromuscular transmission – Blocks Acetylcholine at NMJ in nematode muscle- paralyzes parasite</a:t>
            </a:r>
            <a:endParaRPr sz="2000"/>
          </a:p>
          <a:p>
            <a:pPr>
              <a:lnSpc>
                <a:spcPct val="80000"/>
              </a:lnSpc>
              <a:buNone/>
            </a:pPr>
            <a:r>
              <a:rPr sz="2000" u="sng"/>
              <a:t>Adm</a:t>
            </a:r>
            <a:r>
              <a:rPr sz="2000"/>
              <a:t>: oral </a:t>
            </a:r>
            <a:endParaRPr sz="2000"/>
          </a:p>
          <a:p>
            <a:pPr>
              <a:lnSpc>
                <a:spcPct val="80000"/>
              </a:lnSpc>
              <a:buNone/>
            </a:pPr>
            <a:r>
              <a:rPr sz="2000" u="sng"/>
              <a:t>Abs</a:t>
            </a:r>
            <a:r>
              <a:rPr sz="2000"/>
              <a:t>: moderate</a:t>
            </a:r>
            <a:endParaRPr sz="2000"/>
          </a:p>
          <a:p>
            <a:pPr>
              <a:lnSpc>
                <a:spcPct val="80000"/>
              </a:lnSpc>
              <a:buNone/>
            </a:pPr>
            <a:r>
              <a:rPr sz="2000" u="sng"/>
              <a:t>Elimination</a:t>
            </a:r>
            <a:r>
              <a:rPr sz="2000"/>
              <a:t>: part metabolized, part renal excretion</a:t>
            </a:r>
            <a:endParaRPr sz="2000"/>
          </a:p>
          <a:p>
            <a:pPr>
              <a:lnSpc>
                <a:spcPct val="80000"/>
              </a:lnSpc>
              <a:buNone/>
            </a:pPr>
            <a:r>
              <a:rPr sz="2000" u="sng"/>
              <a:t>S/E</a:t>
            </a:r>
            <a:r>
              <a:rPr sz="2000"/>
              <a:t> </a:t>
            </a:r>
            <a:endParaRPr sz="2000"/>
          </a:p>
          <a:p>
            <a:pPr>
              <a:lnSpc>
                <a:spcPct val="80000"/>
              </a:lnSpc>
              <a:buNone/>
            </a:pPr>
            <a:r>
              <a:rPr sz="2000"/>
              <a:t>	-GIT disturbance</a:t>
            </a:r>
            <a:endParaRPr sz="2000"/>
          </a:p>
          <a:p>
            <a:pPr>
              <a:lnSpc>
                <a:spcPct val="80000"/>
              </a:lnSpc>
              <a:buNone/>
            </a:pPr>
            <a:r>
              <a:rPr sz="2000"/>
              <a:t>	-Allergic </a:t>
            </a:r>
            <a:r>
              <a:rPr sz="2000"/>
              <a:t>rxns</a:t>
            </a:r>
            <a:r>
              <a:rPr sz="2000"/>
              <a:t>: Urticaria, fever, bronchospasm,</a:t>
            </a:r>
            <a:endParaRPr sz="2000"/>
          </a:p>
          <a:p>
            <a:pPr>
              <a:lnSpc>
                <a:spcPct val="80000"/>
              </a:lnSpc>
              <a:buNone/>
            </a:pPr>
            <a:r>
              <a:rPr sz="2000"/>
              <a:t>	-Mild neurotoxicity – dizziness, somnolence, paresthesia, vertigo, incoordination, visual disturbance</a:t>
            </a:r>
            <a:endParaRPr sz="2000"/>
          </a:p>
          <a:p>
            <a:pPr>
              <a:lnSpc>
                <a:spcPct val="80000"/>
              </a:lnSpc>
              <a:buNone/>
            </a:pPr>
            <a:r>
              <a:rPr sz="2000" u="sng"/>
              <a:t>C/I</a:t>
            </a:r>
            <a:endParaRPr sz="2000" u="sng"/>
          </a:p>
          <a:p>
            <a:pPr>
              <a:lnSpc>
                <a:spcPct val="80000"/>
              </a:lnSpc>
              <a:buNone/>
            </a:pPr>
            <a:r>
              <a:rPr sz="2000"/>
              <a:t>	-Persons with </a:t>
            </a:r>
            <a:r>
              <a:rPr sz="2000"/>
              <a:t>Hx</a:t>
            </a:r>
            <a:r>
              <a:rPr sz="2000"/>
              <a:t> of neurological disease </a:t>
            </a:r>
            <a:r>
              <a:rPr sz="2000"/>
              <a:t>esp</a:t>
            </a:r>
            <a:r>
              <a:rPr sz="2000"/>
              <a:t> epileptic seizures</a:t>
            </a:r>
            <a:endParaRPr sz="2000"/>
          </a:p>
          <a:p>
            <a:pPr>
              <a:lnSpc>
                <a:spcPct val="80000"/>
              </a:lnSpc>
              <a:buNone/>
            </a:pPr>
            <a:r>
              <a:rPr sz="2000"/>
              <a:t>	-Persons w/ impaired hepatic or renal </a:t>
            </a:r>
            <a:r>
              <a:rPr sz="2000"/>
              <a:t>fxn</a:t>
            </a:r>
            <a:endParaRPr sz="2000"/>
          </a:p>
          <a:p>
            <a:pPr>
              <a:lnSpc>
                <a:spcPct val="80000"/>
              </a:lnSpc>
              <a:buNone/>
            </a:pPr>
            <a:r>
              <a:rPr sz="2000"/>
              <a:t>	-Do not co-</a:t>
            </a:r>
            <a:r>
              <a:rPr sz="2000"/>
              <a:t>adminster</a:t>
            </a:r>
            <a:r>
              <a:rPr sz="2000"/>
              <a:t> w/ phenothiazines</a:t>
            </a:r>
            <a:endParaRPr sz="2000"/>
          </a:p>
          <a:p>
            <a:pPr>
              <a:lnSpc>
                <a:spcPct val="80000"/>
              </a:lnSpc>
              <a:buNone/>
            </a:pPr>
            <a:r>
              <a:rPr sz="2000"/>
              <a:t>	-</a:t>
            </a:r>
            <a:r>
              <a:rPr sz="2000">
                <a:solidFill>
                  <a:srgbClr val="FF0000"/>
                </a:solidFill>
              </a:rPr>
              <a:t>Avoid in pregnancy</a:t>
            </a:r>
            <a:endParaRPr sz="2000">
              <a:solidFill>
                <a:srgbClr val="FF0000"/>
              </a:solidFill>
            </a:endParaRPr>
          </a:p>
          <a:p>
            <a:pPr>
              <a:lnSpc>
                <a:spcPct val="80000"/>
              </a:lnSpc>
              <a:buNone/>
            </a:pPr>
            <a:r>
              <a:rPr sz="2000" u="sng"/>
              <a:t>Uses</a:t>
            </a:r>
            <a:r>
              <a:rPr sz="2000"/>
              <a:t>: </a:t>
            </a:r>
            <a:endParaRPr sz="2000"/>
          </a:p>
          <a:p>
            <a:pPr>
              <a:lnSpc>
                <a:spcPct val="80000"/>
              </a:lnSpc>
              <a:buNone/>
            </a:pPr>
            <a:r>
              <a:rPr sz="2000"/>
              <a:t>	1. Round (single dose) and pin worms (lower multiple doses)</a:t>
            </a:r>
            <a:endParaRPr sz="2000"/>
          </a:p>
          <a:p>
            <a:pPr>
              <a:lnSpc>
                <a:spcPct val="80000"/>
              </a:lnSpc>
              <a:buNone/>
            </a:pPr>
            <a:r>
              <a:rPr sz="2000"/>
              <a:t>	2. Rx of filariasis –(last option) often elicits </a:t>
            </a:r>
            <a:r>
              <a:rPr sz="2000"/>
              <a:t>rxn</a:t>
            </a:r>
            <a:r>
              <a:rPr sz="2000"/>
              <a:t> (skin, eye, systemic) to parasite particles, severity varying with drug &amp; intensity of infection. </a:t>
            </a:r>
            <a:endParaRPr sz="2000"/>
          </a:p>
          <a:p>
            <a:pPr>
              <a:lnSpc>
                <a:spcPct val="80000"/>
              </a:lnSpc>
              <a:buNone/>
            </a:pPr>
            <a:endParaRPr sz="2000"/>
          </a:p>
        </p:txBody>
      </p:sp>
    </p:spTree>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027" name=""/>
        <p:cNvGrpSpPr/>
        <p:nvPr/>
      </p:nvGrpSpPr>
      <p:grpSpPr>
        <a:xfrm>
          <a:off x="0" y="0"/>
          <a:ext cx="0" cy="0"/>
          <a:chOff x="0" y="0"/>
          <a:chExt cx="0" cy="0"/>
        </a:xfrm>
      </p:grpSpPr>
      <p:sp>
        <p:nvSpPr>
          <p:cNvPr id="1049302" name="Rectangle 2"/>
          <p:cNvSpPr>
            <a:spLocks noGrp="1" noChangeArrowheads="1"/>
          </p:cNvSpPr>
          <p:nvPr>
            <p:ph type="body" idx="1"/>
          </p:nvPr>
        </p:nvSpPr>
        <p:spPr>
          <a:xfrm>
            <a:off x="609604" y="228600"/>
            <a:ext cx="11182354" cy="6476995"/>
          </a:xfrm>
        </p:spPr>
        <p:txBody>
          <a:bodyPr>
            <a:normAutofit/>
          </a:bodyPr>
          <a:p>
            <a:pPr>
              <a:lnSpc>
                <a:spcPct val="80000"/>
              </a:lnSpc>
              <a:buNone/>
            </a:pPr>
            <a:r>
              <a:rPr b="1" sz="2000">
                <a:solidFill>
                  <a:srgbClr val="CC0000"/>
                </a:solidFill>
              </a:rPr>
              <a:t>5. IVERMECTIN</a:t>
            </a:r>
            <a:endParaRPr b="1" sz="2000">
              <a:solidFill>
                <a:srgbClr val="CC0000"/>
              </a:solidFill>
            </a:endParaRPr>
          </a:p>
          <a:p>
            <a:pPr>
              <a:lnSpc>
                <a:spcPct val="80000"/>
              </a:lnSpc>
              <a:buNone/>
            </a:pPr>
            <a:r>
              <a:rPr sz="2000" u="sng"/>
              <a:t>Mxn</a:t>
            </a:r>
            <a:r>
              <a:rPr sz="2000"/>
              <a:t>: binds and opens GABA gated-chloride channels (does not bind mammalian ones), increasing chloride conductance- paralysis –death &amp; elimination by reticuloendothelial system </a:t>
            </a:r>
            <a:endParaRPr sz="2000"/>
          </a:p>
          <a:p>
            <a:pPr>
              <a:lnSpc>
                <a:spcPct val="80000"/>
              </a:lnSpc>
              <a:buNone/>
            </a:pPr>
            <a:r>
              <a:rPr sz="2000"/>
              <a:t>	-Microfilaricidal, embryotoxic </a:t>
            </a:r>
            <a:endParaRPr sz="2000"/>
          </a:p>
          <a:p>
            <a:pPr>
              <a:lnSpc>
                <a:spcPct val="80000"/>
              </a:lnSpc>
              <a:buNone/>
            </a:pPr>
            <a:r>
              <a:rPr sz="2000" u="sng"/>
              <a:t>Adm</a:t>
            </a:r>
            <a:r>
              <a:rPr sz="2000"/>
              <a:t>: oral (on empty stomach)</a:t>
            </a:r>
            <a:endParaRPr sz="2000"/>
          </a:p>
          <a:p>
            <a:pPr>
              <a:lnSpc>
                <a:spcPct val="80000"/>
              </a:lnSpc>
              <a:buNone/>
            </a:pPr>
            <a:r>
              <a:rPr sz="2000" u="sng"/>
              <a:t>Abs</a:t>
            </a:r>
            <a:r>
              <a:rPr sz="2000"/>
              <a:t>: rapid</a:t>
            </a:r>
            <a:endParaRPr sz="2000"/>
          </a:p>
          <a:p>
            <a:pPr>
              <a:lnSpc>
                <a:spcPct val="80000"/>
              </a:lnSpc>
              <a:buNone/>
            </a:pPr>
            <a:r>
              <a:rPr sz="2000" u="sng"/>
              <a:t>Distribution</a:t>
            </a:r>
            <a:r>
              <a:rPr sz="2000"/>
              <a:t>: wide, slowly into eyes (NOT meninges)</a:t>
            </a:r>
            <a:endParaRPr sz="2000"/>
          </a:p>
          <a:p>
            <a:pPr>
              <a:lnSpc>
                <a:spcPct val="80000"/>
              </a:lnSpc>
              <a:buNone/>
            </a:pPr>
            <a:r>
              <a:rPr sz="2000" u="sng"/>
              <a:t>Elimination</a:t>
            </a:r>
            <a:r>
              <a:rPr sz="2000"/>
              <a:t>: metabolism, biliary excretion</a:t>
            </a:r>
            <a:endParaRPr sz="2000"/>
          </a:p>
          <a:p>
            <a:pPr>
              <a:lnSpc>
                <a:spcPct val="80000"/>
              </a:lnSpc>
              <a:buNone/>
            </a:pPr>
            <a:endParaRPr sz="2000"/>
          </a:p>
          <a:p>
            <a:pPr>
              <a:lnSpc>
                <a:spcPct val="80000"/>
              </a:lnSpc>
              <a:buNone/>
            </a:pPr>
            <a:r>
              <a:rPr sz="2000" u="sng"/>
              <a:t>USES:</a:t>
            </a:r>
            <a:endParaRPr sz="2000" u="sng"/>
          </a:p>
          <a:p>
            <a:pPr>
              <a:lnSpc>
                <a:spcPct val="80000"/>
              </a:lnSpc>
              <a:buNone/>
            </a:pPr>
            <a:r>
              <a:rPr sz="2000"/>
              <a:t>1. Onchocerciasis - DOC (co-</a:t>
            </a:r>
            <a:r>
              <a:rPr sz="2000"/>
              <a:t>adm</a:t>
            </a:r>
            <a:r>
              <a:rPr sz="2000"/>
              <a:t> a steroid w/ 1st Rx for eye infestation)</a:t>
            </a:r>
            <a:endParaRPr sz="2000"/>
          </a:p>
          <a:p>
            <a:pPr>
              <a:lnSpc>
                <a:spcPct val="80000"/>
              </a:lnSpc>
              <a:buNone/>
            </a:pPr>
            <a:r>
              <a:rPr sz="2000"/>
              <a:t>2. Strongyloidiasis - (aim always to cure)</a:t>
            </a:r>
            <a:endParaRPr sz="2000"/>
          </a:p>
          <a:p>
            <a:pPr>
              <a:lnSpc>
                <a:spcPct val="80000"/>
              </a:lnSpc>
              <a:buNone/>
            </a:pPr>
            <a:r>
              <a:rPr sz="2000"/>
              <a:t>	- Repeat Rx in </a:t>
            </a:r>
            <a:r>
              <a:rPr sz="2000"/>
              <a:t>immunonusuppressed</a:t>
            </a:r>
            <a:endParaRPr sz="2000"/>
          </a:p>
          <a:p>
            <a:pPr>
              <a:lnSpc>
                <a:spcPct val="80000"/>
              </a:lnSpc>
              <a:buNone/>
            </a:pPr>
            <a:r>
              <a:rPr sz="2000"/>
              <a:t>3. Elephantiasis (2nd line, or combined w/ </a:t>
            </a:r>
            <a:r>
              <a:rPr sz="2000"/>
              <a:t>diethlycarbazine</a:t>
            </a:r>
            <a:r>
              <a:rPr sz="2000"/>
              <a:t>)</a:t>
            </a:r>
            <a:endParaRPr sz="2000"/>
          </a:p>
          <a:p>
            <a:pPr>
              <a:lnSpc>
                <a:spcPct val="80000"/>
              </a:lnSpc>
              <a:buNone/>
            </a:pPr>
            <a:r>
              <a:rPr sz="2000"/>
              <a:t>4. Others – not DOC</a:t>
            </a:r>
            <a:endParaRPr sz="2000"/>
          </a:p>
          <a:p>
            <a:pPr>
              <a:lnSpc>
                <a:spcPct val="80000"/>
              </a:lnSpc>
              <a:buNone/>
            </a:pPr>
            <a:r>
              <a:rPr sz="2000"/>
              <a:t>		-B. </a:t>
            </a:r>
            <a:r>
              <a:rPr sz="2000"/>
              <a:t>malayi</a:t>
            </a:r>
            <a:endParaRPr sz="2000"/>
          </a:p>
          <a:p>
            <a:pPr>
              <a:lnSpc>
                <a:spcPct val="80000"/>
              </a:lnSpc>
              <a:buNone/>
            </a:pPr>
            <a:r>
              <a:rPr sz="2000"/>
              <a:t>		-Cutaneous larva </a:t>
            </a:r>
            <a:r>
              <a:rPr sz="2000"/>
              <a:t>migrans</a:t>
            </a:r>
            <a:endParaRPr sz="2000"/>
          </a:p>
          <a:p>
            <a:pPr>
              <a:lnSpc>
                <a:spcPct val="80000"/>
              </a:lnSpc>
              <a:buNone/>
            </a:pPr>
            <a:r>
              <a:rPr sz="2000"/>
              <a:t>		-Scabies</a:t>
            </a:r>
            <a:endParaRPr sz="2000"/>
          </a:p>
          <a:p>
            <a:pPr>
              <a:lnSpc>
                <a:spcPct val="80000"/>
              </a:lnSpc>
              <a:buNone/>
            </a:pPr>
            <a:r>
              <a:rPr sz="2000"/>
              <a:t>	NB:  in </a:t>
            </a:r>
            <a:r>
              <a:rPr sz="2000"/>
              <a:t>loiasis</a:t>
            </a:r>
            <a:r>
              <a:rPr sz="2000"/>
              <a:t> it induces a severe </a:t>
            </a:r>
            <a:r>
              <a:rPr sz="2000"/>
              <a:t>rxn</a:t>
            </a:r>
            <a:r>
              <a:rPr sz="2000"/>
              <a:t> if there is heavy load of  parasite (&gt;3000/ml)</a:t>
            </a:r>
            <a:endParaRPr sz="2000"/>
          </a:p>
          <a:p>
            <a:pPr>
              <a:lnSpc>
                <a:spcPct val="80000"/>
              </a:lnSpc>
              <a:buNone/>
            </a:pPr>
            <a:endParaRPr sz="2000"/>
          </a:p>
        </p:txBody>
      </p:sp>
    </p:spTree>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028" name=""/>
        <p:cNvGrpSpPr/>
        <p:nvPr/>
      </p:nvGrpSpPr>
      <p:grpSpPr>
        <a:xfrm>
          <a:off x="0" y="0"/>
          <a:ext cx="0" cy="0"/>
          <a:chOff x="0" y="0"/>
          <a:chExt cx="0" cy="0"/>
        </a:xfrm>
      </p:grpSpPr>
      <p:sp>
        <p:nvSpPr>
          <p:cNvPr id="1049303" name="Rectangle 2"/>
          <p:cNvSpPr>
            <a:spLocks noGrp="1" noChangeArrowheads="1"/>
          </p:cNvSpPr>
          <p:nvPr>
            <p:ph type="body" idx="1"/>
          </p:nvPr>
        </p:nvSpPr>
        <p:spPr>
          <a:xfrm>
            <a:off x="600075" y="228600"/>
            <a:ext cx="11029950" cy="6324604"/>
          </a:xfrm>
        </p:spPr>
        <p:txBody>
          <a:bodyPr>
            <a:normAutofit/>
          </a:bodyPr>
          <a:p>
            <a:pPr>
              <a:lnSpc>
                <a:spcPct val="80000"/>
              </a:lnSpc>
              <a:buNone/>
            </a:pPr>
            <a:r>
              <a:rPr b="1" sz="1800">
                <a:solidFill>
                  <a:srgbClr val="CC0000"/>
                </a:solidFill>
              </a:rPr>
              <a:t>5. IVERMECTIN</a:t>
            </a:r>
            <a:endParaRPr b="1" sz="1800">
              <a:solidFill>
                <a:srgbClr val="CC0000"/>
              </a:solidFill>
            </a:endParaRPr>
          </a:p>
          <a:p>
            <a:pPr>
              <a:lnSpc>
                <a:spcPct val="80000"/>
              </a:lnSpc>
              <a:buNone/>
            </a:pPr>
            <a:r>
              <a:rPr sz="1800" u="sng"/>
              <a:t>S/E</a:t>
            </a:r>
            <a:r>
              <a:rPr sz="1800"/>
              <a:t> </a:t>
            </a:r>
            <a:endParaRPr sz="1800"/>
          </a:p>
          <a:p>
            <a:pPr>
              <a:lnSpc>
                <a:spcPct val="80000"/>
              </a:lnSpc>
              <a:buNone/>
            </a:pPr>
            <a:r>
              <a:rPr sz="1800"/>
              <a:t>	-Rashes, fever, headache, dizziness</a:t>
            </a:r>
            <a:endParaRPr sz="1800"/>
          </a:p>
          <a:p>
            <a:pPr>
              <a:lnSpc>
                <a:spcPct val="80000"/>
              </a:lnSpc>
              <a:buNone/>
            </a:pPr>
            <a:r>
              <a:rPr sz="1800"/>
              <a:t>	-GIT irritation – nausea, vomiting, abdominal pain</a:t>
            </a:r>
            <a:endParaRPr sz="1800"/>
          </a:p>
          <a:p>
            <a:pPr>
              <a:lnSpc>
                <a:spcPct val="80000"/>
              </a:lnSpc>
              <a:buNone/>
            </a:pPr>
            <a:r>
              <a:rPr sz="1800"/>
              <a:t>	-Myalgia, arthralgia</a:t>
            </a:r>
            <a:endParaRPr sz="1800"/>
          </a:p>
          <a:p>
            <a:pPr>
              <a:lnSpc>
                <a:spcPct val="80000"/>
              </a:lnSpc>
              <a:buNone/>
            </a:pPr>
            <a:r>
              <a:rPr b="1" sz="1800"/>
              <a:t>	-</a:t>
            </a:r>
            <a:r>
              <a:rPr b="1" sz="1800"/>
              <a:t>Mazotti</a:t>
            </a:r>
            <a:r>
              <a:rPr b="1" sz="1800"/>
              <a:t> </a:t>
            </a:r>
            <a:r>
              <a:rPr b="1" sz="1800"/>
              <a:t>rxn</a:t>
            </a:r>
            <a:r>
              <a:rPr b="1" sz="1800"/>
              <a:t> </a:t>
            </a:r>
            <a:r>
              <a:rPr sz="1800"/>
              <a:t>(dying parasites – peaks on 2nd day, correlates w/ skin microfilaria load, more frequent in non-indigenous persons and children, lessen w/ antihistamines and anti-inflammatory (aspirin) or steroids, they lessen w/ repeated/ subsequent dosing)</a:t>
            </a:r>
            <a:endParaRPr sz="1800"/>
          </a:p>
          <a:p>
            <a:pPr>
              <a:lnSpc>
                <a:spcPct val="80000"/>
              </a:lnSpc>
              <a:buNone/>
            </a:pPr>
            <a:r>
              <a:rPr sz="1800"/>
              <a:t>	Features of </a:t>
            </a:r>
            <a:r>
              <a:rPr sz="1800"/>
              <a:t>mazotti</a:t>
            </a:r>
            <a:r>
              <a:rPr sz="1800"/>
              <a:t> </a:t>
            </a:r>
            <a:r>
              <a:rPr sz="1800"/>
              <a:t>rxn</a:t>
            </a:r>
            <a:r>
              <a:rPr sz="1800"/>
              <a:t> – </a:t>
            </a:r>
            <a:endParaRPr sz="1800"/>
          </a:p>
          <a:p>
            <a:pPr>
              <a:lnSpc>
                <a:spcPct val="80000"/>
              </a:lnSpc>
              <a:buNone/>
            </a:pPr>
            <a:r>
              <a:rPr sz="1800"/>
              <a:t>		</a:t>
            </a:r>
            <a:r>
              <a:rPr sz="1800">
                <a:cs typeface="Arial"/>
              </a:rPr>
              <a:t>○</a:t>
            </a:r>
            <a:r>
              <a:rPr sz="1800"/>
              <a:t>CVS/lymphatic – hypotension (advice lying down), tachycardia, lymphangitis, lymphadenopathy, peripheral edema,</a:t>
            </a:r>
            <a:endParaRPr sz="1800"/>
          </a:p>
          <a:p>
            <a:pPr>
              <a:lnSpc>
                <a:spcPct val="80000"/>
              </a:lnSpc>
              <a:buNone/>
            </a:pPr>
            <a:r>
              <a:rPr sz="1800"/>
              <a:t>		</a:t>
            </a:r>
            <a:r>
              <a:rPr sz="1800">
                <a:cs typeface="Arial"/>
              </a:rPr>
              <a:t>○</a:t>
            </a:r>
            <a:r>
              <a:rPr sz="1800"/>
              <a:t> GIT effects, </a:t>
            </a:r>
            <a:endParaRPr sz="1800"/>
          </a:p>
          <a:p>
            <a:pPr>
              <a:lnSpc>
                <a:spcPct val="80000"/>
              </a:lnSpc>
              <a:buNone/>
            </a:pPr>
            <a:r>
              <a:rPr sz="1800">
                <a:cs typeface="Arial"/>
              </a:rPr>
              <a:t>		○</a:t>
            </a:r>
            <a:r>
              <a:rPr sz="1800"/>
              <a:t> CNS - headache, dizziness, somnolence, </a:t>
            </a:r>
            <a:endParaRPr sz="1800"/>
          </a:p>
          <a:p>
            <a:pPr>
              <a:lnSpc>
                <a:spcPct val="80000"/>
              </a:lnSpc>
              <a:buNone/>
            </a:pPr>
            <a:r>
              <a:rPr sz="1800">
                <a:cs typeface="Arial"/>
              </a:rPr>
              <a:t>		○</a:t>
            </a:r>
            <a:r>
              <a:rPr sz="1800"/>
              <a:t> Miscellaneous - rash, pruritus, myalgia, arthralgia </a:t>
            </a:r>
            <a:endParaRPr sz="1800"/>
          </a:p>
          <a:p>
            <a:pPr>
              <a:lnSpc>
                <a:spcPct val="80000"/>
              </a:lnSpc>
              <a:buNone/>
            </a:pPr>
            <a:r>
              <a:rPr sz="1800"/>
              <a:t>		</a:t>
            </a:r>
            <a:r>
              <a:rPr sz="1800">
                <a:cs typeface="Arial"/>
              </a:rPr>
              <a:t>○</a:t>
            </a:r>
            <a:r>
              <a:rPr sz="1800"/>
              <a:t> Bronchospasm, </a:t>
            </a:r>
            <a:endParaRPr sz="1800"/>
          </a:p>
          <a:p>
            <a:pPr>
              <a:lnSpc>
                <a:spcPct val="80000"/>
              </a:lnSpc>
              <a:buNone/>
            </a:pPr>
            <a:r>
              <a:rPr sz="1800"/>
              <a:t>		</a:t>
            </a:r>
            <a:r>
              <a:rPr sz="1800">
                <a:cs typeface="Arial"/>
              </a:rPr>
              <a:t>○</a:t>
            </a:r>
            <a:r>
              <a:rPr sz="1800"/>
              <a:t> Eye effects - corneal opacities, eyelid edema, conjunctivitis, keratitis, optic neuritis, chorioretinitis, </a:t>
            </a:r>
            <a:r>
              <a:rPr sz="1800"/>
              <a:t>etc</a:t>
            </a:r>
            <a:endParaRPr sz="1800"/>
          </a:p>
          <a:p>
            <a:pPr>
              <a:lnSpc>
                <a:spcPct val="80000"/>
              </a:lnSpc>
              <a:buNone/>
            </a:pPr>
            <a:endParaRPr sz="1800"/>
          </a:p>
          <a:p>
            <a:pPr>
              <a:lnSpc>
                <a:spcPct val="80000"/>
              </a:lnSpc>
              <a:buNone/>
            </a:pPr>
            <a:r>
              <a:rPr sz="1800" u="sng"/>
              <a:t>Caution &amp; C/I</a:t>
            </a:r>
            <a:endParaRPr sz="1800" u="sng"/>
          </a:p>
          <a:p>
            <a:pPr>
              <a:lnSpc>
                <a:spcPct val="80000"/>
              </a:lnSpc>
              <a:buNone/>
            </a:pPr>
            <a:r>
              <a:rPr sz="1800"/>
              <a:t>	-Avoid simultaneous use w/ other GABA agonists e.g. barbiturates, benzodiazepines, valproic acid</a:t>
            </a:r>
            <a:endParaRPr sz="1800"/>
          </a:p>
          <a:p>
            <a:pPr>
              <a:lnSpc>
                <a:spcPct val="80000"/>
              </a:lnSpc>
              <a:buNone/>
            </a:pPr>
            <a:r>
              <a:rPr sz="1800"/>
              <a:t>	-Avoid in pregnancy, breastfeeding and children &lt; 5 </a:t>
            </a:r>
            <a:r>
              <a:rPr sz="1800"/>
              <a:t>yrs</a:t>
            </a:r>
            <a:endParaRPr sz="1800"/>
          </a:p>
          <a:p>
            <a:pPr>
              <a:lnSpc>
                <a:spcPct val="80000"/>
              </a:lnSpc>
              <a:buNone/>
            </a:pPr>
            <a:r>
              <a:rPr sz="1800"/>
              <a:t>	-Avoid in those with impaired BBB – meningitis, African trypanosomiasis</a:t>
            </a:r>
            <a:endParaRPr sz="1800"/>
          </a:p>
        </p:txBody>
      </p:sp>
    </p:spTree>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029" name=""/>
        <p:cNvGrpSpPr/>
        <p:nvPr/>
      </p:nvGrpSpPr>
      <p:grpSpPr>
        <a:xfrm>
          <a:off x="0" y="0"/>
          <a:ext cx="0" cy="0"/>
          <a:chOff x="0" y="0"/>
          <a:chExt cx="0" cy="0"/>
        </a:xfrm>
      </p:grpSpPr>
      <p:sp>
        <p:nvSpPr>
          <p:cNvPr id="1049304" name="Rectangle 2"/>
          <p:cNvSpPr>
            <a:spLocks noGrp="1" noChangeArrowheads="1"/>
          </p:cNvSpPr>
          <p:nvPr>
            <p:ph type="body" idx="1"/>
          </p:nvPr>
        </p:nvSpPr>
        <p:spPr>
          <a:xfrm>
            <a:off x="561970" y="228600"/>
            <a:ext cx="11277595" cy="6324604"/>
          </a:xfrm>
        </p:spPr>
        <p:txBody>
          <a:bodyPr>
            <a:normAutofit/>
          </a:bodyPr>
          <a:p>
            <a:pPr>
              <a:lnSpc>
                <a:spcPct val="80000"/>
              </a:lnSpc>
              <a:buNone/>
            </a:pPr>
            <a:r>
              <a:rPr b="1" sz="1800">
                <a:solidFill>
                  <a:srgbClr val="CC0000"/>
                </a:solidFill>
              </a:rPr>
              <a:t>6. DIETHYLCARBAMAZINE</a:t>
            </a:r>
            <a:r>
              <a:rPr sz="1800"/>
              <a:t> - micro and </a:t>
            </a:r>
            <a:r>
              <a:rPr sz="1800"/>
              <a:t>macrofilaricide</a:t>
            </a:r>
            <a:r>
              <a:rPr sz="1800"/>
              <a:t> </a:t>
            </a:r>
            <a:endParaRPr sz="1800"/>
          </a:p>
          <a:p>
            <a:pPr>
              <a:lnSpc>
                <a:spcPct val="80000"/>
              </a:lnSpc>
              <a:buNone/>
            </a:pPr>
            <a:r>
              <a:rPr sz="1800" u="sng"/>
              <a:t>Mxn</a:t>
            </a:r>
            <a:r>
              <a:rPr sz="1800"/>
              <a:t>: interferes with parasite surface structures making them more susceptible to host immune </a:t>
            </a:r>
            <a:r>
              <a:rPr sz="1800"/>
              <a:t>mxns</a:t>
            </a:r>
            <a:r>
              <a:rPr sz="1800"/>
              <a:t>, immobilizes microfilaria, </a:t>
            </a:r>
            <a:endParaRPr sz="1800"/>
          </a:p>
          <a:p>
            <a:pPr>
              <a:lnSpc>
                <a:spcPct val="80000"/>
              </a:lnSpc>
              <a:buNone/>
            </a:pPr>
            <a:r>
              <a:rPr sz="1800" u="sng"/>
              <a:t>Adm</a:t>
            </a:r>
            <a:r>
              <a:rPr sz="1800"/>
              <a:t>: oral</a:t>
            </a:r>
            <a:endParaRPr sz="1800"/>
          </a:p>
          <a:p>
            <a:pPr>
              <a:lnSpc>
                <a:spcPct val="80000"/>
              </a:lnSpc>
              <a:buNone/>
            </a:pPr>
            <a:r>
              <a:rPr sz="1800" u="sng"/>
              <a:t>Abs</a:t>
            </a:r>
            <a:r>
              <a:rPr sz="1800"/>
              <a:t>: rapid</a:t>
            </a:r>
            <a:endParaRPr sz="1800"/>
          </a:p>
          <a:p>
            <a:pPr>
              <a:lnSpc>
                <a:spcPct val="80000"/>
              </a:lnSpc>
              <a:buNone/>
            </a:pPr>
            <a:r>
              <a:rPr sz="1800" u="sng"/>
              <a:t>Distribution</a:t>
            </a:r>
            <a:r>
              <a:rPr sz="1800"/>
              <a:t>: into all tissues except fat</a:t>
            </a:r>
            <a:endParaRPr sz="1800"/>
          </a:p>
          <a:p>
            <a:pPr>
              <a:lnSpc>
                <a:spcPct val="80000"/>
              </a:lnSpc>
              <a:buNone/>
            </a:pPr>
            <a:r>
              <a:rPr sz="1800" u="sng"/>
              <a:t>Elimination</a:t>
            </a:r>
            <a:r>
              <a:rPr sz="1800"/>
              <a:t>:  Mainly renal excretion, some metabolism, (increased in acidic urine), adjust dose with renal impairment or alkaline urine</a:t>
            </a:r>
            <a:endParaRPr sz="1800"/>
          </a:p>
          <a:p>
            <a:pPr>
              <a:lnSpc>
                <a:spcPct val="80000"/>
              </a:lnSpc>
              <a:buNone/>
            </a:pPr>
            <a:r>
              <a:rPr sz="1800" u="sng"/>
              <a:t>S/E</a:t>
            </a:r>
            <a:endParaRPr sz="1800" u="sng"/>
          </a:p>
          <a:p>
            <a:pPr>
              <a:lnSpc>
                <a:spcPct val="80000"/>
              </a:lnSpc>
              <a:buNone/>
            </a:pPr>
            <a:r>
              <a:rPr sz="1800"/>
              <a:t>	-GIT irritation – nausea, vomiting, anorexia</a:t>
            </a:r>
            <a:endParaRPr sz="1800"/>
          </a:p>
          <a:p>
            <a:pPr>
              <a:lnSpc>
                <a:spcPct val="80000"/>
              </a:lnSpc>
              <a:buNone/>
            </a:pPr>
            <a:r>
              <a:rPr sz="1800"/>
              <a:t>	-Headache, dizziness, malaise, sleepiness</a:t>
            </a:r>
            <a:endParaRPr sz="1800"/>
          </a:p>
          <a:p>
            <a:pPr>
              <a:lnSpc>
                <a:spcPct val="80000"/>
              </a:lnSpc>
              <a:buNone/>
            </a:pPr>
            <a:endParaRPr sz="1800"/>
          </a:p>
          <a:p>
            <a:pPr>
              <a:lnSpc>
                <a:spcPct val="80000"/>
              </a:lnSpc>
              <a:buNone/>
            </a:pPr>
            <a:r>
              <a:rPr sz="1800" u="sng"/>
              <a:t>Uses</a:t>
            </a:r>
            <a:endParaRPr sz="1800" u="sng"/>
          </a:p>
          <a:p>
            <a:pPr>
              <a:lnSpc>
                <a:spcPct val="80000"/>
              </a:lnSpc>
              <a:buNone/>
            </a:pPr>
            <a:r>
              <a:rPr sz="1800"/>
              <a:t>1. DOC in Rx (may also be used for prophylaxis)-</a:t>
            </a:r>
            <a:endParaRPr sz="1800"/>
          </a:p>
          <a:p>
            <a:pPr>
              <a:lnSpc>
                <a:spcPct val="80000"/>
              </a:lnSpc>
              <a:buNone/>
            </a:pPr>
            <a:r>
              <a:rPr sz="1800"/>
              <a:t>		-W. </a:t>
            </a:r>
            <a:r>
              <a:rPr sz="1800"/>
              <a:t>bancrofti</a:t>
            </a:r>
            <a:r>
              <a:rPr sz="1800"/>
              <a:t> (</a:t>
            </a:r>
            <a:r>
              <a:rPr sz="1800"/>
              <a:t>elephatiasis</a:t>
            </a:r>
            <a:r>
              <a:rPr sz="1800"/>
              <a:t>)</a:t>
            </a:r>
            <a:endParaRPr sz="1800"/>
          </a:p>
          <a:p>
            <a:pPr>
              <a:lnSpc>
                <a:spcPct val="80000"/>
              </a:lnSpc>
              <a:buNone/>
            </a:pPr>
            <a:r>
              <a:rPr sz="1800"/>
              <a:t>		-B. </a:t>
            </a:r>
            <a:r>
              <a:rPr sz="1800"/>
              <a:t>malayi</a:t>
            </a:r>
            <a:endParaRPr sz="1800"/>
          </a:p>
          <a:p>
            <a:pPr>
              <a:lnSpc>
                <a:spcPct val="80000"/>
              </a:lnSpc>
              <a:buNone/>
            </a:pPr>
            <a:r>
              <a:rPr sz="1800"/>
              <a:t>		-Loa </a:t>
            </a:r>
            <a:r>
              <a:rPr sz="1800"/>
              <a:t>loa</a:t>
            </a:r>
            <a:r>
              <a:rPr sz="1800"/>
              <a:t> (</a:t>
            </a:r>
            <a:r>
              <a:rPr sz="1800"/>
              <a:t>loiasis</a:t>
            </a:r>
            <a:r>
              <a:rPr sz="1800"/>
              <a:t>)</a:t>
            </a:r>
            <a:endParaRPr sz="1800"/>
          </a:p>
          <a:p>
            <a:pPr>
              <a:lnSpc>
                <a:spcPct val="80000"/>
              </a:lnSpc>
              <a:buNone/>
            </a:pPr>
            <a:r>
              <a:rPr sz="1800"/>
              <a:t>2. Onchocerciasis – (2</a:t>
            </a:r>
            <a:r>
              <a:rPr baseline="30000" sz="1800"/>
              <a:t>nd</a:t>
            </a:r>
            <a:r>
              <a:rPr sz="1800"/>
              <a:t> line, microfilaricide) – </a:t>
            </a:r>
            <a:r>
              <a:rPr sz="1800"/>
              <a:t>adm</a:t>
            </a:r>
            <a:r>
              <a:rPr sz="1800"/>
              <a:t> under observation</a:t>
            </a:r>
            <a:endParaRPr sz="1800"/>
          </a:p>
          <a:p>
            <a:pPr>
              <a:lnSpc>
                <a:spcPct val="80000"/>
              </a:lnSpc>
              <a:buNone/>
            </a:pPr>
            <a:r>
              <a:rPr sz="1800"/>
              <a:t>3. Mass Rx for W. </a:t>
            </a:r>
            <a:r>
              <a:rPr sz="1800"/>
              <a:t>bancrofti</a:t>
            </a:r>
            <a:r>
              <a:rPr sz="1800"/>
              <a:t> to reduce transmission (once </a:t>
            </a:r>
            <a:r>
              <a:rPr sz="1800"/>
              <a:t>wkly</a:t>
            </a:r>
            <a:r>
              <a:rPr sz="1800"/>
              <a:t> or monthly for 1 </a:t>
            </a:r>
            <a:r>
              <a:rPr sz="1800"/>
              <a:t>yr</a:t>
            </a:r>
            <a:r>
              <a:rPr sz="1800"/>
              <a:t>)</a:t>
            </a:r>
            <a:endParaRPr sz="1800"/>
          </a:p>
          <a:p>
            <a:pPr>
              <a:lnSpc>
                <a:spcPct val="80000"/>
              </a:lnSpc>
              <a:buNone/>
            </a:pPr>
            <a:endParaRPr sz="1800"/>
          </a:p>
          <a:p>
            <a:pPr>
              <a:lnSpc>
                <a:spcPct val="80000"/>
              </a:lnSpc>
              <a:buNone/>
            </a:pPr>
            <a:r>
              <a:rPr sz="1800" u="sng"/>
              <a:t>Caution</a:t>
            </a:r>
            <a:r>
              <a:rPr sz="1800"/>
              <a:t>: persons w/</a:t>
            </a:r>
            <a:endParaRPr sz="1800"/>
          </a:p>
          <a:p>
            <a:pPr>
              <a:lnSpc>
                <a:spcPct val="80000"/>
              </a:lnSpc>
              <a:buNone/>
            </a:pPr>
            <a:r>
              <a:rPr sz="1800"/>
              <a:t>	 </a:t>
            </a:r>
            <a:r>
              <a:rPr sz="1800">
                <a:cs typeface="Arial"/>
              </a:rPr>
              <a:t>♦ </a:t>
            </a:r>
            <a:r>
              <a:rPr sz="1800"/>
              <a:t>Hypertension, Renal disease </a:t>
            </a:r>
            <a:endParaRPr sz="1800"/>
          </a:p>
          <a:p>
            <a:pPr>
              <a:lnSpc>
                <a:spcPct val="80000"/>
              </a:lnSpc>
              <a:buNone/>
            </a:pPr>
            <a:r>
              <a:rPr sz="1800"/>
              <a:t>NB. Rx any malaria first (may exacerbate it)</a:t>
            </a:r>
            <a:endParaRPr sz="1800"/>
          </a:p>
        </p:txBody>
      </p:sp>
    </p:spTree>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030" name=""/>
        <p:cNvGrpSpPr/>
        <p:nvPr/>
      </p:nvGrpSpPr>
      <p:grpSpPr>
        <a:xfrm>
          <a:off x="0" y="0"/>
          <a:ext cx="0" cy="0"/>
          <a:chOff x="0" y="0"/>
          <a:chExt cx="0" cy="0"/>
        </a:xfrm>
      </p:grpSpPr>
      <p:sp>
        <p:nvSpPr>
          <p:cNvPr id="1049305" name="Rectangle 2"/>
          <p:cNvSpPr>
            <a:spLocks noGrp="1" noChangeArrowheads="1"/>
          </p:cNvSpPr>
          <p:nvPr>
            <p:ph type="body" idx="1"/>
          </p:nvPr>
        </p:nvSpPr>
        <p:spPr>
          <a:xfrm>
            <a:off x="504820" y="228600"/>
            <a:ext cx="11306170" cy="6400800"/>
          </a:xfrm>
        </p:spPr>
        <p:txBody>
          <a:bodyPr>
            <a:normAutofit lnSpcReduction="10000"/>
          </a:bodyPr>
          <a:p>
            <a:pPr>
              <a:lnSpc>
                <a:spcPct val="80000"/>
              </a:lnSpc>
              <a:buNone/>
            </a:pPr>
            <a:r>
              <a:rPr b="1" sz="2000">
                <a:solidFill>
                  <a:srgbClr val="CC0000"/>
                </a:solidFill>
              </a:rPr>
              <a:t>7. NICLOSAMIDE</a:t>
            </a:r>
            <a:endParaRPr b="1" sz="2000">
              <a:solidFill>
                <a:srgbClr val="CC0000"/>
              </a:solidFill>
            </a:endParaRPr>
          </a:p>
          <a:p>
            <a:pPr>
              <a:lnSpc>
                <a:spcPct val="80000"/>
              </a:lnSpc>
              <a:buNone/>
            </a:pPr>
            <a:r>
              <a:rPr sz="2000" u="sng"/>
              <a:t>Mxn</a:t>
            </a:r>
            <a:r>
              <a:rPr sz="2000"/>
              <a:t>: Inhibits oxidative phosphorylation (ATP syn), leads to death of </a:t>
            </a:r>
            <a:endParaRPr sz="2000"/>
          </a:p>
          <a:p>
            <a:pPr>
              <a:lnSpc>
                <a:spcPct val="80000"/>
              </a:lnSpc>
              <a:buNone/>
            </a:pPr>
            <a:r>
              <a:rPr sz="2000"/>
              <a:t>	</a:t>
            </a:r>
            <a:r>
              <a:rPr sz="2000"/>
              <a:t>scoleces</a:t>
            </a:r>
            <a:r>
              <a:rPr sz="2000"/>
              <a:t> and segments (but not eggs), digested or expelled; </a:t>
            </a:r>
            <a:endParaRPr sz="2000"/>
          </a:p>
          <a:p>
            <a:pPr>
              <a:lnSpc>
                <a:spcPct val="80000"/>
              </a:lnSpc>
              <a:buNone/>
            </a:pPr>
            <a:r>
              <a:rPr sz="2000"/>
              <a:t>	purge in T. </a:t>
            </a:r>
            <a:r>
              <a:rPr sz="2000"/>
              <a:t>solium</a:t>
            </a:r>
            <a:r>
              <a:rPr sz="2000"/>
              <a:t> </a:t>
            </a:r>
            <a:endParaRPr sz="2000"/>
          </a:p>
          <a:p>
            <a:pPr>
              <a:lnSpc>
                <a:spcPct val="80000"/>
              </a:lnSpc>
              <a:buNone/>
            </a:pPr>
            <a:endParaRPr sz="2000"/>
          </a:p>
          <a:p>
            <a:pPr>
              <a:lnSpc>
                <a:spcPct val="80000"/>
              </a:lnSpc>
              <a:buNone/>
            </a:pPr>
            <a:r>
              <a:rPr sz="2000" u="sng"/>
              <a:t>Adm</a:t>
            </a:r>
            <a:r>
              <a:rPr sz="2000"/>
              <a:t>: oral (chew, on empty stomach - best 2hrs before breakfast) </a:t>
            </a:r>
            <a:endParaRPr sz="2000"/>
          </a:p>
          <a:p>
            <a:pPr>
              <a:lnSpc>
                <a:spcPct val="80000"/>
              </a:lnSpc>
              <a:buNone/>
            </a:pPr>
            <a:r>
              <a:rPr sz="2000" u="sng"/>
              <a:t>Abs</a:t>
            </a:r>
            <a:r>
              <a:rPr sz="2000"/>
              <a:t>: minimal</a:t>
            </a:r>
            <a:endParaRPr sz="2000"/>
          </a:p>
          <a:p>
            <a:pPr>
              <a:lnSpc>
                <a:spcPct val="80000"/>
              </a:lnSpc>
              <a:buNone/>
            </a:pPr>
            <a:r>
              <a:rPr sz="2000" u="sng"/>
              <a:t>S/E</a:t>
            </a:r>
            <a:r>
              <a:rPr sz="2000"/>
              <a:t> </a:t>
            </a:r>
            <a:endParaRPr sz="2000"/>
          </a:p>
          <a:p>
            <a:pPr>
              <a:lnSpc>
                <a:spcPct val="80000"/>
              </a:lnSpc>
              <a:buNone/>
            </a:pPr>
            <a:r>
              <a:rPr sz="2000"/>
              <a:t>	- GIT effects </a:t>
            </a:r>
            <a:endParaRPr sz="2000"/>
          </a:p>
          <a:p>
            <a:pPr>
              <a:lnSpc>
                <a:spcPct val="80000"/>
              </a:lnSpc>
              <a:buNone/>
            </a:pPr>
            <a:r>
              <a:rPr sz="2000"/>
              <a:t>	- Headache, vertigo</a:t>
            </a:r>
            <a:endParaRPr sz="2000"/>
          </a:p>
          <a:p>
            <a:pPr>
              <a:lnSpc>
                <a:spcPct val="80000"/>
              </a:lnSpc>
              <a:buNone/>
            </a:pPr>
            <a:r>
              <a:rPr sz="2000"/>
              <a:t>	- Rash, urticaria, pruritus ani (allergy to parasite parts</a:t>
            </a:r>
            <a:endParaRPr sz="2000"/>
          </a:p>
          <a:p>
            <a:pPr>
              <a:lnSpc>
                <a:spcPct val="80000"/>
              </a:lnSpc>
              <a:buNone/>
            </a:pPr>
            <a:r>
              <a:rPr sz="2000" u="sng"/>
              <a:t>Caution</a:t>
            </a:r>
            <a:r>
              <a:rPr sz="2000"/>
              <a:t>:</a:t>
            </a:r>
            <a:endParaRPr sz="2000"/>
          </a:p>
          <a:p>
            <a:pPr>
              <a:lnSpc>
                <a:spcPct val="80000"/>
              </a:lnSpc>
              <a:buNone/>
            </a:pPr>
            <a:r>
              <a:rPr sz="2000"/>
              <a:t>	- Avoid alcohol (up to 1 day after Rx)</a:t>
            </a:r>
            <a:endParaRPr sz="2000"/>
          </a:p>
          <a:p>
            <a:pPr>
              <a:lnSpc>
                <a:spcPct val="80000"/>
              </a:lnSpc>
              <a:buNone/>
            </a:pPr>
            <a:r>
              <a:rPr sz="2000"/>
              <a:t>	- Avoid in pregnancy and children below 2 </a:t>
            </a:r>
            <a:r>
              <a:rPr sz="2000"/>
              <a:t>yrs</a:t>
            </a:r>
            <a:r>
              <a:rPr sz="2000"/>
              <a:t> (no drug tests done on these </a:t>
            </a:r>
            <a:r>
              <a:rPr sz="2000"/>
              <a:t>gps</a:t>
            </a:r>
            <a:r>
              <a:rPr sz="2000"/>
              <a:t>)</a:t>
            </a:r>
            <a:endParaRPr sz="2000" u="sng"/>
          </a:p>
          <a:p>
            <a:pPr>
              <a:lnSpc>
                <a:spcPct val="80000"/>
              </a:lnSpc>
              <a:buNone/>
            </a:pPr>
            <a:r>
              <a:rPr sz="2000" u="sng"/>
              <a:t>Uses</a:t>
            </a:r>
            <a:r>
              <a:rPr sz="2000"/>
              <a:t>:</a:t>
            </a:r>
            <a:endParaRPr sz="2000"/>
          </a:p>
          <a:p>
            <a:pPr>
              <a:lnSpc>
                <a:spcPct val="80000"/>
              </a:lnSpc>
              <a:buNone/>
            </a:pPr>
            <a:r>
              <a:rPr sz="2000"/>
              <a:t>	1. DOC in beef, pork (w/ purge) and fish tapeworms</a:t>
            </a:r>
            <a:endParaRPr sz="2000"/>
          </a:p>
          <a:p>
            <a:pPr>
              <a:lnSpc>
                <a:spcPct val="80000"/>
              </a:lnSpc>
              <a:buNone/>
            </a:pPr>
            <a:r>
              <a:rPr sz="2000"/>
              <a:t>	2. Dwarf tapeworm (alternative to praziquantel) (must be given for long (7 days) and effective only on intestinal lumen parasite and not those lodged in villi</a:t>
            </a:r>
            <a:endParaRPr sz="2000"/>
          </a:p>
          <a:p>
            <a:pPr>
              <a:lnSpc>
                <a:spcPct val="80000"/>
              </a:lnSpc>
              <a:buNone/>
            </a:pPr>
            <a:r>
              <a:rPr sz="2000"/>
              <a:t>	3. Alternative in intestinal flukes (e.g. </a:t>
            </a:r>
            <a:r>
              <a:rPr sz="2000"/>
              <a:t>Fasciolopsis</a:t>
            </a:r>
            <a:r>
              <a:rPr sz="2000"/>
              <a:t> </a:t>
            </a:r>
            <a:r>
              <a:rPr sz="2000"/>
              <a:t>buski</a:t>
            </a:r>
            <a:r>
              <a:rPr sz="2000"/>
              <a:t>)</a:t>
            </a:r>
            <a:endParaRPr sz="2000"/>
          </a:p>
        </p:txBody>
      </p:sp>
    </p:spTree>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031" name=""/>
        <p:cNvGrpSpPr/>
        <p:nvPr/>
      </p:nvGrpSpPr>
      <p:grpSpPr>
        <a:xfrm>
          <a:off x="0" y="0"/>
          <a:ext cx="0" cy="0"/>
          <a:chOff x="0" y="0"/>
          <a:chExt cx="0" cy="0"/>
        </a:xfrm>
      </p:grpSpPr>
      <p:sp>
        <p:nvSpPr>
          <p:cNvPr id="1049306" name="Rectangle 2"/>
          <p:cNvSpPr>
            <a:spLocks noGrp="1" noChangeArrowheads="1"/>
          </p:cNvSpPr>
          <p:nvPr>
            <p:ph type="body" idx="1"/>
          </p:nvPr>
        </p:nvSpPr>
        <p:spPr>
          <a:xfrm>
            <a:off x="485775" y="152404"/>
            <a:ext cx="11191870" cy="6400800"/>
          </a:xfrm>
        </p:spPr>
        <p:txBody>
          <a:bodyPr>
            <a:normAutofit lnSpcReduction="10000"/>
          </a:bodyPr>
          <a:p>
            <a:pPr>
              <a:lnSpc>
                <a:spcPct val="80000"/>
              </a:lnSpc>
              <a:buNone/>
            </a:pPr>
            <a:r>
              <a:rPr b="1" sz="1800">
                <a:solidFill>
                  <a:srgbClr val="CC0000"/>
                </a:solidFill>
              </a:rPr>
              <a:t>8. PRAZIQUANTEL</a:t>
            </a:r>
            <a:endParaRPr b="1" sz="1800">
              <a:solidFill>
                <a:srgbClr val="CC0000"/>
              </a:solidFill>
            </a:endParaRPr>
          </a:p>
          <a:p>
            <a:pPr>
              <a:lnSpc>
                <a:spcPct val="80000"/>
              </a:lnSpc>
              <a:buNone/>
            </a:pPr>
            <a:r>
              <a:rPr sz="1800" u="sng"/>
              <a:t>Mxn</a:t>
            </a:r>
            <a:r>
              <a:rPr sz="1800"/>
              <a:t>: increases cell membrane permeability to calcium leads to – vacuolization, contraction, paralysis and dislodgment from host, death, immune defense is essential </a:t>
            </a:r>
            <a:endParaRPr sz="1800"/>
          </a:p>
          <a:p>
            <a:pPr>
              <a:lnSpc>
                <a:spcPct val="80000"/>
              </a:lnSpc>
              <a:buNone/>
            </a:pPr>
            <a:endParaRPr sz="1800" u="sng"/>
          </a:p>
          <a:p>
            <a:pPr>
              <a:lnSpc>
                <a:spcPct val="80000"/>
              </a:lnSpc>
              <a:buNone/>
            </a:pPr>
            <a:r>
              <a:rPr sz="1800" u="sng"/>
              <a:t>Adm</a:t>
            </a:r>
            <a:r>
              <a:rPr sz="1800"/>
              <a:t>: Oral (don’t chew, vomiting – regurgitation of T. </a:t>
            </a:r>
            <a:r>
              <a:rPr sz="1800"/>
              <a:t>solium</a:t>
            </a:r>
            <a:r>
              <a:rPr sz="1800"/>
              <a:t> segment is dangerous)</a:t>
            </a:r>
            <a:endParaRPr sz="1800"/>
          </a:p>
          <a:p>
            <a:pPr>
              <a:lnSpc>
                <a:spcPct val="80000"/>
              </a:lnSpc>
              <a:buNone/>
            </a:pPr>
            <a:r>
              <a:rPr sz="1800" u="sng"/>
              <a:t>Abs</a:t>
            </a:r>
            <a:r>
              <a:rPr sz="1800"/>
              <a:t>: rapid, increased with carbohydrate meal &amp; cimetidine</a:t>
            </a:r>
            <a:endParaRPr sz="1800"/>
          </a:p>
          <a:p>
            <a:pPr>
              <a:lnSpc>
                <a:spcPct val="80000"/>
              </a:lnSpc>
              <a:buNone/>
            </a:pPr>
            <a:r>
              <a:rPr sz="1800"/>
              <a:t>Bioavailability reduced with some drugs – antiepileptics &amp; corticosteroids</a:t>
            </a:r>
            <a:endParaRPr sz="1800"/>
          </a:p>
          <a:p>
            <a:pPr>
              <a:lnSpc>
                <a:spcPct val="80000"/>
              </a:lnSpc>
              <a:buNone/>
            </a:pPr>
            <a:r>
              <a:rPr sz="1800" u="sng"/>
              <a:t>Distribution</a:t>
            </a:r>
            <a:r>
              <a:rPr sz="1800"/>
              <a:t>: wide including CSF, breast milk, NB. Protein binding, </a:t>
            </a:r>
            <a:endParaRPr sz="1800"/>
          </a:p>
          <a:p>
            <a:pPr>
              <a:lnSpc>
                <a:spcPct val="80000"/>
              </a:lnSpc>
              <a:buNone/>
            </a:pPr>
            <a:r>
              <a:rPr sz="1800" u="sng"/>
              <a:t>Elimination</a:t>
            </a:r>
            <a:r>
              <a:rPr sz="1800"/>
              <a:t>: first pass metabolism (NB. liver </a:t>
            </a:r>
            <a:r>
              <a:rPr sz="1800"/>
              <a:t>dysfxn</a:t>
            </a:r>
            <a:r>
              <a:rPr sz="1800"/>
              <a:t>), renal, biliary excretion</a:t>
            </a:r>
            <a:endParaRPr sz="1800"/>
          </a:p>
          <a:p>
            <a:pPr>
              <a:lnSpc>
                <a:spcPct val="80000"/>
              </a:lnSpc>
              <a:buNone/>
            </a:pPr>
            <a:r>
              <a:rPr sz="1800"/>
              <a:t> </a:t>
            </a:r>
            <a:endParaRPr sz="1800"/>
          </a:p>
          <a:p>
            <a:pPr>
              <a:lnSpc>
                <a:spcPct val="80000"/>
              </a:lnSpc>
              <a:buNone/>
            </a:pPr>
            <a:r>
              <a:rPr sz="1800" u="sng"/>
              <a:t>S/E</a:t>
            </a:r>
            <a:r>
              <a:rPr sz="1800"/>
              <a:t> (due to drug - increase w/ dosage)</a:t>
            </a:r>
            <a:endParaRPr sz="1800"/>
          </a:p>
          <a:p>
            <a:pPr>
              <a:lnSpc>
                <a:spcPct val="80000"/>
              </a:lnSpc>
              <a:buNone/>
            </a:pPr>
            <a:r>
              <a:rPr sz="1800"/>
              <a:t>	- Fever, headache, dizziness, drowsiness, lassitude </a:t>
            </a:r>
            <a:endParaRPr sz="1800"/>
          </a:p>
          <a:p>
            <a:pPr>
              <a:lnSpc>
                <a:spcPct val="80000"/>
              </a:lnSpc>
              <a:buNone/>
            </a:pPr>
            <a:r>
              <a:rPr sz="1800"/>
              <a:t>	- GIT effects</a:t>
            </a:r>
            <a:endParaRPr sz="1800"/>
          </a:p>
          <a:p>
            <a:pPr>
              <a:lnSpc>
                <a:spcPct val="80000"/>
              </a:lnSpc>
              <a:buNone/>
            </a:pPr>
            <a:r>
              <a:rPr sz="1800"/>
              <a:t>	- Rash, pruritus, urticaria</a:t>
            </a:r>
            <a:endParaRPr sz="1800"/>
          </a:p>
          <a:p>
            <a:pPr>
              <a:lnSpc>
                <a:spcPct val="80000"/>
              </a:lnSpc>
              <a:buNone/>
            </a:pPr>
            <a:r>
              <a:rPr sz="1800"/>
              <a:t>	- Mild liver damage</a:t>
            </a:r>
            <a:endParaRPr sz="1800"/>
          </a:p>
          <a:p>
            <a:pPr>
              <a:lnSpc>
                <a:spcPct val="80000"/>
              </a:lnSpc>
              <a:buNone/>
            </a:pPr>
            <a:r>
              <a:rPr sz="1800"/>
              <a:t>	- Effects of dying parasites - eosinophilia</a:t>
            </a:r>
            <a:endParaRPr sz="1800"/>
          </a:p>
          <a:p>
            <a:pPr>
              <a:lnSpc>
                <a:spcPct val="80000"/>
              </a:lnSpc>
              <a:buNone/>
            </a:pPr>
            <a:r>
              <a:rPr b="1" sz="1800"/>
              <a:t>rxn</a:t>
            </a:r>
            <a:r>
              <a:rPr b="1" sz="1800"/>
              <a:t> to dying parasite</a:t>
            </a:r>
            <a:r>
              <a:rPr sz="1800"/>
              <a:t> (antiemetics, analgesics, diuretics and </a:t>
            </a:r>
            <a:r>
              <a:rPr sz="1800"/>
              <a:t>anticoncvulsants</a:t>
            </a:r>
            <a:r>
              <a:rPr sz="1800"/>
              <a:t>) – e.g. hydatid Rx</a:t>
            </a:r>
            <a:endParaRPr sz="1800"/>
          </a:p>
          <a:p>
            <a:pPr>
              <a:lnSpc>
                <a:spcPct val="80000"/>
              </a:lnSpc>
              <a:buNone/>
            </a:pPr>
            <a:r>
              <a:rPr sz="1800"/>
              <a:t>	- </a:t>
            </a:r>
            <a:r>
              <a:rPr sz="1800">
                <a:solidFill>
                  <a:srgbClr val="FF0000"/>
                </a:solidFill>
              </a:rPr>
              <a:t>Meningismus</a:t>
            </a:r>
            <a:r>
              <a:rPr sz="1800">
                <a:solidFill>
                  <a:srgbClr val="FF0000"/>
                </a:solidFill>
              </a:rPr>
              <a:t>, mental changes, seizures, increased CSF fluid, intracranial </a:t>
            </a:r>
            <a:r>
              <a:rPr sz="1800">
                <a:solidFill>
                  <a:srgbClr val="FF0000"/>
                </a:solidFill>
              </a:rPr>
              <a:t>HPTn</a:t>
            </a:r>
            <a:r>
              <a:rPr sz="1800">
                <a:solidFill>
                  <a:srgbClr val="FF0000"/>
                </a:solidFill>
              </a:rPr>
              <a:t>, arachnoiditis, hyperthermia</a:t>
            </a:r>
            <a:r>
              <a:rPr sz="1800"/>
              <a:t>, </a:t>
            </a:r>
            <a:endParaRPr sz="1800" i="1"/>
          </a:p>
          <a:p>
            <a:pPr>
              <a:lnSpc>
                <a:spcPct val="80000"/>
              </a:lnSpc>
              <a:buNone/>
            </a:pPr>
            <a:r>
              <a:rPr sz="1800" i="1"/>
              <a:t>NB steroids reduce the plasma conc. of praziquantel (</a:t>
            </a:r>
            <a:r>
              <a:rPr sz="1800" i="1"/>
              <a:t>upto</a:t>
            </a:r>
            <a:r>
              <a:rPr sz="1800" i="1"/>
              <a:t> 50 %)</a:t>
            </a:r>
            <a:endParaRPr sz="1800" i="1"/>
          </a:p>
        </p:txBody>
      </p:sp>
    </p:spTree>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032" name=""/>
        <p:cNvGrpSpPr/>
        <p:nvPr/>
      </p:nvGrpSpPr>
      <p:grpSpPr>
        <a:xfrm>
          <a:off x="0" y="0"/>
          <a:ext cx="0" cy="0"/>
          <a:chOff x="0" y="0"/>
          <a:chExt cx="0" cy="0"/>
        </a:xfrm>
      </p:grpSpPr>
      <p:sp>
        <p:nvSpPr>
          <p:cNvPr id="1049307" name="Rectangle 2"/>
          <p:cNvSpPr>
            <a:spLocks noGrp="1" noChangeArrowheads="1"/>
          </p:cNvSpPr>
          <p:nvPr>
            <p:ph type="body" idx="1"/>
          </p:nvPr>
        </p:nvSpPr>
        <p:spPr>
          <a:xfrm>
            <a:off x="619120" y="228600"/>
            <a:ext cx="11001375" cy="6476995"/>
          </a:xfrm>
        </p:spPr>
        <p:txBody>
          <a:bodyPr>
            <a:normAutofit lnSpcReduction="10000"/>
          </a:bodyPr>
          <a:p>
            <a:pPr>
              <a:lnSpc>
                <a:spcPct val="80000"/>
              </a:lnSpc>
              <a:buNone/>
            </a:pPr>
            <a:r>
              <a:rPr b="1" sz="2000">
                <a:solidFill>
                  <a:srgbClr val="CC0000"/>
                </a:solidFill>
              </a:rPr>
              <a:t>8. PRAZIQUANTEL</a:t>
            </a:r>
            <a:endParaRPr sz="2000"/>
          </a:p>
          <a:p>
            <a:pPr>
              <a:lnSpc>
                <a:spcPct val="80000"/>
              </a:lnSpc>
              <a:buNone/>
            </a:pPr>
            <a:r>
              <a:rPr sz="2000" u="sng"/>
              <a:t>C/I</a:t>
            </a:r>
            <a:endParaRPr sz="2000" u="sng"/>
          </a:p>
          <a:p>
            <a:pPr>
              <a:lnSpc>
                <a:spcPct val="80000"/>
              </a:lnSpc>
              <a:buNone/>
            </a:pPr>
            <a:r>
              <a:rPr sz="2000"/>
              <a:t>	- Ocular cysticercosis –parasite degeneration </a:t>
            </a:r>
            <a:r>
              <a:rPr sz="2000">
                <a:cs typeface="Arial"/>
              </a:rPr>
              <a:t>→</a:t>
            </a:r>
            <a:r>
              <a:rPr sz="2000"/>
              <a:t> irreparable damage</a:t>
            </a:r>
            <a:endParaRPr sz="2000"/>
          </a:p>
          <a:p>
            <a:pPr>
              <a:lnSpc>
                <a:spcPct val="80000"/>
              </a:lnSpc>
              <a:buNone/>
            </a:pPr>
            <a:r>
              <a:rPr sz="2000"/>
              <a:t>	- Avoid in pregnancy</a:t>
            </a:r>
            <a:endParaRPr sz="2000"/>
          </a:p>
          <a:p>
            <a:pPr>
              <a:lnSpc>
                <a:spcPct val="80000"/>
              </a:lnSpc>
              <a:buNone/>
            </a:pPr>
            <a:r>
              <a:rPr sz="2000"/>
              <a:t>	- stop breastfeeding for 3 days after Rx </a:t>
            </a:r>
            <a:endParaRPr sz="2000" u="sng"/>
          </a:p>
          <a:p>
            <a:pPr>
              <a:lnSpc>
                <a:spcPct val="80000"/>
              </a:lnSpc>
              <a:buNone/>
            </a:pPr>
            <a:r>
              <a:rPr sz="2000" u="sng"/>
              <a:t>Uses</a:t>
            </a:r>
            <a:r>
              <a:rPr sz="2000"/>
              <a:t>:</a:t>
            </a:r>
            <a:endParaRPr sz="2000"/>
          </a:p>
          <a:p>
            <a:pPr>
              <a:lnSpc>
                <a:spcPct val="80000"/>
              </a:lnSpc>
              <a:buNone/>
            </a:pPr>
            <a:r>
              <a:rPr sz="2000"/>
              <a:t>1.</a:t>
            </a:r>
            <a:r>
              <a:rPr b="1" sz="2000"/>
              <a:t>Schistosomiasis </a:t>
            </a:r>
            <a:r>
              <a:rPr sz="2000"/>
              <a:t>– </a:t>
            </a:r>
            <a:r>
              <a:rPr b="1" sz="2000"/>
              <a:t>DOC</a:t>
            </a:r>
            <a:r>
              <a:rPr sz="2000"/>
              <a:t> for all forms</a:t>
            </a:r>
            <a:endParaRPr sz="2000"/>
          </a:p>
          <a:p>
            <a:pPr>
              <a:lnSpc>
                <a:spcPct val="80000"/>
              </a:lnSpc>
              <a:buNone/>
            </a:pPr>
            <a:r>
              <a:rPr sz="2000"/>
              <a:t>	Use in early infection may lead to severe hypersensitivity </a:t>
            </a:r>
            <a:r>
              <a:rPr sz="2000"/>
              <a:t>rxn</a:t>
            </a:r>
            <a:r>
              <a:rPr sz="2000"/>
              <a:t> and also young schistosomes (2-5 </a:t>
            </a:r>
            <a:r>
              <a:rPr sz="2000"/>
              <a:t>wks</a:t>
            </a:r>
            <a:r>
              <a:rPr sz="2000"/>
              <a:t> old) are not very insensitive to praziquantel</a:t>
            </a:r>
            <a:endParaRPr sz="2000"/>
          </a:p>
          <a:p>
            <a:pPr>
              <a:lnSpc>
                <a:spcPct val="80000"/>
              </a:lnSpc>
              <a:buNone/>
            </a:pPr>
            <a:endParaRPr sz="2000"/>
          </a:p>
          <a:p>
            <a:pPr>
              <a:lnSpc>
                <a:spcPct val="80000"/>
              </a:lnSpc>
              <a:buNone/>
            </a:pPr>
            <a:r>
              <a:rPr sz="2000"/>
              <a:t>2. H. nana - DOC</a:t>
            </a:r>
            <a:endParaRPr sz="2000"/>
          </a:p>
          <a:p>
            <a:pPr>
              <a:lnSpc>
                <a:spcPct val="80000"/>
              </a:lnSpc>
              <a:buNone/>
            </a:pPr>
            <a:endParaRPr sz="2000"/>
          </a:p>
          <a:p>
            <a:pPr>
              <a:lnSpc>
                <a:spcPct val="80000"/>
              </a:lnSpc>
              <a:buNone/>
            </a:pPr>
            <a:r>
              <a:rPr sz="2000"/>
              <a:t>3. Taeniasis (</a:t>
            </a:r>
            <a:r>
              <a:rPr sz="2000"/>
              <a:t>saginata</a:t>
            </a:r>
            <a:r>
              <a:rPr sz="2000"/>
              <a:t> and </a:t>
            </a:r>
            <a:r>
              <a:rPr sz="2000"/>
              <a:t>solium</a:t>
            </a:r>
            <a:r>
              <a:rPr sz="2000"/>
              <a:t> w/ purge) and D. latum infections</a:t>
            </a:r>
            <a:endParaRPr sz="2000"/>
          </a:p>
          <a:p>
            <a:pPr>
              <a:lnSpc>
                <a:spcPct val="80000"/>
              </a:lnSpc>
              <a:buNone/>
            </a:pPr>
            <a:r>
              <a:rPr sz="2000"/>
              <a:t>	NB. In cysticercosis endemic areas – best use a lower dose to minimize </a:t>
            </a:r>
            <a:r>
              <a:rPr sz="2000"/>
              <a:t>rxns</a:t>
            </a:r>
            <a:r>
              <a:rPr sz="2000"/>
              <a:t> from any existing/ unknown cysticercosis</a:t>
            </a:r>
            <a:endParaRPr sz="2000"/>
          </a:p>
          <a:p>
            <a:pPr>
              <a:lnSpc>
                <a:spcPct val="80000"/>
              </a:lnSpc>
              <a:buNone/>
            </a:pPr>
            <a:endParaRPr sz="2000"/>
          </a:p>
          <a:p>
            <a:pPr>
              <a:lnSpc>
                <a:spcPct val="80000"/>
              </a:lnSpc>
              <a:buNone/>
            </a:pPr>
            <a:r>
              <a:rPr sz="2000"/>
              <a:t>4. Neurocysticercosis – alternative to albendazole, to be </a:t>
            </a:r>
            <a:r>
              <a:rPr sz="2000"/>
              <a:t>adm</a:t>
            </a:r>
            <a:r>
              <a:rPr sz="2000"/>
              <a:t> under supervision</a:t>
            </a:r>
            <a:endParaRPr sz="2000"/>
          </a:p>
          <a:p>
            <a:pPr>
              <a:lnSpc>
                <a:spcPct val="80000"/>
              </a:lnSpc>
              <a:buNone/>
            </a:pPr>
            <a:endParaRPr sz="2000"/>
          </a:p>
          <a:p>
            <a:pPr>
              <a:lnSpc>
                <a:spcPct val="80000"/>
              </a:lnSpc>
              <a:buNone/>
            </a:pPr>
            <a:r>
              <a:rPr sz="2000"/>
              <a:t>5. Hydatid disease – added to albendazole (pre and post surgery – it increases albendazole sulfoxide conc. and kills </a:t>
            </a:r>
            <a:r>
              <a:rPr sz="2000"/>
              <a:t>protoscoleces</a:t>
            </a:r>
            <a:r>
              <a:rPr sz="2000"/>
              <a:t>) </a:t>
            </a:r>
            <a:endParaRPr sz="2000"/>
          </a:p>
        </p:txBody>
      </p:sp>
    </p:spTree>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033" name=""/>
        <p:cNvGrpSpPr/>
        <p:nvPr/>
      </p:nvGrpSpPr>
      <p:grpSpPr>
        <a:xfrm>
          <a:off x="0" y="0"/>
          <a:ext cx="0" cy="0"/>
          <a:chOff x="0" y="0"/>
          <a:chExt cx="0" cy="0"/>
        </a:xfrm>
      </p:grpSpPr>
      <p:sp>
        <p:nvSpPr>
          <p:cNvPr id="1049308" name="Rectangle 2"/>
          <p:cNvSpPr>
            <a:spLocks noGrp="1" noChangeArrowheads="1"/>
          </p:cNvSpPr>
          <p:nvPr>
            <p:ph type="body" idx="1"/>
          </p:nvPr>
        </p:nvSpPr>
        <p:spPr>
          <a:xfrm>
            <a:off x="542925" y="304795"/>
            <a:ext cx="11144250" cy="6248395"/>
          </a:xfrm>
        </p:spPr>
        <p:txBody>
          <a:bodyPr>
            <a:normAutofit/>
          </a:bodyPr>
          <a:p>
            <a:pPr>
              <a:lnSpc>
                <a:spcPct val="80000"/>
              </a:lnSpc>
              <a:buNone/>
            </a:pPr>
            <a:r>
              <a:rPr b="1" sz="2000">
                <a:solidFill>
                  <a:srgbClr val="CC0000"/>
                </a:solidFill>
              </a:rPr>
              <a:t>9. METRIFONATE – active </a:t>
            </a:r>
            <a:r>
              <a:rPr b="1" sz="2000" u="sng">
                <a:solidFill>
                  <a:srgbClr val="CC0000"/>
                </a:solidFill>
              </a:rPr>
              <a:t>only on S. </a:t>
            </a:r>
            <a:r>
              <a:rPr b="1" sz="2000" u="sng">
                <a:solidFill>
                  <a:srgbClr val="CC0000"/>
                </a:solidFill>
              </a:rPr>
              <a:t>hematobium</a:t>
            </a:r>
            <a:endParaRPr b="1" sz="2000" u="sng">
              <a:solidFill>
                <a:srgbClr val="CC0000"/>
              </a:solidFill>
            </a:endParaRPr>
          </a:p>
          <a:p>
            <a:pPr>
              <a:lnSpc>
                <a:spcPct val="80000"/>
              </a:lnSpc>
              <a:buNone/>
            </a:pPr>
            <a:r>
              <a:rPr sz="2000" u="sng"/>
              <a:t>Mxn</a:t>
            </a:r>
            <a:r>
              <a:rPr sz="2000"/>
              <a:t>: an organophosphate, a prodrug – active metabolite - dichlorvos</a:t>
            </a:r>
            <a:endParaRPr sz="2000"/>
          </a:p>
          <a:p>
            <a:pPr>
              <a:lnSpc>
                <a:spcPct val="80000"/>
              </a:lnSpc>
              <a:buNone/>
            </a:pPr>
            <a:r>
              <a:rPr sz="2000"/>
              <a:t>	-Inhibits </a:t>
            </a:r>
            <a:r>
              <a:rPr b="1" sz="2000"/>
              <a:t>cholinesterase </a:t>
            </a:r>
            <a:r>
              <a:rPr sz="2000"/>
              <a:t>– paralysis of the parasite, detach from the bladder, transported to lungs where they are trapped and killed by the immune system</a:t>
            </a:r>
            <a:endParaRPr sz="2000"/>
          </a:p>
          <a:p>
            <a:pPr>
              <a:lnSpc>
                <a:spcPct val="80000"/>
              </a:lnSpc>
              <a:buNone/>
            </a:pPr>
            <a:r>
              <a:rPr sz="2000"/>
              <a:t>	-Active against both mature and immature stages but not eggs</a:t>
            </a:r>
            <a:endParaRPr sz="2000"/>
          </a:p>
          <a:p>
            <a:pPr>
              <a:lnSpc>
                <a:spcPct val="80000"/>
              </a:lnSpc>
              <a:buNone/>
            </a:pPr>
            <a:r>
              <a:rPr sz="2000" u="sng"/>
              <a:t>Adm</a:t>
            </a:r>
            <a:r>
              <a:rPr sz="2000"/>
              <a:t>: oral</a:t>
            </a:r>
            <a:endParaRPr sz="2000"/>
          </a:p>
          <a:p>
            <a:pPr>
              <a:lnSpc>
                <a:spcPct val="80000"/>
              </a:lnSpc>
              <a:buNone/>
            </a:pPr>
            <a:r>
              <a:rPr sz="2000" u="sng"/>
              <a:t>Abs</a:t>
            </a:r>
            <a:r>
              <a:rPr sz="2000"/>
              <a:t>: ready</a:t>
            </a:r>
            <a:endParaRPr sz="2000"/>
          </a:p>
          <a:p>
            <a:pPr>
              <a:lnSpc>
                <a:spcPct val="80000"/>
              </a:lnSpc>
              <a:buNone/>
            </a:pPr>
            <a:r>
              <a:rPr sz="2000" u="sng"/>
              <a:t>Distribution</a:t>
            </a:r>
            <a:r>
              <a:rPr sz="2000"/>
              <a:t>: well, wide</a:t>
            </a:r>
            <a:endParaRPr sz="2000"/>
          </a:p>
          <a:p>
            <a:pPr>
              <a:lnSpc>
                <a:spcPct val="80000"/>
              </a:lnSpc>
              <a:buNone/>
            </a:pPr>
            <a:r>
              <a:rPr sz="2000" u="sng"/>
              <a:t>Elimination</a:t>
            </a:r>
            <a:r>
              <a:rPr sz="2000"/>
              <a:t>: metabolized to dichlorvos (active drug, forms only 1%)</a:t>
            </a:r>
            <a:endParaRPr sz="2000"/>
          </a:p>
          <a:p>
            <a:pPr>
              <a:lnSpc>
                <a:spcPct val="80000"/>
              </a:lnSpc>
              <a:buNone/>
            </a:pPr>
            <a:endParaRPr sz="2000"/>
          </a:p>
          <a:p>
            <a:pPr>
              <a:lnSpc>
                <a:spcPct val="80000"/>
              </a:lnSpc>
              <a:buNone/>
            </a:pPr>
            <a:r>
              <a:rPr sz="2000" u="sng"/>
              <a:t>S/E</a:t>
            </a:r>
            <a:endParaRPr sz="2000" u="sng"/>
          </a:p>
          <a:p>
            <a:pPr>
              <a:lnSpc>
                <a:spcPct val="80000"/>
              </a:lnSpc>
              <a:buNone/>
            </a:pPr>
            <a:r>
              <a:rPr sz="2000"/>
              <a:t>	- cholinergic symptoms (inhibition of cholinesterase (plasma and erythrocyte) – e.g. bronchospasm, diarrhea, abdominal spasms </a:t>
            </a:r>
            <a:endParaRPr sz="2000"/>
          </a:p>
          <a:p>
            <a:pPr>
              <a:lnSpc>
                <a:spcPct val="80000"/>
              </a:lnSpc>
              <a:buNone/>
            </a:pPr>
            <a:r>
              <a:rPr sz="2000"/>
              <a:t>	- CNS- dizziness, vertigo</a:t>
            </a:r>
            <a:endParaRPr sz="2000"/>
          </a:p>
          <a:p>
            <a:pPr>
              <a:lnSpc>
                <a:spcPct val="80000"/>
              </a:lnSpc>
              <a:buNone/>
            </a:pPr>
            <a:r>
              <a:rPr sz="2000"/>
              <a:t>	- Sweating</a:t>
            </a:r>
            <a:endParaRPr sz="2000"/>
          </a:p>
          <a:p>
            <a:pPr>
              <a:lnSpc>
                <a:spcPct val="80000"/>
              </a:lnSpc>
              <a:buNone/>
            </a:pPr>
            <a:endParaRPr sz="2000"/>
          </a:p>
          <a:p>
            <a:pPr>
              <a:lnSpc>
                <a:spcPct val="80000"/>
              </a:lnSpc>
              <a:buNone/>
            </a:pPr>
            <a:r>
              <a:rPr sz="2000" u="sng"/>
              <a:t>C/I</a:t>
            </a:r>
            <a:r>
              <a:rPr sz="2000"/>
              <a:t> </a:t>
            </a:r>
            <a:endParaRPr sz="2000"/>
          </a:p>
          <a:p>
            <a:pPr>
              <a:lnSpc>
                <a:spcPct val="80000"/>
              </a:lnSpc>
              <a:buNone/>
            </a:pPr>
            <a:r>
              <a:rPr sz="2000"/>
              <a:t>	- Avoid use of muscle relaxants, or in persons recently exposed to organophosphates </a:t>
            </a:r>
            <a:endParaRPr sz="2000"/>
          </a:p>
          <a:p>
            <a:pPr>
              <a:lnSpc>
                <a:spcPct val="80000"/>
              </a:lnSpc>
              <a:buNone/>
            </a:pPr>
            <a:r>
              <a:rPr sz="2000"/>
              <a:t>	- Avoid in pregnancy</a:t>
            </a:r>
            <a:endParaRPr sz="2000"/>
          </a:p>
        </p:txBody>
      </p:sp>
    </p:spTree>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034" name=""/>
        <p:cNvGrpSpPr/>
        <p:nvPr/>
      </p:nvGrpSpPr>
      <p:grpSpPr>
        <a:xfrm>
          <a:off x="0" y="0"/>
          <a:ext cx="0" cy="0"/>
          <a:chOff x="0" y="0"/>
          <a:chExt cx="0" cy="0"/>
        </a:xfrm>
      </p:grpSpPr>
      <p:sp>
        <p:nvSpPr>
          <p:cNvPr id="1049309" name="Rectangle 2"/>
          <p:cNvSpPr>
            <a:spLocks noGrp="1" noChangeArrowheads="1"/>
          </p:cNvSpPr>
          <p:nvPr>
            <p:ph type="body" idx="1"/>
          </p:nvPr>
        </p:nvSpPr>
        <p:spPr>
          <a:xfrm>
            <a:off x="523879" y="304795"/>
            <a:ext cx="11239504" cy="6172200"/>
          </a:xfrm>
        </p:spPr>
        <p:txBody>
          <a:bodyPr>
            <a:normAutofit lnSpcReduction="10000"/>
          </a:bodyPr>
          <a:p>
            <a:pPr>
              <a:lnSpc>
                <a:spcPct val="80000"/>
              </a:lnSpc>
              <a:buNone/>
            </a:pPr>
            <a:r>
              <a:rPr b="1" sz="2000">
                <a:solidFill>
                  <a:srgbClr val="CC0000"/>
                </a:solidFill>
              </a:rPr>
              <a:t>10. OXAMNIQUINE</a:t>
            </a:r>
            <a:r>
              <a:rPr sz="2000"/>
              <a:t> –acts </a:t>
            </a:r>
            <a:r>
              <a:rPr b="1" sz="2000" u="sng"/>
              <a:t>only on </a:t>
            </a:r>
            <a:r>
              <a:rPr b="1" sz="2000" u="sng"/>
              <a:t>S.mansoni</a:t>
            </a:r>
            <a:endParaRPr b="1" sz="2000" u="sng"/>
          </a:p>
          <a:p>
            <a:pPr>
              <a:lnSpc>
                <a:spcPct val="80000"/>
              </a:lnSpc>
              <a:buNone/>
            </a:pPr>
            <a:r>
              <a:rPr sz="2000" u="sng"/>
              <a:t>Mxn</a:t>
            </a:r>
            <a:r>
              <a:rPr sz="2000"/>
              <a:t>: unclear – causes detachment of parasites from venules (in the mesentery) and relocation to liver, an unsuitable environment where they die. </a:t>
            </a:r>
            <a:endParaRPr sz="2000"/>
          </a:p>
          <a:p>
            <a:pPr>
              <a:lnSpc>
                <a:spcPct val="80000"/>
              </a:lnSpc>
              <a:buNone/>
            </a:pPr>
            <a:r>
              <a:rPr sz="2000"/>
              <a:t>Active against mature and immature stages, but not </a:t>
            </a:r>
            <a:r>
              <a:rPr sz="2000"/>
              <a:t>cercaricidal</a:t>
            </a:r>
            <a:endParaRPr sz="2000"/>
          </a:p>
          <a:p>
            <a:pPr>
              <a:lnSpc>
                <a:spcPct val="80000"/>
              </a:lnSpc>
              <a:buNone/>
            </a:pPr>
            <a:r>
              <a:rPr sz="2000" u="sng"/>
              <a:t>Adm</a:t>
            </a:r>
            <a:r>
              <a:rPr sz="2000"/>
              <a:t>: oral, take w/ food</a:t>
            </a:r>
            <a:endParaRPr sz="2000"/>
          </a:p>
          <a:p>
            <a:pPr>
              <a:lnSpc>
                <a:spcPct val="80000"/>
              </a:lnSpc>
              <a:buNone/>
            </a:pPr>
            <a:r>
              <a:rPr sz="2000" u="sng"/>
              <a:t>Abs</a:t>
            </a:r>
            <a:r>
              <a:rPr sz="2000"/>
              <a:t>: ready</a:t>
            </a:r>
            <a:endParaRPr sz="2000"/>
          </a:p>
          <a:p>
            <a:pPr>
              <a:lnSpc>
                <a:spcPct val="80000"/>
              </a:lnSpc>
              <a:buNone/>
            </a:pPr>
            <a:r>
              <a:rPr sz="2000" u="sng"/>
              <a:t>Distribution</a:t>
            </a:r>
            <a:r>
              <a:rPr sz="2000"/>
              <a:t>:</a:t>
            </a:r>
            <a:endParaRPr sz="2000"/>
          </a:p>
          <a:p>
            <a:pPr>
              <a:lnSpc>
                <a:spcPct val="80000"/>
              </a:lnSpc>
              <a:buNone/>
            </a:pPr>
            <a:r>
              <a:rPr sz="2000" u="sng"/>
              <a:t>Elimination</a:t>
            </a:r>
            <a:r>
              <a:rPr sz="2000"/>
              <a:t>: t1/2 – 2.5 hrs. metabolized, renal excretion</a:t>
            </a:r>
            <a:endParaRPr sz="2000"/>
          </a:p>
          <a:p>
            <a:pPr>
              <a:lnSpc>
                <a:spcPct val="80000"/>
              </a:lnSpc>
              <a:buNone/>
            </a:pPr>
            <a:r>
              <a:rPr sz="2000" u="sng"/>
              <a:t>S/E</a:t>
            </a:r>
            <a:r>
              <a:rPr sz="2000"/>
              <a:t> -fairly safe</a:t>
            </a:r>
            <a:endParaRPr sz="2000"/>
          </a:p>
          <a:p>
            <a:pPr>
              <a:lnSpc>
                <a:spcPct val="80000"/>
              </a:lnSpc>
              <a:buNone/>
            </a:pPr>
            <a:r>
              <a:rPr sz="2000"/>
              <a:t>	- CNS effects – fever, headache, dizziness, drowsiness</a:t>
            </a:r>
            <a:endParaRPr sz="2000"/>
          </a:p>
          <a:p>
            <a:pPr>
              <a:lnSpc>
                <a:spcPct val="80000"/>
              </a:lnSpc>
              <a:buNone/>
            </a:pPr>
            <a:r>
              <a:rPr sz="2000"/>
              <a:t>	- GIT effects –</a:t>
            </a:r>
            <a:endParaRPr sz="2000"/>
          </a:p>
          <a:p>
            <a:pPr>
              <a:lnSpc>
                <a:spcPct val="80000"/>
              </a:lnSpc>
              <a:buNone/>
            </a:pPr>
            <a:r>
              <a:rPr sz="2000"/>
              <a:t>	-Urticaria, pruritus</a:t>
            </a:r>
            <a:endParaRPr sz="2000"/>
          </a:p>
          <a:p>
            <a:pPr>
              <a:lnSpc>
                <a:spcPct val="80000"/>
              </a:lnSpc>
              <a:buNone/>
            </a:pPr>
            <a:r>
              <a:rPr sz="2000"/>
              <a:t>	-Orange discoloration of urine</a:t>
            </a:r>
            <a:endParaRPr sz="2000"/>
          </a:p>
          <a:p>
            <a:pPr>
              <a:lnSpc>
                <a:spcPct val="80000"/>
              </a:lnSpc>
              <a:buNone/>
            </a:pPr>
            <a:endParaRPr sz="2000"/>
          </a:p>
          <a:p>
            <a:pPr>
              <a:lnSpc>
                <a:spcPct val="80000"/>
              </a:lnSpc>
              <a:buNone/>
            </a:pPr>
            <a:r>
              <a:rPr sz="2000"/>
              <a:t>(Uncommon)</a:t>
            </a:r>
            <a:endParaRPr sz="2000"/>
          </a:p>
          <a:p>
            <a:pPr>
              <a:lnSpc>
                <a:spcPct val="80000"/>
              </a:lnSpc>
              <a:buNone/>
            </a:pPr>
            <a:r>
              <a:rPr sz="2000"/>
              <a:t>	- CNS- seizures, insomnia, amnesia (avoid activities requiring attention), behavioral change, hallucinations</a:t>
            </a:r>
            <a:endParaRPr sz="2000"/>
          </a:p>
          <a:p>
            <a:pPr>
              <a:lnSpc>
                <a:spcPct val="80000"/>
              </a:lnSpc>
              <a:buNone/>
            </a:pPr>
            <a:r>
              <a:rPr sz="2000"/>
              <a:t>	- Microhematuria, proteinuria</a:t>
            </a:r>
            <a:endParaRPr sz="2000"/>
          </a:p>
        </p:txBody>
      </p:sp>
    </p:spTree>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035" name=""/>
        <p:cNvGrpSpPr/>
        <p:nvPr/>
      </p:nvGrpSpPr>
      <p:grpSpPr>
        <a:xfrm>
          <a:off x="0" y="0"/>
          <a:ext cx="0" cy="0"/>
          <a:chOff x="0" y="0"/>
          <a:chExt cx="0" cy="0"/>
        </a:xfrm>
      </p:grpSpPr>
      <p:sp>
        <p:nvSpPr>
          <p:cNvPr id="1049310" name="Rectangle 2"/>
          <p:cNvSpPr>
            <a:spLocks noGrp="1" noChangeArrowheads="1"/>
          </p:cNvSpPr>
          <p:nvPr>
            <p:ph type="body" idx="1"/>
          </p:nvPr>
        </p:nvSpPr>
        <p:spPr>
          <a:xfrm>
            <a:off x="914400" y="304795"/>
            <a:ext cx="10306045" cy="6248395"/>
          </a:xfrm>
        </p:spPr>
        <p:txBody>
          <a:bodyPr>
            <a:normAutofit/>
          </a:bodyPr>
          <a:p>
            <a:pPr>
              <a:lnSpc>
                <a:spcPct val="80000"/>
              </a:lnSpc>
              <a:buNone/>
            </a:pPr>
            <a:r>
              <a:rPr b="1">
                <a:solidFill>
                  <a:srgbClr val="CC0000"/>
                </a:solidFill>
              </a:rPr>
              <a:t>10. OXAMNIQUINE</a:t>
            </a:r>
            <a:endParaRPr b="1"/>
          </a:p>
          <a:p>
            <a:pPr>
              <a:lnSpc>
                <a:spcPct val="80000"/>
              </a:lnSpc>
              <a:buNone/>
            </a:pPr>
            <a:r>
              <a:t>Effects due to dying parasite</a:t>
            </a:r>
          </a:p>
          <a:p>
            <a:pPr>
              <a:lnSpc>
                <a:spcPct val="80000"/>
              </a:lnSpc>
              <a:buNone/>
            </a:pPr>
            <a:r>
              <a:t>	- Liver damage</a:t>
            </a:r>
          </a:p>
          <a:p>
            <a:pPr>
              <a:lnSpc>
                <a:spcPct val="80000"/>
              </a:lnSpc>
              <a:buNone/>
            </a:pPr>
            <a:r>
              <a:t>	- Pulmonary infiltrates (cough)</a:t>
            </a:r>
          </a:p>
          <a:p>
            <a:pPr>
              <a:lnSpc>
                <a:spcPct val="80000"/>
              </a:lnSpc>
              <a:buNone/>
            </a:pPr>
            <a:r>
              <a:rPr u="sng"/>
              <a:t>Caution</a:t>
            </a:r>
            <a:endParaRPr u="sng"/>
          </a:p>
          <a:p>
            <a:pPr>
              <a:lnSpc>
                <a:spcPct val="80000"/>
              </a:lnSpc>
              <a:buNone/>
            </a:pPr>
            <a:r>
              <a:t>	- In patients w/ epilepsy (should be hospitalized)</a:t>
            </a:r>
          </a:p>
          <a:p>
            <a:pPr>
              <a:lnSpc>
                <a:spcPct val="80000"/>
              </a:lnSpc>
              <a:buNone/>
            </a:pPr>
            <a:r>
              <a:t>	- C/I in pregnancy</a:t>
            </a:r>
          </a:p>
          <a:p>
            <a:pPr>
              <a:lnSpc>
                <a:spcPct val="80000"/>
              </a:lnSpc>
              <a:buNone/>
            </a:pPr>
            <a:r>
              <a:t>Uses:</a:t>
            </a:r>
          </a:p>
          <a:p>
            <a:pPr>
              <a:lnSpc>
                <a:spcPct val="80000"/>
              </a:lnSpc>
              <a:buNone/>
            </a:pPr>
            <a:r>
              <a:t>1. S. </a:t>
            </a:r>
            <a:r>
              <a:t>mansoni</a:t>
            </a:r>
            <a:r>
              <a:t> infection – all stages (acute – </a:t>
            </a:r>
            <a:r>
              <a:t>katayama</a:t>
            </a:r>
            <a:r>
              <a:t> syndrome or late – hepatosplenomegaly)</a:t>
            </a:r>
          </a:p>
          <a:p>
            <a:pPr>
              <a:lnSpc>
                <a:spcPct val="80000"/>
              </a:lnSpc>
              <a:buNone/>
            </a:pPr>
            <a:endParaRPr b="1">
              <a:solidFill>
                <a:srgbClr val="CC0000"/>
              </a:solidFill>
            </a:endParaRPr>
          </a:p>
          <a:p>
            <a:pPr>
              <a:lnSpc>
                <a:spcPct val="80000"/>
              </a:lnSpc>
              <a:buNone/>
            </a:pPr>
            <a:r>
              <a:rPr b="1">
                <a:solidFill>
                  <a:srgbClr val="CC0000"/>
                </a:solidFill>
              </a:rPr>
              <a:t>Other drugs (Schistosomes)</a:t>
            </a:r>
            <a:endParaRPr b="1">
              <a:solidFill>
                <a:srgbClr val="CC0000"/>
              </a:solidFill>
            </a:endParaRPr>
          </a:p>
          <a:p>
            <a:pPr>
              <a:lnSpc>
                <a:spcPct val="80000"/>
              </a:lnSpc>
              <a:buNone/>
            </a:pPr>
            <a:r>
              <a:rPr>
                <a:cs typeface="Arial"/>
              </a:rPr>
              <a:t>♦ </a:t>
            </a:r>
            <a:r>
              <a:t>Bithionol – DOC for liver fluke (Fasciola hepatica), paragonimiasis,</a:t>
            </a:r>
          </a:p>
          <a:p>
            <a:pPr>
              <a:lnSpc>
                <a:spcPct val="80000"/>
              </a:lnSpc>
              <a:buNone/>
            </a:pPr>
            <a:r>
              <a:t>	A/E: serious skin disorders </a:t>
            </a:r>
          </a:p>
          <a:p>
            <a:pPr>
              <a:lnSpc>
                <a:spcPct val="80000"/>
              </a:lnSpc>
              <a:buNone/>
            </a:pPr>
          </a:p>
          <a:p>
            <a:pPr>
              <a:lnSpc>
                <a:spcPct val="80000"/>
              </a:lnSpc>
              <a:buNone/>
            </a:pPr>
            <a:r>
              <a:rPr>
                <a:cs typeface="Arial"/>
              </a:rPr>
              <a:t>♦</a:t>
            </a:r>
            <a:r>
              <a:t> Emetine and </a:t>
            </a:r>
            <a:r>
              <a:t>dehydroemetine</a:t>
            </a:r>
            <a:r>
              <a:t> – alternative for fascioliasis</a:t>
            </a:r>
          </a:p>
        </p:txBody>
      </p:sp>
    </p:spTree>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036" name=""/>
        <p:cNvGrpSpPr/>
        <p:nvPr/>
      </p:nvGrpSpPr>
      <p:grpSpPr>
        <a:xfrm>
          <a:off x="0" y="0"/>
          <a:ext cx="0" cy="0"/>
          <a:chOff x="0" y="0"/>
          <a:chExt cx="0" cy="0"/>
        </a:xfrm>
      </p:grpSpPr>
      <p:sp>
        <p:nvSpPr>
          <p:cNvPr id="1049311" name="Title 1"/>
          <p:cNvSpPr>
            <a:spLocks noGrp="1"/>
          </p:cNvSpPr>
          <p:nvPr>
            <p:ph type="title"/>
          </p:nvPr>
        </p:nvSpPr>
        <p:spPr>
          <a:xfrm>
            <a:off x="838204" y="365126"/>
            <a:ext cx="10515600" cy="768343"/>
          </a:xfrm>
        </p:spPr>
        <p:txBody>
          <a:bodyPr/>
          <a:p>
            <a:r>
              <a:t>Treatment of common helminths</a:t>
            </a:r>
          </a:p>
        </p:txBody>
      </p:sp>
      <p:sp>
        <p:nvSpPr>
          <p:cNvPr id="1049312" name="Content Placeholder 2"/>
          <p:cNvSpPr>
            <a:spLocks noGrp="1"/>
          </p:cNvSpPr>
          <p:nvPr>
            <p:ph idx="1"/>
          </p:nvPr>
        </p:nvSpPr>
        <p:spPr>
          <a:xfrm>
            <a:off x="561970" y="1276345"/>
            <a:ext cx="11525254" cy="5391145"/>
          </a:xfrm>
        </p:spPr>
        <p:txBody>
          <a:bodyPr>
            <a:normAutofit/>
          </a:bodyPr>
          <a:p>
            <a:pPr indent="0" marL="0">
              <a:buNone/>
            </a:pPr>
            <a:r>
              <a:rPr sz="4100">
                <a:solidFill>
                  <a:srgbClr val="FF0000"/>
                </a:solidFill>
              </a:rPr>
              <a:t>A. Threadworms; </a:t>
            </a:r>
            <a:r>
              <a:rPr b="1" sz="4100">
                <a:solidFill>
                  <a:srgbClr val="FF0000"/>
                </a:solidFill>
              </a:rPr>
              <a:t>Enterobius vermicularis </a:t>
            </a:r>
            <a:endParaRPr b="1" sz="4100">
              <a:solidFill>
                <a:srgbClr val="FF0000"/>
              </a:solidFill>
            </a:endParaRPr>
          </a:p>
          <a:p>
            <a:pPr indent="0" marL="0">
              <a:buNone/>
            </a:pPr>
            <a:r>
              <a:t>i</a:t>
            </a:r>
            <a:r>
              <a:t>. </a:t>
            </a:r>
            <a:r>
              <a:rPr b="1"/>
              <a:t>Mebendazole</a:t>
            </a:r>
            <a:r>
              <a:t> is </a:t>
            </a:r>
            <a:r>
              <a:rPr b="1"/>
              <a:t>the drug of choice for treating threadworm infection in patients of all ages over 2 years</a:t>
            </a:r>
            <a:r>
              <a:t>. </a:t>
            </a:r>
          </a:p>
          <a:p>
            <a:r>
              <a:t>Dose: adult and child over 2 years, 100 mg as a single dose; if reinfection occurs second dose may be needed after 2 weeks. </a:t>
            </a:r>
          </a:p>
          <a:p>
            <a:r>
              <a:rPr>
                <a:solidFill>
                  <a:srgbClr val="FF0000"/>
                </a:solidFill>
              </a:rPr>
              <a:t>NB: not suitable for women known to be pregnant or children under 2 years </a:t>
            </a:r>
            <a:endParaRPr>
              <a:solidFill>
                <a:srgbClr val="FF0000"/>
              </a:solidFill>
            </a:endParaRPr>
          </a:p>
          <a:p>
            <a:r>
              <a:t>Side effects: abdominal pain; less commonly </a:t>
            </a:r>
            <a:r>
              <a:t>diarrhoea</a:t>
            </a:r>
            <a:r>
              <a:t>, flatulence, rash; very rarely hepatitis, convulsions, neutropenia, urticaria, alopecia, Stevens-Johnson syndrome, toxic epidermal necrolysis </a:t>
            </a:r>
          </a:p>
          <a:p>
            <a:pPr indent="0" marL="0">
              <a:buNone/>
            </a:pPr>
            <a:r>
              <a:rPr b="1"/>
              <a:t>ii. Piperazine </a:t>
            </a:r>
            <a:endParaRPr b="1"/>
          </a:p>
          <a:p>
            <a:pPr indent="0" marL="0">
              <a:buNone/>
            </a:pPr>
            <a:r>
              <a:t>Dose: </a:t>
            </a:r>
          </a:p>
          <a:p>
            <a:pPr indent="0" marL="0">
              <a:buNone/>
            </a:pPr>
            <a:r>
              <a:t>Adult and child over 6 years- content of 1 sachet as a single dose (bedtime in adults or morning in children), repeated after 14 days. </a:t>
            </a:r>
          </a:p>
          <a:p>
            <a:pPr indent="0" marL="0">
              <a:buNone/>
            </a:pPr>
            <a:r>
              <a:t>Infant 3 months–1 year- 1 level 2.5-mL spoonful in the morning, repeated after 14 days </a:t>
            </a:r>
          </a:p>
          <a:p>
            <a:pPr indent="0" marL="0">
              <a:buNone/>
            </a:pPr>
            <a:r>
              <a:t>Child 1–6 years: 1 level 5-mL spoonful in the morning, repeated after 14 days</a:t>
            </a:r>
          </a:p>
        </p:txBody>
      </p:sp>
    </p:spTree>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037" name=""/>
        <p:cNvGrpSpPr/>
        <p:nvPr/>
      </p:nvGrpSpPr>
      <p:grpSpPr>
        <a:xfrm>
          <a:off x="0" y="0"/>
          <a:ext cx="0" cy="0"/>
          <a:chOff x="0" y="0"/>
          <a:chExt cx="0" cy="0"/>
        </a:xfrm>
      </p:grpSpPr>
      <p:sp>
        <p:nvSpPr>
          <p:cNvPr id="1049313" name="Title 1"/>
          <p:cNvSpPr>
            <a:spLocks noGrp="1"/>
          </p:cNvSpPr>
          <p:nvPr>
            <p:ph type="title"/>
          </p:nvPr>
        </p:nvSpPr>
        <p:spPr/>
        <p:txBody>
          <a:bodyPr/>
          <a:p>
            <a:r>
              <a:rPr>
                <a:solidFill>
                  <a:srgbClr val="FF0000"/>
                </a:solidFill>
              </a:rPr>
              <a:t>B. Common roundworm (Ascaris lumbricoides) </a:t>
            </a:r>
            <a:endParaRPr>
              <a:solidFill>
                <a:srgbClr val="FF0000"/>
              </a:solidFill>
            </a:endParaRPr>
          </a:p>
        </p:txBody>
      </p:sp>
      <p:sp>
        <p:nvSpPr>
          <p:cNvPr id="1049314" name="Content Placeholder 2"/>
          <p:cNvSpPr>
            <a:spLocks noGrp="1"/>
          </p:cNvSpPr>
          <p:nvPr>
            <p:ph idx="1"/>
          </p:nvPr>
        </p:nvSpPr>
        <p:spPr>
          <a:xfrm>
            <a:off x="552454" y="1825618"/>
            <a:ext cx="11096629" cy="4822826"/>
          </a:xfrm>
        </p:spPr>
        <p:txBody>
          <a:bodyPr>
            <a:normAutofit/>
          </a:bodyPr>
          <a:p>
            <a:r>
              <a:t>i</a:t>
            </a:r>
            <a:r>
              <a:t>. </a:t>
            </a:r>
            <a:r>
              <a:rPr b="1"/>
              <a:t>Mebendazole generally considered to be the drug of choice</a:t>
            </a:r>
            <a:r>
              <a:t>; the usual dose is 100 mg twice daily for 3 days or 500 mg as a single dose. </a:t>
            </a:r>
          </a:p>
          <a:p>
            <a:r>
              <a:t>ii. </a:t>
            </a:r>
            <a:r>
              <a:rPr b="1"/>
              <a:t>Levamisole alternative </a:t>
            </a:r>
            <a:r>
              <a:t>when mebendazole cannot be used. </a:t>
            </a:r>
          </a:p>
          <a:p>
            <a:pPr lvl="1"/>
            <a:r>
              <a:t>It is very well tolerated; mild nausea or vomiting has been reported in about 1% of treated patients; </a:t>
            </a:r>
          </a:p>
          <a:p>
            <a:pPr lvl="1"/>
            <a:r>
              <a:t>it is given as a single dose of 120–150 mg in adults. </a:t>
            </a:r>
          </a:p>
          <a:p>
            <a:r>
              <a:t>iii. </a:t>
            </a:r>
            <a:r>
              <a:rPr b="1"/>
              <a:t>Piperazine m</a:t>
            </a:r>
            <a:r>
              <a:t>ay be given in a single adult dose</a:t>
            </a:r>
          </a:p>
          <a:p>
            <a:pPr indent="0" marL="0">
              <a:buNone/>
            </a:pPr>
            <a:r>
              <a:rPr sz="3900">
                <a:solidFill>
                  <a:srgbClr val="FF0000"/>
                </a:solidFill>
              </a:rPr>
              <a:t>C. Tapeworms </a:t>
            </a:r>
            <a:endParaRPr sz="3900">
              <a:solidFill>
                <a:srgbClr val="FF0000"/>
              </a:solidFill>
            </a:endParaRPr>
          </a:p>
          <a:p>
            <a:r>
              <a:rPr b="1"/>
              <a:t>Niclosamide</a:t>
            </a:r>
            <a:r>
              <a:t>: widely used drug for tapeworm infections </a:t>
            </a:r>
          </a:p>
          <a:p>
            <a:r>
              <a:rPr b="1"/>
              <a:t>Praziquantel</a:t>
            </a:r>
            <a:r>
              <a:t>: is as effective as </a:t>
            </a:r>
            <a:r>
              <a:t>niclosamide</a:t>
            </a:r>
            <a:r>
              <a:t> and is given as a single dose of 5–10 mg/kg after a light breakfast (a single dose of 25 mg/kg for </a:t>
            </a:r>
            <a:r>
              <a:t>Hymenolepis</a:t>
            </a:r>
            <a:r>
              <a:t> nana). </a:t>
            </a:r>
          </a:p>
        </p:txBody>
      </p:sp>
    </p:spTree>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038" name=""/>
        <p:cNvGrpSpPr/>
        <p:nvPr/>
      </p:nvGrpSpPr>
      <p:grpSpPr>
        <a:xfrm>
          <a:off x="0" y="0"/>
          <a:ext cx="0" cy="0"/>
          <a:chOff x="0" y="0"/>
          <a:chExt cx="0" cy="0"/>
        </a:xfrm>
      </p:grpSpPr>
      <p:sp>
        <p:nvSpPr>
          <p:cNvPr id="1049315" name="Title 1"/>
          <p:cNvSpPr>
            <a:spLocks noGrp="1"/>
          </p:cNvSpPr>
          <p:nvPr>
            <p:ph type="title"/>
          </p:nvPr>
        </p:nvSpPr>
        <p:spPr>
          <a:xfrm>
            <a:off x="838204" y="365126"/>
            <a:ext cx="10515600" cy="901703"/>
          </a:xfrm>
        </p:spPr>
        <p:txBody>
          <a:bodyPr/>
          <a:p>
            <a:r>
              <a:rPr>
                <a:solidFill>
                  <a:srgbClr val="FF0000"/>
                </a:solidFill>
              </a:rPr>
              <a:t>D. Hookworms </a:t>
            </a:r>
            <a:endParaRPr>
              <a:solidFill>
                <a:srgbClr val="FF0000"/>
              </a:solidFill>
            </a:endParaRPr>
          </a:p>
        </p:txBody>
      </p:sp>
      <p:sp>
        <p:nvSpPr>
          <p:cNvPr id="1049316" name="Content Placeholder 2"/>
          <p:cNvSpPr>
            <a:spLocks noGrp="1"/>
          </p:cNvSpPr>
          <p:nvPr>
            <p:ph idx="1"/>
          </p:nvPr>
        </p:nvSpPr>
        <p:spPr>
          <a:xfrm>
            <a:off x="838204" y="1504945"/>
            <a:ext cx="10515600" cy="5105395"/>
          </a:xfrm>
        </p:spPr>
        <p:txBody>
          <a:bodyPr>
            <a:normAutofit/>
          </a:bodyPr>
          <a:p>
            <a:r>
              <a:t>Mebendazole </a:t>
            </a:r>
          </a:p>
          <a:p>
            <a:pPr lvl="1"/>
            <a:r>
              <a:t>Usual dose is 100 mg twice daily for 3 days. </a:t>
            </a:r>
          </a:p>
          <a:p>
            <a:r>
              <a:t>Albendazole; given as a single dose of 400 mg, is an alternative. </a:t>
            </a:r>
          </a:p>
          <a:p>
            <a:r>
              <a:t>NB: Hookworms draw blood from the point of their attachment to their host and an </a:t>
            </a:r>
            <a:r>
              <a:t>irondeficiency</a:t>
            </a:r>
            <a:r>
              <a:t> </a:t>
            </a:r>
            <a:r>
              <a:t>anaemia</a:t>
            </a:r>
            <a:r>
              <a:t> may occur. If present, treatment of the </a:t>
            </a:r>
            <a:r>
              <a:t>anaemia</a:t>
            </a:r>
            <a:r>
              <a:t> should be included. </a:t>
            </a:r>
          </a:p>
          <a:p>
            <a:pPr indent="0" marL="0">
              <a:buNone/>
            </a:pPr>
            <a:r>
              <a:rPr sz="3800">
                <a:solidFill>
                  <a:srgbClr val="FF0000"/>
                </a:solidFill>
              </a:rPr>
              <a:t>E. Schistosomiasis (bilharziasis) </a:t>
            </a:r>
            <a:endParaRPr sz="3800">
              <a:solidFill>
                <a:srgbClr val="FF0000"/>
              </a:solidFill>
            </a:endParaRPr>
          </a:p>
          <a:p>
            <a:r>
              <a:t>Praziquantel (</a:t>
            </a:r>
            <a:r>
              <a:t>Cysticide</a:t>
            </a:r>
            <a:r>
              <a:t>®) </a:t>
            </a:r>
            <a:r>
              <a:rPr b="1"/>
              <a:t>effective against all human schistosomes and is drug of choice</a:t>
            </a:r>
            <a:r>
              <a:t>. </a:t>
            </a:r>
          </a:p>
          <a:p>
            <a:pPr lvl="1"/>
            <a:r>
              <a:t>The dose is 20 mg/kg followed after 4–6 hours by one further dose of 20 mg/kg (20 mg/kg given 3 times on one day for S. japonicum infections). </a:t>
            </a:r>
          </a:p>
          <a:p>
            <a:r>
              <a:t>Others: hycanthone, lucanthone, niridazole, oxamniquine, and sodium </a:t>
            </a:r>
            <a:r>
              <a:t>stibocaptate</a:t>
            </a:r>
            <a:r>
              <a:t>. </a:t>
            </a:r>
          </a:p>
        </p:txBody>
      </p:sp>
    </p:spTree>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039" name=""/>
        <p:cNvGrpSpPr/>
        <p:nvPr/>
      </p:nvGrpSpPr>
      <p:grpSpPr>
        <a:xfrm>
          <a:off x="0" y="0"/>
          <a:ext cx="0" cy="0"/>
          <a:chOff x="0" y="0"/>
          <a:chExt cx="0" cy="0"/>
        </a:xfrm>
      </p:grpSpPr>
      <p:sp>
        <p:nvSpPr>
          <p:cNvPr id="1049317" name="Title 1"/>
          <p:cNvSpPr>
            <a:spLocks noGrp="1"/>
          </p:cNvSpPr>
          <p:nvPr>
            <p:ph type="title"/>
          </p:nvPr>
        </p:nvSpPr>
        <p:spPr>
          <a:xfrm>
            <a:off x="838204" y="365126"/>
            <a:ext cx="10515600" cy="815978"/>
          </a:xfrm>
        </p:spPr>
        <p:txBody>
          <a:bodyPr>
            <a:normAutofit/>
          </a:bodyPr>
          <a:p>
            <a:r>
              <a:rPr sz="5400">
                <a:solidFill>
                  <a:srgbClr val="FF0000"/>
                </a:solidFill>
              </a:rPr>
              <a:t>F. Filariasis </a:t>
            </a:r>
            <a:endParaRPr sz="5400">
              <a:solidFill>
                <a:srgbClr val="FF0000"/>
              </a:solidFill>
            </a:endParaRPr>
          </a:p>
        </p:txBody>
      </p:sp>
      <p:sp>
        <p:nvSpPr>
          <p:cNvPr id="1049318" name="Content Placeholder 2"/>
          <p:cNvSpPr>
            <a:spLocks noGrp="1"/>
          </p:cNvSpPr>
          <p:nvPr>
            <p:ph idx="1"/>
          </p:nvPr>
        </p:nvSpPr>
        <p:spPr>
          <a:xfrm>
            <a:off x="485775" y="1447795"/>
            <a:ext cx="11172825" cy="5181604"/>
          </a:xfrm>
        </p:spPr>
        <p:txBody>
          <a:bodyPr>
            <a:normAutofit/>
          </a:bodyPr>
          <a:p>
            <a:r>
              <a:t>i</a:t>
            </a:r>
            <a:r>
              <a:t>. Diethylcarbamazine:</a:t>
            </a:r>
          </a:p>
          <a:p>
            <a:pPr lvl="1"/>
            <a:r>
              <a:rPr b="1"/>
              <a:t>Effective against microfilariae and adults of Loa </a:t>
            </a:r>
            <a:r>
              <a:rPr b="1"/>
              <a:t>loa</a:t>
            </a:r>
            <a:r>
              <a:rPr b="1"/>
              <a:t>, </a:t>
            </a:r>
            <a:r>
              <a:rPr b="1"/>
              <a:t>Wuchereria</a:t>
            </a:r>
            <a:r>
              <a:rPr b="1"/>
              <a:t> </a:t>
            </a:r>
            <a:r>
              <a:rPr b="1"/>
              <a:t>bancrofti</a:t>
            </a:r>
            <a:r>
              <a:rPr b="1"/>
              <a:t>, and </a:t>
            </a:r>
            <a:r>
              <a:rPr b="1"/>
              <a:t>Brugia</a:t>
            </a:r>
            <a:r>
              <a:rPr b="1"/>
              <a:t> </a:t>
            </a:r>
            <a:r>
              <a:rPr b="1"/>
              <a:t>malayi</a:t>
            </a:r>
            <a:r>
              <a:t>. </a:t>
            </a:r>
          </a:p>
          <a:p>
            <a:r>
              <a:t>ii. Ivermectin is </a:t>
            </a:r>
            <a:r>
              <a:rPr b="1"/>
              <a:t>very effective in onchocerciasis </a:t>
            </a:r>
            <a:r>
              <a:t>and it is </a:t>
            </a:r>
            <a:r>
              <a:rPr b="1"/>
              <a:t>now the drug of choice</a:t>
            </a:r>
            <a:r>
              <a:t>. </a:t>
            </a:r>
          </a:p>
          <a:p>
            <a:pPr lvl="1"/>
            <a:r>
              <a:t>A single dose of 150 micrograms/kg by mouth produces a prolonged reduction in </a:t>
            </a:r>
            <a:r>
              <a:t>microfilarial</a:t>
            </a:r>
            <a:r>
              <a:t> levels. </a:t>
            </a:r>
          </a:p>
          <a:p>
            <a:r>
              <a:t>Others: suramin</a:t>
            </a:r>
          </a:p>
          <a:p>
            <a:pPr indent="0" marL="0">
              <a:buNone/>
            </a:pPr>
            <a:r>
              <a:rPr sz="4200">
                <a:solidFill>
                  <a:srgbClr val="FF0000"/>
                </a:solidFill>
              </a:rPr>
              <a:t>G. Strongyloidiasis </a:t>
            </a:r>
            <a:endParaRPr sz="4200">
              <a:solidFill>
                <a:srgbClr val="FF0000"/>
              </a:solidFill>
            </a:endParaRPr>
          </a:p>
          <a:p>
            <a:r>
              <a:t>i</a:t>
            </a:r>
            <a:r>
              <a:t>. Ivermectin: A dose of 200 micrograms/kg daily for 2 days is the treatment of choice for chronic </a:t>
            </a:r>
            <a:r>
              <a:t>Strongyloides</a:t>
            </a:r>
            <a:r>
              <a:t> infection. </a:t>
            </a:r>
          </a:p>
          <a:p>
            <a:r>
              <a:t>ii. Albendazole: an alternative given in a dose of 400 mg twice daily for 3 days, repeated after 3 weeks if necessary. </a:t>
            </a:r>
          </a:p>
          <a:p>
            <a:r>
              <a:t>iii. </a:t>
            </a:r>
            <a:r>
              <a:t>Tiabendazole</a:t>
            </a:r>
            <a:r>
              <a:t>: given twice daily for 3 days</a:t>
            </a:r>
          </a:p>
        </p:txBody>
      </p:sp>
    </p:spTree>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040" name=""/>
        <p:cNvGrpSpPr/>
        <p:nvPr/>
      </p:nvGrpSpPr>
      <p:grpSpPr>
        <a:xfrm>
          <a:off x="0" y="0"/>
          <a:ext cx="0" cy="0"/>
          <a:chOff x="0" y="0"/>
          <a:chExt cx="0" cy="0"/>
        </a:xfrm>
      </p:grpSpPr>
      <p:sp>
        <p:nvSpPr>
          <p:cNvPr id="1049319" name="Rectangle 2"/>
          <p:cNvSpPr>
            <a:spLocks noGrp="1" noChangeArrowheads="1"/>
          </p:cNvSpPr>
          <p:nvPr>
            <p:ph type="title"/>
          </p:nvPr>
        </p:nvSpPr>
        <p:spPr>
          <a:xfrm>
            <a:off x="1981204" y="1066804"/>
            <a:ext cx="8229600" cy="2971800"/>
          </a:xfrm>
        </p:spPr>
        <p:txBody>
          <a:bodyPr/>
          <a:p>
            <a:r>
              <a:rPr b="1" sz="4800">
                <a:solidFill>
                  <a:srgbClr val="006600"/>
                </a:solidFill>
                <a:latin typeface="Comic Sans MS"/>
              </a:rPr>
              <a:t>ANTIPROTOZOAL AGENTS</a:t>
            </a:r>
            <a:br>
              <a:rPr b="1" sz="4800">
                <a:solidFill>
                  <a:srgbClr val="006600"/>
                </a:solidFill>
              </a:rPr>
            </a:br>
            <a:endParaRPr b="1" sz="2800">
              <a:solidFill>
                <a:srgbClr val="006600"/>
              </a:solidFill>
              <a:latin typeface="Comic Sans MS"/>
            </a:endParaRPr>
          </a:p>
        </p:txBody>
      </p:sp>
    </p:spTree>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041" name=""/>
        <p:cNvGrpSpPr/>
        <p:nvPr/>
      </p:nvGrpSpPr>
      <p:grpSpPr>
        <a:xfrm>
          <a:off x="0" y="0"/>
          <a:ext cx="0" cy="0"/>
          <a:chOff x="0" y="0"/>
          <a:chExt cx="0" cy="0"/>
        </a:xfrm>
      </p:grpSpPr>
      <p:sp>
        <p:nvSpPr>
          <p:cNvPr id="1049320" name="Title 1"/>
          <p:cNvSpPr>
            <a:spLocks noGrp="1"/>
          </p:cNvSpPr>
          <p:nvPr>
            <p:ph type="title"/>
          </p:nvPr>
        </p:nvSpPr>
        <p:spPr>
          <a:xfrm>
            <a:off x="838204" y="365126"/>
            <a:ext cx="10515600" cy="1016003"/>
          </a:xfrm>
        </p:spPr>
        <p:txBody>
          <a:bodyPr/>
          <a:p>
            <a:r>
              <a:rPr b="1">
                <a:latin typeface="Comic Sans MS"/>
              </a:rPr>
              <a:t>Protozoa (single celled, eukaryotes)</a:t>
            </a:r>
          </a:p>
        </p:txBody>
      </p:sp>
      <p:sp>
        <p:nvSpPr>
          <p:cNvPr id="1049321" name="Content Placeholder 2"/>
          <p:cNvSpPr>
            <a:spLocks noGrp="1"/>
          </p:cNvSpPr>
          <p:nvPr>
            <p:ph idx="1"/>
          </p:nvPr>
        </p:nvSpPr>
        <p:spPr>
          <a:xfrm>
            <a:off x="838204" y="1381129"/>
            <a:ext cx="10515600" cy="4795842"/>
          </a:xfrm>
        </p:spPr>
        <p:txBody>
          <a:bodyPr>
            <a:normAutofit/>
          </a:bodyPr>
          <a:p>
            <a:pPr>
              <a:lnSpc>
                <a:spcPct val="80000"/>
              </a:lnSpc>
              <a:buNone/>
            </a:pPr>
            <a:r>
              <a:rPr b="1" sz="2800" u="sng"/>
              <a:t>Found in </a:t>
            </a:r>
            <a:endParaRPr b="1" sz="2800" u="sng"/>
          </a:p>
          <a:p>
            <a:pPr>
              <a:lnSpc>
                <a:spcPct val="80000"/>
              </a:lnSpc>
              <a:buNone/>
            </a:pPr>
            <a:endParaRPr b="1" sz="2800" u="sng"/>
          </a:p>
          <a:p>
            <a:pPr>
              <a:lnSpc>
                <a:spcPct val="80000"/>
              </a:lnSpc>
              <a:buNone/>
            </a:pPr>
            <a:r>
              <a:rPr b="1" sz="2800" u="sng"/>
              <a:t>1. INTESTINAL</a:t>
            </a:r>
            <a:r>
              <a:rPr b="1" sz="2800"/>
              <a:t> </a:t>
            </a:r>
            <a:r>
              <a:rPr sz="2800"/>
              <a:t>–</a:t>
            </a:r>
            <a:endParaRPr sz="2800"/>
          </a:p>
          <a:p>
            <a:pPr>
              <a:lnSpc>
                <a:spcPct val="80000"/>
              </a:lnSpc>
              <a:buNone/>
            </a:pPr>
            <a:r>
              <a:rPr sz="2800">
                <a:cs typeface="Arial"/>
              </a:rPr>
              <a:t>♦ </a:t>
            </a:r>
            <a:r>
              <a:rPr sz="2800"/>
              <a:t>E. histolytica---------- 	Amebiasis, liver abscess</a:t>
            </a:r>
            <a:endParaRPr sz="2800"/>
          </a:p>
          <a:p>
            <a:pPr>
              <a:lnSpc>
                <a:spcPct val="80000"/>
              </a:lnSpc>
              <a:buNone/>
            </a:pPr>
            <a:r>
              <a:rPr sz="2800">
                <a:cs typeface="Arial"/>
              </a:rPr>
              <a:t>♦</a:t>
            </a:r>
            <a:r>
              <a:rPr sz="2800"/>
              <a:t> G. lamblia ------------	Giardiasis</a:t>
            </a:r>
            <a:endParaRPr sz="2800"/>
          </a:p>
          <a:p>
            <a:pPr>
              <a:lnSpc>
                <a:spcPct val="80000"/>
              </a:lnSpc>
              <a:buNone/>
            </a:pPr>
            <a:r>
              <a:rPr sz="2800">
                <a:cs typeface="Arial"/>
              </a:rPr>
              <a:t>♦</a:t>
            </a:r>
            <a:r>
              <a:rPr sz="2800"/>
              <a:t> Cryptosporidium </a:t>
            </a:r>
            <a:r>
              <a:rPr sz="2800"/>
              <a:t>sp</a:t>
            </a:r>
            <a:r>
              <a:rPr sz="2800"/>
              <a:t> - 	</a:t>
            </a:r>
            <a:r>
              <a:rPr sz="2800"/>
              <a:t>Crytosporidiosis</a:t>
            </a:r>
            <a:r>
              <a:rPr sz="2800"/>
              <a:t>	</a:t>
            </a:r>
            <a:endParaRPr sz="2800"/>
          </a:p>
          <a:p>
            <a:pPr>
              <a:lnSpc>
                <a:spcPct val="80000"/>
              </a:lnSpc>
              <a:buNone/>
            </a:pPr>
            <a:r>
              <a:rPr sz="2800">
                <a:cs typeface="Arial"/>
              </a:rPr>
              <a:t>♦</a:t>
            </a:r>
            <a:r>
              <a:rPr sz="2800"/>
              <a:t> Balantidium coli -----	Dysentery</a:t>
            </a:r>
            <a:endParaRPr sz="2800"/>
          </a:p>
          <a:p>
            <a:pPr>
              <a:lnSpc>
                <a:spcPct val="80000"/>
              </a:lnSpc>
              <a:buNone/>
            </a:pPr>
            <a:r>
              <a:rPr sz="2800">
                <a:cs typeface="Arial"/>
              </a:rPr>
              <a:t>♦</a:t>
            </a:r>
            <a:r>
              <a:rPr sz="2800"/>
              <a:t> </a:t>
            </a:r>
            <a:r>
              <a:rPr sz="2800"/>
              <a:t>Isospora</a:t>
            </a:r>
            <a:r>
              <a:rPr sz="2800"/>
              <a:t> belli ---------	</a:t>
            </a:r>
            <a:r>
              <a:rPr sz="2800"/>
              <a:t>Isosporosis</a:t>
            </a:r>
            <a:endParaRPr sz="2800" u="sng"/>
          </a:p>
          <a:p>
            <a:pPr>
              <a:lnSpc>
                <a:spcPct val="80000"/>
              </a:lnSpc>
              <a:buNone/>
            </a:pPr>
            <a:endParaRPr sz="2800" u="sng"/>
          </a:p>
          <a:p>
            <a:pPr>
              <a:lnSpc>
                <a:spcPct val="80000"/>
              </a:lnSpc>
              <a:buNone/>
            </a:pPr>
            <a:r>
              <a:rPr b="1" sz="2800" u="sng"/>
              <a:t>2. Urogenital tract </a:t>
            </a:r>
            <a:r>
              <a:rPr b="1" sz="2800"/>
              <a:t>(men and women) </a:t>
            </a:r>
            <a:endParaRPr b="1" sz="2800"/>
          </a:p>
          <a:p>
            <a:pPr>
              <a:lnSpc>
                <a:spcPct val="80000"/>
              </a:lnSpc>
              <a:buNone/>
            </a:pPr>
            <a:r>
              <a:rPr sz="2800">
                <a:cs typeface="Arial"/>
              </a:rPr>
              <a:t>♦</a:t>
            </a:r>
            <a:r>
              <a:rPr sz="2800"/>
              <a:t> T. vaginalis------------	Trichomoniasis</a:t>
            </a:r>
            <a:endParaRPr sz="2800" u="sng"/>
          </a:p>
          <a:p/>
        </p:txBody>
      </p:sp>
    </p:spTree>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042" name=""/>
        <p:cNvGrpSpPr/>
        <p:nvPr/>
      </p:nvGrpSpPr>
      <p:grpSpPr>
        <a:xfrm>
          <a:off x="0" y="0"/>
          <a:ext cx="0" cy="0"/>
          <a:chOff x="0" y="0"/>
          <a:chExt cx="0" cy="0"/>
        </a:xfrm>
      </p:grpSpPr>
      <p:sp>
        <p:nvSpPr>
          <p:cNvPr id="1049322" name="Title 1"/>
          <p:cNvSpPr>
            <a:spLocks noGrp="1"/>
          </p:cNvSpPr>
          <p:nvPr>
            <p:ph type="title"/>
          </p:nvPr>
        </p:nvSpPr>
        <p:spPr>
          <a:xfrm>
            <a:off x="838204" y="365126"/>
            <a:ext cx="10515600" cy="854068"/>
          </a:xfrm>
        </p:spPr>
        <p:txBody>
          <a:bodyPr/>
          <a:p>
            <a:r>
              <a:rPr b="1" u="sng"/>
              <a:t>3. BLOOD AND TISSUE</a:t>
            </a:r>
          </a:p>
        </p:txBody>
      </p:sp>
      <p:sp>
        <p:nvSpPr>
          <p:cNvPr id="1049323" name="Content Placeholder 2"/>
          <p:cNvSpPr>
            <a:spLocks noGrp="1"/>
          </p:cNvSpPr>
          <p:nvPr>
            <p:ph sz="half" idx="1"/>
          </p:nvPr>
        </p:nvSpPr>
        <p:spPr>
          <a:xfrm>
            <a:off x="838204" y="1304920"/>
            <a:ext cx="5181604" cy="5381629"/>
          </a:xfrm>
        </p:spPr>
        <p:txBody>
          <a:bodyPr>
            <a:normAutofit/>
          </a:bodyPr>
          <a:p>
            <a:pPr>
              <a:lnSpc>
                <a:spcPct val="80000"/>
              </a:lnSpc>
              <a:buNone/>
            </a:pPr>
            <a:r>
              <a:rPr sz="2800">
                <a:cs typeface="Arial"/>
              </a:rPr>
              <a:t>♦</a:t>
            </a:r>
            <a:r>
              <a:rPr sz="2800"/>
              <a:t> Plasmodium </a:t>
            </a:r>
            <a:r>
              <a:rPr sz="2800"/>
              <a:t>sp</a:t>
            </a:r>
            <a:r>
              <a:rPr sz="2800"/>
              <a:t>------	Malaria</a:t>
            </a:r>
            <a:endParaRPr sz="2800"/>
          </a:p>
          <a:p>
            <a:pPr>
              <a:lnSpc>
                <a:spcPct val="80000"/>
              </a:lnSpc>
              <a:buNone/>
            </a:pPr>
            <a:r>
              <a:rPr sz="2800"/>
              <a:t>	  P. falciparum 		</a:t>
            </a:r>
            <a:endParaRPr sz="2800"/>
          </a:p>
          <a:p>
            <a:pPr>
              <a:lnSpc>
                <a:spcPct val="80000"/>
              </a:lnSpc>
              <a:buNone/>
            </a:pPr>
            <a:r>
              <a:rPr sz="2800"/>
              <a:t>	  P. vivax</a:t>
            </a:r>
            <a:endParaRPr sz="2800"/>
          </a:p>
          <a:p>
            <a:pPr>
              <a:lnSpc>
                <a:spcPct val="80000"/>
              </a:lnSpc>
              <a:buNone/>
            </a:pPr>
            <a:r>
              <a:rPr sz="2800"/>
              <a:t>	  P. malaria</a:t>
            </a:r>
            <a:endParaRPr sz="2800"/>
          </a:p>
          <a:p>
            <a:pPr>
              <a:lnSpc>
                <a:spcPct val="80000"/>
              </a:lnSpc>
              <a:buNone/>
            </a:pPr>
            <a:r>
              <a:rPr sz="2800"/>
              <a:t>	  P. </a:t>
            </a:r>
            <a:r>
              <a:rPr sz="2800"/>
              <a:t>ovale</a:t>
            </a:r>
            <a:endParaRPr sz="2800"/>
          </a:p>
          <a:p>
            <a:pPr>
              <a:lnSpc>
                <a:spcPct val="80000"/>
              </a:lnSpc>
              <a:buNone/>
            </a:pPr>
            <a:endParaRPr sz="2800"/>
          </a:p>
          <a:p>
            <a:pPr>
              <a:lnSpc>
                <a:spcPct val="80000"/>
              </a:lnSpc>
              <a:buNone/>
            </a:pPr>
            <a:r>
              <a:rPr sz="2800">
                <a:cs typeface="Arial"/>
              </a:rPr>
              <a:t>♦</a:t>
            </a:r>
            <a:r>
              <a:rPr sz="2800"/>
              <a:t>  Trypanosoma </a:t>
            </a:r>
            <a:r>
              <a:rPr sz="2800"/>
              <a:t>sp</a:t>
            </a:r>
            <a:r>
              <a:rPr sz="2800"/>
              <a:t>----	Trypanosomiasis</a:t>
            </a:r>
            <a:endParaRPr sz="2800"/>
          </a:p>
          <a:p>
            <a:pPr>
              <a:lnSpc>
                <a:spcPct val="80000"/>
              </a:lnSpc>
              <a:buNone/>
            </a:pPr>
            <a:r>
              <a:rPr sz="2800"/>
              <a:t>	  T. </a:t>
            </a:r>
            <a:r>
              <a:rPr sz="2800"/>
              <a:t>cruzi</a:t>
            </a:r>
            <a:r>
              <a:rPr sz="2800"/>
              <a:t> ------------	Chagas’ disease</a:t>
            </a:r>
            <a:endParaRPr sz="2800"/>
          </a:p>
          <a:p>
            <a:pPr>
              <a:lnSpc>
                <a:spcPct val="80000"/>
              </a:lnSpc>
              <a:buNone/>
            </a:pPr>
            <a:r>
              <a:rPr sz="2800"/>
              <a:t>	  T. </a:t>
            </a:r>
            <a:r>
              <a:rPr sz="2800"/>
              <a:t>gambiense</a:t>
            </a:r>
            <a:r>
              <a:rPr sz="2800"/>
              <a:t>----	Sleeping sickness</a:t>
            </a:r>
            <a:endParaRPr sz="2800"/>
          </a:p>
          <a:p>
            <a:pPr>
              <a:lnSpc>
                <a:spcPct val="80000"/>
              </a:lnSpc>
              <a:buNone/>
            </a:pPr>
            <a:r>
              <a:rPr sz="2800"/>
              <a:t>	  T. rhodesiense- Sleeping sickness</a:t>
            </a:r>
            <a:endParaRPr sz="2800"/>
          </a:p>
          <a:p>
            <a:pPr>
              <a:lnSpc>
                <a:spcPct val="80000"/>
              </a:lnSpc>
              <a:buNone/>
            </a:pPr>
            <a:endParaRPr sz="2800"/>
          </a:p>
          <a:p>
            <a:pPr>
              <a:lnSpc>
                <a:spcPct val="80000"/>
              </a:lnSpc>
              <a:buNone/>
            </a:pPr>
            <a:r>
              <a:rPr sz="2800">
                <a:cs typeface="Arial"/>
              </a:rPr>
              <a:t>♦</a:t>
            </a:r>
            <a:r>
              <a:rPr sz="2800"/>
              <a:t> Leishmania </a:t>
            </a:r>
            <a:r>
              <a:rPr sz="2800"/>
              <a:t>sp</a:t>
            </a:r>
            <a:r>
              <a:rPr sz="2800"/>
              <a:t>-----------Leishmaniasis</a:t>
            </a:r>
            <a:endParaRPr sz="2800"/>
          </a:p>
          <a:p>
            <a:pPr>
              <a:lnSpc>
                <a:spcPct val="80000"/>
              </a:lnSpc>
              <a:buNone/>
            </a:pPr>
            <a:r>
              <a:rPr sz="2800"/>
              <a:t>	Visceral (Kala-azar) </a:t>
            </a:r>
            <a:endParaRPr sz="2800"/>
          </a:p>
          <a:p>
            <a:pPr>
              <a:lnSpc>
                <a:spcPct val="80000"/>
              </a:lnSpc>
              <a:buNone/>
            </a:pPr>
            <a:r>
              <a:rPr sz="2800"/>
              <a:t>	Cutaneous (old world)</a:t>
            </a:r>
            <a:endParaRPr sz="2800"/>
          </a:p>
          <a:p>
            <a:pPr>
              <a:lnSpc>
                <a:spcPct val="80000"/>
              </a:lnSpc>
              <a:buNone/>
            </a:pPr>
            <a:r>
              <a:rPr sz="2800"/>
              <a:t>	Cutaneous (new world)</a:t>
            </a:r>
            <a:endParaRPr sz="2800"/>
          </a:p>
          <a:p>
            <a:pPr>
              <a:lnSpc>
                <a:spcPct val="80000"/>
              </a:lnSpc>
              <a:buNone/>
            </a:pPr>
            <a:r>
              <a:rPr sz="2800"/>
              <a:t>	Mucocutaneous  </a:t>
            </a:r>
            <a:endParaRPr sz="2800"/>
          </a:p>
          <a:p>
            <a:pPr>
              <a:lnSpc>
                <a:spcPct val="80000"/>
              </a:lnSpc>
              <a:buNone/>
            </a:pPr>
          </a:p>
        </p:txBody>
      </p:sp>
      <p:sp>
        <p:nvSpPr>
          <p:cNvPr id="1049324" name="Content Placeholder 3"/>
          <p:cNvSpPr>
            <a:spLocks noGrp="1"/>
          </p:cNvSpPr>
          <p:nvPr>
            <p:ph sz="half" idx="2"/>
          </p:nvPr>
        </p:nvSpPr>
        <p:spPr>
          <a:xfrm>
            <a:off x="6172200" y="1114425"/>
            <a:ext cx="5181604" cy="5062532"/>
          </a:xfrm>
        </p:spPr>
        <p:txBody>
          <a:bodyPr>
            <a:normAutofit/>
          </a:bodyPr>
          <a:p>
            <a:pPr>
              <a:lnSpc>
                <a:spcPct val="80000"/>
              </a:lnSpc>
              <a:buNone/>
            </a:pPr>
            <a:endParaRPr sz="2800">
              <a:cs typeface="Arial"/>
            </a:endParaRPr>
          </a:p>
          <a:p>
            <a:pPr>
              <a:lnSpc>
                <a:spcPct val="80000"/>
              </a:lnSpc>
              <a:buNone/>
            </a:pPr>
            <a:r>
              <a:rPr sz="2800">
                <a:cs typeface="Arial"/>
              </a:rPr>
              <a:t>♦</a:t>
            </a:r>
            <a:r>
              <a:rPr sz="2800"/>
              <a:t> Toxoplasma gondii -----</a:t>
            </a:r>
            <a:r>
              <a:t>Encephalitis, eye disease (</a:t>
            </a:r>
            <a:r>
              <a:rPr sz="2800"/>
              <a:t>Toxoplamosis</a:t>
            </a:r>
            <a:r>
              <a:rPr sz="2800"/>
              <a:t>)</a:t>
            </a:r>
            <a:endParaRPr sz="2800"/>
          </a:p>
          <a:p>
            <a:pPr>
              <a:lnSpc>
                <a:spcPct val="80000"/>
              </a:lnSpc>
              <a:buNone/>
            </a:pPr>
            <a:endParaRPr sz="2800"/>
          </a:p>
          <a:p>
            <a:pPr>
              <a:lnSpc>
                <a:spcPct val="80000"/>
              </a:lnSpc>
              <a:buNone/>
            </a:pPr>
            <a:endParaRPr sz="2800"/>
          </a:p>
          <a:p>
            <a:pPr>
              <a:lnSpc>
                <a:spcPct val="80000"/>
              </a:lnSpc>
              <a:buNone/>
            </a:pPr>
            <a:r>
              <a:rPr sz="2800">
                <a:cs typeface="Arial"/>
              </a:rPr>
              <a:t>♦</a:t>
            </a:r>
            <a:r>
              <a:rPr sz="2800"/>
              <a:t> Naegleria </a:t>
            </a:r>
            <a:r>
              <a:rPr sz="2800"/>
              <a:t>sp</a:t>
            </a:r>
            <a:r>
              <a:rPr sz="2800"/>
              <a:t> ------- Meningoencephalitis</a:t>
            </a:r>
            <a:endParaRPr sz="2800"/>
          </a:p>
          <a:p>
            <a:pPr>
              <a:lnSpc>
                <a:spcPct val="80000"/>
              </a:lnSpc>
              <a:buNone/>
            </a:pPr>
            <a:endParaRPr sz="2800">
              <a:cs typeface="Arial"/>
            </a:endParaRPr>
          </a:p>
          <a:p>
            <a:pPr>
              <a:lnSpc>
                <a:spcPct val="80000"/>
              </a:lnSpc>
              <a:buNone/>
            </a:pPr>
            <a:r>
              <a:rPr sz="2800">
                <a:cs typeface="Arial"/>
              </a:rPr>
              <a:t>♦</a:t>
            </a:r>
            <a:r>
              <a:rPr sz="2800"/>
              <a:t> Acanthamoeba -----Meningoencephalitis</a:t>
            </a:r>
            <a:endParaRPr sz="2800"/>
          </a:p>
          <a:p>
            <a:pPr>
              <a:lnSpc>
                <a:spcPct val="80000"/>
              </a:lnSpc>
              <a:buNone/>
            </a:pPr>
            <a:endParaRPr sz="2800">
              <a:cs typeface="Arial"/>
            </a:endParaRPr>
          </a:p>
          <a:p>
            <a:pPr>
              <a:lnSpc>
                <a:spcPct val="80000"/>
              </a:lnSpc>
              <a:buNone/>
            </a:pPr>
            <a:r>
              <a:rPr sz="2800">
                <a:cs typeface="Arial"/>
              </a:rPr>
              <a:t>♦</a:t>
            </a:r>
            <a:r>
              <a:rPr sz="2800"/>
              <a:t> Babesia microti -----------Babesiosis</a:t>
            </a:r>
            <a:endParaRPr sz="2800"/>
          </a:p>
          <a:p>
            <a:pPr>
              <a:lnSpc>
                <a:spcPct val="80000"/>
              </a:lnSpc>
              <a:buNone/>
            </a:pPr>
            <a:r>
              <a:rPr b="1" sz="2800"/>
              <a:t>NB. Not a protozoa but a fungi</a:t>
            </a:r>
            <a:r>
              <a:rPr sz="2800"/>
              <a:t> but some behaviors like that of protozoa e.g. response to treatment</a:t>
            </a:r>
            <a:endParaRPr sz="2800"/>
          </a:p>
          <a:p>
            <a:pPr>
              <a:lnSpc>
                <a:spcPct val="80000"/>
              </a:lnSpc>
              <a:buNone/>
            </a:pPr>
            <a:r>
              <a:rPr sz="2800">
                <a:cs typeface="Arial"/>
              </a:rPr>
              <a:t>♦</a:t>
            </a:r>
            <a:r>
              <a:rPr sz="2800"/>
              <a:t> Pneumocystis </a:t>
            </a:r>
            <a:r>
              <a:rPr sz="2800"/>
              <a:t>jirovecii</a:t>
            </a:r>
            <a:r>
              <a:rPr sz="2800"/>
              <a:t>-  Pneumonia</a:t>
            </a:r>
            <a:endParaRPr sz="2800"/>
          </a:p>
          <a:p/>
        </p:txBody>
      </p:sp>
    </p:spTree>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043" name=""/>
        <p:cNvGrpSpPr/>
        <p:nvPr/>
      </p:nvGrpSpPr>
      <p:grpSpPr>
        <a:xfrm>
          <a:off x="0" y="0"/>
          <a:ext cx="0" cy="0"/>
          <a:chOff x="0" y="0"/>
          <a:chExt cx="0" cy="0"/>
        </a:xfrm>
      </p:grpSpPr>
      <p:sp>
        <p:nvSpPr>
          <p:cNvPr id="1049325" name="Title 1"/>
          <p:cNvSpPr>
            <a:spLocks noGrp="1"/>
          </p:cNvSpPr>
          <p:nvPr>
            <p:ph type="title"/>
          </p:nvPr>
        </p:nvSpPr>
        <p:spPr>
          <a:xfrm>
            <a:off x="838204" y="365126"/>
            <a:ext cx="10515600" cy="806448"/>
          </a:xfrm>
        </p:spPr>
        <p:txBody>
          <a:bodyPr/>
          <a:p>
            <a:r>
              <a:t>Common protozoal infections</a:t>
            </a:r>
          </a:p>
        </p:txBody>
      </p:sp>
      <p:sp>
        <p:nvSpPr>
          <p:cNvPr id="1049326" name="Content Placeholder 2"/>
          <p:cNvSpPr>
            <a:spLocks noGrp="1"/>
          </p:cNvSpPr>
          <p:nvPr>
            <p:ph idx="1"/>
          </p:nvPr>
        </p:nvSpPr>
        <p:spPr>
          <a:xfrm>
            <a:off x="838204" y="1466854"/>
            <a:ext cx="10515600" cy="5026018"/>
          </a:xfrm>
        </p:spPr>
        <p:txBody>
          <a:bodyPr>
            <a:normAutofit/>
          </a:bodyPr>
          <a:p>
            <a:r>
              <a:rPr b="1"/>
              <a:t>Trichomonas</a:t>
            </a:r>
            <a:r>
              <a:t> – causes several </a:t>
            </a:r>
            <a:r>
              <a:t>dxs</a:t>
            </a:r>
            <a:r>
              <a:t> (trichomoniasis) − </a:t>
            </a:r>
          </a:p>
          <a:p>
            <a:pPr lvl="1"/>
            <a:r>
              <a:t>trichomonas vaginalis – sexually transmitted in both males and females ( itchy yellowish discharge) − </a:t>
            </a:r>
          </a:p>
          <a:p>
            <a:pPr lvl="1"/>
            <a:r>
              <a:t>Trichomonas hominis – In GIT, a commensal. − </a:t>
            </a:r>
          </a:p>
          <a:p>
            <a:pPr lvl="1"/>
            <a:r>
              <a:t>Trichomonas </a:t>
            </a:r>
            <a:r>
              <a:t>tenax</a:t>
            </a:r>
            <a:r>
              <a:t> - GIT − </a:t>
            </a:r>
          </a:p>
          <a:p>
            <a:r>
              <a:t>Giardia lamblia – loose stools with malabsorption syndromes. Coats Small intestine villi preventing absorption – </a:t>
            </a:r>
          </a:p>
          <a:p>
            <a:r>
              <a:rPr b="1"/>
              <a:t>Trypanosoma </a:t>
            </a:r>
            <a:r>
              <a:t>– causes 2 dx − sleeping sickness – caused by 2 organisms –</a:t>
            </a:r>
            <a:r>
              <a:t>trypanosoma</a:t>
            </a:r>
            <a:r>
              <a:t> </a:t>
            </a:r>
            <a:r>
              <a:t>bruceii</a:t>
            </a:r>
            <a:r>
              <a:t> </a:t>
            </a:r>
            <a:r>
              <a:t>gambiensi</a:t>
            </a:r>
            <a:r>
              <a:t> and </a:t>
            </a:r>
            <a:r>
              <a:t>trypanosoma</a:t>
            </a:r>
            <a:r>
              <a:t> </a:t>
            </a:r>
            <a:r>
              <a:t>bruceii</a:t>
            </a:r>
            <a:r>
              <a:t> </a:t>
            </a:r>
            <a:r>
              <a:t>rhidorensi</a:t>
            </a:r>
            <a:r>
              <a:t> −</a:t>
            </a:r>
          </a:p>
          <a:p>
            <a:pPr lvl="1"/>
            <a:r>
              <a:t> </a:t>
            </a:r>
            <a:r>
              <a:t>Gambiensi</a:t>
            </a:r>
            <a:r>
              <a:t> spread by an insect (glossina </a:t>
            </a:r>
            <a:r>
              <a:t>palpalus</a:t>
            </a:r>
            <a:r>
              <a:t>); </a:t>
            </a:r>
            <a:r>
              <a:t>tse</a:t>
            </a:r>
            <a:r>
              <a:t> </a:t>
            </a:r>
            <a:r>
              <a:t>tse</a:t>
            </a:r>
            <a:r>
              <a:t> fly. − </a:t>
            </a:r>
          </a:p>
          <a:p>
            <a:pPr lvl="1"/>
            <a:r>
              <a:t>rhodesensi</a:t>
            </a:r>
            <a:r>
              <a:t> in </a:t>
            </a:r>
            <a:r>
              <a:t>kenya</a:t>
            </a:r>
            <a:r>
              <a:t> (</a:t>
            </a:r>
            <a:r>
              <a:t>lambwe</a:t>
            </a:r>
            <a:r>
              <a:t> valley and coast province) is spread by glossina </a:t>
            </a:r>
            <a:r>
              <a:t>morsitans</a:t>
            </a:r>
            <a:r>
              <a:t>- biting insects that bite and undergoes 3 stages; − skin, blood and lymph and CNS − </a:t>
            </a:r>
          </a:p>
          <a:p>
            <a:pPr lvl="1"/>
            <a:r>
              <a:t>chaggas</a:t>
            </a:r>
            <a:r>
              <a:t> dx.- caused by </a:t>
            </a:r>
            <a:r>
              <a:t>trypanosoma</a:t>
            </a:r>
            <a:r>
              <a:t> </a:t>
            </a:r>
            <a:r>
              <a:t>cruzi</a:t>
            </a:r>
            <a:r>
              <a:t> – </a:t>
            </a:r>
            <a:r>
              <a:t>mucocutenous</a:t>
            </a:r>
            <a:r>
              <a:t> dx where parts of the body fall off. – </a:t>
            </a:r>
          </a:p>
          <a:p/>
          <a:p/>
        </p:txBody>
      </p:sp>
    </p:spTree>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044" name=""/>
        <p:cNvGrpSpPr/>
        <p:nvPr/>
      </p:nvGrpSpPr>
      <p:grpSpPr>
        <a:xfrm>
          <a:off x="0" y="0"/>
          <a:ext cx="0" cy="0"/>
          <a:chOff x="0" y="0"/>
          <a:chExt cx="0" cy="0"/>
        </a:xfrm>
      </p:grpSpPr>
      <p:sp>
        <p:nvSpPr>
          <p:cNvPr id="1049327" name="Title 1"/>
          <p:cNvSpPr>
            <a:spLocks noGrp="1"/>
          </p:cNvSpPr>
          <p:nvPr>
            <p:ph type="title"/>
          </p:nvPr>
        </p:nvSpPr>
        <p:spPr/>
        <p:txBody>
          <a:bodyPr/>
          <a:p>
            <a:r>
              <a:t>Common protozoal infections</a:t>
            </a:r>
          </a:p>
        </p:txBody>
      </p:sp>
      <p:sp>
        <p:nvSpPr>
          <p:cNvPr id="1049328" name="Content Placeholder 2"/>
          <p:cNvSpPr>
            <a:spLocks noGrp="1"/>
          </p:cNvSpPr>
          <p:nvPr>
            <p:ph idx="1"/>
          </p:nvPr>
        </p:nvSpPr>
        <p:spPr/>
        <p:txBody>
          <a:bodyPr>
            <a:normAutofit/>
          </a:bodyPr>
          <a:p>
            <a:r>
              <a:rPr b="1"/>
              <a:t>Leshmania</a:t>
            </a:r>
            <a:r>
              <a:rPr b="1"/>
              <a:t> causing </a:t>
            </a:r>
            <a:r>
              <a:rPr b="1"/>
              <a:t>leshmaniosis</a:t>
            </a:r>
            <a:r>
              <a:t>.  </a:t>
            </a:r>
            <a:r>
              <a:t>Atleast</a:t>
            </a:r>
            <a:r>
              <a:t> 3 forms of </a:t>
            </a:r>
            <a:r>
              <a:t>leshmaniosis</a:t>
            </a:r>
            <a:r>
              <a:t> − </a:t>
            </a:r>
          </a:p>
          <a:p>
            <a:pPr lvl="1"/>
            <a:r>
              <a:rPr b="1"/>
              <a:t>Leshmania</a:t>
            </a:r>
            <a:r>
              <a:rPr b="1"/>
              <a:t> </a:t>
            </a:r>
            <a:r>
              <a:rPr b="1"/>
              <a:t>donovani</a:t>
            </a:r>
            <a:r>
              <a:rPr b="1"/>
              <a:t> </a:t>
            </a:r>
            <a:r>
              <a:t>– visceral lesions with severe </a:t>
            </a:r>
            <a:r>
              <a:t>anaemia</a:t>
            </a:r>
            <a:r>
              <a:t>, splenomegaly and enlargement of viscera. −</a:t>
            </a:r>
          </a:p>
          <a:p>
            <a:pPr lvl="1"/>
            <a:r>
              <a:rPr b="1"/>
              <a:t>leshmania</a:t>
            </a:r>
            <a:r>
              <a:rPr b="1"/>
              <a:t> </a:t>
            </a:r>
            <a:r>
              <a:rPr b="1"/>
              <a:t>tropica</a:t>
            </a:r>
            <a:r>
              <a:t> (cutaneous </a:t>
            </a:r>
            <a:r>
              <a:t>leshmaniosis</a:t>
            </a:r>
            <a:r>
              <a:t>) – present with different names; in far east known as oriental sore, </a:t>
            </a:r>
            <a:r>
              <a:t>india</a:t>
            </a:r>
            <a:r>
              <a:t> known as </a:t>
            </a:r>
            <a:r>
              <a:t>delhi</a:t>
            </a:r>
            <a:r>
              <a:t> boil, in central </a:t>
            </a:r>
            <a:r>
              <a:t>asia</a:t>
            </a:r>
            <a:r>
              <a:t> known as </a:t>
            </a:r>
            <a:r>
              <a:t>bhargdad</a:t>
            </a:r>
            <a:r>
              <a:t> button.  Forms 1 lesion on the face. </a:t>
            </a:r>
          </a:p>
          <a:p>
            <a:pPr lvl="1"/>
            <a:r>
              <a:rPr b="1"/>
              <a:t>Leshmania</a:t>
            </a:r>
            <a:r>
              <a:rPr b="1"/>
              <a:t> </a:t>
            </a:r>
            <a:r>
              <a:rPr b="1"/>
              <a:t>brazilliensis</a:t>
            </a:r>
            <a:r>
              <a:rPr b="1"/>
              <a:t> </a:t>
            </a:r>
            <a:r>
              <a:t>– causes mucocutaneous </a:t>
            </a:r>
            <a:r>
              <a:t>leshmaninasis</a:t>
            </a:r>
            <a:r>
              <a:t>; eats up nasopharynx</a:t>
            </a:r>
          </a:p>
          <a:p>
            <a:r>
              <a:rPr b="1"/>
              <a:t>Sarcodina</a:t>
            </a:r>
            <a:r>
              <a:t>- includes various types of amoeba; −</a:t>
            </a:r>
          </a:p>
          <a:p>
            <a:pPr lvl="1"/>
            <a:r>
              <a:rPr b="1"/>
              <a:t>Entamoeba </a:t>
            </a:r>
            <a:r>
              <a:rPr b="1"/>
              <a:t>hystolica</a:t>
            </a:r>
            <a:r>
              <a:t> – most common cause of amoebiasis. </a:t>
            </a:r>
            <a:r>
              <a:t>Xtrized</a:t>
            </a:r>
            <a:r>
              <a:t> by bloody diarrhea alternating with constipation. − </a:t>
            </a:r>
          </a:p>
          <a:p>
            <a:pPr lvl="1"/>
            <a:r>
              <a:t>Entamoeba coli – a commensal GIT but dx in immunocompromised. − </a:t>
            </a:r>
          </a:p>
          <a:p>
            <a:pPr lvl="1"/>
            <a:r>
              <a:t>Acanthamoeba – commonly in swimming pools. </a:t>
            </a:r>
          </a:p>
          <a:p/>
        </p:txBody>
      </p:sp>
    </p:spTree>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045" name=""/>
        <p:cNvGrpSpPr/>
        <p:nvPr/>
      </p:nvGrpSpPr>
      <p:grpSpPr>
        <a:xfrm>
          <a:off x="0" y="0"/>
          <a:ext cx="0" cy="0"/>
          <a:chOff x="0" y="0"/>
          <a:chExt cx="0" cy="0"/>
        </a:xfrm>
      </p:grpSpPr>
      <p:sp>
        <p:nvSpPr>
          <p:cNvPr id="1049329" name="Title 1"/>
          <p:cNvSpPr>
            <a:spLocks noGrp="1"/>
          </p:cNvSpPr>
          <p:nvPr>
            <p:ph type="title"/>
          </p:nvPr>
        </p:nvSpPr>
        <p:spPr/>
        <p:txBody>
          <a:bodyPr/>
          <a:p>
            <a:r>
              <a:t>Antimalarials </a:t>
            </a:r>
          </a:p>
        </p:txBody>
      </p:sp>
      <p:sp>
        <p:nvSpPr>
          <p:cNvPr id="1049330" name="Content Placeholder 2"/>
          <p:cNvSpPr>
            <a:spLocks noGrp="1"/>
          </p:cNvSpPr>
          <p:nvPr>
            <p:ph idx="1"/>
          </p:nvPr>
        </p:nvSpPr>
        <p:spPr/>
        <p:txBody>
          <a:bodyPr/>
          <a:p>
            <a:pPr>
              <a:lnSpc>
                <a:spcPct val="80000"/>
              </a:lnSpc>
              <a:buNone/>
            </a:pPr>
            <a:r>
              <a:rPr sz="2800"/>
              <a:t> Plasmodium </a:t>
            </a:r>
            <a:r>
              <a:rPr sz="2800"/>
              <a:t>sp</a:t>
            </a:r>
            <a:r>
              <a:rPr sz="2800"/>
              <a:t>------	Malaria</a:t>
            </a:r>
            <a:endParaRPr sz="2800"/>
          </a:p>
          <a:p>
            <a:pPr>
              <a:lnSpc>
                <a:spcPct val="80000"/>
              </a:lnSpc>
              <a:buNone/>
            </a:pPr>
            <a:r>
              <a:rPr sz="2800"/>
              <a:t>	  P. falciparum - </a:t>
            </a:r>
            <a:r>
              <a:t>Malignant tertian malaria</a:t>
            </a:r>
            <a:r>
              <a:rPr sz="2800"/>
              <a:t>		</a:t>
            </a:r>
            <a:endParaRPr sz="2800"/>
          </a:p>
          <a:p>
            <a:pPr>
              <a:lnSpc>
                <a:spcPct val="80000"/>
              </a:lnSpc>
              <a:buNone/>
            </a:pPr>
            <a:r>
              <a:rPr sz="2800"/>
              <a:t>	  P. vivax-</a:t>
            </a:r>
            <a:r>
              <a:t>Benign tertian malaria </a:t>
            </a:r>
            <a:endParaRPr sz="2800"/>
          </a:p>
          <a:p>
            <a:pPr>
              <a:lnSpc>
                <a:spcPct val="80000"/>
              </a:lnSpc>
              <a:buNone/>
            </a:pPr>
            <a:r>
              <a:rPr sz="2800"/>
              <a:t>	  P. malaria- </a:t>
            </a:r>
            <a:r>
              <a:t>Quartan malaria </a:t>
            </a:r>
            <a:endParaRPr sz="2800"/>
          </a:p>
          <a:p>
            <a:pPr>
              <a:lnSpc>
                <a:spcPct val="80000"/>
              </a:lnSpc>
              <a:buNone/>
            </a:pPr>
            <a:r>
              <a:rPr sz="2800"/>
              <a:t>	  P. </a:t>
            </a:r>
            <a:r>
              <a:rPr sz="2800"/>
              <a:t>ovale</a:t>
            </a:r>
            <a:r>
              <a:rPr sz="2800"/>
              <a:t>-</a:t>
            </a:r>
            <a:r>
              <a:t>Benign tertian malaria </a:t>
            </a:r>
            <a:endParaRPr sz="2800"/>
          </a:p>
          <a:p/>
        </p:txBody>
      </p:sp>
    </p:spTree>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046" name=""/>
        <p:cNvGrpSpPr/>
        <p:nvPr/>
      </p:nvGrpSpPr>
      <p:grpSpPr>
        <a:xfrm>
          <a:off x="0" y="0"/>
          <a:ext cx="0" cy="0"/>
          <a:chOff x="0" y="0"/>
          <a:chExt cx="0" cy="0"/>
        </a:xfrm>
      </p:grpSpPr>
      <p:pic>
        <p:nvPicPr>
          <p:cNvPr id="2097162" name="Picture 2" descr="6"/>
          <p:cNvPicPr>
            <a:picLocks noChangeArrowheads="1"/>
          </p:cNvPicPr>
          <p:nvPr/>
        </p:nvPicPr>
        <p:blipFill>
          <a:blip xmlns:r="http://schemas.openxmlformats.org/officeDocument/2006/relationships" r:embed="rId1">
            <a:lum bright="-6000" contrast="30000"/>
          </a:blip>
          <a:srcRect/>
          <a:stretch>
            <a:fillRect/>
          </a:stretch>
        </p:blipFill>
        <p:spPr bwMode="auto">
          <a:xfrm>
            <a:off x="1295404" y="276220"/>
            <a:ext cx="9159878" cy="6659565"/>
          </a:xfrm>
          <a:prstGeom prst="rect"/>
          <a:noFill/>
        </p:spPr>
      </p:pic>
    </p:spTree>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047" name=""/>
        <p:cNvGrpSpPr/>
        <p:nvPr/>
      </p:nvGrpSpPr>
      <p:grpSpPr>
        <a:xfrm>
          <a:off x="0" y="0"/>
          <a:ext cx="0" cy="0"/>
          <a:chOff x="0" y="0"/>
          <a:chExt cx="0" cy="0"/>
        </a:xfrm>
      </p:grpSpPr>
      <p:sp>
        <p:nvSpPr>
          <p:cNvPr id="1049331" name="Rectangle 7"/>
          <p:cNvSpPr>
            <a:spLocks noChangeArrowheads="1"/>
          </p:cNvSpPr>
          <p:nvPr/>
        </p:nvSpPr>
        <p:spPr bwMode="auto">
          <a:xfrm>
            <a:off x="1600200" y="151176"/>
            <a:ext cx="8991595" cy="5120640"/>
          </a:xfrm>
          <a:prstGeom prst="rect"/>
          <a:noFill/>
          <a:ln>
            <a:noFill/>
          </a:ln>
          <a:effectLst/>
        </p:spPr>
        <p:txBody>
          <a:bodyPr>
            <a:spAutoFit/>
          </a:bodyPr>
          <a:lstStyle>
            <a:lvl1pPr indent="-371475" marL="371475">
              <a:defRPr>
                <a:solidFill>
                  <a:schemeClr val="tx1"/>
                </a:solidFill>
                <a:latin typeface="Arial" panose="020B0604020202020204" pitchFamily="34" charset="0"/>
              </a:defRPr>
            </a:lvl1pPr>
            <a:lvl2pPr indent="-371475" marL="828675">
              <a:defRPr>
                <a:solidFill>
                  <a:schemeClr val="tx1"/>
                </a:solidFill>
                <a:latin typeface="Arial" panose="020B0604020202020204" pitchFamily="34" charset="0"/>
              </a:defRPr>
            </a:lvl2pPr>
            <a:lvl3pPr indent="-371475" marL="1285875">
              <a:defRPr>
                <a:solidFill>
                  <a:schemeClr val="tx1"/>
                </a:solidFill>
                <a:latin typeface="Arial" panose="020B0604020202020204" pitchFamily="34" charset="0"/>
              </a:defRPr>
            </a:lvl3pPr>
            <a:lvl4pPr indent="-371475" marL="1743075">
              <a:defRPr>
                <a:solidFill>
                  <a:schemeClr val="tx1"/>
                </a:solidFill>
                <a:latin typeface="Arial" panose="020B0604020202020204" pitchFamily="34" charset="0"/>
              </a:defRPr>
            </a:lvl4pPr>
            <a:lvl5pPr indent="-371475" marL="2200275">
              <a:defRPr>
                <a:solidFill>
                  <a:schemeClr val="tx1"/>
                </a:solidFill>
                <a:latin typeface="Arial" panose="020B0604020202020204" pitchFamily="34" charset="0"/>
              </a:defRPr>
            </a:lvl5pPr>
            <a:lvl6pPr fontAlgn="base" indent="-371475" marL="2657475">
              <a:spcBef>
                <a:spcPct val="0"/>
              </a:spcBef>
              <a:spcAft>
                <a:spcPct val="0"/>
              </a:spcAft>
              <a:defRPr>
                <a:solidFill>
                  <a:schemeClr val="tx1"/>
                </a:solidFill>
                <a:latin typeface="Arial" panose="020B0604020202020204" pitchFamily="34" charset="0"/>
              </a:defRPr>
            </a:lvl6pPr>
            <a:lvl7pPr fontAlgn="base" indent="-371475" marL="3114675">
              <a:spcBef>
                <a:spcPct val="0"/>
              </a:spcBef>
              <a:spcAft>
                <a:spcPct val="0"/>
              </a:spcAft>
              <a:defRPr>
                <a:solidFill>
                  <a:schemeClr val="tx1"/>
                </a:solidFill>
                <a:latin typeface="Arial" panose="020B0604020202020204" pitchFamily="34" charset="0"/>
              </a:defRPr>
            </a:lvl7pPr>
            <a:lvl8pPr fontAlgn="base" indent="-371475" marL="3571875">
              <a:spcBef>
                <a:spcPct val="0"/>
              </a:spcBef>
              <a:spcAft>
                <a:spcPct val="0"/>
              </a:spcAft>
              <a:defRPr>
                <a:solidFill>
                  <a:schemeClr val="tx1"/>
                </a:solidFill>
                <a:latin typeface="Arial" panose="020B0604020202020204" pitchFamily="34" charset="0"/>
              </a:defRPr>
            </a:lvl8pPr>
            <a:lvl9pPr fontAlgn="base" indent="-371475" marL="4029075">
              <a:spcBef>
                <a:spcPct val="0"/>
              </a:spcBef>
              <a:spcAft>
                <a:spcPct val="0"/>
              </a:spcAft>
              <a:defRPr>
                <a:solidFill>
                  <a:schemeClr val="tx1"/>
                </a:solidFill>
                <a:latin typeface="Arial" panose="020B0604020202020204" pitchFamily="34" charset="0"/>
              </a:defRPr>
            </a:lvl9pPr>
          </a:lstStyle>
          <a:p>
            <a:r>
              <a:rPr sz="2400"/>
              <a:t>Various ways of classifying </a:t>
            </a:r>
            <a:endParaRPr sz="2400"/>
          </a:p>
          <a:p>
            <a:r>
              <a:rPr b="1" sz="2400" u="sng"/>
              <a:t>A) Based on chemical structure</a:t>
            </a:r>
            <a:endParaRPr b="1" sz="2400" u="sng"/>
          </a:p>
          <a:p>
            <a:pPr>
              <a:buAutoNum type="romanLcParenR"/>
            </a:pPr>
            <a:r>
              <a:rPr sz="2400"/>
              <a:t>Sesquiterpenes (endoperoxides) e.g. Artemisinin </a:t>
            </a:r>
            <a:endParaRPr sz="2400"/>
          </a:p>
          <a:p>
            <a:pPr>
              <a:buAutoNum type="romanLcParenR"/>
            </a:pPr>
            <a:r>
              <a:rPr sz="2400"/>
              <a:t>Quinoline </a:t>
            </a:r>
            <a:r>
              <a:rPr sz="2400"/>
              <a:t>methanols</a:t>
            </a:r>
            <a:r>
              <a:rPr sz="2400"/>
              <a:t> (Cinchona alkaloids) e.g. quinine</a:t>
            </a:r>
            <a:endParaRPr sz="2400"/>
          </a:p>
          <a:p>
            <a:r>
              <a:rPr sz="2400"/>
              <a:t>iii) Quinoline-</a:t>
            </a:r>
            <a:r>
              <a:rPr sz="2400"/>
              <a:t>methanols</a:t>
            </a:r>
            <a:r>
              <a:rPr sz="2400"/>
              <a:t> (synthetic) e.g. mefloquine</a:t>
            </a:r>
            <a:endParaRPr sz="2400"/>
          </a:p>
          <a:p>
            <a:r>
              <a:rPr sz="2400"/>
              <a:t>iv) Phenanthrene </a:t>
            </a:r>
            <a:r>
              <a:rPr sz="2400"/>
              <a:t>methanols</a:t>
            </a:r>
            <a:r>
              <a:rPr sz="2400"/>
              <a:t> e.g. halofantrine</a:t>
            </a:r>
            <a:endParaRPr sz="2400"/>
          </a:p>
          <a:p>
            <a:r>
              <a:rPr sz="2400"/>
              <a:t>v) 4-aminoquinolines e.g. amodiaquine, chloroquine (CQ)</a:t>
            </a:r>
            <a:endParaRPr sz="2400"/>
          </a:p>
          <a:p>
            <a:r>
              <a:rPr sz="2400"/>
              <a:t>vi) 8-aminoquinolinese.g. Primaquine</a:t>
            </a:r>
            <a:endParaRPr sz="2400"/>
          </a:p>
          <a:p>
            <a:r>
              <a:rPr sz="2400"/>
              <a:t>vii) Diaminopyrimidines e.g. pyrimethamine, trimethoprim</a:t>
            </a:r>
            <a:endParaRPr sz="2400"/>
          </a:p>
          <a:p>
            <a:r>
              <a:rPr sz="2400"/>
              <a:t>viii) Biguanides e.g. Proguanil</a:t>
            </a:r>
            <a:endParaRPr sz="2400"/>
          </a:p>
          <a:p>
            <a:r>
              <a:rPr sz="2400"/>
              <a:t>ix) </a:t>
            </a:r>
            <a:r>
              <a:rPr sz="2400"/>
              <a:t>Antibacterials</a:t>
            </a:r>
            <a:r>
              <a:rPr sz="2400"/>
              <a:t> e.g. </a:t>
            </a:r>
            <a:r>
              <a:rPr sz="2400"/>
              <a:t>Sulphonamides</a:t>
            </a:r>
            <a:r>
              <a:rPr sz="2400"/>
              <a:t>, </a:t>
            </a:r>
            <a:r>
              <a:rPr sz="2400"/>
              <a:t>tetracylines</a:t>
            </a:r>
            <a:r>
              <a:rPr sz="2400"/>
              <a:t>, </a:t>
            </a:r>
            <a:r>
              <a:rPr sz="2400"/>
              <a:t>lincomycins</a:t>
            </a:r>
            <a:endParaRPr sz="2400"/>
          </a:p>
          <a:p>
            <a:r>
              <a:rPr sz="2400"/>
              <a:t>x) Acridine dyes e.g. quinacrine</a:t>
            </a:r>
            <a:endParaRPr sz="2400"/>
          </a:p>
        </p:txBody>
      </p:sp>
    </p:spTree>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048" name=""/>
        <p:cNvGrpSpPr/>
        <p:nvPr/>
      </p:nvGrpSpPr>
      <p:grpSpPr>
        <a:xfrm>
          <a:off x="0" y="0"/>
          <a:ext cx="0" cy="0"/>
          <a:chOff x="0" y="0"/>
          <a:chExt cx="0" cy="0"/>
        </a:xfrm>
      </p:grpSpPr>
      <p:sp>
        <p:nvSpPr>
          <p:cNvPr id="1049332" name="Rectangle 2"/>
          <p:cNvSpPr>
            <a:spLocks noChangeArrowheads="1"/>
          </p:cNvSpPr>
          <p:nvPr/>
        </p:nvSpPr>
        <p:spPr bwMode="auto">
          <a:xfrm>
            <a:off x="781054" y="228600"/>
            <a:ext cx="9658350" cy="5120640"/>
          </a:xfrm>
          <a:prstGeom prst="rect"/>
          <a:noFill/>
          <a:ln>
            <a:noFill/>
          </a:ln>
          <a:effectLst/>
        </p:spPr>
        <p:txBody>
          <a:bodyPr wrap="square">
            <a:spAutoFit/>
          </a:bodyPr>
          <a:p>
            <a:r>
              <a:rPr sz="2400"/>
              <a:t>B) </a:t>
            </a:r>
            <a:r>
              <a:rPr b="1" sz="2400"/>
              <a:t>Based on stage of plasmodial parasite affected and rapidity of effect – provide clinical cure by eradicating erythrocytic stages</a:t>
            </a:r>
            <a:endParaRPr b="1" sz="2400"/>
          </a:p>
          <a:p>
            <a:pPr lvl="1"/>
            <a:r>
              <a:rPr sz="2400"/>
              <a:t>i</a:t>
            </a:r>
            <a:r>
              <a:rPr sz="2400"/>
              <a:t>) </a:t>
            </a:r>
            <a:r>
              <a:rPr b="1" sz="2400"/>
              <a:t>Rapid blood schizonticides </a:t>
            </a:r>
            <a:r>
              <a:rPr sz="2400"/>
              <a:t>e.g. Artemisinin, quinine, chloroquine, amodiaquine, mefloquine, halofantrine</a:t>
            </a:r>
            <a:endParaRPr sz="2400"/>
          </a:p>
          <a:p>
            <a:pPr lvl="1"/>
            <a:r>
              <a:rPr sz="2400"/>
              <a:t>ii) </a:t>
            </a:r>
            <a:r>
              <a:rPr b="1" sz="2400"/>
              <a:t>Slow blood </a:t>
            </a:r>
            <a:r>
              <a:rPr b="1" sz="2400"/>
              <a:t>shizonticides</a:t>
            </a:r>
            <a:r>
              <a:rPr b="1" sz="2400"/>
              <a:t> </a:t>
            </a:r>
            <a:r>
              <a:rPr sz="2400"/>
              <a:t>e.g. Pyrimethamine, Proguanil, the antibiotics</a:t>
            </a:r>
            <a:endParaRPr sz="2400"/>
          </a:p>
          <a:p>
            <a:pPr lvl="1"/>
            <a:r>
              <a:rPr sz="2400"/>
              <a:t>iii) </a:t>
            </a:r>
            <a:r>
              <a:rPr b="1" sz="2400"/>
              <a:t>Tissue schizonticides </a:t>
            </a:r>
            <a:r>
              <a:rPr sz="2400"/>
              <a:t>e.g. primaquine</a:t>
            </a:r>
            <a:endParaRPr sz="2400"/>
          </a:p>
          <a:p>
            <a:pPr lvl="1"/>
            <a:r>
              <a:rPr sz="2400"/>
              <a:t>iv) </a:t>
            </a:r>
            <a:r>
              <a:rPr b="1" sz="2400"/>
              <a:t>Gametocides e.g</a:t>
            </a:r>
            <a:r>
              <a:rPr sz="2400"/>
              <a:t>. Primaquine, artemisinin, chloroquine</a:t>
            </a:r>
            <a:endParaRPr sz="2400"/>
          </a:p>
          <a:p>
            <a:endParaRPr sz="2400"/>
          </a:p>
          <a:p>
            <a:r>
              <a:rPr b="1" sz="2400"/>
              <a:t>C) Suppressive Prophylactic agents</a:t>
            </a:r>
            <a:r>
              <a:rPr sz="2400"/>
              <a:t> e.g. Mefloquine, proguanil, doxycycline, </a:t>
            </a:r>
            <a:r>
              <a:rPr sz="2400"/>
              <a:t>Atavaquone</a:t>
            </a:r>
            <a:r>
              <a:rPr sz="2400"/>
              <a:t>-proguanil, primaquine</a:t>
            </a:r>
            <a:endParaRPr sz="2400"/>
          </a:p>
          <a:p>
            <a:r>
              <a:rPr sz="2400"/>
              <a:t>True Causal prophylaxis – preventing the </a:t>
            </a:r>
            <a:r>
              <a:rPr sz="2400"/>
              <a:t>‘cause</a:t>
            </a:r>
            <a:r>
              <a:rPr sz="2400"/>
              <a:t>’ from infecting any human cell – before 1° infection of the liver</a:t>
            </a:r>
            <a:endParaRPr sz="2400"/>
          </a:p>
        </p:txBody>
      </p:sp>
    </p:spTree>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049" name=""/>
        <p:cNvGrpSpPr/>
        <p:nvPr/>
      </p:nvGrpSpPr>
      <p:grpSpPr>
        <a:xfrm>
          <a:off x="0" y="0"/>
          <a:ext cx="0" cy="0"/>
          <a:chOff x="0" y="0"/>
          <a:chExt cx="0" cy="0"/>
        </a:xfrm>
      </p:grpSpPr>
      <p:sp>
        <p:nvSpPr>
          <p:cNvPr id="1049333" name="Title 1"/>
          <p:cNvSpPr>
            <a:spLocks noGrp="1"/>
          </p:cNvSpPr>
          <p:nvPr>
            <p:ph type="title"/>
          </p:nvPr>
        </p:nvSpPr>
        <p:spPr/>
        <p:txBody>
          <a:bodyPr/>
          <a:p>
            <a:r>
              <a:t>4-AMINOQUINOLINES</a:t>
            </a:r>
          </a:p>
        </p:txBody>
      </p:sp>
      <p:sp>
        <p:nvSpPr>
          <p:cNvPr id="1049334" name="Content Placeholder 2"/>
          <p:cNvSpPr>
            <a:spLocks noGrp="1"/>
          </p:cNvSpPr>
          <p:nvPr>
            <p:ph idx="1"/>
          </p:nvPr>
        </p:nvSpPr>
        <p:spPr>
          <a:xfrm>
            <a:off x="542925" y="1571625"/>
            <a:ext cx="11258550" cy="5162545"/>
          </a:xfrm>
        </p:spPr>
        <p:txBody>
          <a:bodyPr>
            <a:normAutofit fontScale="75000" lnSpcReduction="20000"/>
          </a:bodyPr>
          <a:p>
            <a:r>
              <a:t>Three main drugs are </a:t>
            </a:r>
            <a:r>
              <a:rPr b="1">
                <a:solidFill>
                  <a:srgbClr val="FF0000"/>
                </a:solidFill>
              </a:rPr>
              <a:t>Chloroquine, hydroxychloroquine and amodiaquine </a:t>
            </a:r>
            <a:endParaRPr b="1">
              <a:solidFill>
                <a:srgbClr val="FF0000"/>
              </a:solidFill>
            </a:endParaRPr>
          </a:p>
          <a:p>
            <a:r>
              <a:t>Amodiaquine</a:t>
            </a:r>
          </a:p>
          <a:p>
            <a:pPr indent="0" marL="0">
              <a:buNone/>
            </a:pPr>
            <a:r>
              <a:rPr b="1"/>
              <a:t>MOA </a:t>
            </a:r>
            <a:r>
              <a:t>-an antimalarial with </a:t>
            </a:r>
            <a:r>
              <a:t>schizonticidal</a:t>
            </a:r>
            <a:r>
              <a:t> activity. Accumulates in the lysosomes and brings about loss of function making it difficult for the parasite to digest </a:t>
            </a:r>
            <a:r>
              <a:t>haemoglobin</a:t>
            </a:r>
            <a:r>
              <a:t> which it depends for its energy and synthesis of parasite-specific proteins (</a:t>
            </a:r>
            <a:r>
              <a:t>e.g</a:t>
            </a:r>
            <a:r>
              <a:t> nucleoproteins</a:t>
            </a:r>
          </a:p>
          <a:p>
            <a:r>
              <a:t>It is </a:t>
            </a:r>
            <a:r>
              <a:rPr b="1"/>
              <a:t>effective against the erythrocytic stages of all 4 species of plasmodium</a:t>
            </a:r>
            <a:r>
              <a:t>. </a:t>
            </a:r>
          </a:p>
          <a:p>
            <a:pPr indent="0" marL="0">
              <a:buNone/>
            </a:pPr>
            <a:r>
              <a:t>Pharmacokinetics</a:t>
            </a:r>
          </a:p>
          <a:p>
            <a:pPr lvl="1"/>
            <a:r>
              <a:t>After oral administration , is </a:t>
            </a:r>
            <a:r>
              <a:rPr b="1"/>
              <a:t>rapidly absorbed</a:t>
            </a:r>
            <a:r>
              <a:t>, and undergoes </a:t>
            </a:r>
            <a:r>
              <a:rPr b="1"/>
              <a:t>rapid and extensive metabolism to </a:t>
            </a:r>
            <a:r>
              <a:rPr b="1"/>
              <a:t>desethylamodiaquine</a:t>
            </a:r>
            <a:r>
              <a:rPr b="1"/>
              <a:t> (</a:t>
            </a:r>
            <a:r>
              <a:t>anti-malarial activity and toxicity</a:t>
            </a:r>
            <a:r>
              <a:rPr b="1"/>
              <a:t>)</a:t>
            </a:r>
            <a:r>
              <a:t> which </a:t>
            </a:r>
            <a:r>
              <a:rPr b="1"/>
              <a:t>concentrates in blood cells</a:t>
            </a:r>
            <a:r>
              <a:t>. </a:t>
            </a:r>
          </a:p>
          <a:p>
            <a:pPr indent="0" marL="0">
              <a:buNone/>
            </a:pPr>
            <a:r>
              <a:rPr b="1"/>
              <a:t>Unwanted effects </a:t>
            </a:r>
            <a:endParaRPr b="1"/>
          </a:p>
          <a:p>
            <a:pPr lvl="1"/>
            <a:r>
              <a:t>Its use is associated with </a:t>
            </a:r>
            <a:r>
              <a:rPr b="1"/>
              <a:t>hepatic toxicity and agranulocytosis</a:t>
            </a:r>
            <a:r>
              <a:t>. </a:t>
            </a:r>
          </a:p>
          <a:p>
            <a:pPr lvl="1"/>
            <a:r>
              <a:t>Severe neutropenia can occur. </a:t>
            </a:r>
          </a:p>
          <a:p>
            <a:pPr lvl="1"/>
            <a:r>
              <a:t>Large doses produce syncope, spasticity, convulsions and involuntary movements. </a:t>
            </a:r>
          </a:p>
          <a:p>
            <a:pPr lvl="1"/>
            <a:r>
              <a:t>Blood dyscrasias, hepatitis, peripheral neuropathy and </a:t>
            </a:r>
            <a:r>
              <a:t>haemolytic</a:t>
            </a:r>
            <a:r>
              <a:t> </a:t>
            </a:r>
            <a:r>
              <a:t>anaemia</a:t>
            </a:r>
            <a:r>
              <a:t>. </a:t>
            </a:r>
          </a:p>
          <a:p>
            <a:pPr lvl="1"/>
            <a:r>
              <a:t>If long term therapy is given, </a:t>
            </a:r>
            <a:r>
              <a:rPr b="1"/>
              <a:t>regular ophthalmic examination is recommended</a:t>
            </a:r>
            <a:r>
              <a:t>. </a:t>
            </a:r>
          </a:p>
          <a:p>
            <a:pPr indent="0" marL="0">
              <a:buNone/>
            </a:pPr>
            <a:r>
              <a:rPr b="1"/>
              <a:t>Contraindications</a:t>
            </a:r>
            <a:r>
              <a:t> </a:t>
            </a:r>
          </a:p>
          <a:p>
            <a:pPr lvl="1"/>
            <a:r>
              <a:t>Contraindicated in patients with known hypersensitivity to amodiaquine or other 4- aminoquinolines </a:t>
            </a:r>
          </a:p>
        </p:txBody>
      </p:sp>
    </p:spTree>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050" name=""/>
        <p:cNvGrpSpPr/>
        <p:nvPr/>
      </p:nvGrpSpPr>
      <p:grpSpPr>
        <a:xfrm>
          <a:off x="0" y="0"/>
          <a:ext cx="0" cy="0"/>
          <a:chOff x="0" y="0"/>
          <a:chExt cx="0" cy="0"/>
        </a:xfrm>
      </p:grpSpPr>
      <p:sp>
        <p:nvSpPr>
          <p:cNvPr id="1049335" name="Title 1"/>
          <p:cNvSpPr>
            <a:spLocks noGrp="1"/>
          </p:cNvSpPr>
          <p:nvPr>
            <p:ph type="title"/>
          </p:nvPr>
        </p:nvSpPr>
        <p:spPr>
          <a:xfrm>
            <a:off x="838204" y="269871"/>
            <a:ext cx="10515600" cy="758828"/>
          </a:xfrm>
        </p:spPr>
        <p:txBody>
          <a:bodyPr/>
          <a:p>
            <a:r>
              <a:t>QUINOLINE-METHANOLS</a:t>
            </a:r>
          </a:p>
        </p:txBody>
      </p:sp>
      <p:sp>
        <p:nvSpPr>
          <p:cNvPr id="1049336" name="Content Placeholder 2"/>
          <p:cNvSpPr>
            <a:spLocks noGrp="1"/>
          </p:cNvSpPr>
          <p:nvPr>
            <p:ph idx="1"/>
          </p:nvPr>
        </p:nvSpPr>
        <p:spPr>
          <a:xfrm>
            <a:off x="323854" y="1095379"/>
            <a:ext cx="11563345" cy="5638804"/>
          </a:xfrm>
        </p:spPr>
        <p:txBody>
          <a:bodyPr>
            <a:normAutofit fontScale="70833" lnSpcReduction="20000"/>
          </a:bodyPr>
          <a:p>
            <a:r>
              <a:rPr b="1"/>
              <a:t>The two most widely used quinoline-</a:t>
            </a:r>
            <a:r>
              <a:rPr b="1"/>
              <a:t>methanols</a:t>
            </a:r>
            <a:r>
              <a:rPr b="1"/>
              <a:t> are quinine and mefloquine</a:t>
            </a:r>
            <a:r>
              <a:t>. </a:t>
            </a:r>
          </a:p>
          <a:p>
            <a:pPr indent="0" marL="0">
              <a:buNone/>
            </a:pPr>
            <a:r>
              <a:rPr b="1"/>
              <a:t>Quinine </a:t>
            </a:r>
            <a:endParaRPr b="1"/>
          </a:p>
          <a:p>
            <a:r>
              <a:t>Quinine is an alkaloid </a:t>
            </a:r>
            <a:r>
              <a:rPr b="1"/>
              <a:t>derived from cinchona bark.</a:t>
            </a:r>
            <a:endParaRPr b="1"/>
          </a:p>
          <a:p>
            <a:r>
              <a:rPr b="1"/>
              <a:t> </a:t>
            </a:r>
            <a:r>
              <a:t>It is a blood </a:t>
            </a:r>
            <a:r>
              <a:rPr b="1"/>
              <a:t>schizonticidal</a:t>
            </a:r>
            <a:r>
              <a:t> drug </a:t>
            </a:r>
            <a:r>
              <a:rPr b="1"/>
              <a:t>effective against the erythrocytic forms of all four species of plasmodium</a:t>
            </a:r>
            <a:r>
              <a:t>, but it </a:t>
            </a:r>
            <a:r>
              <a:rPr>
                <a:solidFill>
                  <a:srgbClr val="FF0000"/>
                </a:solidFill>
              </a:rPr>
              <a:t>has no effect on exoerythrocytic forms or on the mature gametocytes of P. falciparum</a:t>
            </a:r>
            <a:r>
              <a:t>. </a:t>
            </a:r>
          </a:p>
          <a:p>
            <a:pPr indent="0" marL="0">
              <a:buNone/>
            </a:pPr>
            <a:r>
              <a:rPr b="1"/>
              <a:t>Mechanism of action </a:t>
            </a:r>
            <a:endParaRPr b="1"/>
          </a:p>
          <a:p>
            <a:pPr lvl="1"/>
            <a:r>
              <a:t>Inhibition of the parasite </a:t>
            </a:r>
            <a:r>
              <a:t>haem</a:t>
            </a:r>
            <a:r>
              <a:t> polymerase, which detoxify </a:t>
            </a:r>
            <a:r>
              <a:t>haem</a:t>
            </a:r>
            <a:r>
              <a:t> to non-toxic </a:t>
            </a:r>
            <a:r>
              <a:t>haemozoin</a:t>
            </a:r>
            <a:r>
              <a:t>. </a:t>
            </a:r>
          </a:p>
          <a:p>
            <a:pPr lvl="1"/>
            <a:r>
              <a:t>NB: Other non-antimalarial pharmacological actions on host tissue include a </a:t>
            </a:r>
            <a:r>
              <a:rPr b="1"/>
              <a:t>depressant action on the heart</a:t>
            </a:r>
            <a:r>
              <a:t>, </a:t>
            </a:r>
            <a:r>
              <a:rPr b="1"/>
              <a:t>a mild oxytocic effect on the uterus in pregnancy</a:t>
            </a:r>
            <a:r>
              <a:t>, </a:t>
            </a:r>
            <a:r>
              <a:rPr>
                <a:solidFill>
                  <a:srgbClr val="FF0000"/>
                </a:solidFill>
              </a:rPr>
              <a:t>a slight blocking action on the neuromuscular junction </a:t>
            </a:r>
            <a:r>
              <a:t>and </a:t>
            </a:r>
            <a:r>
              <a:rPr b="1"/>
              <a:t>a weak antipyretic effect</a:t>
            </a:r>
            <a:r>
              <a:t>. </a:t>
            </a:r>
          </a:p>
          <a:p>
            <a:r>
              <a:rPr b="1"/>
              <a:t>Pharmacokinetic aspects </a:t>
            </a:r>
            <a:endParaRPr b="1"/>
          </a:p>
          <a:p>
            <a:pPr lvl="1"/>
            <a:r>
              <a:t>Quinine is </a:t>
            </a:r>
            <a:r>
              <a:rPr b="1"/>
              <a:t>well absorbed when administered</a:t>
            </a:r>
            <a:r>
              <a:t>. </a:t>
            </a:r>
          </a:p>
          <a:p>
            <a:pPr lvl="1"/>
            <a:r>
              <a:t>Plasma protein binding is around 70% but rises to 90% or more in patients with malaria. </a:t>
            </a:r>
          </a:p>
          <a:p>
            <a:pPr lvl="1"/>
            <a:r>
              <a:t>Widely distributed into body tissues. </a:t>
            </a:r>
          </a:p>
          <a:p>
            <a:pPr lvl="1"/>
            <a:r>
              <a:t>Metabolized extensively in the liver and the metabolites are </a:t>
            </a:r>
            <a:r>
              <a:rPr b="1"/>
              <a:t>excreted in the urine within about 24 hours</a:t>
            </a:r>
            <a:r>
              <a:t>. Excretion is increased in acid urine. </a:t>
            </a:r>
          </a:p>
          <a:p>
            <a:pPr lvl="1"/>
            <a:r>
              <a:t>Small amounts are also excreted in bile. </a:t>
            </a:r>
          </a:p>
          <a:p>
            <a:pPr lvl="1"/>
            <a:r>
              <a:t>It </a:t>
            </a:r>
            <a:r>
              <a:rPr b="1"/>
              <a:t>crosses the placenta and is excreted in the breast milk</a:t>
            </a:r>
            <a:r>
              <a:t>. </a:t>
            </a:r>
          </a:p>
          <a:p>
            <a:r>
              <a:t>The pharmacokinetics of quinine </a:t>
            </a:r>
            <a:r>
              <a:rPr>
                <a:solidFill>
                  <a:srgbClr val="FF0000"/>
                </a:solidFill>
              </a:rPr>
              <a:t>are affected by malarial infection, with volume of distribution and systemic clearance decreasing</a:t>
            </a:r>
            <a:r>
              <a:t>. </a:t>
            </a:r>
            <a:r>
              <a:rPr>
                <a:solidFill>
                  <a:srgbClr val="FF0000"/>
                </a:solidFill>
              </a:rPr>
              <a:t>Also, protein binding increases to &gt; 90% in patients with cerebral malaria, in pregnant patients and in children.</a:t>
            </a:r>
            <a:endParaRPr>
              <a:solidFill>
                <a:srgbClr val="FF0000"/>
              </a:solidFill>
            </a:endParaRPr>
          </a:p>
        </p:txBody>
      </p:sp>
    </p:spTree>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051" name=""/>
        <p:cNvGrpSpPr/>
        <p:nvPr/>
      </p:nvGrpSpPr>
      <p:grpSpPr>
        <a:xfrm>
          <a:off x="0" y="0"/>
          <a:ext cx="0" cy="0"/>
          <a:chOff x="0" y="0"/>
          <a:chExt cx="0" cy="0"/>
        </a:xfrm>
      </p:grpSpPr>
      <p:sp>
        <p:nvSpPr>
          <p:cNvPr id="1049337" name="Title 1"/>
          <p:cNvSpPr>
            <a:spLocks noGrp="1"/>
          </p:cNvSpPr>
          <p:nvPr>
            <p:ph type="title"/>
          </p:nvPr>
        </p:nvSpPr>
        <p:spPr>
          <a:xfrm>
            <a:off x="838204" y="365126"/>
            <a:ext cx="10515600" cy="720723"/>
          </a:xfrm>
        </p:spPr>
        <p:txBody>
          <a:bodyPr>
            <a:normAutofit fontScale="95455"/>
          </a:bodyPr>
          <a:p>
            <a:r>
              <a:t>Indication of quinine</a:t>
            </a:r>
          </a:p>
        </p:txBody>
      </p:sp>
      <p:sp>
        <p:nvSpPr>
          <p:cNvPr id="1049338" name="Content Placeholder 2"/>
          <p:cNvSpPr>
            <a:spLocks noGrp="1"/>
          </p:cNvSpPr>
          <p:nvPr>
            <p:ph idx="1"/>
          </p:nvPr>
        </p:nvSpPr>
        <p:spPr>
          <a:xfrm>
            <a:off x="419095" y="1295404"/>
            <a:ext cx="10934695" cy="5324479"/>
          </a:xfrm>
        </p:spPr>
        <p:txBody>
          <a:bodyPr>
            <a:normAutofit fontScale="87500" lnSpcReduction="20000"/>
          </a:bodyPr>
          <a:p>
            <a:r>
              <a:rPr b="1"/>
              <a:t>Severe or complicated malaria. Second line of treatment in Kenya</a:t>
            </a:r>
            <a:endParaRPr b="1"/>
          </a:p>
          <a:p>
            <a:r>
              <a:t>Administration and dosage. </a:t>
            </a:r>
          </a:p>
          <a:p>
            <a:pPr lvl="1"/>
            <a:r>
              <a:rPr b="1"/>
              <a:t>Can be given orally, intravenous infusion or IM</a:t>
            </a:r>
            <a:r>
              <a:t>. </a:t>
            </a:r>
          </a:p>
          <a:p>
            <a:pPr lvl="1"/>
            <a:r>
              <a:t>In severe or complicated P. falciparum infections and in patients who are vomiting -intravenous route. Intramuscular route can be used as an alternative where intravenous route is not feasible</a:t>
            </a:r>
          </a:p>
          <a:p>
            <a:pPr lvl="1"/>
            <a:r>
              <a:t>IV quinine is given by slow intravenous infusion with monitoring of cardiotoxicity</a:t>
            </a:r>
          </a:p>
          <a:p>
            <a:pPr lvl="1"/>
            <a:r>
              <a:rPr b="1"/>
              <a:t>Oral quinine. </a:t>
            </a:r>
            <a:r>
              <a:t>This is administered as a daily dose of 30mg/kg in three divided doses of 10mg/kg for 7 days</a:t>
            </a:r>
          </a:p>
          <a:p>
            <a:pPr lvl="1"/>
            <a:r>
              <a:t>Parenteral quinine IV and IM </a:t>
            </a:r>
          </a:p>
          <a:p>
            <a:r>
              <a:rPr b="1"/>
              <a:t>Children </a:t>
            </a:r>
            <a:endParaRPr b="1"/>
          </a:p>
          <a:p>
            <a:pPr lvl="1"/>
            <a:r>
              <a:t>An initial </a:t>
            </a:r>
            <a:r>
              <a:rPr b="1"/>
              <a:t>loading dose in infusion of 15mg (salt)/kg</a:t>
            </a:r>
            <a:r>
              <a:t> and then followed by a </a:t>
            </a:r>
            <a:r>
              <a:rPr>
                <a:solidFill>
                  <a:srgbClr val="FF0000"/>
                </a:solidFill>
              </a:rPr>
              <a:t>maintenance dose of 10mg/kg every 12 hours </a:t>
            </a:r>
            <a:r>
              <a:t>until patient can tolerate oral medication. Thereafter quinine is continued orally at 10mg/kg every 8 hours to complete a total (parenteral + oral) of 7 days. </a:t>
            </a:r>
          </a:p>
          <a:p>
            <a:r>
              <a:rPr b="1"/>
              <a:t>Adults</a:t>
            </a:r>
            <a:endParaRPr b="1"/>
          </a:p>
          <a:p>
            <a:pPr lvl="1"/>
            <a:r>
              <a:t>Parenteral quinine is given as an initial </a:t>
            </a:r>
            <a:r>
              <a:rPr b="1"/>
              <a:t>loading dose of 20mg (salt)/kg (maximum of 1200mg) </a:t>
            </a:r>
            <a:r>
              <a:t>of quinine and then followed by a </a:t>
            </a:r>
            <a:r>
              <a:rPr>
                <a:solidFill>
                  <a:srgbClr val="FF0000"/>
                </a:solidFill>
              </a:rPr>
              <a:t>maintenance dose of 10mg/kg </a:t>
            </a:r>
            <a:r>
              <a:t>(maximum 600mg) every 8 hours until patient can tolerate oral medication. Thereafter quinine is continued orally at 10mg/kg (maximum 600mg) every 8 hours to complete a total (parenteral + oral) of 7 days. </a:t>
            </a:r>
          </a:p>
        </p:txBody>
      </p:sp>
    </p:spTree>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052" name=""/>
        <p:cNvGrpSpPr/>
        <p:nvPr/>
      </p:nvGrpSpPr>
      <p:grpSpPr>
        <a:xfrm>
          <a:off x="0" y="0"/>
          <a:ext cx="0" cy="0"/>
          <a:chOff x="0" y="0"/>
          <a:chExt cx="0" cy="0"/>
        </a:xfrm>
      </p:grpSpPr>
      <p:sp>
        <p:nvSpPr>
          <p:cNvPr id="1049339" name="Title 1"/>
          <p:cNvSpPr>
            <a:spLocks noGrp="1"/>
          </p:cNvSpPr>
          <p:nvPr>
            <p:ph type="title"/>
          </p:nvPr>
        </p:nvSpPr>
        <p:spPr/>
        <p:txBody>
          <a:bodyPr/>
          <a:p>
            <a:r>
              <a:t>Practical issues with quinine administration </a:t>
            </a:r>
          </a:p>
        </p:txBody>
      </p:sp>
      <p:sp>
        <p:nvSpPr>
          <p:cNvPr id="1049340" name="Content Placeholder 2"/>
          <p:cNvSpPr>
            <a:spLocks noGrp="1"/>
          </p:cNvSpPr>
          <p:nvPr>
            <p:ph idx="1"/>
          </p:nvPr>
        </p:nvSpPr>
        <p:spPr/>
        <p:txBody>
          <a:bodyPr>
            <a:normAutofit fontScale="92857" lnSpcReduction="20000"/>
          </a:bodyPr>
          <a:p>
            <a:r>
              <a:t>Quinine should only be given as </a:t>
            </a:r>
            <a:r>
              <a:rPr b="1"/>
              <a:t>a slow intravenous infusion and NEVER given as an intravenous (bolus) injection</a:t>
            </a:r>
            <a:r>
              <a:t>. </a:t>
            </a:r>
          </a:p>
          <a:p>
            <a:r>
              <a:t>Quinine MUST be diluted (maximum concentration is 60mg/ml) before intramuscular injection.</a:t>
            </a:r>
          </a:p>
          <a:p>
            <a:r>
              <a:t> A maximum of 3ml should be injected into one site. If the amount to be injected exceeds 3 </a:t>
            </a:r>
            <a:r>
              <a:t>mls</a:t>
            </a:r>
            <a:r>
              <a:t>, multiple sites should be used. </a:t>
            </a:r>
          </a:p>
          <a:p>
            <a:r>
              <a:t>Loading dose should be omitted if patient have received quinine in the last 24hr or have received mefloquine in the last 7 days </a:t>
            </a:r>
          </a:p>
          <a:p>
            <a:r>
              <a:t>Quinine is not contraindicated in severe </a:t>
            </a:r>
            <a:r>
              <a:t>anaemia</a:t>
            </a:r>
            <a:r>
              <a:t> </a:t>
            </a:r>
          </a:p>
          <a:p>
            <a:r>
              <a:t>In </a:t>
            </a:r>
            <a:r>
              <a:rPr b="1"/>
              <a:t>renal insufficiency the dose of quinine remains unchanged </a:t>
            </a:r>
            <a:endParaRPr b="1"/>
          </a:p>
          <a:p>
            <a:r>
              <a:rPr b="1"/>
              <a:t>In hepatic insufficiency, the dose of quinine should be reduced by 25%</a:t>
            </a:r>
            <a:endParaRPr b="1"/>
          </a:p>
        </p:txBody>
      </p:sp>
    </p:spTree>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053" name=""/>
        <p:cNvGrpSpPr/>
        <p:nvPr/>
      </p:nvGrpSpPr>
      <p:grpSpPr>
        <a:xfrm>
          <a:off x="0" y="0"/>
          <a:ext cx="0" cy="0"/>
          <a:chOff x="0" y="0"/>
          <a:chExt cx="0" cy="0"/>
        </a:xfrm>
      </p:grpSpPr>
      <p:sp>
        <p:nvSpPr>
          <p:cNvPr id="1049341" name="Title 1"/>
          <p:cNvSpPr>
            <a:spLocks noGrp="1"/>
          </p:cNvSpPr>
          <p:nvPr>
            <p:ph type="title"/>
          </p:nvPr>
        </p:nvSpPr>
        <p:spPr>
          <a:xfrm>
            <a:off x="838204" y="365126"/>
            <a:ext cx="10515600" cy="892173"/>
          </a:xfrm>
        </p:spPr>
        <p:txBody>
          <a:bodyPr/>
          <a:p>
            <a:r>
              <a:t>ADVERSE EFFECTS </a:t>
            </a:r>
          </a:p>
        </p:txBody>
      </p:sp>
      <p:sp>
        <p:nvSpPr>
          <p:cNvPr id="1049342" name="Content Placeholder 2"/>
          <p:cNvSpPr>
            <a:spLocks noGrp="1"/>
          </p:cNvSpPr>
          <p:nvPr>
            <p:ph idx="1"/>
          </p:nvPr>
        </p:nvSpPr>
        <p:spPr/>
        <p:txBody>
          <a:bodyPr>
            <a:normAutofit fontScale="89286" lnSpcReduction="20000"/>
          </a:bodyPr>
          <a:p>
            <a:r>
              <a:t>Cardiovascular - Anginal symptoms, conduction disturbances, ventricular tachycardia, severe hypotension, arrhythmias and acute circulatory failure. </a:t>
            </a:r>
          </a:p>
          <a:p>
            <a:r>
              <a:t>CNS - Tinnitus, deafness, vertigo, headache, fever, apprehension, restlessness, confusion, syncope, excitement, delirium, hypothermia, convulsions, dizziness. </a:t>
            </a:r>
          </a:p>
          <a:p>
            <a:r>
              <a:t>GI - Nausea, vomiting, epigastric pain, hepatitis, GI disturbance. </a:t>
            </a:r>
          </a:p>
          <a:p>
            <a:r>
              <a:t>Hematologic - Acute hemolysis, hemolytic anemia, thrombocytopenic purpura, agranulocytosis, hypoprothrombinemia . </a:t>
            </a:r>
          </a:p>
          <a:p>
            <a:r>
              <a:t>Hypersensitivity - Cutaneous rashes (urticarial, </a:t>
            </a:r>
            <a:r>
              <a:t>papular</a:t>
            </a:r>
            <a:r>
              <a:t>, </a:t>
            </a:r>
            <a:r>
              <a:t>scarlatinal</a:t>
            </a:r>
            <a:r>
              <a:t>), pruritus, flushing, sweating, facial edema, asthmatic symptoms. </a:t>
            </a:r>
          </a:p>
          <a:p>
            <a:r>
              <a:t>Ophthalmic - Visual disturbances, including disturbed color vision and perception; photophobia, blurred vision with scotomata, night blindness, amblyopia, diplopia, diminished visual fields, mydriasis, and optic atrophy. </a:t>
            </a:r>
          </a:p>
        </p:txBody>
      </p:sp>
    </p:spTree>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054" name=""/>
        <p:cNvGrpSpPr/>
        <p:nvPr/>
      </p:nvGrpSpPr>
      <p:grpSpPr>
        <a:xfrm>
          <a:off x="0" y="0"/>
          <a:ext cx="0" cy="0"/>
          <a:chOff x="0" y="0"/>
          <a:chExt cx="0" cy="0"/>
        </a:xfrm>
      </p:grpSpPr>
      <p:sp>
        <p:nvSpPr>
          <p:cNvPr id="1049343" name="Title 1"/>
          <p:cNvSpPr>
            <a:spLocks noGrp="1"/>
          </p:cNvSpPr>
          <p:nvPr>
            <p:ph type="title"/>
          </p:nvPr>
        </p:nvSpPr>
        <p:spPr/>
        <p:txBody>
          <a:bodyPr/>
          <a:p>
            <a:r>
              <a:t>Adverse effects </a:t>
            </a:r>
            <a:r>
              <a:t>cont</a:t>
            </a:r>
            <a:r>
              <a:t>’</a:t>
            </a:r>
          </a:p>
        </p:txBody>
      </p:sp>
      <p:sp>
        <p:nvSpPr>
          <p:cNvPr id="1049344" name="Content Placeholder 2"/>
          <p:cNvSpPr>
            <a:spLocks noGrp="1"/>
          </p:cNvSpPr>
          <p:nvPr>
            <p:ph idx="1"/>
          </p:nvPr>
        </p:nvSpPr>
        <p:spPr>
          <a:xfrm>
            <a:off x="428625" y="1571625"/>
            <a:ext cx="11420470" cy="5124454"/>
          </a:xfrm>
        </p:spPr>
        <p:txBody>
          <a:bodyPr>
            <a:normAutofit/>
          </a:bodyPr>
          <a:p>
            <a:r>
              <a:t>Miscellaneous - </a:t>
            </a:r>
            <a:r>
              <a:rPr b="1"/>
              <a:t>Cinchonism</a:t>
            </a:r>
            <a:r>
              <a:rPr b="1"/>
              <a:t>, </a:t>
            </a:r>
            <a:r>
              <a:t>vasculitis, </a:t>
            </a:r>
            <a:r>
              <a:rPr b="1"/>
              <a:t>hypoglycemia</a:t>
            </a:r>
            <a:r>
              <a:t>, lichenoid photosensitivity, granulomatous hepatitis, hepatocellular cholestatic hepatotoxicity, renal failure associated with coagulopathy and quinine-dependent antibodies. </a:t>
            </a:r>
          </a:p>
          <a:p>
            <a:pPr lvl="1"/>
            <a:r>
              <a:t>'</a:t>
            </a:r>
            <a:r>
              <a:t>cinchonism</a:t>
            </a:r>
            <a:r>
              <a:t>'- is </a:t>
            </a:r>
            <a:r>
              <a:t>characterised</a:t>
            </a:r>
            <a:r>
              <a:t> by nausea, dizziness, tinnitus, headache and blurring of vision and </a:t>
            </a:r>
            <a:r>
              <a:rPr b="1"/>
              <a:t>occurs at plasma drug concentration, exceeding 30-60µmol/l. </a:t>
            </a:r>
            <a:endParaRPr b="1"/>
          </a:p>
          <a:p>
            <a:pPr lvl="1"/>
            <a:r>
              <a:t>The </a:t>
            </a:r>
            <a:r>
              <a:t>hypoglycaemia</a:t>
            </a:r>
            <a:r>
              <a:t> is </a:t>
            </a:r>
            <a:r>
              <a:rPr b="1"/>
              <a:t>due to stimulation of insulin release by quinine</a:t>
            </a:r>
            <a:r>
              <a:t>. </a:t>
            </a:r>
          </a:p>
          <a:p>
            <a:pPr lvl="1"/>
            <a:r>
              <a:rPr>
                <a:solidFill>
                  <a:srgbClr val="FF0000"/>
                </a:solidFill>
              </a:rPr>
              <a:t>Patients with marked falciparum </a:t>
            </a:r>
            <a:r>
              <a:rPr>
                <a:solidFill>
                  <a:srgbClr val="FF0000"/>
                </a:solidFill>
              </a:rPr>
              <a:t>parasitaemia</a:t>
            </a:r>
            <a:r>
              <a:rPr>
                <a:solidFill>
                  <a:srgbClr val="FF0000"/>
                </a:solidFill>
              </a:rPr>
              <a:t> can have low blood sugar for this reason and also because of glucose consumption by the parasite. This makes a differential diagnosis-between a coma caused by cerebral malaria and </a:t>
            </a:r>
            <a:r>
              <a:rPr>
                <a:solidFill>
                  <a:srgbClr val="FF0000"/>
                </a:solidFill>
              </a:rPr>
              <a:t>hypoglycaemic</a:t>
            </a:r>
            <a:r>
              <a:rPr>
                <a:solidFill>
                  <a:srgbClr val="FF0000"/>
                </a:solidFill>
              </a:rPr>
              <a:t> coma-difficult. </a:t>
            </a:r>
            <a:endParaRPr>
              <a:solidFill>
                <a:srgbClr val="FF0000"/>
              </a:solidFill>
            </a:endParaRPr>
          </a:p>
          <a:p>
            <a:r>
              <a:t>Intramuscular injections of quinine can be irritant and have caused pain, focal necrosis, and abscess formation </a:t>
            </a:r>
          </a:p>
          <a:p>
            <a:r>
              <a:t>Quinine has a bitter taste</a:t>
            </a:r>
          </a:p>
          <a:p>
            <a:r>
              <a:t>Blackwater fever, a severe and often fatal condition in which acute </a:t>
            </a:r>
            <a:r>
              <a:t>haemolytic</a:t>
            </a:r>
            <a:r>
              <a:t> </a:t>
            </a:r>
            <a:r>
              <a:t>anaemia</a:t>
            </a:r>
            <a:r>
              <a:t> is associated with renal failure</a:t>
            </a:r>
          </a:p>
          <a:p/>
        </p:txBody>
      </p:sp>
    </p:spTree>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055" name=""/>
        <p:cNvGrpSpPr/>
        <p:nvPr/>
      </p:nvGrpSpPr>
      <p:grpSpPr>
        <a:xfrm>
          <a:off x="0" y="0"/>
          <a:ext cx="0" cy="0"/>
          <a:chOff x="0" y="0"/>
          <a:chExt cx="0" cy="0"/>
        </a:xfrm>
      </p:grpSpPr>
      <p:sp>
        <p:nvSpPr>
          <p:cNvPr id="1049345" name="Title 1"/>
          <p:cNvSpPr>
            <a:spLocks noGrp="1"/>
          </p:cNvSpPr>
          <p:nvPr>
            <p:ph type="title"/>
          </p:nvPr>
        </p:nvSpPr>
        <p:spPr>
          <a:xfrm>
            <a:off x="838204" y="365126"/>
            <a:ext cx="10515600" cy="806448"/>
          </a:xfrm>
        </p:spPr>
        <p:txBody>
          <a:bodyPr/>
          <a:p>
            <a:r>
              <a:t>Interactions</a:t>
            </a:r>
          </a:p>
        </p:txBody>
      </p:sp>
      <p:sp>
        <p:nvSpPr>
          <p:cNvPr id="1049346" name="Content Placeholder 2"/>
          <p:cNvSpPr>
            <a:spLocks noGrp="1"/>
          </p:cNvSpPr>
          <p:nvPr>
            <p:ph idx="1"/>
          </p:nvPr>
        </p:nvSpPr>
        <p:spPr>
          <a:xfrm>
            <a:off x="400050" y="1171575"/>
            <a:ext cx="11401425" cy="5505445"/>
          </a:xfrm>
        </p:spPr>
        <p:txBody>
          <a:bodyPr>
            <a:normAutofit fontScale="78571" lnSpcReduction="20000"/>
          </a:bodyPr>
          <a:p>
            <a:r>
              <a:t>Quinine reduces digoxin clearance </a:t>
            </a:r>
          </a:p>
          <a:p>
            <a:r>
              <a:t>Quinine can cause </a:t>
            </a:r>
            <a:r>
              <a:t>hypothrombinaemia</a:t>
            </a:r>
            <a:r>
              <a:t> and thereby enhances the effect of anticoagulants </a:t>
            </a:r>
          </a:p>
          <a:p>
            <a:r>
              <a:t>Aluminum containing antacids may delay or decrease absorption of concurrent quinine </a:t>
            </a:r>
          </a:p>
          <a:p>
            <a:r>
              <a:t>Cimetidine may reduce quinine's oral clearance and increase its elimination half-life. </a:t>
            </a:r>
          </a:p>
          <a:p>
            <a:r>
              <a:t>Do not use mefloquine concurrently with quinine. If these agents are to be used in the initial treatment of severe malaria, delay mefloquine administration &gt; 12 hours after the last dose of quinine. ECG abnormalities or cardiac arrest may occur. The risk of convulsions may also be increased with </a:t>
            </a:r>
            <a:r>
              <a:t>coadminstration</a:t>
            </a:r>
            <a:r>
              <a:t>. </a:t>
            </a:r>
          </a:p>
          <a:p>
            <a:r>
              <a:t>Rifamycins</a:t>
            </a:r>
            <a:r>
              <a:t>, potent inducers of hepatic microsomal enzymes, increased the hepatic clearance of quinine. Enzyme induction can persist for several days following discontinuation of the rifamycin. </a:t>
            </a:r>
          </a:p>
          <a:p>
            <a:r>
              <a:t>Urinary </a:t>
            </a:r>
            <a:r>
              <a:t>alkanizers</a:t>
            </a:r>
            <a:r>
              <a:t> administered concurrently with quinine may increase quinine blood levels with potential for toxicity. </a:t>
            </a:r>
          </a:p>
          <a:p>
            <a:r>
              <a:t>Quinine may depress the hepatic enzyme system that synthesizes the vitamin </a:t>
            </a:r>
            <a:r>
              <a:t>Kdependent</a:t>
            </a:r>
            <a:r>
              <a:t> clotting factors and thus may enhance the action of warfarin and other oral anticoagulants. </a:t>
            </a:r>
          </a:p>
          <a:p>
            <a:r>
              <a:t>Digoxin, serum concentrations may be increased by concurrent quinine. Monitor digoxin levels periodically. </a:t>
            </a:r>
          </a:p>
          <a:p>
            <a:r>
              <a:t>Quinine may potentiate the effects of neuromuscular blocking agents, particularly </a:t>
            </a:r>
            <a:r>
              <a:t>pancuronium</a:t>
            </a:r>
            <a:r>
              <a:t>, succinylcholine and tubocurarine, which may result in respiratory difficulties.</a:t>
            </a:r>
          </a:p>
        </p:txBody>
      </p:sp>
    </p:spTree>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056" name=""/>
        <p:cNvGrpSpPr/>
        <p:nvPr/>
      </p:nvGrpSpPr>
      <p:grpSpPr>
        <a:xfrm>
          <a:off x="0" y="0"/>
          <a:ext cx="0" cy="0"/>
          <a:chOff x="0" y="0"/>
          <a:chExt cx="0" cy="0"/>
        </a:xfrm>
      </p:grpSpPr>
      <p:sp>
        <p:nvSpPr>
          <p:cNvPr id="1049347" name="Title 1"/>
          <p:cNvSpPr>
            <a:spLocks noGrp="1"/>
          </p:cNvSpPr>
          <p:nvPr>
            <p:ph type="title"/>
          </p:nvPr>
        </p:nvSpPr>
        <p:spPr/>
        <p:txBody>
          <a:bodyPr/>
          <a:p>
            <a:r>
              <a:t>Precautions</a:t>
            </a:r>
          </a:p>
        </p:txBody>
      </p:sp>
      <p:sp>
        <p:nvSpPr>
          <p:cNvPr id="1049348" name="Content Placeholder 2"/>
          <p:cNvSpPr>
            <a:spLocks noGrp="1"/>
          </p:cNvSpPr>
          <p:nvPr>
            <p:ph idx="1"/>
          </p:nvPr>
        </p:nvSpPr>
        <p:spPr/>
        <p:txBody>
          <a:bodyPr/>
          <a:p>
            <a:r>
              <a:t>Quinine should be avoided in patients with myasthenia gravis as it may aggravate their condition. </a:t>
            </a:r>
          </a:p>
          <a:p>
            <a:r>
              <a:t>It is important that when quinine is given intravenously it should be given by slow infusion and the patient observed closely for signs of cardiotoxicity. </a:t>
            </a:r>
          </a:p>
          <a:p>
            <a:r>
              <a:t>Blood glucose concentrations should also be monitored. Both the disease itself and the administration of quinine </a:t>
            </a:r>
            <a:r>
              <a:rPr b="1"/>
              <a:t>may promote insulin secretion and induce hypoglycemia. </a:t>
            </a:r>
            <a:endParaRPr b="1"/>
          </a:p>
        </p:txBody>
      </p:sp>
    </p:spTree>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057" name=""/>
        <p:cNvGrpSpPr/>
        <p:nvPr/>
      </p:nvGrpSpPr>
      <p:grpSpPr>
        <a:xfrm>
          <a:off x="0" y="0"/>
          <a:ext cx="0" cy="0"/>
          <a:chOff x="0" y="0"/>
          <a:chExt cx="0" cy="0"/>
        </a:xfrm>
      </p:grpSpPr>
      <p:sp>
        <p:nvSpPr>
          <p:cNvPr id="1049349" name="Title 1"/>
          <p:cNvSpPr>
            <a:spLocks noGrp="1"/>
          </p:cNvSpPr>
          <p:nvPr>
            <p:ph type="title"/>
          </p:nvPr>
        </p:nvSpPr>
        <p:spPr/>
        <p:txBody>
          <a:bodyPr/>
          <a:p>
            <a:r>
              <a:t>Mefloquine (Larium) </a:t>
            </a:r>
          </a:p>
        </p:txBody>
      </p:sp>
      <p:sp>
        <p:nvSpPr>
          <p:cNvPr id="1049350" name="Content Placeholder 2"/>
          <p:cNvSpPr>
            <a:spLocks noGrp="1"/>
          </p:cNvSpPr>
          <p:nvPr>
            <p:ph idx="1"/>
          </p:nvPr>
        </p:nvSpPr>
        <p:spPr/>
        <p:txBody>
          <a:bodyPr>
            <a:normAutofit fontScale="78571" lnSpcReduction="20000"/>
          </a:bodyPr>
          <a:p>
            <a:r>
              <a:t>Mefloquine is a </a:t>
            </a:r>
            <a:r>
              <a:rPr b="1"/>
              <a:t>blood </a:t>
            </a:r>
            <a:r>
              <a:rPr b="1"/>
              <a:t>schizonticidal</a:t>
            </a:r>
            <a:r>
              <a:t> quinoline-methanol compound </a:t>
            </a:r>
            <a:r>
              <a:rPr b="1"/>
              <a:t>active against P. falciparum and P. vivax</a:t>
            </a:r>
            <a:r>
              <a:t>; however, it </a:t>
            </a:r>
            <a:r>
              <a:rPr>
                <a:solidFill>
                  <a:srgbClr val="FF0000"/>
                </a:solidFill>
              </a:rPr>
              <a:t>has no effect on hepatic forms of the parasites</a:t>
            </a:r>
            <a:r>
              <a:t>, </a:t>
            </a:r>
            <a:r>
              <a:rPr b="1"/>
              <a:t>so treatment of P. vivax infections should be followed by a course of primaquine </a:t>
            </a:r>
            <a:r>
              <a:t>to eradicate the hypnozoites. </a:t>
            </a:r>
          </a:p>
          <a:p>
            <a:r>
              <a:rPr b="1"/>
              <a:t>Mefloquine is frequently combined with pyrimethamine. </a:t>
            </a:r>
            <a:endParaRPr b="1"/>
          </a:p>
          <a:p>
            <a:r>
              <a:t>Mechanism of action </a:t>
            </a:r>
          </a:p>
          <a:p>
            <a:r>
              <a:t>Inhibition of the </a:t>
            </a:r>
            <a:r>
              <a:t>haem</a:t>
            </a:r>
            <a:r>
              <a:t> polymerase; (mefloquine, is not as extensively concentrated ) </a:t>
            </a:r>
          </a:p>
          <a:p>
            <a:r>
              <a:t>Pharmacokinetic aspects Mefloquine is given </a:t>
            </a:r>
            <a:r>
              <a:rPr b="1"/>
              <a:t>orally and is rapidly absorbed, has </a:t>
            </a:r>
            <a:r>
              <a:t>enterohepatic cycling or tissue storage. </a:t>
            </a:r>
          </a:p>
          <a:p>
            <a:r>
              <a:t>Unwanted effects </a:t>
            </a:r>
          </a:p>
          <a:p>
            <a:r>
              <a:t>About 50% of subjects complain of gastrointestinal disturbances. Transient CNS </a:t>
            </a:r>
            <a:r>
              <a:t>toxicitygiddiness</a:t>
            </a:r>
            <a:r>
              <a:t>, confusion, dysphoria and insomnia-can occur, and there have been a few reports of aberrant atrioventricular conduction and serious, but rare, skin diseases. Rarely, mefloquine may provoke severe neuropsychiatric reactions</a:t>
            </a:r>
          </a:p>
        </p:txBody>
      </p:sp>
    </p:spTree>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058" name=""/>
        <p:cNvGrpSpPr/>
        <p:nvPr/>
      </p:nvGrpSpPr>
      <p:grpSpPr>
        <a:xfrm>
          <a:off x="0" y="0"/>
          <a:ext cx="0" cy="0"/>
          <a:chOff x="0" y="0"/>
          <a:chExt cx="0" cy="0"/>
        </a:xfrm>
      </p:grpSpPr>
      <p:sp>
        <p:nvSpPr>
          <p:cNvPr id="1049351" name="Title 1"/>
          <p:cNvSpPr>
            <a:spLocks noGrp="1"/>
          </p:cNvSpPr>
          <p:nvPr>
            <p:ph type="title"/>
          </p:nvPr>
        </p:nvSpPr>
        <p:spPr/>
        <p:txBody>
          <a:bodyPr/>
          <a:p>
            <a:r>
              <a:t>Contraindications and precaution </a:t>
            </a:r>
          </a:p>
        </p:txBody>
      </p:sp>
      <p:sp>
        <p:nvSpPr>
          <p:cNvPr id="1049352" name="Content Placeholder 2"/>
          <p:cNvSpPr>
            <a:spLocks noGrp="1"/>
          </p:cNvSpPr>
          <p:nvPr>
            <p:ph idx="1"/>
          </p:nvPr>
        </p:nvSpPr>
        <p:spPr/>
        <p:txBody>
          <a:bodyPr>
            <a:normAutofit/>
          </a:bodyPr>
          <a:p>
            <a:r>
              <a:t>Mefloquine is contraindicated in pregnant women or in those liable to become pregnant within 3 months of stopping the drug, because of its long half-life and uncertainty about </a:t>
            </a:r>
            <a:r>
              <a:rPr b="1"/>
              <a:t>its teratogenic potential</a:t>
            </a:r>
            <a:r>
              <a:t>. </a:t>
            </a:r>
          </a:p>
          <a:p>
            <a:r>
              <a:t>This medication should not be used if you have the following medical conditions: </a:t>
            </a:r>
            <a:r>
              <a:rPr>
                <a:solidFill>
                  <a:srgbClr val="FF0000"/>
                </a:solidFill>
              </a:rPr>
              <a:t>active or recent depression, anxiety disorder, psychiatric disorders, and seizure disorders</a:t>
            </a:r>
            <a:r>
              <a:t>. </a:t>
            </a:r>
          </a:p>
          <a:p>
            <a:pPr indent="0" marL="0">
              <a:buNone/>
            </a:pPr>
            <a:r>
              <a:t>Drug interactions </a:t>
            </a:r>
          </a:p>
          <a:p>
            <a:r>
              <a:t>This drug should not be used with the following medications because very potential interactions may occur: </a:t>
            </a:r>
            <a:r>
              <a:rPr>
                <a:solidFill>
                  <a:srgbClr val="FF0000"/>
                </a:solidFill>
              </a:rPr>
              <a:t>artemether-lumefantrine, chloroquine, halofantrine, ketoconazole, quinidine, quinine, ziprasidone</a:t>
            </a:r>
            <a:r>
              <a:t>. </a:t>
            </a:r>
          </a:p>
          <a:p>
            <a:r>
              <a:t>Do not take halofantrine or ketoconazole for 15 weeks after your last dose of </a:t>
            </a:r>
          </a:p>
        </p:txBody>
      </p:sp>
    </p:spTree>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059" name=""/>
        <p:cNvGrpSpPr/>
        <p:nvPr/>
      </p:nvGrpSpPr>
      <p:grpSpPr>
        <a:xfrm>
          <a:off x="0" y="0"/>
          <a:ext cx="0" cy="0"/>
          <a:chOff x="0" y="0"/>
          <a:chExt cx="0" cy="0"/>
        </a:xfrm>
      </p:grpSpPr>
      <p:sp>
        <p:nvSpPr>
          <p:cNvPr id="1049353" name="Title 1"/>
          <p:cNvSpPr>
            <a:spLocks noGrp="1"/>
          </p:cNvSpPr>
          <p:nvPr>
            <p:ph type="title"/>
          </p:nvPr>
        </p:nvSpPr>
        <p:spPr/>
        <p:txBody>
          <a:bodyPr/>
          <a:p>
            <a:r>
              <a:t>PHENANTHRENE-METHANOLS :Halofantrine  </a:t>
            </a:r>
          </a:p>
        </p:txBody>
      </p:sp>
      <p:sp>
        <p:nvSpPr>
          <p:cNvPr id="1049354" name="Content Placeholder 2"/>
          <p:cNvSpPr>
            <a:spLocks noGrp="1"/>
          </p:cNvSpPr>
          <p:nvPr>
            <p:ph idx="1"/>
          </p:nvPr>
        </p:nvSpPr>
        <p:spPr>
          <a:xfrm>
            <a:off x="209554" y="1447795"/>
            <a:ext cx="11887200" cy="5276845"/>
          </a:xfrm>
        </p:spPr>
        <p:txBody>
          <a:bodyPr>
            <a:normAutofit fontScale="66667" lnSpcReduction="20000"/>
          </a:bodyPr>
          <a:p>
            <a:r>
              <a:t>(</a:t>
            </a:r>
            <a:r>
              <a:t>Halfan</a:t>
            </a:r>
            <a:r>
              <a:t>) Halofantrine is </a:t>
            </a:r>
            <a:r>
              <a:rPr b="1"/>
              <a:t>a blood </a:t>
            </a:r>
            <a:r>
              <a:rPr b="1"/>
              <a:t>schizonticidal</a:t>
            </a:r>
            <a:r>
              <a:rPr b="1"/>
              <a:t> drug</a:t>
            </a:r>
            <a:r>
              <a:t>. It is active </a:t>
            </a:r>
            <a:r>
              <a:rPr b="1"/>
              <a:t>against strains of P. falciparum</a:t>
            </a:r>
            <a:r>
              <a:t> </a:t>
            </a:r>
            <a:r>
              <a:rPr>
                <a:solidFill>
                  <a:srgbClr val="FF0000"/>
                </a:solidFill>
              </a:rPr>
              <a:t>that are resistant to chloroquine</a:t>
            </a:r>
            <a:r>
              <a:t>, </a:t>
            </a:r>
            <a:r>
              <a:rPr>
                <a:solidFill>
                  <a:srgbClr val="FF0000"/>
                </a:solidFill>
              </a:rPr>
              <a:t>pyrimethamine and quinine</a:t>
            </a:r>
            <a:r>
              <a:t>. </a:t>
            </a:r>
          </a:p>
          <a:p>
            <a:r>
              <a:t>It is </a:t>
            </a:r>
            <a:r>
              <a:rPr b="1"/>
              <a:t>effective against the erythrocytic form of P. vivax </a:t>
            </a:r>
            <a:r>
              <a:rPr>
                <a:solidFill>
                  <a:srgbClr val="FF0000"/>
                </a:solidFill>
              </a:rPr>
              <a:t>but not the hypnozoites</a:t>
            </a:r>
            <a:r>
              <a:t>. </a:t>
            </a:r>
          </a:p>
          <a:p>
            <a:r>
              <a:t>However, it is </a:t>
            </a:r>
            <a:r>
              <a:rPr b="1" u="sng"/>
              <a:t>not usually used for P. vivax malaria because this is generally susceptible to chloroquine</a:t>
            </a:r>
            <a:r>
              <a:t>. </a:t>
            </a:r>
          </a:p>
          <a:p>
            <a:r>
              <a:t>Its mechanism of action is not known. </a:t>
            </a:r>
          </a:p>
          <a:p>
            <a:r>
              <a:t>Pharmacokinetic aspects </a:t>
            </a:r>
          </a:p>
          <a:p>
            <a:pPr lvl="1"/>
            <a:r>
              <a:t>Halofantrine is given orally. It </a:t>
            </a:r>
            <a:r>
              <a:rPr b="1"/>
              <a:t>is slowly and rather irregularly absorbed</a:t>
            </a:r>
            <a:r>
              <a:t>,</a:t>
            </a:r>
          </a:p>
          <a:p>
            <a:pPr lvl="1"/>
            <a:r>
              <a:t>Absorption is substantially </a:t>
            </a:r>
            <a:r>
              <a:rPr b="1"/>
              <a:t>increased by a fatty meal</a:t>
            </a:r>
            <a:r>
              <a:t>, </a:t>
            </a:r>
          </a:p>
          <a:p>
            <a:pPr lvl="1"/>
            <a:r>
              <a:t>Elimination is in the </a:t>
            </a:r>
            <a:r>
              <a:t>faeces</a:t>
            </a:r>
            <a:r>
              <a:t>. </a:t>
            </a:r>
          </a:p>
          <a:p>
            <a:r>
              <a:t>Dose: </a:t>
            </a:r>
          </a:p>
          <a:p>
            <a:pPr lvl="1"/>
            <a:r>
              <a:t>500mg every 6 hours </a:t>
            </a:r>
          </a:p>
          <a:p>
            <a:r>
              <a:t>Unwanted effects </a:t>
            </a:r>
          </a:p>
          <a:p>
            <a:pPr lvl="1"/>
            <a:r>
              <a:t>Abdominal pain, gastrointestinal disturbances, headache, a transient rise in hepatic enzymes and cough occur. </a:t>
            </a:r>
          </a:p>
          <a:p>
            <a:pPr lvl="1"/>
            <a:r>
              <a:t>Pruritus is reported but is less marked. </a:t>
            </a:r>
          </a:p>
          <a:p>
            <a:pPr lvl="1"/>
            <a:r>
              <a:t>Can produce changes in cardiac rhythm (most notably a lengthening of the QT interval), particularly if given with other similar drugs, and it should be used with caution in patients with a history of dysrhythmia- can cause cardiac death. </a:t>
            </a:r>
          </a:p>
          <a:p>
            <a:pPr lvl="1"/>
            <a:r>
              <a:t>Rarer reactions include </a:t>
            </a:r>
            <a:r>
              <a:t>haemolytic</a:t>
            </a:r>
            <a:r>
              <a:t> </a:t>
            </a:r>
            <a:r>
              <a:t>anaemia</a:t>
            </a:r>
            <a:r>
              <a:t> and convulsions. </a:t>
            </a:r>
          </a:p>
          <a:p>
            <a:r>
              <a:t>Because of such unwanted actions, halofantrine is no longer used for 'standby' treatment of malaria, and it is now reserved for infections caused by resistant organisms. </a:t>
            </a:r>
          </a:p>
        </p:txBody>
      </p:sp>
    </p:spTree>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060" name=""/>
        <p:cNvGrpSpPr/>
        <p:nvPr/>
      </p:nvGrpSpPr>
      <p:grpSpPr>
        <a:xfrm>
          <a:off x="0" y="0"/>
          <a:ext cx="0" cy="0"/>
          <a:chOff x="0" y="0"/>
          <a:chExt cx="0" cy="0"/>
        </a:xfrm>
      </p:grpSpPr>
      <p:sp>
        <p:nvSpPr>
          <p:cNvPr id="1049355" name="Title 1"/>
          <p:cNvSpPr>
            <a:spLocks noGrp="1"/>
          </p:cNvSpPr>
          <p:nvPr>
            <p:ph type="title"/>
          </p:nvPr>
        </p:nvSpPr>
        <p:spPr/>
        <p:txBody>
          <a:bodyPr/>
          <a:p>
            <a:r>
              <a:t>ANTIFOLATES</a:t>
            </a:r>
          </a:p>
        </p:txBody>
      </p:sp>
      <p:sp>
        <p:nvSpPr>
          <p:cNvPr id="1049356" name="Content Placeholder 2"/>
          <p:cNvSpPr>
            <a:spLocks noGrp="1"/>
          </p:cNvSpPr>
          <p:nvPr>
            <p:ph idx="1"/>
          </p:nvPr>
        </p:nvSpPr>
        <p:spPr>
          <a:xfrm>
            <a:off x="447670" y="1562095"/>
            <a:ext cx="10906120" cy="5133970"/>
          </a:xfrm>
        </p:spPr>
        <p:txBody>
          <a:bodyPr>
            <a:normAutofit fontScale="83333" lnSpcReduction="20000"/>
          </a:bodyPr>
          <a:p>
            <a:r>
              <a:t>Examples is the </a:t>
            </a:r>
            <a:r>
              <a:rPr b="1"/>
              <a:t>Pyrimethamine-</a:t>
            </a:r>
            <a:r>
              <a:rPr b="1"/>
              <a:t>sulfadoxine</a:t>
            </a:r>
            <a:r>
              <a:rPr b="1"/>
              <a:t> (SP) combination</a:t>
            </a:r>
            <a:r>
              <a:t>.</a:t>
            </a:r>
          </a:p>
          <a:p>
            <a:pPr indent="0" marL="0">
              <a:buNone/>
            </a:pPr>
            <a:r>
              <a:t>i</a:t>
            </a:r>
            <a:r>
              <a:t>) Pyrimethamine and proguanil </a:t>
            </a:r>
          </a:p>
          <a:p>
            <a:pPr indent="0" marL="0">
              <a:buNone/>
            </a:pPr>
            <a:r>
              <a:t>MOA </a:t>
            </a:r>
          </a:p>
          <a:p>
            <a:pPr lvl="1"/>
            <a:r>
              <a:t>They inhibit the formation of tetrahydrofolate by inhibiting dihydrofolate reductase and hence DNA synthesis. </a:t>
            </a:r>
          </a:p>
          <a:p>
            <a:r>
              <a:t>They have a </a:t>
            </a:r>
            <a:r>
              <a:rPr b="1"/>
              <a:t>slow action against the erythrocytic forms of the parasite</a:t>
            </a:r>
            <a:r>
              <a:t>, and </a:t>
            </a:r>
            <a:r>
              <a:rPr b="1"/>
              <a:t>proguanil is believed to have an additional effect on the initial hepatic stage </a:t>
            </a:r>
            <a:r>
              <a:rPr>
                <a:solidFill>
                  <a:srgbClr val="FF0000"/>
                </a:solidFill>
              </a:rPr>
              <a:t>but not on the hypnozoites of P. vivax</a:t>
            </a:r>
            <a:r>
              <a:t>. </a:t>
            </a:r>
          </a:p>
          <a:p>
            <a:r>
              <a:t>Pyrimethamine is used </a:t>
            </a:r>
            <a:r>
              <a:rPr b="1"/>
              <a:t>only in combination with either dapsone or a sulfonamide</a:t>
            </a:r>
            <a:r>
              <a:t>. </a:t>
            </a:r>
          </a:p>
          <a:p>
            <a:pPr indent="0" marL="0">
              <a:buNone/>
            </a:pPr>
            <a:r>
              <a:rPr b="1"/>
              <a:t>Pharmacokinetic aspects </a:t>
            </a:r>
            <a:endParaRPr b="1"/>
          </a:p>
          <a:p>
            <a:r>
              <a:t>Both pyrimethamine and proguanil are </a:t>
            </a:r>
            <a:r>
              <a:rPr b="1"/>
              <a:t>given orally ,</a:t>
            </a:r>
            <a:r>
              <a:t> slowly, absorbed. </a:t>
            </a:r>
          </a:p>
          <a:p>
            <a:r>
              <a:t>Pyrimethamine is </a:t>
            </a:r>
            <a:r>
              <a:rPr b="1"/>
              <a:t>taken once a week</a:t>
            </a:r>
            <a:r>
              <a:t>. </a:t>
            </a:r>
          </a:p>
          <a:p>
            <a:r>
              <a:t>Proguanil is a prodrug and is </a:t>
            </a:r>
            <a:r>
              <a:t>metabolised</a:t>
            </a:r>
            <a:r>
              <a:t> in the liver to its active form, </a:t>
            </a:r>
            <a:r>
              <a:rPr b="1"/>
              <a:t>cycloguanil,</a:t>
            </a:r>
            <a:r>
              <a:t> which is excreted mainly in the urine. </a:t>
            </a:r>
            <a:r>
              <a:rPr b="1"/>
              <a:t>It must be taken daily</a:t>
            </a:r>
            <a:endParaRPr b="1"/>
          </a:p>
        </p:txBody>
      </p:sp>
    </p:spTree>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061" name=""/>
        <p:cNvGrpSpPr/>
        <p:nvPr/>
      </p:nvGrpSpPr>
      <p:grpSpPr>
        <a:xfrm>
          <a:off x="0" y="0"/>
          <a:ext cx="0" cy="0"/>
          <a:chOff x="0" y="0"/>
          <a:chExt cx="0" cy="0"/>
        </a:xfrm>
      </p:grpSpPr>
      <p:sp>
        <p:nvSpPr>
          <p:cNvPr id="1049357" name="Title 1"/>
          <p:cNvSpPr>
            <a:spLocks noGrp="1"/>
          </p:cNvSpPr>
          <p:nvPr>
            <p:ph type="title"/>
          </p:nvPr>
        </p:nvSpPr>
        <p:spPr/>
        <p:txBody>
          <a:bodyPr/>
          <a:p>
            <a:r>
              <a:t>Unwanted effects </a:t>
            </a:r>
          </a:p>
        </p:txBody>
      </p:sp>
      <p:sp>
        <p:nvSpPr>
          <p:cNvPr id="1049358" name="Content Placeholder 2"/>
          <p:cNvSpPr>
            <a:spLocks noGrp="1"/>
          </p:cNvSpPr>
          <p:nvPr>
            <p:ph idx="1"/>
          </p:nvPr>
        </p:nvSpPr>
        <p:spPr/>
        <p:txBody>
          <a:bodyPr>
            <a:normAutofit fontScale="82143" lnSpcReduction="20000"/>
          </a:bodyPr>
          <a:p>
            <a:r>
              <a:t> Larger doses of the pyrimethamine-dapsone combination can cause serious reactions such as </a:t>
            </a:r>
            <a:r>
              <a:t>haemolytic</a:t>
            </a:r>
            <a:r>
              <a:t> </a:t>
            </a:r>
            <a:r>
              <a:t>anaemia</a:t>
            </a:r>
            <a:r>
              <a:t>, agranulocytosis and eosinophilic alveolitis. </a:t>
            </a:r>
          </a:p>
          <a:p>
            <a:r>
              <a:t>The pyrimethamine-</a:t>
            </a:r>
            <a:r>
              <a:t>sulfadoxine</a:t>
            </a:r>
            <a:r>
              <a:t> combination can cause serious skin reactions, blood dyscrasias and allergic alveolitis; </a:t>
            </a:r>
          </a:p>
          <a:p>
            <a:r>
              <a:t>In high doses, pyrimethamine may inhibit mammalian dihydrofolate reductase and cause a megaloblastic </a:t>
            </a:r>
            <a:r>
              <a:t>anaemia</a:t>
            </a:r>
            <a:r>
              <a:t>; </a:t>
            </a:r>
            <a:r>
              <a:rPr b="1"/>
              <a:t>folic acid supplements should be given if this drug is used during pregnancy</a:t>
            </a:r>
            <a:r>
              <a:t>. </a:t>
            </a:r>
          </a:p>
          <a:p>
            <a:r>
              <a:t>Resistance to antifolate drugs arises from single-point mutations in the genes encoding parasite dihydrofolate reductase. </a:t>
            </a:r>
          </a:p>
          <a:p>
            <a:r>
              <a:t>Adult Dosages: </a:t>
            </a:r>
          </a:p>
          <a:p>
            <a:r>
              <a:t>Proquanil</a:t>
            </a:r>
            <a:r>
              <a:t> prophylaxis: 100-200mg daily taken </a:t>
            </a:r>
            <a:r>
              <a:rPr b="1"/>
              <a:t>at least 24 hours before arrival in endemic area </a:t>
            </a:r>
            <a:r>
              <a:t>and 6wk after leaving </a:t>
            </a:r>
          </a:p>
          <a:p>
            <a:r>
              <a:t>Pyrimethamine: 25mg once a week for 10wks </a:t>
            </a:r>
          </a:p>
        </p:txBody>
      </p:sp>
    </p:spTree>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062" name=""/>
        <p:cNvGrpSpPr/>
        <p:nvPr/>
      </p:nvGrpSpPr>
      <p:grpSpPr>
        <a:xfrm>
          <a:off x="0" y="0"/>
          <a:ext cx="0" cy="0"/>
          <a:chOff x="0" y="0"/>
          <a:chExt cx="0" cy="0"/>
        </a:xfrm>
      </p:grpSpPr>
      <p:sp>
        <p:nvSpPr>
          <p:cNvPr id="1049359" name="Title 1"/>
          <p:cNvSpPr>
            <a:spLocks noGrp="1"/>
          </p:cNvSpPr>
          <p:nvPr>
            <p:ph type="title"/>
          </p:nvPr>
        </p:nvSpPr>
        <p:spPr/>
        <p:txBody>
          <a:bodyPr/>
          <a:p>
            <a:r>
              <a:t>ANTIFOLATES</a:t>
            </a:r>
          </a:p>
        </p:txBody>
      </p:sp>
      <p:sp>
        <p:nvSpPr>
          <p:cNvPr id="1049360" name="Content Placeholder 2"/>
          <p:cNvSpPr>
            <a:spLocks noGrp="1"/>
          </p:cNvSpPr>
          <p:nvPr>
            <p:ph idx="1"/>
          </p:nvPr>
        </p:nvSpPr>
        <p:spPr>
          <a:xfrm>
            <a:off x="838204" y="1825618"/>
            <a:ext cx="10515600" cy="4470396"/>
          </a:xfrm>
        </p:spPr>
        <p:txBody>
          <a:bodyPr>
            <a:normAutofit/>
          </a:bodyPr>
          <a:p>
            <a:r>
              <a:t>ii) Sulfones and sulfonamides </a:t>
            </a:r>
          </a:p>
          <a:p>
            <a:r>
              <a:t>The main </a:t>
            </a:r>
            <a:r>
              <a:rPr b="1"/>
              <a:t>sulfonamide used in malaria treatment is </a:t>
            </a:r>
            <a:r>
              <a:rPr b="1"/>
              <a:t>sulfadoxine</a:t>
            </a:r>
            <a:r>
              <a:rPr b="1"/>
              <a:t>, and </a:t>
            </a:r>
            <a:r>
              <a:rPr b="1">
                <a:solidFill>
                  <a:srgbClr val="FF0000"/>
                </a:solidFill>
              </a:rPr>
              <a:t>the only sulfone used is dapsone</a:t>
            </a:r>
            <a:r>
              <a:t>. </a:t>
            </a:r>
          </a:p>
          <a:p>
            <a:r>
              <a:t>MOA ;Inhibit folic acid synthesis by competing with p-aminobenzoic acid for dihydropteroate synthetase. </a:t>
            </a:r>
          </a:p>
          <a:p>
            <a:r>
              <a:t>The sulfonamides and sulfones are </a:t>
            </a:r>
            <a:r>
              <a:rPr b="1"/>
              <a:t>active against the erythrocytic forms of P. falciparum </a:t>
            </a:r>
            <a:r>
              <a:rPr>
                <a:solidFill>
                  <a:srgbClr val="FF0000"/>
                </a:solidFill>
              </a:rPr>
              <a:t>but are less active against those of P. vivax; they have no activity against the sporozoite or hypnozoite forms of the plasmodia</a:t>
            </a:r>
            <a:r>
              <a:t>. </a:t>
            </a:r>
          </a:p>
          <a:p>
            <a:r>
              <a:rPr i="1"/>
              <a:t>Pyrimethamine-</a:t>
            </a:r>
            <a:r>
              <a:rPr i="1"/>
              <a:t>sulfadoxine</a:t>
            </a:r>
            <a:r>
              <a:rPr i="1"/>
              <a:t> has been extensively used for </a:t>
            </a:r>
            <a:r>
              <a:rPr i="1"/>
              <a:t>chloroquineresistant</a:t>
            </a:r>
            <a:r>
              <a:rPr i="1"/>
              <a:t> malaria, but resistance to this combination has developed in many areas</a:t>
            </a:r>
            <a:r>
              <a:t>. </a:t>
            </a:r>
          </a:p>
        </p:txBody>
      </p:sp>
    </p:spTree>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063" name=""/>
        <p:cNvGrpSpPr/>
        <p:nvPr/>
      </p:nvGrpSpPr>
      <p:grpSpPr>
        <a:xfrm>
          <a:off x="0" y="0"/>
          <a:ext cx="0" cy="0"/>
          <a:chOff x="0" y="0"/>
          <a:chExt cx="0" cy="0"/>
        </a:xfrm>
      </p:grpSpPr>
      <p:sp>
        <p:nvSpPr>
          <p:cNvPr id="1049361" name="Title 1"/>
          <p:cNvSpPr>
            <a:spLocks noGrp="1"/>
          </p:cNvSpPr>
          <p:nvPr>
            <p:ph type="title"/>
          </p:nvPr>
        </p:nvSpPr>
        <p:spPr/>
        <p:txBody>
          <a:bodyPr/>
          <a:p>
            <a:r>
              <a:t>8-AMINOQUINOLINES; </a:t>
            </a:r>
            <a:r>
              <a:rPr b="1"/>
              <a:t>Primaquine </a:t>
            </a:r>
            <a:endParaRPr b="1"/>
          </a:p>
        </p:txBody>
      </p:sp>
      <p:sp>
        <p:nvSpPr>
          <p:cNvPr id="1049362" name="Content Placeholder 2"/>
          <p:cNvSpPr>
            <a:spLocks noGrp="1"/>
          </p:cNvSpPr>
          <p:nvPr>
            <p:ph idx="1"/>
          </p:nvPr>
        </p:nvSpPr>
        <p:spPr>
          <a:xfrm>
            <a:off x="838204" y="1825618"/>
            <a:ext cx="10515600" cy="4667254"/>
          </a:xfrm>
        </p:spPr>
        <p:txBody>
          <a:bodyPr>
            <a:normAutofit/>
          </a:bodyPr>
          <a:p>
            <a:r>
              <a:t>The antimalarial action of this class of drugs is exerted </a:t>
            </a:r>
            <a:r>
              <a:rPr b="1"/>
              <a:t>against the liver hypnozoite</a:t>
            </a:r>
            <a:r>
              <a:t>s, </a:t>
            </a:r>
            <a:r>
              <a:rPr b="1"/>
              <a:t>(P. vivax and P. </a:t>
            </a:r>
            <a:r>
              <a:rPr b="1"/>
              <a:t>ovale</a:t>
            </a:r>
            <a:r>
              <a:rPr b="1"/>
              <a:t>). </a:t>
            </a:r>
            <a:endParaRPr b="1"/>
          </a:p>
          <a:p>
            <a:r>
              <a:t>Primaquine </a:t>
            </a:r>
            <a:r>
              <a:rPr>
                <a:solidFill>
                  <a:srgbClr val="FF0000"/>
                </a:solidFill>
              </a:rPr>
              <a:t>does not affect sporozoites and has little if any action against the erythrocytic stage of the parasite</a:t>
            </a:r>
            <a:r>
              <a:t>. </a:t>
            </a:r>
          </a:p>
          <a:p>
            <a:pPr lvl="1"/>
            <a:r>
              <a:t>However, it has a gametocidal action and is the most effective antimalarial drug for preventing transmission of the disease in all four species of plasmodia. </a:t>
            </a:r>
          </a:p>
          <a:p>
            <a:r>
              <a:rPr b="1"/>
              <a:t>Mainly indicated for cure or relapse prevention of </a:t>
            </a:r>
            <a:r>
              <a:rPr b="1"/>
              <a:t>P.vivax</a:t>
            </a:r>
            <a:r>
              <a:rPr b="1"/>
              <a:t> infection </a:t>
            </a:r>
            <a:endParaRPr b="1"/>
          </a:p>
          <a:p>
            <a:r>
              <a:t>Pharmacokinetic aspects </a:t>
            </a:r>
          </a:p>
          <a:p>
            <a:r>
              <a:t>Primaquine is </a:t>
            </a:r>
            <a:r>
              <a:rPr b="1"/>
              <a:t>given orally and is well absorbed</a:t>
            </a:r>
            <a:r>
              <a:t>. </a:t>
            </a:r>
          </a:p>
          <a:p>
            <a:r>
              <a:rPr>
                <a:solidFill>
                  <a:srgbClr val="FF0000"/>
                </a:solidFill>
              </a:rPr>
              <a:t>Can cause </a:t>
            </a:r>
            <a:r>
              <a:rPr>
                <a:solidFill>
                  <a:srgbClr val="FF0000"/>
                </a:solidFill>
              </a:rPr>
              <a:t>haemolysis</a:t>
            </a:r>
            <a:r>
              <a:rPr>
                <a:solidFill>
                  <a:srgbClr val="FF0000"/>
                </a:solidFill>
              </a:rPr>
              <a:t> in individuals with X chromosome-linked genetic metabolic condition-glucose 6-phosphate dehydrogenase deficiency-in red cells.</a:t>
            </a:r>
            <a:endParaRPr>
              <a:solidFill>
                <a:srgbClr val="FF0000"/>
              </a:solidFill>
            </a:endParaRPr>
          </a:p>
          <a:p>
            <a:pPr lvl="1"/>
            <a:r>
              <a:t>Glucose 6-phosphate dehydrogenase activity should be estimated before giving primaquine. </a:t>
            </a:r>
            <a:endParaRPr>
              <a:solidFill>
                <a:srgbClr val="FF0000"/>
              </a:solidFill>
            </a:endParaRPr>
          </a:p>
        </p:txBody>
      </p:sp>
    </p:spTree>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064" name=""/>
        <p:cNvGrpSpPr/>
        <p:nvPr/>
      </p:nvGrpSpPr>
      <p:grpSpPr>
        <a:xfrm>
          <a:off x="0" y="0"/>
          <a:ext cx="0" cy="0"/>
          <a:chOff x="0" y="0"/>
          <a:chExt cx="0" cy="0"/>
        </a:xfrm>
      </p:grpSpPr>
      <p:sp>
        <p:nvSpPr>
          <p:cNvPr id="1049363" name="Title 1"/>
          <p:cNvSpPr>
            <a:spLocks noGrp="1"/>
          </p:cNvSpPr>
          <p:nvPr>
            <p:ph type="title"/>
          </p:nvPr>
        </p:nvSpPr>
        <p:spPr/>
        <p:txBody>
          <a:bodyPr/>
          <a:p>
            <a:r>
              <a:t>HYDROXYNAPHTHOQUINONES; </a:t>
            </a:r>
            <a:r>
              <a:t>Atavaquone</a:t>
            </a:r>
            <a:r>
              <a:t> (</a:t>
            </a:r>
            <a:r>
              <a:t>meprone</a:t>
            </a:r>
            <a:r>
              <a:t>) </a:t>
            </a:r>
          </a:p>
        </p:txBody>
      </p:sp>
      <p:sp>
        <p:nvSpPr>
          <p:cNvPr id="1049364" name="Content Placeholder 2"/>
          <p:cNvSpPr>
            <a:spLocks noGrp="1"/>
          </p:cNvSpPr>
          <p:nvPr>
            <p:ph idx="1"/>
          </p:nvPr>
        </p:nvSpPr>
        <p:spPr>
          <a:xfrm>
            <a:off x="838204" y="1609729"/>
            <a:ext cx="10515600" cy="4972050"/>
          </a:xfrm>
        </p:spPr>
        <p:txBody>
          <a:bodyPr>
            <a:normAutofit/>
          </a:bodyPr>
          <a:p>
            <a:r>
              <a:t>Atavaquone</a:t>
            </a:r>
            <a:r>
              <a:t> is used for the </a:t>
            </a:r>
            <a:r>
              <a:rPr b="1"/>
              <a:t>treatment of malaria </a:t>
            </a:r>
            <a:r>
              <a:t>and </a:t>
            </a:r>
            <a:r>
              <a:rPr b="1"/>
              <a:t>can prevent </a:t>
            </a:r>
            <a:r>
              <a:t>its development. </a:t>
            </a:r>
          </a:p>
          <a:p>
            <a:r>
              <a:t>It acts primarily to </a:t>
            </a:r>
            <a:r>
              <a:rPr b="1"/>
              <a:t>inhibit the parasite's mitochondrial electron transport chain</a:t>
            </a:r>
            <a:r>
              <a:t>, possibly by mimicking the natural substrate ubiquinone. </a:t>
            </a:r>
          </a:p>
          <a:p>
            <a:r>
              <a:t>Used </a:t>
            </a:r>
            <a:r>
              <a:rPr b="1"/>
              <a:t>in combination with the antifolate drug proguanil </a:t>
            </a:r>
            <a:r>
              <a:t>(</a:t>
            </a:r>
            <a:r>
              <a:t>Malarone</a:t>
            </a:r>
            <a:r>
              <a:t>), </a:t>
            </a:r>
            <a:r>
              <a:rPr>
                <a:solidFill>
                  <a:srgbClr val="FF0000"/>
                </a:solidFill>
              </a:rPr>
              <a:t>because they act together to cause a synergistic antimalarial effect</a:t>
            </a:r>
            <a:r>
              <a:t>. </a:t>
            </a:r>
          </a:p>
          <a:p>
            <a:r>
              <a:t>Cautions</a:t>
            </a:r>
          </a:p>
          <a:p>
            <a:pPr lvl="1"/>
            <a:r>
              <a:t>Initial </a:t>
            </a:r>
            <a:r>
              <a:t>diarrhoea</a:t>
            </a:r>
            <a:r>
              <a:t> and difficulty in taking with food may reduce absorption (and require alternative therapy. </a:t>
            </a:r>
          </a:p>
          <a:p>
            <a:pPr lvl="1"/>
            <a:r>
              <a:t>Pregnancy: avoid unless potential benefit outweighs risk—no information available</a:t>
            </a:r>
          </a:p>
          <a:p>
            <a:pPr lvl="1"/>
            <a:r>
              <a:t> Breast-feeding: Avoided </a:t>
            </a:r>
          </a:p>
          <a:p>
            <a:r>
              <a:t>Side-effects: nausea, </a:t>
            </a:r>
            <a:r>
              <a:t>diarrhoea</a:t>
            </a:r>
            <a:r>
              <a:t>, vomiting; headache, insomnia; fever; </a:t>
            </a:r>
            <a:r>
              <a:t>anaemia</a:t>
            </a:r>
            <a:r>
              <a:t>, neutropenia, </a:t>
            </a:r>
            <a:r>
              <a:t>hyponatraemia</a:t>
            </a:r>
            <a:r>
              <a:t>; rash, pruritus; also reported, Stevens-Johnson syndrome</a:t>
            </a:r>
          </a:p>
        </p:txBody>
      </p:sp>
    </p:spTree>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065" name=""/>
        <p:cNvGrpSpPr/>
        <p:nvPr/>
      </p:nvGrpSpPr>
      <p:grpSpPr>
        <a:xfrm>
          <a:off x="0" y="0"/>
          <a:ext cx="0" cy="0"/>
          <a:chOff x="0" y="0"/>
          <a:chExt cx="0" cy="0"/>
        </a:xfrm>
      </p:grpSpPr>
      <p:sp>
        <p:nvSpPr>
          <p:cNvPr id="1049365" name="Title 1"/>
          <p:cNvSpPr>
            <a:spLocks noGrp="1"/>
          </p:cNvSpPr>
          <p:nvPr>
            <p:ph type="title"/>
          </p:nvPr>
        </p:nvSpPr>
        <p:spPr/>
        <p:txBody>
          <a:bodyPr/>
          <a:p>
            <a:r>
              <a:t>AMINO ALCOHOLS Lumefantrine (benflumetol). </a:t>
            </a:r>
          </a:p>
        </p:txBody>
      </p:sp>
      <p:sp>
        <p:nvSpPr>
          <p:cNvPr id="1049366" name="Content Placeholder 2"/>
          <p:cNvSpPr>
            <a:spLocks noGrp="1"/>
          </p:cNvSpPr>
          <p:nvPr>
            <p:ph idx="1"/>
          </p:nvPr>
        </p:nvSpPr>
        <p:spPr/>
        <p:txBody>
          <a:bodyPr>
            <a:normAutofit fontScale="92857" lnSpcReduction="20000"/>
          </a:bodyPr>
          <a:p>
            <a:r>
              <a:t>The drug has blood </a:t>
            </a:r>
            <a:r>
              <a:rPr b="1"/>
              <a:t>schizontocidal</a:t>
            </a:r>
            <a:r>
              <a:rPr b="1"/>
              <a:t> activity </a:t>
            </a:r>
            <a:endParaRPr b="1"/>
          </a:p>
          <a:p>
            <a:r>
              <a:t>MOA </a:t>
            </a:r>
          </a:p>
          <a:p>
            <a:r>
              <a:t>Antimalarial effect of lumefantrine involves </a:t>
            </a:r>
            <a:r>
              <a:rPr b="1"/>
              <a:t>lysosomal trapping of the drug in the intraerythrocytic parasite, followed by binding to toxic </a:t>
            </a:r>
            <a:r>
              <a:rPr b="1"/>
              <a:t>haemin</a:t>
            </a:r>
            <a:r>
              <a:rPr b="1"/>
              <a:t> that is produced in the course of </a:t>
            </a:r>
            <a:r>
              <a:rPr b="1"/>
              <a:t>haemoglobin</a:t>
            </a:r>
            <a:r>
              <a:rPr b="1"/>
              <a:t> digestion</a:t>
            </a:r>
            <a:r>
              <a:t>. The binding </a:t>
            </a:r>
            <a:r>
              <a:rPr>
                <a:solidFill>
                  <a:srgbClr val="FF0000"/>
                </a:solidFill>
              </a:rPr>
              <a:t>prevents the </a:t>
            </a:r>
            <a:r>
              <a:rPr>
                <a:solidFill>
                  <a:srgbClr val="FF0000"/>
                </a:solidFill>
              </a:rPr>
              <a:t>polymerisation</a:t>
            </a:r>
            <a:r>
              <a:rPr>
                <a:solidFill>
                  <a:srgbClr val="FF0000"/>
                </a:solidFill>
              </a:rPr>
              <a:t> of </a:t>
            </a:r>
            <a:r>
              <a:rPr>
                <a:solidFill>
                  <a:srgbClr val="FF0000"/>
                </a:solidFill>
              </a:rPr>
              <a:t>haemin</a:t>
            </a:r>
            <a:r>
              <a:rPr>
                <a:solidFill>
                  <a:srgbClr val="FF0000"/>
                </a:solidFill>
              </a:rPr>
              <a:t> to non-toxic malaria pigment</a:t>
            </a:r>
            <a:r>
              <a:t>. </a:t>
            </a:r>
          </a:p>
          <a:p>
            <a:pPr indent="0" marL="0">
              <a:buNone/>
            </a:pPr>
            <a:r>
              <a:t>Pharmacokinetics </a:t>
            </a:r>
          </a:p>
          <a:p>
            <a:r>
              <a:rPr b="1"/>
              <a:t>Adequately absorbed from GIT</a:t>
            </a:r>
            <a:r>
              <a:t>. </a:t>
            </a:r>
          </a:p>
          <a:p>
            <a:r>
              <a:t>Elimination of lumefantrine is </a:t>
            </a:r>
            <a:r>
              <a:rPr b="1"/>
              <a:t>via liver and </a:t>
            </a:r>
            <a:r>
              <a:rPr b="1"/>
              <a:t>faeces</a:t>
            </a:r>
            <a:r>
              <a:t>. There is some evidence of enterohepatic circulation. </a:t>
            </a:r>
          </a:p>
          <a:p>
            <a:r>
              <a:t>Lumefantrine is highly bound to plasma proteins.</a:t>
            </a:r>
          </a:p>
        </p:txBody>
      </p:sp>
    </p:spTree>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066" name=""/>
        <p:cNvGrpSpPr/>
        <p:nvPr/>
      </p:nvGrpSpPr>
      <p:grpSpPr>
        <a:xfrm>
          <a:off x="0" y="0"/>
          <a:ext cx="0" cy="0"/>
          <a:chOff x="0" y="0"/>
          <a:chExt cx="0" cy="0"/>
        </a:xfrm>
      </p:grpSpPr>
      <p:sp>
        <p:nvSpPr>
          <p:cNvPr id="1049367" name="Title 1"/>
          <p:cNvSpPr>
            <a:spLocks noGrp="1"/>
          </p:cNvSpPr>
          <p:nvPr>
            <p:ph type="title"/>
          </p:nvPr>
        </p:nvSpPr>
        <p:spPr/>
        <p:txBody>
          <a:bodyPr/>
          <a:p>
            <a:r>
              <a:t>ARTEMISININ AND DERIVATIVES </a:t>
            </a:r>
          </a:p>
        </p:txBody>
      </p:sp>
      <p:sp>
        <p:nvSpPr>
          <p:cNvPr id="1049368" name="Content Placeholder 2"/>
          <p:cNvSpPr>
            <a:spLocks noGrp="1"/>
          </p:cNvSpPr>
          <p:nvPr>
            <p:ph idx="1"/>
          </p:nvPr>
        </p:nvSpPr>
        <p:spPr>
          <a:xfrm>
            <a:off x="838204" y="1825618"/>
            <a:ext cx="10515600" cy="4667254"/>
          </a:xfrm>
        </p:spPr>
        <p:txBody>
          <a:bodyPr>
            <a:normAutofit fontScale="78571" lnSpcReduction="20000"/>
          </a:bodyPr>
          <a:p>
            <a:r>
              <a:t>Artemisinin extracted from </a:t>
            </a:r>
            <a:r>
              <a:t>qing</a:t>
            </a:r>
            <a:r>
              <a:t> hao (Artemisia annua), is a </a:t>
            </a:r>
            <a:r>
              <a:rPr b="1"/>
              <a:t>fast-acting blood schizonticide </a:t>
            </a:r>
            <a:r>
              <a:rPr>
                <a:solidFill>
                  <a:srgbClr val="FF0000"/>
                </a:solidFill>
              </a:rPr>
              <a:t>effective in treating the acute attack of malaria </a:t>
            </a:r>
            <a:r>
              <a:t>(including chloroquine-resistant and cerebral malaria). </a:t>
            </a:r>
          </a:p>
          <a:p>
            <a:r>
              <a:rPr b="1"/>
              <a:t>Artesunate, a water-soluble derivative</a:t>
            </a:r>
            <a:r>
              <a:t>, and the synthetic analogues artemether, </a:t>
            </a:r>
            <a:r>
              <a:rPr b="1"/>
              <a:t>arteflene and </a:t>
            </a:r>
            <a:r>
              <a:rPr b="1"/>
              <a:t>artether</a:t>
            </a:r>
            <a:r>
              <a:t> have higher activity and </a:t>
            </a:r>
            <a:r>
              <a:rPr>
                <a:solidFill>
                  <a:srgbClr val="FF0000"/>
                </a:solidFill>
              </a:rPr>
              <a:t>are better absorbed</a:t>
            </a:r>
            <a:r>
              <a:t>. </a:t>
            </a:r>
          </a:p>
          <a:p>
            <a:r>
              <a:t>General Mechanism of action </a:t>
            </a:r>
          </a:p>
          <a:p>
            <a:r>
              <a:t>Are concentrated in </a:t>
            </a:r>
            <a:r>
              <a:t>parasitised</a:t>
            </a:r>
            <a:r>
              <a:t> red cells, damage to the parasite membranes by </a:t>
            </a:r>
            <a:r>
              <a:t>carboncentred</a:t>
            </a:r>
            <a:r>
              <a:t> free radicals (generated by the breakdown of ferrous protoporphyrin IX). It may also inhibit parasite’s protein synthesis. </a:t>
            </a:r>
          </a:p>
          <a:p>
            <a:r>
              <a:t>These drugs are </a:t>
            </a:r>
            <a:r>
              <a:rPr>
                <a:solidFill>
                  <a:srgbClr val="FF0000"/>
                </a:solidFill>
              </a:rPr>
              <a:t>without effect on liver hypnozoites and are not useful for chemoprophylaxis.</a:t>
            </a:r>
            <a:r>
              <a:t> </a:t>
            </a:r>
          </a:p>
          <a:p>
            <a:r>
              <a:t>Use in pregnancy </a:t>
            </a:r>
          </a:p>
          <a:p>
            <a:r>
              <a:t>Artemisinin derivatives </a:t>
            </a:r>
            <a:r>
              <a:rPr b="1"/>
              <a:t>should not be used in pregnancy as primary drugs for uncomplicated malaria </a:t>
            </a:r>
            <a:r>
              <a:t>cases </a:t>
            </a:r>
            <a:r>
              <a:rPr>
                <a:solidFill>
                  <a:srgbClr val="FF0000"/>
                </a:solidFill>
              </a:rPr>
              <a:t>but these can be used for treatment of severe or complicated P. falciparum malaria infection</a:t>
            </a:r>
            <a:r>
              <a:t> in patients of multiple drug resistance, if the potential benefit justifies the potential risk to the fetus. </a:t>
            </a:r>
          </a:p>
        </p:txBody>
      </p:sp>
    </p:spTree>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067" name=""/>
        <p:cNvGrpSpPr/>
        <p:nvPr/>
      </p:nvGrpSpPr>
      <p:grpSpPr>
        <a:xfrm>
          <a:off x="0" y="0"/>
          <a:ext cx="0" cy="0"/>
          <a:chOff x="0" y="0"/>
          <a:chExt cx="0" cy="0"/>
        </a:xfrm>
      </p:grpSpPr>
      <p:sp>
        <p:nvSpPr>
          <p:cNvPr id="1049369" name="Title 1"/>
          <p:cNvSpPr>
            <a:spLocks noGrp="1"/>
          </p:cNvSpPr>
          <p:nvPr>
            <p:ph type="title"/>
          </p:nvPr>
        </p:nvSpPr>
        <p:spPr/>
        <p:txBody>
          <a:bodyPr/>
          <a:p>
            <a:r>
              <a:t>Artemether </a:t>
            </a:r>
          </a:p>
        </p:txBody>
      </p:sp>
      <p:sp>
        <p:nvSpPr>
          <p:cNvPr id="1049370" name="Content Placeholder 2"/>
          <p:cNvSpPr>
            <a:spLocks noGrp="1"/>
          </p:cNvSpPr>
          <p:nvPr>
            <p:ph idx="1"/>
          </p:nvPr>
        </p:nvSpPr>
        <p:spPr/>
        <p:txBody>
          <a:bodyPr>
            <a:normAutofit fontScale="71429" lnSpcReduction="20000"/>
          </a:bodyPr>
          <a:p>
            <a:r>
              <a:t>Artemether is a lipid soluble </a:t>
            </a:r>
            <a:r>
              <a:t>methylether</a:t>
            </a:r>
            <a:r>
              <a:t> of </a:t>
            </a:r>
            <a:r>
              <a:t>dihydroartemisinin</a:t>
            </a:r>
            <a:r>
              <a:t>. </a:t>
            </a:r>
          </a:p>
          <a:p>
            <a:r>
              <a:t>Mechanism of action </a:t>
            </a:r>
          </a:p>
          <a:p>
            <a:r>
              <a:t>Artemether has </a:t>
            </a:r>
            <a:r>
              <a:rPr b="1"/>
              <a:t>very rapid </a:t>
            </a:r>
            <a:r>
              <a:rPr b="1"/>
              <a:t>schizontocidal</a:t>
            </a:r>
            <a:r>
              <a:rPr b="1"/>
              <a:t> activity, </a:t>
            </a:r>
            <a:r>
              <a:t>mainly due to destruction of the asexual erythrocytic forms of P. falciparum and P. vivax. There is also inhibition of protein synthesis during growth of trophozoites. </a:t>
            </a:r>
          </a:p>
          <a:p>
            <a:r>
              <a:t>Pharmacokinetics </a:t>
            </a:r>
          </a:p>
          <a:p>
            <a:r>
              <a:t>The drug is </a:t>
            </a:r>
            <a:r>
              <a:rPr b="1"/>
              <a:t>slowly absorbed from intramuscular injection</a:t>
            </a:r>
            <a:r>
              <a:t>. Artemether is hydrolyzed after administration to a pharmacologically active metabolite</a:t>
            </a:r>
            <a:r>
              <a:rPr b="1"/>
              <a:t>; </a:t>
            </a:r>
            <a:r>
              <a:rPr b="1"/>
              <a:t>dihydroartemisinin</a:t>
            </a:r>
            <a:r>
              <a:t>, which accounts for most or all of clinical antimalarial activity. </a:t>
            </a:r>
          </a:p>
          <a:p>
            <a:r>
              <a:t>Total protein binding is approximately 95%. </a:t>
            </a:r>
          </a:p>
          <a:p>
            <a:r>
              <a:t>The drug is </a:t>
            </a:r>
            <a:r>
              <a:rPr b="1"/>
              <a:t>rapidly and extensively </a:t>
            </a:r>
            <a:r>
              <a:rPr b="1"/>
              <a:t>metabolised</a:t>
            </a:r>
            <a:r>
              <a:rPr b="1"/>
              <a:t> in the liver</a:t>
            </a:r>
            <a:r>
              <a:t>. </a:t>
            </a:r>
          </a:p>
          <a:p>
            <a:r>
              <a:t>Contraindications </a:t>
            </a:r>
          </a:p>
          <a:p>
            <a:r>
              <a:t>Artemether is </a:t>
            </a:r>
            <a:r>
              <a:rPr b="1"/>
              <a:t>contraindicated in patients with hypersensitivity to artemether or other artemisinin compounds.</a:t>
            </a:r>
            <a:endParaRPr b="1"/>
          </a:p>
          <a:p>
            <a:r>
              <a:t>Artemether is </a:t>
            </a:r>
            <a:r>
              <a:rPr b="1"/>
              <a:t>not recommended in the first trimester of pregnancy because of limited data.</a:t>
            </a:r>
            <a:endParaRPr b="1"/>
          </a:p>
        </p:txBody>
      </p:sp>
    </p:spTree>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068" name=""/>
        <p:cNvGrpSpPr/>
        <p:nvPr/>
      </p:nvGrpSpPr>
      <p:grpSpPr>
        <a:xfrm>
          <a:off x="0" y="0"/>
          <a:ext cx="0" cy="0"/>
          <a:chOff x="0" y="0"/>
          <a:chExt cx="0" cy="0"/>
        </a:xfrm>
      </p:grpSpPr>
      <p:sp>
        <p:nvSpPr>
          <p:cNvPr id="1049371" name="Title 1"/>
          <p:cNvSpPr>
            <a:spLocks noGrp="1"/>
          </p:cNvSpPr>
          <p:nvPr>
            <p:ph type="title"/>
          </p:nvPr>
        </p:nvSpPr>
        <p:spPr>
          <a:xfrm>
            <a:off x="838204" y="365126"/>
            <a:ext cx="10515600" cy="758828"/>
          </a:xfrm>
        </p:spPr>
        <p:txBody>
          <a:bodyPr/>
          <a:p>
            <a:r>
              <a:t>Drug interactions </a:t>
            </a:r>
          </a:p>
        </p:txBody>
      </p:sp>
      <p:sp>
        <p:nvSpPr>
          <p:cNvPr id="1049372" name="Content Placeholder 2"/>
          <p:cNvSpPr>
            <a:spLocks noGrp="1"/>
          </p:cNvSpPr>
          <p:nvPr>
            <p:ph idx="1"/>
          </p:nvPr>
        </p:nvSpPr>
        <p:spPr>
          <a:xfrm>
            <a:off x="285750" y="1362070"/>
            <a:ext cx="11696704" cy="5314950"/>
          </a:xfrm>
        </p:spPr>
        <p:txBody>
          <a:bodyPr>
            <a:normAutofit fontScale="83333" lnSpcReduction="20000"/>
          </a:bodyPr>
          <a:p>
            <a:r>
              <a:t>Since electrocardiographic </a:t>
            </a:r>
            <a:r>
              <a:rPr b="1"/>
              <a:t>QT prolongation has been reported in some patients treated with artemether</a:t>
            </a:r>
            <a:r>
              <a:t>, it is recommended to </a:t>
            </a:r>
            <a:r>
              <a:rPr b="1"/>
              <a:t>avoid prescription of medications known to produce a prolongation of QT interval </a:t>
            </a:r>
            <a:r>
              <a:t>or patients receiving such medication: erythromycin, terfenadine, </a:t>
            </a:r>
            <a:r>
              <a:t>astemizole</a:t>
            </a:r>
            <a:r>
              <a:t>, probucol, Class 1a anti-arrhythmic agents (quinidine, procainamide, disopyramide), Class III anti-arrhythmic agents (amiodarone, </a:t>
            </a:r>
            <a:r>
              <a:t>bretylium</a:t>
            </a:r>
            <a:r>
              <a:t>), bepridil, sotalol, tricyclic antidepressants, some neuroleptics and phenothiazines are to be monitored closely. Adverse effects </a:t>
            </a:r>
          </a:p>
          <a:p>
            <a:r>
              <a:rPr b="1"/>
              <a:t>Adverse effects include </a:t>
            </a:r>
            <a:endParaRPr b="1"/>
          </a:p>
          <a:p>
            <a:pPr lvl="1"/>
            <a:r>
              <a:t>bradycardia, electrocardiogram abnormalities, gastrointestinal disturbances (nausea, abdominal pain, </a:t>
            </a:r>
            <a:r>
              <a:t>diarrhoea</a:t>
            </a:r>
            <a:r>
              <a:t> - oral therapy only), dizziness, injection site pain, skin reactions, and fever. </a:t>
            </a:r>
          </a:p>
          <a:p>
            <a:pPr lvl="1"/>
            <a:r>
              <a:t>Transient decreases in neutrophils and reticulocytes have been reported in some patients treated with artemether. </a:t>
            </a:r>
          </a:p>
          <a:p>
            <a:pPr lvl="1"/>
            <a:r>
              <a:t>Drug induced fever has been observed with artemether. </a:t>
            </a:r>
          </a:p>
          <a:p>
            <a:pPr lvl="1"/>
            <a:r>
              <a:t>Mild reactions in IM - nausea, hypotension, dizziness and tinnitus. </a:t>
            </a:r>
          </a:p>
          <a:p>
            <a:pPr lvl="1"/>
            <a:r>
              <a:t>Neurotoxicity </a:t>
            </a:r>
          </a:p>
          <a:p>
            <a:pPr lvl="1"/>
            <a:r>
              <a:t>Cardiotoxicity in high doses of Artemether.</a:t>
            </a:r>
          </a:p>
          <a:p>
            <a:r>
              <a:t> </a:t>
            </a:r>
            <a:r>
              <a:rPr b="1"/>
              <a:t>Dosage and administration</a:t>
            </a:r>
            <a:endParaRPr b="1"/>
          </a:p>
          <a:p>
            <a:pPr lvl="1"/>
            <a:r>
              <a:rPr b="1"/>
              <a:t>Artemether Injection </a:t>
            </a:r>
            <a:r>
              <a:t>is </a:t>
            </a:r>
            <a:r>
              <a:rPr>
                <a:solidFill>
                  <a:srgbClr val="FF0000"/>
                </a:solidFill>
              </a:rPr>
              <a:t>for intramuscular use only</a:t>
            </a:r>
            <a:r>
              <a:t>. : 3.2 mg/kg by the intramuscular route as a loading dose on the first day, followed by 1.6 mg/kg daily until the patient can take oral therapy to complete a 7-day course. </a:t>
            </a:r>
          </a:p>
        </p:txBody>
      </p:sp>
    </p:spTree>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069" name=""/>
        <p:cNvGrpSpPr/>
        <p:nvPr/>
      </p:nvGrpSpPr>
      <p:grpSpPr>
        <a:xfrm>
          <a:off x="0" y="0"/>
          <a:ext cx="0" cy="0"/>
          <a:chOff x="0" y="0"/>
          <a:chExt cx="0" cy="0"/>
        </a:xfrm>
      </p:grpSpPr>
      <p:sp>
        <p:nvSpPr>
          <p:cNvPr id="1049373" name="Title 1"/>
          <p:cNvSpPr>
            <a:spLocks noGrp="1"/>
          </p:cNvSpPr>
          <p:nvPr>
            <p:ph type="title"/>
          </p:nvPr>
        </p:nvSpPr>
        <p:spPr>
          <a:xfrm>
            <a:off x="838204" y="365126"/>
            <a:ext cx="10515600" cy="615953"/>
          </a:xfrm>
        </p:spPr>
        <p:txBody>
          <a:bodyPr>
            <a:normAutofit fontScale="90000"/>
          </a:bodyPr>
          <a:p>
            <a:r>
              <a:t>β-</a:t>
            </a:r>
            <a:r>
              <a:t>Arteether</a:t>
            </a:r>
            <a:r>
              <a:t> </a:t>
            </a:r>
          </a:p>
        </p:txBody>
      </p:sp>
      <p:sp>
        <p:nvSpPr>
          <p:cNvPr id="1049374" name="Content Placeholder 2"/>
          <p:cNvSpPr>
            <a:spLocks noGrp="1"/>
          </p:cNvSpPr>
          <p:nvPr>
            <p:ph idx="1"/>
          </p:nvPr>
        </p:nvSpPr>
        <p:spPr>
          <a:xfrm>
            <a:off x="504820" y="1219195"/>
            <a:ext cx="10848970" cy="5486400"/>
          </a:xfrm>
        </p:spPr>
        <p:txBody>
          <a:bodyPr>
            <a:normAutofit fontScale="70833" lnSpcReduction="20000"/>
          </a:bodyPr>
          <a:p>
            <a:pPr indent="0" marL="0">
              <a:buNone/>
            </a:pPr>
            <a:r>
              <a:t>Ethyl ether derivative of </a:t>
            </a:r>
            <a:r>
              <a:t>dihydroartemisinin</a:t>
            </a:r>
            <a:r>
              <a:t>. </a:t>
            </a:r>
          </a:p>
          <a:p>
            <a:r>
              <a:t>Mechanism of action </a:t>
            </a:r>
          </a:p>
          <a:p>
            <a:pPr lvl="1"/>
            <a:r>
              <a:t>is a fast acting blood </a:t>
            </a:r>
            <a:r>
              <a:t>schizonticidal</a:t>
            </a:r>
            <a:r>
              <a:t> agent for P. falciparum malaria at the erythrocytic stage. concentrated in parasitized erythrocytes causing lysis of the parasitic cell </a:t>
            </a:r>
          </a:p>
          <a:p>
            <a:pPr lvl="1"/>
            <a:r>
              <a:t>inhibits the protein synthesis. </a:t>
            </a:r>
          </a:p>
          <a:p>
            <a:r>
              <a:t>Pharmacokinetics </a:t>
            </a:r>
          </a:p>
          <a:p>
            <a:pPr lvl="1"/>
            <a:r>
              <a:t>Rapidly </a:t>
            </a:r>
            <a:r>
              <a:t>absorped</a:t>
            </a:r>
            <a:r>
              <a:t> after IM injection and is widely distributed. </a:t>
            </a:r>
          </a:p>
          <a:p>
            <a:pPr lvl="1"/>
            <a:r>
              <a:t>Metabolized in the </a:t>
            </a:r>
            <a:r>
              <a:rPr b="1"/>
              <a:t>liver</a:t>
            </a:r>
            <a:r>
              <a:t> into </a:t>
            </a:r>
            <a:r>
              <a:t>dihydroartemisinin</a:t>
            </a:r>
            <a:r>
              <a:t> and the metabolite </a:t>
            </a:r>
            <a:r>
              <a:rPr b="1"/>
              <a:t>excreted in urine </a:t>
            </a:r>
            <a:endParaRPr b="1"/>
          </a:p>
          <a:p>
            <a:r>
              <a:t>Contraindications; hypersensitive to artemisinin derivatives. </a:t>
            </a:r>
          </a:p>
          <a:p>
            <a:r>
              <a:t>Drug interactions </a:t>
            </a:r>
          </a:p>
          <a:p>
            <a:pPr lvl="1"/>
            <a:r>
              <a:t>Artemisinin and its derivatives prolong QT interval and caution should be exercised against combinations with other drugs that prolong the QT interval, such as quinine and halofantrine. </a:t>
            </a:r>
          </a:p>
          <a:p>
            <a:r>
              <a:t>Adverse effects </a:t>
            </a:r>
          </a:p>
          <a:p>
            <a:pPr lvl="1"/>
            <a:r>
              <a:t>Nausea, dizziness and depressed GIT activity can occur. </a:t>
            </a:r>
          </a:p>
          <a:p>
            <a:r>
              <a:t>Dosage and ; IM. </a:t>
            </a:r>
          </a:p>
          <a:p>
            <a:pPr lvl="1"/>
            <a:r>
              <a:t>Adult - 150mg i.e. 1 ampoule of β-</a:t>
            </a:r>
            <a:r>
              <a:t>arteether</a:t>
            </a:r>
            <a:r>
              <a:t> once daily for 3 consecutive days. </a:t>
            </a:r>
          </a:p>
          <a:p>
            <a:pPr lvl="1"/>
            <a:r>
              <a:t>Children - 3mg/Kg per day administered by intramuscular injection over a 3-day period </a:t>
            </a:r>
          </a:p>
          <a:p>
            <a:pPr lvl="1"/>
            <a:r>
              <a:t>The injection must be given under aseptic conditions, deep intramuscularly in the buttock. </a:t>
            </a:r>
          </a:p>
          <a:p>
            <a:pPr lvl="1"/>
            <a:r>
              <a:t>No other drug should be mixed in the same syringe.</a:t>
            </a:r>
          </a:p>
        </p:txBody>
      </p:sp>
    </p:spTree>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070" name=""/>
        <p:cNvGrpSpPr/>
        <p:nvPr/>
      </p:nvGrpSpPr>
      <p:grpSpPr>
        <a:xfrm>
          <a:off x="0" y="0"/>
          <a:ext cx="0" cy="0"/>
          <a:chOff x="0" y="0"/>
          <a:chExt cx="0" cy="0"/>
        </a:xfrm>
      </p:grpSpPr>
      <p:sp>
        <p:nvSpPr>
          <p:cNvPr id="1049375" name="Title 1"/>
          <p:cNvSpPr>
            <a:spLocks noGrp="1"/>
          </p:cNvSpPr>
          <p:nvPr>
            <p:ph type="title"/>
          </p:nvPr>
        </p:nvSpPr>
        <p:spPr/>
        <p:txBody>
          <a:bodyPr/>
          <a:p>
            <a:r>
              <a:t>Artesunate</a:t>
            </a:r>
          </a:p>
        </p:txBody>
      </p:sp>
      <p:sp>
        <p:nvSpPr>
          <p:cNvPr id="1049376" name="Content Placeholder 2"/>
          <p:cNvSpPr>
            <a:spLocks noGrp="1"/>
          </p:cNvSpPr>
          <p:nvPr>
            <p:ph idx="1"/>
          </p:nvPr>
        </p:nvSpPr>
        <p:spPr>
          <a:xfrm>
            <a:off x="409579" y="1447795"/>
            <a:ext cx="10944225" cy="5114925"/>
          </a:xfrm>
        </p:spPr>
        <p:txBody>
          <a:bodyPr>
            <a:normAutofit/>
          </a:bodyPr>
          <a:p>
            <a:r>
              <a:t>A </a:t>
            </a:r>
            <a:r>
              <a:rPr b="1"/>
              <a:t>rapid acting </a:t>
            </a:r>
            <a:r>
              <a:rPr b="1"/>
              <a:t>schizonticidal</a:t>
            </a:r>
            <a:r>
              <a:rPr b="1"/>
              <a:t> artemisinin derivative</a:t>
            </a:r>
            <a:r>
              <a:t>. </a:t>
            </a:r>
          </a:p>
          <a:p>
            <a:r>
              <a:t>Indicated </a:t>
            </a:r>
            <a:r>
              <a:rPr b="1"/>
              <a:t>for severe malaria</a:t>
            </a:r>
            <a:r>
              <a:t>. </a:t>
            </a:r>
          </a:p>
          <a:p>
            <a:pPr lvl="1"/>
            <a:r>
              <a:t>More water soluble than other </a:t>
            </a:r>
            <a:r>
              <a:t>artemisisnin</a:t>
            </a:r>
            <a:r>
              <a:t> derivatives. </a:t>
            </a:r>
          </a:p>
          <a:p>
            <a:r>
              <a:t>Mechanism of action </a:t>
            </a:r>
          </a:p>
          <a:p>
            <a:pPr lvl="1"/>
            <a:r>
              <a:t>Damage of parasite’s membranes </a:t>
            </a:r>
          </a:p>
          <a:p>
            <a:r>
              <a:t>Administration and dosage </a:t>
            </a:r>
          </a:p>
          <a:p>
            <a:pPr lvl="1"/>
            <a:r>
              <a:t>Adminstered</a:t>
            </a:r>
            <a:r>
              <a:t> IV and orally </a:t>
            </a:r>
          </a:p>
          <a:p>
            <a:pPr lvl="1"/>
            <a:r>
              <a:t>Intravenous artesunate is administered in four equal doses of 2.4 mg/kg of body weight over a period of 3 days. Doses every 12 hours </a:t>
            </a:r>
            <a:r>
              <a:rPr b="1"/>
              <a:t>on day 1 </a:t>
            </a:r>
            <a:r>
              <a:t>and </a:t>
            </a:r>
            <a:r>
              <a:rPr b="1"/>
              <a:t>then once daily.</a:t>
            </a:r>
            <a:r>
              <a:t> </a:t>
            </a:r>
          </a:p>
          <a:p>
            <a:pPr lvl="1"/>
            <a:r>
              <a:t>Artesunate dosages need not be changed because of hepatic or renal failure.</a:t>
            </a:r>
          </a:p>
          <a:p>
            <a:pPr indent="0" marL="0">
              <a:buNone/>
            </a:pPr>
            <a:r>
              <a:t>Unwanted effects </a:t>
            </a:r>
          </a:p>
          <a:p>
            <a:pPr lvl="1"/>
            <a:r>
              <a:t>nausea, vomiting, anorexia, and dizziness </a:t>
            </a:r>
          </a:p>
          <a:p>
            <a:pPr lvl="1"/>
            <a:r>
              <a:t>Rare: Ataxia, neutropenia, anemia, hemolysis, and elevated levels of liver enzymes, </a:t>
            </a:r>
          </a:p>
        </p:txBody>
      </p:sp>
    </p:spTree>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071" name=""/>
        <p:cNvGrpSpPr/>
        <p:nvPr/>
      </p:nvGrpSpPr>
      <p:grpSpPr>
        <a:xfrm>
          <a:off x="0" y="0"/>
          <a:ext cx="0" cy="0"/>
          <a:chOff x="0" y="0"/>
          <a:chExt cx="0" cy="0"/>
        </a:xfrm>
      </p:grpSpPr>
      <p:sp>
        <p:nvSpPr>
          <p:cNvPr id="1049377" name="Title 1"/>
          <p:cNvSpPr>
            <a:spLocks noGrp="1"/>
          </p:cNvSpPr>
          <p:nvPr>
            <p:ph type="title"/>
          </p:nvPr>
        </p:nvSpPr>
        <p:spPr/>
        <p:txBody>
          <a:bodyPr/>
          <a:p>
            <a:r>
              <a:t>Artesunate combinations</a:t>
            </a:r>
          </a:p>
        </p:txBody>
      </p:sp>
      <p:sp>
        <p:nvSpPr>
          <p:cNvPr id="1049378" name="Content Placeholder 2"/>
          <p:cNvSpPr>
            <a:spLocks noGrp="1"/>
          </p:cNvSpPr>
          <p:nvPr>
            <p:ph idx="1"/>
          </p:nvPr>
        </p:nvSpPr>
        <p:spPr/>
        <p:txBody>
          <a:bodyPr>
            <a:normAutofit/>
          </a:bodyPr>
          <a:p>
            <a:r>
              <a:rPr b="1"/>
              <a:t>Monotherapy </a:t>
            </a:r>
            <a:r>
              <a:t>with artemisinin or its derivatives is </a:t>
            </a:r>
            <a:r>
              <a:rPr b="1"/>
              <a:t>associated w</a:t>
            </a:r>
            <a:r>
              <a:t>ith a significant incidence of </a:t>
            </a:r>
            <a:r>
              <a:rPr b="1"/>
              <a:t>recrudescences</a:t>
            </a:r>
            <a:r>
              <a:t>, unless enhanced dose regimens are used. </a:t>
            </a:r>
          </a:p>
          <a:p>
            <a:r>
              <a:t>For this reason </a:t>
            </a:r>
            <a:r>
              <a:rPr b="1"/>
              <a:t>and to reduce risk of resistance </a:t>
            </a:r>
            <a:r>
              <a:t>they are </a:t>
            </a:r>
            <a:r>
              <a:rPr>
                <a:solidFill>
                  <a:srgbClr val="FF0000"/>
                </a:solidFill>
              </a:rPr>
              <a:t>usually combined with other antimalarials.</a:t>
            </a:r>
            <a:r>
              <a:t> </a:t>
            </a:r>
          </a:p>
          <a:p>
            <a:r>
              <a:t>Examples of artemisinin based combinations: </a:t>
            </a:r>
          </a:p>
          <a:p>
            <a:pPr lvl="1"/>
            <a:r>
              <a:t>Artesunate-mefloquine </a:t>
            </a:r>
          </a:p>
          <a:p>
            <a:pPr lvl="1"/>
            <a:r>
              <a:t>Artemether- lumefantrine (</a:t>
            </a:r>
            <a:r>
              <a:t>coartem</a:t>
            </a:r>
            <a:r>
              <a:t>) </a:t>
            </a:r>
          </a:p>
          <a:p>
            <a:pPr lvl="1"/>
            <a:r>
              <a:t>Amodiaquine-artesunate </a:t>
            </a:r>
          </a:p>
          <a:p>
            <a:pPr lvl="1"/>
            <a:r>
              <a:t>dihydroartemisinin</a:t>
            </a:r>
            <a:r>
              <a:t>–piperaquine</a:t>
            </a:r>
          </a:p>
        </p:txBody>
      </p:sp>
    </p:spTree>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072" name=""/>
        <p:cNvGrpSpPr/>
        <p:nvPr/>
      </p:nvGrpSpPr>
      <p:grpSpPr>
        <a:xfrm>
          <a:off x="0" y="0"/>
          <a:ext cx="0" cy="0"/>
          <a:chOff x="0" y="0"/>
          <a:chExt cx="0" cy="0"/>
        </a:xfrm>
      </p:grpSpPr>
      <p:sp>
        <p:nvSpPr>
          <p:cNvPr id="1049379" name="Title 1"/>
          <p:cNvSpPr>
            <a:spLocks noGrp="1"/>
          </p:cNvSpPr>
          <p:nvPr>
            <p:ph type="title"/>
          </p:nvPr>
        </p:nvSpPr>
        <p:spPr>
          <a:xfrm>
            <a:off x="838204" y="365126"/>
            <a:ext cx="10515600" cy="568318"/>
          </a:xfrm>
        </p:spPr>
        <p:txBody>
          <a:bodyPr>
            <a:normAutofit fontScale="90000"/>
          </a:bodyPr>
          <a:p>
            <a:r>
              <a:t>CoartemTM</a:t>
            </a:r>
          </a:p>
        </p:txBody>
      </p:sp>
      <p:sp>
        <p:nvSpPr>
          <p:cNvPr id="1049380" name="Content Placeholder 2"/>
          <p:cNvSpPr>
            <a:spLocks noGrp="1"/>
          </p:cNvSpPr>
          <p:nvPr>
            <p:ph idx="1"/>
          </p:nvPr>
        </p:nvSpPr>
        <p:spPr>
          <a:xfrm>
            <a:off x="638179" y="1057275"/>
            <a:ext cx="11239504" cy="5648320"/>
          </a:xfrm>
        </p:spPr>
        <p:txBody>
          <a:bodyPr>
            <a:normAutofit fontScale="70833" lnSpcReduction="20000"/>
          </a:bodyPr>
          <a:p>
            <a:r>
              <a:t>The </a:t>
            </a:r>
            <a:r>
              <a:rPr b="1"/>
              <a:t>recommended first line treatment for </a:t>
            </a:r>
            <a:r>
              <a:t>acute </a:t>
            </a:r>
            <a:r>
              <a:rPr b="1"/>
              <a:t>uncomplicated malaria </a:t>
            </a:r>
            <a:r>
              <a:t>due to Plasmodium falciparum in patients of 5 kg bodyweight and above </a:t>
            </a:r>
            <a:r>
              <a:rPr b="1"/>
              <a:t>in Kenya</a:t>
            </a:r>
            <a:r>
              <a:t>. </a:t>
            </a:r>
          </a:p>
          <a:p>
            <a:r>
              <a:t>Coartem</a:t>
            </a:r>
            <a:r>
              <a:t> is a fixed dose oral combination of artemether (20 mg), and lumefantrine (120 mg). </a:t>
            </a:r>
          </a:p>
          <a:p>
            <a:r>
              <a:t>Mechanism of Action </a:t>
            </a:r>
          </a:p>
          <a:p>
            <a:pPr lvl="1"/>
            <a:r>
              <a:t>Coartem</a:t>
            </a:r>
            <a:r>
              <a:t> is a fixed dose oral combination of artemether (20 mg), an artemisinin derivative, and lumefantrine (120 mg), two anti-</a:t>
            </a:r>
            <a:r>
              <a:t>malarials</a:t>
            </a:r>
            <a:r>
              <a:t>. Both components are blood </a:t>
            </a:r>
            <a:r>
              <a:t>schizontocides</a:t>
            </a:r>
            <a:r>
              <a:t>. </a:t>
            </a:r>
          </a:p>
          <a:p>
            <a:pPr lvl="1"/>
            <a:r>
              <a:t>Aremether</a:t>
            </a:r>
            <a:r>
              <a:t> damages  the parasite membranes and inhibition of protein synthesis. The lumefantrine component prevents the </a:t>
            </a:r>
            <a:r>
              <a:t>polymerisation</a:t>
            </a:r>
            <a:r>
              <a:t> of </a:t>
            </a:r>
            <a:r>
              <a:t>haemin</a:t>
            </a:r>
            <a:r>
              <a:t> to non-toxic malaria pigment.</a:t>
            </a:r>
          </a:p>
          <a:p>
            <a:r>
              <a:t>Side Effects include, but are not limited to, : Headache, Anorexia, Dizziness, Asthenia, </a:t>
            </a:r>
            <a:r>
              <a:t>Pyrexia,Cough</a:t>
            </a:r>
            <a:r>
              <a:t>, Vomiting </a:t>
            </a:r>
          </a:p>
          <a:p>
            <a:pPr indent="0" marL="0">
              <a:buNone/>
            </a:pPr>
            <a:r>
              <a:t>Dose </a:t>
            </a:r>
          </a:p>
          <a:p>
            <a:r>
              <a:rPr b="1"/>
              <a:t>The adult dose regimen is </a:t>
            </a:r>
            <a:endParaRPr b="1"/>
          </a:p>
          <a:p>
            <a:pPr lvl="1"/>
            <a:r>
              <a:t>4 tablets each at hours 0(at the start of treatment) and 8, and twice daily the same dose on the next two days</a:t>
            </a:r>
          </a:p>
          <a:p>
            <a:r>
              <a:rPr b="1"/>
              <a:t>Paediatric</a:t>
            </a:r>
            <a:r>
              <a:rPr b="1"/>
              <a:t> dose regimens </a:t>
            </a:r>
            <a:endParaRPr b="1"/>
          </a:p>
          <a:p>
            <a:pPr lvl="1"/>
            <a:r>
              <a:t>Children of 5 – 14 kg receive one tablet each at hours 0 and 8, and twice daily one tablet each on the next following two days (total dose 6 tablets). </a:t>
            </a:r>
          </a:p>
          <a:p>
            <a:pPr lvl="1"/>
            <a:r>
              <a:t>Children of 15 – 24 kg receive 2 tablets each at hours 0 and 8, and twice daily 2 tablets each on the next following two days (total dose 12 tablets). </a:t>
            </a:r>
          </a:p>
          <a:p>
            <a:pPr lvl="1"/>
            <a:r>
              <a:t>Children of 25 – 34 kg receive 3 tablets each at hours 0 and 8, and twice daily 3 tablets each on the next following two days (total dose 18 tablets).</a:t>
            </a:r>
          </a:p>
        </p:txBody>
      </p:sp>
    </p:spTree>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073" name=""/>
        <p:cNvGrpSpPr/>
        <p:nvPr/>
      </p:nvGrpSpPr>
      <p:grpSpPr>
        <a:xfrm>
          <a:off x="0" y="0"/>
          <a:ext cx="0" cy="0"/>
          <a:chOff x="0" y="0"/>
          <a:chExt cx="0" cy="0"/>
        </a:xfrm>
      </p:grpSpPr>
      <p:sp>
        <p:nvSpPr>
          <p:cNvPr id="1049381" name="Rectangle 2"/>
          <p:cNvSpPr>
            <a:spLocks noGrp="1" noChangeArrowheads="1"/>
          </p:cNvSpPr>
          <p:nvPr>
            <p:ph type="body" idx="1"/>
          </p:nvPr>
        </p:nvSpPr>
        <p:spPr>
          <a:xfrm>
            <a:off x="704845" y="152404"/>
            <a:ext cx="9658350" cy="6476995"/>
          </a:xfrm>
        </p:spPr>
        <p:txBody>
          <a:bodyPr>
            <a:normAutofit lnSpcReduction="10000"/>
          </a:bodyPr>
          <a:p>
            <a:pPr indent="-660406" marL="660406">
              <a:lnSpc>
                <a:spcPct val="80000"/>
              </a:lnSpc>
              <a:buNone/>
            </a:pPr>
            <a:r>
              <a:rPr b="1">
                <a:latin typeface="Comic Sans MS"/>
              </a:rPr>
              <a:t>AMOEBIASIS (E. HISTOLYTICA) </a:t>
            </a:r>
            <a:endParaRPr>
              <a:latin typeface="Comic Sans MS"/>
            </a:endParaRPr>
          </a:p>
          <a:p>
            <a:pPr indent="-660406" marL="660406">
              <a:lnSpc>
                <a:spcPct val="80000"/>
              </a:lnSpc>
              <a:buNone/>
            </a:pPr>
            <a:r>
              <a:rPr sz="2400">
                <a:cs typeface="Arial"/>
              </a:rPr>
              <a:t>►</a:t>
            </a:r>
            <a:r>
              <a:rPr sz="2400"/>
              <a:t>Trophozoites and cysts</a:t>
            </a:r>
            <a:endParaRPr sz="2400"/>
          </a:p>
          <a:p>
            <a:pPr indent="-660406" marL="660406">
              <a:lnSpc>
                <a:spcPct val="80000"/>
              </a:lnSpc>
              <a:buNone/>
            </a:pPr>
            <a:r>
              <a:rPr sz="2400">
                <a:cs typeface="Arial"/>
              </a:rPr>
              <a:t>►</a:t>
            </a:r>
            <a:r>
              <a:rPr sz="2400"/>
              <a:t> Trophozoites can</a:t>
            </a:r>
            <a:endParaRPr sz="2400"/>
          </a:p>
          <a:p>
            <a:pPr indent="-577848" lvl="1" marL="1035048">
              <a:lnSpc>
                <a:spcPct val="80000"/>
              </a:lnSpc>
              <a:buNone/>
            </a:pPr>
            <a:r>
              <a:t>(</a:t>
            </a:r>
            <a:r>
              <a:t>i</a:t>
            </a:r>
            <a:r>
              <a:t>) 	Live in lumen</a:t>
            </a:r>
          </a:p>
          <a:p>
            <a:pPr indent="-577848" lvl="1" marL="1035048">
              <a:lnSpc>
                <a:spcPct val="80000"/>
              </a:lnSpc>
              <a:buNone/>
            </a:pPr>
            <a:r>
              <a:t>(ii) 	Invade colon epithelium – ulceration </a:t>
            </a:r>
          </a:p>
          <a:p>
            <a:pPr indent="-577848" lvl="1" marL="1035048">
              <a:lnSpc>
                <a:spcPct val="80000"/>
              </a:lnSpc>
              <a:buNone/>
            </a:pPr>
            <a:r>
              <a:t>(iii) 	Spread to liver (liver abscess) &amp; other organs/tissues </a:t>
            </a:r>
            <a:endParaRPr i="1"/>
          </a:p>
          <a:p>
            <a:pPr indent="-660406" marL="660406">
              <a:lnSpc>
                <a:spcPct val="80000"/>
              </a:lnSpc>
              <a:buNone/>
            </a:pPr>
            <a:endParaRPr sz="2400"/>
          </a:p>
          <a:p>
            <a:pPr indent="-660406" marL="660406">
              <a:lnSpc>
                <a:spcPct val="80000"/>
              </a:lnSpc>
              <a:buNone/>
            </a:pPr>
            <a:r>
              <a:rPr sz="2400"/>
              <a:t>trophozoites can simply live on gut bacteria – addition of a </a:t>
            </a:r>
            <a:r>
              <a:rPr sz="2400"/>
              <a:t>broadspectrum</a:t>
            </a:r>
            <a:r>
              <a:rPr sz="2400"/>
              <a:t> </a:t>
            </a:r>
            <a:r>
              <a:rPr sz="2400"/>
              <a:t>antiobiotic</a:t>
            </a:r>
            <a:r>
              <a:rPr sz="2400"/>
              <a:t>, e.g. a Tet can lead to rapid improvement as the parasites major food source is depleted</a:t>
            </a:r>
            <a:endParaRPr sz="2400"/>
          </a:p>
          <a:p>
            <a:pPr indent="-660406" marL="660406">
              <a:lnSpc>
                <a:spcPct val="80000"/>
              </a:lnSpc>
              <a:buNone/>
            </a:pPr>
            <a:endParaRPr sz="2400"/>
          </a:p>
          <a:p>
            <a:pPr indent="-660406" marL="660406">
              <a:lnSpc>
                <a:spcPct val="80000"/>
              </a:lnSpc>
              <a:buNone/>
            </a:pPr>
            <a:r>
              <a:rPr sz="2400" u="sng"/>
              <a:t>Range of illness/symptoms</a:t>
            </a:r>
            <a:endParaRPr sz="2400" u="sng"/>
          </a:p>
          <a:p>
            <a:pPr indent="-660406" marL="660406">
              <a:lnSpc>
                <a:spcPct val="80000"/>
              </a:lnSpc>
              <a:buNone/>
            </a:pPr>
            <a:r>
              <a:rPr sz="2400"/>
              <a:t>	(</a:t>
            </a:r>
            <a:r>
              <a:rPr sz="2400"/>
              <a:t>i</a:t>
            </a:r>
            <a:r>
              <a:rPr sz="2400"/>
              <a:t>)   Asymptomatic carrier</a:t>
            </a:r>
            <a:endParaRPr sz="2400"/>
          </a:p>
          <a:p>
            <a:pPr indent="-660406" marL="660406">
              <a:lnSpc>
                <a:spcPct val="80000"/>
              </a:lnSpc>
              <a:buNone/>
            </a:pPr>
            <a:r>
              <a:rPr sz="2400"/>
              <a:t>	(ii)  Mild intestinal infection - diarrhea</a:t>
            </a:r>
            <a:endParaRPr sz="2400"/>
          </a:p>
          <a:p>
            <a:pPr indent="-660406" marL="660406">
              <a:lnSpc>
                <a:spcPct val="80000"/>
              </a:lnSpc>
              <a:buNone/>
            </a:pPr>
            <a:r>
              <a:rPr sz="2400"/>
              <a:t>	(iii) Severe intestinal infection -  dysentery</a:t>
            </a:r>
            <a:endParaRPr sz="2400"/>
          </a:p>
          <a:p>
            <a:pPr indent="-660406" marL="660406">
              <a:lnSpc>
                <a:spcPct val="80000"/>
              </a:lnSpc>
              <a:buNone/>
            </a:pPr>
            <a:r>
              <a:rPr sz="2400"/>
              <a:t>	(iv) Amoebic liver hepatitis and abscess</a:t>
            </a:r>
            <a:endParaRPr sz="2400"/>
          </a:p>
          <a:p>
            <a:pPr indent="-660406" marL="660406">
              <a:lnSpc>
                <a:spcPct val="80000"/>
              </a:lnSpc>
              <a:buNone/>
            </a:pPr>
            <a:r>
              <a:rPr sz="2400"/>
              <a:t>	(V) </a:t>
            </a:r>
            <a:r>
              <a:rPr sz="2400"/>
              <a:t>Amoeboma</a:t>
            </a:r>
            <a:r>
              <a:rPr sz="2400"/>
              <a:t> &amp; extraintestinal infection</a:t>
            </a:r>
            <a:endParaRPr sz="2400"/>
          </a:p>
        </p:txBody>
      </p:sp>
    </p:spTree>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074" name=""/>
        <p:cNvGrpSpPr/>
        <p:nvPr/>
      </p:nvGrpSpPr>
      <p:grpSpPr>
        <a:xfrm>
          <a:off x="0" y="0"/>
          <a:ext cx="0" cy="0"/>
          <a:chOff x="0" y="0"/>
          <a:chExt cx="0" cy="0"/>
        </a:xfrm>
      </p:grpSpPr>
      <p:pic>
        <p:nvPicPr>
          <p:cNvPr id="2097163" name="Picture 2" descr="1"/>
          <p:cNvPicPr>
            <a:picLocks noChangeAspect="1" noChangeArrowheads="1"/>
          </p:cNvPicPr>
          <p:nvPr/>
        </p:nvPicPr>
        <p:blipFill>
          <a:blip xmlns:r="http://schemas.openxmlformats.org/officeDocument/2006/relationships" r:embed="rId1">
            <a:lum bright="-26000" contrast="20000"/>
          </a:blip>
          <a:srcRect/>
          <a:stretch>
            <a:fillRect/>
          </a:stretch>
        </p:blipFill>
        <p:spPr bwMode="auto">
          <a:xfrm>
            <a:off x="1611320" y="457200"/>
            <a:ext cx="9056684" cy="6400800"/>
          </a:xfrm>
          <a:prstGeom prst="rect"/>
          <a:noFill/>
        </p:spPr>
      </p:pic>
    </p:spTree>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075" name=""/>
        <p:cNvGrpSpPr/>
        <p:nvPr/>
      </p:nvGrpSpPr>
      <p:grpSpPr>
        <a:xfrm>
          <a:off x="0" y="0"/>
          <a:ext cx="0" cy="0"/>
          <a:chOff x="0" y="0"/>
          <a:chExt cx="0" cy="0"/>
        </a:xfrm>
      </p:grpSpPr>
      <p:sp>
        <p:nvSpPr>
          <p:cNvPr id="1049382" name="Rectangle 2"/>
          <p:cNvSpPr>
            <a:spLocks noGrp="1" noChangeArrowheads="1"/>
          </p:cNvSpPr>
          <p:nvPr>
            <p:ph type="body" idx="1"/>
          </p:nvPr>
        </p:nvSpPr>
        <p:spPr>
          <a:xfrm>
            <a:off x="1752604" y="304795"/>
            <a:ext cx="8762995" cy="6324604"/>
          </a:xfrm>
        </p:spPr>
        <p:txBody>
          <a:bodyPr>
            <a:normAutofit/>
          </a:bodyPr>
          <a:p>
            <a:pPr>
              <a:lnSpc>
                <a:spcPct val="80000"/>
              </a:lnSpc>
              <a:buNone/>
            </a:pPr>
            <a:r>
              <a:rPr b="1" sz="2400">
                <a:solidFill>
                  <a:srgbClr val="CC0000"/>
                </a:solidFill>
                <a:latin typeface="Comic Sans MS"/>
              </a:rPr>
              <a:t>ANTI-AMOEBIC AGENTS</a:t>
            </a:r>
            <a:endParaRPr b="1" sz="2400">
              <a:solidFill>
                <a:srgbClr val="CC0000"/>
              </a:solidFill>
              <a:latin typeface="Comic Sans MS"/>
            </a:endParaRPr>
          </a:p>
          <a:p>
            <a:pPr>
              <a:lnSpc>
                <a:spcPct val="80000"/>
              </a:lnSpc>
              <a:buNone/>
            </a:pPr>
            <a:endParaRPr b="1" sz="2400">
              <a:solidFill>
                <a:srgbClr val="CC0000"/>
              </a:solidFill>
            </a:endParaRPr>
          </a:p>
          <a:p>
            <a:pPr>
              <a:lnSpc>
                <a:spcPct val="80000"/>
              </a:lnSpc>
              <a:buNone/>
            </a:pPr>
            <a:r>
              <a:rPr b="1" sz="2400"/>
              <a:t>Classification – based on location of trophozoite</a:t>
            </a:r>
            <a:r>
              <a:rPr b="1" sz="2400"/>
              <a:t> </a:t>
            </a:r>
            <a:endParaRPr sz="2400"/>
          </a:p>
          <a:p>
            <a:pPr>
              <a:lnSpc>
                <a:spcPct val="80000"/>
              </a:lnSpc>
              <a:buNone/>
            </a:pPr>
            <a:endParaRPr b="1" sz="2400"/>
          </a:p>
          <a:p>
            <a:pPr>
              <a:lnSpc>
                <a:spcPct val="80000"/>
              </a:lnSpc>
              <a:buNone/>
            </a:pPr>
            <a:r>
              <a:rPr b="1" sz="2400"/>
              <a:t>Luminal </a:t>
            </a:r>
            <a:endParaRPr b="1" sz="2400"/>
          </a:p>
          <a:p>
            <a:pPr>
              <a:lnSpc>
                <a:spcPct val="80000"/>
              </a:lnSpc>
              <a:buNone/>
            </a:pPr>
            <a:r>
              <a:rPr sz="2400"/>
              <a:t>1. The amides - Diloxanide furoate, </a:t>
            </a:r>
            <a:r>
              <a:rPr sz="2400"/>
              <a:t>Etofamide</a:t>
            </a:r>
            <a:r>
              <a:rPr sz="2400"/>
              <a:t>, teclozan</a:t>
            </a:r>
            <a:endParaRPr sz="2400"/>
          </a:p>
          <a:p>
            <a:pPr>
              <a:lnSpc>
                <a:spcPct val="80000"/>
              </a:lnSpc>
              <a:buNone/>
            </a:pPr>
            <a:r>
              <a:rPr sz="2400"/>
              <a:t>2. Iodoquinol, clioquinol (Halogenated hydroxyquinolines)</a:t>
            </a:r>
            <a:endParaRPr sz="2400"/>
          </a:p>
          <a:p>
            <a:pPr>
              <a:lnSpc>
                <a:spcPct val="80000"/>
              </a:lnSpc>
              <a:buNone/>
            </a:pPr>
            <a:r>
              <a:rPr sz="2400"/>
              <a:t>3. </a:t>
            </a:r>
            <a:r>
              <a:rPr sz="2400"/>
              <a:t>Antibacterials</a:t>
            </a:r>
            <a:r>
              <a:rPr sz="2400"/>
              <a:t>- Tetracyclines, </a:t>
            </a:r>
            <a:r>
              <a:rPr sz="2400"/>
              <a:t>Paramomycin</a:t>
            </a:r>
            <a:r>
              <a:rPr sz="2400"/>
              <a:t>, Erythromycin</a:t>
            </a:r>
            <a:endParaRPr sz="2400"/>
          </a:p>
          <a:p>
            <a:pPr>
              <a:lnSpc>
                <a:spcPct val="80000"/>
              </a:lnSpc>
              <a:buNone/>
            </a:pPr>
            <a:endParaRPr sz="2400"/>
          </a:p>
          <a:p>
            <a:pPr>
              <a:lnSpc>
                <a:spcPct val="80000"/>
              </a:lnSpc>
              <a:buNone/>
            </a:pPr>
            <a:r>
              <a:rPr b="1" sz="2400"/>
              <a:t>Extra luminal /Tissue</a:t>
            </a:r>
            <a:endParaRPr b="1" sz="2400"/>
          </a:p>
          <a:p>
            <a:pPr>
              <a:lnSpc>
                <a:spcPct val="80000"/>
              </a:lnSpc>
              <a:buNone/>
            </a:pPr>
            <a:r>
              <a:rPr sz="2400"/>
              <a:t>1. Chloroquine</a:t>
            </a:r>
            <a:endParaRPr sz="2400"/>
          </a:p>
          <a:p>
            <a:pPr>
              <a:lnSpc>
                <a:spcPct val="80000"/>
              </a:lnSpc>
              <a:buNone/>
            </a:pPr>
            <a:r>
              <a:rPr sz="2400"/>
              <a:t>2. Emetine, </a:t>
            </a:r>
            <a:r>
              <a:rPr sz="2400"/>
              <a:t>dehydroemetine</a:t>
            </a:r>
            <a:r>
              <a:rPr sz="2400"/>
              <a:t> (Alkaloids)- restricted use ‘coz of toxicity on almost all tissues</a:t>
            </a:r>
            <a:endParaRPr sz="2400"/>
          </a:p>
          <a:p>
            <a:pPr>
              <a:lnSpc>
                <a:spcPct val="80000"/>
              </a:lnSpc>
              <a:buNone/>
            </a:pPr>
            <a:endParaRPr sz="2400"/>
          </a:p>
          <a:p>
            <a:pPr>
              <a:lnSpc>
                <a:spcPct val="80000"/>
              </a:lnSpc>
              <a:buNone/>
            </a:pPr>
            <a:r>
              <a:rPr b="1" sz="1800"/>
              <a:t>(Both)</a:t>
            </a:r>
            <a:r>
              <a:rPr b="1" sz="2400"/>
              <a:t> Luminal and Tissue (</a:t>
            </a:r>
            <a:r>
              <a:rPr b="1" sz="2400"/>
              <a:t>Drugs effective in both intestinal and extraintestinal amebiasis)</a:t>
            </a:r>
            <a:endParaRPr b="1" sz="2400"/>
          </a:p>
          <a:p>
            <a:pPr>
              <a:lnSpc>
                <a:spcPct val="80000"/>
              </a:lnSpc>
              <a:buNone/>
            </a:pPr>
            <a:r>
              <a:rPr sz="2400"/>
              <a:t>Nitroimidazoles – Metronidazole, </a:t>
            </a:r>
            <a:r>
              <a:rPr sz="2400"/>
              <a:t>tinidazole,</a:t>
            </a:r>
            <a:r>
              <a:rPr sz="2400"/>
              <a:t>secnidazole,ornidazole</a:t>
            </a:r>
            <a:r>
              <a:rPr sz="2400"/>
              <a:t> ,</a:t>
            </a:r>
            <a:r>
              <a:rPr sz="2400"/>
              <a:t>dehydroemetine</a:t>
            </a:r>
            <a:endParaRPr b="1" sz="2400">
              <a:solidFill>
                <a:srgbClr val="CC0000"/>
              </a:solidFill>
            </a:endParaRPr>
          </a:p>
        </p:txBody>
      </p:sp>
    </p:spTree>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076" name=""/>
        <p:cNvGrpSpPr/>
        <p:nvPr/>
      </p:nvGrpSpPr>
      <p:grpSpPr>
        <a:xfrm>
          <a:off x="0" y="0"/>
          <a:ext cx="0" cy="0"/>
          <a:chOff x="0" y="0"/>
          <a:chExt cx="0" cy="0"/>
        </a:xfrm>
      </p:grpSpPr>
      <p:sp>
        <p:nvSpPr>
          <p:cNvPr id="1049383" name="Rectangle 2"/>
          <p:cNvSpPr>
            <a:spLocks noGrp="1" noChangeArrowheads="1"/>
          </p:cNvSpPr>
          <p:nvPr>
            <p:ph type="body" idx="1"/>
          </p:nvPr>
        </p:nvSpPr>
        <p:spPr>
          <a:xfrm>
            <a:off x="1981204" y="457200"/>
            <a:ext cx="8229600" cy="6096004"/>
          </a:xfrm>
        </p:spPr>
        <p:txBody>
          <a:bodyPr>
            <a:normAutofit lnSpcReduction="10000"/>
          </a:bodyPr>
          <a:p>
            <a:pPr>
              <a:lnSpc>
                <a:spcPct val="80000"/>
              </a:lnSpc>
              <a:buNone/>
            </a:pPr>
            <a:r>
              <a:rPr b="1" sz="2400">
                <a:solidFill>
                  <a:srgbClr val="CC0000"/>
                </a:solidFill>
              </a:rPr>
              <a:t>1. The AMIDES - diloxanide furoate, </a:t>
            </a:r>
            <a:r>
              <a:rPr sz="2400"/>
              <a:t>etofamide, teclozan</a:t>
            </a:r>
            <a:endParaRPr sz="2400"/>
          </a:p>
          <a:p>
            <a:pPr>
              <a:lnSpc>
                <a:spcPct val="80000"/>
              </a:lnSpc>
              <a:buNone/>
            </a:pPr>
            <a:endParaRPr sz="2400"/>
          </a:p>
          <a:p>
            <a:pPr>
              <a:lnSpc>
                <a:spcPct val="80000"/>
              </a:lnSpc>
              <a:buNone/>
            </a:pPr>
            <a:r>
              <a:rPr sz="2000" u="sng"/>
              <a:t>Mxn</a:t>
            </a:r>
            <a:r>
              <a:rPr sz="2000"/>
              <a:t>:  not clear, amebicidal</a:t>
            </a:r>
            <a:endParaRPr sz="2000"/>
          </a:p>
          <a:p>
            <a:pPr>
              <a:lnSpc>
                <a:spcPct val="80000"/>
              </a:lnSpc>
              <a:buNone/>
            </a:pPr>
            <a:r>
              <a:rPr sz="2000"/>
              <a:t>	-Split in the GIT to diloxanide and furoic acid, </a:t>
            </a:r>
            <a:endParaRPr sz="2000"/>
          </a:p>
          <a:p>
            <a:pPr>
              <a:lnSpc>
                <a:spcPct val="80000"/>
              </a:lnSpc>
              <a:buNone/>
            </a:pPr>
            <a:r>
              <a:rPr sz="2000" u="sng"/>
              <a:t>Adm</a:t>
            </a:r>
            <a:r>
              <a:rPr sz="2000"/>
              <a:t>; oral</a:t>
            </a:r>
            <a:endParaRPr sz="2000"/>
          </a:p>
          <a:p>
            <a:pPr>
              <a:lnSpc>
                <a:spcPct val="80000"/>
              </a:lnSpc>
              <a:buNone/>
            </a:pPr>
            <a:r>
              <a:rPr sz="2000" u="sng"/>
              <a:t>Abs</a:t>
            </a:r>
            <a:r>
              <a:rPr sz="2000"/>
              <a:t>: most of diloxanide is absorbed (90%) what is left is still effective</a:t>
            </a:r>
            <a:endParaRPr sz="2000"/>
          </a:p>
          <a:p>
            <a:pPr>
              <a:lnSpc>
                <a:spcPct val="80000"/>
              </a:lnSpc>
              <a:buNone/>
            </a:pPr>
            <a:r>
              <a:rPr sz="2000" u="sng"/>
              <a:t>Elimination</a:t>
            </a:r>
            <a:r>
              <a:rPr sz="2000"/>
              <a:t>: metabolized then renal excretion</a:t>
            </a:r>
            <a:endParaRPr sz="2000"/>
          </a:p>
          <a:p>
            <a:pPr>
              <a:lnSpc>
                <a:spcPct val="80000"/>
              </a:lnSpc>
              <a:buNone/>
            </a:pPr>
            <a:endParaRPr sz="2000"/>
          </a:p>
          <a:p>
            <a:pPr>
              <a:lnSpc>
                <a:spcPct val="80000"/>
              </a:lnSpc>
              <a:buNone/>
            </a:pPr>
            <a:r>
              <a:rPr sz="2000" u="sng"/>
              <a:t>S/e</a:t>
            </a:r>
            <a:endParaRPr sz="2000" u="sng"/>
          </a:p>
          <a:p>
            <a:pPr>
              <a:lnSpc>
                <a:spcPct val="80000"/>
              </a:lnSpc>
              <a:buNone/>
            </a:pPr>
            <a:r>
              <a:rPr sz="2000">
                <a:cs typeface="Arial"/>
              </a:rPr>
              <a:t>♦ </a:t>
            </a:r>
            <a:r>
              <a:rPr sz="2000"/>
              <a:t>Flatulence</a:t>
            </a:r>
            <a:endParaRPr sz="2000"/>
          </a:p>
          <a:p>
            <a:pPr>
              <a:lnSpc>
                <a:spcPct val="80000"/>
              </a:lnSpc>
              <a:buNone/>
            </a:pPr>
            <a:r>
              <a:rPr sz="2000">
                <a:cs typeface="Arial"/>
              </a:rPr>
              <a:t>♦ </a:t>
            </a:r>
            <a:r>
              <a:rPr sz="2000"/>
              <a:t>Dry mouth</a:t>
            </a:r>
            <a:endParaRPr sz="2000"/>
          </a:p>
          <a:p>
            <a:pPr>
              <a:lnSpc>
                <a:spcPct val="80000"/>
              </a:lnSpc>
              <a:buNone/>
            </a:pPr>
            <a:r>
              <a:rPr sz="2000">
                <a:cs typeface="Arial"/>
              </a:rPr>
              <a:t>♦ </a:t>
            </a:r>
            <a:r>
              <a:rPr sz="2000"/>
              <a:t>Nausea, abdominal cramps</a:t>
            </a:r>
            <a:endParaRPr sz="2000"/>
          </a:p>
          <a:p>
            <a:pPr>
              <a:lnSpc>
                <a:spcPct val="80000"/>
              </a:lnSpc>
              <a:buNone/>
            </a:pPr>
            <a:r>
              <a:rPr sz="2000">
                <a:cs typeface="Arial"/>
              </a:rPr>
              <a:t>♦ </a:t>
            </a:r>
            <a:r>
              <a:rPr sz="2000"/>
              <a:t>Pruritus, urticaria</a:t>
            </a:r>
            <a:endParaRPr sz="2000"/>
          </a:p>
          <a:p>
            <a:pPr>
              <a:lnSpc>
                <a:spcPct val="80000"/>
              </a:lnSpc>
              <a:buNone/>
            </a:pPr>
            <a:r>
              <a:rPr sz="2000">
                <a:cs typeface="Arial"/>
              </a:rPr>
              <a:t>♦ </a:t>
            </a:r>
            <a:r>
              <a:rPr sz="2000"/>
              <a:t>Avoid in pregnancy and young children (&lt;2yrs) </a:t>
            </a:r>
            <a:endParaRPr sz="2000"/>
          </a:p>
          <a:p>
            <a:pPr>
              <a:lnSpc>
                <a:spcPct val="80000"/>
              </a:lnSpc>
              <a:buNone/>
            </a:pPr>
            <a:endParaRPr sz="2000"/>
          </a:p>
          <a:p>
            <a:pPr>
              <a:lnSpc>
                <a:spcPct val="80000"/>
              </a:lnSpc>
              <a:buNone/>
            </a:pPr>
            <a:r>
              <a:rPr sz="2000" u="sng"/>
              <a:t>Uses</a:t>
            </a:r>
            <a:endParaRPr sz="2000" u="sng"/>
          </a:p>
          <a:p>
            <a:pPr>
              <a:lnSpc>
                <a:spcPct val="80000"/>
              </a:lnSpc>
              <a:buNone/>
            </a:pPr>
            <a:r>
              <a:rPr sz="2000"/>
              <a:t>1. Luminal amoebiasis (rx asymptomatic or along w. Tissue amebicide to eradicate infection)</a:t>
            </a:r>
            <a:endParaRPr sz="2000"/>
          </a:p>
        </p:txBody>
      </p:sp>
    </p:spTree>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p:spTree>
      <p:nvGrpSpPr>
        <p:cNvPr id="1077" name=""/>
        <p:cNvGrpSpPr/>
        <p:nvPr/>
      </p:nvGrpSpPr>
      <p:grpSpPr>
        <a:xfrm>
          <a:off x="0" y="0"/>
          <a:ext cx="0" cy="0"/>
          <a:chOff x="0" y="0"/>
          <a:chExt cx="0" cy="0"/>
        </a:xfrm>
      </p:grpSpPr>
      <p:sp>
        <p:nvSpPr>
          <p:cNvPr id="1049384" name="Rectangle 2"/>
          <p:cNvSpPr>
            <a:spLocks noGrp="1" noChangeArrowheads="1"/>
          </p:cNvSpPr>
          <p:nvPr>
            <p:ph type="body" idx="1"/>
          </p:nvPr>
        </p:nvSpPr>
        <p:spPr>
          <a:xfrm>
            <a:off x="1828800" y="228600"/>
            <a:ext cx="8610604" cy="6400800"/>
          </a:xfrm>
        </p:spPr>
        <p:txBody>
          <a:bodyPr>
            <a:normAutofit fontScale="90000" lnSpcReduction="20000"/>
          </a:bodyPr>
          <a:p>
            <a:pPr>
              <a:lnSpc>
                <a:spcPct val="80000"/>
              </a:lnSpc>
              <a:buNone/>
            </a:pPr>
            <a:r>
              <a:rPr b="1" sz="2000">
                <a:solidFill>
                  <a:srgbClr val="CC0000"/>
                </a:solidFill>
              </a:rPr>
              <a:t>2. PARAMOMYCIN</a:t>
            </a:r>
            <a:r>
              <a:rPr sz="2000"/>
              <a:t> Sulphate (an aminoglycoside)</a:t>
            </a:r>
            <a:endParaRPr sz="2000"/>
          </a:p>
          <a:p>
            <a:pPr>
              <a:lnSpc>
                <a:spcPct val="80000"/>
              </a:lnSpc>
              <a:buNone/>
            </a:pPr>
            <a:endParaRPr sz="2000"/>
          </a:p>
          <a:p>
            <a:pPr>
              <a:lnSpc>
                <a:spcPct val="80000"/>
              </a:lnSpc>
              <a:buNone/>
            </a:pPr>
            <a:r>
              <a:rPr sz="2000" u="sng"/>
              <a:t>Mxn</a:t>
            </a:r>
            <a:r>
              <a:rPr sz="2000"/>
              <a:t>: is directly amoebicidal: interferes w/ cell membrane to cause leakage</a:t>
            </a:r>
            <a:endParaRPr sz="2000"/>
          </a:p>
          <a:p>
            <a:pPr>
              <a:lnSpc>
                <a:spcPct val="80000"/>
              </a:lnSpc>
              <a:buNone/>
            </a:pPr>
            <a:r>
              <a:rPr sz="2000"/>
              <a:t>	-Also antibacterial – reduces food source for trophozoites</a:t>
            </a:r>
            <a:endParaRPr sz="2000"/>
          </a:p>
          <a:p>
            <a:pPr>
              <a:lnSpc>
                <a:spcPct val="80000"/>
              </a:lnSpc>
              <a:buNone/>
            </a:pPr>
            <a:r>
              <a:rPr sz="2000" u="sng"/>
              <a:t>Adm</a:t>
            </a:r>
            <a:r>
              <a:rPr sz="2000"/>
              <a:t>: oral</a:t>
            </a:r>
            <a:endParaRPr sz="2000"/>
          </a:p>
          <a:p>
            <a:pPr>
              <a:lnSpc>
                <a:spcPct val="80000"/>
              </a:lnSpc>
              <a:buNone/>
            </a:pPr>
            <a:r>
              <a:rPr sz="2000" u="sng"/>
              <a:t>Abs</a:t>
            </a:r>
            <a:r>
              <a:rPr sz="2000"/>
              <a:t>; insignificant (thus luminal amebicide)</a:t>
            </a:r>
            <a:endParaRPr sz="2000"/>
          </a:p>
          <a:p>
            <a:pPr>
              <a:lnSpc>
                <a:spcPct val="80000"/>
              </a:lnSpc>
              <a:buNone/>
            </a:pPr>
            <a:endParaRPr sz="2000" u="sng"/>
          </a:p>
          <a:p>
            <a:pPr>
              <a:lnSpc>
                <a:spcPct val="80000"/>
              </a:lnSpc>
              <a:buNone/>
            </a:pPr>
            <a:r>
              <a:rPr sz="2000" u="sng"/>
              <a:t>S/E</a:t>
            </a:r>
            <a:r>
              <a:rPr sz="2000"/>
              <a:t> </a:t>
            </a:r>
            <a:endParaRPr sz="2000"/>
          </a:p>
          <a:p>
            <a:pPr>
              <a:lnSpc>
                <a:spcPct val="80000"/>
              </a:lnSpc>
              <a:buNone/>
            </a:pPr>
            <a:r>
              <a:rPr sz="2000">
                <a:cs typeface="Arial"/>
              </a:rPr>
              <a:t>♦ </a:t>
            </a:r>
            <a:r>
              <a:rPr sz="2000"/>
              <a:t>GIT irritation, diarrhea</a:t>
            </a:r>
            <a:endParaRPr sz="2000"/>
          </a:p>
          <a:p>
            <a:pPr>
              <a:lnSpc>
                <a:spcPct val="80000"/>
              </a:lnSpc>
              <a:buNone/>
            </a:pPr>
            <a:endParaRPr sz="2000" u="sng"/>
          </a:p>
          <a:p>
            <a:pPr>
              <a:lnSpc>
                <a:spcPct val="80000"/>
              </a:lnSpc>
              <a:buNone/>
            </a:pPr>
            <a:r>
              <a:rPr sz="2000" u="sng"/>
              <a:t>Caution</a:t>
            </a:r>
            <a:endParaRPr sz="2000" u="sng"/>
          </a:p>
          <a:p>
            <a:pPr>
              <a:lnSpc>
                <a:spcPct val="80000"/>
              </a:lnSpc>
              <a:buNone/>
            </a:pPr>
            <a:r>
              <a:rPr sz="2000">
                <a:cs typeface="Arial"/>
              </a:rPr>
              <a:t>♦ </a:t>
            </a:r>
            <a:r>
              <a:rPr sz="2000"/>
              <a:t>Persons with GIT ulcers</a:t>
            </a:r>
            <a:endParaRPr sz="2000"/>
          </a:p>
          <a:p>
            <a:pPr>
              <a:lnSpc>
                <a:spcPct val="80000"/>
              </a:lnSpc>
              <a:buNone/>
            </a:pPr>
            <a:r>
              <a:rPr sz="2000">
                <a:cs typeface="Arial"/>
              </a:rPr>
              <a:t>♦ </a:t>
            </a:r>
            <a:r>
              <a:rPr sz="2000"/>
              <a:t>Persons with renal dysfxn (the little abs can accumulate)</a:t>
            </a:r>
            <a:endParaRPr sz="2000"/>
          </a:p>
          <a:p>
            <a:pPr>
              <a:lnSpc>
                <a:spcPct val="80000"/>
              </a:lnSpc>
              <a:buNone/>
            </a:pPr>
            <a:endParaRPr sz="2000" u="sng"/>
          </a:p>
          <a:p>
            <a:pPr>
              <a:lnSpc>
                <a:spcPct val="80000"/>
              </a:lnSpc>
              <a:buNone/>
            </a:pPr>
            <a:r>
              <a:rPr sz="2000" u="sng"/>
              <a:t>Uses</a:t>
            </a:r>
            <a:endParaRPr sz="2000" u="sng"/>
          </a:p>
          <a:p>
            <a:pPr>
              <a:lnSpc>
                <a:spcPct val="80000"/>
              </a:lnSpc>
              <a:buNone/>
            </a:pPr>
            <a:r>
              <a:rPr sz="2000">
                <a:cs typeface="Arial"/>
              </a:rPr>
              <a:t>1. </a:t>
            </a:r>
            <a:r>
              <a:rPr sz="2000"/>
              <a:t>Mild to moderate intestinal (Luminal) amoebiasis</a:t>
            </a:r>
            <a:endParaRPr sz="2000"/>
          </a:p>
          <a:p>
            <a:pPr>
              <a:lnSpc>
                <a:spcPct val="80000"/>
              </a:lnSpc>
              <a:buNone/>
            </a:pPr>
            <a:r>
              <a:rPr sz="2000"/>
              <a:t>2. Tapeworm infestation (not DOC)</a:t>
            </a:r>
            <a:endParaRPr sz="2000"/>
          </a:p>
          <a:p>
            <a:pPr>
              <a:lnSpc>
                <a:spcPct val="80000"/>
              </a:lnSpc>
              <a:buNone/>
            </a:pPr>
            <a:r>
              <a:rPr sz="2000"/>
              <a:t>3. Cryptosporidiosis (alternative)</a:t>
            </a:r>
            <a:endParaRPr sz="2000"/>
          </a:p>
          <a:p>
            <a:pPr>
              <a:lnSpc>
                <a:spcPct val="80000"/>
              </a:lnSpc>
              <a:buNone/>
            </a:pPr>
            <a:endParaRPr b="1" sz="2000"/>
          </a:p>
          <a:p>
            <a:pPr>
              <a:lnSpc>
                <a:spcPct val="80000"/>
              </a:lnSpc>
              <a:buNone/>
            </a:pPr>
            <a:r>
              <a:rPr b="1" sz="2000"/>
              <a:t>NB. Other antibacterials act only by decreasing lumen bacterial population- </a:t>
            </a:r>
            <a:r>
              <a:rPr sz="2000"/>
              <a:t>food source for trophozoites</a:t>
            </a:r>
            <a:endParaRPr sz="2000"/>
          </a:p>
        </p:txBody>
      </p:sp>
    </p:spTree>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p:spTree>
      <p:nvGrpSpPr>
        <p:cNvPr id="1078" name=""/>
        <p:cNvGrpSpPr/>
        <p:nvPr/>
      </p:nvGrpSpPr>
      <p:grpSpPr>
        <a:xfrm>
          <a:off x="0" y="0"/>
          <a:ext cx="0" cy="0"/>
          <a:chOff x="0" y="0"/>
          <a:chExt cx="0" cy="0"/>
        </a:xfrm>
      </p:grpSpPr>
      <p:sp>
        <p:nvSpPr>
          <p:cNvPr id="1049385" name="Rectangle 2"/>
          <p:cNvSpPr>
            <a:spLocks noGrp="1" noChangeArrowheads="1"/>
          </p:cNvSpPr>
          <p:nvPr>
            <p:ph type="body" idx="1"/>
          </p:nvPr>
        </p:nvSpPr>
        <p:spPr>
          <a:xfrm>
            <a:off x="1981204" y="228600"/>
            <a:ext cx="8229600" cy="6629400"/>
          </a:xfrm>
        </p:spPr>
        <p:txBody>
          <a:bodyPr>
            <a:normAutofit fontScale="90000" lnSpcReduction="20000"/>
          </a:bodyPr>
          <a:p>
            <a:pPr>
              <a:lnSpc>
                <a:spcPct val="80000"/>
              </a:lnSpc>
              <a:buNone/>
            </a:pPr>
            <a:r>
              <a:rPr b="1" sz="2000">
                <a:solidFill>
                  <a:srgbClr val="CC0000"/>
                </a:solidFill>
              </a:rPr>
              <a:t>3. IODOQUINOL </a:t>
            </a:r>
            <a:r>
              <a:rPr sz="2000"/>
              <a:t>and clioquinol (halogenated hydroxyquinolines)</a:t>
            </a:r>
            <a:endParaRPr sz="2000"/>
          </a:p>
          <a:p>
            <a:pPr>
              <a:lnSpc>
                <a:spcPct val="80000"/>
              </a:lnSpc>
              <a:buNone/>
            </a:pPr>
            <a:r>
              <a:rPr sz="2000"/>
              <a:t>Mxn: unknown, Directly amoebicidal (trophozoite, cyst) in lumen</a:t>
            </a:r>
            <a:endParaRPr sz="2000"/>
          </a:p>
          <a:p>
            <a:pPr>
              <a:lnSpc>
                <a:spcPct val="80000"/>
              </a:lnSpc>
              <a:buNone/>
            </a:pPr>
            <a:r>
              <a:rPr sz="2000" u="sng"/>
              <a:t>Adm</a:t>
            </a:r>
            <a:r>
              <a:rPr sz="2000"/>
              <a:t>: oral</a:t>
            </a:r>
            <a:endParaRPr sz="2000"/>
          </a:p>
          <a:p>
            <a:pPr>
              <a:lnSpc>
                <a:spcPct val="80000"/>
              </a:lnSpc>
              <a:buNone/>
            </a:pPr>
            <a:r>
              <a:rPr sz="2000" u="sng"/>
              <a:t>Abs</a:t>
            </a:r>
            <a:r>
              <a:rPr sz="2000"/>
              <a:t>: poor (10%)</a:t>
            </a:r>
            <a:endParaRPr sz="2000"/>
          </a:p>
          <a:p>
            <a:pPr>
              <a:lnSpc>
                <a:spcPct val="80000"/>
              </a:lnSpc>
              <a:buNone/>
            </a:pPr>
            <a:r>
              <a:rPr sz="2000" u="sng"/>
              <a:t>Elimination</a:t>
            </a:r>
            <a:r>
              <a:rPr sz="2000"/>
              <a:t>: metabolized  &amp; renal excretion</a:t>
            </a:r>
            <a:endParaRPr sz="2000"/>
          </a:p>
          <a:p>
            <a:pPr>
              <a:lnSpc>
                <a:spcPct val="80000"/>
              </a:lnSpc>
              <a:buNone/>
            </a:pPr>
            <a:r>
              <a:rPr sz="2000" u="sng"/>
              <a:t>S/E</a:t>
            </a:r>
            <a:endParaRPr sz="2000" u="sng"/>
          </a:p>
          <a:p>
            <a:pPr>
              <a:lnSpc>
                <a:spcPct val="80000"/>
              </a:lnSpc>
              <a:buNone/>
            </a:pPr>
            <a:r>
              <a:rPr sz="2000">
                <a:cs typeface="Arial"/>
              </a:rPr>
              <a:t>♦ </a:t>
            </a:r>
            <a:r>
              <a:rPr sz="2000"/>
              <a:t>GIT distress - (take w/ meals)</a:t>
            </a:r>
            <a:endParaRPr sz="2000"/>
          </a:p>
          <a:p>
            <a:pPr>
              <a:lnSpc>
                <a:spcPct val="80000"/>
              </a:lnSpc>
              <a:buNone/>
            </a:pPr>
            <a:r>
              <a:rPr sz="2000">
                <a:cs typeface="Arial"/>
              </a:rPr>
              <a:t>♦ </a:t>
            </a:r>
            <a:r>
              <a:rPr sz="2000"/>
              <a:t>Headache</a:t>
            </a:r>
            <a:endParaRPr sz="2000"/>
          </a:p>
          <a:p>
            <a:pPr>
              <a:lnSpc>
                <a:spcPct val="80000"/>
              </a:lnSpc>
              <a:buNone/>
            </a:pPr>
            <a:r>
              <a:rPr sz="2000">
                <a:cs typeface="Arial"/>
              </a:rPr>
              <a:t>♦ </a:t>
            </a:r>
            <a:r>
              <a:rPr sz="2000"/>
              <a:t>Allergic rxn (skin)</a:t>
            </a:r>
            <a:endParaRPr sz="2000"/>
          </a:p>
          <a:p>
            <a:pPr>
              <a:lnSpc>
                <a:spcPct val="80000"/>
              </a:lnSpc>
              <a:buNone/>
            </a:pPr>
            <a:r>
              <a:rPr sz="2000">
                <a:cs typeface="Arial"/>
              </a:rPr>
              <a:t>♦ </a:t>
            </a:r>
            <a:r>
              <a:rPr sz="2000"/>
              <a:t>Goitre</a:t>
            </a:r>
            <a:endParaRPr sz="2000"/>
          </a:p>
          <a:p>
            <a:pPr>
              <a:lnSpc>
                <a:spcPct val="80000"/>
              </a:lnSpc>
              <a:buNone/>
            </a:pPr>
            <a:r>
              <a:rPr sz="2000">
                <a:cs typeface="Arial"/>
              </a:rPr>
              <a:t>♦ </a:t>
            </a:r>
            <a:r>
              <a:rPr sz="2000"/>
              <a:t>Neurotoxic e.g. optic atrophy (limits its use)</a:t>
            </a:r>
            <a:endParaRPr sz="2000"/>
          </a:p>
          <a:p>
            <a:pPr>
              <a:lnSpc>
                <a:spcPct val="80000"/>
              </a:lnSpc>
              <a:buNone/>
            </a:pPr>
            <a:r>
              <a:rPr sz="2000" u="sng"/>
              <a:t>D/I</a:t>
            </a:r>
            <a:endParaRPr sz="2000" u="sng"/>
          </a:p>
          <a:p>
            <a:pPr>
              <a:lnSpc>
                <a:spcPct val="80000"/>
              </a:lnSpc>
              <a:buNone/>
            </a:pPr>
            <a:r>
              <a:rPr sz="2000">
                <a:cs typeface="Arial"/>
              </a:rPr>
              <a:t>♦ </a:t>
            </a:r>
            <a:r>
              <a:rPr sz="2000"/>
              <a:t>Increases protein binding of iodine, increased protein bound serum iodine, decreases iodine uptake by thyroid </a:t>
            </a:r>
            <a:endParaRPr sz="2000"/>
          </a:p>
          <a:p>
            <a:pPr>
              <a:lnSpc>
                <a:spcPct val="80000"/>
              </a:lnSpc>
              <a:buNone/>
            </a:pPr>
            <a:r>
              <a:rPr sz="2000" u="sng"/>
              <a:t>C/I</a:t>
            </a:r>
            <a:endParaRPr sz="2000" u="sng"/>
          </a:p>
          <a:p>
            <a:pPr>
              <a:lnSpc>
                <a:spcPct val="80000"/>
              </a:lnSpc>
              <a:buNone/>
            </a:pPr>
            <a:r>
              <a:rPr sz="2000">
                <a:cs typeface="Arial"/>
              </a:rPr>
              <a:t>♦ </a:t>
            </a:r>
            <a:r>
              <a:rPr sz="2000"/>
              <a:t>In persons intolerant to iodine</a:t>
            </a:r>
            <a:endParaRPr sz="2000"/>
          </a:p>
          <a:p>
            <a:pPr>
              <a:lnSpc>
                <a:spcPct val="80000"/>
              </a:lnSpc>
              <a:buNone/>
            </a:pPr>
            <a:r>
              <a:rPr sz="2000">
                <a:cs typeface="Arial"/>
              </a:rPr>
              <a:t>♦ </a:t>
            </a:r>
            <a:r>
              <a:rPr sz="2000"/>
              <a:t>Caution in renal impairment, optic neuropathy or thyroid disease, or hepatic disease (non amebic)</a:t>
            </a:r>
            <a:endParaRPr sz="2000"/>
          </a:p>
          <a:p>
            <a:pPr>
              <a:lnSpc>
                <a:spcPct val="80000"/>
              </a:lnSpc>
              <a:buNone/>
            </a:pPr>
            <a:r>
              <a:rPr sz="2000" u="sng"/>
              <a:t>Uses </a:t>
            </a:r>
            <a:r>
              <a:rPr sz="2000"/>
              <a:t>(2</a:t>
            </a:r>
            <a:r>
              <a:rPr baseline="30000" sz="2000"/>
              <a:t>nd</a:t>
            </a:r>
            <a:r>
              <a:rPr sz="2000"/>
              <a:t> line) :</a:t>
            </a:r>
            <a:endParaRPr sz="2000"/>
          </a:p>
          <a:p>
            <a:pPr>
              <a:lnSpc>
                <a:spcPct val="80000"/>
              </a:lnSpc>
              <a:buNone/>
            </a:pPr>
            <a:r>
              <a:rPr sz="2000"/>
              <a:t>1. Luminal amebicide (add metronidazole if systemic activity required)</a:t>
            </a:r>
            <a:endParaRPr sz="2000"/>
          </a:p>
          <a:p>
            <a:pPr>
              <a:lnSpc>
                <a:spcPct val="80000"/>
              </a:lnSpc>
              <a:buNone/>
            </a:pPr>
            <a:r>
              <a:rPr sz="2000"/>
              <a:t>2. Superficial fungal infections e.g., Tinea pedis</a:t>
            </a:r>
            <a:endParaRPr sz="2000"/>
          </a:p>
          <a:p>
            <a:pPr>
              <a:lnSpc>
                <a:spcPct val="80000"/>
              </a:lnSpc>
              <a:buNone/>
            </a:pPr>
            <a:r>
              <a:rPr sz="2000"/>
              <a:t>3. Trichomonal vaginitis (as inserts)</a:t>
            </a:r>
            <a:endParaRPr sz="2000"/>
          </a:p>
        </p:txBody>
      </p:sp>
    </p:spTree>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p:spTree>
      <p:nvGrpSpPr>
        <p:cNvPr id="1079" name=""/>
        <p:cNvGrpSpPr/>
        <p:nvPr/>
      </p:nvGrpSpPr>
      <p:grpSpPr>
        <a:xfrm>
          <a:off x="0" y="0"/>
          <a:ext cx="0" cy="0"/>
          <a:chOff x="0" y="0"/>
          <a:chExt cx="0" cy="0"/>
        </a:xfrm>
      </p:grpSpPr>
      <p:sp>
        <p:nvSpPr>
          <p:cNvPr id="1049386" name="Rectangle 2"/>
          <p:cNvSpPr>
            <a:spLocks noGrp="1" noChangeArrowheads="1"/>
          </p:cNvSpPr>
          <p:nvPr>
            <p:ph type="body" idx="1"/>
          </p:nvPr>
        </p:nvSpPr>
        <p:spPr>
          <a:xfrm>
            <a:off x="600075" y="304795"/>
            <a:ext cx="10534645" cy="6248395"/>
          </a:xfrm>
        </p:spPr>
        <p:txBody>
          <a:bodyPr>
            <a:normAutofit/>
          </a:bodyPr>
          <a:p>
            <a:pPr>
              <a:lnSpc>
                <a:spcPct val="80000"/>
              </a:lnSpc>
              <a:buNone/>
            </a:pPr>
            <a:r>
              <a:rPr b="1" sz="2000">
                <a:solidFill>
                  <a:srgbClr val="FF0000"/>
                </a:solidFill>
              </a:rPr>
              <a:t>4. Nitroimidazoles – Metronidazole, tinidazole, </a:t>
            </a:r>
            <a:r>
              <a:rPr sz="2000"/>
              <a:t>secnidazole</a:t>
            </a:r>
            <a:r>
              <a:rPr sz="2000"/>
              <a:t>, Ornidazole, nimorazole, </a:t>
            </a:r>
            <a:r>
              <a:rPr sz="2000"/>
              <a:t>etc</a:t>
            </a:r>
            <a:endParaRPr sz="2000"/>
          </a:p>
          <a:p>
            <a:pPr>
              <a:lnSpc>
                <a:spcPct val="80000"/>
              </a:lnSpc>
              <a:buNone/>
            </a:pPr>
            <a:endParaRPr sz="2000" u="sng"/>
          </a:p>
          <a:p>
            <a:pPr>
              <a:lnSpc>
                <a:spcPct val="80000"/>
              </a:lnSpc>
              <a:buNone/>
            </a:pPr>
            <a:r>
              <a:rPr sz="2000" u="sng"/>
              <a:t>Mxn</a:t>
            </a:r>
            <a:r>
              <a:rPr sz="2000"/>
              <a:t>: it’s reduced by the parasite/bacteria to metabolites that are toxic to DNA and proteins – cell death </a:t>
            </a:r>
            <a:r>
              <a:rPr sz="2000">
                <a:solidFill>
                  <a:srgbClr val="FF0000"/>
                </a:solidFill>
              </a:rPr>
              <a:t>(trophozoites only)</a:t>
            </a:r>
            <a:endParaRPr sz="2000">
              <a:solidFill>
                <a:srgbClr val="FF0000"/>
              </a:solidFill>
            </a:endParaRPr>
          </a:p>
          <a:p>
            <a:pPr>
              <a:lnSpc>
                <a:spcPct val="80000"/>
              </a:lnSpc>
              <a:buNone/>
            </a:pPr>
            <a:r>
              <a:rPr sz="2000" u="sng"/>
              <a:t>Adm</a:t>
            </a:r>
            <a:r>
              <a:rPr sz="2000"/>
              <a:t>: oral, parenteral- </a:t>
            </a:r>
            <a:r>
              <a:rPr sz="1400"/>
              <a:t>600-800 mg every 8 hours for 5 days in intestinal infection (for 5–10 days in extra-intestinal infection); child 1–3 years 200 mg every 8 hours; 3–7 years 200 mg every 6 hours; 7–10 years 400 mg every 8 hours</a:t>
            </a:r>
            <a:endParaRPr sz="2000"/>
          </a:p>
          <a:p>
            <a:pPr>
              <a:lnSpc>
                <a:spcPct val="80000"/>
              </a:lnSpc>
              <a:buNone/>
            </a:pPr>
            <a:r>
              <a:rPr sz="2000" u="sng"/>
              <a:t>Abs</a:t>
            </a:r>
            <a:r>
              <a:rPr sz="2000"/>
              <a:t>: complete &amp; rapid</a:t>
            </a:r>
            <a:endParaRPr sz="2000"/>
          </a:p>
          <a:p>
            <a:pPr>
              <a:lnSpc>
                <a:spcPct val="80000"/>
              </a:lnSpc>
              <a:buNone/>
            </a:pPr>
            <a:r>
              <a:rPr sz="2000" u="sng"/>
              <a:t>Distributn</a:t>
            </a:r>
            <a:r>
              <a:rPr sz="2000"/>
              <a:t>: widely into all tissues (including CNS, saliva, breast milk)</a:t>
            </a:r>
            <a:endParaRPr sz="2000"/>
          </a:p>
          <a:p>
            <a:pPr>
              <a:lnSpc>
                <a:spcPct val="80000"/>
              </a:lnSpc>
              <a:buNone/>
            </a:pPr>
            <a:r>
              <a:rPr sz="2000" u="sng"/>
              <a:t>Elimination</a:t>
            </a:r>
            <a:r>
              <a:rPr sz="2000"/>
              <a:t>: Metabolized (accumulates in liver failure) then renal excretion</a:t>
            </a:r>
            <a:endParaRPr sz="2000"/>
          </a:p>
          <a:p>
            <a:pPr>
              <a:lnSpc>
                <a:spcPct val="80000"/>
              </a:lnSpc>
              <a:buNone/>
            </a:pPr>
            <a:endParaRPr sz="2000" u="sng"/>
          </a:p>
          <a:p>
            <a:pPr>
              <a:lnSpc>
                <a:spcPct val="80000"/>
              </a:lnSpc>
              <a:buNone/>
            </a:pPr>
            <a:r>
              <a:rPr sz="2000" u="sng"/>
              <a:t>S/E</a:t>
            </a:r>
            <a:endParaRPr sz="2000" u="sng"/>
          </a:p>
          <a:p>
            <a:pPr>
              <a:lnSpc>
                <a:spcPct val="80000"/>
              </a:lnSpc>
              <a:buNone/>
            </a:pPr>
            <a:r>
              <a:rPr sz="2000">
                <a:cs typeface="Arial"/>
              </a:rPr>
              <a:t>♦ </a:t>
            </a:r>
            <a:r>
              <a:rPr sz="2000"/>
              <a:t>Metallic (unpleasant) taste in the mouth </a:t>
            </a:r>
            <a:endParaRPr sz="2000"/>
          </a:p>
          <a:p>
            <a:pPr>
              <a:lnSpc>
                <a:spcPct val="80000"/>
              </a:lnSpc>
              <a:buNone/>
            </a:pPr>
            <a:r>
              <a:rPr sz="2000">
                <a:cs typeface="Arial"/>
              </a:rPr>
              <a:t>♦</a:t>
            </a:r>
            <a:r>
              <a:rPr sz="2000"/>
              <a:t> </a:t>
            </a:r>
            <a:r>
              <a:rPr sz="2000"/>
              <a:t>Monoliasis</a:t>
            </a:r>
            <a:r>
              <a:rPr sz="2000"/>
              <a:t> (furry tongue), glossitis, stomatitis</a:t>
            </a:r>
            <a:endParaRPr sz="2000"/>
          </a:p>
          <a:p>
            <a:pPr>
              <a:lnSpc>
                <a:spcPct val="80000"/>
              </a:lnSpc>
              <a:buNone/>
            </a:pPr>
            <a:r>
              <a:rPr sz="2000">
                <a:cs typeface="Arial"/>
              </a:rPr>
              <a:t>♦</a:t>
            </a:r>
            <a:r>
              <a:rPr sz="2000"/>
              <a:t> Sig. GIT irritation –take w/ food</a:t>
            </a:r>
            <a:endParaRPr sz="2000"/>
          </a:p>
          <a:p>
            <a:pPr>
              <a:lnSpc>
                <a:spcPct val="80000"/>
              </a:lnSpc>
              <a:buNone/>
            </a:pPr>
            <a:r>
              <a:rPr sz="2000">
                <a:cs typeface="Arial"/>
              </a:rPr>
              <a:t>♦</a:t>
            </a:r>
            <a:r>
              <a:rPr sz="2000"/>
              <a:t> Disulfiram-like </a:t>
            </a:r>
            <a:r>
              <a:rPr sz="2000"/>
              <a:t>rxn</a:t>
            </a:r>
            <a:r>
              <a:rPr sz="2000"/>
              <a:t> w/ alcohol</a:t>
            </a:r>
            <a:endParaRPr sz="2000"/>
          </a:p>
          <a:p>
            <a:pPr>
              <a:lnSpc>
                <a:spcPct val="80000"/>
              </a:lnSpc>
              <a:buNone/>
            </a:pPr>
            <a:r>
              <a:rPr sz="2000">
                <a:cs typeface="Arial"/>
              </a:rPr>
              <a:t>♦</a:t>
            </a:r>
            <a:r>
              <a:rPr sz="2000"/>
              <a:t> Transient leukopenia</a:t>
            </a:r>
            <a:endParaRPr sz="2000"/>
          </a:p>
          <a:p>
            <a:pPr>
              <a:lnSpc>
                <a:spcPct val="80000"/>
              </a:lnSpc>
              <a:buNone/>
            </a:pPr>
            <a:r>
              <a:rPr sz="2000">
                <a:cs typeface="Arial"/>
              </a:rPr>
              <a:t>♦</a:t>
            </a:r>
            <a:r>
              <a:rPr sz="2000"/>
              <a:t> Neurotoxic - (</a:t>
            </a:r>
            <a:r>
              <a:rPr sz="2000"/>
              <a:t>esp</a:t>
            </a:r>
            <a:r>
              <a:rPr sz="2000"/>
              <a:t> w/ parenteral)</a:t>
            </a:r>
            <a:endParaRPr sz="2000"/>
          </a:p>
          <a:p>
            <a:pPr>
              <a:lnSpc>
                <a:spcPct val="80000"/>
              </a:lnSpc>
              <a:buNone/>
            </a:pPr>
            <a:r>
              <a:rPr sz="2000">
                <a:cs typeface="Arial"/>
              </a:rPr>
              <a:t>♦</a:t>
            </a:r>
            <a:r>
              <a:rPr sz="2000"/>
              <a:t> Dysuria, dark urine</a:t>
            </a:r>
            <a:endParaRPr sz="2000"/>
          </a:p>
          <a:p>
            <a:pPr>
              <a:lnSpc>
                <a:spcPct val="80000"/>
              </a:lnSpc>
              <a:buNone/>
            </a:pPr>
            <a:r>
              <a:rPr sz="2000">
                <a:cs typeface="Arial"/>
              </a:rPr>
              <a:t>♦</a:t>
            </a:r>
            <a:r>
              <a:rPr sz="2000"/>
              <a:t> Mutagenic (in bacteria) and tumorigenic in mice –</a:t>
            </a:r>
            <a:r>
              <a:rPr sz="2000" i="1"/>
              <a:t> best avoided in pregnancy </a:t>
            </a:r>
            <a:endParaRPr sz="2000" i="1"/>
          </a:p>
        </p:txBody>
      </p:sp>
    </p:spTree>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p:cSld>
    <p:spTree>
      <p:nvGrpSpPr>
        <p:cNvPr id="1080" name=""/>
        <p:cNvGrpSpPr/>
        <p:nvPr/>
      </p:nvGrpSpPr>
      <p:grpSpPr>
        <a:xfrm>
          <a:off x="0" y="0"/>
          <a:ext cx="0" cy="0"/>
          <a:chOff x="0" y="0"/>
          <a:chExt cx="0" cy="0"/>
        </a:xfrm>
      </p:grpSpPr>
      <p:sp>
        <p:nvSpPr>
          <p:cNvPr id="1049387" name="Rectangle 2"/>
          <p:cNvSpPr>
            <a:spLocks noGrp="1" noChangeArrowheads="1"/>
          </p:cNvSpPr>
          <p:nvPr>
            <p:ph type="body" idx="1"/>
          </p:nvPr>
        </p:nvSpPr>
        <p:spPr>
          <a:xfrm>
            <a:off x="533395" y="228600"/>
            <a:ext cx="11068054" cy="6629400"/>
          </a:xfrm>
        </p:spPr>
        <p:txBody>
          <a:bodyPr>
            <a:normAutofit fontScale="93750"/>
          </a:bodyPr>
          <a:p>
            <a:pPr>
              <a:lnSpc>
                <a:spcPct val="80000"/>
              </a:lnSpc>
              <a:spcBef>
                <a:spcPct val="0"/>
              </a:spcBef>
              <a:buNone/>
            </a:pPr>
            <a:r>
              <a:rPr b="1" sz="2400">
                <a:solidFill>
                  <a:srgbClr val="FF0000"/>
                </a:solidFill>
              </a:rPr>
              <a:t>4. Nitroimidazoles – Metronidazole, tinidazole</a:t>
            </a:r>
            <a:r>
              <a:rPr sz="2400" u="sng"/>
              <a:t> </a:t>
            </a:r>
            <a:endParaRPr sz="2400" u="sng"/>
          </a:p>
          <a:p>
            <a:pPr>
              <a:lnSpc>
                <a:spcPct val="80000"/>
              </a:lnSpc>
              <a:spcBef>
                <a:spcPct val="0"/>
              </a:spcBef>
              <a:buNone/>
            </a:pPr>
            <a:r>
              <a:rPr sz="2400" u="sng"/>
              <a:t>D/I</a:t>
            </a:r>
            <a:endParaRPr sz="2400" u="sng"/>
          </a:p>
          <a:p>
            <a:pPr>
              <a:lnSpc>
                <a:spcPct val="80000"/>
              </a:lnSpc>
              <a:buNone/>
            </a:pPr>
            <a:r>
              <a:rPr sz="2400">
                <a:cs typeface="Arial"/>
              </a:rPr>
              <a:t>	♦ </a:t>
            </a:r>
            <a:r>
              <a:rPr sz="2400"/>
              <a:t>Potentiates -  oral anticoagulants (warfarin)</a:t>
            </a:r>
            <a:endParaRPr sz="2400"/>
          </a:p>
          <a:p>
            <a:pPr>
              <a:lnSpc>
                <a:spcPct val="80000"/>
              </a:lnSpc>
              <a:buNone/>
            </a:pPr>
            <a:r>
              <a:rPr sz="2400">
                <a:cs typeface="Arial"/>
              </a:rPr>
              <a:t>	♦</a:t>
            </a:r>
            <a:r>
              <a:rPr sz="2400"/>
              <a:t> Potentiates toxicity of lithium</a:t>
            </a:r>
            <a:endParaRPr sz="2400"/>
          </a:p>
          <a:p>
            <a:pPr>
              <a:lnSpc>
                <a:spcPct val="80000"/>
              </a:lnSpc>
              <a:buNone/>
            </a:pPr>
            <a:r>
              <a:rPr sz="2400">
                <a:cs typeface="Arial"/>
              </a:rPr>
              <a:t>	♦</a:t>
            </a:r>
            <a:r>
              <a:rPr sz="2400"/>
              <a:t> Enzyme inducers e.g. Phenytoin and </a:t>
            </a:r>
            <a:r>
              <a:rPr sz="2400"/>
              <a:t>phenobarb</a:t>
            </a:r>
            <a:r>
              <a:rPr sz="2400"/>
              <a:t> increase metronidazole elimination</a:t>
            </a:r>
            <a:endParaRPr sz="2400"/>
          </a:p>
          <a:p>
            <a:pPr>
              <a:lnSpc>
                <a:spcPct val="80000"/>
              </a:lnSpc>
              <a:buNone/>
            </a:pPr>
            <a:r>
              <a:rPr sz="2400">
                <a:cs typeface="Arial"/>
              </a:rPr>
              <a:t>	♦</a:t>
            </a:r>
            <a:r>
              <a:rPr sz="2400"/>
              <a:t> Enzyme inhibitors e.g. Cimetidine decreases its elimination</a:t>
            </a:r>
            <a:endParaRPr sz="2400"/>
          </a:p>
          <a:p>
            <a:pPr>
              <a:lnSpc>
                <a:spcPct val="80000"/>
              </a:lnSpc>
              <a:buNone/>
            </a:pPr>
            <a:r>
              <a:rPr sz="2400" u="sng"/>
              <a:t>Uses (Metronidazole)</a:t>
            </a:r>
            <a:endParaRPr sz="2400" u="sng"/>
          </a:p>
          <a:p>
            <a:pPr>
              <a:lnSpc>
                <a:spcPct val="80000"/>
              </a:lnSpc>
              <a:buNone/>
            </a:pPr>
            <a:r>
              <a:rPr sz="2400"/>
              <a:t>	1. DOC for all extra-intestinal amoebiasis e.g. liver abscess and amoebic dysentery </a:t>
            </a:r>
            <a:endParaRPr sz="2400"/>
          </a:p>
          <a:p>
            <a:pPr>
              <a:lnSpc>
                <a:spcPct val="80000"/>
              </a:lnSpc>
              <a:buNone/>
            </a:pPr>
            <a:r>
              <a:rPr sz="1600"/>
              <a:t>Metronidazole kills the trophozoites of E. histolytica but has </a:t>
            </a:r>
            <a:r>
              <a:rPr sz="1600">
                <a:solidFill>
                  <a:srgbClr val="FF0000"/>
                </a:solidFill>
              </a:rPr>
              <a:t>no effect on the cysts and is less effective against organisms in the lumen of the gut.</a:t>
            </a:r>
            <a:r>
              <a:rPr sz="2400">
                <a:solidFill>
                  <a:srgbClr val="FF0000"/>
                </a:solidFill>
              </a:rPr>
              <a:t> </a:t>
            </a:r>
            <a:endParaRPr sz="2400">
              <a:solidFill>
                <a:srgbClr val="FF0000"/>
              </a:solidFill>
            </a:endParaRPr>
          </a:p>
          <a:p>
            <a:pPr>
              <a:lnSpc>
                <a:spcPct val="80000"/>
              </a:lnSpc>
              <a:buNone/>
            </a:pPr>
            <a:r>
              <a:rPr sz="2400"/>
              <a:t>NB used with a luminally active agent for eradication of infection</a:t>
            </a:r>
            <a:endParaRPr sz="2400"/>
          </a:p>
          <a:p>
            <a:pPr>
              <a:lnSpc>
                <a:spcPct val="80000"/>
              </a:lnSpc>
              <a:buNone/>
            </a:pPr>
            <a:r>
              <a:rPr sz="2400"/>
              <a:t>	2. Giardiasis</a:t>
            </a:r>
            <a:endParaRPr sz="2400" i="1"/>
          </a:p>
          <a:p>
            <a:pPr>
              <a:lnSpc>
                <a:spcPct val="80000"/>
              </a:lnSpc>
              <a:buNone/>
            </a:pPr>
            <a:r>
              <a:rPr sz="2400"/>
              <a:t>	3. Trichomoniasis </a:t>
            </a:r>
            <a:endParaRPr sz="2400"/>
          </a:p>
          <a:p>
            <a:pPr>
              <a:lnSpc>
                <a:spcPct val="80000"/>
              </a:lnSpc>
              <a:buNone/>
            </a:pPr>
            <a:r>
              <a:rPr sz="2400"/>
              <a:t>	4. Anaerobic bacteria ( C. difficile, B. fragilis, </a:t>
            </a:r>
            <a:r>
              <a:rPr sz="2400"/>
              <a:t>etc</a:t>
            </a:r>
            <a:r>
              <a:rPr sz="2400"/>
              <a:t>)</a:t>
            </a:r>
            <a:endParaRPr sz="2400"/>
          </a:p>
          <a:p>
            <a:pPr>
              <a:lnSpc>
                <a:spcPct val="80000"/>
              </a:lnSpc>
              <a:buNone/>
            </a:pPr>
            <a:r>
              <a:rPr sz="2400"/>
              <a:t>	5. </a:t>
            </a:r>
            <a:r>
              <a:rPr sz="2400"/>
              <a:t>Balantidiasis</a:t>
            </a:r>
            <a:r>
              <a:rPr sz="2400"/>
              <a:t> (Balantidium coli) (alternative)</a:t>
            </a:r>
            <a:endParaRPr sz="2400"/>
          </a:p>
          <a:p>
            <a:pPr>
              <a:lnSpc>
                <a:spcPct val="80000"/>
              </a:lnSpc>
              <a:buNone/>
            </a:pPr>
            <a:r>
              <a:rPr sz="2400"/>
              <a:t>	6. </a:t>
            </a:r>
            <a:r>
              <a:rPr sz="2400"/>
              <a:t>Drucunculiasis</a:t>
            </a:r>
            <a:endParaRPr sz="2400"/>
          </a:p>
          <a:p>
            <a:pPr>
              <a:lnSpc>
                <a:spcPct val="80000"/>
              </a:lnSpc>
              <a:buNone/>
            </a:pPr>
            <a:endParaRPr b="1" sz="2400">
              <a:solidFill>
                <a:srgbClr val="CC0000"/>
              </a:solidFill>
            </a:endParaRPr>
          </a:p>
        </p:txBody>
      </p:sp>
    </p:spTree>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p:spTree>
      <p:nvGrpSpPr>
        <p:cNvPr id="1081" name=""/>
        <p:cNvGrpSpPr/>
        <p:nvPr/>
      </p:nvGrpSpPr>
      <p:grpSpPr>
        <a:xfrm>
          <a:off x="0" y="0"/>
          <a:ext cx="0" cy="0"/>
          <a:chOff x="0" y="0"/>
          <a:chExt cx="0" cy="0"/>
        </a:xfrm>
      </p:grpSpPr>
      <p:sp>
        <p:nvSpPr>
          <p:cNvPr id="1049388" name="Title 1"/>
          <p:cNvSpPr>
            <a:spLocks noGrp="1"/>
          </p:cNvSpPr>
          <p:nvPr>
            <p:ph type="title"/>
          </p:nvPr>
        </p:nvSpPr>
        <p:spPr/>
        <p:txBody>
          <a:bodyPr>
            <a:normAutofit fontScale="90909"/>
          </a:bodyPr>
          <a:p>
            <a:r>
              <a:t>The drugs of choice for the various forms of amoebiasis are as follow</a:t>
            </a:r>
          </a:p>
        </p:txBody>
      </p:sp>
      <p:sp>
        <p:nvSpPr>
          <p:cNvPr id="1049389" name="Content Placeholder 2"/>
          <p:cNvSpPr>
            <a:spLocks noGrp="1"/>
          </p:cNvSpPr>
          <p:nvPr>
            <p:ph idx="1"/>
          </p:nvPr>
        </p:nvSpPr>
        <p:spPr>
          <a:xfrm>
            <a:off x="600075" y="1825618"/>
            <a:ext cx="10753729" cy="4667254"/>
          </a:xfrm>
        </p:spPr>
        <p:txBody>
          <a:bodyPr>
            <a:normAutofit fontScale="96429"/>
          </a:bodyPr>
          <a:p>
            <a:r>
              <a:rPr b="1"/>
              <a:t>Acute invasive intestinal amoebiasis with acute severe amoebic dysentery</a:t>
            </a:r>
            <a:r>
              <a:t>: metronidazole (or tinidazole) alone. Or metronidazole (or tinidazole) followed by diloxanide furoate for 10 days. </a:t>
            </a:r>
          </a:p>
          <a:p>
            <a:r>
              <a:rPr b="1"/>
              <a:t>Chronic intestinal amoebiasis</a:t>
            </a:r>
            <a:r>
              <a:t>: diloxanide furoate. </a:t>
            </a:r>
          </a:p>
          <a:p>
            <a:r>
              <a:rPr b="1"/>
              <a:t>Hepatic amoebiasis</a:t>
            </a:r>
            <a:r>
              <a:t>: metronidazole/</a:t>
            </a:r>
            <a:r>
              <a:t>tinadozole</a:t>
            </a:r>
            <a:r>
              <a:t> followed by a 10-day course of diloxanide furoate to destroy any amoebae in the gut. </a:t>
            </a:r>
          </a:p>
          <a:p>
            <a:r>
              <a:rPr b="1"/>
              <a:t>Amoebic abscesses of the liver</a:t>
            </a:r>
            <a:r>
              <a:t> metronidazole is effective; tinidazole is an alternative.. </a:t>
            </a:r>
          </a:p>
          <a:p>
            <a:r>
              <a:rPr b="1"/>
              <a:t>Carriers/ asymptomatic patients with E. histolytica cysts in the </a:t>
            </a:r>
            <a:r>
              <a:rPr b="1"/>
              <a:t>faeces</a:t>
            </a:r>
            <a:r>
              <a:t>: diloxanide furoate. </a:t>
            </a:r>
          </a:p>
        </p:txBody>
      </p:sp>
    </p:spTree>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p:spTree>
      <p:nvGrpSpPr>
        <p:cNvPr id="1082" name=""/>
        <p:cNvGrpSpPr/>
        <p:nvPr/>
      </p:nvGrpSpPr>
      <p:grpSpPr>
        <a:xfrm>
          <a:off x="0" y="0"/>
          <a:ext cx="0" cy="0"/>
          <a:chOff x="0" y="0"/>
          <a:chExt cx="0" cy="0"/>
        </a:xfrm>
      </p:grpSpPr>
      <p:sp>
        <p:nvSpPr>
          <p:cNvPr id="1049390" name="Rectangle 3"/>
          <p:cNvSpPr>
            <a:spLocks noGrp="1" noChangeArrowheads="1"/>
          </p:cNvSpPr>
          <p:nvPr>
            <p:ph type="body" idx="1"/>
          </p:nvPr>
        </p:nvSpPr>
        <p:spPr>
          <a:xfrm>
            <a:off x="1152529" y="304795"/>
            <a:ext cx="9515475" cy="6553204"/>
          </a:xfrm>
        </p:spPr>
        <p:txBody>
          <a:bodyPr>
            <a:normAutofit fontScale="95833"/>
          </a:bodyPr>
          <a:p>
            <a:pPr>
              <a:lnSpc>
                <a:spcPct val="80000"/>
              </a:lnSpc>
              <a:buNone/>
            </a:pPr>
            <a:r>
              <a:rPr b="1" sz="2400">
                <a:solidFill>
                  <a:srgbClr val="FF0000"/>
                </a:solidFill>
              </a:rPr>
              <a:t>5. CHLOROQUINE</a:t>
            </a:r>
            <a:r>
              <a:rPr b="1" sz="2400"/>
              <a:t> </a:t>
            </a:r>
            <a:endParaRPr sz="2400"/>
          </a:p>
          <a:p>
            <a:pPr>
              <a:lnSpc>
                <a:spcPct val="80000"/>
              </a:lnSpc>
              <a:buNone/>
            </a:pPr>
            <a:r>
              <a:rPr sz="2400" u="sng"/>
              <a:t>Uses</a:t>
            </a:r>
            <a:r>
              <a:rPr sz="2400"/>
              <a:t>: </a:t>
            </a:r>
            <a:endParaRPr sz="2400"/>
          </a:p>
          <a:p>
            <a:pPr>
              <a:lnSpc>
                <a:spcPct val="80000"/>
              </a:lnSpc>
              <a:buNone/>
            </a:pPr>
            <a:r>
              <a:rPr sz="2400"/>
              <a:t>1. </a:t>
            </a:r>
            <a:r>
              <a:rPr b="1" sz="2400"/>
              <a:t>Extra-intestinal amebiasis </a:t>
            </a:r>
            <a:r>
              <a:rPr sz="2400"/>
              <a:t>(along w/ metronidazole and diloxanide)</a:t>
            </a:r>
            <a:endParaRPr sz="2400"/>
          </a:p>
          <a:p>
            <a:pPr>
              <a:lnSpc>
                <a:spcPct val="80000"/>
              </a:lnSpc>
              <a:buNone/>
            </a:pPr>
            <a:r>
              <a:rPr sz="2400"/>
              <a:t>2. Sensitive malarial parasites</a:t>
            </a:r>
            <a:endParaRPr sz="2400"/>
          </a:p>
          <a:p>
            <a:pPr>
              <a:lnSpc>
                <a:spcPct val="80000"/>
              </a:lnSpc>
              <a:buNone/>
            </a:pPr>
            <a:endParaRPr b="1" sz="2400">
              <a:solidFill>
                <a:srgbClr val="FF0000"/>
              </a:solidFill>
            </a:endParaRPr>
          </a:p>
          <a:p>
            <a:pPr>
              <a:lnSpc>
                <a:spcPct val="80000"/>
              </a:lnSpc>
              <a:buNone/>
            </a:pPr>
            <a:r>
              <a:rPr b="1" sz="2400">
                <a:solidFill>
                  <a:srgbClr val="FF0000"/>
                </a:solidFill>
              </a:rPr>
              <a:t>NITAZOXANIDE</a:t>
            </a:r>
            <a:endParaRPr b="1" sz="2400">
              <a:solidFill>
                <a:srgbClr val="FF0000"/>
              </a:solidFill>
            </a:endParaRPr>
          </a:p>
          <a:p>
            <a:pPr>
              <a:lnSpc>
                <a:spcPct val="80000"/>
              </a:lnSpc>
              <a:buNone/>
            </a:pPr>
            <a:r>
              <a:rPr b="1" sz="2400"/>
              <a:t>Mxn</a:t>
            </a:r>
            <a:r>
              <a:rPr b="1" sz="2400"/>
              <a:t>:</a:t>
            </a:r>
            <a:r>
              <a:rPr sz="2400"/>
              <a:t> a prodrug converted to </a:t>
            </a:r>
            <a:r>
              <a:rPr sz="2400"/>
              <a:t>tizoxanide</a:t>
            </a:r>
            <a:r>
              <a:rPr sz="2400"/>
              <a:t> the active drug, inhibits an oxidoreductase enzyme involved in anaerobic metabolism</a:t>
            </a:r>
            <a:endParaRPr sz="2400"/>
          </a:p>
          <a:p>
            <a:pPr>
              <a:lnSpc>
                <a:spcPct val="80000"/>
              </a:lnSpc>
              <a:buNone/>
            </a:pPr>
            <a:endParaRPr b="1" sz="2400"/>
          </a:p>
          <a:p>
            <a:pPr>
              <a:lnSpc>
                <a:spcPct val="80000"/>
              </a:lnSpc>
              <a:buNone/>
            </a:pPr>
            <a:r>
              <a:rPr b="1" sz="2400"/>
              <a:t>Spectrum;</a:t>
            </a:r>
            <a:r>
              <a:rPr sz="2400"/>
              <a:t> G. Lamblia, Cryptosporidium parvum, E. Histolytica, </a:t>
            </a:r>
            <a:r>
              <a:rPr sz="2400"/>
              <a:t>H.pylori</a:t>
            </a:r>
            <a:r>
              <a:rPr sz="2400"/>
              <a:t>, </a:t>
            </a:r>
            <a:endParaRPr sz="2400"/>
          </a:p>
          <a:p>
            <a:pPr>
              <a:lnSpc>
                <a:spcPct val="80000"/>
              </a:lnSpc>
              <a:buNone/>
            </a:pPr>
            <a:endParaRPr sz="2400"/>
          </a:p>
          <a:p>
            <a:pPr>
              <a:lnSpc>
                <a:spcPct val="80000"/>
              </a:lnSpc>
              <a:buNone/>
            </a:pPr>
            <a:r>
              <a:rPr b="1" sz="2400"/>
              <a:t>P’kinetics</a:t>
            </a:r>
            <a:r>
              <a:rPr b="1" sz="2400"/>
              <a:t>:</a:t>
            </a:r>
            <a:r>
              <a:rPr sz="2400"/>
              <a:t> rapidly hydrolyzed to </a:t>
            </a:r>
            <a:r>
              <a:rPr sz="2400"/>
              <a:t>tizoxanide</a:t>
            </a:r>
            <a:endParaRPr sz="2400"/>
          </a:p>
          <a:p>
            <a:pPr>
              <a:lnSpc>
                <a:spcPct val="80000"/>
              </a:lnSpc>
              <a:buNone/>
            </a:pPr>
            <a:r>
              <a:rPr sz="2400"/>
              <a:t>Excreted - urine, bile and feces.</a:t>
            </a:r>
            <a:endParaRPr sz="2400"/>
          </a:p>
          <a:p>
            <a:pPr>
              <a:lnSpc>
                <a:spcPct val="80000"/>
              </a:lnSpc>
              <a:buNone/>
            </a:pPr>
            <a:endParaRPr sz="2400"/>
          </a:p>
          <a:p>
            <a:pPr>
              <a:lnSpc>
                <a:spcPct val="80000"/>
              </a:lnSpc>
              <a:buNone/>
            </a:pPr>
            <a:r>
              <a:rPr b="1" sz="2400"/>
              <a:t>A/E:</a:t>
            </a:r>
            <a:r>
              <a:rPr sz="2400"/>
              <a:t> GIT abdominal pain, vomiting, headache, nausea and diarrhea.</a:t>
            </a:r>
            <a:endParaRPr sz="2400"/>
          </a:p>
        </p:txBody>
      </p:sp>
    </p:spTree>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p:spTree>
      <p:nvGrpSpPr>
        <p:cNvPr id="1083" name=""/>
        <p:cNvGrpSpPr/>
        <p:nvPr/>
      </p:nvGrpSpPr>
      <p:grpSpPr>
        <a:xfrm>
          <a:off x="0" y="0"/>
          <a:ext cx="0" cy="0"/>
          <a:chOff x="0" y="0"/>
          <a:chExt cx="0" cy="0"/>
        </a:xfrm>
      </p:grpSpPr>
      <p:sp>
        <p:nvSpPr>
          <p:cNvPr id="1049391" name="Rectangle 2"/>
          <p:cNvSpPr>
            <a:spLocks noGrp="1" noChangeArrowheads="1"/>
          </p:cNvSpPr>
          <p:nvPr>
            <p:ph type="body" idx="1"/>
          </p:nvPr>
        </p:nvSpPr>
        <p:spPr>
          <a:xfrm>
            <a:off x="1752604" y="228600"/>
            <a:ext cx="8610604" cy="6629400"/>
          </a:xfrm>
        </p:spPr>
        <p:txBody>
          <a:bodyPr>
            <a:normAutofit lnSpcReduction="10000"/>
          </a:bodyPr>
          <a:p>
            <a:pPr>
              <a:lnSpc>
                <a:spcPct val="80000"/>
              </a:lnSpc>
              <a:buNone/>
            </a:pPr>
            <a:endParaRPr sz="2400"/>
          </a:p>
          <a:p>
            <a:pPr>
              <a:lnSpc>
                <a:spcPct val="80000"/>
              </a:lnSpc>
              <a:buNone/>
            </a:pPr>
            <a:r>
              <a:rPr b="1" sz="2400">
                <a:solidFill>
                  <a:srgbClr val="CC0000"/>
                </a:solidFill>
              </a:rPr>
              <a:t>6. EMETINE</a:t>
            </a:r>
            <a:r>
              <a:rPr sz="2400"/>
              <a:t> (natural alkaloid)  &amp; </a:t>
            </a:r>
            <a:r>
              <a:rPr b="1" sz="2400">
                <a:solidFill>
                  <a:srgbClr val="CC0000"/>
                </a:solidFill>
              </a:rPr>
              <a:t>DIHYDROEMETINE</a:t>
            </a:r>
            <a:r>
              <a:rPr sz="2400"/>
              <a:t> (synthetic analogue)</a:t>
            </a:r>
            <a:endParaRPr sz="2400"/>
          </a:p>
          <a:p>
            <a:pPr>
              <a:lnSpc>
                <a:spcPct val="80000"/>
              </a:lnSpc>
              <a:buNone/>
            </a:pPr>
            <a:r>
              <a:rPr sz="2400" u="sng"/>
              <a:t>Mxn</a:t>
            </a:r>
            <a:r>
              <a:rPr sz="2400"/>
              <a:t>: Inhibits protein synthesis</a:t>
            </a:r>
            <a:endParaRPr sz="2400"/>
          </a:p>
          <a:p>
            <a:pPr>
              <a:lnSpc>
                <a:spcPct val="80000"/>
              </a:lnSpc>
              <a:buNone/>
            </a:pPr>
            <a:r>
              <a:rPr sz="2400" u="sng"/>
              <a:t>Adm</a:t>
            </a:r>
            <a:r>
              <a:rPr sz="2400"/>
              <a:t>: under observation- parenteral (SC or IM </a:t>
            </a:r>
            <a:r>
              <a:rPr b="1" sz="2400"/>
              <a:t>NEVER</a:t>
            </a:r>
            <a:r>
              <a:rPr sz="2400"/>
              <a:t> </a:t>
            </a:r>
            <a:r>
              <a:rPr b="1" sz="2400" u="sng"/>
              <a:t>IV</a:t>
            </a:r>
            <a:r>
              <a:rPr sz="2400"/>
              <a:t>) ( erratic GIT abs)</a:t>
            </a:r>
            <a:endParaRPr sz="2400"/>
          </a:p>
          <a:p>
            <a:pPr>
              <a:lnSpc>
                <a:spcPct val="80000"/>
              </a:lnSpc>
              <a:buNone/>
            </a:pPr>
            <a:endParaRPr sz="2400"/>
          </a:p>
          <a:p>
            <a:pPr>
              <a:lnSpc>
                <a:spcPct val="80000"/>
              </a:lnSpc>
              <a:buNone/>
            </a:pPr>
            <a:r>
              <a:rPr sz="2400" u="sng"/>
              <a:t>Serious S/E</a:t>
            </a:r>
            <a:endParaRPr sz="2400" u="sng"/>
          </a:p>
          <a:p>
            <a:pPr>
              <a:lnSpc>
                <a:spcPct val="80000"/>
              </a:lnSpc>
              <a:buNone/>
            </a:pPr>
            <a:r>
              <a:rPr sz="2400"/>
              <a:t>	 </a:t>
            </a:r>
            <a:r>
              <a:rPr sz="2400">
                <a:cs typeface="Arial"/>
              </a:rPr>
              <a:t>●</a:t>
            </a:r>
            <a:r>
              <a:rPr sz="2400"/>
              <a:t> Cardiotoxic -CVS effects – arrhythmias, hypotension, CHF</a:t>
            </a:r>
            <a:endParaRPr sz="2400"/>
          </a:p>
          <a:p>
            <a:pPr>
              <a:lnSpc>
                <a:spcPct val="80000"/>
              </a:lnSpc>
              <a:buNone/>
            </a:pPr>
            <a:r>
              <a:rPr sz="2400" u="sng"/>
              <a:t>C/I</a:t>
            </a:r>
            <a:endParaRPr sz="2400" u="sng"/>
          </a:p>
          <a:p>
            <a:pPr>
              <a:lnSpc>
                <a:spcPct val="80000"/>
              </a:lnSpc>
              <a:buNone/>
            </a:pPr>
            <a:r>
              <a:rPr sz="2400">
                <a:cs typeface="Arial"/>
              </a:rPr>
              <a:t>	●</a:t>
            </a:r>
            <a:r>
              <a:rPr sz="2400"/>
              <a:t> Heart disease		</a:t>
            </a:r>
            <a:r>
              <a:rPr sz="2400">
                <a:cs typeface="Arial"/>
              </a:rPr>
              <a:t>●</a:t>
            </a:r>
            <a:r>
              <a:rPr sz="2400"/>
              <a:t> Renal failure</a:t>
            </a:r>
            <a:endParaRPr sz="2400"/>
          </a:p>
          <a:p>
            <a:pPr>
              <a:lnSpc>
                <a:spcPct val="80000"/>
              </a:lnSpc>
              <a:buNone/>
            </a:pPr>
            <a:r>
              <a:rPr sz="2400">
                <a:cs typeface="Arial"/>
              </a:rPr>
              <a:t>	●</a:t>
            </a:r>
            <a:r>
              <a:rPr sz="2400"/>
              <a:t>Children		 	</a:t>
            </a:r>
            <a:r>
              <a:rPr sz="2400">
                <a:cs typeface="Arial"/>
              </a:rPr>
              <a:t>●</a:t>
            </a:r>
            <a:r>
              <a:rPr sz="2400"/>
              <a:t> Pregnancy</a:t>
            </a:r>
            <a:endParaRPr sz="2400"/>
          </a:p>
          <a:p>
            <a:pPr>
              <a:lnSpc>
                <a:spcPct val="80000"/>
              </a:lnSpc>
              <a:buNone/>
            </a:pPr>
            <a:endParaRPr sz="2400" u="sng"/>
          </a:p>
          <a:p>
            <a:pPr>
              <a:lnSpc>
                <a:spcPct val="80000"/>
              </a:lnSpc>
              <a:buNone/>
            </a:pPr>
            <a:r>
              <a:rPr sz="2400" u="sng"/>
              <a:t>Uses</a:t>
            </a:r>
            <a:r>
              <a:rPr sz="2400"/>
              <a:t>: where no better alternatives  </a:t>
            </a:r>
            <a:endParaRPr sz="2400"/>
          </a:p>
          <a:p>
            <a:pPr>
              <a:lnSpc>
                <a:spcPct val="80000"/>
              </a:lnSpc>
              <a:buNone/>
            </a:pPr>
            <a:r>
              <a:rPr sz="2400">
                <a:cs typeface="Arial"/>
              </a:rPr>
              <a:t>1. </a:t>
            </a:r>
            <a:r>
              <a:rPr sz="2400"/>
              <a:t>Extra–intestinal amebiasis </a:t>
            </a:r>
            <a:endParaRPr sz="2400"/>
          </a:p>
          <a:p>
            <a:pPr>
              <a:lnSpc>
                <a:spcPct val="80000"/>
              </a:lnSpc>
              <a:buNone/>
            </a:pPr>
            <a:r>
              <a:rPr sz="2400"/>
              <a:t>2. Fasciola hepatica (alternative)</a:t>
            </a:r>
            <a:endParaRPr sz="2400"/>
          </a:p>
          <a:p>
            <a:pPr>
              <a:lnSpc>
                <a:spcPct val="80000"/>
              </a:lnSpc>
              <a:buNone/>
            </a:pPr>
            <a:r>
              <a:rPr sz="2400"/>
              <a:t>3. Paragonimus westermani</a:t>
            </a:r>
            <a:endParaRPr sz="2400"/>
          </a:p>
        </p:txBody>
      </p:sp>
    </p:spTree>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p:cSld>
    <p:spTree>
      <p:nvGrpSpPr>
        <p:cNvPr id="1084" name=""/>
        <p:cNvGrpSpPr/>
        <p:nvPr/>
      </p:nvGrpSpPr>
      <p:grpSpPr>
        <a:xfrm>
          <a:off x="0" y="0"/>
          <a:ext cx="0" cy="0"/>
          <a:chOff x="0" y="0"/>
          <a:chExt cx="0" cy="0"/>
        </a:xfrm>
      </p:grpSpPr>
      <p:sp>
        <p:nvSpPr>
          <p:cNvPr id="1049392" name="Rectangle 2"/>
          <p:cNvSpPr>
            <a:spLocks noGrp="1" noChangeArrowheads="1"/>
          </p:cNvSpPr>
          <p:nvPr>
            <p:ph type="body" sz="half" idx="1"/>
          </p:nvPr>
        </p:nvSpPr>
        <p:spPr>
          <a:xfrm>
            <a:off x="1981204" y="304795"/>
            <a:ext cx="4038604" cy="6400800"/>
          </a:xfrm>
        </p:spPr>
        <p:txBody>
          <a:bodyPr>
            <a:normAutofit/>
          </a:bodyPr>
          <a:p>
            <a:pPr>
              <a:lnSpc>
                <a:spcPct val="80000"/>
              </a:lnSpc>
              <a:buNone/>
            </a:pPr>
            <a:r>
              <a:rPr b="1" sz="2000" u="sng"/>
              <a:t>Giardiasis</a:t>
            </a:r>
            <a:r>
              <a:rPr b="1" sz="2000"/>
              <a:t> – </a:t>
            </a:r>
            <a:endParaRPr b="1" sz="2000"/>
          </a:p>
          <a:p>
            <a:pPr>
              <a:lnSpc>
                <a:spcPct val="80000"/>
              </a:lnSpc>
              <a:buNone/>
            </a:pPr>
            <a:r>
              <a:rPr sz="2000">
                <a:solidFill>
                  <a:srgbClr val="CC0000"/>
                </a:solidFill>
                <a:cs typeface="Arial"/>
              </a:rPr>
              <a:t>♦</a:t>
            </a:r>
            <a:r>
              <a:rPr sz="2000">
                <a:solidFill>
                  <a:srgbClr val="CC0000"/>
                </a:solidFill>
              </a:rPr>
              <a:t>Metronidazole / tinidazole  </a:t>
            </a:r>
            <a:endParaRPr sz="2000">
              <a:solidFill>
                <a:srgbClr val="CC0000"/>
              </a:solidFill>
            </a:endParaRPr>
          </a:p>
          <a:p>
            <a:pPr>
              <a:lnSpc>
                <a:spcPct val="80000"/>
              </a:lnSpc>
              <a:buNone/>
            </a:pPr>
            <a:r>
              <a:rPr sz="2000">
                <a:solidFill>
                  <a:srgbClr val="CC0000"/>
                </a:solidFill>
                <a:cs typeface="Arial"/>
              </a:rPr>
              <a:t>♦</a:t>
            </a:r>
            <a:r>
              <a:rPr sz="2000">
                <a:solidFill>
                  <a:srgbClr val="CC0000"/>
                </a:solidFill>
              </a:rPr>
              <a:t> Mepacrine/quinacrine</a:t>
            </a:r>
            <a:endParaRPr sz="2000">
              <a:solidFill>
                <a:srgbClr val="CC0000"/>
              </a:solidFill>
            </a:endParaRPr>
          </a:p>
          <a:p>
            <a:pPr>
              <a:lnSpc>
                <a:spcPct val="80000"/>
              </a:lnSpc>
              <a:buNone/>
            </a:pPr>
            <a:r>
              <a:rPr sz="2000">
                <a:solidFill>
                  <a:srgbClr val="CC0000"/>
                </a:solidFill>
                <a:cs typeface="Arial"/>
              </a:rPr>
              <a:t>♦</a:t>
            </a:r>
            <a:r>
              <a:rPr sz="2000">
                <a:solidFill>
                  <a:srgbClr val="CC0000"/>
                </a:solidFill>
              </a:rPr>
              <a:t> Paramomycin (pregnancy)</a:t>
            </a:r>
            <a:endParaRPr sz="2000">
              <a:solidFill>
                <a:srgbClr val="CC0000"/>
              </a:solidFill>
            </a:endParaRPr>
          </a:p>
          <a:p>
            <a:pPr>
              <a:lnSpc>
                <a:spcPct val="80000"/>
              </a:lnSpc>
              <a:buNone/>
            </a:pPr>
            <a:endParaRPr sz="2000">
              <a:solidFill>
                <a:srgbClr val="CC0000"/>
              </a:solidFill>
            </a:endParaRPr>
          </a:p>
          <a:p>
            <a:pPr>
              <a:lnSpc>
                <a:spcPct val="80000"/>
              </a:lnSpc>
              <a:buNone/>
            </a:pPr>
            <a:r>
              <a:rPr b="1" sz="2000" u="sng"/>
              <a:t>Trichomoniasis</a:t>
            </a:r>
            <a:r>
              <a:rPr b="1" sz="2000"/>
              <a:t>  - </a:t>
            </a:r>
            <a:endParaRPr sz="2000">
              <a:solidFill>
                <a:srgbClr val="CC0000"/>
              </a:solidFill>
            </a:endParaRPr>
          </a:p>
          <a:p>
            <a:pPr>
              <a:lnSpc>
                <a:spcPct val="80000"/>
              </a:lnSpc>
              <a:buNone/>
            </a:pPr>
            <a:r>
              <a:rPr sz="2000">
                <a:solidFill>
                  <a:srgbClr val="CC0000"/>
                </a:solidFill>
                <a:cs typeface="Arial"/>
              </a:rPr>
              <a:t>♦</a:t>
            </a:r>
            <a:r>
              <a:rPr sz="2000">
                <a:solidFill>
                  <a:srgbClr val="CC0000"/>
                </a:solidFill>
              </a:rPr>
              <a:t> Tinidazole (DOC)</a:t>
            </a:r>
            <a:endParaRPr sz="2000">
              <a:solidFill>
                <a:srgbClr val="CC0000"/>
              </a:solidFill>
            </a:endParaRPr>
          </a:p>
          <a:p>
            <a:pPr>
              <a:lnSpc>
                <a:spcPct val="80000"/>
              </a:lnSpc>
              <a:buNone/>
            </a:pPr>
            <a:r>
              <a:rPr sz="2000">
                <a:solidFill>
                  <a:srgbClr val="CC0000"/>
                </a:solidFill>
                <a:cs typeface="Arial"/>
              </a:rPr>
              <a:t>♦</a:t>
            </a:r>
            <a:r>
              <a:rPr sz="2000">
                <a:solidFill>
                  <a:srgbClr val="CC0000"/>
                </a:solidFill>
              </a:rPr>
              <a:t> Metronidazole</a:t>
            </a:r>
            <a:endParaRPr sz="2000">
              <a:solidFill>
                <a:srgbClr val="CC0000"/>
              </a:solidFill>
            </a:endParaRPr>
          </a:p>
          <a:p>
            <a:pPr>
              <a:lnSpc>
                <a:spcPct val="80000"/>
              </a:lnSpc>
              <a:buNone/>
            </a:pPr>
            <a:endParaRPr sz="2000">
              <a:solidFill>
                <a:srgbClr val="CC0000"/>
              </a:solidFill>
            </a:endParaRPr>
          </a:p>
          <a:p>
            <a:pPr>
              <a:lnSpc>
                <a:spcPct val="80000"/>
              </a:lnSpc>
              <a:buNone/>
            </a:pPr>
            <a:r>
              <a:rPr sz="2000"/>
              <a:t>Less common intestinal &amp; tissue protozoa</a:t>
            </a:r>
            <a:endParaRPr sz="2000"/>
          </a:p>
          <a:p>
            <a:pPr>
              <a:lnSpc>
                <a:spcPct val="80000"/>
              </a:lnSpc>
              <a:buNone/>
            </a:pPr>
            <a:r>
              <a:rPr b="1" sz="2000" u="sng"/>
              <a:t>Cryptosporidiosis</a:t>
            </a:r>
            <a:r>
              <a:rPr sz="2000"/>
              <a:t> </a:t>
            </a:r>
            <a:endParaRPr sz="2000"/>
          </a:p>
          <a:p>
            <a:pPr>
              <a:lnSpc>
                <a:spcPct val="80000"/>
              </a:lnSpc>
              <a:buNone/>
            </a:pPr>
            <a:r>
              <a:rPr sz="2000"/>
              <a:t>(usually self limiting in the immunocompetent)</a:t>
            </a:r>
            <a:endParaRPr sz="2000"/>
          </a:p>
          <a:p>
            <a:pPr>
              <a:lnSpc>
                <a:spcPct val="80000"/>
              </a:lnSpc>
              <a:buNone/>
            </a:pPr>
            <a:r>
              <a:rPr sz="2000">
                <a:solidFill>
                  <a:srgbClr val="CC0000"/>
                </a:solidFill>
                <a:cs typeface="Arial"/>
              </a:rPr>
              <a:t>♦</a:t>
            </a:r>
            <a:r>
              <a:rPr sz="2000">
                <a:solidFill>
                  <a:srgbClr val="CC0000"/>
                </a:solidFill>
              </a:rPr>
              <a:t> Spiramycin, Azithromycin</a:t>
            </a:r>
            <a:endParaRPr sz="2000">
              <a:solidFill>
                <a:srgbClr val="CC0000"/>
              </a:solidFill>
            </a:endParaRPr>
          </a:p>
          <a:p>
            <a:pPr>
              <a:lnSpc>
                <a:spcPct val="80000"/>
              </a:lnSpc>
              <a:buNone/>
            </a:pPr>
            <a:r>
              <a:rPr sz="2000">
                <a:solidFill>
                  <a:srgbClr val="CC0000"/>
                </a:solidFill>
                <a:cs typeface="Arial"/>
              </a:rPr>
              <a:t>♦</a:t>
            </a:r>
            <a:r>
              <a:rPr sz="2000">
                <a:solidFill>
                  <a:srgbClr val="CC0000"/>
                </a:solidFill>
              </a:rPr>
              <a:t> Paramomycin</a:t>
            </a:r>
            <a:endParaRPr sz="2000">
              <a:solidFill>
                <a:srgbClr val="CC0000"/>
              </a:solidFill>
            </a:endParaRPr>
          </a:p>
          <a:p>
            <a:pPr>
              <a:lnSpc>
                <a:spcPct val="80000"/>
              </a:lnSpc>
            </a:pPr>
            <a:endParaRPr sz="2000">
              <a:solidFill>
                <a:srgbClr val="CC0000"/>
              </a:solidFill>
            </a:endParaRPr>
          </a:p>
          <a:p>
            <a:pPr>
              <a:lnSpc>
                <a:spcPct val="80000"/>
              </a:lnSpc>
              <a:buNone/>
            </a:pPr>
            <a:r>
              <a:rPr b="1" sz="2000" u="sng"/>
              <a:t>Balantidium coli</a:t>
            </a:r>
            <a:endParaRPr b="1" sz="2000" u="sng"/>
          </a:p>
          <a:p>
            <a:pPr>
              <a:lnSpc>
                <a:spcPct val="80000"/>
              </a:lnSpc>
              <a:buNone/>
            </a:pPr>
            <a:r>
              <a:rPr sz="2000">
                <a:solidFill>
                  <a:srgbClr val="CC0000"/>
                </a:solidFill>
                <a:cs typeface="Arial"/>
              </a:rPr>
              <a:t>♦</a:t>
            </a:r>
            <a:r>
              <a:rPr sz="2000">
                <a:solidFill>
                  <a:srgbClr val="CC0000"/>
                </a:solidFill>
              </a:rPr>
              <a:t> Tetracycline</a:t>
            </a:r>
            <a:endParaRPr sz="2000">
              <a:solidFill>
                <a:srgbClr val="CC0000"/>
              </a:solidFill>
            </a:endParaRPr>
          </a:p>
          <a:p>
            <a:pPr>
              <a:lnSpc>
                <a:spcPct val="80000"/>
              </a:lnSpc>
              <a:buNone/>
            </a:pPr>
            <a:r>
              <a:rPr sz="2000">
                <a:solidFill>
                  <a:srgbClr val="CC0000"/>
                </a:solidFill>
                <a:cs typeface="Arial"/>
              </a:rPr>
              <a:t>♦</a:t>
            </a:r>
            <a:r>
              <a:rPr sz="2000">
                <a:solidFill>
                  <a:srgbClr val="CC0000"/>
                </a:solidFill>
              </a:rPr>
              <a:t> Metronidazole</a:t>
            </a:r>
            <a:endParaRPr sz="2000">
              <a:solidFill>
                <a:srgbClr val="CC0000"/>
              </a:solidFill>
            </a:endParaRPr>
          </a:p>
          <a:p>
            <a:pPr>
              <a:lnSpc>
                <a:spcPct val="80000"/>
              </a:lnSpc>
              <a:buNone/>
            </a:pPr>
            <a:r>
              <a:rPr sz="2000">
                <a:solidFill>
                  <a:srgbClr val="CC0000"/>
                </a:solidFill>
                <a:cs typeface="Arial"/>
              </a:rPr>
              <a:t>♦</a:t>
            </a:r>
            <a:r>
              <a:rPr sz="2000">
                <a:solidFill>
                  <a:srgbClr val="CC0000"/>
                </a:solidFill>
              </a:rPr>
              <a:t> Iodoquinol</a:t>
            </a:r>
            <a:endParaRPr sz="2000">
              <a:solidFill>
                <a:srgbClr val="CC0000"/>
              </a:solidFill>
            </a:endParaRPr>
          </a:p>
        </p:txBody>
      </p:sp>
      <p:sp>
        <p:nvSpPr>
          <p:cNvPr id="1049393" name="Rectangle 4"/>
          <p:cNvSpPr>
            <a:spLocks noGrp="1" noChangeArrowheads="1"/>
          </p:cNvSpPr>
          <p:nvPr>
            <p:ph type="body" sz="half" idx="2"/>
          </p:nvPr>
        </p:nvSpPr>
        <p:spPr>
          <a:xfrm>
            <a:off x="6019795" y="288931"/>
            <a:ext cx="4343400" cy="6264273"/>
          </a:xfrm>
        </p:spPr>
        <p:txBody>
          <a:bodyPr>
            <a:normAutofit fontScale="95000"/>
          </a:bodyPr>
          <a:p>
            <a:pPr>
              <a:buNone/>
            </a:pPr>
            <a:r>
              <a:rPr b="1" sz="2000" u="sng"/>
              <a:t>Balantidium coli</a:t>
            </a:r>
            <a:endParaRPr b="1" sz="2000" u="sng"/>
          </a:p>
          <a:p>
            <a:pPr>
              <a:buNone/>
            </a:pPr>
            <a:r>
              <a:rPr sz="2000">
                <a:solidFill>
                  <a:srgbClr val="CC0000"/>
                </a:solidFill>
                <a:cs typeface="Arial"/>
              </a:rPr>
              <a:t>♦</a:t>
            </a:r>
            <a:r>
              <a:rPr sz="2000">
                <a:solidFill>
                  <a:srgbClr val="CC0000"/>
                </a:solidFill>
              </a:rPr>
              <a:t> Tetracycline</a:t>
            </a:r>
            <a:endParaRPr sz="2000">
              <a:solidFill>
                <a:srgbClr val="CC0000"/>
              </a:solidFill>
            </a:endParaRPr>
          </a:p>
          <a:p>
            <a:pPr>
              <a:buNone/>
            </a:pPr>
            <a:r>
              <a:rPr sz="2000">
                <a:solidFill>
                  <a:srgbClr val="CC0000"/>
                </a:solidFill>
                <a:cs typeface="Arial"/>
              </a:rPr>
              <a:t>♦</a:t>
            </a:r>
            <a:r>
              <a:rPr sz="2000">
                <a:solidFill>
                  <a:srgbClr val="CC0000"/>
                </a:solidFill>
              </a:rPr>
              <a:t> Metronidazole</a:t>
            </a:r>
            <a:endParaRPr sz="2000">
              <a:solidFill>
                <a:srgbClr val="CC0000"/>
              </a:solidFill>
            </a:endParaRPr>
          </a:p>
          <a:p>
            <a:pPr>
              <a:buNone/>
            </a:pPr>
            <a:r>
              <a:rPr sz="2000">
                <a:solidFill>
                  <a:srgbClr val="CC0000"/>
                </a:solidFill>
                <a:cs typeface="Arial"/>
              </a:rPr>
              <a:t>♦</a:t>
            </a:r>
            <a:r>
              <a:rPr sz="2000">
                <a:solidFill>
                  <a:srgbClr val="CC0000"/>
                </a:solidFill>
              </a:rPr>
              <a:t> Iodoquinol</a:t>
            </a:r>
            <a:endParaRPr sz="2000">
              <a:solidFill>
                <a:srgbClr val="CC0000"/>
              </a:solidFill>
            </a:endParaRPr>
          </a:p>
          <a:p>
            <a:pPr>
              <a:buNone/>
            </a:pPr>
            <a:endParaRPr sz="2000">
              <a:solidFill>
                <a:srgbClr val="CC0000"/>
              </a:solidFill>
            </a:endParaRPr>
          </a:p>
          <a:p>
            <a:pPr>
              <a:buNone/>
            </a:pPr>
            <a:r>
              <a:rPr b="1" sz="2000" u="sng"/>
              <a:t>Isospora belli</a:t>
            </a:r>
            <a:endParaRPr b="1" sz="2000" u="sng"/>
          </a:p>
          <a:p>
            <a:pPr>
              <a:buNone/>
            </a:pPr>
            <a:r>
              <a:rPr sz="2000">
                <a:solidFill>
                  <a:srgbClr val="CC0000"/>
                </a:solidFill>
                <a:cs typeface="Arial"/>
              </a:rPr>
              <a:t>♦</a:t>
            </a:r>
            <a:r>
              <a:rPr sz="2000">
                <a:solidFill>
                  <a:srgbClr val="CC0000"/>
                </a:solidFill>
              </a:rPr>
              <a:t> Co-trimoxazole</a:t>
            </a:r>
            <a:endParaRPr sz="2000">
              <a:solidFill>
                <a:srgbClr val="CC0000"/>
              </a:solidFill>
            </a:endParaRPr>
          </a:p>
          <a:p>
            <a:pPr>
              <a:buNone/>
            </a:pPr>
            <a:r>
              <a:rPr sz="2000">
                <a:solidFill>
                  <a:srgbClr val="CC0000"/>
                </a:solidFill>
                <a:cs typeface="Arial"/>
              </a:rPr>
              <a:t>♦</a:t>
            </a:r>
            <a:r>
              <a:rPr sz="2000">
                <a:solidFill>
                  <a:srgbClr val="CC0000"/>
                </a:solidFill>
              </a:rPr>
              <a:t> Pyrimethamine</a:t>
            </a:r>
            <a:r>
              <a:rPr sz="2000"/>
              <a:t> (supplement folic acid)</a:t>
            </a:r>
            <a:endParaRPr sz="2000"/>
          </a:p>
          <a:p>
            <a:pPr>
              <a:buNone/>
            </a:pPr>
            <a:endParaRPr b="1" sz="2000" u="sng"/>
          </a:p>
          <a:p>
            <a:pPr>
              <a:buNone/>
            </a:pPr>
            <a:r>
              <a:rPr b="1" sz="2000" u="sng"/>
              <a:t>Toxoplasmosis</a:t>
            </a:r>
            <a:endParaRPr b="1" sz="2000" u="sng"/>
          </a:p>
          <a:p>
            <a:pPr>
              <a:buNone/>
            </a:pPr>
            <a:r>
              <a:rPr sz="2000"/>
              <a:t>Cotrimoxazole</a:t>
            </a:r>
            <a:endParaRPr sz="2000"/>
          </a:p>
          <a:p>
            <a:pPr>
              <a:buNone/>
            </a:pPr>
            <a:r>
              <a:rPr sz="2000"/>
              <a:t>Sulphadiazine+pyrimethamine</a:t>
            </a:r>
            <a:endParaRPr sz="2000"/>
          </a:p>
          <a:p>
            <a:pPr>
              <a:buNone/>
            </a:pPr>
            <a:endParaRPr sz="2000"/>
          </a:p>
          <a:p>
            <a:pPr>
              <a:buNone/>
            </a:pPr>
            <a:r>
              <a:rPr b="1" sz="2000" u="sng"/>
              <a:t>Babesiosis</a:t>
            </a:r>
            <a:endParaRPr b="1" sz="2000" u="sng"/>
          </a:p>
          <a:p>
            <a:pPr>
              <a:buNone/>
            </a:pPr>
            <a:r>
              <a:rPr sz="2000"/>
              <a:t>Quinine + clindamycin</a:t>
            </a:r>
            <a:endParaRPr sz="2000"/>
          </a:p>
        </p:txBody>
      </p:sp>
    </p:spTree>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p:cSld>
    <p:spTree>
      <p:nvGrpSpPr>
        <p:cNvPr id="1085" name=""/>
        <p:cNvGrpSpPr/>
        <p:nvPr/>
      </p:nvGrpSpPr>
      <p:grpSpPr>
        <a:xfrm>
          <a:off x="0" y="0"/>
          <a:ext cx="0" cy="0"/>
          <a:chOff x="0" y="0"/>
          <a:chExt cx="0" cy="0"/>
        </a:xfrm>
      </p:grpSpPr>
      <p:sp>
        <p:nvSpPr>
          <p:cNvPr id="1049394" name="Title 1"/>
          <p:cNvSpPr>
            <a:spLocks noGrp="1"/>
          </p:cNvSpPr>
          <p:nvPr>
            <p:ph type="title"/>
          </p:nvPr>
        </p:nvSpPr>
        <p:spPr/>
        <p:txBody>
          <a:bodyPr/>
          <a:p>
            <a:r>
              <a:t>Treatment of specific diseases</a:t>
            </a:r>
          </a:p>
        </p:txBody>
      </p:sp>
      <p:sp>
        <p:nvSpPr>
          <p:cNvPr id="1049395" name="Content Placeholder 2"/>
          <p:cNvSpPr>
            <a:spLocks noGrp="1"/>
          </p:cNvSpPr>
          <p:nvPr>
            <p:ph idx="1"/>
          </p:nvPr>
        </p:nvSpPr>
        <p:spPr/>
        <p:txBody>
          <a:bodyPr/>
          <a:p/>
        </p:txBody>
      </p:sp>
    </p:spTree>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p:spTree>
      <p:nvGrpSpPr>
        <p:cNvPr id="1086" name=""/>
        <p:cNvGrpSpPr/>
        <p:nvPr/>
      </p:nvGrpSpPr>
      <p:grpSpPr>
        <a:xfrm>
          <a:off x="0" y="0"/>
          <a:ext cx="0" cy="0"/>
          <a:chOff x="0" y="0"/>
          <a:chExt cx="0" cy="0"/>
        </a:xfrm>
      </p:grpSpPr>
      <p:sp>
        <p:nvSpPr>
          <p:cNvPr id="1049396" name="Rectangle 2"/>
          <p:cNvSpPr>
            <a:spLocks noGrp="1" noChangeArrowheads="1"/>
          </p:cNvSpPr>
          <p:nvPr>
            <p:ph type="body" idx="1"/>
          </p:nvPr>
        </p:nvSpPr>
        <p:spPr>
          <a:xfrm>
            <a:off x="761995" y="381004"/>
            <a:ext cx="9448795" cy="6172200"/>
          </a:xfrm>
        </p:spPr>
        <p:txBody>
          <a:bodyPr>
            <a:normAutofit fontScale="89286" lnSpcReduction="10000"/>
          </a:bodyPr>
          <a:p>
            <a:pPr indent="-457200" marL="457200">
              <a:lnSpc>
                <a:spcPct val="80000"/>
              </a:lnSpc>
              <a:buNone/>
            </a:pPr>
            <a:r>
              <a:rPr b="1">
                <a:solidFill>
                  <a:srgbClr val="CC0000"/>
                </a:solidFill>
                <a:latin typeface="Comic Sans MS"/>
              </a:rPr>
              <a:t>TRYPANOSOMIASIS</a:t>
            </a:r>
            <a:endParaRPr b="1">
              <a:solidFill>
                <a:srgbClr val="CC0000"/>
              </a:solidFill>
              <a:latin typeface="Comic Sans MS"/>
            </a:endParaRPr>
          </a:p>
          <a:p>
            <a:pPr indent="-457200" marL="457200">
              <a:lnSpc>
                <a:spcPct val="80000"/>
              </a:lnSpc>
              <a:buNone/>
            </a:pPr>
            <a:endParaRPr>
              <a:cs typeface="Arial"/>
            </a:endParaRPr>
          </a:p>
          <a:p>
            <a:pPr indent="-457200" marL="457200">
              <a:lnSpc>
                <a:spcPct val="80000"/>
              </a:lnSpc>
              <a:buNone/>
            </a:pPr>
            <a:r>
              <a:rPr>
                <a:cs typeface="Arial"/>
              </a:rPr>
              <a:t>♦ Objective of Rx is to clear blood, tissue and CSF of parasite	 </a:t>
            </a:r>
            <a:endParaRPr>
              <a:cs typeface="Arial"/>
            </a:endParaRPr>
          </a:p>
          <a:p>
            <a:pPr indent="-457200" marL="457200">
              <a:lnSpc>
                <a:spcPct val="80000"/>
              </a:lnSpc>
              <a:buNone/>
            </a:pPr>
            <a:r>
              <a:rPr>
                <a:cs typeface="Arial"/>
              </a:rPr>
              <a:t>♦ </a:t>
            </a:r>
            <a:r>
              <a:t>Available drugs are not that efficient and have serious S/E</a:t>
            </a:r>
          </a:p>
          <a:p>
            <a:pPr indent="-457200" marL="457200">
              <a:lnSpc>
                <a:spcPct val="80000"/>
              </a:lnSpc>
              <a:buNone/>
            </a:pPr>
            <a:endParaRPr b="1">
              <a:solidFill>
                <a:srgbClr val="CC0000"/>
              </a:solidFill>
            </a:endParaRPr>
          </a:p>
          <a:p>
            <a:pPr indent="-457200" marL="457200">
              <a:lnSpc>
                <a:spcPct val="80000"/>
              </a:lnSpc>
              <a:buNone/>
            </a:pPr>
            <a:endParaRPr b="1">
              <a:solidFill>
                <a:srgbClr val="CC0000"/>
              </a:solidFill>
            </a:endParaRPr>
          </a:p>
          <a:p>
            <a:pPr indent="-457200" marL="457200">
              <a:lnSpc>
                <a:spcPct val="80000"/>
              </a:lnSpc>
              <a:buAutoNum type="arabicPeriod"/>
            </a:pPr>
            <a:r>
              <a:rPr b="1">
                <a:solidFill>
                  <a:srgbClr val="CC0000"/>
                </a:solidFill>
              </a:rPr>
              <a:t>SURAMIN </a:t>
            </a:r>
            <a:endParaRPr b="1">
              <a:solidFill>
                <a:srgbClr val="CC0000"/>
              </a:solidFill>
            </a:endParaRPr>
          </a:p>
          <a:p>
            <a:pPr indent="-457200" marL="457200">
              <a:lnSpc>
                <a:spcPct val="80000"/>
              </a:lnSpc>
              <a:buNone/>
            </a:pPr>
            <a:r>
              <a:rPr u="sng"/>
              <a:t>Mxn</a:t>
            </a:r>
            <a:r>
              <a:t>: not established –. </a:t>
            </a:r>
            <a:r>
              <a:t>The drug </a:t>
            </a:r>
            <a:r>
              <a:rPr b="1"/>
              <a:t>inhibits parasite’s enzymes, inducing gradual destruction of organelles</a:t>
            </a:r>
            <a:r>
              <a:t>, such that the organisms are cleared from the circulation after a short interval.</a:t>
            </a:r>
          </a:p>
          <a:p>
            <a:pPr indent="-457200" marL="457200">
              <a:lnSpc>
                <a:spcPct val="80000"/>
              </a:lnSpc>
              <a:buNone/>
            </a:pPr>
            <a:r>
              <a:rPr u="sng"/>
              <a:t>Adm</a:t>
            </a:r>
            <a:r>
              <a:t>: </a:t>
            </a:r>
            <a:r>
              <a:t>slow intravenous injection, </a:t>
            </a:r>
          </a:p>
          <a:p>
            <a:pPr indent="-457200" marL="457200">
              <a:lnSpc>
                <a:spcPct val="80000"/>
              </a:lnSpc>
              <a:buNone/>
            </a:pPr>
            <a:r>
              <a:rPr b="1"/>
              <a:t>Adult Dose; 1g on days 1, 3, 7, 14 and 21</a:t>
            </a:r>
            <a:endParaRPr b="1"/>
          </a:p>
          <a:p>
            <a:pPr indent="-457200" marL="457200">
              <a:lnSpc>
                <a:spcPct val="80000"/>
              </a:lnSpc>
              <a:buNone/>
            </a:pPr>
            <a:r>
              <a:rPr u="sng"/>
              <a:t>Distribution</a:t>
            </a:r>
            <a:r>
              <a:t> – does NOT enter CNS, </a:t>
            </a:r>
            <a:r>
              <a:t>tends to accumulate in the mononuclear phagocyte system of the host and is also found in the cells of the proximal tubule in the kidney.</a:t>
            </a:r>
          </a:p>
          <a:p>
            <a:pPr indent="-457200" marL="457200">
              <a:lnSpc>
                <a:spcPct val="80000"/>
              </a:lnSpc>
              <a:buNone/>
            </a:pPr>
            <a:r>
              <a:rPr u="sng"/>
              <a:t>Elimination</a:t>
            </a:r>
            <a:r>
              <a:t>: t</a:t>
            </a:r>
            <a:r>
              <a:rPr baseline="-25000"/>
              <a:t>1/2</a:t>
            </a:r>
            <a:r>
              <a:t> - 50 days, Slow renal excretion</a:t>
            </a:r>
          </a:p>
        </p:txBody>
      </p:sp>
    </p:spTree>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p:spTree>
      <p:nvGrpSpPr>
        <p:cNvPr id="1087" name=""/>
        <p:cNvGrpSpPr/>
        <p:nvPr/>
      </p:nvGrpSpPr>
      <p:grpSpPr>
        <a:xfrm>
          <a:off x="0" y="0"/>
          <a:ext cx="0" cy="0"/>
          <a:chOff x="0" y="0"/>
          <a:chExt cx="0" cy="0"/>
        </a:xfrm>
      </p:grpSpPr>
      <p:sp>
        <p:nvSpPr>
          <p:cNvPr id="1049397" name="Rectangle 2"/>
          <p:cNvSpPr>
            <a:spLocks noGrp="1" noChangeArrowheads="1"/>
          </p:cNvSpPr>
          <p:nvPr>
            <p:ph type="body" idx="1"/>
          </p:nvPr>
        </p:nvSpPr>
        <p:spPr>
          <a:xfrm>
            <a:off x="1133470" y="228600"/>
            <a:ext cx="9305920" cy="6400800"/>
          </a:xfrm>
        </p:spPr>
        <p:txBody>
          <a:bodyPr>
            <a:normAutofit fontScale="91667" lnSpcReduction="10000"/>
          </a:bodyPr>
          <a:p>
            <a:pPr>
              <a:buNone/>
            </a:pPr>
            <a:r>
              <a:rPr b="1" sz="2400">
                <a:solidFill>
                  <a:srgbClr val="CC0000"/>
                </a:solidFill>
              </a:rPr>
              <a:t>1. SURAMIN </a:t>
            </a:r>
            <a:endParaRPr b="1" sz="2400">
              <a:solidFill>
                <a:srgbClr val="CC0000"/>
              </a:solidFill>
            </a:endParaRPr>
          </a:p>
          <a:p>
            <a:pPr>
              <a:buNone/>
            </a:pPr>
            <a:r>
              <a:rPr sz="2400" u="sng"/>
              <a:t>S/E</a:t>
            </a:r>
            <a:endParaRPr sz="2400" u="sng"/>
          </a:p>
          <a:p>
            <a:pPr>
              <a:lnSpc>
                <a:spcPct val="80000"/>
              </a:lnSpc>
              <a:buNone/>
            </a:pPr>
            <a:r>
              <a:rPr sz="2400" u="sng"/>
              <a:t>Immediate</a:t>
            </a:r>
            <a:endParaRPr sz="2400" u="sng"/>
          </a:p>
          <a:p>
            <a:pPr>
              <a:lnSpc>
                <a:spcPct val="80000"/>
              </a:lnSpc>
              <a:buNone/>
            </a:pPr>
            <a:r>
              <a:rPr sz="2400">
                <a:cs typeface="Arial"/>
              </a:rPr>
              <a:t>	 ♦</a:t>
            </a:r>
            <a:r>
              <a:rPr sz="2400"/>
              <a:t> Minor; urticaria, harmless albuminuria (cloudy urine)</a:t>
            </a:r>
            <a:endParaRPr sz="2400"/>
          </a:p>
          <a:p>
            <a:pPr>
              <a:lnSpc>
                <a:spcPct val="80000"/>
              </a:lnSpc>
              <a:buNone/>
            </a:pPr>
            <a:r>
              <a:rPr sz="2400">
                <a:cs typeface="Arial"/>
              </a:rPr>
              <a:t>	 ♦</a:t>
            </a:r>
            <a:r>
              <a:rPr sz="2400"/>
              <a:t> Fatigue, vomiting</a:t>
            </a:r>
            <a:endParaRPr sz="2400"/>
          </a:p>
          <a:p>
            <a:pPr>
              <a:lnSpc>
                <a:spcPct val="80000"/>
              </a:lnSpc>
              <a:buNone/>
            </a:pPr>
            <a:r>
              <a:rPr sz="2400">
                <a:cs typeface="Arial"/>
              </a:rPr>
              <a:t>	 ♦</a:t>
            </a:r>
            <a:r>
              <a:rPr sz="2400"/>
              <a:t> Seizures, hypotension, shock, death</a:t>
            </a:r>
            <a:endParaRPr sz="2400"/>
          </a:p>
          <a:p>
            <a:pPr>
              <a:lnSpc>
                <a:spcPct val="80000"/>
              </a:lnSpc>
              <a:buNone/>
            </a:pPr>
            <a:r>
              <a:rPr sz="2400" u="sng"/>
              <a:t>Later </a:t>
            </a:r>
            <a:r>
              <a:rPr sz="2400" u="sng"/>
              <a:t>rxns</a:t>
            </a:r>
            <a:endParaRPr sz="2400" u="sng"/>
          </a:p>
          <a:p>
            <a:pPr>
              <a:lnSpc>
                <a:spcPct val="80000"/>
              </a:lnSpc>
              <a:buNone/>
            </a:pPr>
            <a:r>
              <a:rPr sz="2400">
                <a:cs typeface="Arial"/>
              </a:rPr>
              <a:t>	 ♦</a:t>
            </a:r>
            <a:r>
              <a:rPr sz="2400"/>
              <a:t> Neuropathy, </a:t>
            </a:r>
            <a:r>
              <a:rPr sz="2400"/>
              <a:t>paresthesias</a:t>
            </a:r>
            <a:r>
              <a:rPr sz="2400"/>
              <a:t> (e.g. palmer/planter hyperesthesia),</a:t>
            </a:r>
            <a:endParaRPr sz="2400"/>
          </a:p>
          <a:p>
            <a:pPr>
              <a:lnSpc>
                <a:spcPct val="80000"/>
              </a:lnSpc>
              <a:buNone/>
            </a:pPr>
            <a:r>
              <a:rPr sz="2400">
                <a:cs typeface="Arial"/>
              </a:rPr>
              <a:t>	 ♦</a:t>
            </a:r>
            <a:r>
              <a:rPr sz="2400"/>
              <a:t> </a:t>
            </a:r>
            <a:r>
              <a:rPr sz="2400">
                <a:solidFill>
                  <a:srgbClr val="FF0000"/>
                </a:solidFill>
              </a:rPr>
              <a:t>Renal damage</a:t>
            </a:r>
            <a:endParaRPr sz="2400">
              <a:solidFill>
                <a:srgbClr val="FF0000"/>
              </a:solidFill>
            </a:endParaRPr>
          </a:p>
          <a:p>
            <a:pPr>
              <a:lnSpc>
                <a:spcPct val="80000"/>
              </a:lnSpc>
              <a:buNone/>
            </a:pPr>
            <a:r>
              <a:rPr sz="2400">
                <a:cs typeface="Arial"/>
              </a:rPr>
              <a:t>	 ♦</a:t>
            </a:r>
            <a:r>
              <a:rPr sz="2400"/>
              <a:t> Hematologic effects – hemolysis, agranulocytosis</a:t>
            </a:r>
            <a:endParaRPr sz="2400"/>
          </a:p>
          <a:p>
            <a:pPr lvl="1">
              <a:lnSpc>
                <a:spcPct val="80000"/>
              </a:lnSpc>
              <a:buNone/>
            </a:pPr>
            <a:r>
              <a:rPr b="1"/>
              <a:t>Adrenal cortical damage</a:t>
            </a:r>
            <a:endParaRPr b="1"/>
          </a:p>
          <a:p>
            <a:pPr lvl="1">
              <a:lnSpc>
                <a:spcPct val="80000"/>
              </a:lnSpc>
              <a:buNone/>
            </a:pPr>
            <a:r>
              <a:rPr b="1"/>
              <a:t>optic atrophy, </a:t>
            </a:r>
            <a:endParaRPr b="1"/>
          </a:p>
          <a:p>
            <a:pPr lvl="1">
              <a:lnSpc>
                <a:spcPct val="80000"/>
              </a:lnSpc>
              <a:buNone/>
            </a:pPr>
            <a:r>
              <a:rPr sz="2400" u="sng"/>
              <a:t>Uses:</a:t>
            </a:r>
            <a:endParaRPr sz="2400" u="sng"/>
          </a:p>
          <a:p>
            <a:pPr>
              <a:lnSpc>
                <a:spcPct val="80000"/>
              </a:lnSpc>
              <a:buNone/>
            </a:pPr>
            <a:r>
              <a:rPr sz="2400">
                <a:cs typeface="Arial"/>
              </a:rPr>
              <a:t>	 ♦</a:t>
            </a:r>
            <a:r>
              <a:rPr sz="2400"/>
              <a:t> Early (</a:t>
            </a:r>
            <a:r>
              <a:rPr sz="2400"/>
              <a:t>hemolymphatic</a:t>
            </a:r>
            <a:r>
              <a:rPr sz="2400"/>
              <a:t>) stages of East African trypanosomiasis (eflornithine is preferred for West African)</a:t>
            </a:r>
            <a:endParaRPr sz="2400"/>
          </a:p>
          <a:p>
            <a:pPr>
              <a:lnSpc>
                <a:spcPct val="80000"/>
              </a:lnSpc>
              <a:buNone/>
            </a:pPr>
            <a:r>
              <a:rPr sz="2400"/>
              <a:t>	 </a:t>
            </a:r>
            <a:r>
              <a:rPr sz="2400">
                <a:cs typeface="Arial"/>
              </a:rPr>
              <a:t>♦</a:t>
            </a:r>
            <a:r>
              <a:rPr sz="2400"/>
              <a:t> Onchocerciasis</a:t>
            </a:r>
            <a:endParaRPr sz="2400"/>
          </a:p>
          <a:p>
            <a:pPr>
              <a:lnSpc>
                <a:spcPct val="80000"/>
              </a:lnSpc>
              <a:buNone/>
            </a:pPr>
            <a:r>
              <a:rPr sz="2400">
                <a:cs typeface="Arial"/>
              </a:rPr>
              <a:t>	 ♦</a:t>
            </a:r>
            <a:r>
              <a:rPr sz="2400"/>
              <a:t> Has been tried in some cancers e.g. prostate</a:t>
            </a:r>
            <a:endParaRPr sz="2400"/>
          </a:p>
        </p:txBody>
      </p:sp>
    </p:spTree>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p:cSld>
    <p:spTree>
      <p:nvGrpSpPr>
        <p:cNvPr id="1088" name=""/>
        <p:cNvGrpSpPr/>
        <p:nvPr/>
      </p:nvGrpSpPr>
      <p:grpSpPr>
        <a:xfrm>
          <a:off x="0" y="0"/>
          <a:ext cx="0" cy="0"/>
          <a:chOff x="0" y="0"/>
          <a:chExt cx="0" cy="0"/>
        </a:xfrm>
      </p:grpSpPr>
      <p:sp>
        <p:nvSpPr>
          <p:cNvPr id="1049398" name="Rectangle 2"/>
          <p:cNvSpPr>
            <a:spLocks noGrp="1" noChangeArrowheads="1"/>
          </p:cNvSpPr>
          <p:nvPr>
            <p:ph type="body" idx="1"/>
          </p:nvPr>
        </p:nvSpPr>
        <p:spPr>
          <a:xfrm>
            <a:off x="514350" y="228600"/>
            <a:ext cx="11382379" cy="6400800"/>
          </a:xfrm>
        </p:spPr>
        <p:txBody>
          <a:bodyPr>
            <a:normAutofit/>
          </a:bodyPr>
          <a:p>
            <a:pPr>
              <a:lnSpc>
                <a:spcPct val="80000"/>
              </a:lnSpc>
              <a:buNone/>
            </a:pPr>
            <a:r>
              <a:rPr b="1" sz="3600">
                <a:solidFill>
                  <a:srgbClr val="CC0000"/>
                </a:solidFill>
              </a:rPr>
              <a:t>2. PENTAMIDINE (others – </a:t>
            </a:r>
            <a:r>
              <a:rPr b="1" sz="3600">
                <a:solidFill>
                  <a:srgbClr val="CC0000"/>
                </a:solidFill>
              </a:rPr>
              <a:t>stilbamidine</a:t>
            </a:r>
            <a:r>
              <a:rPr b="1" sz="3600">
                <a:solidFill>
                  <a:srgbClr val="CC0000"/>
                </a:solidFill>
              </a:rPr>
              <a:t>, propamidine) </a:t>
            </a:r>
            <a:endParaRPr sz="3600" u="sng"/>
          </a:p>
          <a:p>
            <a:pPr>
              <a:lnSpc>
                <a:spcPct val="80000"/>
              </a:lnSpc>
              <a:buNone/>
            </a:pPr>
            <a:r>
              <a:rPr sz="3600" u="sng"/>
              <a:t>Mxn</a:t>
            </a:r>
            <a:r>
              <a:rPr sz="3600"/>
              <a:t>: </a:t>
            </a:r>
            <a:r>
              <a:rPr b="1" sz="3200"/>
              <a:t>direct </a:t>
            </a:r>
            <a:r>
              <a:rPr b="1" sz="3200"/>
              <a:t>trypanocidal</a:t>
            </a:r>
            <a:r>
              <a:rPr b="1" sz="3200"/>
              <a:t> action</a:t>
            </a:r>
            <a:r>
              <a:rPr b="1" sz="4400"/>
              <a:t>, </a:t>
            </a:r>
            <a:r>
              <a:rPr b="1" sz="3200"/>
              <a:t>inhibiting nucleic acid and protein synthesis. </a:t>
            </a:r>
            <a:endParaRPr b="1" sz="4400"/>
          </a:p>
          <a:p>
            <a:pPr>
              <a:lnSpc>
                <a:spcPct val="80000"/>
              </a:lnSpc>
              <a:buNone/>
            </a:pPr>
            <a:r>
              <a:rPr sz="3600" u="sng"/>
              <a:t>Adm</a:t>
            </a:r>
            <a:r>
              <a:rPr sz="3600"/>
              <a:t>: </a:t>
            </a:r>
            <a:r>
              <a:t>administered intravenously or by deep intramuscular injection</a:t>
            </a:r>
          </a:p>
          <a:p>
            <a:pPr>
              <a:lnSpc>
                <a:spcPct val="80000"/>
              </a:lnSpc>
              <a:buNone/>
            </a:pPr>
            <a:r>
              <a:rPr sz="2000"/>
              <a:t>Dose: deep intramuscular injection or intravenous infusion, 4 mg/kg daily or on alternate days to total of 7–10 injections NB: Direct intravenous injection should be avoided whenever possible and never given rapidly; intramuscular injections should be deep and preferably given into the buttock</a:t>
            </a:r>
          </a:p>
          <a:p>
            <a:pPr>
              <a:lnSpc>
                <a:spcPct val="80000"/>
              </a:lnSpc>
              <a:buNone/>
            </a:pPr>
            <a:r>
              <a:rPr b="1" sz="3600" u="sng"/>
              <a:t>Distribution</a:t>
            </a:r>
            <a:r>
              <a:rPr sz="3600"/>
              <a:t>: </a:t>
            </a:r>
            <a:r>
              <a:rPr sz="3200"/>
              <a:t>binds strongly to tissues (especially the kidney) and is eliminated slowly, only 50% of a dose being excreted over 5 days. </a:t>
            </a:r>
            <a:endParaRPr sz="3200"/>
          </a:p>
          <a:p>
            <a:pPr>
              <a:lnSpc>
                <a:spcPct val="80000"/>
              </a:lnSpc>
              <a:buNone/>
            </a:pPr>
            <a:r>
              <a:rPr sz="3200"/>
              <a:t>sequestered and accumulates in tissues -</a:t>
            </a:r>
            <a:r>
              <a:rPr sz="3200"/>
              <a:t>kidney, the liver and the spleen for several months</a:t>
            </a:r>
            <a:r>
              <a:rPr sz="3200"/>
              <a:t> (high affinity) but NOT CNS, slow release back into circulation</a:t>
            </a:r>
            <a:endParaRPr sz="3200"/>
          </a:p>
          <a:p>
            <a:pPr>
              <a:lnSpc>
                <a:spcPct val="80000"/>
              </a:lnSpc>
              <a:buNone/>
            </a:pPr>
            <a:r>
              <a:rPr sz="3600" u="sng"/>
              <a:t>Elimination</a:t>
            </a:r>
            <a:r>
              <a:rPr sz="3600"/>
              <a:t>: t</a:t>
            </a:r>
            <a:r>
              <a:rPr baseline="-25000" sz="3600"/>
              <a:t>1/2</a:t>
            </a:r>
            <a:r>
              <a:rPr sz="3600"/>
              <a:t> – long</a:t>
            </a:r>
            <a:endParaRPr sz="3600"/>
          </a:p>
          <a:p>
            <a:pPr>
              <a:lnSpc>
                <a:spcPct val="80000"/>
              </a:lnSpc>
              <a:buNone/>
            </a:pPr>
            <a:endParaRPr sz="2400"/>
          </a:p>
        </p:txBody>
      </p:sp>
    </p:spTree>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p:spTree>
      <p:nvGrpSpPr>
        <p:cNvPr id="1089" name=""/>
        <p:cNvGrpSpPr/>
        <p:nvPr/>
      </p:nvGrpSpPr>
      <p:grpSpPr>
        <a:xfrm>
          <a:off x="0" y="0"/>
          <a:ext cx="0" cy="0"/>
          <a:chOff x="0" y="0"/>
          <a:chExt cx="0" cy="0"/>
        </a:xfrm>
      </p:grpSpPr>
      <p:sp>
        <p:nvSpPr>
          <p:cNvPr id="1049399" name="Title 1"/>
          <p:cNvSpPr>
            <a:spLocks noGrp="1"/>
          </p:cNvSpPr>
          <p:nvPr>
            <p:ph type="title"/>
          </p:nvPr>
        </p:nvSpPr>
        <p:spPr/>
        <p:txBody>
          <a:bodyPr/>
          <a:p>
            <a:r>
              <a:rPr u="sng"/>
              <a:t>S/E</a:t>
            </a:r>
            <a:r>
              <a:t> (highly toxic, and common- 50%)</a:t>
            </a:r>
          </a:p>
        </p:txBody>
      </p:sp>
      <p:sp>
        <p:nvSpPr>
          <p:cNvPr id="1049400" name="Content Placeholder 2"/>
          <p:cNvSpPr>
            <a:spLocks noGrp="1"/>
          </p:cNvSpPr>
          <p:nvPr>
            <p:ph idx="1"/>
          </p:nvPr>
        </p:nvSpPr>
        <p:spPr>
          <a:xfrm>
            <a:off x="209554" y="1825618"/>
            <a:ext cx="11639554" cy="4803781"/>
          </a:xfrm>
        </p:spPr>
        <p:txBody>
          <a:bodyPr>
            <a:normAutofit fontScale="93750"/>
          </a:bodyPr>
          <a:p>
            <a:pPr>
              <a:lnSpc>
                <a:spcPct val="80000"/>
              </a:lnSpc>
              <a:buNone/>
            </a:pPr>
            <a:r>
              <a:rPr sz="2400">
                <a:cs typeface="Arial"/>
              </a:rPr>
              <a:t>♦ </a:t>
            </a:r>
            <a:r>
              <a:rPr sz="2400"/>
              <a:t>CVS - Due to rapid IV – severe </a:t>
            </a:r>
            <a:r>
              <a:rPr b="1" sz="2400"/>
              <a:t>hypotension, tachycardia</a:t>
            </a:r>
            <a:r>
              <a:rPr sz="2400"/>
              <a:t>, dizziness, dyspnea</a:t>
            </a:r>
            <a:endParaRPr sz="2400"/>
          </a:p>
          <a:p>
            <a:pPr lvl="1">
              <a:lnSpc>
                <a:spcPct val="80000"/>
              </a:lnSpc>
              <a:buNone/>
            </a:pPr>
            <a:r>
              <a:rPr sz="2000"/>
              <a:t>Monitor blood pressure before starting treatment, during administration, and at regular intervals, until treatment concluded</a:t>
            </a:r>
            <a:endParaRPr sz="2000"/>
          </a:p>
          <a:p>
            <a:pPr lvl="1">
              <a:lnSpc>
                <a:spcPct val="80000"/>
              </a:lnSpc>
              <a:buNone/>
            </a:pPr>
            <a:r>
              <a:rPr sz="2000"/>
              <a:t>Patient should be lying down when receiving drug parenterally</a:t>
            </a:r>
            <a:endParaRPr sz="2000"/>
          </a:p>
          <a:p>
            <a:pPr lvl="1">
              <a:lnSpc>
                <a:spcPct val="80000"/>
              </a:lnSpc>
              <a:buNone/>
            </a:pPr>
            <a:r>
              <a:rPr sz="2000"/>
              <a:t>	      - IM </a:t>
            </a:r>
            <a:r>
              <a:rPr sz="2000"/>
              <a:t>adm</a:t>
            </a:r>
            <a:r>
              <a:rPr sz="2000"/>
              <a:t> – </a:t>
            </a:r>
            <a:r>
              <a:rPr sz="2000"/>
              <a:t>discomfort, pain, induration, abscess formation, and muscle necrosis at injection </a:t>
            </a:r>
            <a:endParaRPr sz="2000"/>
          </a:p>
          <a:p>
            <a:pPr>
              <a:lnSpc>
                <a:spcPct val="80000"/>
              </a:lnSpc>
              <a:buNone/>
            </a:pPr>
            <a:r>
              <a:rPr sz="1600"/>
              <a:t>Electrolyte imbalances-hyperkalemia, hypocalcemia</a:t>
            </a:r>
            <a:endParaRPr sz="2400"/>
          </a:p>
          <a:p>
            <a:pPr>
              <a:lnSpc>
                <a:spcPct val="80000"/>
              </a:lnSpc>
              <a:buNone/>
            </a:pPr>
            <a:r>
              <a:rPr sz="2400">
                <a:cs typeface="Arial"/>
              </a:rPr>
              <a:t>♦</a:t>
            </a:r>
            <a:r>
              <a:rPr sz="2400"/>
              <a:t> Pancreatic toxicity – hypoglycemia (inappropriate release of insulin, </a:t>
            </a:r>
            <a:r>
              <a:rPr sz="2400">
                <a:solidFill>
                  <a:srgbClr val="FF0000"/>
                </a:solidFill>
              </a:rPr>
              <a:t>later</a:t>
            </a:r>
            <a:r>
              <a:rPr sz="2400"/>
              <a:t> hyperglycemia)</a:t>
            </a:r>
            <a:endParaRPr sz="2400"/>
          </a:p>
          <a:p>
            <a:pPr>
              <a:lnSpc>
                <a:spcPct val="80000"/>
              </a:lnSpc>
              <a:buNone/>
            </a:pPr>
            <a:r>
              <a:rPr sz="2400">
                <a:cs typeface="Arial"/>
              </a:rPr>
              <a:t>♦</a:t>
            </a:r>
            <a:r>
              <a:rPr sz="2400"/>
              <a:t> Renal damage , Liver damage </a:t>
            </a:r>
            <a:endParaRPr sz="2400"/>
          </a:p>
          <a:p>
            <a:pPr>
              <a:lnSpc>
                <a:spcPct val="80000"/>
              </a:lnSpc>
              <a:buNone/>
            </a:pPr>
            <a:r>
              <a:rPr sz="2400">
                <a:cs typeface="Arial"/>
              </a:rPr>
              <a:t>♦</a:t>
            </a:r>
            <a:r>
              <a:rPr sz="2400"/>
              <a:t> Hematological disorders </a:t>
            </a:r>
            <a:endParaRPr sz="2400"/>
          </a:p>
          <a:p>
            <a:pPr>
              <a:lnSpc>
                <a:spcPct val="80000"/>
              </a:lnSpc>
              <a:buNone/>
            </a:pPr>
            <a:r>
              <a:rPr sz="2400">
                <a:cs typeface="Arial"/>
              </a:rPr>
              <a:t>♦</a:t>
            </a:r>
            <a:r>
              <a:rPr sz="2400"/>
              <a:t> Metallic taste   </a:t>
            </a:r>
            <a:r>
              <a:rPr sz="2400"/>
              <a:t>etc</a:t>
            </a:r>
            <a:endParaRPr sz="2400"/>
          </a:p>
          <a:p>
            <a:pPr>
              <a:lnSpc>
                <a:spcPct val="80000"/>
              </a:lnSpc>
              <a:buNone/>
            </a:pPr>
            <a:r>
              <a:rPr sz="1600"/>
              <a:t>CNS </a:t>
            </a:r>
            <a:r>
              <a:rPr sz="1600"/>
              <a:t>disturbancesdisorientation</a:t>
            </a:r>
            <a:r>
              <a:rPr sz="1600"/>
              <a:t>, hallucination, dizziness and confusion.</a:t>
            </a:r>
            <a:endParaRPr sz="1600"/>
          </a:p>
          <a:p>
            <a:pPr>
              <a:lnSpc>
                <a:spcPct val="80000"/>
              </a:lnSpc>
              <a:buNone/>
            </a:pPr>
            <a:r>
              <a:rPr sz="1600"/>
              <a:t>Stevens-Johnson syndrome reported; </a:t>
            </a:r>
            <a:endParaRPr sz="1600"/>
          </a:p>
          <a:p>
            <a:pPr>
              <a:lnSpc>
                <a:spcPct val="80000"/>
              </a:lnSpc>
              <a:buNone/>
            </a:pPr>
            <a:r>
              <a:rPr sz="1600"/>
              <a:t>on inhalation, bronchoconstriction (may be prevented by prior use of bronchodilators), cough, and shortness of breath; discomfort</a:t>
            </a:r>
            <a:endParaRPr sz="2400"/>
          </a:p>
          <a:p/>
        </p:txBody>
      </p:sp>
    </p:spTree>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p:spTree>
      <p:nvGrpSpPr>
        <p:cNvPr id="1090" name=""/>
        <p:cNvGrpSpPr/>
        <p:nvPr/>
      </p:nvGrpSpPr>
      <p:grpSpPr>
        <a:xfrm>
          <a:off x="0" y="0"/>
          <a:ext cx="0" cy="0"/>
          <a:chOff x="0" y="0"/>
          <a:chExt cx="0" cy="0"/>
        </a:xfrm>
      </p:grpSpPr>
      <p:sp>
        <p:nvSpPr>
          <p:cNvPr id="1049401" name="Rectangle 2"/>
          <p:cNvSpPr>
            <a:spLocks noGrp="1" noChangeArrowheads="1"/>
          </p:cNvSpPr>
          <p:nvPr>
            <p:ph type="body" idx="1"/>
          </p:nvPr>
        </p:nvSpPr>
        <p:spPr>
          <a:xfrm>
            <a:off x="876295" y="381004"/>
            <a:ext cx="9410704" cy="6248395"/>
          </a:xfrm>
        </p:spPr>
        <p:txBody>
          <a:bodyPr/>
          <a:p>
            <a:pPr>
              <a:lnSpc>
                <a:spcPct val="80000"/>
              </a:lnSpc>
              <a:buNone/>
            </a:pPr>
            <a:r>
              <a:rPr b="1" sz="2400">
                <a:solidFill>
                  <a:srgbClr val="CC0000"/>
                </a:solidFill>
              </a:rPr>
              <a:t>2. PENTAMIDINE</a:t>
            </a:r>
            <a:endParaRPr sz="2000"/>
          </a:p>
          <a:p>
            <a:pPr>
              <a:lnSpc>
                <a:spcPct val="80000"/>
              </a:lnSpc>
              <a:buNone/>
            </a:pPr>
            <a:r>
              <a:rPr sz="3600"/>
              <a:t>D/I with other nephrotoxic drugs</a:t>
            </a:r>
            <a:endParaRPr sz="3600"/>
          </a:p>
          <a:p>
            <a:pPr>
              <a:lnSpc>
                <a:spcPct val="80000"/>
              </a:lnSpc>
              <a:buNone/>
            </a:pPr>
            <a:endParaRPr sz="3600"/>
          </a:p>
          <a:p>
            <a:pPr>
              <a:lnSpc>
                <a:spcPct val="80000"/>
              </a:lnSpc>
              <a:buNone/>
            </a:pPr>
            <a:r>
              <a:rPr sz="3600" u="sng"/>
              <a:t>Uses</a:t>
            </a:r>
            <a:endParaRPr sz="3600" u="sng"/>
          </a:p>
          <a:p>
            <a:pPr>
              <a:lnSpc>
                <a:spcPct val="80000"/>
              </a:lnSpc>
              <a:buNone/>
            </a:pPr>
            <a:r>
              <a:rPr sz="3600">
                <a:cs typeface="Arial"/>
              </a:rPr>
              <a:t>1. E</a:t>
            </a:r>
            <a:r>
              <a:rPr sz="3600"/>
              <a:t>arly (</a:t>
            </a:r>
            <a:r>
              <a:rPr sz="3600"/>
              <a:t>hemolymphatic</a:t>
            </a:r>
            <a:r>
              <a:rPr sz="3600"/>
              <a:t> stages) of  T. </a:t>
            </a:r>
            <a:r>
              <a:rPr sz="3600"/>
              <a:t>gambiense</a:t>
            </a:r>
            <a:r>
              <a:rPr sz="3600"/>
              <a:t> (not rhodesiense)</a:t>
            </a:r>
            <a:endParaRPr sz="3600"/>
          </a:p>
          <a:p>
            <a:pPr>
              <a:lnSpc>
                <a:spcPct val="80000"/>
              </a:lnSpc>
              <a:buNone/>
            </a:pPr>
            <a:r>
              <a:rPr sz="3600">
                <a:cs typeface="Arial"/>
              </a:rPr>
              <a:t>2. </a:t>
            </a:r>
            <a:r>
              <a:rPr sz="3600"/>
              <a:t>Visceral leishmaniasis – Alternative to sodium stibogluconate</a:t>
            </a:r>
            <a:endParaRPr sz="3600"/>
          </a:p>
          <a:p>
            <a:pPr>
              <a:lnSpc>
                <a:spcPct val="80000"/>
              </a:lnSpc>
              <a:buNone/>
            </a:pPr>
            <a:r>
              <a:rPr sz="3600">
                <a:cs typeface="Arial"/>
              </a:rPr>
              <a:t>3. </a:t>
            </a:r>
            <a:r>
              <a:rPr sz="3600"/>
              <a:t>P. carinii infection: Alternative to Co-</a:t>
            </a:r>
            <a:r>
              <a:rPr sz="3600"/>
              <a:t>trimox</a:t>
            </a:r>
            <a:endParaRPr sz="3600"/>
          </a:p>
          <a:p>
            <a:pPr>
              <a:lnSpc>
                <a:spcPct val="80000"/>
              </a:lnSpc>
              <a:buNone/>
            </a:pPr>
            <a:r>
              <a:rPr sz="3600">
                <a:cs typeface="Arial"/>
              </a:rPr>
              <a:t>4. </a:t>
            </a:r>
            <a:r>
              <a:rPr sz="3600"/>
              <a:t>Acanthamoeba</a:t>
            </a:r>
            <a:endParaRPr sz="3600"/>
          </a:p>
          <a:p>
            <a:pPr>
              <a:lnSpc>
                <a:spcPct val="80000"/>
              </a:lnSpc>
              <a:buNone/>
            </a:pPr>
            <a:endParaRPr b="1" sz="2000">
              <a:solidFill>
                <a:srgbClr val="CC0000"/>
              </a:solidFill>
            </a:endParaRPr>
          </a:p>
          <a:p>
            <a:pPr>
              <a:lnSpc>
                <a:spcPct val="80000"/>
              </a:lnSpc>
              <a:buNone/>
            </a:pPr>
            <a:endParaRPr b="1" sz="2000">
              <a:solidFill>
                <a:srgbClr val="CC0000"/>
              </a:solidFill>
            </a:endParaRPr>
          </a:p>
        </p:txBody>
      </p:sp>
    </p:spTree>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p:spTree>
      <p:nvGrpSpPr>
        <p:cNvPr id="1091" name=""/>
        <p:cNvGrpSpPr/>
        <p:nvPr/>
      </p:nvGrpSpPr>
      <p:grpSpPr>
        <a:xfrm>
          <a:off x="0" y="0"/>
          <a:ext cx="0" cy="0"/>
          <a:chOff x="0" y="0"/>
          <a:chExt cx="0" cy="0"/>
        </a:xfrm>
      </p:grpSpPr>
      <p:sp>
        <p:nvSpPr>
          <p:cNvPr id="1049402" name="Title 1"/>
          <p:cNvSpPr>
            <a:spLocks noGrp="1"/>
          </p:cNvSpPr>
          <p:nvPr>
            <p:ph type="title"/>
          </p:nvPr>
        </p:nvSpPr>
        <p:spPr/>
        <p:txBody>
          <a:bodyPr/>
          <a:p>
            <a:r>
              <a:rPr b="1">
                <a:solidFill>
                  <a:srgbClr val="CC0000"/>
                </a:solidFill>
              </a:rPr>
              <a:t>3. MELARSOPROL</a:t>
            </a:r>
            <a:r>
              <a:rPr b="1" sz="4000">
                <a:solidFill>
                  <a:srgbClr val="CC0000"/>
                </a:solidFill>
              </a:rPr>
              <a:t>, </a:t>
            </a:r>
          </a:p>
        </p:txBody>
      </p:sp>
      <p:sp>
        <p:nvSpPr>
          <p:cNvPr id="1049403" name="Content Placeholder 2"/>
          <p:cNvSpPr>
            <a:spLocks noGrp="1"/>
          </p:cNvSpPr>
          <p:nvPr>
            <p:ph idx="1"/>
          </p:nvPr>
        </p:nvSpPr>
        <p:spPr/>
        <p:txBody>
          <a:bodyPr/>
          <a:p>
            <a:pPr>
              <a:lnSpc>
                <a:spcPct val="80000"/>
              </a:lnSpc>
              <a:buNone/>
            </a:pPr>
            <a:r>
              <a:rPr sz="2800"/>
              <a:t>Tryparsanide</a:t>
            </a:r>
            <a:r>
              <a:rPr b="1" sz="2800">
                <a:solidFill>
                  <a:srgbClr val="CC0000"/>
                </a:solidFill>
              </a:rPr>
              <a:t> – </a:t>
            </a:r>
            <a:r>
              <a:rPr sz="2800"/>
              <a:t> (arsenicals)</a:t>
            </a:r>
            <a:endParaRPr b="1" sz="2800">
              <a:solidFill>
                <a:srgbClr val="CC0000"/>
              </a:solidFill>
            </a:endParaRPr>
          </a:p>
          <a:p>
            <a:pPr>
              <a:lnSpc>
                <a:spcPct val="80000"/>
              </a:lnSpc>
              <a:buNone/>
            </a:pPr>
            <a:endParaRPr b="1" sz="2800">
              <a:solidFill>
                <a:srgbClr val="CC0000"/>
              </a:solidFill>
            </a:endParaRPr>
          </a:p>
          <a:p>
            <a:pPr>
              <a:lnSpc>
                <a:spcPct val="80000"/>
              </a:lnSpc>
              <a:buNone/>
            </a:pPr>
            <a:r>
              <a:rPr sz="2800" u="sng"/>
              <a:t>Mxn</a:t>
            </a:r>
            <a:r>
              <a:rPr sz="2800"/>
              <a:t>: binds sulfhydryl </a:t>
            </a:r>
            <a:r>
              <a:rPr sz="2800"/>
              <a:t>gps</a:t>
            </a:r>
            <a:r>
              <a:rPr sz="2800"/>
              <a:t> of proteins, selective uptake by parasite</a:t>
            </a:r>
            <a:endParaRPr sz="2800"/>
          </a:p>
          <a:p>
            <a:pPr>
              <a:lnSpc>
                <a:spcPct val="80000"/>
              </a:lnSpc>
              <a:buNone/>
            </a:pPr>
            <a:r>
              <a:rPr sz="2800" u="sng"/>
              <a:t>Adm</a:t>
            </a:r>
            <a:r>
              <a:rPr sz="2800"/>
              <a:t>: slow IV (water soluble </a:t>
            </a:r>
            <a:r>
              <a:rPr sz="2800"/>
              <a:t>melarsoprol</a:t>
            </a:r>
            <a:r>
              <a:rPr sz="2800"/>
              <a:t>  by IM), under hospital supervision</a:t>
            </a:r>
            <a:endParaRPr sz="2800"/>
          </a:p>
          <a:p>
            <a:pPr>
              <a:lnSpc>
                <a:spcPct val="80000"/>
              </a:lnSpc>
              <a:buNone/>
            </a:pPr>
            <a:r>
              <a:rPr sz="2800" u="sng"/>
              <a:t>Distribution</a:t>
            </a:r>
            <a:r>
              <a:rPr sz="2800"/>
              <a:t>: slow accumulation in the CNS</a:t>
            </a:r>
            <a:endParaRPr sz="2800"/>
          </a:p>
          <a:p>
            <a:pPr>
              <a:lnSpc>
                <a:spcPct val="80000"/>
              </a:lnSpc>
              <a:buNone/>
            </a:pPr>
            <a:r>
              <a:rPr sz="2800" u="sng"/>
              <a:t>Elimination</a:t>
            </a:r>
            <a:r>
              <a:rPr sz="2800"/>
              <a:t>: rapid, fecal </a:t>
            </a:r>
            <a:r>
              <a:rPr sz="2800" i="1"/>
              <a:t>(but accumulates to effective conc. over days)</a:t>
            </a:r>
            <a:r>
              <a:rPr sz="2800"/>
              <a:t> </a:t>
            </a:r>
            <a:endParaRPr sz="2800"/>
          </a:p>
          <a:p/>
        </p:txBody>
      </p:sp>
    </p:spTree>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p:spTree>
      <p:nvGrpSpPr>
        <p:cNvPr id="1092" name=""/>
        <p:cNvGrpSpPr/>
        <p:nvPr/>
      </p:nvGrpSpPr>
      <p:grpSpPr>
        <a:xfrm>
          <a:off x="0" y="0"/>
          <a:ext cx="0" cy="0"/>
          <a:chOff x="0" y="0"/>
          <a:chExt cx="0" cy="0"/>
        </a:xfrm>
      </p:grpSpPr>
      <p:sp>
        <p:nvSpPr>
          <p:cNvPr id="1049404" name="Rectangle 2"/>
          <p:cNvSpPr>
            <a:spLocks noGrp="1" noChangeArrowheads="1"/>
          </p:cNvSpPr>
          <p:nvPr>
            <p:ph type="body" idx="1"/>
          </p:nvPr>
        </p:nvSpPr>
        <p:spPr>
          <a:xfrm>
            <a:off x="714375" y="381004"/>
            <a:ext cx="9648820" cy="6096004"/>
          </a:xfrm>
        </p:spPr>
        <p:txBody>
          <a:bodyPr>
            <a:normAutofit lnSpcReduction="10000"/>
          </a:bodyPr>
          <a:p>
            <a:pPr indent="-609604" marL="609604">
              <a:lnSpc>
                <a:spcPct val="80000"/>
              </a:lnSpc>
              <a:buNone/>
            </a:pPr>
            <a:r>
              <a:rPr b="1" sz="1800">
                <a:solidFill>
                  <a:srgbClr val="CC0000"/>
                </a:solidFill>
              </a:rPr>
              <a:t>3. MELARSOPROL </a:t>
            </a:r>
            <a:endParaRPr b="1" sz="1800">
              <a:solidFill>
                <a:srgbClr val="CC0000"/>
              </a:solidFill>
            </a:endParaRPr>
          </a:p>
          <a:p>
            <a:pPr indent="-609604" marL="609604">
              <a:lnSpc>
                <a:spcPct val="80000"/>
              </a:lnSpc>
              <a:buNone/>
            </a:pPr>
            <a:endParaRPr sz="1800"/>
          </a:p>
          <a:p>
            <a:pPr indent="-609604" marL="609604">
              <a:lnSpc>
                <a:spcPct val="80000"/>
              </a:lnSpc>
              <a:buNone/>
            </a:pPr>
            <a:r>
              <a:rPr sz="1800" u="sng"/>
              <a:t>S/E</a:t>
            </a:r>
            <a:r>
              <a:rPr sz="1800"/>
              <a:t> (v. toxic)</a:t>
            </a:r>
            <a:endParaRPr sz="1800"/>
          </a:p>
          <a:p>
            <a:pPr indent="-609604" marL="609604">
              <a:lnSpc>
                <a:spcPct val="80000"/>
              </a:lnSpc>
              <a:buNone/>
            </a:pPr>
            <a:r>
              <a:rPr sz="1800">
                <a:cs typeface="Arial"/>
              </a:rPr>
              <a:t>♦ </a:t>
            </a:r>
            <a:r>
              <a:rPr sz="1800"/>
              <a:t>Fever, </a:t>
            </a:r>
            <a:r>
              <a:rPr sz="1800"/>
              <a:t>arthalgia</a:t>
            </a:r>
            <a:r>
              <a:rPr sz="1800"/>
              <a:t>, vomiting</a:t>
            </a:r>
            <a:endParaRPr sz="1800"/>
          </a:p>
          <a:p>
            <a:pPr indent="-609604" marL="609604">
              <a:lnSpc>
                <a:spcPct val="80000"/>
              </a:lnSpc>
              <a:buNone/>
            </a:pPr>
            <a:r>
              <a:rPr sz="1800">
                <a:cs typeface="Arial"/>
              </a:rPr>
              <a:t>♦</a:t>
            </a:r>
            <a:r>
              <a:rPr sz="1800"/>
              <a:t> Reactive encephalopathy </a:t>
            </a:r>
            <a:r>
              <a:rPr sz="1800" i="1"/>
              <a:t>(</a:t>
            </a:r>
            <a:r>
              <a:rPr sz="1800" i="1"/>
              <a:t>rxn</a:t>
            </a:r>
            <a:r>
              <a:rPr sz="1800" i="1"/>
              <a:t> to byproducts of trypanosome death) –</a:t>
            </a:r>
            <a:endParaRPr sz="1800" i="1"/>
          </a:p>
          <a:p>
            <a:pPr indent="-609604" marL="609604">
              <a:lnSpc>
                <a:spcPct val="80000"/>
              </a:lnSpc>
              <a:buNone/>
            </a:pPr>
            <a:r>
              <a:rPr sz="1800">
                <a:cs typeface="Arial"/>
              </a:rPr>
              <a:t>♦</a:t>
            </a:r>
            <a:r>
              <a:rPr sz="1800"/>
              <a:t> Renal damage</a:t>
            </a:r>
            <a:endParaRPr sz="1800"/>
          </a:p>
          <a:p>
            <a:pPr indent="-609604" marL="609604">
              <a:lnSpc>
                <a:spcPct val="80000"/>
              </a:lnSpc>
              <a:buNone/>
            </a:pPr>
            <a:r>
              <a:rPr sz="1800">
                <a:cs typeface="Arial"/>
              </a:rPr>
              <a:t>♦</a:t>
            </a:r>
            <a:r>
              <a:rPr sz="1800"/>
              <a:t> Cardiac toxicities</a:t>
            </a:r>
            <a:endParaRPr sz="1800"/>
          </a:p>
          <a:p>
            <a:pPr indent="-609604" marL="609604">
              <a:lnSpc>
                <a:spcPct val="80000"/>
              </a:lnSpc>
              <a:buNone/>
            </a:pPr>
            <a:r>
              <a:rPr sz="1800">
                <a:cs typeface="Arial"/>
              </a:rPr>
              <a:t>♦</a:t>
            </a:r>
            <a:r>
              <a:rPr sz="1800"/>
              <a:t> Hypersensitivity</a:t>
            </a:r>
            <a:endParaRPr sz="1800"/>
          </a:p>
          <a:p>
            <a:pPr indent="-609604" marL="609604">
              <a:lnSpc>
                <a:spcPct val="80000"/>
              </a:lnSpc>
              <a:buNone/>
            </a:pPr>
            <a:r>
              <a:rPr sz="1800">
                <a:cs typeface="Arial"/>
              </a:rPr>
              <a:t>♦</a:t>
            </a:r>
            <a:r>
              <a:rPr sz="1800"/>
              <a:t> thrombophlebitis </a:t>
            </a:r>
            <a:endParaRPr sz="1800"/>
          </a:p>
          <a:p>
            <a:pPr indent="-609604" marL="609604">
              <a:lnSpc>
                <a:spcPct val="80000"/>
              </a:lnSpc>
              <a:buNone/>
            </a:pPr>
            <a:endParaRPr sz="1800"/>
          </a:p>
          <a:p>
            <a:pPr indent="-609604" marL="609604">
              <a:lnSpc>
                <a:spcPct val="80000"/>
              </a:lnSpc>
              <a:buNone/>
            </a:pPr>
            <a:r>
              <a:rPr sz="1800" u="sng"/>
              <a:t>Uses</a:t>
            </a:r>
            <a:endParaRPr sz="1800" u="sng"/>
          </a:p>
          <a:p>
            <a:pPr indent="-609604" marL="609604">
              <a:lnSpc>
                <a:spcPct val="80000"/>
              </a:lnSpc>
              <a:buAutoNum type="arabicPeriod"/>
            </a:pPr>
            <a:r>
              <a:rPr sz="1800"/>
              <a:t>Advanced (CNS disease) East African </a:t>
            </a:r>
            <a:r>
              <a:rPr sz="1800"/>
              <a:t>African</a:t>
            </a:r>
            <a:r>
              <a:rPr sz="1800"/>
              <a:t> trypanosomiasis 1st line drug</a:t>
            </a:r>
            <a:endParaRPr sz="1800"/>
          </a:p>
          <a:p>
            <a:pPr indent="-609604" marL="609604">
              <a:lnSpc>
                <a:spcPct val="80000"/>
              </a:lnSpc>
              <a:buNone/>
            </a:pPr>
            <a:r>
              <a:rPr sz="1800">
                <a:cs typeface="Arial"/>
              </a:rPr>
              <a:t>	( 2</a:t>
            </a:r>
            <a:r>
              <a:rPr baseline="30000" sz="1800">
                <a:cs typeface="Arial"/>
              </a:rPr>
              <a:t>nd</a:t>
            </a:r>
            <a:r>
              <a:rPr sz="1800">
                <a:cs typeface="Arial"/>
              </a:rPr>
              <a:t> line for </a:t>
            </a:r>
            <a:r>
              <a:rPr sz="1800"/>
              <a:t>West African trypanosomiasis CNS disease coz of toxicities but equally effective to eflornithine)</a:t>
            </a:r>
            <a:endParaRPr sz="1800"/>
          </a:p>
          <a:p>
            <a:pPr indent="-609604" marL="609604">
              <a:lnSpc>
                <a:spcPct val="80000"/>
              </a:lnSpc>
            </a:pPr>
            <a:endParaRPr sz="1800"/>
          </a:p>
          <a:p>
            <a:pPr indent="-609604" marL="609604">
              <a:lnSpc>
                <a:spcPct val="80000"/>
              </a:lnSpc>
              <a:buNone/>
            </a:pPr>
            <a:r>
              <a:rPr sz="1800"/>
              <a:t>2. Early trypanosomiasis (as alternative for patients who can not stand suramin or pentamidine, its toxicity precludes use as a 1</a:t>
            </a:r>
            <a:r>
              <a:rPr baseline="30000" sz="1800"/>
              <a:t>st</a:t>
            </a:r>
            <a:r>
              <a:rPr sz="1800"/>
              <a:t> line agent)</a:t>
            </a:r>
            <a:endParaRPr sz="1800"/>
          </a:p>
          <a:p>
            <a:pPr indent="-609604" marL="609604">
              <a:lnSpc>
                <a:spcPct val="80000"/>
              </a:lnSpc>
              <a:buNone/>
            </a:pPr>
            <a:endParaRPr sz="1800"/>
          </a:p>
          <a:p>
            <a:pPr indent="-609604" marL="609604">
              <a:lnSpc>
                <a:spcPct val="80000"/>
              </a:lnSpc>
              <a:buNone/>
            </a:pPr>
            <a:r>
              <a:rPr sz="1800"/>
              <a:t>3. </a:t>
            </a:r>
            <a:r>
              <a:rPr sz="1800"/>
              <a:t>Tryparsanide</a:t>
            </a:r>
            <a:r>
              <a:rPr sz="1800"/>
              <a:t> (pentavalent arsenical)- alternative for </a:t>
            </a:r>
            <a:r>
              <a:rPr sz="1800"/>
              <a:t>Gambiense</a:t>
            </a:r>
            <a:r>
              <a:rPr sz="1800"/>
              <a:t> (+ suramin) for those intolerant to </a:t>
            </a:r>
            <a:r>
              <a:rPr sz="1800"/>
              <a:t>melarsoprol</a:t>
            </a:r>
            <a:endParaRPr sz="1800"/>
          </a:p>
        </p:txBody>
      </p:sp>
    </p:spTree>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p:cSld>
    <p:spTree>
      <p:nvGrpSpPr>
        <p:cNvPr id="1093" name=""/>
        <p:cNvGrpSpPr/>
        <p:nvPr/>
      </p:nvGrpSpPr>
      <p:grpSpPr>
        <a:xfrm>
          <a:off x="0" y="0"/>
          <a:ext cx="0" cy="0"/>
          <a:chOff x="0" y="0"/>
          <a:chExt cx="0" cy="0"/>
        </a:xfrm>
      </p:grpSpPr>
      <p:sp>
        <p:nvSpPr>
          <p:cNvPr id="1049405" name="Rectangle 2"/>
          <p:cNvSpPr>
            <a:spLocks noGrp="1" noChangeArrowheads="1"/>
          </p:cNvSpPr>
          <p:nvPr>
            <p:ph type="body" idx="1"/>
          </p:nvPr>
        </p:nvSpPr>
        <p:spPr>
          <a:xfrm>
            <a:off x="1485900" y="381004"/>
            <a:ext cx="8724904" cy="6172200"/>
          </a:xfrm>
        </p:spPr>
        <p:txBody>
          <a:bodyPr>
            <a:normAutofit lnSpcReduction="10000"/>
          </a:bodyPr>
          <a:p>
            <a:pPr>
              <a:lnSpc>
                <a:spcPct val="80000"/>
              </a:lnSpc>
              <a:buNone/>
            </a:pPr>
            <a:r>
              <a:rPr b="1" sz="2400">
                <a:solidFill>
                  <a:srgbClr val="CC0000"/>
                </a:solidFill>
              </a:rPr>
              <a:t>4. EFLORNITHINE</a:t>
            </a:r>
            <a:endParaRPr b="1" sz="2400">
              <a:solidFill>
                <a:srgbClr val="CC0000"/>
              </a:solidFill>
            </a:endParaRPr>
          </a:p>
          <a:p>
            <a:pPr>
              <a:lnSpc>
                <a:spcPct val="80000"/>
              </a:lnSpc>
              <a:buNone/>
            </a:pPr>
            <a:r>
              <a:rPr sz="2000" u="sng"/>
              <a:t>Mxn</a:t>
            </a:r>
            <a:r>
              <a:rPr sz="2000"/>
              <a:t>: inhibits ornithine decarboxylase and prevents nucleic acid synthesis </a:t>
            </a:r>
            <a:endParaRPr sz="2000"/>
          </a:p>
          <a:p>
            <a:pPr>
              <a:lnSpc>
                <a:spcPct val="80000"/>
              </a:lnSpc>
              <a:buNone/>
            </a:pPr>
            <a:endParaRPr sz="2000" u="sng"/>
          </a:p>
          <a:p>
            <a:pPr>
              <a:lnSpc>
                <a:spcPct val="80000"/>
              </a:lnSpc>
              <a:buNone/>
            </a:pPr>
            <a:r>
              <a:rPr sz="2000" u="sng"/>
              <a:t>Adm</a:t>
            </a:r>
            <a:r>
              <a:rPr sz="2000"/>
              <a:t>: oral, IV</a:t>
            </a:r>
            <a:endParaRPr sz="2000"/>
          </a:p>
          <a:p>
            <a:pPr>
              <a:lnSpc>
                <a:spcPct val="80000"/>
              </a:lnSpc>
              <a:buNone/>
            </a:pPr>
            <a:r>
              <a:rPr sz="2000" u="sng"/>
              <a:t>Abs</a:t>
            </a:r>
            <a:r>
              <a:rPr sz="2000"/>
              <a:t>: adequate</a:t>
            </a:r>
            <a:endParaRPr sz="2000"/>
          </a:p>
          <a:p>
            <a:pPr>
              <a:lnSpc>
                <a:spcPct val="80000"/>
              </a:lnSpc>
              <a:buNone/>
            </a:pPr>
            <a:r>
              <a:rPr sz="2000" u="sng"/>
              <a:t>Distribution</a:t>
            </a:r>
            <a:r>
              <a:rPr sz="2000"/>
              <a:t>: effective CNS penetration</a:t>
            </a:r>
            <a:endParaRPr sz="2000"/>
          </a:p>
          <a:p>
            <a:pPr>
              <a:lnSpc>
                <a:spcPct val="80000"/>
              </a:lnSpc>
              <a:buNone/>
            </a:pPr>
            <a:r>
              <a:rPr sz="2000" u="sng"/>
              <a:t>Elimination</a:t>
            </a:r>
            <a:r>
              <a:rPr sz="2000"/>
              <a:t>: renal excretion</a:t>
            </a:r>
            <a:endParaRPr sz="2000"/>
          </a:p>
          <a:p>
            <a:pPr>
              <a:lnSpc>
                <a:spcPct val="80000"/>
              </a:lnSpc>
              <a:buNone/>
            </a:pPr>
            <a:endParaRPr sz="2000" u="sng"/>
          </a:p>
          <a:p>
            <a:pPr>
              <a:lnSpc>
                <a:spcPct val="80000"/>
              </a:lnSpc>
              <a:buNone/>
            </a:pPr>
            <a:r>
              <a:rPr sz="2000" u="sng"/>
              <a:t>S/E</a:t>
            </a:r>
            <a:r>
              <a:rPr sz="2000"/>
              <a:t> (most reversible, less toxic than </a:t>
            </a:r>
            <a:r>
              <a:rPr sz="2000"/>
              <a:t>melarsoprol</a:t>
            </a:r>
            <a:r>
              <a:rPr sz="2000"/>
              <a:t>)</a:t>
            </a:r>
            <a:endParaRPr sz="2000"/>
          </a:p>
          <a:p>
            <a:pPr>
              <a:lnSpc>
                <a:spcPct val="80000"/>
              </a:lnSpc>
              <a:buNone/>
            </a:pPr>
            <a:r>
              <a:rPr sz="2000">
                <a:cs typeface="Arial"/>
              </a:rPr>
              <a:t>♦</a:t>
            </a:r>
            <a:r>
              <a:rPr sz="2000"/>
              <a:t> GIT disturbance – nausea, vomiting diarrhea</a:t>
            </a:r>
            <a:endParaRPr sz="2000"/>
          </a:p>
          <a:p>
            <a:pPr>
              <a:lnSpc>
                <a:spcPct val="80000"/>
              </a:lnSpc>
              <a:buNone/>
            </a:pPr>
            <a:r>
              <a:rPr sz="2000">
                <a:cs typeface="Arial"/>
              </a:rPr>
              <a:t>♦ </a:t>
            </a:r>
            <a:r>
              <a:rPr sz="2000"/>
              <a:t>Hematologic abnormalities – anemia, leucopenia, thrombocytopenia</a:t>
            </a:r>
            <a:endParaRPr sz="2000"/>
          </a:p>
          <a:p>
            <a:pPr>
              <a:lnSpc>
                <a:spcPct val="80000"/>
              </a:lnSpc>
              <a:buNone/>
            </a:pPr>
            <a:r>
              <a:rPr sz="2000">
                <a:cs typeface="Arial"/>
              </a:rPr>
              <a:t>♦</a:t>
            </a:r>
            <a:r>
              <a:rPr sz="2000"/>
              <a:t> Seizures</a:t>
            </a:r>
            <a:endParaRPr sz="2000"/>
          </a:p>
          <a:p>
            <a:pPr>
              <a:lnSpc>
                <a:spcPct val="80000"/>
              </a:lnSpc>
              <a:buNone/>
            </a:pPr>
            <a:r>
              <a:rPr sz="2000">
                <a:cs typeface="Arial"/>
              </a:rPr>
              <a:t>♦</a:t>
            </a:r>
            <a:r>
              <a:rPr sz="2000"/>
              <a:t> Hearing loss (ototoxicity)</a:t>
            </a:r>
            <a:endParaRPr sz="2000"/>
          </a:p>
          <a:p>
            <a:pPr>
              <a:lnSpc>
                <a:spcPct val="80000"/>
              </a:lnSpc>
              <a:buNone/>
            </a:pPr>
            <a:r>
              <a:rPr sz="2000">
                <a:cs typeface="Arial"/>
              </a:rPr>
              <a:t>♦</a:t>
            </a:r>
            <a:r>
              <a:rPr sz="2000"/>
              <a:t> Teratogenic risk</a:t>
            </a:r>
            <a:endParaRPr sz="2000"/>
          </a:p>
          <a:p>
            <a:pPr>
              <a:lnSpc>
                <a:spcPct val="80000"/>
              </a:lnSpc>
              <a:buNone/>
            </a:pPr>
            <a:endParaRPr sz="2000" u="sng"/>
          </a:p>
          <a:p>
            <a:pPr>
              <a:lnSpc>
                <a:spcPct val="80000"/>
              </a:lnSpc>
              <a:buNone/>
            </a:pPr>
            <a:r>
              <a:rPr sz="2000" u="sng"/>
              <a:t>Uses</a:t>
            </a:r>
            <a:r>
              <a:rPr sz="2000"/>
              <a:t>:</a:t>
            </a:r>
            <a:endParaRPr sz="2000"/>
          </a:p>
          <a:p>
            <a:pPr>
              <a:lnSpc>
                <a:spcPct val="80000"/>
              </a:lnSpc>
              <a:buNone/>
            </a:pPr>
            <a:r>
              <a:rPr sz="2000"/>
              <a:t>1. Advanced (CNS) and early West African trypanosomiasis</a:t>
            </a:r>
            <a:endParaRPr sz="2000"/>
          </a:p>
        </p:txBody>
      </p:sp>
    </p:spTree>
  </p:cSld>
  <p:clrMapOvr>
    <a:masterClrMapping/>
  </p:clrMapOvr>
</p:sld>
</file>

<file path=ppt/slides/slide428.xml><?xml version="1.0" encoding="utf-8"?>
<p:sld xmlns:a="http://schemas.openxmlformats.org/drawingml/2006/main" xmlns:r="http://schemas.openxmlformats.org/officeDocument/2006/relationships" xmlns:p="http://schemas.openxmlformats.org/presentationml/2006/main">
  <p:cSld>
    <p:spTree>
      <p:nvGrpSpPr>
        <p:cNvPr id="1094" name=""/>
        <p:cNvGrpSpPr/>
        <p:nvPr/>
      </p:nvGrpSpPr>
      <p:grpSpPr>
        <a:xfrm>
          <a:off x="0" y="0"/>
          <a:ext cx="0" cy="0"/>
          <a:chOff x="0" y="0"/>
          <a:chExt cx="0" cy="0"/>
        </a:xfrm>
      </p:grpSpPr>
      <p:sp>
        <p:nvSpPr>
          <p:cNvPr id="1049406" name="Rectangle 2"/>
          <p:cNvSpPr>
            <a:spLocks noGrp="1" noChangeArrowheads="1"/>
          </p:cNvSpPr>
          <p:nvPr>
            <p:ph type="body" idx="1"/>
          </p:nvPr>
        </p:nvSpPr>
        <p:spPr>
          <a:xfrm>
            <a:off x="581029" y="304795"/>
            <a:ext cx="11249020" cy="6324604"/>
          </a:xfrm>
        </p:spPr>
        <p:txBody>
          <a:bodyPr>
            <a:normAutofit fontScale="91667" lnSpcReduction="10000"/>
          </a:bodyPr>
          <a:p>
            <a:pPr>
              <a:lnSpc>
                <a:spcPct val="80000"/>
              </a:lnSpc>
              <a:buNone/>
            </a:pPr>
            <a:r>
              <a:rPr b="1" sz="2400">
                <a:solidFill>
                  <a:srgbClr val="CC0000"/>
                </a:solidFill>
              </a:rPr>
              <a:t>5. NIFURTIMOX</a:t>
            </a:r>
            <a:endParaRPr b="1" sz="2400">
              <a:solidFill>
                <a:srgbClr val="CC0000"/>
              </a:solidFill>
            </a:endParaRPr>
          </a:p>
          <a:p>
            <a:pPr>
              <a:lnSpc>
                <a:spcPct val="80000"/>
              </a:lnSpc>
              <a:buNone/>
            </a:pPr>
            <a:r>
              <a:rPr sz="2400" u="sng"/>
              <a:t>Mxn</a:t>
            </a:r>
            <a:r>
              <a:rPr sz="2400"/>
              <a:t>: formation of radicals by parasite enzymes</a:t>
            </a:r>
            <a:endParaRPr sz="2400"/>
          </a:p>
          <a:p>
            <a:pPr>
              <a:lnSpc>
                <a:spcPct val="80000"/>
              </a:lnSpc>
              <a:buNone/>
            </a:pPr>
            <a:endParaRPr sz="2400" u="sng"/>
          </a:p>
          <a:p>
            <a:pPr>
              <a:lnSpc>
                <a:spcPct val="80000"/>
              </a:lnSpc>
              <a:buNone/>
            </a:pPr>
            <a:r>
              <a:rPr sz="2400" u="sng"/>
              <a:t>Adm</a:t>
            </a:r>
            <a:r>
              <a:rPr sz="2400"/>
              <a:t>: oral</a:t>
            </a:r>
            <a:endParaRPr sz="2400"/>
          </a:p>
          <a:p>
            <a:pPr>
              <a:lnSpc>
                <a:spcPct val="80000"/>
              </a:lnSpc>
              <a:buNone/>
            </a:pPr>
            <a:r>
              <a:rPr sz="2400" u="sng"/>
              <a:t>Abs</a:t>
            </a:r>
            <a:r>
              <a:rPr sz="2400"/>
              <a:t>: good</a:t>
            </a:r>
            <a:endParaRPr sz="2400"/>
          </a:p>
          <a:p>
            <a:pPr>
              <a:lnSpc>
                <a:spcPct val="80000"/>
              </a:lnSpc>
              <a:buNone/>
            </a:pPr>
            <a:r>
              <a:rPr sz="2400" u="sng"/>
              <a:t>Elimination</a:t>
            </a:r>
            <a:r>
              <a:rPr sz="2400"/>
              <a:t>: metabolized</a:t>
            </a:r>
            <a:endParaRPr sz="2400"/>
          </a:p>
          <a:p>
            <a:pPr>
              <a:lnSpc>
                <a:spcPct val="80000"/>
              </a:lnSpc>
              <a:buNone/>
            </a:pPr>
            <a:endParaRPr sz="2400"/>
          </a:p>
          <a:p>
            <a:pPr>
              <a:lnSpc>
                <a:spcPct val="80000"/>
              </a:lnSpc>
              <a:buNone/>
            </a:pPr>
            <a:r>
              <a:rPr sz="2400"/>
              <a:t>S/E </a:t>
            </a:r>
            <a:r>
              <a:rPr sz="2400" i="1"/>
              <a:t>(often reversible but contribute to non-completion of dose)</a:t>
            </a:r>
            <a:br>
              <a:rPr sz="2400"/>
            </a:br>
            <a:r>
              <a:rPr sz="2400"/>
              <a:t> </a:t>
            </a:r>
            <a:r>
              <a:rPr sz="2400">
                <a:cs typeface="Arial"/>
              </a:rPr>
              <a:t>♦ </a:t>
            </a:r>
            <a:r>
              <a:rPr sz="2400"/>
              <a:t>GIT irritation - severe</a:t>
            </a:r>
            <a:endParaRPr sz="2400"/>
          </a:p>
          <a:p>
            <a:pPr>
              <a:lnSpc>
                <a:spcPct val="80000"/>
              </a:lnSpc>
              <a:buNone/>
            </a:pPr>
            <a:r>
              <a:rPr sz="2400">
                <a:cs typeface="Arial"/>
              </a:rPr>
              <a:t>	 ♦ </a:t>
            </a:r>
            <a:r>
              <a:rPr sz="2400"/>
              <a:t>Fever, restlessness, insomnia</a:t>
            </a:r>
            <a:endParaRPr sz="2400"/>
          </a:p>
          <a:p>
            <a:pPr>
              <a:lnSpc>
                <a:spcPct val="80000"/>
              </a:lnSpc>
              <a:buNone/>
            </a:pPr>
            <a:r>
              <a:rPr sz="2400">
                <a:cs typeface="Arial"/>
              </a:rPr>
              <a:t>	 ♦ hypersensitivity </a:t>
            </a:r>
            <a:r>
              <a:rPr sz="2400">
                <a:cs typeface="Arial"/>
              </a:rPr>
              <a:t>rxns</a:t>
            </a:r>
            <a:endParaRPr sz="2400"/>
          </a:p>
          <a:p>
            <a:pPr>
              <a:lnSpc>
                <a:spcPct val="80000"/>
              </a:lnSpc>
              <a:buNone/>
            </a:pPr>
            <a:r>
              <a:rPr sz="2400">
                <a:cs typeface="Arial"/>
              </a:rPr>
              <a:t>	 ♦ </a:t>
            </a:r>
            <a:r>
              <a:rPr sz="2400"/>
              <a:t>Neuropathies including seizures (Limits use)</a:t>
            </a:r>
            <a:endParaRPr sz="2400"/>
          </a:p>
          <a:p>
            <a:pPr>
              <a:lnSpc>
                <a:spcPct val="80000"/>
              </a:lnSpc>
              <a:buNone/>
            </a:pPr>
            <a:endParaRPr sz="2400"/>
          </a:p>
          <a:p>
            <a:pPr>
              <a:lnSpc>
                <a:spcPct val="80000"/>
              </a:lnSpc>
              <a:buNone/>
            </a:pPr>
            <a:r>
              <a:rPr sz="2400"/>
              <a:t>Uses:</a:t>
            </a:r>
            <a:endParaRPr sz="2400"/>
          </a:p>
          <a:p>
            <a:pPr>
              <a:lnSpc>
                <a:spcPct val="80000"/>
              </a:lnSpc>
              <a:buNone/>
            </a:pPr>
            <a:r>
              <a:rPr sz="2400">
                <a:cs typeface="Arial"/>
              </a:rPr>
              <a:t>	1. </a:t>
            </a:r>
            <a:r>
              <a:rPr sz="2400"/>
              <a:t>Acute Chaga’s disease (American trypanosomiasis) – </a:t>
            </a:r>
            <a:r>
              <a:rPr sz="2400" i="1"/>
              <a:t>early stages, decreases symptoms and but does not fully eradicate parasite, and does not prevent progression to GIT and heart disorders) (not effective in chronic disease)</a:t>
            </a:r>
            <a:endParaRPr sz="2400" i="1"/>
          </a:p>
        </p:txBody>
      </p:sp>
    </p:spTree>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p:cSld>
    <p:spTree>
      <p:nvGrpSpPr>
        <p:cNvPr id="1095" name=""/>
        <p:cNvGrpSpPr/>
        <p:nvPr/>
      </p:nvGrpSpPr>
      <p:grpSpPr>
        <a:xfrm>
          <a:off x="0" y="0"/>
          <a:ext cx="0" cy="0"/>
          <a:chOff x="0" y="0"/>
          <a:chExt cx="0" cy="0"/>
        </a:xfrm>
      </p:grpSpPr>
      <p:sp>
        <p:nvSpPr>
          <p:cNvPr id="1049407" name="Rectangle 2"/>
          <p:cNvSpPr>
            <a:spLocks noGrp="1" noChangeArrowheads="1"/>
          </p:cNvSpPr>
          <p:nvPr>
            <p:ph type="body" idx="1"/>
          </p:nvPr>
        </p:nvSpPr>
        <p:spPr>
          <a:xfrm>
            <a:off x="1638304" y="238129"/>
            <a:ext cx="8496304" cy="6391270"/>
          </a:xfrm>
        </p:spPr>
        <p:txBody>
          <a:bodyPr>
            <a:normAutofit/>
          </a:bodyPr>
          <a:p>
            <a:pPr>
              <a:lnSpc>
                <a:spcPct val="80000"/>
              </a:lnSpc>
              <a:buNone/>
            </a:pPr>
            <a:r>
              <a:rPr b="1" sz="3200">
                <a:solidFill>
                  <a:srgbClr val="CC0000"/>
                </a:solidFill>
              </a:rPr>
              <a:t>6. BENZNIDAZOLE</a:t>
            </a:r>
            <a:r>
              <a:rPr sz="3200" i="1"/>
              <a:t> (a nitroimidazole)</a:t>
            </a:r>
            <a:endParaRPr sz="3200"/>
          </a:p>
          <a:p>
            <a:pPr>
              <a:lnSpc>
                <a:spcPct val="80000"/>
              </a:lnSpc>
              <a:buNone/>
            </a:pPr>
            <a:r>
              <a:rPr sz="3200" u="sng"/>
              <a:t>Use</a:t>
            </a:r>
            <a:r>
              <a:rPr sz="3200"/>
              <a:t>: Acute chaga’s disease (preferred to nifurtimox)</a:t>
            </a:r>
            <a:endParaRPr sz="3200"/>
          </a:p>
          <a:p>
            <a:pPr>
              <a:lnSpc>
                <a:spcPct val="80000"/>
              </a:lnSpc>
              <a:buNone/>
            </a:pPr>
            <a:endParaRPr sz="3200"/>
          </a:p>
          <a:p>
            <a:pPr>
              <a:lnSpc>
                <a:spcPct val="80000"/>
              </a:lnSpc>
              <a:buNone/>
            </a:pPr>
            <a:r>
              <a:rPr sz="3200" u="sng"/>
              <a:t>Mxn</a:t>
            </a:r>
            <a:r>
              <a:rPr sz="3200" u="sng"/>
              <a:t>:</a:t>
            </a:r>
            <a:r>
              <a:rPr sz="3200"/>
              <a:t> not clear</a:t>
            </a:r>
            <a:endParaRPr sz="3200"/>
          </a:p>
          <a:p>
            <a:pPr>
              <a:lnSpc>
                <a:spcPct val="80000"/>
              </a:lnSpc>
              <a:buNone/>
            </a:pPr>
            <a:endParaRPr sz="3200" u="sng"/>
          </a:p>
          <a:p>
            <a:pPr>
              <a:lnSpc>
                <a:spcPct val="80000"/>
              </a:lnSpc>
              <a:buNone/>
            </a:pPr>
            <a:r>
              <a:rPr sz="3200" u="sng"/>
              <a:t>P’kinetics</a:t>
            </a:r>
            <a:endParaRPr sz="3200" u="sng"/>
          </a:p>
          <a:p>
            <a:pPr>
              <a:lnSpc>
                <a:spcPct val="80000"/>
              </a:lnSpc>
              <a:buNone/>
            </a:pPr>
            <a:r>
              <a:rPr sz="3200"/>
              <a:t>Rapid abs, </a:t>
            </a:r>
            <a:endParaRPr sz="3200"/>
          </a:p>
          <a:p>
            <a:pPr>
              <a:lnSpc>
                <a:spcPct val="80000"/>
              </a:lnSpc>
              <a:buNone/>
            </a:pPr>
            <a:r>
              <a:rPr sz="3200"/>
              <a:t>Renal &amp; some fecal clearance</a:t>
            </a:r>
            <a:endParaRPr sz="3200"/>
          </a:p>
          <a:p>
            <a:pPr>
              <a:lnSpc>
                <a:spcPct val="80000"/>
              </a:lnSpc>
              <a:buNone/>
            </a:pPr>
            <a:endParaRPr sz="3200" u="sng"/>
          </a:p>
          <a:p>
            <a:pPr>
              <a:lnSpc>
                <a:spcPct val="80000"/>
              </a:lnSpc>
              <a:buNone/>
            </a:pPr>
            <a:r>
              <a:rPr sz="3200" u="sng"/>
              <a:t>S/E</a:t>
            </a:r>
            <a:r>
              <a:rPr sz="3200"/>
              <a:t> GIT disturbance</a:t>
            </a:r>
            <a:endParaRPr sz="3200"/>
          </a:p>
          <a:p>
            <a:pPr>
              <a:lnSpc>
                <a:spcPct val="80000"/>
              </a:lnSpc>
              <a:buNone/>
            </a:pPr>
            <a:r>
              <a:rPr sz="3200">
                <a:cs typeface="Arial"/>
              </a:rPr>
              <a:t>	♦ </a:t>
            </a:r>
            <a:r>
              <a:rPr sz="3200"/>
              <a:t>Peripheral neuropathy</a:t>
            </a:r>
            <a:endParaRPr sz="3200"/>
          </a:p>
          <a:p>
            <a:pPr>
              <a:lnSpc>
                <a:spcPct val="80000"/>
              </a:lnSpc>
              <a:buNone/>
            </a:pPr>
            <a:r>
              <a:rPr sz="3200">
                <a:cs typeface="Arial"/>
              </a:rPr>
              <a:t>	♦ </a:t>
            </a:r>
            <a:r>
              <a:rPr sz="3200"/>
              <a:t>Mylesuppression</a:t>
            </a:r>
            <a:endParaRPr sz="3200"/>
          </a:p>
          <a:p>
            <a:pPr>
              <a:lnSpc>
                <a:spcPct val="80000"/>
              </a:lnSpc>
              <a:buNone/>
            </a:pPr>
            <a:r>
              <a:rPr sz="3200">
                <a:cs typeface="Arial"/>
              </a:rPr>
              <a:t>	♦ </a:t>
            </a:r>
            <a:r>
              <a:rPr sz="3200"/>
              <a:t>Rash (dermatitis)</a:t>
            </a:r>
            <a:endParaRPr sz="3200"/>
          </a:p>
        </p:txBody>
      </p:sp>
    </p:spTree>
  </p:cSld>
  <p:clrMapOvr>
    <a:masterClrMapping/>
  </p:clrMapOvr>
</p:sld>
</file>

<file path=ppt/slides/slide430.xml><?xml version="1.0" encoding="utf-8"?>
<p:sld xmlns:a="http://schemas.openxmlformats.org/drawingml/2006/main" xmlns:r="http://schemas.openxmlformats.org/officeDocument/2006/relationships" xmlns:p="http://schemas.openxmlformats.org/presentationml/2006/main">
  <p:cSld>
    <p:spTree>
      <p:nvGrpSpPr>
        <p:cNvPr id="1096" name=""/>
        <p:cNvGrpSpPr/>
        <p:nvPr/>
      </p:nvGrpSpPr>
      <p:grpSpPr>
        <a:xfrm>
          <a:off x="0" y="0"/>
          <a:ext cx="0" cy="0"/>
          <a:chOff x="0" y="0"/>
          <a:chExt cx="0" cy="0"/>
        </a:xfrm>
      </p:grpSpPr>
      <p:sp>
        <p:nvSpPr>
          <p:cNvPr id="1049408" name="Rectangle 2"/>
          <p:cNvSpPr>
            <a:spLocks noGrp="1" noChangeArrowheads="1"/>
          </p:cNvSpPr>
          <p:nvPr>
            <p:ph type="body" idx="1"/>
          </p:nvPr>
        </p:nvSpPr>
        <p:spPr>
          <a:xfrm>
            <a:off x="504820" y="228600"/>
            <a:ext cx="10782304" cy="6505570"/>
          </a:xfrm>
        </p:spPr>
        <p:txBody>
          <a:bodyPr>
            <a:normAutofit fontScale="83333" lnSpcReduction="10000"/>
          </a:bodyPr>
          <a:p>
            <a:pPr>
              <a:lnSpc>
                <a:spcPct val="80000"/>
              </a:lnSpc>
              <a:buNone/>
            </a:pPr>
            <a:r>
              <a:rPr b="1" sz="2400">
                <a:solidFill>
                  <a:srgbClr val="FF0000"/>
                </a:solidFill>
                <a:latin typeface="Comic Sans MS"/>
              </a:rPr>
              <a:t>LEISHMANIASIS</a:t>
            </a:r>
            <a:endParaRPr sz="2400">
              <a:solidFill>
                <a:srgbClr val="FF0000"/>
              </a:solidFill>
              <a:latin typeface="Comic Sans MS"/>
            </a:endParaRPr>
          </a:p>
          <a:p>
            <a:pPr>
              <a:lnSpc>
                <a:spcPct val="80000"/>
              </a:lnSpc>
              <a:buNone/>
            </a:pPr>
            <a:r>
              <a:rPr b="1" sz="2400">
                <a:solidFill>
                  <a:srgbClr val="CC0000"/>
                </a:solidFill>
              </a:rPr>
              <a:t>1. SODIUM STIBOGLUCONATE</a:t>
            </a:r>
            <a:r>
              <a:rPr sz="2400"/>
              <a:t> and </a:t>
            </a:r>
            <a:r>
              <a:rPr b="1" sz="2400"/>
              <a:t>Meglumine antimonate</a:t>
            </a:r>
            <a:r>
              <a:rPr sz="2400"/>
              <a:t> (Pentavalent </a:t>
            </a:r>
            <a:r>
              <a:rPr sz="2400"/>
              <a:t>antimonials</a:t>
            </a:r>
            <a:r>
              <a:rPr sz="2400"/>
              <a:t>)</a:t>
            </a:r>
            <a:endParaRPr sz="2400"/>
          </a:p>
          <a:p>
            <a:pPr>
              <a:lnSpc>
                <a:spcPct val="80000"/>
              </a:lnSpc>
              <a:buNone/>
            </a:pPr>
            <a:r>
              <a:rPr sz="2400" u="sng"/>
              <a:t>Mxn</a:t>
            </a:r>
            <a:r>
              <a:rPr sz="2400"/>
              <a:t>: is a prodrug, converted to the active trivalent antimonial</a:t>
            </a:r>
            <a:endParaRPr sz="2400"/>
          </a:p>
          <a:p>
            <a:pPr>
              <a:lnSpc>
                <a:spcPct val="80000"/>
              </a:lnSpc>
              <a:buNone/>
            </a:pPr>
            <a:r>
              <a:rPr sz="2400"/>
              <a:t> - Actual </a:t>
            </a:r>
            <a:r>
              <a:rPr sz="2400"/>
              <a:t>mxn</a:t>
            </a:r>
            <a:r>
              <a:rPr sz="2400"/>
              <a:t> not clear – </a:t>
            </a:r>
            <a:r>
              <a:rPr b="1" sz="2400"/>
              <a:t>but may involve production of oxygen free radicals, which are toxic to the parasite</a:t>
            </a:r>
            <a:endParaRPr b="1" sz="1600"/>
          </a:p>
          <a:p>
            <a:pPr>
              <a:lnSpc>
                <a:spcPct val="80000"/>
              </a:lnSpc>
              <a:buNone/>
            </a:pPr>
            <a:r>
              <a:rPr sz="2400" u="sng"/>
              <a:t>Adm</a:t>
            </a:r>
            <a:r>
              <a:rPr sz="2400"/>
              <a:t>: parenteral </a:t>
            </a:r>
            <a:r>
              <a:rPr sz="2400" i="1"/>
              <a:t>(not abs orally)-</a:t>
            </a:r>
            <a:r>
              <a:rPr b="1" sz="1900"/>
              <a:t>given intramuscularly or by slow intravenous injection. It is rapidly eliminated in the urine, 70% being excreted within 6 hours.</a:t>
            </a:r>
            <a:endParaRPr b="1" sz="2400"/>
          </a:p>
          <a:p>
            <a:pPr>
              <a:lnSpc>
                <a:spcPct val="80000"/>
              </a:lnSpc>
              <a:buNone/>
            </a:pPr>
            <a:r>
              <a:rPr sz="2400" u="sng"/>
              <a:t>Distribution</a:t>
            </a:r>
            <a:r>
              <a:rPr sz="2400"/>
              <a:t>: some sequestration</a:t>
            </a:r>
            <a:endParaRPr sz="2400"/>
          </a:p>
          <a:p>
            <a:pPr>
              <a:lnSpc>
                <a:spcPct val="80000"/>
              </a:lnSpc>
              <a:buNone/>
            </a:pPr>
            <a:r>
              <a:rPr sz="2400" u="sng"/>
              <a:t>Elimination</a:t>
            </a:r>
            <a:r>
              <a:rPr sz="2400"/>
              <a:t>: renal excretion</a:t>
            </a:r>
            <a:endParaRPr sz="2400"/>
          </a:p>
          <a:p>
            <a:pPr>
              <a:lnSpc>
                <a:spcPct val="80000"/>
              </a:lnSpc>
              <a:buNone/>
            </a:pPr>
            <a:r>
              <a:rPr sz="2400" u="sng"/>
              <a:t>S/E</a:t>
            </a:r>
            <a:r>
              <a:rPr sz="2400"/>
              <a:t> (toxicity increases w/ time on therapy)</a:t>
            </a:r>
            <a:endParaRPr sz="2400"/>
          </a:p>
          <a:p>
            <a:pPr>
              <a:lnSpc>
                <a:spcPct val="80000"/>
              </a:lnSpc>
              <a:buNone/>
            </a:pPr>
            <a:r>
              <a:rPr sz="2400">
                <a:cs typeface="Arial"/>
              </a:rPr>
              <a:t>	♦ </a:t>
            </a:r>
            <a:r>
              <a:rPr sz="2400"/>
              <a:t>Pain at injection site</a:t>
            </a:r>
            <a:endParaRPr sz="2400"/>
          </a:p>
          <a:p>
            <a:pPr>
              <a:lnSpc>
                <a:spcPct val="80000"/>
              </a:lnSpc>
              <a:buNone/>
            </a:pPr>
            <a:r>
              <a:rPr sz="2400">
                <a:cs typeface="Arial"/>
              </a:rPr>
              <a:t>	♦ </a:t>
            </a:r>
            <a:r>
              <a:rPr sz="2400"/>
              <a:t>GIT disturbance - </a:t>
            </a:r>
            <a:r>
              <a:rPr sz="2400"/>
              <a:t>anorexia, vomiting</a:t>
            </a:r>
            <a:endParaRPr sz="2400"/>
          </a:p>
          <a:p>
            <a:pPr>
              <a:lnSpc>
                <a:spcPct val="80000"/>
              </a:lnSpc>
              <a:buNone/>
            </a:pPr>
            <a:r>
              <a:rPr sz="2400"/>
              <a:t>	</a:t>
            </a:r>
            <a:r>
              <a:rPr sz="2400">
                <a:cs typeface="Arial"/>
              </a:rPr>
              <a:t>♦</a:t>
            </a:r>
            <a:r>
              <a:rPr sz="2400"/>
              <a:t> Pancreatitis</a:t>
            </a:r>
            <a:endParaRPr sz="2400"/>
          </a:p>
          <a:p>
            <a:pPr>
              <a:lnSpc>
                <a:spcPct val="80000"/>
              </a:lnSpc>
              <a:buNone/>
            </a:pPr>
            <a:r>
              <a:rPr sz="2400">
                <a:cs typeface="Arial"/>
              </a:rPr>
              <a:t>	♦ </a:t>
            </a:r>
            <a:r>
              <a:rPr sz="2400"/>
              <a:t>Fever, headache, myalgias, arthralgias</a:t>
            </a:r>
            <a:endParaRPr sz="2400"/>
          </a:p>
          <a:p>
            <a:pPr>
              <a:lnSpc>
                <a:spcPct val="80000"/>
              </a:lnSpc>
              <a:buNone/>
            </a:pPr>
            <a:r>
              <a:rPr sz="2400">
                <a:cs typeface="Arial"/>
              </a:rPr>
              <a:t>	♦ </a:t>
            </a:r>
            <a:r>
              <a:rPr sz="2400"/>
              <a:t>Cardiac conduction defects - </a:t>
            </a:r>
            <a:r>
              <a:rPr sz="2400"/>
              <a:t>bradycardia and hypotension</a:t>
            </a:r>
            <a:endParaRPr sz="2400"/>
          </a:p>
          <a:p>
            <a:pPr>
              <a:lnSpc>
                <a:spcPct val="80000"/>
              </a:lnSpc>
              <a:buNone/>
            </a:pPr>
            <a:r>
              <a:rPr sz="2400">
                <a:cs typeface="Arial"/>
              </a:rPr>
              <a:t>	♦ </a:t>
            </a:r>
            <a:r>
              <a:rPr sz="2400"/>
              <a:t>Hepatic and renal damage</a:t>
            </a:r>
            <a:r>
              <a:rPr sz="2400" i="1"/>
              <a:t> (monitor their </a:t>
            </a:r>
            <a:r>
              <a:rPr sz="2400" i="1"/>
              <a:t>fxn</a:t>
            </a:r>
            <a:r>
              <a:rPr sz="2400" i="1"/>
              <a:t> periodically) </a:t>
            </a:r>
            <a:endParaRPr sz="2400" i="1"/>
          </a:p>
          <a:p>
            <a:pPr>
              <a:lnSpc>
                <a:spcPct val="80000"/>
              </a:lnSpc>
              <a:buNone/>
            </a:pPr>
            <a:r>
              <a:rPr sz="2400">
                <a:cs typeface="Arial"/>
              </a:rPr>
              <a:t>	♦ </a:t>
            </a:r>
            <a:r>
              <a:rPr sz="2400"/>
              <a:t>Hemolytic anemia</a:t>
            </a:r>
            <a:endParaRPr sz="2400"/>
          </a:p>
          <a:p>
            <a:pPr lvl="1">
              <a:lnSpc>
                <a:spcPct val="80000"/>
              </a:lnSpc>
              <a:buNone/>
            </a:pPr>
            <a:r>
              <a:rPr sz="2200"/>
              <a:t>Increased incidence of herpes zoster. </a:t>
            </a:r>
            <a:endParaRPr sz="2200"/>
          </a:p>
          <a:p>
            <a:pPr lvl="1">
              <a:lnSpc>
                <a:spcPct val="80000"/>
              </a:lnSpc>
              <a:buNone/>
            </a:pPr>
            <a:r>
              <a:rPr sz="2200"/>
              <a:t>Coughing and substernal pain may occur during intravenous infusion</a:t>
            </a:r>
            <a:r>
              <a:rPr sz="1200"/>
              <a:t>.</a:t>
            </a:r>
            <a:endParaRPr sz="2000"/>
          </a:p>
        </p:txBody>
      </p:sp>
    </p:spTree>
  </p:cSld>
  <p:clrMapOvr>
    <a:masterClrMapping/>
  </p:clrMapOvr>
</p:sld>
</file>

<file path=ppt/slides/slide431.xml><?xml version="1.0" encoding="utf-8"?>
<p:sld xmlns:a="http://schemas.openxmlformats.org/drawingml/2006/main" xmlns:r="http://schemas.openxmlformats.org/officeDocument/2006/relationships" xmlns:p="http://schemas.openxmlformats.org/presentationml/2006/main">
  <p:cSld>
    <p:spTree>
      <p:nvGrpSpPr>
        <p:cNvPr id="1097" name=""/>
        <p:cNvGrpSpPr/>
        <p:nvPr/>
      </p:nvGrpSpPr>
      <p:grpSpPr>
        <a:xfrm>
          <a:off x="0" y="0"/>
          <a:ext cx="0" cy="0"/>
          <a:chOff x="0" y="0"/>
          <a:chExt cx="0" cy="0"/>
        </a:xfrm>
      </p:grpSpPr>
      <p:sp>
        <p:nvSpPr>
          <p:cNvPr id="1049409" name="Title 1"/>
          <p:cNvSpPr>
            <a:spLocks noGrp="1"/>
          </p:cNvSpPr>
          <p:nvPr>
            <p:ph type="title"/>
          </p:nvPr>
        </p:nvSpPr>
        <p:spPr>
          <a:xfrm>
            <a:off x="838204" y="365126"/>
            <a:ext cx="10515600" cy="863598"/>
          </a:xfrm>
        </p:spPr>
        <p:txBody>
          <a:bodyPr/>
          <a:p>
            <a:r>
              <a:t>Cautions</a:t>
            </a:r>
          </a:p>
        </p:txBody>
      </p:sp>
      <p:sp>
        <p:nvSpPr>
          <p:cNvPr id="1049410" name="Content Placeholder 2"/>
          <p:cNvSpPr>
            <a:spLocks noGrp="1"/>
          </p:cNvSpPr>
          <p:nvPr>
            <p:ph idx="1"/>
          </p:nvPr>
        </p:nvSpPr>
        <p:spPr>
          <a:xfrm>
            <a:off x="371475" y="1304920"/>
            <a:ext cx="11477620" cy="5391145"/>
          </a:xfrm>
        </p:spPr>
        <p:txBody>
          <a:bodyPr>
            <a:normAutofit fontScale="70833" lnSpcReduction="20000"/>
          </a:bodyPr>
          <a:p>
            <a:r>
              <a:t>Intravenous injections must be given slowly over 5 minutes (to reduce risk of local thrombosis) and stopped if coughing or substernal pain; </a:t>
            </a:r>
          </a:p>
          <a:p>
            <a:r>
              <a:t>mucocutaneous disease-  </a:t>
            </a:r>
            <a:r>
              <a:rPr b="1"/>
              <a:t>Successful treatment of mucocutaneous leishmaniasis may induce severe inflammation around the lesions </a:t>
            </a:r>
            <a:r>
              <a:t>(may be life-threatening if pharyngeal or tracheal involvement)—a corticosteroid is given</a:t>
            </a:r>
          </a:p>
          <a:p>
            <a:r>
              <a:t>monitor ECG before and during treatment; heart disease (withdraw if conduction disturbances occur); </a:t>
            </a:r>
          </a:p>
          <a:p>
            <a:r>
              <a:t>Treat intercurrent infection (e.g. pneumonia). </a:t>
            </a:r>
          </a:p>
          <a:p>
            <a:pPr indent="0" marL="0">
              <a:buNone/>
            </a:pPr>
            <a:r>
              <a:rPr sz="2800"/>
              <a:t>C/I pancreatitis, hepatitis, </a:t>
            </a:r>
            <a:r>
              <a:rPr sz="2800"/>
              <a:t>mycocarditis</a:t>
            </a:r>
            <a:endParaRPr sz="2800"/>
          </a:p>
          <a:p>
            <a:pPr>
              <a:lnSpc>
                <a:spcPct val="90000"/>
              </a:lnSpc>
              <a:buNone/>
            </a:pPr>
            <a:r>
              <a:rPr b="1" sz="2800" u="sng"/>
              <a:t>Uses</a:t>
            </a:r>
            <a:r>
              <a:rPr b="1" sz="2800"/>
              <a:t>:</a:t>
            </a:r>
            <a:endParaRPr b="1" sz="2800"/>
          </a:p>
          <a:p>
            <a:pPr>
              <a:lnSpc>
                <a:spcPct val="90000"/>
              </a:lnSpc>
              <a:buNone/>
            </a:pPr>
            <a:r>
              <a:rPr sz="2800">
                <a:cs typeface="Arial"/>
              </a:rPr>
              <a:t>	1. </a:t>
            </a:r>
            <a:r>
              <a:rPr sz="2800"/>
              <a:t>Cutaneous leishmaniasis (1st line in areas w/ minimal resistance)</a:t>
            </a:r>
            <a:endParaRPr sz="2800"/>
          </a:p>
          <a:p>
            <a:pPr>
              <a:lnSpc>
                <a:spcPct val="90000"/>
              </a:lnSpc>
              <a:buNone/>
            </a:pPr>
            <a:r>
              <a:rPr sz="2800">
                <a:cs typeface="Arial"/>
              </a:rPr>
              <a:t>	2. </a:t>
            </a:r>
            <a:r>
              <a:rPr sz="2800"/>
              <a:t>Visceral leishmaniasis (1st line)</a:t>
            </a:r>
          </a:p>
          <a:p>
            <a:pPr indent="0" marL="0">
              <a:buNone/>
            </a:pPr>
            <a:r>
              <a:rPr b="1"/>
              <a:t>Dose </a:t>
            </a:r>
            <a:endParaRPr b="1"/>
          </a:p>
          <a:p>
            <a:pPr lvl="1"/>
            <a:r>
              <a:t>Visceral leishmaniasis. 20 mg/kg daily (max. 850 mg) by intramuscular or intravenous injection for 28 days in visceral leishmaniasis and for 20 days in cutaneous infection; </a:t>
            </a:r>
          </a:p>
          <a:p>
            <a:pPr lvl="1"/>
            <a:r>
              <a:t>The dosage varies with different geographical regions and expert advice should be obtained. </a:t>
            </a:r>
          </a:p>
          <a:p>
            <a:pPr indent="0" marL="0">
              <a:buNone/>
            </a:pPr>
            <a:r>
              <a:t>Amphotericin is used with or after an antimony compound for visceral leishmaniasis unresponsive to the antimonial alone; </a:t>
            </a:r>
          </a:p>
        </p:txBody>
      </p:sp>
    </p:spTree>
  </p:cSld>
  <p:clrMapOvr>
    <a:masterClrMapping/>
  </p:clrMapOvr>
</p:sld>
</file>

<file path=ppt/slides/slide432.xml><?xml version="1.0" encoding="utf-8"?>
<p:sld xmlns:a="http://schemas.openxmlformats.org/drawingml/2006/main" xmlns:r="http://schemas.openxmlformats.org/officeDocument/2006/relationships" xmlns:p="http://schemas.openxmlformats.org/presentationml/2006/main">
  <p:cSld>
    <p:spTree>
      <p:nvGrpSpPr>
        <p:cNvPr id="1098" name=""/>
        <p:cNvGrpSpPr/>
        <p:nvPr/>
      </p:nvGrpSpPr>
      <p:grpSpPr>
        <a:xfrm>
          <a:off x="0" y="0"/>
          <a:ext cx="0" cy="0"/>
          <a:chOff x="0" y="0"/>
          <a:chExt cx="0" cy="0"/>
        </a:xfrm>
      </p:grpSpPr>
      <p:sp>
        <p:nvSpPr>
          <p:cNvPr id="1049411" name="Rectangle 2"/>
          <p:cNvSpPr>
            <a:spLocks noGrp="1" noChangeArrowheads="1"/>
          </p:cNvSpPr>
          <p:nvPr>
            <p:ph type="body" idx="1"/>
          </p:nvPr>
        </p:nvSpPr>
        <p:spPr>
          <a:xfrm>
            <a:off x="1800225" y="342900"/>
            <a:ext cx="8458200" cy="6172200"/>
          </a:xfrm>
        </p:spPr>
        <p:txBody>
          <a:bodyPr>
            <a:normAutofit/>
          </a:bodyPr>
          <a:p>
            <a:pPr>
              <a:lnSpc>
                <a:spcPct val="90000"/>
              </a:lnSpc>
            </a:pPr>
            <a:endParaRPr sz="2400"/>
          </a:p>
          <a:p>
            <a:pPr>
              <a:lnSpc>
                <a:spcPct val="90000"/>
              </a:lnSpc>
              <a:buNone/>
            </a:pPr>
            <a:r>
              <a:rPr b="1" sz="2400"/>
              <a:t>Other antileishmanial agents for </a:t>
            </a:r>
            <a:r>
              <a:rPr b="1" sz="1600"/>
              <a:t>antimony-resistant leishmaniasis.</a:t>
            </a:r>
            <a:endParaRPr b="1" sz="2400"/>
          </a:p>
          <a:p>
            <a:pPr>
              <a:lnSpc>
                <a:spcPct val="90000"/>
              </a:lnSpc>
              <a:buNone/>
            </a:pPr>
            <a:r>
              <a:rPr b="1" sz="2400">
                <a:solidFill>
                  <a:srgbClr val="CC0000"/>
                </a:solidFill>
              </a:rPr>
              <a:t>2. </a:t>
            </a:r>
            <a:r>
              <a:rPr b="1" sz="2400">
                <a:solidFill>
                  <a:srgbClr val="CC0000"/>
                </a:solidFill>
              </a:rPr>
              <a:t>Miltefosine</a:t>
            </a:r>
            <a:endParaRPr b="1" sz="2400">
              <a:solidFill>
                <a:srgbClr val="CC0000"/>
              </a:solidFill>
            </a:endParaRPr>
          </a:p>
          <a:p>
            <a:pPr>
              <a:lnSpc>
                <a:spcPct val="90000"/>
              </a:lnSpc>
              <a:buNone/>
            </a:pPr>
            <a:r>
              <a:rPr b="1" sz="2400">
                <a:solidFill>
                  <a:srgbClr val="CC0000"/>
                </a:solidFill>
              </a:rPr>
              <a:t>3. Pentamidine</a:t>
            </a:r>
            <a:endParaRPr b="1" sz="2400">
              <a:solidFill>
                <a:srgbClr val="CC0000"/>
              </a:solidFill>
            </a:endParaRPr>
          </a:p>
          <a:p>
            <a:pPr>
              <a:lnSpc>
                <a:spcPct val="90000"/>
              </a:lnSpc>
              <a:buNone/>
            </a:pPr>
            <a:r>
              <a:rPr b="1" sz="2400">
                <a:solidFill>
                  <a:srgbClr val="CC0000"/>
                </a:solidFill>
              </a:rPr>
              <a:t>4. Amphotericin B</a:t>
            </a:r>
            <a:endParaRPr b="1" sz="2400">
              <a:solidFill>
                <a:srgbClr val="CC0000"/>
              </a:solidFill>
            </a:endParaRPr>
          </a:p>
          <a:p>
            <a:pPr>
              <a:lnSpc>
                <a:spcPct val="90000"/>
              </a:lnSpc>
              <a:buNone/>
            </a:pPr>
            <a:r>
              <a:rPr b="1" sz="2400">
                <a:solidFill>
                  <a:srgbClr val="CC0000"/>
                </a:solidFill>
              </a:rPr>
              <a:t>5. </a:t>
            </a:r>
            <a:r>
              <a:rPr b="1" sz="2400">
                <a:solidFill>
                  <a:srgbClr val="CC0000"/>
                </a:solidFill>
              </a:rPr>
              <a:t>Paramomycin</a:t>
            </a:r>
            <a:endParaRPr b="1" sz="2400">
              <a:solidFill>
                <a:srgbClr val="CC0000"/>
              </a:solidFill>
            </a:endParaRPr>
          </a:p>
          <a:p>
            <a:pPr>
              <a:lnSpc>
                <a:spcPct val="90000"/>
              </a:lnSpc>
              <a:buNone/>
            </a:pPr>
            <a:r>
              <a:rPr b="1" sz="2400">
                <a:solidFill>
                  <a:srgbClr val="CC0000"/>
                </a:solidFill>
              </a:rPr>
              <a:t>6. Allopurinol </a:t>
            </a:r>
            <a:endParaRPr b="1" sz="2400">
              <a:solidFill>
                <a:srgbClr val="CC0000"/>
              </a:solidFill>
            </a:endParaRPr>
          </a:p>
          <a:p>
            <a:pPr>
              <a:lnSpc>
                <a:spcPct val="90000"/>
              </a:lnSpc>
              <a:buNone/>
            </a:pPr>
            <a:r>
              <a:rPr b="1" sz="2400">
                <a:solidFill>
                  <a:srgbClr val="CC0000"/>
                </a:solidFill>
              </a:rPr>
              <a:t>7. Ketoconazole</a:t>
            </a:r>
            <a:r>
              <a:rPr sz="2400">
                <a:solidFill>
                  <a:srgbClr val="CC0000"/>
                </a:solidFill>
              </a:rPr>
              <a:t> (L. </a:t>
            </a:r>
            <a:r>
              <a:rPr sz="2400">
                <a:solidFill>
                  <a:srgbClr val="CC0000"/>
                </a:solidFill>
              </a:rPr>
              <a:t>mexicana</a:t>
            </a:r>
            <a:r>
              <a:rPr sz="2400">
                <a:solidFill>
                  <a:srgbClr val="CC0000"/>
                </a:solidFill>
              </a:rPr>
              <a:t> not L. </a:t>
            </a:r>
            <a:r>
              <a:rPr sz="2400">
                <a:solidFill>
                  <a:srgbClr val="CC0000"/>
                </a:solidFill>
              </a:rPr>
              <a:t>braziliensis</a:t>
            </a:r>
            <a:r>
              <a:rPr sz="2400">
                <a:solidFill>
                  <a:srgbClr val="CC0000"/>
                </a:solidFill>
              </a:rPr>
              <a:t>)</a:t>
            </a:r>
            <a:endParaRPr sz="2400">
              <a:solidFill>
                <a:srgbClr val="CC0000"/>
              </a:solidFill>
            </a:endParaRPr>
          </a:p>
        </p:txBody>
      </p:sp>
    </p:spTree>
  </p:cSld>
  <p:clrMapOvr>
    <a:masterClrMapping/>
  </p:clrMapOvr>
</p:sld>
</file>

<file path=ppt/slides/slide433.xml><?xml version="1.0" encoding="utf-8"?>
<p:sld xmlns:a="http://schemas.openxmlformats.org/drawingml/2006/main" xmlns:r="http://schemas.openxmlformats.org/officeDocument/2006/relationships" xmlns:p="http://schemas.openxmlformats.org/presentationml/2006/main">
  <p:cSld>
    <p:spTree>
      <p:nvGrpSpPr>
        <p:cNvPr id="1099" name=""/>
        <p:cNvGrpSpPr/>
        <p:nvPr/>
      </p:nvGrpSpPr>
      <p:grpSpPr>
        <a:xfrm>
          <a:off x="0" y="0"/>
          <a:ext cx="0" cy="0"/>
          <a:chOff x="0" y="0"/>
          <a:chExt cx="0" cy="0"/>
        </a:xfrm>
      </p:grpSpPr>
      <p:sp>
        <p:nvSpPr>
          <p:cNvPr id="1049412" name="Title 1"/>
          <p:cNvSpPr>
            <a:spLocks noGrp="1"/>
          </p:cNvSpPr>
          <p:nvPr>
            <p:ph type="title"/>
          </p:nvPr>
        </p:nvSpPr>
        <p:spPr/>
        <p:txBody>
          <a:bodyPr/>
          <a:p>
            <a:r>
              <a:t> Trichomonacides </a:t>
            </a:r>
          </a:p>
        </p:txBody>
      </p:sp>
      <p:sp>
        <p:nvSpPr>
          <p:cNvPr id="1049413" name="Content Placeholder 2"/>
          <p:cNvSpPr>
            <a:spLocks noGrp="1"/>
          </p:cNvSpPr>
          <p:nvPr>
            <p:ph idx="1"/>
          </p:nvPr>
        </p:nvSpPr>
        <p:spPr>
          <a:xfrm>
            <a:off x="561970" y="1562095"/>
            <a:ext cx="11277595" cy="5010154"/>
          </a:xfrm>
        </p:spPr>
        <p:txBody>
          <a:bodyPr>
            <a:normAutofit/>
          </a:bodyPr>
          <a:p>
            <a:r>
              <a:t>Metronidazole is </a:t>
            </a:r>
            <a:r>
              <a:rPr b="1"/>
              <a:t>the treatment of choice for Trichomonas vaginalis infection.</a:t>
            </a:r>
            <a:r>
              <a:t> </a:t>
            </a:r>
          </a:p>
          <a:p>
            <a:pPr lvl="1"/>
            <a:r>
              <a:t>Metronidazole: 200 mg every 8 hours for 7 days or 400–500 mg every 12 hours for 5–7 days, or 2 g as a single dose; child 1–3 years 50 mg every 8 hours for 7 days; 3–7 years 100 mg every 12 hours; 7–10 years 100 mg every 8 hours </a:t>
            </a:r>
          </a:p>
          <a:p>
            <a:r>
              <a:t>Contact tracing is recommended and sexual contacts should be treated simultaneously. </a:t>
            </a:r>
          </a:p>
          <a:p>
            <a:r>
              <a:t>If metronidazole is ineffective, tinidazole may be an alternative. Tinidazole: single 2 g dose; child single dose of 50–75 mg/kg (repeated once if necessary)</a:t>
            </a:r>
          </a:p>
        </p:txBody>
      </p:sp>
    </p:spTree>
  </p:cSld>
  <p:clrMapOvr>
    <a:masterClrMapping/>
  </p:clrMapOvr>
</p:sld>
</file>

<file path=ppt/slides/slide434.xml><?xml version="1.0" encoding="utf-8"?>
<p:sld xmlns:a="http://schemas.openxmlformats.org/drawingml/2006/main" xmlns:r="http://schemas.openxmlformats.org/officeDocument/2006/relationships" xmlns:p="http://schemas.openxmlformats.org/presentationml/2006/main">
  <p:cSld>
    <p:spTree>
      <p:nvGrpSpPr>
        <p:cNvPr id="1100" name=""/>
        <p:cNvGrpSpPr/>
        <p:nvPr/>
      </p:nvGrpSpPr>
      <p:grpSpPr>
        <a:xfrm>
          <a:off x="0" y="0"/>
          <a:ext cx="0" cy="0"/>
          <a:chOff x="0" y="0"/>
          <a:chExt cx="0" cy="0"/>
        </a:xfrm>
      </p:grpSpPr>
      <p:sp>
        <p:nvSpPr>
          <p:cNvPr id="1049414" name="Title 1"/>
          <p:cNvSpPr>
            <a:spLocks noGrp="1"/>
          </p:cNvSpPr>
          <p:nvPr>
            <p:ph type="title"/>
          </p:nvPr>
        </p:nvSpPr>
        <p:spPr/>
        <p:txBody>
          <a:bodyPr/>
          <a:p>
            <a:r>
              <a:t>Antigiardial</a:t>
            </a:r>
            <a:r>
              <a:t> drugs </a:t>
            </a:r>
          </a:p>
        </p:txBody>
      </p:sp>
      <p:sp>
        <p:nvSpPr>
          <p:cNvPr id="1049415" name="Content Placeholder 2"/>
          <p:cNvSpPr>
            <a:spLocks noGrp="1"/>
          </p:cNvSpPr>
          <p:nvPr>
            <p:ph idx="1"/>
          </p:nvPr>
        </p:nvSpPr>
        <p:spPr>
          <a:xfrm>
            <a:off x="838204" y="1524004"/>
            <a:ext cx="10515600" cy="4968868"/>
          </a:xfrm>
        </p:spPr>
        <p:txBody>
          <a:bodyPr>
            <a:normAutofit/>
          </a:bodyPr>
          <a:p>
            <a:r>
              <a:rPr b="1"/>
              <a:t>Metronidazole is the treatment of choice for Giardia lamblia infections</a:t>
            </a:r>
            <a:r>
              <a:t>. </a:t>
            </a:r>
          </a:p>
          <a:p>
            <a:r>
              <a:rPr b="1"/>
              <a:t>Alternative treatments are tinidazole or mepacrine hydrochloride</a:t>
            </a:r>
            <a:r>
              <a:t>. </a:t>
            </a:r>
          </a:p>
          <a:p>
            <a:pPr indent="0" marL="0">
              <a:buNone/>
            </a:pPr>
            <a:r>
              <a:rPr b="1" sz="3500"/>
              <a:t>Drugs for toxoplasmosis </a:t>
            </a:r>
            <a:endParaRPr b="1" sz="3500"/>
          </a:p>
          <a:p>
            <a:r>
              <a:t>Most infections caused by Toxoplasma gondii are self-limiting, and treatment is not necessary. </a:t>
            </a:r>
          </a:p>
          <a:p>
            <a:r>
              <a:t>Toxoplasmic</a:t>
            </a:r>
            <a:r>
              <a:t> encephalitis is a common complication of AIDS. </a:t>
            </a:r>
          </a:p>
          <a:p>
            <a:pPr lvl="1"/>
            <a:r>
              <a:rPr b="1"/>
              <a:t>The treatment of choice is a combination of pyrimethamine and sulfadiazine, given for several weeks.</a:t>
            </a:r>
            <a:r>
              <a:t> </a:t>
            </a:r>
          </a:p>
          <a:p>
            <a:pPr lvl="1"/>
            <a:r>
              <a:t>Alternative regimens include: </a:t>
            </a:r>
            <a:r>
              <a:rPr b="1"/>
              <a:t>combinations of pyrimethamine with clindamycin or clarithromycin or azithromycin</a:t>
            </a:r>
            <a:r>
              <a:t>. </a:t>
            </a:r>
          </a:p>
        </p:txBody>
      </p:sp>
    </p:spTree>
  </p:cSld>
  <p:clrMapOvr>
    <a:masterClrMapping/>
  </p:clrMapOvr>
</p:sld>
</file>

<file path=ppt/slides/slide435.xml><?xml version="1.0" encoding="utf-8"?>
<p:sld xmlns:a="http://schemas.openxmlformats.org/drawingml/2006/main" xmlns:r="http://schemas.openxmlformats.org/officeDocument/2006/relationships" xmlns:p="http://schemas.openxmlformats.org/presentationml/2006/main">
  <p:cSld>
    <p:spTree>
      <p:nvGrpSpPr>
        <p:cNvPr id="1101" name=""/>
        <p:cNvGrpSpPr/>
        <p:nvPr/>
      </p:nvGrpSpPr>
      <p:grpSpPr>
        <a:xfrm>
          <a:off x="0" y="0"/>
          <a:ext cx="0" cy="0"/>
          <a:chOff x="0" y="0"/>
          <a:chExt cx="0" cy="0"/>
        </a:xfrm>
      </p:grpSpPr>
      <p:sp>
        <p:nvSpPr>
          <p:cNvPr id="1049416" name="Title 1"/>
          <p:cNvSpPr>
            <a:spLocks noGrp="1"/>
          </p:cNvSpPr>
          <p:nvPr>
            <p:ph type="title"/>
          </p:nvPr>
        </p:nvSpPr>
        <p:spPr>
          <a:xfrm>
            <a:off x="838204" y="365126"/>
            <a:ext cx="10515600" cy="815978"/>
          </a:xfrm>
        </p:spPr>
        <p:txBody>
          <a:bodyPr/>
          <a:p>
            <a:r>
              <a:t>Drugs for pneumocystis pneumonia </a:t>
            </a:r>
          </a:p>
        </p:txBody>
      </p:sp>
      <p:sp>
        <p:nvSpPr>
          <p:cNvPr id="1049417" name="Content Placeholder 2"/>
          <p:cNvSpPr>
            <a:spLocks noGrp="1"/>
          </p:cNvSpPr>
          <p:nvPr>
            <p:ph idx="1"/>
          </p:nvPr>
        </p:nvSpPr>
        <p:spPr>
          <a:xfrm>
            <a:off x="542925" y="1181104"/>
            <a:ext cx="11401425" cy="5438779"/>
          </a:xfrm>
        </p:spPr>
        <p:txBody>
          <a:bodyPr>
            <a:normAutofit fontScale="83333" lnSpcReduction="20000"/>
          </a:bodyPr>
          <a:p>
            <a:r>
              <a:t>Pneumonia caused by Pneumocystis </a:t>
            </a:r>
            <a:r>
              <a:t>jirovecii</a:t>
            </a:r>
            <a:r>
              <a:t> (Pneumocystis carinii) occurs in immunosuppressed patients; </a:t>
            </a:r>
          </a:p>
          <a:p>
            <a:r>
              <a:t>it is a common cause of pneumonia in AIDS. </a:t>
            </a:r>
          </a:p>
          <a:p>
            <a:pPr indent="0" marL="0">
              <a:buNone/>
            </a:pPr>
            <a:r>
              <a:rPr b="1"/>
              <a:t>Treatment of ;</a:t>
            </a:r>
            <a:endParaRPr b="1"/>
          </a:p>
          <a:p>
            <a:r>
              <a:rPr b="1"/>
              <a:t>a) mild to moderate disease </a:t>
            </a:r>
            <a:endParaRPr b="1"/>
          </a:p>
          <a:p>
            <a:pPr lvl="1"/>
            <a:r>
              <a:rPr b="1"/>
              <a:t>Co-trimoxazole in high dosage is the drug of choice for the treatment of mild to moderate pneumocystis pneumonia. </a:t>
            </a:r>
            <a:endParaRPr b="1"/>
          </a:p>
          <a:p>
            <a:pPr lvl="1"/>
            <a:r>
              <a:rPr>
                <a:solidFill>
                  <a:srgbClr val="FF0000"/>
                </a:solidFill>
              </a:rPr>
              <a:t>Alternatives treatments include</a:t>
            </a:r>
            <a:r>
              <a:t>: Atovaquone, A combination of dapsone 100 mg daily with trimethoprim 5 mg/kg every 6–8 hours given by mouth, A combination of clindamycin 600 mg by mouth every 8 hours and primaquine 30 mg daily by mouth;</a:t>
            </a:r>
          </a:p>
          <a:p>
            <a:r>
              <a:rPr b="1"/>
              <a:t>b) Severe disease </a:t>
            </a:r>
            <a:endParaRPr b="1"/>
          </a:p>
          <a:p>
            <a:pPr lvl="1"/>
            <a:r>
              <a:rPr b="1"/>
              <a:t>Co-trimoxazole in high dosage, given by mouth or by intravenous infusion, is the drug of choice</a:t>
            </a:r>
            <a:r>
              <a:t>. </a:t>
            </a:r>
          </a:p>
          <a:p>
            <a:pPr lvl="1"/>
            <a:r>
              <a:rPr>
                <a:solidFill>
                  <a:srgbClr val="FF0000"/>
                </a:solidFill>
              </a:rPr>
              <a:t>Alternative-</a:t>
            </a:r>
            <a:r>
              <a:t> Pentamidine </a:t>
            </a:r>
            <a:r>
              <a:t>isetionate</a:t>
            </a:r>
            <a:r>
              <a:t> given by intravenous infusion </a:t>
            </a:r>
          </a:p>
          <a:p>
            <a:pPr lvl="1"/>
            <a:r>
              <a:t>Adjunctive therapy In moderate to severe infections associated with HIV infection, prednisolone 50–80 mg daily is given by mouth for 5 days (alternatively, hydrocortisone may be given parenterally);</a:t>
            </a:r>
          </a:p>
          <a:p>
            <a:pPr lvl="1"/>
            <a:r>
              <a:t> Co-trimoxazole by mouth is the drug </a:t>
            </a:r>
            <a:r>
              <a:rPr b="1"/>
              <a:t>of choice for prophylaxis against pneumocystis pneumonia</a:t>
            </a:r>
            <a:r>
              <a:t>. It is given in a dose of 960 mg daily or 960 mg on alternate days (3 times a week); the dose may be reduced to co-trimoxazole 480 mg daily to improve tolerance.</a:t>
            </a:r>
          </a:p>
        </p:txBody>
      </p:sp>
    </p:spTree>
  </p:cSld>
  <p:clrMapOvr>
    <a:masterClrMapping/>
  </p:clrMapOvr>
</p:sld>
</file>

<file path=ppt/slides/slide436.xml><?xml version="1.0" encoding="utf-8"?>
<p:sld xmlns:a="http://schemas.openxmlformats.org/drawingml/2006/main" xmlns:r="http://schemas.openxmlformats.org/officeDocument/2006/relationships" xmlns:p="http://schemas.openxmlformats.org/presentationml/2006/main">
  <p:cSld>
    <p:spTree>
      <p:nvGrpSpPr>
        <p:cNvPr id="1102" name=""/>
        <p:cNvGrpSpPr/>
        <p:nvPr/>
      </p:nvGrpSpPr>
      <p:grpSpPr>
        <a:xfrm>
          <a:off x="0" y="0"/>
          <a:ext cx="0" cy="0"/>
          <a:chOff x="0" y="0"/>
          <a:chExt cx="0" cy="0"/>
        </a:xfrm>
      </p:grpSpPr>
      <p:sp>
        <p:nvSpPr>
          <p:cNvPr id="1049418" name="Title 1"/>
          <p:cNvSpPr>
            <a:spLocks noGrp="1"/>
          </p:cNvSpPr>
          <p:nvPr>
            <p:ph type="title"/>
          </p:nvPr>
        </p:nvSpPr>
        <p:spPr>
          <a:xfrm>
            <a:off x="838204" y="387701"/>
            <a:ext cx="10515600" cy="850552"/>
          </a:xfrm>
        </p:spPr>
        <p:txBody>
          <a:bodyPr/>
          <a:p>
            <a:r>
              <a:rPr b="1"/>
              <a:t>                     Antiviral agents</a:t>
            </a:r>
            <a:endParaRPr b="1"/>
          </a:p>
        </p:txBody>
      </p:sp>
      <p:sp>
        <p:nvSpPr>
          <p:cNvPr id="1049419" name="Content Placeholder 2"/>
          <p:cNvSpPr>
            <a:spLocks noGrp="1"/>
          </p:cNvSpPr>
          <p:nvPr>
            <p:ph idx="1"/>
          </p:nvPr>
        </p:nvSpPr>
        <p:spPr>
          <a:xfrm>
            <a:off x="600075" y="1476370"/>
            <a:ext cx="11058525" cy="5229225"/>
          </a:xfrm>
        </p:spPr>
        <p:txBody>
          <a:bodyPr>
            <a:normAutofit/>
          </a:bodyPr>
          <a:p>
            <a:r>
              <a:t>Viruses present a more difficulty problem of chemotherapy than do higher organisms, e.g. bacteria, for they are intracellular parasites that use the metabolism of the host cells.</a:t>
            </a:r>
          </a:p>
          <a:p>
            <a:r>
              <a:t>Antiviral agents are most active when virus are replicating.</a:t>
            </a:r>
          </a:p>
          <a:p>
            <a:r>
              <a:t>The earlier the treatment is given the better.</a:t>
            </a:r>
          </a:p>
          <a:p>
            <a:r>
              <a:t>Apart from primary infections ,viral illness is often the consequences of reactivation of latent virus in the body.</a:t>
            </a:r>
          </a:p>
          <a:p>
            <a:r>
              <a:t>Patients whose immune system is compromised may suffer particular severe illness.</a:t>
            </a:r>
          </a:p>
          <a:p>
            <a:r>
              <a:t>Viruses are capable of developing resistance.</a:t>
            </a:r>
          </a:p>
          <a:p/>
        </p:txBody>
      </p:sp>
    </p:spTree>
  </p:cSld>
  <p:clrMapOvr>
    <a:masterClrMapping/>
  </p:clrMapOvr>
</p:sld>
</file>

<file path=ppt/slides/slide437.xml><?xml version="1.0" encoding="utf-8"?>
<p:sld xmlns:a="http://schemas.openxmlformats.org/drawingml/2006/main" xmlns:r="http://schemas.openxmlformats.org/officeDocument/2006/relationships" xmlns:p="http://schemas.openxmlformats.org/presentationml/2006/main">
  <p:cSld>
    <p:spTree>
      <p:nvGrpSpPr>
        <p:cNvPr id="1103" name=""/>
        <p:cNvGrpSpPr/>
        <p:nvPr/>
      </p:nvGrpSpPr>
      <p:grpSpPr>
        <a:xfrm>
          <a:off x="0" y="0"/>
          <a:ext cx="0" cy="0"/>
          <a:chOff x="0" y="0"/>
          <a:chExt cx="0" cy="0"/>
        </a:xfrm>
      </p:grpSpPr>
      <p:sp>
        <p:nvSpPr>
          <p:cNvPr id="1049420" name="Title 1"/>
          <p:cNvSpPr>
            <a:spLocks noGrp="1"/>
          </p:cNvSpPr>
          <p:nvPr>
            <p:ph type="title"/>
          </p:nvPr>
        </p:nvSpPr>
        <p:spPr>
          <a:xfrm>
            <a:off x="1097277" y="286601"/>
            <a:ext cx="10058400" cy="487114"/>
          </a:xfrm>
        </p:spPr>
        <p:txBody>
          <a:bodyPr>
            <a:normAutofit fontScale="90000"/>
          </a:bodyPr>
          <a:p>
            <a:r>
              <a:t>         </a:t>
            </a:r>
            <a:r>
              <a:rPr sz="3600">
                <a:latin typeface="Times New Roman"/>
                <a:cs typeface="Times New Roman"/>
              </a:rPr>
              <a:t>Antiviral and antiretroviral cont.’</a:t>
            </a:r>
            <a:endParaRPr sz="3600">
              <a:latin typeface="Times New Roman"/>
              <a:cs typeface="Times New Roman"/>
            </a:endParaRPr>
          </a:p>
        </p:txBody>
      </p:sp>
      <p:graphicFrame>
        <p:nvGraphicFramePr>
          <p:cNvPr id="4194308" name="Content Placeholder 6"/>
          <p:cNvGraphicFramePr>
            <a:graphicFrameLocks noGrp="1"/>
          </p:cNvGraphicFramePr>
          <p:nvPr>
            <p:ph idx="1"/>
          </p:nvPr>
        </p:nvGraphicFramePr>
        <p:xfrm>
          <a:off x="347003" y="1031630"/>
          <a:ext cx="11558953" cy="5692727"/>
        </p:xfrm>
        <a:graphic>
          <a:graphicData uri="http://schemas.openxmlformats.org/drawingml/2006/table">
            <a:tbl>
              <a:tblPr firstRow="1" bandRow="1">
                <a:tableStyleId>{5C22544A-7EE6-4342-B048-85BDC9FD1C3A}</a:tableStyleId>
              </a:tblPr>
              <a:tblGrid>
                <a:gridCol w="2769430"/>
                <a:gridCol w="2929841"/>
                <a:gridCol w="2929841"/>
                <a:gridCol w="2929841"/>
              </a:tblGrid>
              <a:tr h="367273">
                <a:tc>
                  <a:txBody>
                    <a:bodyPr/>
                    <a:p>
                      <a:r>
                        <a:rPr>
                          <a:solidFill>
                            <a:schemeClr val="tx1"/>
                          </a:solidFill>
                        </a:rPr>
                        <a:t>Drug </a:t>
                      </a:r>
                      <a:endParaRPr>
                        <a:solidFill>
                          <a:schemeClr val="tx1"/>
                        </a:solidFill>
                      </a:endParaRPr>
                    </a:p>
                  </a:txBody>
                </a:tc>
                <a:tc>
                  <a:txBody>
                    <a:bodyPr/>
                    <a:p>
                      <a:r>
                        <a:rPr>
                          <a:solidFill>
                            <a:schemeClr val="tx1"/>
                          </a:solidFill>
                        </a:rPr>
                        <a:t>viruses</a:t>
                      </a:r>
                      <a:endParaRPr>
                        <a:solidFill>
                          <a:schemeClr val="tx1"/>
                        </a:solidFill>
                      </a:endParaRPr>
                    </a:p>
                  </a:txBody>
                </a:tc>
                <a:tc>
                  <a:txBody>
                    <a:bodyPr/>
                    <a:p>
                      <a:r>
                        <a:rPr>
                          <a:solidFill>
                            <a:schemeClr val="tx1"/>
                          </a:solidFill>
                        </a:rPr>
                        <a:t>Chemical type</a:t>
                      </a:r>
                      <a:endParaRPr>
                        <a:solidFill>
                          <a:schemeClr val="tx1"/>
                        </a:solidFill>
                      </a:endParaRPr>
                    </a:p>
                  </a:txBody>
                </a:tc>
                <a:tc>
                  <a:txBody>
                    <a:bodyPr/>
                    <a:p>
                      <a:r>
                        <a:rPr>
                          <a:solidFill>
                            <a:schemeClr val="tx1"/>
                          </a:solidFill>
                        </a:rPr>
                        <a:t>target</a:t>
                      </a:r>
                      <a:endParaRPr>
                        <a:solidFill>
                          <a:schemeClr val="tx1"/>
                        </a:solidFill>
                      </a:endParaRPr>
                    </a:p>
                  </a:txBody>
                </a:tc>
              </a:tr>
              <a:tr h="1193636">
                <a:tc>
                  <a:txBody>
                    <a:bodyPr/>
                    <a:p>
                      <a:r>
                        <a:rPr>
                          <a:solidFill>
                            <a:schemeClr val="tx1"/>
                          </a:solidFill>
                        </a:rPr>
                        <a:t>Non nucleotide reverse transcriptase inhibitor.(NNRTIs);Nevirapine, Delavirdine.</a:t>
                      </a:r>
                      <a:endParaRPr>
                        <a:solidFill>
                          <a:schemeClr val="tx1"/>
                        </a:solidFill>
                      </a:endParaRPr>
                    </a:p>
                  </a:txBody>
                </a:tc>
                <a:tc>
                  <a:txBody>
                    <a:bodyPr/>
                    <a:p>
                      <a:r>
                        <a:rPr>
                          <a:solidFill>
                            <a:schemeClr val="tx1"/>
                          </a:solidFill>
                        </a:rPr>
                        <a:t>HIV Virus</a:t>
                      </a:r>
                      <a:endParaRPr>
                        <a:solidFill>
                          <a:schemeClr val="tx1"/>
                        </a:solidFill>
                      </a:endParaRPr>
                    </a:p>
                  </a:txBody>
                </a:tc>
                <a:tc>
                  <a:txBody>
                    <a:bodyPr/>
                    <a:p>
                      <a:r>
                        <a:rPr>
                          <a:solidFill>
                            <a:schemeClr val="tx1"/>
                          </a:solidFill>
                        </a:rPr>
                        <a:t>Non nucleotide analogue</a:t>
                      </a:r>
                      <a:endParaRPr>
                        <a:solidFill>
                          <a:schemeClr val="tx1"/>
                        </a:solidFill>
                      </a:endParaRPr>
                    </a:p>
                  </a:txBody>
                </a:tc>
                <a:tc>
                  <a:txBody>
                    <a:bodyPr/>
                    <a:p>
                      <a:r>
                        <a:rPr>
                          <a:solidFill>
                            <a:schemeClr val="tx1"/>
                          </a:solidFill>
                        </a:rPr>
                        <a:t>Reverse transcriptase</a:t>
                      </a:r>
                      <a:endParaRPr>
                        <a:solidFill>
                          <a:schemeClr val="tx1"/>
                        </a:solidFill>
                      </a:endParaRPr>
                    </a:p>
                  </a:txBody>
                </a:tc>
              </a:tr>
              <a:tr h="918182">
                <a:tc>
                  <a:txBody>
                    <a:bodyPr/>
                    <a:p>
                      <a:r>
                        <a:rPr>
                          <a:solidFill>
                            <a:schemeClr val="tx1"/>
                          </a:solidFill>
                        </a:rPr>
                        <a:t>protease inhibitors; Saquinavir, Ritonavir, Indinavir, Nelfinavir.</a:t>
                      </a:r>
                      <a:endParaRPr>
                        <a:solidFill>
                          <a:schemeClr val="tx1"/>
                        </a:solidFill>
                      </a:endParaRPr>
                    </a:p>
                  </a:txBody>
                </a:tc>
                <a:tc>
                  <a:txBody>
                    <a:bodyPr/>
                    <a:p>
                      <a:r>
                        <a:rPr>
                          <a:solidFill>
                            <a:schemeClr val="tx1"/>
                          </a:solidFill>
                        </a:rPr>
                        <a:t> HIV virus</a:t>
                      </a:r>
                      <a:endParaRPr>
                        <a:solidFill>
                          <a:schemeClr val="tx1"/>
                        </a:solidFill>
                      </a:endParaRPr>
                    </a:p>
                  </a:txBody>
                </a:tc>
                <a:tc>
                  <a:txBody>
                    <a:bodyPr/>
                    <a:p>
                      <a:r>
                        <a:rPr>
                          <a:solidFill>
                            <a:schemeClr val="tx1"/>
                          </a:solidFill>
                        </a:rPr>
                        <a:t>Peptide analogue</a:t>
                      </a:r>
                      <a:endParaRPr>
                        <a:solidFill>
                          <a:schemeClr val="tx1"/>
                        </a:solidFill>
                      </a:endParaRPr>
                    </a:p>
                  </a:txBody>
                </a:tc>
                <a:tc>
                  <a:txBody>
                    <a:bodyPr/>
                    <a:p>
                      <a:r>
                        <a:rPr>
                          <a:solidFill>
                            <a:schemeClr val="tx1"/>
                          </a:solidFill>
                        </a:rPr>
                        <a:t>HIV protease</a:t>
                      </a:r>
                      <a:endParaRPr>
                        <a:solidFill>
                          <a:schemeClr val="tx1"/>
                        </a:solidFill>
                      </a:endParaRPr>
                    </a:p>
                  </a:txBody>
                </a:tc>
              </a:tr>
              <a:tr h="918182">
                <a:tc>
                  <a:txBody>
                    <a:bodyPr/>
                    <a:p>
                      <a:r>
                        <a:rPr>
                          <a:solidFill>
                            <a:schemeClr val="tx1"/>
                          </a:solidFill>
                        </a:rPr>
                        <a:t>Ribavirin</a:t>
                      </a:r>
                      <a:endParaRPr>
                        <a:solidFill>
                          <a:schemeClr val="tx1"/>
                        </a:solidFill>
                      </a:endParaRPr>
                    </a:p>
                  </a:txBody>
                </a:tc>
                <a:tc>
                  <a:txBody>
                    <a:bodyPr/>
                    <a:p>
                      <a:r>
                        <a:rPr>
                          <a:solidFill>
                            <a:schemeClr val="tx1"/>
                          </a:solidFill>
                        </a:rPr>
                        <a:t>Broad spectrum: HCV, HSV, Measles, Lasa fever, SARS</a:t>
                      </a:r>
                      <a:endParaRPr>
                        <a:solidFill>
                          <a:schemeClr val="tx1"/>
                        </a:solidFill>
                      </a:endParaRPr>
                    </a:p>
                  </a:txBody>
                </a:tc>
                <a:tc>
                  <a:txBody>
                    <a:bodyPr/>
                    <a:p>
                      <a:r>
                        <a:rPr>
                          <a:solidFill>
                            <a:schemeClr val="tx1"/>
                          </a:solidFill>
                        </a:rPr>
                        <a:t>Triazole carboxamide</a:t>
                      </a:r>
                      <a:endParaRPr>
                        <a:solidFill>
                          <a:schemeClr val="tx1"/>
                        </a:solidFill>
                      </a:endParaRPr>
                    </a:p>
                  </a:txBody>
                </a:tc>
                <a:tc>
                  <a:txBody>
                    <a:bodyPr/>
                    <a:p>
                      <a:r>
                        <a:rPr>
                          <a:solidFill>
                            <a:schemeClr val="tx1"/>
                          </a:solidFill>
                        </a:rPr>
                        <a:t>RNA mutagen</a:t>
                      </a:r>
                      <a:endParaRPr>
                        <a:solidFill>
                          <a:schemeClr val="tx1"/>
                        </a:solidFill>
                      </a:endParaRPr>
                    </a:p>
                  </a:txBody>
                </a:tc>
              </a:tr>
              <a:tr h="642727">
                <a:tc>
                  <a:txBody>
                    <a:bodyPr/>
                    <a:p>
                      <a:r>
                        <a:rPr>
                          <a:solidFill>
                            <a:schemeClr val="tx1"/>
                          </a:solidFill>
                        </a:rPr>
                        <a:t>Amantadine/Rimantadine</a:t>
                      </a:r>
                      <a:endParaRPr>
                        <a:solidFill>
                          <a:schemeClr val="tx1"/>
                        </a:solidFill>
                      </a:endParaRPr>
                    </a:p>
                  </a:txBody>
                </a:tc>
                <a:tc>
                  <a:txBody>
                    <a:bodyPr/>
                    <a:p>
                      <a:r>
                        <a:rPr>
                          <a:solidFill>
                            <a:schemeClr val="tx1"/>
                          </a:solidFill>
                        </a:rPr>
                        <a:t>Influenza A strains</a:t>
                      </a:r>
                      <a:endParaRPr>
                        <a:solidFill>
                          <a:schemeClr val="tx1"/>
                        </a:solidFill>
                      </a:endParaRPr>
                    </a:p>
                  </a:txBody>
                </a:tc>
                <a:tc>
                  <a:txBody>
                    <a:bodyPr/>
                    <a:p>
                      <a:r>
                        <a:rPr>
                          <a:solidFill>
                            <a:schemeClr val="tx1"/>
                          </a:solidFill>
                        </a:rPr>
                        <a:t>Tricyclic amine</a:t>
                      </a:r>
                      <a:endParaRPr>
                        <a:solidFill>
                          <a:schemeClr val="tx1"/>
                        </a:solidFill>
                      </a:endParaRPr>
                    </a:p>
                  </a:txBody>
                </a:tc>
                <a:tc>
                  <a:txBody>
                    <a:bodyPr/>
                    <a:p>
                      <a:r>
                        <a:rPr>
                          <a:solidFill>
                            <a:schemeClr val="tx1"/>
                          </a:solidFill>
                        </a:rPr>
                        <a:t>Matrix protein/hemagglutinin</a:t>
                      </a:r>
                      <a:endParaRPr>
                        <a:solidFill>
                          <a:schemeClr val="tx1"/>
                        </a:solidFill>
                      </a:endParaRPr>
                    </a:p>
                  </a:txBody>
                </a:tc>
              </a:tr>
              <a:tr h="642727">
                <a:tc>
                  <a:txBody>
                    <a:bodyPr/>
                    <a:p>
                      <a:r>
                        <a:rPr>
                          <a:solidFill>
                            <a:schemeClr val="tx1"/>
                          </a:solidFill>
                        </a:rPr>
                        <a:t>Zanamivir, oseltamivir phosphate</a:t>
                      </a:r>
                      <a:endParaRPr>
                        <a:solidFill>
                          <a:schemeClr val="tx1"/>
                        </a:solidFill>
                      </a:endParaRPr>
                    </a:p>
                  </a:txBody>
                </a:tc>
                <a:tc>
                  <a:txBody>
                    <a:bodyPr/>
                    <a:p>
                      <a:r>
                        <a:rPr>
                          <a:solidFill>
                            <a:schemeClr val="tx1"/>
                          </a:solidFill>
                        </a:rPr>
                        <a:t>Influenza strains A and B</a:t>
                      </a:r>
                      <a:endParaRPr>
                        <a:solidFill>
                          <a:schemeClr val="tx1"/>
                        </a:solidFill>
                      </a:endParaRPr>
                    </a:p>
                  </a:txBody>
                </a:tc>
                <a:tc>
                  <a:txBody>
                    <a:bodyPr/>
                    <a:p>
                      <a:r>
                        <a:rPr>
                          <a:solidFill>
                            <a:schemeClr val="tx1"/>
                          </a:solidFill>
                        </a:rPr>
                        <a:t>Neuraminic acid mimetic</a:t>
                      </a:r>
                      <a:endParaRPr>
                        <a:solidFill>
                          <a:schemeClr val="tx1"/>
                        </a:solidFill>
                      </a:endParaRPr>
                    </a:p>
                  </a:txBody>
                </a:tc>
                <a:tc>
                  <a:txBody>
                    <a:bodyPr/>
                    <a:p>
                      <a:r>
                        <a:rPr>
                          <a:solidFill>
                            <a:schemeClr val="tx1"/>
                          </a:solidFill>
                        </a:rPr>
                        <a:t>Neuraminidase inhibitor</a:t>
                      </a:r>
                      <a:endParaRPr>
                        <a:solidFill>
                          <a:schemeClr val="tx1"/>
                        </a:solidFill>
                      </a:endParaRPr>
                    </a:p>
                  </a:txBody>
                </a:tc>
              </a:tr>
              <a:tr h="642727">
                <a:tc>
                  <a:txBody>
                    <a:bodyPr/>
                    <a:p>
                      <a:r>
                        <a:rPr>
                          <a:solidFill>
                            <a:schemeClr val="tx1"/>
                          </a:solidFill>
                        </a:rPr>
                        <a:t>Pleconaril </a:t>
                      </a:r>
                      <a:endParaRPr>
                        <a:solidFill>
                          <a:schemeClr val="tx1"/>
                        </a:solidFill>
                      </a:endParaRPr>
                    </a:p>
                  </a:txBody>
                </a:tc>
                <a:tc>
                  <a:txBody>
                    <a:bodyPr/>
                    <a:p>
                      <a:r>
                        <a:rPr>
                          <a:solidFill>
                            <a:schemeClr val="tx1"/>
                          </a:solidFill>
                        </a:rPr>
                        <a:t>picornaviruses</a:t>
                      </a:r>
                      <a:endParaRPr>
                        <a:solidFill>
                          <a:schemeClr val="tx1"/>
                        </a:solidFill>
                      </a:endParaRPr>
                    </a:p>
                  </a:txBody>
                </a:tc>
                <a:tc>
                  <a:txBody>
                    <a:bodyPr/>
                    <a:p>
                      <a:r>
                        <a:rPr>
                          <a:solidFill>
                            <a:schemeClr val="tx1"/>
                          </a:solidFill>
                        </a:rPr>
                        <a:t>Small cyclic</a:t>
                      </a:r>
                      <a:endParaRPr>
                        <a:solidFill>
                          <a:schemeClr val="tx1"/>
                        </a:solidFill>
                      </a:endParaRPr>
                    </a:p>
                  </a:txBody>
                </a:tc>
                <a:tc>
                  <a:txBody>
                    <a:bodyPr/>
                    <a:p>
                      <a:r>
                        <a:rPr>
                          <a:solidFill>
                            <a:schemeClr val="tx1"/>
                          </a:solidFill>
                        </a:rPr>
                        <a:t>Blocks attachment and coating</a:t>
                      </a:r>
                      <a:endParaRPr>
                        <a:solidFill>
                          <a:schemeClr val="tx1"/>
                        </a:solidFill>
                      </a:endParaRPr>
                    </a:p>
                  </a:txBody>
                </a:tc>
              </a:tr>
              <a:tr h="367273">
                <a:tc>
                  <a:txBody>
                    <a:bodyPr/>
                    <a:p>
                      <a:r>
                        <a:rPr>
                          <a:solidFill>
                            <a:schemeClr val="tx1"/>
                          </a:solidFill>
                        </a:rPr>
                        <a:t>Interferons</a:t>
                      </a:r>
                      <a:endParaRPr>
                        <a:solidFill>
                          <a:schemeClr val="tx1"/>
                        </a:solidFill>
                      </a:endParaRPr>
                    </a:p>
                  </a:txBody>
                </a:tc>
                <a:tc>
                  <a:txBody>
                    <a:bodyPr/>
                    <a:p>
                      <a:r>
                        <a:rPr>
                          <a:solidFill>
                            <a:schemeClr val="tx1"/>
                          </a:solidFill>
                        </a:rPr>
                        <a:t>Hepatitis B and C virus</a:t>
                      </a:r>
                      <a:endParaRPr>
                        <a:solidFill>
                          <a:schemeClr val="tx1"/>
                        </a:solidFill>
                      </a:endParaRPr>
                    </a:p>
                  </a:txBody>
                </a:tc>
                <a:tc>
                  <a:txBody>
                    <a:bodyPr/>
                    <a:p>
                      <a:r>
                        <a:rPr>
                          <a:solidFill>
                            <a:schemeClr val="tx1"/>
                          </a:solidFill>
                        </a:rPr>
                        <a:t>protein</a:t>
                      </a:r>
                      <a:endParaRPr>
                        <a:solidFill>
                          <a:schemeClr val="tx1"/>
                        </a:solidFill>
                      </a:endParaRPr>
                    </a:p>
                  </a:txBody>
                </a:tc>
                <a:tc>
                  <a:txBody>
                    <a:bodyPr/>
                    <a:p>
                      <a:r>
                        <a:rPr>
                          <a:solidFill>
                            <a:schemeClr val="tx1"/>
                          </a:solidFill>
                        </a:rPr>
                        <a:t>Cell defense</a:t>
                      </a:r>
                      <a:endParaRPr>
                        <a:solidFill>
                          <a:schemeClr val="tx1"/>
                        </a:solidFill>
                      </a:endParaRPr>
                    </a:p>
                  </a:txBody>
                </a:tc>
              </a:tr>
            </a:tbl>
          </a:graphicData>
        </a:graphic>
      </p:graphicFrame>
    </p:spTree>
  </p:cSld>
  <p:clrMapOvr>
    <a:masterClrMapping/>
  </p:clrMapOvr>
</p:sld>
</file>

<file path=ppt/slides/slide438.xml><?xml version="1.0" encoding="utf-8"?>
<p:sld xmlns:a="http://schemas.openxmlformats.org/drawingml/2006/main" xmlns:r="http://schemas.openxmlformats.org/officeDocument/2006/relationships" xmlns:p="http://schemas.openxmlformats.org/presentationml/2006/main">
  <p:cSld>
    <p:spTree>
      <p:nvGrpSpPr>
        <p:cNvPr id="1104" name=""/>
        <p:cNvGrpSpPr/>
        <p:nvPr/>
      </p:nvGrpSpPr>
      <p:grpSpPr>
        <a:xfrm>
          <a:off x="0" y="0"/>
          <a:ext cx="0" cy="0"/>
          <a:chOff x="0" y="0"/>
          <a:chExt cx="0" cy="0"/>
        </a:xfrm>
      </p:grpSpPr>
      <p:sp>
        <p:nvSpPr>
          <p:cNvPr id="1049421" name="Title 1"/>
          <p:cNvSpPr>
            <a:spLocks noGrp="1"/>
          </p:cNvSpPr>
          <p:nvPr>
            <p:ph type="title"/>
          </p:nvPr>
        </p:nvSpPr>
        <p:spPr>
          <a:xfrm>
            <a:off x="1097277" y="0"/>
            <a:ext cx="10058400" cy="633045"/>
          </a:xfrm>
        </p:spPr>
        <p:txBody>
          <a:bodyPr>
            <a:normAutofit/>
          </a:bodyPr>
          <a:p>
            <a:r>
              <a:rPr sz="3600">
                <a:latin typeface="Times New Roman"/>
                <a:cs typeface="Times New Roman"/>
              </a:rPr>
              <a:t>Antiviral and antiretroviral agents  </a:t>
            </a:r>
            <a:endParaRPr sz="3600">
              <a:latin typeface="Times New Roman"/>
              <a:cs typeface="Times New Roman"/>
            </a:endParaRPr>
          </a:p>
        </p:txBody>
      </p:sp>
      <p:graphicFrame>
        <p:nvGraphicFramePr>
          <p:cNvPr id="4194309" name="Content Placeholder 3"/>
          <p:cNvGraphicFramePr>
            <a:graphicFrameLocks noGrp="1"/>
          </p:cNvGraphicFramePr>
          <p:nvPr>
            <p:ph idx="1"/>
          </p:nvPr>
        </p:nvGraphicFramePr>
        <p:xfrm>
          <a:off x="162951" y="91440"/>
          <a:ext cx="11927058" cy="6766560"/>
        </p:xfrm>
        <a:graphic>
          <a:graphicData uri="http://schemas.openxmlformats.org/drawingml/2006/table">
            <a:tbl>
              <a:tblPr firstRow="1" bandRow="1">
                <a:tableStyleId>{5C22544A-7EE6-4342-B048-85BDC9FD1C3A}</a:tableStyleId>
              </a:tblPr>
              <a:tblGrid>
                <a:gridCol w="2167128"/>
                <a:gridCol w="3253310"/>
                <a:gridCol w="3253310"/>
                <a:gridCol w="3253310"/>
              </a:tblGrid>
              <a:tr h="365633">
                <a:tc>
                  <a:txBody>
                    <a:bodyPr/>
                    <a:p>
                      <a:r>
                        <a:rPr>
                          <a:solidFill>
                            <a:schemeClr val="tx1"/>
                          </a:solidFill>
                        </a:rPr>
                        <a:t>Drug(</a:t>
                      </a:r>
                      <a:endParaRPr>
                        <a:solidFill>
                          <a:schemeClr val="tx1"/>
                        </a:solidFill>
                      </a:endParaRPr>
                    </a:p>
                  </a:txBody>
                </a:tc>
                <a:tc>
                  <a:txBody>
                    <a:bodyPr/>
                    <a:p>
                      <a:r>
                        <a:rPr>
                          <a:solidFill>
                            <a:schemeClr val="tx1"/>
                          </a:solidFill>
                        </a:rPr>
                        <a:t>viruses</a:t>
                      </a:r>
                      <a:endParaRPr>
                        <a:solidFill>
                          <a:schemeClr val="tx1"/>
                        </a:solidFill>
                      </a:endParaRPr>
                    </a:p>
                  </a:txBody>
                </a:tc>
                <a:tc>
                  <a:txBody>
                    <a:bodyPr/>
                    <a:p>
                      <a:r>
                        <a:rPr>
                          <a:solidFill>
                            <a:schemeClr val="tx1"/>
                          </a:solidFill>
                        </a:rPr>
                        <a:t>chemical</a:t>
                      </a:r>
                      <a:endParaRPr>
                        <a:solidFill>
                          <a:schemeClr val="tx1"/>
                        </a:solidFill>
                      </a:endParaRPr>
                    </a:p>
                  </a:txBody>
                </a:tc>
                <a:tc>
                  <a:txBody>
                    <a:bodyPr/>
                    <a:p>
                      <a:r>
                        <a:rPr>
                          <a:solidFill>
                            <a:schemeClr val="tx1"/>
                          </a:solidFill>
                        </a:rPr>
                        <a:t>Target</a:t>
                      </a:r>
                      <a:endParaRPr>
                        <a:solidFill>
                          <a:schemeClr val="tx1"/>
                        </a:solidFill>
                      </a:endParaRPr>
                    </a:p>
                  </a:txBody>
                </a:tc>
              </a:tr>
              <a:tr h="365633">
                <a:tc>
                  <a:txBody>
                    <a:bodyPr/>
                    <a:p>
                      <a:r>
                        <a:rPr>
                          <a:solidFill>
                            <a:schemeClr val="tx1"/>
                          </a:solidFill>
                        </a:rPr>
                        <a:t>vidarabine</a:t>
                      </a:r>
                      <a:endParaRPr>
                        <a:solidFill>
                          <a:schemeClr val="tx1"/>
                        </a:solidFill>
                      </a:endParaRPr>
                    </a:p>
                  </a:txBody>
                </a:tc>
                <a:tc>
                  <a:txBody>
                    <a:bodyPr/>
                    <a:p>
                      <a:r>
                        <a:rPr>
                          <a:solidFill>
                            <a:schemeClr val="tx1"/>
                          </a:solidFill>
                        </a:rPr>
                        <a:t>herpesvirus</a:t>
                      </a:r>
                      <a:endParaRPr>
                        <a:solidFill>
                          <a:schemeClr val="tx1"/>
                        </a:solidFill>
                      </a:endParaRPr>
                    </a:p>
                  </a:txBody>
                </a:tc>
                <a:tc>
                  <a:txBody>
                    <a:bodyPr/>
                    <a:p>
                      <a:r>
                        <a:rPr>
                          <a:solidFill>
                            <a:schemeClr val="tx1"/>
                          </a:solidFill>
                        </a:rPr>
                        <a:t>Nucleoside analogue</a:t>
                      </a:r>
                      <a:endParaRPr>
                        <a:solidFill>
                          <a:schemeClr val="tx1"/>
                        </a:solidFill>
                      </a:endParaRPr>
                    </a:p>
                  </a:txBody>
                </a:tc>
                <a:tc>
                  <a:txBody>
                    <a:bodyPr/>
                    <a:p>
                      <a:r>
                        <a:rPr>
                          <a:solidFill>
                            <a:schemeClr val="tx1"/>
                          </a:solidFill>
                        </a:rPr>
                        <a:t>Virus polymerase</a:t>
                      </a:r>
                      <a:endParaRPr>
                        <a:solidFill>
                          <a:schemeClr val="tx1"/>
                        </a:solidFill>
                      </a:endParaRPr>
                    </a:p>
                  </a:txBody>
                </a:tc>
              </a:tr>
              <a:tr h="365633">
                <a:tc>
                  <a:txBody>
                    <a:bodyPr/>
                    <a:p>
                      <a:r>
                        <a:rPr>
                          <a:solidFill>
                            <a:schemeClr val="tx1"/>
                          </a:solidFill>
                        </a:rPr>
                        <a:t>acyclovir</a:t>
                      </a:r>
                      <a:endParaRPr>
                        <a:solidFill>
                          <a:schemeClr val="tx1"/>
                        </a:solidFill>
                      </a:endParaRPr>
                    </a:p>
                  </a:txBody>
                </a:tc>
                <a:tc>
                  <a:txBody>
                    <a:bodyPr/>
                    <a:p>
                      <a:r>
                        <a:rPr>
                          <a:solidFill>
                            <a:schemeClr val="tx1"/>
                          </a:solidFill>
                        </a:rPr>
                        <a:t>Herpes simplex (HSV)</a:t>
                      </a:r>
                      <a:endParaRPr>
                        <a:solidFill>
                          <a:schemeClr val="tx1"/>
                        </a:solidFill>
                      </a:endParaRPr>
                    </a:p>
                  </a:txBody>
                </a:tc>
                <a:tc>
                  <a:txBody>
                    <a:bodyPr/>
                    <a:p>
                      <a:r>
                        <a:rPr>
                          <a:solidFill>
                            <a:schemeClr val="tx1"/>
                          </a:solidFill>
                        </a:rPr>
                        <a:t>Nucleoside analogue</a:t>
                      </a:r>
                      <a:endParaRPr>
                        <a:solidFill>
                          <a:schemeClr val="tx1"/>
                        </a:solidFill>
                      </a:endParaRPr>
                    </a:p>
                  </a:txBody>
                </a:tc>
                <a:tc>
                  <a:txBody>
                    <a:bodyPr/>
                    <a:p>
                      <a:r>
                        <a:rPr>
                          <a:solidFill>
                            <a:schemeClr val="tx1"/>
                          </a:solidFill>
                        </a:rPr>
                        <a:t>Virus polymerase</a:t>
                      </a:r>
                      <a:endParaRPr>
                        <a:solidFill>
                          <a:schemeClr val="tx1"/>
                        </a:solidFill>
                      </a:endParaRPr>
                    </a:p>
                  </a:txBody>
                </a:tc>
              </a:tr>
              <a:tr h="639858">
                <a:tc>
                  <a:txBody>
                    <a:bodyPr/>
                    <a:p>
                      <a:r>
                        <a:rPr>
                          <a:solidFill>
                            <a:schemeClr val="tx1"/>
                          </a:solidFill>
                        </a:rPr>
                        <a:t>Ganciclovir and valganciclovir</a:t>
                      </a:r>
                      <a:endParaRPr>
                        <a:solidFill>
                          <a:schemeClr val="tx1"/>
                        </a:solidFill>
                      </a:endParaRPr>
                    </a:p>
                  </a:txBody>
                </a:tc>
                <a:tc>
                  <a:txBody>
                    <a:bodyPr/>
                    <a:p>
                      <a:r>
                        <a:rPr>
                          <a:solidFill>
                            <a:schemeClr val="tx1"/>
                          </a:solidFill>
                        </a:rPr>
                        <a:t>Cytomegalovirus (CMV)</a:t>
                      </a:r>
                      <a:endParaRPr>
                        <a:solidFill>
                          <a:schemeClr val="tx1"/>
                        </a:solidFill>
                      </a:endParaRPr>
                    </a:p>
                  </a:txBody>
                </a:tc>
                <a:tc>
                  <a:txBody>
                    <a:bodyPr/>
                    <a:p>
                      <a:r>
                        <a:rPr>
                          <a:solidFill>
                            <a:schemeClr val="tx1"/>
                          </a:solidFill>
                        </a:rPr>
                        <a:t>nucleoside analogue</a:t>
                      </a:r>
                      <a:endParaRPr>
                        <a:solidFill>
                          <a:schemeClr val="tx1"/>
                        </a:solidFill>
                      </a:endParaRPr>
                    </a:p>
                  </a:txBody>
                </a:tc>
                <a:tc>
                  <a:txBody>
                    <a:bodyPr/>
                    <a:p>
                      <a:r>
                        <a:rPr>
                          <a:solidFill>
                            <a:schemeClr val="tx1"/>
                          </a:solidFill>
                        </a:rPr>
                        <a:t>Virus polymerase</a:t>
                      </a:r>
                      <a:endParaRPr>
                        <a:solidFill>
                          <a:schemeClr val="tx1"/>
                        </a:solidFill>
                      </a:endParaRPr>
                    </a:p>
                  </a:txBody>
                </a:tc>
              </a:tr>
              <a:tr h="2285208">
                <a:tc>
                  <a:txBody>
                    <a:bodyPr/>
                    <a:p>
                      <a:r>
                        <a:rPr>
                          <a:solidFill>
                            <a:schemeClr val="tx1"/>
                          </a:solidFill>
                        </a:rPr>
                        <a:t>Nucleoside reverse transcriptase inhibitor (NRTI) zidovudine( AZT) didanosine (ddI), zalcitabine (ddC), stavudine (D4T), lamivudine (3TC)          </a:t>
                      </a:r>
                      <a:endParaRPr>
                        <a:solidFill>
                          <a:schemeClr val="tx1"/>
                        </a:solidFill>
                      </a:endParaRPr>
                    </a:p>
                  </a:txBody>
                </a:tc>
                <a:tc>
                  <a:txBody>
                    <a:bodyPr/>
                    <a:p>
                      <a:r>
                        <a:rPr>
                          <a:solidFill>
                            <a:schemeClr val="tx1"/>
                          </a:solidFill>
                        </a:rPr>
                        <a:t>Retroviruses (HIV)</a:t>
                      </a:r>
                      <a:endParaRPr>
                        <a:solidFill>
                          <a:schemeClr val="tx1"/>
                        </a:solidFill>
                      </a:endParaRPr>
                    </a:p>
                  </a:txBody>
                </a:tc>
                <a:tc>
                  <a:txBody>
                    <a:bodyPr/>
                    <a:p>
                      <a:r>
                        <a:rPr>
                          <a:solidFill>
                            <a:schemeClr val="tx1"/>
                          </a:solidFill>
                        </a:rPr>
                        <a:t>Nucleoside analogue</a:t>
                      </a:r>
                      <a:endParaRPr>
                        <a:solidFill>
                          <a:schemeClr val="tx1"/>
                        </a:solidFill>
                      </a:endParaRPr>
                    </a:p>
                  </a:txBody>
                </a:tc>
                <a:tc>
                  <a:txBody>
                    <a:bodyPr/>
                    <a:p>
                      <a:r>
                        <a:rPr>
                          <a:solidFill>
                            <a:schemeClr val="tx1"/>
                          </a:solidFill>
                        </a:rPr>
                        <a:t>Reverse transcriptase</a:t>
                      </a:r>
                      <a:endParaRPr>
                        <a:solidFill>
                          <a:schemeClr val="tx1"/>
                        </a:solidFill>
                      </a:endParaRPr>
                    </a:p>
                  </a:txBody>
                </a:tc>
              </a:tr>
              <a:tr h="1462533">
                <a:tc>
                  <a:txBody>
                    <a:bodyPr/>
                    <a:p>
                      <a:r>
                        <a:rPr>
                          <a:solidFill>
                            <a:schemeClr val="tx1"/>
                          </a:solidFill>
                        </a:rPr>
                        <a:t>Non nucleotide reverse transcriptase inhibitor (NNRTI) nevirapine and delavirdine</a:t>
                      </a:r>
                      <a:endParaRPr>
                        <a:solidFill>
                          <a:schemeClr val="tx1"/>
                        </a:solidFill>
                      </a:endParaRPr>
                    </a:p>
                  </a:txBody>
                </a:tc>
                <a:tc>
                  <a:txBody>
                    <a:bodyPr/>
                    <a:p>
                      <a:r>
                        <a:rPr>
                          <a:solidFill>
                            <a:schemeClr val="tx1"/>
                          </a:solidFill>
                        </a:rPr>
                        <a:t>HIV virus</a:t>
                      </a:r>
                      <a:endParaRPr>
                        <a:solidFill>
                          <a:schemeClr val="tx1"/>
                        </a:solidFill>
                      </a:endParaRPr>
                    </a:p>
                  </a:txBody>
                </a:tc>
                <a:tc>
                  <a:txBody>
                    <a:bodyPr/>
                    <a:p>
                      <a:r>
                        <a:rPr>
                          <a:solidFill>
                            <a:schemeClr val="tx1"/>
                          </a:solidFill>
                        </a:rPr>
                        <a:t>Non nucleotide analogue</a:t>
                      </a:r>
                      <a:endParaRPr>
                        <a:solidFill>
                          <a:schemeClr val="tx1"/>
                        </a:solidFill>
                      </a:endParaRPr>
                    </a:p>
                  </a:txBody>
                </a:tc>
                <a:tc>
                  <a:txBody>
                    <a:bodyPr/>
                    <a:p>
                      <a:r>
                        <a:rPr>
                          <a:solidFill>
                            <a:schemeClr val="tx1"/>
                          </a:solidFill>
                        </a:rPr>
                        <a:t>Reverse transcriptase</a:t>
                      </a:r>
                      <a:endParaRPr>
                        <a:solidFill>
                          <a:schemeClr val="tx1"/>
                        </a:solidFill>
                      </a:endParaRPr>
                    </a:p>
                  </a:txBody>
                </a:tc>
              </a:tr>
              <a:tr h="914084">
                <a:tc>
                  <a:txBody>
                    <a:bodyPr/>
                    <a:p>
                      <a:r>
                        <a:rPr>
                          <a:solidFill>
                            <a:schemeClr val="tx1"/>
                          </a:solidFill>
                        </a:rPr>
                        <a:t>Protease inhibitors saquinavir, Ritonavir, indinavir, nelfinavir</a:t>
                      </a:r>
                      <a:endParaRPr>
                        <a:solidFill>
                          <a:schemeClr val="tx1"/>
                        </a:solidFill>
                      </a:endParaRPr>
                    </a:p>
                  </a:txBody>
                </a:tc>
                <a:tc>
                  <a:txBody>
                    <a:bodyPr/>
                    <a:p>
                      <a:r>
                        <a:rPr>
                          <a:solidFill>
                            <a:schemeClr val="tx1"/>
                          </a:solidFill>
                        </a:rPr>
                        <a:t>HIV virus</a:t>
                      </a:r>
                      <a:endParaRPr>
                        <a:solidFill>
                          <a:schemeClr val="tx1"/>
                        </a:solidFill>
                      </a:endParaRPr>
                    </a:p>
                  </a:txBody>
                </a:tc>
                <a:tc>
                  <a:txBody>
                    <a:bodyPr/>
                    <a:p>
                      <a:r>
                        <a:rPr>
                          <a:solidFill>
                            <a:schemeClr val="tx1"/>
                          </a:solidFill>
                        </a:rPr>
                        <a:t>Peptide analogue</a:t>
                      </a:r>
                      <a:endParaRPr>
                        <a:solidFill>
                          <a:schemeClr val="tx1"/>
                        </a:solidFill>
                      </a:endParaRPr>
                    </a:p>
                  </a:txBody>
                </a:tc>
                <a:tc>
                  <a:txBody>
                    <a:bodyPr/>
                    <a:p>
                      <a:r>
                        <a:rPr>
                          <a:solidFill>
                            <a:schemeClr val="tx1"/>
                          </a:solidFill>
                        </a:rPr>
                        <a:t>HIV protease</a:t>
                      </a:r>
                      <a:endParaRPr>
                        <a:solidFill>
                          <a:schemeClr val="tx1"/>
                        </a:solidFill>
                      </a:endParaRPr>
                    </a:p>
                  </a:txBody>
                </a:tc>
              </a:tr>
              <a:tr h="365633">
                <a:tc>
                  <a:txBody>
                    <a:bodyPr/>
                    <a:p>
                      <a:endParaRPr>
                        <a:solidFill>
                          <a:schemeClr val="tx1"/>
                        </a:solidFill>
                      </a:endParaRPr>
                    </a:p>
                  </a:txBody>
                </a:tc>
                <a:tc>
                  <a:txBody>
                    <a:bodyPr/>
                    <a:p>
                      <a:endParaRPr>
                        <a:solidFill>
                          <a:schemeClr val="tx1"/>
                        </a:solidFill>
                      </a:endParaRPr>
                    </a:p>
                  </a:txBody>
                </a:tc>
                <a:tc>
                  <a:txBody>
                    <a:bodyPr/>
                    <a:p>
                      <a:endParaRPr>
                        <a:solidFill>
                          <a:schemeClr val="tx1"/>
                        </a:solidFill>
                      </a:endParaRPr>
                    </a:p>
                  </a:txBody>
                </a:tc>
                <a:tc>
                  <a:txBody>
                    <a:bodyPr/>
                    <a:p>
                      <a:endParaRPr>
                        <a:solidFill>
                          <a:schemeClr val="tx1"/>
                        </a:solidFill>
                      </a:endParaRPr>
                    </a:p>
                  </a:txBody>
                </a:tc>
              </a:tr>
            </a:tbl>
          </a:graphicData>
        </a:graphic>
      </p:graphicFrame>
    </p:spTree>
  </p:cSld>
  <p:clrMapOvr>
    <a:masterClrMapping/>
  </p:clrMapOvr>
</p:sld>
</file>

<file path=ppt/slides/slide439.xml><?xml version="1.0" encoding="utf-8"?>
<p:sld xmlns:a="http://schemas.openxmlformats.org/drawingml/2006/main" xmlns:r="http://schemas.openxmlformats.org/officeDocument/2006/relationships" xmlns:p="http://schemas.openxmlformats.org/presentationml/2006/main">
  <p:cSld>
    <p:spTree>
      <p:nvGrpSpPr>
        <p:cNvPr id="1105" name=""/>
        <p:cNvGrpSpPr/>
        <p:nvPr/>
      </p:nvGrpSpPr>
      <p:grpSpPr>
        <a:xfrm>
          <a:off x="0" y="0"/>
          <a:ext cx="0" cy="0"/>
          <a:chOff x="0" y="0"/>
          <a:chExt cx="0" cy="0"/>
        </a:xfrm>
      </p:grpSpPr>
      <p:sp>
        <p:nvSpPr>
          <p:cNvPr id="1049422" name="Title 1"/>
          <p:cNvSpPr>
            <a:spLocks noGrp="1"/>
          </p:cNvSpPr>
          <p:nvPr>
            <p:ph type="title"/>
          </p:nvPr>
        </p:nvSpPr>
        <p:spPr>
          <a:xfrm>
            <a:off x="838204" y="365126"/>
            <a:ext cx="10515600" cy="701678"/>
          </a:xfrm>
        </p:spPr>
        <p:txBody>
          <a:bodyPr>
            <a:normAutofit fontScale="90909"/>
          </a:bodyPr>
          <a:p>
            <a:r>
              <a:rPr b="1"/>
              <a:t>                             </a:t>
            </a:r>
            <a:r>
              <a:rPr b="1">
                <a:solidFill>
                  <a:srgbClr val="FF0000"/>
                </a:solidFill>
              </a:rPr>
              <a:t>ACYCLOVIR</a:t>
            </a:r>
            <a:endParaRPr b="1">
              <a:solidFill>
                <a:srgbClr val="FF0000"/>
              </a:solidFill>
            </a:endParaRPr>
          </a:p>
        </p:txBody>
      </p:sp>
      <p:sp>
        <p:nvSpPr>
          <p:cNvPr id="1049423" name="Content Placeholder 2"/>
          <p:cNvSpPr>
            <a:spLocks noGrp="1"/>
          </p:cNvSpPr>
          <p:nvPr>
            <p:ph idx="1"/>
          </p:nvPr>
        </p:nvSpPr>
        <p:spPr>
          <a:xfrm>
            <a:off x="838204" y="1352554"/>
            <a:ext cx="10515600" cy="4824417"/>
          </a:xfrm>
        </p:spPr>
        <p:txBody>
          <a:bodyPr>
            <a:normAutofit fontScale="92857" lnSpcReduction="10000"/>
          </a:bodyPr>
          <a:p>
            <a:r>
              <a:rPr b="1"/>
              <a:t>Expected Pharmacological Action </a:t>
            </a:r>
            <a:endParaRPr b="1"/>
          </a:p>
          <a:p>
            <a:r>
              <a:rPr b="1"/>
              <a:t>Acyclovir</a:t>
            </a:r>
            <a:r>
              <a:t> prevents the reproduction of viral DNA and thus interrupts cell replication. </a:t>
            </a:r>
          </a:p>
          <a:p>
            <a:pPr indent="0" marL="0">
              <a:buNone/>
            </a:pPr>
            <a:r>
              <a:t> </a:t>
            </a:r>
            <a:r>
              <a:rPr b="1"/>
              <a:t>Therapeutic Uses </a:t>
            </a:r>
            <a:endParaRPr b="1"/>
          </a:p>
          <a:p>
            <a:r>
              <a:t> Acyclovir is used to treat </a:t>
            </a:r>
            <a:r>
              <a:rPr b="1"/>
              <a:t>herpes simplex </a:t>
            </a:r>
            <a:r>
              <a:t>and </a:t>
            </a:r>
            <a:r>
              <a:rPr b="1"/>
              <a:t>varicella-zoste</a:t>
            </a:r>
            <a:r>
              <a:t>r viruses </a:t>
            </a:r>
          </a:p>
          <a:p>
            <a:pPr indent="0" marL="0">
              <a:buNone/>
            </a:pPr>
            <a:r>
              <a:t> </a:t>
            </a:r>
            <a:r>
              <a:rPr b="1"/>
              <a:t>Ganciclovi</a:t>
            </a:r>
            <a:r>
              <a:t>r is used for treatment and prevention of cytomegalovirus (CMV).</a:t>
            </a:r>
          </a:p>
          <a:p>
            <a:r>
              <a:t> </a:t>
            </a:r>
            <a:r>
              <a:rPr b="1"/>
              <a:t>Prevention therapy </a:t>
            </a:r>
            <a:r>
              <a:t>using ganciclovir is given for clients who have HIV/AIDS, organ transplants, and other immunocompromised states. </a:t>
            </a:r>
          </a:p>
          <a:p>
            <a:r>
              <a:t> </a:t>
            </a:r>
            <a:r>
              <a:rPr b="1"/>
              <a:t>Interferon alfa-2b </a:t>
            </a:r>
            <a:r>
              <a:t>and </a:t>
            </a:r>
            <a:r>
              <a:rPr b="1"/>
              <a:t>lamivudine</a:t>
            </a:r>
            <a:r>
              <a:t> are used to treat hepatitis.  </a:t>
            </a:r>
          </a:p>
          <a:p>
            <a:r>
              <a:rPr b="1"/>
              <a:t>Oseltamivi</a:t>
            </a:r>
            <a:r>
              <a:t>r is used to treat influenza A and B. </a:t>
            </a:r>
          </a:p>
          <a:p>
            <a:r>
              <a:rPr b="1"/>
              <a:t> Ribavirin </a:t>
            </a:r>
            <a:r>
              <a:t>is used to treat respiratory syncytial virus (RSV) and influenza.</a:t>
            </a:r>
          </a:p>
        </p:txBody>
      </p:sp>
    </p:spTree>
  </p:cSld>
  <p:clrMapOvr>
    <a:masterClrMapping/>
  </p:clrMapOvr>
</p:sld>
</file>

<file path=ppt/slides/slide440.xml><?xml version="1.0" encoding="utf-8"?>
<p:sld xmlns:a="http://schemas.openxmlformats.org/drawingml/2006/main" xmlns:r="http://schemas.openxmlformats.org/officeDocument/2006/relationships" xmlns:p="http://schemas.openxmlformats.org/presentationml/2006/main">
  <p:cSld>
    <p:spTree>
      <p:nvGrpSpPr>
        <p:cNvPr id="1106" name=""/>
        <p:cNvGrpSpPr/>
        <p:nvPr/>
      </p:nvGrpSpPr>
      <p:grpSpPr>
        <a:xfrm>
          <a:off x="0" y="0"/>
          <a:ext cx="0" cy="0"/>
          <a:chOff x="0" y="0"/>
          <a:chExt cx="0" cy="0"/>
        </a:xfrm>
      </p:grpSpPr>
      <p:sp>
        <p:nvSpPr>
          <p:cNvPr id="1049424" name="Title 1"/>
          <p:cNvSpPr>
            <a:spLocks noGrp="1"/>
          </p:cNvSpPr>
          <p:nvPr>
            <p:ph type="title"/>
          </p:nvPr>
        </p:nvSpPr>
        <p:spPr/>
        <p:txBody>
          <a:bodyPr/>
          <a:p>
            <a:r>
              <a:rPr b="1" sz="2600">
                <a:solidFill>
                  <a:srgbClr val="000000"/>
                </a:solidFill>
                <a:latin typeface="Calibri"/>
                <a:ea typeface="+mn-ea"/>
                <a:cs typeface="+mn-cs"/>
              </a:rPr>
              <a:t>Complications Side/Adverse Effects Nursing Interventions/Client education</a:t>
            </a:r>
            <a:endParaRPr b="1"/>
          </a:p>
        </p:txBody>
      </p:sp>
      <p:sp>
        <p:nvSpPr>
          <p:cNvPr id="1049425" name="Content Placeholder 2"/>
          <p:cNvSpPr>
            <a:spLocks noGrp="1"/>
          </p:cNvSpPr>
          <p:nvPr>
            <p:ph idx="1"/>
          </p:nvPr>
        </p:nvSpPr>
        <p:spPr/>
        <p:txBody>
          <a:bodyPr>
            <a:normAutofit fontScale="92857" lnSpcReduction="10000"/>
          </a:bodyPr>
          <a:p>
            <a:pPr indent="0" marL="0">
              <a:buNone/>
            </a:pPr>
            <a:r>
              <a:rPr b="1"/>
              <a:t>Acyclovir Phlebitis and inflammation at the site of infusion </a:t>
            </a:r>
            <a:endParaRPr b="1"/>
          </a:p>
          <a:p>
            <a:r>
              <a:t> Rotate IV injection sites. </a:t>
            </a:r>
          </a:p>
          <a:p>
            <a:r>
              <a:t> Monitor IV sites for swelling and redness.</a:t>
            </a:r>
          </a:p>
          <a:p>
            <a:pPr indent="0" marL="0">
              <a:buNone/>
            </a:pPr>
            <a:r>
              <a:t> </a:t>
            </a:r>
            <a:r>
              <a:rPr b="1"/>
              <a:t>Nephrotoxicity </a:t>
            </a:r>
            <a:r>
              <a:t> </a:t>
            </a:r>
          </a:p>
          <a:p>
            <a:r>
              <a:t>Administer acyclovir infusion slowly over 1 hr.  </a:t>
            </a:r>
          </a:p>
          <a:p>
            <a:r>
              <a:t>Ensure adequate hydration during infusion and 2 hr. after to minimize nephrotoxicity by administering IV fluids and increasing oral fluid intake as prescribed.</a:t>
            </a:r>
          </a:p>
          <a:p>
            <a:pPr indent="0" marL="0">
              <a:buNone/>
            </a:pPr>
            <a:r>
              <a:rPr b="1"/>
              <a:t> Mild discomfort associated with oral therapy (nausea, headache, diarrhea) </a:t>
            </a:r>
            <a:endParaRPr b="1"/>
          </a:p>
          <a:p>
            <a:r>
              <a:t> Observe for symptoms and notify the provider.</a:t>
            </a:r>
          </a:p>
        </p:txBody>
      </p:sp>
    </p:spTree>
  </p:cSld>
  <p:clrMapOvr>
    <a:masterClrMapping/>
  </p:clrMapOvr>
</p:sld>
</file>

<file path=ppt/slides/slide441.xml><?xml version="1.0" encoding="utf-8"?>
<p:sld xmlns:a="http://schemas.openxmlformats.org/drawingml/2006/main" xmlns:r="http://schemas.openxmlformats.org/officeDocument/2006/relationships" xmlns:p="http://schemas.openxmlformats.org/presentationml/2006/main">
  <p:cSld>
    <p:spTree>
      <p:nvGrpSpPr>
        <p:cNvPr id="1107" name=""/>
        <p:cNvGrpSpPr/>
        <p:nvPr/>
      </p:nvGrpSpPr>
      <p:grpSpPr>
        <a:xfrm>
          <a:off x="0" y="0"/>
          <a:ext cx="0" cy="0"/>
          <a:chOff x="0" y="0"/>
          <a:chExt cx="0" cy="0"/>
        </a:xfrm>
      </p:grpSpPr>
      <p:sp>
        <p:nvSpPr>
          <p:cNvPr id="1049426" name="Title 1"/>
          <p:cNvSpPr>
            <a:spLocks noGrp="1"/>
          </p:cNvSpPr>
          <p:nvPr>
            <p:ph type="title"/>
          </p:nvPr>
        </p:nvSpPr>
        <p:spPr/>
        <p:txBody>
          <a:bodyPr/>
          <a:p>
            <a:r>
              <a:rPr b="1" sz="2600">
                <a:solidFill>
                  <a:srgbClr val="000000"/>
                </a:solidFill>
                <a:latin typeface="Calibri"/>
              </a:rPr>
              <a:t>Complications Side/Adverse Effects Nursing Interventions/Client education cont.’</a:t>
            </a:r>
          </a:p>
        </p:txBody>
      </p:sp>
      <p:sp>
        <p:nvSpPr>
          <p:cNvPr id="1049427" name="Content Placeholder 2"/>
          <p:cNvSpPr>
            <a:spLocks noGrp="1"/>
          </p:cNvSpPr>
          <p:nvPr>
            <p:ph idx="1"/>
          </p:nvPr>
        </p:nvSpPr>
        <p:spPr/>
        <p:txBody>
          <a:bodyPr>
            <a:normAutofit fontScale="72727" lnSpcReduction="20000"/>
          </a:bodyPr>
          <a:p>
            <a:pPr indent="0" marL="0">
              <a:buNone/>
            </a:pPr>
            <a:r>
              <a:rPr b="1">
                <a:solidFill>
                  <a:srgbClr val="000000"/>
                </a:solidFill>
              </a:rPr>
              <a:t> </a:t>
            </a:r>
            <a:r>
              <a:rPr b="1">
                <a:solidFill>
                  <a:srgbClr val="FF0000"/>
                </a:solidFill>
              </a:rPr>
              <a:t>Ganciclovir</a:t>
            </a:r>
            <a:endParaRPr b="1">
              <a:solidFill>
                <a:srgbClr val="FF0000"/>
              </a:solidFill>
            </a:endParaRPr>
          </a:p>
          <a:p>
            <a:pPr indent="0" marL="0">
              <a:buNone/>
            </a:pPr>
            <a:r>
              <a:rPr b="1">
                <a:solidFill>
                  <a:srgbClr val="000000"/>
                </a:solidFill>
              </a:rPr>
              <a:t> </a:t>
            </a:r>
            <a:r>
              <a:rPr b="1" sz="3100">
                <a:solidFill>
                  <a:srgbClr val="000000"/>
                </a:solidFill>
              </a:rPr>
              <a:t>Granulocytopenia and thrombocytopenia </a:t>
            </a:r>
            <a:endParaRPr b="1" sz="3100">
              <a:solidFill>
                <a:srgbClr val="000000"/>
              </a:solidFill>
            </a:endParaRPr>
          </a:p>
          <a:p>
            <a:r>
              <a:rPr sz="3100">
                <a:solidFill>
                  <a:srgbClr val="000000"/>
                </a:solidFill>
              </a:rPr>
              <a:t> Obtain baseline CBC and platelet count. </a:t>
            </a:r>
            <a:endParaRPr sz="3100">
              <a:solidFill>
                <a:srgbClr val="000000"/>
              </a:solidFill>
            </a:endParaRPr>
          </a:p>
          <a:p>
            <a:r>
              <a:rPr sz="3100">
                <a:solidFill>
                  <a:srgbClr val="000000"/>
                </a:solidFill>
              </a:rPr>
              <a:t> Administer granulocyte colony-stimulating factors. </a:t>
            </a:r>
            <a:endParaRPr sz="3100">
              <a:solidFill>
                <a:srgbClr val="000000"/>
              </a:solidFill>
            </a:endParaRPr>
          </a:p>
          <a:p>
            <a:r>
              <a:rPr sz="3100">
                <a:solidFill>
                  <a:srgbClr val="000000"/>
                </a:solidFill>
              </a:rPr>
              <a:t> Monitor WBC, absolute neutrophil, and platelet counts.</a:t>
            </a:r>
            <a:endParaRPr sz="3100">
              <a:solidFill>
                <a:srgbClr val="000000"/>
              </a:solidFill>
            </a:endParaRPr>
          </a:p>
          <a:p>
            <a:pPr indent="0" marL="0">
              <a:buNone/>
            </a:pPr>
            <a:r>
              <a:rPr sz="3100">
                <a:solidFill>
                  <a:srgbClr val="000000"/>
                </a:solidFill>
              </a:rPr>
              <a:t> </a:t>
            </a:r>
            <a:r>
              <a:rPr b="1" sz="3100">
                <a:solidFill>
                  <a:srgbClr val="000000"/>
                </a:solidFill>
              </a:rPr>
              <a:t>Contraindications/Precautions </a:t>
            </a:r>
            <a:endParaRPr b="1" sz="3100">
              <a:solidFill>
                <a:srgbClr val="000000"/>
              </a:solidFill>
            </a:endParaRPr>
          </a:p>
          <a:p>
            <a:r>
              <a:rPr sz="3100">
                <a:solidFill>
                  <a:srgbClr val="000000"/>
                </a:solidFill>
              </a:rPr>
              <a:t> Acyclovir should be used cautiously in clients with renal impairment or dehydration,</a:t>
            </a:r>
            <a:r>
              <a:rPr sz="3100"/>
              <a:t> and clients taking nephrotoxic medications. </a:t>
            </a:r>
            <a:endParaRPr sz="3100"/>
          </a:p>
          <a:p>
            <a:r>
              <a:rPr sz="3100"/>
              <a:t>Ganciclovir is Pregnancy Risk Category C; </a:t>
            </a:r>
            <a:endParaRPr sz="3100"/>
          </a:p>
          <a:p>
            <a:r>
              <a:rPr sz="3100"/>
              <a:t>contraindicated in clients with a neutrophil count below 500/mm3 or platelet counts less than 25,000/mm3, and should be used cautiously in clients with pre-existing low white and platelet counts.</a:t>
            </a:r>
            <a:endParaRPr sz="3100">
              <a:solidFill>
                <a:srgbClr val="000000"/>
              </a:solidFill>
            </a:endParaRPr>
          </a:p>
          <a:p>
            <a:endParaRPr sz="2200">
              <a:solidFill>
                <a:srgbClr val="000000"/>
              </a:solidFill>
            </a:endParaRPr>
          </a:p>
          <a:p/>
        </p:txBody>
      </p:sp>
    </p:spTree>
  </p:cSld>
  <p:clrMapOvr>
    <a:masterClrMapping/>
  </p:clrMapOvr>
</p:sld>
</file>

<file path=ppt/slides/slide442.xml><?xml version="1.0" encoding="utf-8"?>
<p:sld xmlns:a="http://schemas.openxmlformats.org/drawingml/2006/main" xmlns:r="http://schemas.openxmlformats.org/officeDocument/2006/relationships" xmlns:p="http://schemas.openxmlformats.org/presentationml/2006/main">
  <p:cSld>
    <p:spTree>
      <p:nvGrpSpPr>
        <p:cNvPr id="1108" name=""/>
        <p:cNvGrpSpPr/>
        <p:nvPr/>
      </p:nvGrpSpPr>
      <p:grpSpPr>
        <a:xfrm>
          <a:off x="0" y="0"/>
          <a:ext cx="0" cy="0"/>
          <a:chOff x="0" y="0"/>
          <a:chExt cx="0" cy="0"/>
        </a:xfrm>
      </p:grpSpPr>
      <p:sp>
        <p:nvSpPr>
          <p:cNvPr id="1049428" name="Title 1"/>
          <p:cNvSpPr>
            <a:spLocks noGrp="1"/>
          </p:cNvSpPr>
          <p:nvPr>
            <p:ph type="title"/>
          </p:nvPr>
        </p:nvSpPr>
        <p:spPr/>
        <p:txBody>
          <a:bodyPr/>
          <a:p>
            <a:r>
              <a:rPr b="1" sz="2800">
                <a:solidFill>
                  <a:srgbClr val="000000"/>
                </a:solidFill>
                <a:latin typeface="Calibri"/>
                <a:ea typeface="+mn-ea"/>
                <a:cs typeface="+mn-cs"/>
              </a:rPr>
              <a:t>Interactions Medication/Food Interactions Nursing Interventions/Client Education</a:t>
            </a:r>
            <a:endParaRPr b="1"/>
          </a:p>
        </p:txBody>
      </p:sp>
      <p:sp>
        <p:nvSpPr>
          <p:cNvPr id="1049429" name="Content Placeholder 2"/>
          <p:cNvSpPr>
            <a:spLocks noGrp="1"/>
          </p:cNvSpPr>
          <p:nvPr>
            <p:ph idx="1"/>
          </p:nvPr>
        </p:nvSpPr>
        <p:spPr/>
        <p:txBody>
          <a:bodyPr>
            <a:normAutofit fontScale="96429"/>
          </a:bodyPr>
          <a:p>
            <a:pPr indent="0" marL="0">
              <a:buNone/>
            </a:pPr>
            <a:r>
              <a:rPr b="1"/>
              <a:t>Acyclovir</a:t>
            </a:r>
            <a:endParaRPr b="1"/>
          </a:p>
          <a:p>
            <a:r>
              <a:t> Probenecid may decrease elimination of acyclovir. </a:t>
            </a:r>
          </a:p>
          <a:p>
            <a:r>
              <a:t> Monitor for medication toxicity. </a:t>
            </a:r>
          </a:p>
          <a:p>
            <a:r>
              <a:t>Concurrent use of zidovudine may cause drowsiness. </a:t>
            </a:r>
          </a:p>
          <a:p>
            <a:r>
              <a:t> Use with caution</a:t>
            </a:r>
          </a:p>
          <a:p>
            <a:pPr indent="0" marL="0">
              <a:buNone/>
            </a:pPr>
            <a:r>
              <a:t> </a:t>
            </a:r>
            <a:r>
              <a:rPr b="1"/>
              <a:t>Ganciclovir </a:t>
            </a:r>
            <a:endParaRPr b="1"/>
          </a:p>
          <a:p>
            <a:r>
              <a:t>Cytotoxic medications may cause increased toxicity. </a:t>
            </a:r>
          </a:p>
          <a:p>
            <a:r>
              <a:t> Use together with caution.</a:t>
            </a:r>
          </a:p>
        </p:txBody>
      </p:sp>
    </p:spTree>
  </p:cSld>
  <p:clrMapOvr>
    <a:masterClrMapping/>
  </p:clrMapOvr>
</p:sld>
</file>

<file path=ppt/slides/slide443.xml><?xml version="1.0" encoding="utf-8"?>
<p:sld xmlns:a="http://schemas.openxmlformats.org/drawingml/2006/main" xmlns:r="http://schemas.openxmlformats.org/officeDocument/2006/relationships" xmlns:p="http://schemas.openxmlformats.org/presentationml/2006/main">
  <p:cSld>
    <p:spTree>
      <p:nvGrpSpPr>
        <p:cNvPr id="1109" name=""/>
        <p:cNvGrpSpPr/>
        <p:nvPr/>
      </p:nvGrpSpPr>
      <p:grpSpPr>
        <a:xfrm>
          <a:off x="0" y="0"/>
          <a:ext cx="0" cy="0"/>
          <a:chOff x="0" y="0"/>
          <a:chExt cx="0" cy="0"/>
        </a:xfrm>
      </p:grpSpPr>
      <p:sp>
        <p:nvSpPr>
          <p:cNvPr id="1049430" name="Title 1"/>
          <p:cNvSpPr>
            <a:spLocks noGrp="1"/>
          </p:cNvSpPr>
          <p:nvPr>
            <p:ph type="title"/>
          </p:nvPr>
        </p:nvSpPr>
        <p:spPr/>
        <p:txBody>
          <a:bodyPr/>
          <a:p>
            <a:r>
              <a:rPr b="1" sz="2600">
                <a:solidFill>
                  <a:srgbClr val="000000"/>
                </a:solidFill>
                <a:latin typeface="Calibri"/>
                <a:ea typeface="+mn-ea"/>
                <a:cs typeface="+mn-cs"/>
              </a:rPr>
              <a:t>Nursing Administration</a:t>
            </a:r>
            <a:endParaRPr b="1"/>
          </a:p>
        </p:txBody>
      </p:sp>
      <p:sp>
        <p:nvSpPr>
          <p:cNvPr id="1049431" name="Content Placeholder 2"/>
          <p:cNvSpPr>
            <a:spLocks noGrp="1"/>
          </p:cNvSpPr>
          <p:nvPr>
            <p:ph idx="1"/>
          </p:nvPr>
        </p:nvSpPr>
        <p:spPr/>
        <p:txBody>
          <a:bodyPr>
            <a:normAutofit fontScale="89286" lnSpcReduction="10000"/>
          </a:bodyPr>
          <a:p>
            <a:pPr indent="0" marL="0">
              <a:buNone/>
            </a:pPr>
            <a:r>
              <a:t> </a:t>
            </a:r>
            <a:r>
              <a:rPr b="1"/>
              <a:t>Acyclovir</a:t>
            </a:r>
            <a:r>
              <a:t>: </a:t>
            </a:r>
          </a:p>
          <a:p>
            <a:pPr indent="0" marL="0">
              <a:buNone/>
            </a:pPr>
            <a:r>
              <a:t> For topical administration, advise clients to put on rubber gloves to avoid transfer of virus to other areas of the body. </a:t>
            </a:r>
          </a:p>
          <a:p>
            <a:pPr indent="0" marL="0">
              <a:buNone/>
            </a:pPr>
            <a:r>
              <a:t> Administer IV infusion slowly over 1 </a:t>
            </a:r>
            <a:r>
              <a:t>hr</a:t>
            </a:r>
            <a:r>
              <a:t> or longer. </a:t>
            </a:r>
          </a:p>
          <a:p>
            <a:pPr indent="0" marL="0">
              <a:buNone/>
            </a:pPr>
            <a:r>
              <a:t>Inform clients to expect symptom relief but not cure. </a:t>
            </a:r>
          </a:p>
          <a:p>
            <a:pPr indent="0" marL="0">
              <a:buNone/>
            </a:pPr>
            <a:r>
              <a:t> Instruct clients to wash affected area with soap and water 3 to 4 times/day and to keep the lesions dry after washing. </a:t>
            </a:r>
          </a:p>
          <a:p>
            <a:pPr indent="0" marL="0">
              <a:buNone/>
            </a:pPr>
            <a:r>
              <a:t>Advise clients to refrain from sexual contact while lesions are present. </a:t>
            </a:r>
          </a:p>
          <a:p>
            <a:pPr indent="0" marL="0">
              <a:buNone/>
            </a:pPr>
            <a:r>
              <a:t> Clients with healed herpetic lesions should continue to use condoms to prevent transmission of the virus. </a:t>
            </a:r>
          </a:p>
        </p:txBody>
      </p:sp>
    </p:spTree>
  </p:cSld>
  <p:clrMapOvr>
    <a:masterClrMapping/>
  </p:clrMapOvr>
</p:sld>
</file>

<file path=ppt/slides/slide444.xml><?xml version="1.0" encoding="utf-8"?>
<p:sld xmlns:a="http://schemas.openxmlformats.org/drawingml/2006/main" xmlns:r="http://schemas.openxmlformats.org/officeDocument/2006/relationships" xmlns:p="http://schemas.openxmlformats.org/presentationml/2006/main">
  <p:cSld>
    <p:spTree>
      <p:nvGrpSpPr>
        <p:cNvPr id="1110" name=""/>
        <p:cNvGrpSpPr/>
        <p:nvPr/>
      </p:nvGrpSpPr>
      <p:grpSpPr>
        <a:xfrm>
          <a:off x="0" y="0"/>
          <a:ext cx="0" cy="0"/>
          <a:chOff x="0" y="0"/>
          <a:chExt cx="0" cy="0"/>
        </a:xfrm>
      </p:grpSpPr>
      <p:sp>
        <p:nvSpPr>
          <p:cNvPr id="1049432" name="Title 1"/>
          <p:cNvSpPr>
            <a:spLocks noGrp="1"/>
          </p:cNvSpPr>
          <p:nvPr>
            <p:ph type="title"/>
          </p:nvPr>
        </p:nvSpPr>
        <p:spPr/>
        <p:txBody>
          <a:bodyPr/>
          <a:p>
            <a:r>
              <a:rPr b="1"/>
              <a:t>Nursing administration</a:t>
            </a:r>
            <a:endParaRPr b="1"/>
          </a:p>
        </p:txBody>
      </p:sp>
      <p:sp>
        <p:nvSpPr>
          <p:cNvPr id="1049433" name="Content Placeholder 2"/>
          <p:cNvSpPr>
            <a:spLocks noGrp="1"/>
          </p:cNvSpPr>
          <p:nvPr>
            <p:ph idx="1"/>
          </p:nvPr>
        </p:nvSpPr>
        <p:spPr/>
        <p:txBody>
          <a:bodyPr/>
          <a:p>
            <a:pPr indent="0" marL="0">
              <a:buNone/>
            </a:pPr>
            <a:r>
              <a:rPr b="1" sz="2200">
                <a:solidFill>
                  <a:srgbClr val="000000"/>
                </a:solidFill>
              </a:rPr>
              <a:t>Ganciclovir</a:t>
            </a:r>
            <a:r>
              <a:rPr sz="2200">
                <a:solidFill>
                  <a:srgbClr val="000000"/>
                </a:solidFill>
              </a:rPr>
              <a:t> </a:t>
            </a:r>
            <a:endParaRPr sz="2200">
              <a:solidFill>
                <a:srgbClr val="000000"/>
              </a:solidFill>
            </a:endParaRPr>
          </a:p>
          <a:p>
            <a:pPr indent="0" marL="0">
              <a:buNone/>
            </a:pPr>
            <a:r>
              <a:rPr>
                <a:solidFill>
                  <a:srgbClr val="000000"/>
                </a:solidFill>
              </a:rPr>
              <a:t> Administer IV infusion slowly, with an infusion pump, over at least 1 hr. </a:t>
            </a:r>
            <a:endParaRPr>
              <a:solidFill>
                <a:srgbClr val="000000"/>
              </a:solidFill>
            </a:endParaRPr>
          </a:p>
          <a:p>
            <a:pPr indent="0" marL="0">
              <a:buNone/>
            </a:pPr>
            <a:r>
              <a:rPr>
                <a:solidFill>
                  <a:srgbClr val="000000"/>
                </a:solidFill>
              </a:rPr>
              <a:t>Administer oral medication with food. </a:t>
            </a:r>
            <a:endParaRPr>
              <a:solidFill>
                <a:srgbClr val="000000"/>
              </a:solidFill>
            </a:endParaRPr>
          </a:p>
          <a:p>
            <a:pPr indent="0" marL="0">
              <a:buNone/>
            </a:pPr>
            <a:r>
              <a:rPr>
                <a:solidFill>
                  <a:srgbClr val="000000"/>
                </a:solidFill>
              </a:rPr>
              <a:t> Administer intraocular for CMV retinitis. </a:t>
            </a:r>
            <a:endParaRPr>
              <a:solidFill>
                <a:srgbClr val="000000"/>
              </a:solidFill>
            </a:endParaRPr>
          </a:p>
          <a:p>
            <a:pPr indent="0" marL="0">
              <a:buNone/>
            </a:pPr>
            <a:r>
              <a:rPr>
                <a:solidFill>
                  <a:srgbClr val="000000"/>
                </a:solidFill>
              </a:rPr>
              <a:t> Instruct clients to complete the prescribed course of antimicrobial therapy, even though </a:t>
            </a:r>
            <a:r>
              <a:t>symptoms may resolve before the full course is completed.</a:t>
            </a:r>
            <a:r>
              <a:rPr>
                <a:solidFill>
                  <a:srgbClr val="000000"/>
                </a:solidFill>
              </a:rPr>
              <a:t> </a:t>
            </a:r>
            <a:endParaRPr>
              <a:solidFill>
                <a:srgbClr val="000000"/>
              </a:solidFill>
            </a:endParaRPr>
          </a:p>
          <a:p/>
        </p:txBody>
      </p:sp>
    </p:spTree>
  </p:cSld>
  <p:clrMapOvr>
    <a:masterClrMapping/>
  </p:clrMapOvr>
</p:sld>
</file>

<file path=ppt/slides/slide445.xml><?xml version="1.0" encoding="utf-8"?>
<p:sld xmlns:a="http://schemas.openxmlformats.org/drawingml/2006/main" xmlns:r="http://schemas.openxmlformats.org/officeDocument/2006/relationships" xmlns:p="http://schemas.openxmlformats.org/presentationml/2006/main">
  <p:cSld>
    <p:spTree>
      <p:nvGrpSpPr>
        <p:cNvPr id="1111" name=""/>
        <p:cNvGrpSpPr/>
        <p:nvPr/>
      </p:nvGrpSpPr>
      <p:grpSpPr>
        <a:xfrm>
          <a:off x="0" y="0"/>
          <a:ext cx="0" cy="0"/>
          <a:chOff x="0" y="0"/>
          <a:chExt cx="0" cy="0"/>
        </a:xfrm>
      </p:grpSpPr>
      <p:sp>
        <p:nvSpPr>
          <p:cNvPr id="1049434" name="Title 1"/>
          <p:cNvSpPr>
            <a:spLocks noGrp="1"/>
          </p:cNvSpPr>
          <p:nvPr>
            <p:ph type="title"/>
          </p:nvPr>
        </p:nvSpPr>
        <p:spPr/>
        <p:txBody>
          <a:bodyPr/>
          <a:p>
            <a:r>
              <a:t>                     Antiretroviral drugs</a:t>
            </a:r>
          </a:p>
        </p:txBody>
      </p:sp>
      <p:sp>
        <p:nvSpPr>
          <p:cNvPr id="1049435" name="Content Placeholder 2"/>
          <p:cNvSpPr>
            <a:spLocks noGrp="1"/>
          </p:cNvSpPr>
          <p:nvPr>
            <p:ph idx="1"/>
          </p:nvPr>
        </p:nvSpPr>
        <p:spPr/>
        <p:txBody>
          <a:bodyPr/>
          <a:p>
            <a:r>
              <a:rPr b="1"/>
              <a:t> antiretroviral</a:t>
            </a:r>
            <a:r>
              <a:t> therapy goal is to delay disease progression and to prolong survival by suppressing the replication of the virus.</a:t>
            </a:r>
          </a:p>
          <a:p>
            <a:r>
              <a:t>Two types of antiretroviral combination are recommended for initial HIV therapy;</a:t>
            </a:r>
          </a:p>
          <a:p>
            <a:pPr indent="-514350" marL="514350">
              <a:buFont typeface="+mj-lt"/>
              <a:buAutoNum type="arabicPeriod"/>
            </a:pPr>
            <a:r>
              <a:t>   </a:t>
            </a:r>
            <a:r>
              <a:rPr b="1"/>
              <a:t>first line ; </a:t>
            </a:r>
            <a:r>
              <a:t>1 NNRTI plus 2NRTI. </a:t>
            </a:r>
          </a:p>
          <a:p>
            <a:pPr indent="-514350" marL="514350">
              <a:buFont typeface="+mj-lt"/>
              <a:buAutoNum type="arabicPeriod"/>
            </a:pPr>
            <a:r>
              <a:rPr b="1"/>
              <a:t>    second line; </a:t>
            </a:r>
            <a:r>
              <a:t>1PI plus 2 NRTI.</a:t>
            </a:r>
          </a:p>
          <a:p>
            <a:pPr indent="-514350" marL="514350">
              <a:buFont typeface="+mj-lt"/>
              <a:buAutoNum type="arabicPeriod"/>
            </a:pPr>
            <a:r>
              <a:t>protease inhibitors are preserved for second line</a:t>
            </a:r>
          </a:p>
        </p:txBody>
      </p:sp>
    </p:spTree>
  </p:cSld>
  <p:clrMapOvr>
    <a:masterClrMapping/>
  </p:clrMapOvr>
</p:sld>
</file>

<file path=ppt/slides/slide446.xml><?xml version="1.0" encoding="utf-8"?>
<p:sld xmlns:a="http://schemas.openxmlformats.org/drawingml/2006/main" xmlns:r="http://schemas.openxmlformats.org/officeDocument/2006/relationships" xmlns:p="http://schemas.openxmlformats.org/presentationml/2006/main">
  <p:cSld>
    <p:spTree>
      <p:nvGrpSpPr>
        <p:cNvPr id="1112" name=""/>
        <p:cNvGrpSpPr/>
        <p:nvPr/>
      </p:nvGrpSpPr>
      <p:grpSpPr>
        <a:xfrm>
          <a:off x="0" y="0"/>
          <a:ext cx="0" cy="0"/>
          <a:chOff x="0" y="0"/>
          <a:chExt cx="0" cy="0"/>
        </a:xfrm>
      </p:grpSpPr>
      <p:sp>
        <p:nvSpPr>
          <p:cNvPr id="1049436" name="Title 1"/>
          <p:cNvSpPr>
            <a:spLocks noGrp="1"/>
          </p:cNvSpPr>
          <p:nvPr>
            <p:ph type="title"/>
          </p:nvPr>
        </p:nvSpPr>
        <p:spPr/>
        <p:txBody>
          <a:bodyPr/>
          <a:p>
            <a:r>
              <a:t>                 </a:t>
            </a:r>
            <a:r>
              <a:rPr b="1"/>
              <a:t>five goals of ART</a:t>
            </a:r>
            <a:endParaRPr b="1"/>
          </a:p>
        </p:txBody>
      </p:sp>
      <p:sp>
        <p:nvSpPr>
          <p:cNvPr id="1049437" name="Content Placeholder 2"/>
          <p:cNvSpPr>
            <a:spLocks noGrp="1"/>
          </p:cNvSpPr>
          <p:nvPr>
            <p:ph idx="1"/>
          </p:nvPr>
        </p:nvSpPr>
        <p:spPr/>
        <p:txBody>
          <a:bodyPr/>
          <a:p>
            <a:pPr indent="-514350" marL="514350">
              <a:buFont typeface="+mj-lt"/>
              <a:buAutoNum type="arabicPeriod"/>
            </a:pPr>
            <a:r>
              <a:t>to reduce amount of HIV virus in the body.</a:t>
            </a:r>
          </a:p>
          <a:p>
            <a:pPr indent="-514350" marL="514350">
              <a:buFont typeface="+mj-lt"/>
              <a:buAutoNum type="arabicPeriod"/>
            </a:pPr>
            <a:r>
              <a:t>Support and restore the immune system.</a:t>
            </a:r>
          </a:p>
          <a:p>
            <a:pPr indent="-514350" marL="514350">
              <a:buFont typeface="+mj-lt"/>
              <a:buAutoNum type="arabicPeriod"/>
            </a:pPr>
            <a:r>
              <a:t>Improve the quality of life.</a:t>
            </a:r>
          </a:p>
          <a:p>
            <a:pPr indent="-514350" marL="514350">
              <a:buFont typeface="+mj-lt"/>
              <a:buAutoNum type="arabicPeriod"/>
            </a:pPr>
            <a:r>
              <a:t>Reduce HIV related illness and deaths.</a:t>
            </a:r>
          </a:p>
          <a:p>
            <a:pPr indent="-514350" marL="514350">
              <a:buFont typeface="+mj-lt"/>
              <a:buAutoNum type="arabicPeriod"/>
            </a:pPr>
            <a:r>
              <a:t>reduce general risk of transmission.</a:t>
            </a:r>
          </a:p>
        </p:txBody>
      </p:sp>
    </p:spTree>
  </p:cSld>
  <p:clrMapOvr>
    <a:masterClrMapping/>
  </p:clrMapOvr>
</p:sld>
</file>

<file path=ppt/slides/slide447.xml><?xml version="1.0" encoding="utf-8"?>
<p:sld xmlns:a="http://schemas.openxmlformats.org/drawingml/2006/main" xmlns:r="http://schemas.openxmlformats.org/officeDocument/2006/relationships" xmlns:p="http://schemas.openxmlformats.org/presentationml/2006/main">
  <p:cSld>
    <p:spTree>
      <p:nvGrpSpPr>
        <p:cNvPr id="1113" name=""/>
        <p:cNvGrpSpPr/>
        <p:nvPr/>
      </p:nvGrpSpPr>
      <p:grpSpPr>
        <a:xfrm>
          <a:off x="0" y="0"/>
          <a:ext cx="0" cy="0"/>
          <a:chOff x="0" y="0"/>
          <a:chExt cx="0" cy="0"/>
        </a:xfrm>
      </p:grpSpPr>
      <p:sp>
        <p:nvSpPr>
          <p:cNvPr id="1049438" name="Title 1"/>
          <p:cNvSpPr>
            <a:spLocks noGrp="1"/>
          </p:cNvSpPr>
          <p:nvPr>
            <p:ph type="title"/>
          </p:nvPr>
        </p:nvSpPr>
        <p:spPr/>
        <p:txBody>
          <a:bodyPr/>
          <a:p>
            <a:r>
              <a:t>Mechanism of action of ARVs</a:t>
            </a:r>
          </a:p>
        </p:txBody>
      </p:sp>
      <p:sp>
        <p:nvSpPr>
          <p:cNvPr id="1049439" name="Content Placeholder 2"/>
          <p:cNvSpPr>
            <a:spLocks noGrp="1"/>
          </p:cNvSpPr>
          <p:nvPr>
            <p:ph idx="1"/>
          </p:nvPr>
        </p:nvSpPr>
        <p:spPr/>
        <p:txBody>
          <a:bodyPr/>
          <a:p>
            <a:pPr indent="-514350" marL="514350">
              <a:buFont typeface="+mj-lt"/>
              <a:buAutoNum type="arabicPeriod"/>
            </a:pPr>
            <a:r>
              <a:t>Block reverse transcriptase to disrupt copying of HIV genetic cord(NRTIs, NNRTIs).</a:t>
            </a:r>
          </a:p>
          <a:p>
            <a:pPr indent="-514350" marL="514350">
              <a:buFont typeface="+mj-lt"/>
              <a:buAutoNum type="arabicPeriod"/>
            </a:pPr>
            <a:r>
              <a:t>Block protease enzyme, preventing maturation of new virions.(PIs).</a:t>
            </a:r>
          </a:p>
          <a:p>
            <a:pPr indent="-514350" marL="514350">
              <a:buFont typeface="+mj-lt"/>
              <a:buAutoNum type="arabicPeriod"/>
            </a:pPr>
            <a:r>
              <a:t>Prevent fusion of HIV with cell membranes (fusion inhibitors).</a:t>
            </a:r>
          </a:p>
          <a:p>
            <a:pPr indent="-514350" marL="514350">
              <a:buFont typeface="+mj-lt"/>
              <a:buAutoNum type="arabicPeriod"/>
            </a:pPr>
            <a:r>
              <a:t>Block CCR5 co receptor (CCR5 antagonist)</a:t>
            </a:r>
          </a:p>
        </p:txBody>
      </p:sp>
    </p:spTree>
  </p:cSld>
  <p:clrMapOvr>
    <a:masterClrMapping/>
  </p:clrMapOvr>
</p:sld>
</file>

<file path=ppt/slides/slide448.xml><?xml version="1.0" encoding="utf-8"?>
<p:sld xmlns:a="http://schemas.openxmlformats.org/drawingml/2006/main" xmlns:r="http://schemas.openxmlformats.org/officeDocument/2006/relationships" xmlns:p="http://schemas.openxmlformats.org/presentationml/2006/main">
  <p:cSld>
    <p:spTree>
      <p:nvGrpSpPr>
        <p:cNvPr id="1114" name=""/>
        <p:cNvGrpSpPr/>
        <p:nvPr/>
      </p:nvGrpSpPr>
      <p:grpSpPr>
        <a:xfrm>
          <a:off x="0" y="0"/>
          <a:ext cx="0" cy="0"/>
          <a:chOff x="0" y="0"/>
          <a:chExt cx="0" cy="0"/>
        </a:xfrm>
      </p:grpSpPr>
      <p:pic>
        <p:nvPicPr>
          <p:cNvPr id="2097164" name="Content Placeholder 4"/>
          <p:cNvPicPr>
            <a:picLocks noChangeAspect="1" noGrp="1"/>
          </p:cNvPicPr>
          <p:nvPr>
            <p:ph idx="1"/>
          </p:nvPr>
        </p:nvPicPr>
        <p:blipFill>
          <a:blip xmlns:r="http://schemas.openxmlformats.org/officeDocument/2006/relationships" r:embed="rId1"/>
          <a:stretch>
            <a:fillRect/>
          </a:stretch>
        </p:blipFill>
        <p:spPr>
          <a:xfrm>
            <a:off x="93789" y="105509"/>
            <a:ext cx="11758249" cy="6635260"/>
          </a:xfrm>
        </p:spPr>
      </p:pic>
    </p:spTree>
  </p:cSld>
  <p:clrMapOvr>
    <a:masterClrMapping/>
  </p:clrMapOvr>
</p:sld>
</file>

<file path=ppt/slides/slide449.xml><?xml version="1.0" encoding="utf-8"?>
<p:sld xmlns:a="http://schemas.openxmlformats.org/drawingml/2006/main" xmlns:r="http://schemas.openxmlformats.org/officeDocument/2006/relationships" xmlns:p="http://schemas.openxmlformats.org/presentationml/2006/main">
  <p:cSld>
    <p:spTree>
      <p:nvGrpSpPr>
        <p:cNvPr id="1115" name=""/>
        <p:cNvGrpSpPr/>
        <p:nvPr/>
      </p:nvGrpSpPr>
      <p:grpSpPr>
        <a:xfrm>
          <a:off x="0" y="0"/>
          <a:ext cx="0" cy="0"/>
          <a:chOff x="0" y="0"/>
          <a:chExt cx="0" cy="0"/>
        </a:xfrm>
      </p:grpSpPr>
      <p:sp>
        <p:nvSpPr>
          <p:cNvPr id="1049440" name="Title 1"/>
          <p:cNvSpPr>
            <a:spLocks noGrp="1"/>
          </p:cNvSpPr>
          <p:nvPr>
            <p:ph type="title"/>
          </p:nvPr>
        </p:nvSpPr>
        <p:spPr/>
        <p:txBody>
          <a:bodyPr/>
          <a:p>
            <a:r>
              <a:t>                        </a:t>
            </a:r>
            <a:r>
              <a:rPr b="1"/>
              <a:t>ZIDOVUDINE</a:t>
            </a:r>
            <a:r>
              <a:rPr b="1" sz="2800">
                <a:solidFill>
                  <a:srgbClr val="000000"/>
                </a:solidFill>
                <a:latin typeface="Calibri"/>
                <a:ea typeface="+mn-ea"/>
                <a:cs typeface="+mn-cs"/>
              </a:rPr>
              <a:t>  (RETROVIR) </a:t>
            </a:r>
            <a:endParaRPr b="1"/>
          </a:p>
        </p:txBody>
      </p:sp>
      <p:sp>
        <p:nvSpPr>
          <p:cNvPr id="1049441" name="Content Placeholder 2"/>
          <p:cNvSpPr>
            <a:spLocks noGrp="1"/>
          </p:cNvSpPr>
          <p:nvPr>
            <p:ph idx="1"/>
          </p:nvPr>
        </p:nvSpPr>
        <p:spPr/>
        <p:txBody>
          <a:bodyPr>
            <a:normAutofit fontScale="92857" lnSpcReduction="10000"/>
          </a:bodyPr>
          <a:p>
            <a:r>
              <a:t> Other Medications: </a:t>
            </a:r>
          </a:p>
          <a:p>
            <a:r>
              <a:t>Didanosine (Videx) </a:t>
            </a:r>
          </a:p>
          <a:p>
            <a:r>
              <a:t> Stavudine (Zerit) </a:t>
            </a:r>
          </a:p>
          <a:p>
            <a:r>
              <a:t> Lamivudine (Epivir) </a:t>
            </a:r>
          </a:p>
          <a:p>
            <a:r>
              <a:t>Abacavir (Ziagen) </a:t>
            </a:r>
          </a:p>
          <a:p>
            <a:pPr indent="0" marL="0">
              <a:buNone/>
            </a:pPr>
            <a:r>
              <a:t> </a:t>
            </a:r>
            <a:r>
              <a:rPr b="1"/>
              <a:t>Combination Medications</a:t>
            </a:r>
            <a:r>
              <a:t>: </a:t>
            </a:r>
          </a:p>
          <a:p>
            <a:pPr indent="0" marL="0">
              <a:buNone/>
            </a:pPr>
            <a:r>
              <a:t> Abacavir, lamivudine zidovudine (Trizivir) </a:t>
            </a:r>
          </a:p>
          <a:p>
            <a:pPr indent="0" marL="0">
              <a:buNone/>
            </a:pPr>
            <a:r>
              <a:t> Abacavir, lamivudine (Epzicom) </a:t>
            </a:r>
          </a:p>
          <a:p>
            <a:pPr indent="0" marL="0">
              <a:buNone/>
            </a:pPr>
            <a:r>
              <a:t> Lamivudine, zidovudine (Combivir)</a:t>
            </a:r>
          </a:p>
        </p:txBody>
      </p:sp>
    </p:spTree>
  </p:cSld>
  <p:clrMapOvr>
    <a:masterClrMapping/>
  </p:clrMapOvr>
</p:sld>
</file>

<file path=ppt/slides/slide450.xml><?xml version="1.0" encoding="utf-8"?>
<p:sld xmlns:a="http://schemas.openxmlformats.org/drawingml/2006/main" xmlns:r="http://schemas.openxmlformats.org/officeDocument/2006/relationships" xmlns:p="http://schemas.openxmlformats.org/presentationml/2006/main">
  <p:cSld>
    <p:spTree>
      <p:nvGrpSpPr>
        <p:cNvPr id="1116" name=""/>
        <p:cNvGrpSpPr/>
        <p:nvPr/>
      </p:nvGrpSpPr>
      <p:grpSpPr>
        <a:xfrm>
          <a:off x="0" y="0"/>
          <a:ext cx="0" cy="0"/>
          <a:chOff x="0" y="0"/>
          <a:chExt cx="0" cy="0"/>
        </a:xfrm>
      </p:grpSpPr>
      <p:sp>
        <p:nvSpPr>
          <p:cNvPr id="1049442" name="Title 1"/>
          <p:cNvSpPr>
            <a:spLocks noGrp="1"/>
          </p:cNvSpPr>
          <p:nvPr>
            <p:ph type="title"/>
          </p:nvPr>
        </p:nvSpPr>
        <p:spPr/>
        <p:txBody>
          <a:bodyPr/>
          <a:p>
            <a:pPr indent="-228600" marL="228600"/>
            <a:r>
              <a:rPr b="1" sz="2800">
                <a:solidFill>
                  <a:srgbClr val="000000"/>
                </a:solidFill>
                <a:latin typeface="Calibri"/>
                <a:ea typeface="+mn-ea"/>
                <a:cs typeface="+mn-cs"/>
              </a:rPr>
              <a:t>Expected Pharmacological Action </a:t>
            </a:r>
            <a:br>
              <a:rPr sz="2800">
                <a:solidFill>
                  <a:srgbClr val="000000"/>
                </a:solidFill>
                <a:ea typeface="+mn-ea"/>
                <a:cs typeface="+mn-cs"/>
              </a:rPr>
            </a:br>
          </a:p>
        </p:txBody>
      </p:sp>
      <p:sp>
        <p:nvSpPr>
          <p:cNvPr id="1049443" name="Content Placeholder 2"/>
          <p:cNvSpPr>
            <a:spLocks noGrp="1"/>
          </p:cNvSpPr>
          <p:nvPr>
            <p:ph idx="1"/>
          </p:nvPr>
        </p:nvSpPr>
        <p:spPr>
          <a:xfrm>
            <a:off x="838204" y="1589093"/>
            <a:ext cx="10515600" cy="4351339"/>
          </a:xfrm>
        </p:spPr>
        <p:txBody>
          <a:bodyPr/>
          <a:p>
            <a:r>
              <a:t> Reduces HIV symptoms by inhibiting </a:t>
            </a:r>
            <a:r>
              <a:rPr b="1"/>
              <a:t>DNA synthesis </a:t>
            </a:r>
            <a:r>
              <a:t>and thus viral replication.</a:t>
            </a:r>
          </a:p>
          <a:p>
            <a:pPr indent="0" marL="0">
              <a:buNone/>
            </a:pPr>
            <a:r>
              <a:rPr b="1"/>
              <a:t>Therapeutic Uses </a:t>
            </a:r>
            <a:endParaRPr b="1"/>
          </a:p>
          <a:p>
            <a:r>
              <a:t>Used to treat HIV infection </a:t>
            </a:r>
          </a:p>
          <a:p>
            <a:r>
              <a:t> Route of Administration: Oral, IV </a:t>
            </a:r>
          </a:p>
        </p:txBody>
      </p:sp>
    </p:spTree>
  </p:cSld>
  <p:clrMapOvr>
    <a:masterClrMapping/>
  </p:clrMapOvr>
</p:sld>
</file>

<file path=ppt/slides/slide451.xml><?xml version="1.0" encoding="utf-8"?>
<p:sld xmlns:a="http://schemas.openxmlformats.org/drawingml/2006/main" xmlns:r="http://schemas.openxmlformats.org/officeDocument/2006/relationships" xmlns:p="http://schemas.openxmlformats.org/presentationml/2006/main">
  <p:cSld>
    <p:spTree>
      <p:nvGrpSpPr>
        <p:cNvPr id="1117" name=""/>
        <p:cNvGrpSpPr/>
        <p:nvPr/>
      </p:nvGrpSpPr>
      <p:grpSpPr>
        <a:xfrm>
          <a:off x="0" y="0"/>
          <a:ext cx="0" cy="0"/>
          <a:chOff x="0" y="0"/>
          <a:chExt cx="0" cy="0"/>
        </a:xfrm>
      </p:grpSpPr>
      <p:sp>
        <p:nvSpPr>
          <p:cNvPr id="1049444" name="Title 1"/>
          <p:cNvSpPr>
            <a:spLocks noGrp="1"/>
          </p:cNvSpPr>
          <p:nvPr>
            <p:ph type="title"/>
          </p:nvPr>
        </p:nvSpPr>
        <p:spPr/>
        <p:txBody>
          <a:bodyPr>
            <a:normAutofit fontScale="90909"/>
          </a:bodyPr>
          <a:p>
            <a:r>
              <a:t>Side/Adverse Effects Nursing Interventions/Client Education</a:t>
            </a:r>
          </a:p>
        </p:txBody>
      </p:sp>
      <p:sp>
        <p:nvSpPr>
          <p:cNvPr id="1049445" name="Content Placeholder 2"/>
          <p:cNvSpPr>
            <a:spLocks noGrp="1"/>
          </p:cNvSpPr>
          <p:nvPr>
            <p:ph idx="1"/>
          </p:nvPr>
        </p:nvSpPr>
        <p:spPr>
          <a:xfrm>
            <a:off x="612423" y="1690682"/>
            <a:ext cx="10515600" cy="4351339"/>
          </a:xfrm>
        </p:spPr>
        <p:txBody>
          <a:bodyPr>
            <a:normAutofit fontScale="85714" lnSpcReduction="20000"/>
          </a:bodyPr>
          <a:p>
            <a:pPr indent="0" marL="0">
              <a:buNone/>
            </a:pPr>
            <a:r>
              <a:rPr b="1"/>
              <a:t>Suppressed bone marrow resulting in anemia, agranulocytosis (neutropenia) and thrombocytopenia </a:t>
            </a:r>
            <a:endParaRPr b="1"/>
          </a:p>
          <a:p>
            <a:r>
              <a:t> Monitor CBC and platelets. </a:t>
            </a:r>
          </a:p>
          <a:p>
            <a:r>
              <a:t>Advise clients that transfusions may be needed.</a:t>
            </a:r>
          </a:p>
          <a:p>
            <a:pPr indent="0" marL="0">
              <a:buNone/>
            </a:pPr>
            <a:r>
              <a:t> </a:t>
            </a:r>
            <a:r>
              <a:rPr b="1"/>
              <a:t>Lactic acidosis </a:t>
            </a:r>
            <a:endParaRPr b="1"/>
          </a:p>
          <a:p>
            <a:r>
              <a:t> Monitor for symptoms of lactic acidosis, such as hyperventilation, nausea, and abdominal pain.</a:t>
            </a:r>
          </a:p>
          <a:p>
            <a:r>
              <a:t> Pregnancy increases the risk of lactic acidosis.</a:t>
            </a:r>
          </a:p>
          <a:p>
            <a:pPr indent="0" marL="0">
              <a:buNone/>
            </a:pPr>
            <a:r>
              <a:t> </a:t>
            </a:r>
            <a:r>
              <a:rPr b="1"/>
              <a:t>Nausea, vomiting, diarrhea </a:t>
            </a:r>
            <a:endParaRPr b="1"/>
          </a:p>
          <a:p>
            <a:r>
              <a:t> Clients may take the medication with food to reduce gastric irritation. Monitor fluids and electrolytes.</a:t>
            </a:r>
          </a:p>
          <a:p>
            <a:pPr indent="0" marL="0">
              <a:buNone/>
            </a:pPr>
            <a:r>
              <a:t> </a:t>
            </a:r>
            <a:r>
              <a:rPr b="1"/>
              <a:t>Hepatomegaly/fatty liver </a:t>
            </a:r>
            <a:endParaRPr b="1"/>
          </a:p>
          <a:p>
            <a:r>
              <a:t> Monitor liver enzymes</a:t>
            </a:r>
          </a:p>
        </p:txBody>
      </p:sp>
    </p:spTree>
  </p:cSld>
  <p:clrMapOvr>
    <a:masterClrMapping/>
  </p:clrMapOvr>
</p:sld>
</file>

<file path=ppt/slides/slide452.xml><?xml version="1.0" encoding="utf-8"?>
<p:sld xmlns:a="http://schemas.openxmlformats.org/drawingml/2006/main" xmlns:r="http://schemas.openxmlformats.org/officeDocument/2006/relationships" xmlns:p="http://schemas.openxmlformats.org/presentationml/2006/main">
  <p:cSld>
    <p:spTree>
      <p:nvGrpSpPr>
        <p:cNvPr id="1118" name=""/>
        <p:cNvGrpSpPr/>
        <p:nvPr/>
      </p:nvGrpSpPr>
      <p:grpSpPr>
        <a:xfrm>
          <a:off x="0" y="0"/>
          <a:ext cx="0" cy="0"/>
          <a:chOff x="0" y="0"/>
          <a:chExt cx="0" cy="0"/>
        </a:xfrm>
      </p:grpSpPr>
      <p:sp>
        <p:nvSpPr>
          <p:cNvPr id="1049446" name="Title 1"/>
          <p:cNvSpPr>
            <a:spLocks noGrp="1"/>
          </p:cNvSpPr>
          <p:nvPr>
            <p:ph type="title"/>
          </p:nvPr>
        </p:nvSpPr>
        <p:spPr/>
        <p:txBody>
          <a:bodyPr>
            <a:normAutofit fontScale="90909"/>
          </a:bodyPr>
          <a:p>
            <a:r>
              <a:t>Medication/Food Interactions Nursing Interventions/Client Education</a:t>
            </a:r>
          </a:p>
        </p:txBody>
      </p:sp>
      <p:sp>
        <p:nvSpPr>
          <p:cNvPr id="1049447" name="Content Placeholder 2"/>
          <p:cNvSpPr>
            <a:spLocks noGrp="1"/>
          </p:cNvSpPr>
          <p:nvPr>
            <p:ph idx="1"/>
          </p:nvPr>
        </p:nvSpPr>
        <p:spPr/>
        <p:txBody>
          <a:bodyPr>
            <a:normAutofit fontScale="85714" lnSpcReduction="10000"/>
          </a:bodyPr>
          <a:p>
            <a:pPr indent="0" marL="0">
              <a:buNone/>
            </a:pPr>
            <a:r>
              <a:rPr b="1"/>
              <a:t>Probenecid, valproic acid, and methadone may increase zidovudine.</a:t>
            </a:r>
            <a:r>
              <a:rPr>
                <a:solidFill>
                  <a:srgbClr val="000000"/>
                </a:solidFill>
              </a:rPr>
              <a:t> </a:t>
            </a:r>
            <a:endParaRPr>
              <a:solidFill>
                <a:srgbClr val="000000"/>
              </a:solidFill>
            </a:endParaRPr>
          </a:p>
          <a:p>
            <a:r>
              <a:rPr>
                <a:solidFill>
                  <a:srgbClr val="000000"/>
                </a:solidFill>
              </a:rPr>
              <a:t>Reduce dosage </a:t>
            </a:r>
            <a:endParaRPr>
              <a:solidFill>
                <a:srgbClr val="000000"/>
              </a:solidFill>
            </a:endParaRPr>
          </a:p>
          <a:p>
            <a:r>
              <a:t>Monitor for medication toxicity. </a:t>
            </a:r>
          </a:p>
          <a:p>
            <a:pPr indent="0" marL="0">
              <a:buNone/>
            </a:pPr>
            <a:r>
              <a:rPr b="1"/>
              <a:t>Ganciclovir or medications that decrease bone marrow production may further suppress bone marrow. </a:t>
            </a:r>
            <a:endParaRPr b="1"/>
          </a:p>
          <a:p>
            <a:r>
              <a:t>Use together with caution. </a:t>
            </a:r>
          </a:p>
          <a:p>
            <a:pPr indent="0" marL="0">
              <a:buNone/>
            </a:pPr>
            <a:r>
              <a:rPr b="1"/>
              <a:t>Rifampin and ritonavir may reduce zidovudine levels. </a:t>
            </a:r>
            <a:endParaRPr b="1"/>
          </a:p>
          <a:p>
            <a:r>
              <a:t> Adjust dosage if needed.</a:t>
            </a:r>
          </a:p>
          <a:p>
            <a:pPr indent="0" marL="0">
              <a:buNone/>
            </a:pPr>
            <a:r>
              <a:t> </a:t>
            </a:r>
            <a:r>
              <a:rPr b="1"/>
              <a:t>Phenytoin may alter both medication levels</a:t>
            </a:r>
            <a:r>
              <a:t>. </a:t>
            </a:r>
          </a:p>
          <a:p>
            <a:r>
              <a:t> Monitor medication levels.</a:t>
            </a:r>
          </a:p>
        </p:txBody>
      </p:sp>
    </p:spTree>
  </p:cSld>
  <p:clrMapOvr>
    <a:masterClrMapping/>
  </p:clrMapOvr>
</p:sld>
</file>

<file path=ppt/slides/slide453.xml><?xml version="1.0" encoding="utf-8"?>
<p:sld xmlns:a="http://schemas.openxmlformats.org/drawingml/2006/main" xmlns:r="http://schemas.openxmlformats.org/officeDocument/2006/relationships" xmlns:p="http://schemas.openxmlformats.org/presentationml/2006/main">
  <p:cSld>
    <p:spTree>
      <p:nvGrpSpPr>
        <p:cNvPr id="1119" name=""/>
        <p:cNvGrpSpPr/>
        <p:nvPr/>
      </p:nvGrpSpPr>
      <p:grpSpPr>
        <a:xfrm>
          <a:off x="0" y="0"/>
          <a:ext cx="0" cy="0"/>
          <a:chOff x="0" y="0"/>
          <a:chExt cx="0" cy="0"/>
        </a:xfrm>
      </p:grpSpPr>
      <p:sp>
        <p:nvSpPr>
          <p:cNvPr id="1049448" name="Title 1"/>
          <p:cNvSpPr>
            <a:spLocks noGrp="1"/>
          </p:cNvSpPr>
          <p:nvPr>
            <p:ph type="title"/>
          </p:nvPr>
        </p:nvSpPr>
        <p:spPr/>
        <p:txBody>
          <a:bodyPr/>
          <a:p>
            <a:r>
              <a:t>Nursing Administration </a:t>
            </a:r>
          </a:p>
        </p:txBody>
      </p:sp>
      <p:sp>
        <p:nvSpPr>
          <p:cNvPr id="1049449" name="Content Placeholder 2"/>
          <p:cNvSpPr>
            <a:spLocks noGrp="1"/>
          </p:cNvSpPr>
          <p:nvPr>
            <p:ph idx="1"/>
          </p:nvPr>
        </p:nvSpPr>
        <p:spPr/>
        <p:txBody>
          <a:bodyPr/>
          <a:p>
            <a:r>
              <a:t>Monitor for bone marrow suppression. </a:t>
            </a:r>
          </a:p>
          <a:p>
            <a:r>
              <a:t>Obtain baseline CBC and platelets at the start of therapy and every 4 weeks. </a:t>
            </a:r>
          </a:p>
          <a:p>
            <a:r>
              <a:t>Anemia may be treated with epoetin alfa or transfusions. </a:t>
            </a:r>
          </a:p>
          <a:p>
            <a:r>
              <a:t> Neutropenia may be treated with colony-stimulating factors. </a:t>
            </a:r>
          </a:p>
          <a:p>
            <a:r>
              <a:t> Advise clients to monitor for fever, sore throat, increased bleeding, bruising or fatigue. </a:t>
            </a:r>
          </a:p>
        </p:txBody>
      </p:sp>
    </p:spTree>
  </p:cSld>
  <p:clrMapOvr>
    <a:masterClrMapping/>
  </p:clrMapOvr>
</p:sld>
</file>

<file path=ppt/slides/slide454.xml><?xml version="1.0" encoding="utf-8"?>
<p:sld xmlns:a="http://schemas.openxmlformats.org/drawingml/2006/main" xmlns:r="http://schemas.openxmlformats.org/officeDocument/2006/relationships" xmlns:p="http://schemas.openxmlformats.org/presentationml/2006/main">
  <p:cSld>
    <p:spTree>
      <p:nvGrpSpPr>
        <p:cNvPr id="1120" name=""/>
        <p:cNvGrpSpPr/>
        <p:nvPr/>
      </p:nvGrpSpPr>
      <p:grpSpPr>
        <a:xfrm>
          <a:off x="0" y="0"/>
          <a:ext cx="0" cy="0"/>
          <a:chOff x="0" y="0"/>
          <a:chExt cx="0" cy="0"/>
        </a:xfrm>
      </p:grpSpPr>
      <p:sp>
        <p:nvSpPr>
          <p:cNvPr id="1049450" name="Title 1"/>
          <p:cNvSpPr>
            <a:spLocks noGrp="1"/>
          </p:cNvSpPr>
          <p:nvPr>
            <p:ph type="title"/>
          </p:nvPr>
        </p:nvSpPr>
        <p:spPr/>
        <p:txBody>
          <a:bodyPr>
            <a:normAutofit fontScale="93182"/>
          </a:bodyPr>
          <a:p>
            <a:r>
              <a:t>Non-nucleoside reverse transcriptase inhibitors (NNRTI s) </a:t>
            </a:r>
          </a:p>
        </p:txBody>
      </p:sp>
      <p:sp>
        <p:nvSpPr>
          <p:cNvPr id="1049451" name="Content Placeholder 2"/>
          <p:cNvSpPr>
            <a:spLocks noGrp="1"/>
          </p:cNvSpPr>
          <p:nvPr>
            <p:ph idx="1"/>
          </p:nvPr>
        </p:nvSpPr>
        <p:spPr/>
        <p:txBody>
          <a:bodyPr>
            <a:normAutofit fontScale="85714" lnSpcReduction="20000"/>
          </a:bodyPr>
          <a:p>
            <a:r>
              <a:t>Select medication: delavirdine (Rescriptor), efavirenz (Sustiva) </a:t>
            </a:r>
          </a:p>
          <a:p>
            <a:r>
              <a:t> Other Medications: nevirapine (Viramune), etravirine (Intelence)</a:t>
            </a:r>
          </a:p>
          <a:p>
            <a:r>
              <a:rPr b="1"/>
              <a:t>Expected Pharmacological Action </a:t>
            </a:r>
            <a:endParaRPr b="1"/>
          </a:p>
          <a:p>
            <a:r>
              <a:t> NNRTIs act directly on reverse transcriptase to stop HIV reprication</a:t>
            </a:r>
          </a:p>
          <a:p>
            <a:r>
              <a:rPr b="1"/>
              <a:t>Therapeutic Uses  </a:t>
            </a:r>
            <a:endParaRPr b="1"/>
          </a:p>
          <a:p>
            <a:r>
              <a:t>Primary HIV-1 infection </a:t>
            </a:r>
          </a:p>
          <a:p>
            <a:r>
              <a:t> Often used in combination with other antiretroviral agents to prevent medication resistance </a:t>
            </a:r>
          </a:p>
          <a:p>
            <a:r>
              <a:t> </a:t>
            </a:r>
            <a:r>
              <a:rPr b="1"/>
              <a:t>Route of administration</a:t>
            </a:r>
            <a:r>
              <a:t>:</a:t>
            </a:r>
          </a:p>
          <a:p>
            <a:r>
              <a:t> Oral </a:t>
            </a:r>
          </a:p>
          <a:p>
            <a:r>
              <a:t> Monitor for rash.</a:t>
            </a:r>
          </a:p>
          <a:p>
            <a:pPr indent="0" marL="0">
              <a:buNone/>
            </a:pPr>
          </a:p>
        </p:txBody>
      </p:sp>
    </p:spTree>
  </p:cSld>
  <p:clrMapOvr>
    <a:masterClrMapping/>
  </p:clrMapOvr>
</p:sld>
</file>

<file path=ppt/slides/slide455.xml><?xml version="1.0" encoding="utf-8"?>
<p:sld xmlns:a="http://schemas.openxmlformats.org/drawingml/2006/main" xmlns:r="http://schemas.openxmlformats.org/officeDocument/2006/relationships" xmlns:p="http://schemas.openxmlformats.org/presentationml/2006/main">
  <p:cSld>
    <p:spTree>
      <p:nvGrpSpPr>
        <p:cNvPr id="1121" name=""/>
        <p:cNvGrpSpPr/>
        <p:nvPr/>
      </p:nvGrpSpPr>
      <p:grpSpPr>
        <a:xfrm>
          <a:off x="0" y="0"/>
          <a:ext cx="0" cy="0"/>
          <a:chOff x="0" y="0"/>
          <a:chExt cx="0" cy="0"/>
        </a:xfrm>
      </p:grpSpPr>
      <p:sp>
        <p:nvSpPr>
          <p:cNvPr id="1049452" name="Title 1"/>
          <p:cNvSpPr>
            <a:spLocks noGrp="1"/>
          </p:cNvSpPr>
          <p:nvPr>
            <p:ph type="title"/>
          </p:nvPr>
        </p:nvSpPr>
        <p:spPr/>
        <p:txBody>
          <a:bodyPr/>
          <a:p>
            <a:r>
              <a:rPr b="1" sz="2400">
                <a:solidFill>
                  <a:srgbClr val="000000"/>
                </a:solidFill>
                <a:latin typeface="Calibri"/>
                <a:ea typeface="+mn-ea"/>
                <a:cs typeface="+mn-cs"/>
              </a:rPr>
              <a:t>Complications Side/Adverse Effects Nursing Interventions/Client Education</a:t>
            </a:r>
            <a:endParaRPr b="1"/>
          </a:p>
        </p:txBody>
      </p:sp>
      <p:sp>
        <p:nvSpPr>
          <p:cNvPr id="1049453" name="Content Placeholder 2"/>
          <p:cNvSpPr>
            <a:spLocks noGrp="1"/>
          </p:cNvSpPr>
          <p:nvPr>
            <p:ph idx="1"/>
          </p:nvPr>
        </p:nvSpPr>
        <p:spPr>
          <a:xfrm>
            <a:off x="838204" y="1524004"/>
            <a:ext cx="10515600" cy="5086350"/>
          </a:xfrm>
        </p:spPr>
        <p:txBody>
          <a:bodyPr>
            <a:normAutofit/>
          </a:bodyPr>
          <a:p>
            <a:pPr indent="0" marL="0">
              <a:buNone/>
            </a:pPr>
            <a:r>
              <a:rPr b="1"/>
              <a:t>Rash, which may become serious and lead to Steven’s-Johnson syndrome </a:t>
            </a:r>
            <a:endParaRPr b="1"/>
          </a:p>
          <a:p>
            <a:r>
              <a:t> Monitor for rash. </a:t>
            </a:r>
          </a:p>
          <a:p>
            <a:r>
              <a:t>Treat with diphenhydramine (Benadryl), if prescribed. </a:t>
            </a:r>
          </a:p>
          <a:p>
            <a:r>
              <a:t> Notify the provider for fever or blistering.</a:t>
            </a:r>
          </a:p>
          <a:p>
            <a:pPr indent="0" marL="0">
              <a:buNone/>
            </a:pPr>
            <a:r>
              <a:t> </a:t>
            </a:r>
            <a:r>
              <a:rPr b="1"/>
              <a:t>Flu-like symptoms, headache, fatigue </a:t>
            </a:r>
            <a:endParaRPr b="1"/>
          </a:p>
          <a:p>
            <a:r>
              <a:t> Monitor for adverse reactions. </a:t>
            </a:r>
          </a:p>
          <a:p>
            <a:r>
              <a:t> Encourage rest and adequate oral fluid intake</a:t>
            </a:r>
          </a:p>
          <a:p>
            <a:pPr indent="0" marL="0">
              <a:buNone/>
            </a:pPr>
            <a:r>
              <a:rPr b="1">
                <a:latin typeface="Times New Roman"/>
                <a:cs typeface="Times New Roman"/>
              </a:rPr>
              <a:t>Contraindications/Precautions </a:t>
            </a:r>
            <a:endParaRPr b="1">
              <a:latin typeface="Times New Roman"/>
              <a:cs typeface="Times New Roman"/>
            </a:endParaRPr>
          </a:p>
          <a:p>
            <a:r>
              <a:rPr>
                <a:latin typeface="Times New Roman"/>
                <a:cs typeface="Times New Roman"/>
              </a:rPr>
              <a:t> NNRTIs are Pregnancy Risk Category C. </a:t>
            </a:r>
            <a:endParaRPr>
              <a:latin typeface="Times New Roman"/>
              <a:cs typeface="Times New Roman"/>
            </a:endParaRPr>
          </a:p>
          <a:p>
            <a:r>
              <a:rPr>
                <a:latin typeface="Times New Roman"/>
                <a:cs typeface="Times New Roman"/>
              </a:rPr>
              <a:t>These medications are contraindicated in clients with medication hypersensitivity. </a:t>
            </a:r>
            <a:endParaRPr>
              <a:latin typeface="Times New Roman"/>
              <a:cs typeface="Times New Roman"/>
            </a:endParaRPr>
          </a:p>
          <a:p>
            <a:r>
              <a:rPr>
                <a:latin typeface="Times New Roman"/>
                <a:cs typeface="Times New Roman"/>
              </a:rPr>
              <a:t> Use with caution in clients who have liver disease.</a:t>
            </a:r>
            <a:endParaRPr>
              <a:latin typeface="Times New Roman"/>
              <a:cs typeface="Times New Roman"/>
            </a:endParaRPr>
          </a:p>
          <a:p/>
        </p:txBody>
      </p:sp>
    </p:spTree>
  </p:cSld>
  <p:clrMapOvr>
    <a:masterClrMapping/>
  </p:clrMapOvr>
</p:sld>
</file>

<file path=ppt/slides/slide456.xml><?xml version="1.0" encoding="utf-8"?>
<p:sld xmlns:a="http://schemas.openxmlformats.org/drawingml/2006/main" xmlns:r="http://schemas.openxmlformats.org/officeDocument/2006/relationships" xmlns:p="http://schemas.openxmlformats.org/presentationml/2006/main">
  <p:cSld>
    <p:spTree>
      <p:nvGrpSpPr>
        <p:cNvPr id="1122" name=""/>
        <p:cNvGrpSpPr/>
        <p:nvPr/>
      </p:nvGrpSpPr>
      <p:grpSpPr>
        <a:xfrm>
          <a:off x="0" y="0"/>
          <a:ext cx="0" cy="0"/>
          <a:chOff x="0" y="0"/>
          <a:chExt cx="0" cy="0"/>
        </a:xfrm>
      </p:grpSpPr>
      <p:sp>
        <p:nvSpPr>
          <p:cNvPr id="1049454" name="Title 1"/>
          <p:cNvSpPr>
            <a:spLocks noGrp="1"/>
          </p:cNvSpPr>
          <p:nvPr>
            <p:ph type="title"/>
          </p:nvPr>
        </p:nvSpPr>
        <p:spPr/>
        <p:txBody>
          <a:bodyPr>
            <a:normAutofit fontScale="90909"/>
          </a:bodyPr>
          <a:p>
            <a:r>
              <a:t>Medication/Food Interactions Nursing Interventions/Client Education</a:t>
            </a:r>
          </a:p>
        </p:txBody>
      </p:sp>
      <p:sp>
        <p:nvSpPr>
          <p:cNvPr id="1049455" name="Content Placeholder 2"/>
          <p:cNvSpPr>
            <a:spLocks noGrp="1"/>
          </p:cNvSpPr>
          <p:nvPr>
            <p:ph idx="1"/>
          </p:nvPr>
        </p:nvSpPr>
        <p:spPr>
          <a:xfrm>
            <a:off x="495304" y="1690682"/>
            <a:ext cx="11201400" cy="4802190"/>
          </a:xfrm>
        </p:spPr>
        <p:txBody>
          <a:bodyPr>
            <a:normAutofit fontScale="85714" lnSpcReduction="20000"/>
          </a:bodyPr>
          <a:p>
            <a:pPr indent="0" marL="0">
              <a:buNone/>
            </a:pPr>
            <a:r>
              <a:rPr b="1"/>
              <a:t>Antacids may decrease absorption of delavirdine. </a:t>
            </a:r>
            <a:endParaRPr b="1"/>
          </a:p>
          <a:p>
            <a:r>
              <a:t> Allow 1 hr. between medications.</a:t>
            </a:r>
          </a:p>
          <a:p>
            <a:pPr indent="0" marL="0">
              <a:buNone/>
            </a:pPr>
            <a:r>
              <a:rPr b="1"/>
              <a:t> NNRTIs may increase effects of amphetamines, antihistamines, calcium channel blockers, ergot alkaloids, quinidine, warfarin, and others. </a:t>
            </a:r>
            <a:endParaRPr b="1"/>
          </a:p>
          <a:p>
            <a:r>
              <a:t> Monitor for medication toxicity. </a:t>
            </a:r>
          </a:p>
          <a:p>
            <a:pPr indent="0" marL="0">
              <a:buNone/>
            </a:pPr>
            <a:r>
              <a:rPr b="1"/>
              <a:t>Rifampin and phenytoin may cause decrease in levels of delavirdine</a:t>
            </a:r>
            <a:r>
              <a:t>. </a:t>
            </a:r>
          </a:p>
          <a:p>
            <a:r>
              <a:t> Do not use together.</a:t>
            </a:r>
          </a:p>
          <a:p>
            <a:pPr indent="0" marL="0">
              <a:buNone/>
            </a:pPr>
            <a:r>
              <a:rPr b="1"/>
              <a:t>Didanosine may reduce both medications’ absorption</a:t>
            </a:r>
            <a:r>
              <a:t>. </a:t>
            </a:r>
          </a:p>
          <a:p>
            <a:pPr indent="0" marL="0">
              <a:buNone/>
            </a:pPr>
            <a:r>
              <a:t> Allow 1 hour between medications.</a:t>
            </a:r>
          </a:p>
          <a:p>
            <a:pPr indent="0" marL="0">
              <a:buNone/>
            </a:pPr>
            <a:r>
              <a:rPr b="1"/>
              <a:t>NNRTIs hypotension and changes in vision</a:t>
            </a:r>
            <a:r>
              <a:t>.</a:t>
            </a:r>
          </a:p>
          <a:p>
            <a:r>
              <a:t>  may cause increase in sildenafil level. </a:t>
            </a:r>
          </a:p>
          <a:p>
            <a:r>
              <a:t> Monitor for Use together with caution. </a:t>
            </a:r>
          </a:p>
        </p:txBody>
      </p:sp>
    </p:spTree>
  </p:cSld>
  <p:clrMapOvr>
    <a:masterClrMapping/>
  </p:clrMapOvr>
</p:sld>
</file>

<file path=ppt/slides/slide457.xml><?xml version="1.0" encoding="utf-8"?>
<p:sld xmlns:a="http://schemas.openxmlformats.org/drawingml/2006/main" xmlns:r="http://schemas.openxmlformats.org/officeDocument/2006/relationships" xmlns:p="http://schemas.openxmlformats.org/presentationml/2006/main">
  <p:cSld>
    <p:spTree>
      <p:nvGrpSpPr>
        <p:cNvPr id="1123" name=""/>
        <p:cNvGrpSpPr/>
        <p:nvPr/>
      </p:nvGrpSpPr>
      <p:grpSpPr>
        <a:xfrm>
          <a:off x="0" y="0"/>
          <a:ext cx="0" cy="0"/>
          <a:chOff x="0" y="0"/>
          <a:chExt cx="0" cy="0"/>
        </a:xfrm>
      </p:grpSpPr>
      <p:sp>
        <p:nvSpPr>
          <p:cNvPr id="1049456" name="Title 1"/>
          <p:cNvSpPr>
            <a:spLocks noGrp="1"/>
          </p:cNvSpPr>
          <p:nvPr>
            <p:ph type="title"/>
          </p:nvPr>
        </p:nvSpPr>
        <p:spPr>
          <a:xfrm>
            <a:off x="1097277" y="286601"/>
            <a:ext cx="10058400" cy="580178"/>
          </a:xfrm>
        </p:spPr>
        <p:txBody>
          <a:bodyPr>
            <a:normAutofit fontScale="90000"/>
          </a:bodyPr>
          <a:p>
            <a:r>
              <a:t>                      Protease inhibitors</a:t>
            </a:r>
          </a:p>
        </p:txBody>
      </p:sp>
      <p:sp>
        <p:nvSpPr>
          <p:cNvPr id="1049457" name="Content Placeholder 2"/>
          <p:cNvSpPr>
            <a:spLocks noGrp="1"/>
          </p:cNvSpPr>
          <p:nvPr>
            <p:ph idx="1"/>
          </p:nvPr>
        </p:nvSpPr>
        <p:spPr>
          <a:xfrm>
            <a:off x="285750" y="952504"/>
            <a:ext cx="11563345" cy="5905495"/>
          </a:xfrm>
        </p:spPr>
        <p:txBody>
          <a:bodyPr>
            <a:noAutofit/>
          </a:bodyPr>
          <a:p>
            <a:pPr indent="0" marL="0">
              <a:buNone/>
            </a:pPr>
            <a:r>
              <a:rPr b="1" sz="2400">
                <a:cs typeface="Times New Roman"/>
              </a:rPr>
              <a:t>Members of this group are</a:t>
            </a:r>
            <a:r>
              <a:rPr sz="2400">
                <a:cs typeface="Times New Roman"/>
              </a:rPr>
              <a:t>;</a:t>
            </a:r>
            <a:endParaRPr sz="2400">
              <a:cs typeface="Times New Roman"/>
            </a:endParaRPr>
          </a:p>
          <a:p>
            <a:pPr indent="0" marL="0">
              <a:buNone/>
            </a:pPr>
            <a:r>
              <a:rPr sz="2400">
                <a:cs typeface="Times New Roman"/>
              </a:rPr>
              <a:t> ritonavir (Norvir)  </a:t>
            </a:r>
            <a:endParaRPr sz="2400">
              <a:cs typeface="Times New Roman"/>
            </a:endParaRPr>
          </a:p>
          <a:p>
            <a:pPr indent="0" marL="0">
              <a:buNone/>
            </a:pPr>
            <a:r>
              <a:rPr sz="2400">
                <a:cs typeface="Times New Roman"/>
              </a:rPr>
              <a:t> Saquinavir (Invirase) </a:t>
            </a:r>
            <a:endParaRPr sz="2400">
              <a:cs typeface="Times New Roman"/>
            </a:endParaRPr>
          </a:p>
          <a:p>
            <a:pPr indent="0" marL="0">
              <a:buNone/>
            </a:pPr>
            <a:r>
              <a:rPr sz="2400">
                <a:cs typeface="Times New Roman"/>
              </a:rPr>
              <a:t>Indinavir (Crixivan) </a:t>
            </a:r>
            <a:endParaRPr sz="2400">
              <a:cs typeface="Times New Roman"/>
            </a:endParaRPr>
          </a:p>
          <a:p>
            <a:pPr indent="0" marL="0">
              <a:buNone/>
            </a:pPr>
            <a:r>
              <a:rPr sz="2400">
                <a:cs typeface="Times New Roman"/>
              </a:rPr>
              <a:t> Amprenavir (Agenerase) </a:t>
            </a:r>
            <a:endParaRPr sz="2400">
              <a:cs typeface="Times New Roman"/>
            </a:endParaRPr>
          </a:p>
          <a:p>
            <a:pPr indent="0" marL="0">
              <a:buNone/>
            </a:pPr>
            <a:r>
              <a:rPr sz="2400">
                <a:cs typeface="Times New Roman"/>
              </a:rPr>
              <a:t>Nelfinavir (Viracept) </a:t>
            </a:r>
            <a:endParaRPr sz="2400">
              <a:cs typeface="Times New Roman"/>
            </a:endParaRPr>
          </a:p>
          <a:p>
            <a:pPr indent="0" marL="0">
              <a:buNone/>
            </a:pPr>
            <a:r>
              <a:rPr sz="2400">
                <a:cs typeface="Times New Roman"/>
              </a:rPr>
              <a:t> </a:t>
            </a:r>
            <a:r>
              <a:rPr b="1" sz="2400">
                <a:cs typeface="Times New Roman"/>
              </a:rPr>
              <a:t>Mechanism Of Action </a:t>
            </a:r>
            <a:endParaRPr b="1" sz="2400">
              <a:cs typeface="Times New Roman"/>
            </a:endParaRPr>
          </a:p>
          <a:p>
            <a:pPr indent="0" marL="0">
              <a:buNone/>
            </a:pPr>
            <a:r>
              <a:rPr sz="2400">
                <a:cs typeface="Times New Roman"/>
              </a:rPr>
              <a:t>Protease inhibitors act against HIV-1 and HIV-2 to alter and inactivate the virus by inhibiting enzymes needed for HIV replication. </a:t>
            </a:r>
            <a:endParaRPr sz="2400">
              <a:cs typeface="Times New Roman"/>
            </a:endParaRPr>
          </a:p>
          <a:p>
            <a:pPr indent="0" marL="0">
              <a:buNone/>
            </a:pPr>
            <a:r>
              <a:rPr sz="2400">
                <a:cs typeface="Times New Roman"/>
              </a:rPr>
              <a:t> </a:t>
            </a:r>
            <a:r>
              <a:rPr b="1" sz="2400">
                <a:cs typeface="Times New Roman"/>
              </a:rPr>
              <a:t>Indication</a:t>
            </a:r>
            <a:endParaRPr b="1" sz="2400">
              <a:cs typeface="Times New Roman"/>
            </a:endParaRPr>
          </a:p>
          <a:p>
            <a:pPr indent="0" marL="0">
              <a:buNone/>
            </a:pPr>
            <a:r>
              <a:rPr b="1" sz="2400">
                <a:cs typeface="Times New Roman"/>
              </a:rPr>
              <a:t> </a:t>
            </a:r>
            <a:r>
              <a:rPr sz="2400">
                <a:cs typeface="Times New Roman"/>
              </a:rPr>
              <a:t>Used to treat HIV infections </a:t>
            </a:r>
            <a:endParaRPr sz="2400">
              <a:cs typeface="Times New Roman"/>
            </a:endParaRPr>
          </a:p>
          <a:p>
            <a:pPr indent="0" marL="0">
              <a:buNone/>
            </a:pPr>
            <a:r>
              <a:rPr sz="2400">
                <a:cs typeface="Times New Roman"/>
              </a:rPr>
              <a:t>Should be used with another antiretroviral medication to reduce medication resistance</a:t>
            </a:r>
            <a:endParaRPr sz="2400">
              <a:cs typeface="Times New Roman"/>
            </a:endParaRPr>
          </a:p>
          <a:p>
            <a:pPr indent="0" marL="0">
              <a:buNone/>
            </a:pPr>
            <a:r>
              <a:rPr b="1" sz="2400">
                <a:solidFill>
                  <a:srgbClr val="000000"/>
                </a:solidFill>
                <a:ea typeface="+mj-ea"/>
                <a:cs typeface="Times New Roman"/>
              </a:rPr>
              <a:t> Route of administration</a:t>
            </a:r>
            <a:r>
              <a:rPr sz="2400">
                <a:solidFill>
                  <a:srgbClr val="000000"/>
                </a:solidFill>
                <a:ea typeface="+mj-ea"/>
                <a:cs typeface="Times New Roman"/>
              </a:rPr>
              <a:t>: Oral</a:t>
            </a:r>
            <a:endParaRPr sz="2400">
              <a:cs typeface="Times New Roman"/>
            </a:endParaRPr>
          </a:p>
        </p:txBody>
      </p:sp>
    </p:spTree>
  </p:cSld>
  <p:clrMapOvr>
    <a:masterClrMapping/>
  </p:clrMapOvr>
</p:sld>
</file>

<file path=ppt/slides/slide458.xml><?xml version="1.0" encoding="utf-8"?>
<p:sld xmlns:a="http://schemas.openxmlformats.org/drawingml/2006/main" xmlns:r="http://schemas.openxmlformats.org/officeDocument/2006/relationships" xmlns:p="http://schemas.openxmlformats.org/presentationml/2006/main">
  <p:cSld>
    <p:spTree>
      <p:nvGrpSpPr>
        <p:cNvPr id="1124" name=""/>
        <p:cNvGrpSpPr/>
        <p:nvPr/>
      </p:nvGrpSpPr>
      <p:grpSpPr>
        <a:xfrm>
          <a:off x="0" y="0"/>
          <a:ext cx="0" cy="0"/>
          <a:chOff x="0" y="0"/>
          <a:chExt cx="0" cy="0"/>
        </a:xfrm>
      </p:grpSpPr>
      <p:sp>
        <p:nvSpPr>
          <p:cNvPr id="1049458" name="Title 1"/>
          <p:cNvSpPr>
            <a:spLocks noGrp="1"/>
          </p:cNvSpPr>
          <p:nvPr>
            <p:ph type="title"/>
          </p:nvPr>
        </p:nvSpPr>
        <p:spPr/>
        <p:txBody>
          <a:bodyPr>
            <a:normAutofit/>
          </a:bodyPr>
          <a:p>
            <a:r>
              <a:rPr sz="4000">
                <a:latin typeface="Times New Roman"/>
                <a:cs typeface="Times New Roman"/>
              </a:rPr>
              <a:t>Side/Adverse Effects Nursing Interventions/Client Education</a:t>
            </a:r>
            <a:endParaRPr sz="4000">
              <a:latin typeface="Times New Roman"/>
              <a:cs typeface="Times New Roman"/>
            </a:endParaRPr>
          </a:p>
        </p:txBody>
      </p:sp>
      <p:sp>
        <p:nvSpPr>
          <p:cNvPr id="1049459" name="Content Placeholder 2"/>
          <p:cNvSpPr>
            <a:spLocks noGrp="1"/>
          </p:cNvSpPr>
          <p:nvPr>
            <p:ph idx="1"/>
          </p:nvPr>
        </p:nvSpPr>
        <p:spPr>
          <a:xfrm>
            <a:off x="476245" y="1825618"/>
            <a:ext cx="11391895" cy="4775206"/>
          </a:xfrm>
        </p:spPr>
        <p:txBody>
          <a:bodyPr>
            <a:normAutofit fontScale="78571" lnSpcReduction="20000"/>
          </a:bodyPr>
          <a:p>
            <a:r>
              <a:rPr b="1">
                <a:cs typeface="Times New Roman"/>
              </a:rPr>
              <a:t>Diabetes mellitus/hyperglycemia ;</a:t>
            </a:r>
            <a:r>
              <a:rPr>
                <a:cs typeface="Times New Roman"/>
              </a:rPr>
              <a:t> Monitor serum glucose, </a:t>
            </a:r>
            <a:endParaRPr>
              <a:cs typeface="Times New Roman"/>
            </a:endParaRPr>
          </a:p>
          <a:p>
            <a:pPr indent="0" marL="0">
              <a:buNone/>
            </a:pPr>
            <a:r>
              <a:rPr>
                <a:cs typeface="Times New Roman"/>
              </a:rPr>
              <a:t> Adjust diet and administer anti-diabetic medications as prescribed. Advise clients to monitor for increased thirst and urine output.</a:t>
            </a:r>
            <a:endParaRPr>
              <a:cs typeface="Times New Roman"/>
            </a:endParaRPr>
          </a:p>
          <a:p>
            <a:r>
              <a:rPr>
                <a:cs typeface="Times New Roman"/>
              </a:rPr>
              <a:t> </a:t>
            </a:r>
            <a:r>
              <a:rPr b="1">
                <a:cs typeface="Times New Roman"/>
              </a:rPr>
              <a:t>hypersensitivity reaction; </a:t>
            </a:r>
            <a:endParaRPr b="1">
              <a:cs typeface="Times New Roman"/>
            </a:endParaRPr>
          </a:p>
          <a:p>
            <a:pPr indent="0" marL="0">
              <a:buNone/>
            </a:pPr>
            <a:r>
              <a:rPr>
                <a:cs typeface="Times New Roman"/>
              </a:rPr>
              <a:t>Monitor for rash. </a:t>
            </a:r>
            <a:endParaRPr>
              <a:cs typeface="Times New Roman"/>
            </a:endParaRPr>
          </a:p>
          <a:p>
            <a:pPr indent="0" marL="0">
              <a:buNone/>
            </a:pPr>
            <a:r>
              <a:rPr>
                <a:cs typeface="Times New Roman"/>
              </a:rPr>
              <a:t>Notify the provider if rash develops. </a:t>
            </a:r>
            <a:endParaRPr>
              <a:cs typeface="Times New Roman"/>
            </a:endParaRPr>
          </a:p>
          <a:p>
            <a:r>
              <a:rPr b="1">
                <a:solidFill>
                  <a:srgbClr val="000000"/>
                </a:solidFill>
                <a:cs typeface="Times New Roman"/>
              </a:rPr>
              <a:t>Nausea </a:t>
            </a:r>
            <a:r>
              <a:rPr b="1">
                <a:cs typeface="Times New Roman"/>
              </a:rPr>
              <a:t>and vomiting; </a:t>
            </a:r>
            <a:r>
              <a:rPr>
                <a:cs typeface="Times New Roman"/>
              </a:rPr>
              <a:t>Take medication with food to reduce GI effects and increase absorption.</a:t>
            </a:r>
            <a:endParaRPr>
              <a:cs typeface="Times New Roman"/>
            </a:endParaRPr>
          </a:p>
          <a:p>
            <a:r>
              <a:rPr>
                <a:cs typeface="Times New Roman"/>
              </a:rPr>
              <a:t> </a:t>
            </a:r>
            <a:r>
              <a:rPr b="1">
                <a:cs typeface="Times New Roman"/>
              </a:rPr>
              <a:t>Elevated serum lipids </a:t>
            </a:r>
            <a:endParaRPr b="1">
              <a:cs typeface="Times New Roman"/>
            </a:endParaRPr>
          </a:p>
          <a:p>
            <a:pPr indent="0" marL="0">
              <a:buNone/>
            </a:pPr>
            <a:r>
              <a:rPr>
                <a:cs typeface="Times New Roman"/>
              </a:rPr>
              <a:t>Monitor for hyperlipidemia. </a:t>
            </a:r>
            <a:endParaRPr>
              <a:cs typeface="Times New Roman"/>
            </a:endParaRPr>
          </a:p>
          <a:p>
            <a:pPr indent="0" marL="0">
              <a:buNone/>
            </a:pPr>
            <a:r>
              <a:rPr>
                <a:cs typeface="Times New Roman"/>
              </a:rPr>
              <a:t>Adjust diet.  </a:t>
            </a:r>
            <a:endParaRPr>
              <a:cs typeface="Times New Roman"/>
            </a:endParaRPr>
          </a:p>
          <a:p>
            <a:r>
              <a:rPr b="1">
                <a:cs typeface="Times New Roman"/>
              </a:rPr>
              <a:t>Thrombocytopenia, leukopenia</a:t>
            </a:r>
            <a:endParaRPr b="1">
              <a:cs typeface="Times New Roman"/>
            </a:endParaRPr>
          </a:p>
          <a:p>
            <a:pPr indent="0" marL="0">
              <a:buNone/>
            </a:pPr>
            <a:r>
              <a:rPr>
                <a:cs typeface="Times New Roman"/>
              </a:rPr>
              <a:t> Monitor CBC. Monitor for signs of infection (fever, sore throat). Monitor for bleeding, blood in stool and bruising</a:t>
            </a:r>
            <a:endParaRPr>
              <a:cs typeface="Times New Roman"/>
            </a:endParaRPr>
          </a:p>
        </p:txBody>
      </p:sp>
    </p:spTree>
  </p:cSld>
  <p:clrMapOvr>
    <a:masterClrMapping/>
  </p:clrMapOvr>
</p:sld>
</file>

<file path=ppt/slides/slide459.xml><?xml version="1.0" encoding="utf-8"?>
<p:sld xmlns:a="http://schemas.openxmlformats.org/drawingml/2006/main" xmlns:r="http://schemas.openxmlformats.org/officeDocument/2006/relationships" xmlns:p="http://schemas.openxmlformats.org/presentationml/2006/main">
  <p:cSld>
    <p:spTree>
      <p:nvGrpSpPr>
        <p:cNvPr id="1125" name=""/>
        <p:cNvGrpSpPr/>
        <p:nvPr/>
      </p:nvGrpSpPr>
      <p:grpSpPr>
        <a:xfrm>
          <a:off x="0" y="0"/>
          <a:ext cx="0" cy="0"/>
          <a:chOff x="0" y="0"/>
          <a:chExt cx="0" cy="0"/>
        </a:xfrm>
      </p:grpSpPr>
      <p:sp>
        <p:nvSpPr>
          <p:cNvPr id="1049460" name="Title 1"/>
          <p:cNvSpPr>
            <a:spLocks noGrp="1"/>
          </p:cNvSpPr>
          <p:nvPr>
            <p:ph type="title"/>
          </p:nvPr>
        </p:nvSpPr>
        <p:spPr/>
        <p:txBody>
          <a:bodyPr>
            <a:normAutofit fontScale="90909"/>
          </a:bodyPr>
          <a:p>
            <a:r>
              <a:t>Medication/Food Interactions Nursing Interventions/Client Education</a:t>
            </a:r>
          </a:p>
        </p:txBody>
      </p:sp>
      <p:sp>
        <p:nvSpPr>
          <p:cNvPr id="1049461" name="Content Placeholder 2"/>
          <p:cNvSpPr>
            <a:spLocks noGrp="1"/>
          </p:cNvSpPr>
          <p:nvPr>
            <p:ph idx="1"/>
          </p:nvPr>
        </p:nvSpPr>
        <p:spPr>
          <a:xfrm>
            <a:off x="285038" y="1814331"/>
            <a:ext cx="10515600" cy="4351339"/>
          </a:xfrm>
        </p:spPr>
        <p:txBody>
          <a:bodyPr>
            <a:normAutofit lnSpcReduction="10000"/>
          </a:bodyPr>
          <a:p>
            <a:r>
              <a:rPr b="1"/>
              <a:t>Ritonavir may cause these medications to accumulate to toxic levels: Bupropion, carbamazepine, diazepam, lidocaine, prednisone clozapine, lovastatin, simvastatin, alprazolam, and ergotamine. </a:t>
            </a:r>
            <a:endParaRPr b="1"/>
          </a:p>
          <a:p>
            <a:pPr indent="0" marL="0">
              <a:buNone/>
            </a:pPr>
            <a:r>
              <a:t> Avoid concurrent use.</a:t>
            </a:r>
          </a:p>
          <a:p>
            <a:r>
              <a:rPr b="1"/>
              <a:t> Ritonavir may increase medication levels of sildenafil, tadalafil, and vardenafil. </a:t>
            </a:r>
            <a:endParaRPr b="1"/>
          </a:p>
          <a:p>
            <a:pPr indent="0" marL="0">
              <a:buNone/>
            </a:pPr>
            <a:r>
              <a:t> Use with caution. Dosages of these medications may need to be reduced. </a:t>
            </a:r>
          </a:p>
          <a:p>
            <a:r>
              <a:rPr b="1"/>
              <a:t>Ritonavir decreases levels of ethynyl estradiol in oral contraceptives</a:t>
            </a:r>
            <a:r>
              <a:t>.  Instruct clients to use an alternative form of birth control.</a:t>
            </a:r>
          </a:p>
        </p:txBody>
      </p:sp>
    </p:spTree>
  </p:cSld>
  <p:clrMapOvr>
    <a:masterClrMapping/>
  </p:clrMapOvr>
</p:sld>
</file>

<file path=ppt/slides/slide460.xml><?xml version="1.0" encoding="utf-8"?>
<p:sld xmlns:a="http://schemas.openxmlformats.org/drawingml/2006/main" xmlns:r="http://schemas.openxmlformats.org/officeDocument/2006/relationships" xmlns:p="http://schemas.openxmlformats.org/presentationml/2006/main">
  <p:cSld>
    <p:spTree>
      <p:nvGrpSpPr>
        <p:cNvPr id="1126" name=""/>
        <p:cNvGrpSpPr/>
        <p:nvPr/>
      </p:nvGrpSpPr>
      <p:grpSpPr>
        <a:xfrm>
          <a:off x="0" y="0"/>
          <a:ext cx="0" cy="0"/>
          <a:chOff x="0" y="0"/>
          <a:chExt cx="0" cy="0"/>
        </a:xfrm>
      </p:grpSpPr>
      <p:sp>
        <p:nvSpPr>
          <p:cNvPr id="1049462" name="Title 1"/>
          <p:cNvSpPr>
            <a:spLocks noGrp="1"/>
          </p:cNvSpPr>
          <p:nvPr>
            <p:ph type="title"/>
          </p:nvPr>
        </p:nvSpPr>
        <p:spPr/>
        <p:txBody>
          <a:bodyPr/>
          <a:p>
            <a:r>
              <a:rPr b="1"/>
              <a:t>                          Entry/fusion inhibitors</a:t>
            </a:r>
            <a:endParaRPr b="1"/>
          </a:p>
        </p:txBody>
      </p:sp>
      <p:sp>
        <p:nvSpPr>
          <p:cNvPr id="1049463" name="Content Placeholder 2"/>
          <p:cNvSpPr>
            <a:spLocks noGrp="1"/>
          </p:cNvSpPr>
          <p:nvPr>
            <p:ph idx="1"/>
          </p:nvPr>
        </p:nvSpPr>
        <p:spPr>
          <a:xfrm>
            <a:off x="372535" y="1577806"/>
            <a:ext cx="10597446" cy="4789661"/>
          </a:xfrm>
        </p:spPr>
        <p:txBody>
          <a:bodyPr>
            <a:normAutofit/>
          </a:bodyPr>
          <a:p>
            <a:pPr indent="0" marL="0">
              <a:buNone/>
            </a:pPr>
            <a:r>
              <a:rPr b="1"/>
              <a:t>Enfuvirtide </a:t>
            </a:r>
            <a:r>
              <a:t>this is the first antiretroviral to target the host cell attachment.</a:t>
            </a:r>
          </a:p>
          <a:p>
            <a:pPr indent="0" marL="0">
              <a:buNone/>
            </a:pPr>
            <a:r>
              <a:rPr b="1"/>
              <a:t>Mechanism of action/pharmacodynamics</a:t>
            </a:r>
            <a:endParaRPr b="1"/>
          </a:p>
          <a:p>
            <a:r>
              <a:t>It inhibits fusion of the cellular and viral membranes.</a:t>
            </a:r>
          </a:p>
          <a:p>
            <a:pPr indent="0" marL="0">
              <a:buNone/>
            </a:pPr>
            <a:r>
              <a:rPr b="1"/>
              <a:t>Pharmacokinetic</a:t>
            </a:r>
            <a:endParaRPr b="1"/>
          </a:p>
          <a:p>
            <a:r>
              <a:t>It is give by S.C. injection half life is 4hours.</a:t>
            </a:r>
          </a:p>
          <a:p>
            <a:pPr indent="0" marL="0">
              <a:buNone/>
            </a:pPr>
            <a:r>
              <a:rPr b="1"/>
              <a:t>adverse effects  </a:t>
            </a:r>
            <a:endParaRPr b="1"/>
          </a:p>
          <a:p>
            <a:r>
              <a:t>Limited to mild injection site reactions</a:t>
            </a:r>
          </a:p>
          <a:p>
            <a:r>
              <a:t>Hypersensitivity and peripheral neuropathy may occur.</a:t>
            </a:r>
          </a:p>
        </p:txBody>
      </p:sp>
    </p:spTree>
  </p:cSld>
  <p:clrMapOvr>
    <a:masterClrMapping/>
  </p:clrMapOvr>
</p:sld>
</file>

<file path=ppt/slides/slide461.xml><?xml version="1.0" encoding="utf-8"?>
<p:sld xmlns:a="http://schemas.openxmlformats.org/drawingml/2006/main" xmlns:r="http://schemas.openxmlformats.org/officeDocument/2006/relationships" xmlns:p="http://schemas.openxmlformats.org/presentationml/2006/main">
  <p:cSld>
    <p:spTree>
      <p:nvGrpSpPr>
        <p:cNvPr id="1127" name=""/>
        <p:cNvGrpSpPr/>
        <p:nvPr/>
      </p:nvGrpSpPr>
      <p:grpSpPr>
        <a:xfrm>
          <a:off x="0" y="0"/>
          <a:ext cx="0" cy="0"/>
          <a:chOff x="0" y="0"/>
          <a:chExt cx="0" cy="0"/>
        </a:xfrm>
      </p:grpSpPr>
      <p:sp>
        <p:nvSpPr>
          <p:cNvPr id="1049464" name="Title 1"/>
          <p:cNvSpPr>
            <a:spLocks noGrp="1"/>
          </p:cNvSpPr>
          <p:nvPr>
            <p:ph type="title"/>
          </p:nvPr>
        </p:nvSpPr>
        <p:spPr/>
        <p:txBody>
          <a:bodyPr/>
          <a:p>
            <a:r>
              <a:t>Standard 1</a:t>
            </a:r>
            <a:r>
              <a:rPr baseline="30000"/>
              <a:t>st</a:t>
            </a:r>
            <a:r>
              <a:t> line regime for adults in Kenya</a:t>
            </a:r>
          </a:p>
        </p:txBody>
      </p:sp>
      <p:sp>
        <p:nvSpPr>
          <p:cNvPr id="1049465" name="Content Placeholder 2"/>
          <p:cNvSpPr>
            <a:spLocks noGrp="1"/>
          </p:cNvSpPr>
          <p:nvPr>
            <p:ph idx="1"/>
          </p:nvPr>
        </p:nvSpPr>
        <p:spPr/>
        <p:txBody>
          <a:bodyPr/>
          <a:p>
            <a:pPr indent="0" marL="0">
              <a:buNone/>
            </a:pPr>
            <a:r>
              <a:rPr b="1">
                <a:solidFill>
                  <a:srgbClr val="FF0000"/>
                </a:solidFill>
              </a:rPr>
              <a:t>Assignment</a:t>
            </a:r>
            <a:endParaRPr b="1">
              <a:solidFill>
                <a:srgbClr val="FF0000"/>
              </a:solidFill>
            </a:endParaRPr>
          </a:p>
          <a:p>
            <a:pPr indent="0" marL="0">
              <a:buNone/>
            </a:pPr>
            <a:r>
              <a:rPr b="1">
                <a:solidFill>
                  <a:srgbClr val="FF0000"/>
                </a:solidFill>
              </a:rPr>
              <a:t>FIRST OUT THE STANDARD 1</a:t>
            </a:r>
            <a:r>
              <a:rPr baseline="30000" b="1">
                <a:solidFill>
                  <a:srgbClr val="FF0000"/>
                </a:solidFill>
              </a:rPr>
              <a:t>ST</a:t>
            </a:r>
            <a:r>
              <a:rPr b="1">
                <a:solidFill>
                  <a:srgbClr val="FF0000"/>
                </a:solidFill>
              </a:rPr>
              <a:t> LINE AND 2</a:t>
            </a:r>
            <a:r>
              <a:rPr baseline="30000" b="1">
                <a:solidFill>
                  <a:srgbClr val="FF0000"/>
                </a:solidFill>
              </a:rPr>
              <a:t>ND</a:t>
            </a:r>
            <a:r>
              <a:rPr b="1">
                <a:solidFill>
                  <a:srgbClr val="FF0000"/>
                </a:solidFill>
              </a:rPr>
              <a:t> LINE ART IN ADULTS</a:t>
            </a:r>
            <a:endParaRPr b="1">
              <a:solidFill>
                <a:srgbClr val="FF0000"/>
              </a:solidFill>
            </a:endParaRPr>
          </a:p>
          <a:p>
            <a:pPr indent="0" marL="0">
              <a:buNone/>
            </a:pPr>
            <a:r>
              <a:rPr>
                <a:solidFill>
                  <a:srgbClr val="FF0000"/>
                </a:solidFill>
              </a:rPr>
              <a:t>Find out the standard 1</a:t>
            </a:r>
            <a:r>
              <a:rPr baseline="30000">
                <a:solidFill>
                  <a:srgbClr val="FF0000"/>
                </a:solidFill>
              </a:rPr>
              <a:t>st</a:t>
            </a:r>
            <a:r>
              <a:rPr>
                <a:solidFill>
                  <a:srgbClr val="FF0000"/>
                </a:solidFill>
              </a:rPr>
              <a:t> line and the 2</a:t>
            </a:r>
            <a:r>
              <a:rPr baseline="30000">
                <a:solidFill>
                  <a:srgbClr val="FF0000"/>
                </a:solidFill>
              </a:rPr>
              <a:t>nd</a:t>
            </a:r>
            <a:r>
              <a:rPr>
                <a:solidFill>
                  <a:srgbClr val="FF0000"/>
                </a:solidFill>
              </a:rPr>
              <a:t> line ART regime in children.</a:t>
            </a:r>
            <a:endParaRPr>
              <a:solidFill>
                <a:srgbClr val="FF0000"/>
              </a:solidFill>
            </a:endParaRPr>
          </a:p>
        </p:txBody>
      </p:sp>
    </p:spTree>
  </p:cSld>
  <p:clrMapOvr>
    <a:masterClrMapping/>
  </p:clrMapOvr>
</p:sld>
</file>

<file path=ppt/slides/slide462.xml><?xml version="1.0" encoding="utf-8"?>
<p:sld xmlns:a="http://schemas.openxmlformats.org/drawingml/2006/main" xmlns:r="http://schemas.openxmlformats.org/officeDocument/2006/relationships" xmlns:p="http://schemas.openxmlformats.org/presentationml/2006/main">
  <p:cSld>
    <p:spTree>
      <p:nvGrpSpPr>
        <p:cNvPr id="1128" name=""/>
        <p:cNvGrpSpPr/>
        <p:nvPr/>
      </p:nvGrpSpPr>
      <p:grpSpPr>
        <a:xfrm>
          <a:off x="0" y="0"/>
          <a:ext cx="0" cy="0"/>
          <a:chOff x="0" y="0"/>
          <a:chExt cx="0" cy="0"/>
        </a:xfrm>
      </p:grpSpPr>
      <p:sp>
        <p:nvSpPr>
          <p:cNvPr id="1049466" name="Rectangle 2"/>
          <p:cNvSpPr>
            <a:spLocks noGrp="1" noChangeArrowheads="1"/>
          </p:cNvSpPr>
          <p:nvPr>
            <p:ph type="ctrTitle"/>
          </p:nvPr>
        </p:nvSpPr>
        <p:spPr>
          <a:xfrm>
            <a:off x="1524004" y="1122364"/>
            <a:ext cx="9144000" cy="3954456"/>
          </a:xfrm>
        </p:spPr>
        <p:txBody>
          <a:bodyPr>
            <a:normAutofit fontScale="90000"/>
          </a:bodyPr>
          <a:p>
            <a:r>
              <a:rPr b="1">
                <a:solidFill>
                  <a:srgbClr val="336600"/>
                </a:solidFill>
                <a:latin typeface="Comic Sans MS"/>
              </a:rPr>
              <a:t>ANTIFUNGALS</a:t>
            </a:r>
            <a:br>
              <a:rPr b="1">
                <a:solidFill>
                  <a:srgbClr val="336600"/>
                </a:solidFill>
              </a:rPr>
            </a:br>
            <a:r>
              <a:rPr b="1">
                <a:solidFill>
                  <a:srgbClr val="336600"/>
                </a:solidFill>
                <a:latin typeface="Comic Sans MS"/>
              </a:rPr>
              <a:t>(Antimycotics)</a:t>
            </a:r>
            <a:br>
              <a:rPr b="1">
                <a:solidFill>
                  <a:srgbClr val="336600"/>
                </a:solidFill>
              </a:rPr>
            </a:br>
            <a:r>
              <a:rPr sz="5300"/>
              <a:t>Antifungal – azole derivatives, polyene macrolides, echinocandins, allylamines, </a:t>
            </a:r>
            <a:r>
              <a:rPr sz="5300"/>
              <a:t>greseofulvin</a:t>
            </a:r>
            <a:r>
              <a:rPr sz="5300"/>
              <a:t>, </a:t>
            </a:r>
            <a:endParaRPr b="1">
              <a:solidFill>
                <a:srgbClr val="336600"/>
              </a:solidFill>
              <a:latin typeface="Comic Sans MS"/>
            </a:endParaRPr>
          </a:p>
        </p:txBody>
      </p:sp>
    </p:spTree>
  </p:cSld>
  <p:clrMapOvr>
    <a:masterClrMapping/>
  </p:clrMapOvr>
</p:sld>
</file>

<file path=ppt/slides/slide463.xml><?xml version="1.0" encoding="utf-8"?>
<p:sld xmlns:a="http://schemas.openxmlformats.org/drawingml/2006/main" xmlns:r="http://schemas.openxmlformats.org/officeDocument/2006/relationships" xmlns:p="http://schemas.openxmlformats.org/presentationml/2006/main">
  <p:cSld>
    <p:spTree>
      <p:nvGrpSpPr>
        <p:cNvPr id="1131" name=""/>
        <p:cNvGrpSpPr/>
        <p:nvPr/>
      </p:nvGrpSpPr>
      <p:grpSpPr>
        <a:xfrm>
          <a:off x="0" y="0"/>
          <a:ext cx="0" cy="0"/>
          <a:chOff x="0" y="0"/>
          <a:chExt cx="0" cy="0"/>
        </a:xfrm>
      </p:grpSpPr>
      <p:sp>
        <p:nvSpPr>
          <p:cNvPr id="1049470" name="Rectangle 2"/>
          <p:cNvSpPr>
            <a:spLocks noGrp="1" noChangeArrowheads="1"/>
          </p:cNvSpPr>
          <p:nvPr>
            <p:ph type="body" idx="1"/>
          </p:nvPr>
        </p:nvSpPr>
        <p:spPr>
          <a:xfrm>
            <a:off x="1353782" y="304795"/>
            <a:ext cx="9161817" cy="6248395"/>
          </a:xfrm>
        </p:spPr>
        <p:txBody>
          <a:bodyPr/>
          <a:p>
            <a:pPr indent="-609604" marL="609604">
              <a:buNone/>
            </a:pPr>
            <a:r>
              <a:rPr b="1">
                <a:solidFill>
                  <a:srgbClr val="336600"/>
                </a:solidFill>
                <a:latin typeface="Comic Sans MS"/>
              </a:rPr>
              <a:t>SOME PROPERTIES OF FUNGI</a:t>
            </a:r>
            <a:endParaRPr b="1">
              <a:solidFill>
                <a:srgbClr val="336600"/>
              </a:solidFill>
              <a:latin typeface="Comic Sans MS"/>
            </a:endParaRPr>
          </a:p>
          <a:p>
            <a:pPr indent="-609604" marL="609604">
              <a:buNone/>
            </a:pPr>
            <a:endParaRPr b="1">
              <a:solidFill>
                <a:srgbClr val="336600"/>
              </a:solidFill>
            </a:endParaRPr>
          </a:p>
          <a:p>
            <a:pPr indent="-609604" marL="609604">
              <a:buAutoNum type="arabicPeriod"/>
            </a:pPr>
            <a:r>
              <a:t>Yeast (single cell) </a:t>
            </a:r>
            <a:r>
              <a:t>mould</a:t>
            </a:r>
            <a:r>
              <a:t> (multicellular)</a:t>
            </a:r>
          </a:p>
          <a:p>
            <a:pPr indent="-609604" marL="609604">
              <a:buAutoNum type="arabicPeriod"/>
            </a:pPr>
            <a:r>
              <a:t>Eukaryotes </a:t>
            </a:r>
          </a:p>
          <a:p>
            <a:pPr indent="-609604" marL="609604">
              <a:buAutoNum type="arabicPeriod"/>
            </a:pPr>
            <a:r>
              <a:t>Cell membrane – has lots of ergosterol</a:t>
            </a:r>
          </a:p>
          <a:p>
            <a:pPr indent="-609604" marL="609604">
              <a:buAutoNum type="arabicPeriod"/>
            </a:pPr>
            <a:r>
              <a:t>Have a rigid cell wall (inner &amp; out layers)- of </a:t>
            </a:r>
            <a:r>
              <a:t>mannopeptides</a:t>
            </a:r>
            <a:r>
              <a:t>, </a:t>
            </a:r>
            <a:r>
              <a:rPr b="1" u="sng">
                <a:cs typeface="Arial"/>
              </a:rPr>
              <a:t>β</a:t>
            </a:r>
            <a:r>
              <a:rPr b="1" u="sng"/>
              <a:t>-glucan</a:t>
            </a:r>
            <a:r>
              <a:t>, chitin, lipids </a:t>
            </a:r>
            <a:r>
              <a:t>etc</a:t>
            </a:r>
          </a:p>
          <a:p>
            <a:pPr indent="-609604" marL="609604">
              <a:buAutoNum type="arabicPeriod"/>
            </a:pPr>
            <a:r>
              <a:t>Importance of cell wall: agent of attachment to host site, stimulate host immune response, poorly degraded by man</a:t>
            </a:r>
          </a:p>
          <a:p>
            <a:pPr indent="-609604" marL="609604">
              <a:buAutoNum type="arabicPeriod"/>
            </a:pPr>
            <a:r>
              <a:t>Produce spores</a:t>
            </a:r>
          </a:p>
        </p:txBody>
      </p:sp>
    </p:spTree>
  </p:cSld>
  <p:clrMapOvr>
    <a:masterClrMapping/>
  </p:clrMapOvr>
</p:sld>
</file>

<file path=ppt/slides/slide464.xml><?xml version="1.0" encoding="utf-8"?>
<p:sld xmlns:a="http://schemas.openxmlformats.org/drawingml/2006/main" xmlns:r="http://schemas.openxmlformats.org/officeDocument/2006/relationships" xmlns:p="http://schemas.openxmlformats.org/presentationml/2006/main">
  <p:cSld>
    <p:spTree>
      <p:nvGrpSpPr>
        <p:cNvPr id="1134" name=""/>
        <p:cNvGrpSpPr/>
        <p:nvPr/>
      </p:nvGrpSpPr>
      <p:grpSpPr>
        <a:xfrm>
          <a:off x="0" y="0"/>
          <a:ext cx="0" cy="0"/>
          <a:chOff x="0" y="0"/>
          <a:chExt cx="0" cy="0"/>
        </a:xfrm>
      </p:grpSpPr>
      <p:sp>
        <p:nvSpPr>
          <p:cNvPr id="1049474" name="Rectangle 2"/>
          <p:cNvSpPr>
            <a:spLocks noGrp="1" noChangeArrowheads="1"/>
          </p:cNvSpPr>
          <p:nvPr>
            <p:ph type="body" idx="1"/>
          </p:nvPr>
        </p:nvSpPr>
        <p:spPr>
          <a:xfrm>
            <a:off x="761995" y="228600"/>
            <a:ext cx="10658475" cy="6400800"/>
          </a:xfrm>
        </p:spPr>
        <p:txBody>
          <a:bodyPr>
            <a:normAutofit fontScale="95833"/>
          </a:bodyPr>
          <a:p>
            <a:pPr indent="-609604" marL="609604">
              <a:buNone/>
            </a:pPr>
            <a:r>
              <a:rPr b="1">
                <a:solidFill>
                  <a:srgbClr val="336600"/>
                </a:solidFill>
                <a:latin typeface="Comic Sans MS"/>
              </a:rPr>
              <a:t>MYCOSES</a:t>
            </a:r>
            <a:endParaRPr b="1">
              <a:solidFill>
                <a:srgbClr val="336600"/>
              </a:solidFill>
              <a:latin typeface="Comic Sans MS"/>
            </a:endParaRPr>
          </a:p>
          <a:p>
            <a:pPr indent="-609604" marL="609604">
              <a:buNone/>
            </a:pPr>
            <a:endParaRPr b="1">
              <a:solidFill>
                <a:srgbClr val="336600"/>
              </a:solidFill>
              <a:latin typeface="Comic Sans MS"/>
            </a:endParaRPr>
          </a:p>
          <a:p>
            <a:pPr indent="-609604" marL="609604">
              <a:buAutoNum type="arabicPeriod"/>
            </a:pPr>
            <a:r>
              <a:rPr sz="3600"/>
              <a:t>Most fungal infections are </a:t>
            </a:r>
            <a:r>
              <a:rPr b="1" sz="3600"/>
              <a:t>superficial</a:t>
            </a:r>
            <a:r>
              <a:rPr sz="3600"/>
              <a:t> (stratum cornea), cutaneous (keratinized layers), or </a:t>
            </a:r>
            <a:r>
              <a:rPr b="1" sz="3600"/>
              <a:t>subcutaneous</a:t>
            </a:r>
            <a:r>
              <a:rPr sz="3600"/>
              <a:t>; few but serious infections are </a:t>
            </a:r>
            <a:r>
              <a:rPr b="1" sz="3600"/>
              <a:t>systemic</a:t>
            </a:r>
            <a:r>
              <a:rPr sz="3600"/>
              <a:t> (I</a:t>
            </a:r>
            <a:r>
              <a:rPr sz="3600">
                <a:cs typeface="Arial"/>
              </a:rPr>
              <a:t>°) and</a:t>
            </a:r>
            <a:r>
              <a:rPr sz="3600"/>
              <a:t> opportunistic mycoses</a:t>
            </a:r>
            <a:endParaRPr sz="3600"/>
          </a:p>
          <a:p>
            <a:pPr indent="-609604" marL="609604">
              <a:buAutoNum type="arabicPeriod"/>
            </a:pPr>
            <a:endParaRPr sz="3600"/>
          </a:p>
          <a:p>
            <a:pPr indent="-609604" marL="609604">
              <a:buAutoNum type="arabicPeriod"/>
            </a:pPr>
            <a:r>
              <a:rPr sz="3600"/>
              <a:t>Mycoses w/ highest incidence are candidiasis and dermatophytosis</a:t>
            </a:r>
            <a:endParaRPr sz="3600"/>
          </a:p>
          <a:p>
            <a:pPr indent="-609604" marL="609604">
              <a:buAutoNum type="arabicPeriod"/>
            </a:pPr>
            <a:endParaRPr sz="3600"/>
          </a:p>
          <a:p>
            <a:pPr indent="-609604" marL="609604">
              <a:buAutoNum type="arabicPeriod"/>
            </a:pPr>
            <a:r>
              <a:rPr sz="3600"/>
              <a:t>Most mycoses are difficult to treat</a:t>
            </a:r>
            <a:endParaRPr sz="3600"/>
          </a:p>
          <a:p>
            <a:pPr indent="-609604" marL="609604">
              <a:buNone/>
            </a:pPr>
            <a:endParaRPr sz="2400"/>
          </a:p>
        </p:txBody>
      </p:sp>
    </p:spTree>
  </p:cSld>
  <p:clrMapOvr>
    <a:masterClrMapping/>
  </p:clrMapOvr>
</p:sld>
</file>

<file path=ppt/slides/slide465.xml><?xml version="1.0" encoding="utf-8"?>
<p:sld xmlns:a="http://schemas.openxmlformats.org/drawingml/2006/main" xmlns:r="http://schemas.openxmlformats.org/officeDocument/2006/relationships" xmlns:p="http://schemas.openxmlformats.org/presentationml/2006/main">
  <p:cSld>
    <p:spTree>
      <p:nvGrpSpPr>
        <p:cNvPr id="1137" name=""/>
        <p:cNvGrpSpPr/>
        <p:nvPr/>
      </p:nvGrpSpPr>
      <p:grpSpPr>
        <a:xfrm>
          <a:off x="0" y="0"/>
          <a:ext cx="0" cy="0"/>
          <a:chOff x="0" y="0"/>
          <a:chExt cx="0" cy="0"/>
        </a:xfrm>
      </p:grpSpPr>
      <p:sp>
        <p:nvSpPr>
          <p:cNvPr id="1049478" name="Title 1"/>
          <p:cNvSpPr>
            <a:spLocks noGrp="1"/>
          </p:cNvSpPr>
          <p:nvPr>
            <p:ph type="title"/>
          </p:nvPr>
        </p:nvSpPr>
        <p:spPr>
          <a:xfrm>
            <a:off x="838204" y="365126"/>
            <a:ext cx="10515600" cy="749298"/>
          </a:xfrm>
        </p:spPr>
        <p:txBody>
          <a:bodyPr>
            <a:normAutofit fontScale="97727"/>
          </a:bodyPr>
          <a:p>
            <a:r>
              <a:t>Fungal infections</a:t>
            </a:r>
          </a:p>
        </p:txBody>
      </p:sp>
      <p:sp>
        <p:nvSpPr>
          <p:cNvPr id="1049479" name="Content Placeholder 2"/>
          <p:cNvSpPr>
            <a:spLocks noGrp="1"/>
          </p:cNvSpPr>
          <p:nvPr>
            <p:ph idx="1"/>
          </p:nvPr>
        </p:nvSpPr>
        <p:spPr>
          <a:xfrm>
            <a:off x="838204" y="1247770"/>
            <a:ext cx="10515600" cy="5410204"/>
          </a:xfrm>
        </p:spPr>
        <p:txBody>
          <a:bodyPr>
            <a:normAutofit/>
          </a:bodyPr>
          <a:p>
            <a:r>
              <a:t>The </a:t>
            </a:r>
            <a:r>
              <a:rPr b="1"/>
              <a:t>superficial/</a:t>
            </a:r>
            <a:r>
              <a:rPr b="1" sz="2800"/>
              <a:t> subcutaneous </a:t>
            </a:r>
            <a:r>
              <a:t>mycotic infections mainly occur on the surface of, or just below, the skin or nails or mucous membranes, this include; </a:t>
            </a:r>
          </a:p>
          <a:p>
            <a:pPr lvl="1"/>
            <a:r>
              <a:rPr>
                <a:solidFill>
                  <a:srgbClr val="FF0000"/>
                </a:solidFill>
              </a:rPr>
              <a:t>Tinea capitis-scalp, tinea pedis (athlete’s foot), tinea cruris (jock </a:t>
            </a:r>
            <a:r>
              <a:rPr>
                <a:solidFill>
                  <a:srgbClr val="FF0000"/>
                </a:solidFill>
              </a:rPr>
              <a:t>itchgroin</a:t>
            </a:r>
            <a:r>
              <a:rPr>
                <a:solidFill>
                  <a:srgbClr val="FF0000"/>
                </a:solidFill>
              </a:rPr>
              <a:t>, tinea corporis (body), onychomycosis (nail fungus), and superficial yeast-like infection of mucous </a:t>
            </a:r>
            <a:r>
              <a:rPr>
                <a:solidFill>
                  <a:srgbClr val="FF0000"/>
                </a:solidFill>
              </a:rPr>
              <a:t>mebrane</a:t>
            </a:r>
            <a:r>
              <a:rPr>
                <a:solidFill>
                  <a:srgbClr val="FF0000"/>
                </a:solidFill>
              </a:rPr>
              <a:t> </a:t>
            </a:r>
            <a:r>
              <a:rPr>
                <a:solidFill>
                  <a:srgbClr val="FF0000"/>
                </a:solidFill>
              </a:rPr>
              <a:t>e.g</a:t>
            </a:r>
            <a:r>
              <a:rPr>
                <a:solidFill>
                  <a:srgbClr val="FF0000"/>
                </a:solidFill>
              </a:rPr>
              <a:t> those caused by Candida albicans (oral thrush, vaginal candidiasis).</a:t>
            </a:r>
            <a:endParaRPr>
              <a:solidFill>
                <a:srgbClr val="FF0000"/>
              </a:solidFill>
            </a:endParaRPr>
          </a:p>
          <a:p>
            <a:r>
              <a:t>Systemic fungal infections develop deep in body tissues like the lungs or brain meninges. systemic infections </a:t>
            </a:r>
            <a:r>
              <a:rPr b="1"/>
              <a:t>are life threatening and affect immunocompromised persons</a:t>
            </a:r>
            <a:r>
              <a:t>. Systemic infections include: </a:t>
            </a:r>
          </a:p>
          <a:p>
            <a:pPr lvl="1"/>
            <a:r>
              <a:rPr>
                <a:solidFill>
                  <a:srgbClr val="FF0000"/>
                </a:solidFill>
              </a:rPr>
              <a:t>pulmonary </a:t>
            </a:r>
            <a:r>
              <a:rPr>
                <a:solidFill>
                  <a:srgbClr val="FF0000"/>
                </a:solidFill>
              </a:rPr>
              <a:t>aspergilosis</a:t>
            </a:r>
            <a:r>
              <a:rPr>
                <a:solidFill>
                  <a:srgbClr val="FF0000"/>
                </a:solidFill>
              </a:rPr>
              <a:t> (Aspergillus fumigatus), histoplasmosis (Histoplasma capsulatum), cryptococcal </a:t>
            </a:r>
            <a:r>
              <a:rPr>
                <a:solidFill>
                  <a:srgbClr val="FF0000"/>
                </a:solidFill>
              </a:rPr>
              <a:t>menegitis</a:t>
            </a:r>
            <a:r>
              <a:rPr>
                <a:solidFill>
                  <a:srgbClr val="FF0000"/>
                </a:solidFill>
              </a:rPr>
              <a:t>/endocarditis (</a:t>
            </a:r>
            <a:r>
              <a:rPr>
                <a:solidFill>
                  <a:srgbClr val="FF0000"/>
                </a:solidFill>
              </a:rPr>
              <a:t>cryptococus</a:t>
            </a:r>
            <a:r>
              <a:rPr>
                <a:solidFill>
                  <a:srgbClr val="FF0000"/>
                </a:solidFill>
              </a:rPr>
              <a:t> neoformans), blastomycosis, coccidioidomycosis, systemic candidiasis, etc.</a:t>
            </a:r>
            <a:endParaRPr>
              <a:solidFill>
                <a:srgbClr val="FF0000"/>
              </a:solidFill>
            </a:endParaRPr>
          </a:p>
        </p:txBody>
      </p:sp>
    </p:spTree>
  </p:cSld>
  <p:clrMapOvr>
    <a:masterClrMapping/>
  </p:clrMapOvr>
</p:sld>
</file>

<file path=ppt/slides/slide466.xml><?xml version="1.0" encoding="utf-8"?>
<p:sld xmlns:a="http://schemas.openxmlformats.org/drawingml/2006/main" xmlns:r="http://schemas.openxmlformats.org/officeDocument/2006/relationships" xmlns:p="http://schemas.openxmlformats.org/presentationml/2006/main">
  <p:cSld>
    <p:spTree>
      <p:nvGrpSpPr>
        <p:cNvPr id="1138" name=""/>
        <p:cNvGrpSpPr/>
        <p:nvPr/>
      </p:nvGrpSpPr>
      <p:grpSpPr>
        <a:xfrm>
          <a:off x="0" y="0"/>
          <a:ext cx="0" cy="0"/>
          <a:chOff x="0" y="0"/>
          <a:chExt cx="0" cy="0"/>
        </a:xfrm>
      </p:grpSpPr>
      <p:sp>
        <p:nvSpPr>
          <p:cNvPr id="1049480" name="Title 1"/>
          <p:cNvSpPr>
            <a:spLocks noGrp="1"/>
          </p:cNvSpPr>
          <p:nvPr>
            <p:ph type="title"/>
          </p:nvPr>
        </p:nvSpPr>
        <p:spPr/>
        <p:txBody>
          <a:bodyPr/>
          <a:p>
            <a:r>
              <a:rPr b="1">
                <a:solidFill>
                  <a:srgbClr val="336600"/>
                </a:solidFill>
                <a:latin typeface="Comic Sans MS"/>
              </a:rPr>
              <a:t>Antifungals are few ‘coz</a:t>
            </a:r>
          </a:p>
        </p:txBody>
      </p:sp>
      <p:sp>
        <p:nvSpPr>
          <p:cNvPr id="1049481" name="Content Placeholder 2"/>
          <p:cNvSpPr>
            <a:spLocks noGrp="1"/>
          </p:cNvSpPr>
          <p:nvPr>
            <p:ph idx="1"/>
          </p:nvPr>
        </p:nvSpPr>
        <p:spPr/>
        <p:txBody>
          <a:bodyPr>
            <a:normAutofit/>
          </a:bodyPr>
          <a:p>
            <a:pPr indent="-609604" marL="609604">
              <a:buAutoNum type="arabicPeriod"/>
            </a:pPr>
            <a:r>
              <a:rPr sz="3600"/>
              <a:t>Previously, disease burden from fungal infections were far fewer than from bacterial infections; </a:t>
            </a:r>
            <a:r>
              <a:rPr b="1" sz="3600"/>
              <a:t>current increase is due to immunosuppression </a:t>
            </a:r>
            <a:r>
              <a:rPr sz="3600"/>
              <a:t>(HIV, organ transplant)</a:t>
            </a:r>
            <a:endParaRPr sz="3600"/>
          </a:p>
          <a:p>
            <a:pPr indent="-609604" marL="609604">
              <a:buAutoNum type="arabicPeriod"/>
            </a:pPr>
            <a:endParaRPr sz="3600"/>
          </a:p>
          <a:p>
            <a:pPr indent="-609604" marL="609604">
              <a:buAutoNum type="arabicPeriod"/>
            </a:pPr>
            <a:r>
              <a:rPr sz="3600"/>
              <a:t>Differences/targets between fungi and man that can be exploited are fewer compared to bacteria</a:t>
            </a:r>
            <a:endParaRPr sz="3600"/>
          </a:p>
          <a:p>
            <a:pPr indent="-609604" marL="609604">
              <a:buAutoNum type="arabicPeriod"/>
            </a:pPr>
            <a:endParaRPr sz="3600"/>
          </a:p>
          <a:p>
            <a:pPr indent="-609604" marL="609604">
              <a:buAutoNum type="arabicPeriod"/>
            </a:pPr>
            <a:r>
              <a:rPr sz="3600"/>
              <a:t>Fungi turnover is much slower compared to bacteria</a:t>
            </a:r>
            <a:endParaRPr sz="3600"/>
          </a:p>
          <a:p/>
        </p:txBody>
      </p:sp>
    </p:spTree>
  </p:cSld>
  <p:clrMapOvr>
    <a:masterClrMapping/>
  </p:clrMapOvr>
</p:sld>
</file>

<file path=ppt/slides/slide467.xml><?xml version="1.0" encoding="utf-8"?>
<p:sld xmlns:a="http://schemas.openxmlformats.org/drawingml/2006/main" xmlns:r="http://schemas.openxmlformats.org/officeDocument/2006/relationships" xmlns:p="http://schemas.openxmlformats.org/presentationml/2006/main">
  <p:cSld>
    <p:spTree>
      <p:nvGrpSpPr>
        <p:cNvPr id="1139" name=""/>
        <p:cNvGrpSpPr/>
        <p:nvPr/>
      </p:nvGrpSpPr>
      <p:grpSpPr>
        <a:xfrm>
          <a:off x="0" y="0"/>
          <a:ext cx="0" cy="0"/>
          <a:chOff x="0" y="0"/>
          <a:chExt cx="0" cy="0"/>
        </a:xfrm>
      </p:grpSpPr>
      <p:sp>
        <p:nvSpPr>
          <p:cNvPr id="1049482" name="Title 1"/>
          <p:cNvSpPr>
            <a:spLocks noGrp="1"/>
          </p:cNvSpPr>
          <p:nvPr>
            <p:ph type="title"/>
          </p:nvPr>
        </p:nvSpPr>
        <p:spPr/>
        <p:txBody>
          <a:bodyPr/>
          <a:p>
            <a:r>
              <a:t>Classification </a:t>
            </a:r>
          </a:p>
        </p:txBody>
      </p:sp>
      <p:sp>
        <p:nvSpPr>
          <p:cNvPr id="1049483" name="Content Placeholder 2"/>
          <p:cNvSpPr>
            <a:spLocks noGrp="1"/>
          </p:cNvSpPr>
          <p:nvPr>
            <p:ph idx="1"/>
          </p:nvPr>
        </p:nvSpPr>
        <p:spPr>
          <a:xfrm>
            <a:off x="409579" y="1485900"/>
            <a:ext cx="11172825" cy="5200650"/>
          </a:xfrm>
        </p:spPr>
        <p:txBody>
          <a:bodyPr>
            <a:normAutofit fontScale="90909" lnSpcReduction="20000"/>
          </a:bodyPr>
          <a:p>
            <a:pPr indent="-514350" marL="514350">
              <a:buAutoNum type="alphaLcPeriod"/>
            </a:pPr>
            <a:r>
              <a:t>Site of action</a:t>
            </a:r>
          </a:p>
          <a:p>
            <a:r>
              <a:rPr sz="4000"/>
              <a:t>Antifungals are classified as:</a:t>
            </a:r>
            <a:endParaRPr sz="4000"/>
          </a:p>
          <a:p>
            <a:pPr lvl="1"/>
            <a:r>
              <a:rPr b="1" sz="3600"/>
              <a:t>Systemic antifungals i.e. </a:t>
            </a:r>
            <a:endParaRPr b="1" sz="3600"/>
          </a:p>
          <a:p>
            <a:pPr lvl="3"/>
            <a:r>
              <a:rPr sz="3000">
                <a:solidFill>
                  <a:srgbClr val="FF0000"/>
                </a:solidFill>
              </a:rPr>
              <a:t>Azoles (</a:t>
            </a:r>
            <a:r>
              <a:rPr sz="3000"/>
              <a:t>imidazole and triazoles)</a:t>
            </a:r>
            <a:r>
              <a:rPr sz="3000">
                <a:solidFill>
                  <a:srgbClr val="FF0000"/>
                </a:solidFill>
              </a:rPr>
              <a:t>,</a:t>
            </a:r>
            <a:endParaRPr sz="3000">
              <a:solidFill>
                <a:srgbClr val="FF0000"/>
              </a:solidFill>
            </a:endParaRPr>
          </a:p>
          <a:p>
            <a:pPr lvl="4"/>
            <a:r>
              <a:rPr b="1" sz="2200"/>
              <a:t>Imidazole's</a:t>
            </a:r>
            <a:r>
              <a:rPr sz="2200"/>
              <a:t> include  </a:t>
            </a:r>
            <a:r>
              <a:rPr sz="2200">
                <a:solidFill>
                  <a:srgbClr val="000000"/>
                </a:solidFill>
              </a:rPr>
              <a:t> clotrimazole a</a:t>
            </a:r>
            <a:r>
              <a:rPr sz="2200"/>
              <a:t>nd econazole, </a:t>
            </a:r>
            <a:r>
              <a:rPr sz="2200"/>
              <a:t>sulconazole</a:t>
            </a:r>
            <a:r>
              <a:rPr sz="2200"/>
              <a:t>,  </a:t>
            </a:r>
            <a:r>
              <a:rPr sz="2200"/>
              <a:t>fenticonazole</a:t>
            </a:r>
            <a:r>
              <a:rPr sz="2200"/>
              <a:t>, </a:t>
            </a:r>
            <a:r>
              <a:rPr b="1" sz="2200"/>
              <a:t>ketoconazole, </a:t>
            </a:r>
            <a:r>
              <a:rPr sz="2200"/>
              <a:t>and miconazole</a:t>
            </a:r>
            <a:endParaRPr sz="2200"/>
          </a:p>
          <a:p>
            <a:pPr lvl="4"/>
            <a:r>
              <a:rPr b="1" sz="2200"/>
              <a:t>triazole</a:t>
            </a:r>
            <a:r>
              <a:rPr sz="2200"/>
              <a:t> include fluconazole, itraconazole and voriconazoles  among others</a:t>
            </a:r>
            <a:endParaRPr sz="3000">
              <a:solidFill>
                <a:srgbClr val="FF0000"/>
              </a:solidFill>
            </a:endParaRPr>
          </a:p>
          <a:p>
            <a:pPr lvl="3"/>
            <a:r>
              <a:rPr sz="3000">
                <a:solidFill>
                  <a:srgbClr val="FF0000"/>
                </a:solidFill>
              </a:rPr>
              <a:t>Polyenes anti-fungal agents</a:t>
            </a:r>
            <a:r>
              <a:rPr sz="3000"/>
              <a:t> e.g. amphotericin B, </a:t>
            </a:r>
            <a:endParaRPr sz="3000"/>
          </a:p>
          <a:p>
            <a:pPr lvl="3"/>
            <a:r>
              <a:rPr sz="3000">
                <a:solidFill>
                  <a:srgbClr val="FF0000"/>
                </a:solidFill>
              </a:rPr>
              <a:t>Fluorinated pyramids </a:t>
            </a:r>
            <a:r>
              <a:rPr sz="3000"/>
              <a:t>e.g</a:t>
            </a:r>
            <a:r>
              <a:rPr sz="3000"/>
              <a:t> Flucytosine</a:t>
            </a:r>
            <a:endParaRPr sz="3000"/>
          </a:p>
          <a:p>
            <a:pPr lvl="2"/>
            <a:r>
              <a:rPr sz="3200"/>
              <a:t>Systemic antifungals for </a:t>
            </a:r>
            <a:r>
              <a:rPr b="1" sz="3200"/>
              <a:t>dermatophytic</a:t>
            </a:r>
            <a:r>
              <a:rPr b="1" sz="3200"/>
              <a:t> infections </a:t>
            </a:r>
            <a:r>
              <a:rPr sz="3200"/>
              <a:t>i.e. Griseofulvin, Terbinafine</a:t>
            </a:r>
            <a:endParaRPr sz="3200"/>
          </a:p>
          <a:p>
            <a:pPr lvl="2"/>
            <a:endParaRPr sz="3200"/>
          </a:p>
          <a:p>
            <a:pPr lvl="1"/>
            <a:r>
              <a:rPr b="1" sz="3600"/>
              <a:t>Topical antifungals </a:t>
            </a:r>
            <a:r>
              <a:rPr sz="3600"/>
              <a:t>i.e. Nystatin, topical azoles, topical allylamines</a:t>
            </a:r>
            <a:endParaRPr sz="3600"/>
          </a:p>
          <a:p>
            <a:pPr indent="0" marL="0">
              <a:buNone/>
            </a:pPr>
          </a:p>
        </p:txBody>
      </p:sp>
    </p:spTree>
  </p:cSld>
  <p:clrMapOvr>
    <a:masterClrMapping/>
  </p:clrMapOvr>
</p:sld>
</file>

<file path=ppt/slides/slide468.xml><?xml version="1.0" encoding="utf-8"?>
<p:sld xmlns:a="http://schemas.openxmlformats.org/drawingml/2006/main" xmlns:r="http://schemas.openxmlformats.org/officeDocument/2006/relationships" xmlns:p="http://schemas.openxmlformats.org/presentationml/2006/main">
  <p:cSld>
    <p:spTree>
      <p:nvGrpSpPr>
        <p:cNvPr id="1140" name=""/>
        <p:cNvGrpSpPr/>
        <p:nvPr/>
      </p:nvGrpSpPr>
      <p:grpSpPr>
        <a:xfrm>
          <a:off x="0" y="0"/>
          <a:ext cx="0" cy="0"/>
          <a:chOff x="0" y="0"/>
          <a:chExt cx="0" cy="0"/>
        </a:xfrm>
      </p:grpSpPr>
      <p:sp>
        <p:nvSpPr>
          <p:cNvPr id="1049484" name="Text Box 2"/>
          <p:cNvSpPr txBox="1">
            <a:spLocks noChangeArrowheads="1"/>
          </p:cNvSpPr>
          <p:nvPr/>
        </p:nvSpPr>
        <p:spPr bwMode="auto">
          <a:xfrm>
            <a:off x="4800600" y="641346"/>
            <a:ext cx="1529081" cy="574039"/>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b="1" sz="2800">
                <a:solidFill>
                  <a:srgbClr val="003300"/>
                </a:solidFill>
                <a:latin typeface="Comic Sans MS"/>
              </a:rPr>
              <a:t>ANTIFUNGALS</a:t>
            </a:r>
            <a:endParaRPr b="1" sz="2800">
              <a:solidFill>
                <a:srgbClr val="003300"/>
              </a:solidFill>
              <a:latin typeface="Comic Sans MS"/>
            </a:endParaRPr>
          </a:p>
        </p:txBody>
      </p:sp>
      <p:sp>
        <p:nvSpPr>
          <p:cNvPr id="1049485" name="Text Box 3"/>
          <p:cNvSpPr txBox="1">
            <a:spLocks noChangeArrowheads="1"/>
          </p:cNvSpPr>
          <p:nvPr/>
        </p:nvSpPr>
        <p:spPr bwMode="auto">
          <a:xfrm>
            <a:off x="1752604" y="1804982"/>
            <a:ext cx="3276595" cy="1120140"/>
          </a:xfrm>
          <a:prstGeom prst="rect"/>
          <a:noFill/>
          <a:ln>
            <a:noFill/>
          </a:ln>
        </p:spPr>
        <p:txBody>
          <a:bodyPr>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b="1" sz="2000">
                <a:latin typeface="Comic Sans MS"/>
              </a:rPr>
              <a:t>ALTERATION OF </a:t>
            </a:r>
            <a:endParaRPr b="1" sz="2000">
              <a:latin typeface="Comic Sans MS"/>
            </a:endParaRPr>
          </a:p>
          <a:p>
            <a:r>
              <a:rPr b="1" sz="2000">
                <a:latin typeface="Comic Sans MS"/>
              </a:rPr>
              <a:t>CELL MEMBRANE/WALL</a:t>
            </a:r>
            <a:endParaRPr b="1" sz="2000">
              <a:latin typeface="Comic Sans MS"/>
            </a:endParaRPr>
          </a:p>
          <a:p>
            <a:r>
              <a:rPr b="1" sz="2000">
                <a:latin typeface="Comic Sans MS"/>
              </a:rPr>
              <a:t>PERMEABILITY</a:t>
            </a:r>
            <a:endParaRPr b="1" sz="2000">
              <a:latin typeface="Comic Sans MS"/>
            </a:endParaRPr>
          </a:p>
        </p:txBody>
      </p:sp>
      <p:sp>
        <p:nvSpPr>
          <p:cNvPr id="1049486" name="Text Box 4"/>
          <p:cNvSpPr txBox="1">
            <a:spLocks noChangeArrowheads="1"/>
          </p:cNvSpPr>
          <p:nvPr/>
        </p:nvSpPr>
        <p:spPr bwMode="auto">
          <a:xfrm>
            <a:off x="5333995" y="1881192"/>
            <a:ext cx="1414781" cy="777239"/>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b="1" sz="2000">
                <a:latin typeface="Comic Sans MS"/>
              </a:rPr>
              <a:t>BLOCK NUCLEIC</a:t>
            </a:r>
            <a:endParaRPr b="1" sz="2000">
              <a:latin typeface="Comic Sans MS"/>
            </a:endParaRPr>
          </a:p>
          <a:p>
            <a:r>
              <a:rPr b="1" sz="2000">
                <a:latin typeface="Comic Sans MS"/>
              </a:rPr>
              <a:t>ACID SYNTHESIS</a:t>
            </a:r>
            <a:endParaRPr b="1" sz="2000">
              <a:latin typeface="Comic Sans MS"/>
            </a:endParaRPr>
          </a:p>
        </p:txBody>
      </p:sp>
      <p:sp>
        <p:nvSpPr>
          <p:cNvPr id="1049487" name="Text Box 5"/>
          <p:cNvSpPr txBox="1">
            <a:spLocks noChangeArrowheads="1"/>
          </p:cNvSpPr>
          <p:nvPr/>
        </p:nvSpPr>
        <p:spPr bwMode="auto">
          <a:xfrm>
            <a:off x="8458200" y="1957387"/>
            <a:ext cx="1287780" cy="1120139"/>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b="1" sz="2000">
                <a:latin typeface="Comic Sans MS"/>
              </a:rPr>
              <a:t>INHIBIT </a:t>
            </a:r>
            <a:endParaRPr b="1" sz="2000">
              <a:latin typeface="Comic Sans MS"/>
            </a:endParaRPr>
          </a:p>
          <a:p>
            <a:r>
              <a:rPr b="1" sz="2000">
                <a:latin typeface="Comic Sans MS"/>
              </a:rPr>
              <a:t>MICROTUBULE </a:t>
            </a:r>
            <a:endParaRPr b="1" sz="2000">
              <a:latin typeface="Comic Sans MS"/>
            </a:endParaRPr>
          </a:p>
          <a:p>
            <a:r>
              <a:rPr b="1" sz="2000">
                <a:latin typeface="Comic Sans MS"/>
              </a:rPr>
              <a:t>FUNCTION</a:t>
            </a:r>
            <a:endParaRPr b="1" sz="2000">
              <a:latin typeface="Comic Sans MS"/>
            </a:endParaRPr>
          </a:p>
        </p:txBody>
      </p:sp>
      <p:sp>
        <p:nvSpPr>
          <p:cNvPr id="1049488" name="Text Box 6"/>
          <p:cNvSpPr txBox="1">
            <a:spLocks noChangeArrowheads="1"/>
          </p:cNvSpPr>
          <p:nvPr/>
        </p:nvSpPr>
        <p:spPr bwMode="auto">
          <a:xfrm>
            <a:off x="1736726" y="3598859"/>
            <a:ext cx="1008380" cy="777239"/>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b="1" sz="2000">
                <a:latin typeface="Comic Sans MS"/>
              </a:rPr>
              <a:t>Porin-</a:t>
            </a:r>
            <a:endParaRPr b="1" sz="2000">
              <a:latin typeface="Comic Sans MS"/>
            </a:endParaRPr>
          </a:p>
          <a:p>
            <a:r>
              <a:rPr b="1" sz="2000">
                <a:latin typeface="Comic Sans MS"/>
              </a:rPr>
              <a:t>Formation</a:t>
            </a:r>
            <a:endParaRPr b="1" sz="2000">
              <a:latin typeface="Comic Sans MS"/>
            </a:endParaRPr>
          </a:p>
        </p:txBody>
      </p:sp>
      <p:sp>
        <p:nvSpPr>
          <p:cNvPr id="1049489" name="Text Box 7"/>
          <p:cNvSpPr txBox="1">
            <a:spLocks noChangeArrowheads="1"/>
          </p:cNvSpPr>
          <p:nvPr/>
        </p:nvSpPr>
        <p:spPr bwMode="auto">
          <a:xfrm>
            <a:off x="3200400" y="3633782"/>
            <a:ext cx="1059180" cy="777239"/>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b="1" sz="2000">
                <a:latin typeface="Comic Sans MS"/>
              </a:rPr>
              <a:t>Synthesis </a:t>
            </a:r>
            <a:endParaRPr b="1" sz="2000">
              <a:latin typeface="Comic Sans MS"/>
            </a:endParaRPr>
          </a:p>
          <a:p>
            <a:r>
              <a:rPr b="1" sz="2000">
                <a:latin typeface="Comic Sans MS"/>
              </a:rPr>
              <a:t>inhibitor</a:t>
            </a:r>
            <a:endParaRPr b="1" sz="2000">
              <a:latin typeface="Comic Sans MS"/>
            </a:endParaRPr>
          </a:p>
        </p:txBody>
      </p:sp>
      <p:grpSp>
        <p:nvGrpSpPr>
          <p:cNvPr id="1141" name="Group 8"/>
          <p:cNvGrpSpPr/>
          <p:nvPr/>
        </p:nvGrpSpPr>
        <p:grpSpPr bwMode="auto">
          <a:xfrm>
            <a:off x="2514600" y="1371600"/>
            <a:ext cx="6400800" cy="457200"/>
            <a:chOff x="627" y="865"/>
            <a:chExt cx="4032" cy="293"/>
          </a:xfrm>
        </p:grpSpPr>
        <p:sp>
          <p:nvSpPr>
            <p:cNvPr id="1049490" name="Line 9"/>
            <p:cNvSpPr>
              <a:spLocks noChangeShapeType="1"/>
            </p:cNvSpPr>
            <p:nvPr/>
          </p:nvSpPr>
          <p:spPr bwMode="auto">
            <a:xfrm>
              <a:off x="627" y="865"/>
              <a:ext cx="4032" cy="0"/>
            </a:xfrm>
            <a:prstGeom prst="line"/>
            <a:noFill/>
            <a:ln w="38100">
              <a:solidFill>
                <a:schemeClr val="accent2"/>
              </a:solidFill>
              <a:round/>
              <a:headEnd/>
              <a:tailEnd/>
            </a:ln>
          </p:spPr>
          <p:txBody>
            <a:bodyPr/>
            <a:p/>
          </p:txBody>
        </p:sp>
        <p:sp>
          <p:nvSpPr>
            <p:cNvPr id="1049491" name="Line 10"/>
            <p:cNvSpPr>
              <a:spLocks noChangeShapeType="1"/>
            </p:cNvSpPr>
            <p:nvPr/>
          </p:nvSpPr>
          <p:spPr bwMode="auto">
            <a:xfrm>
              <a:off x="4660" y="865"/>
              <a:ext cx="0" cy="293"/>
            </a:xfrm>
            <a:prstGeom prst="line"/>
            <a:noFill/>
            <a:ln w="38100">
              <a:solidFill>
                <a:schemeClr val="accent2"/>
              </a:solidFill>
              <a:round/>
              <a:headEnd/>
              <a:tailEnd type="triangle" w="med" len="med"/>
            </a:ln>
          </p:spPr>
          <p:txBody>
            <a:bodyPr/>
            <a:p/>
          </p:txBody>
        </p:sp>
        <p:sp>
          <p:nvSpPr>
            <p:cNvPr id="1049492" name="Line 11"/>
            <p:cNvSpPr>
              <a:spLocks noChangeShapeType="1"/>
            </p:cNvSpPr>
            <p:nvPr/>
          </p:nvSpPr>
          <p:spPr bwMode="auto">
            <a:xfrm>
              <a:off x="3125" y="865"/>
              <a:ext cx="0" cy="293"/>
            </a:xfrm>
            <a:prstGeom prst="line"/>
            <a:noFill/>
            <a:ln w="38100">
              <a:solidFill>
                <a:schemeClr val="accent2"/>
              </a:solidFill>
              <a:round/>
              <a:headEnd/>
              <a:tailEnd type="triangle" w="med" len="med"/>
            </a:ln>
          </p:spPr>
          <p:txBody>
            <a:bodyPr/>
            <a:p/>
          </p:txBody>
        </p:sp>
        <p:sp>
          <p:nvSpPr>
            <p:cNvPr id="1049493" name="Line 12"/>
            <p:cNvSpPr>
              <a:spLocks noChangeShapeType="1"/>
            </p:cNvSpPr>
            <p:nvPr/>
          </p:nvSpPr>
          <p:spPr bwMode="auto">
            <a:xfrm>
              <a:off x="627" y="865"/>
              <a:ext cx="0" cy="293"/>
            </a:xfrm>
            <a:prstGeom prst="line"/>
            <a:noFill/>
            <a:ln w="38100">
              <a:solidFill>
                <a:schemeClr val="accent2"/>
              </a:solidFill>
              <a:round/>
              <a:headEnd/>
              <a:tailEnd type="triangle" w="med" len="med"/>
            </a:ln>
          </p:spPr>
          <p:txBody>
            <a:bodyPr/>
            <a:p/>
          </p:txBody>
        </p:sp>
      </p:grpSp>
      <p:grpSp>
        <p:nvGrpSpPr>
          <p:cNvPr id="1142" name="Group 13"/>
          <p:cNvGrpSpPr/>
          <p:nvPr/>
        </p:nvGrpSpPr>
        <p:grpSpPr bwMode="auto">
          <a:xfrm>
            <a:off x="2057400" y="2743200"/>
            <a:ext cx="1904995" cy="838204"/>
            <a:chOff x="334" y="1730"/>
            <a:chExt cx="1199" cy="530"/>
          </a:xfrm>
        </p:grpSpPr>
        <p:sp>
          <p:nvSpPr>
            <p:cNvPr id="1049494" name="Line 14"/>
            <p:cNvSpPr>
              <a:spLocks noChangeShapeType="1"/>
            </p:cNvSpPr>
            <p:nvPr/>
          </p:nvSpPr>
          <p:spPr bwMode="auto">
            <a:xfrm>
              <a:off x="334" y="2009"/>
              <a:ext cx="1199" cy="0"/>
            </a:xfrm>
            <a:prstGeom prst="line"/>
            <a:noFill/>
            <a:ln w="38100">
              <a:solidFill>
                <a:schemeClr val="accent2"/>
              </a:solidFill>
              <a:round/>
              <a:headEnd/>
              <a:tailEnd/>
            </a:ln>
          </p:spPr>
          <p:txBody>
            <a:bodyPr/>
            <a:p/>
          </p:txBody>
        </p:sp>
        <p:sp>
          <p:nvSpPr>
            <p:cNvPr id="1049495" name="Line 15"/>
            <p:cNvSpPr>
              <a:spLocks noChangeShapeType="1"/>
            </p:cNvSpPr>
            <p:nvPr/>
          </p:nvSpPr>
          <p:spPr bwMode="auto">
            <a:xfrm>
              <a:off x="334" y="2009"/>
              <a:ext cx="0" cy="237"/>
            </a:xfrm>
            <a:prstGeom prst="line"/>
            <a:noFill/>
            <a:ln w="38100">
              <a:solidFill>
                <a:schemeClr val="accent2"/>
              </a:solidFill>
              <a:round/>
              <a:headEnd/>
              <a:tailEnd type="triangle" w="med" len="med"/>
            </a:ln>
          </p:spPr>
          <p:txBody>
            <a:bodyPr/>
            <a:p/>
          </p:txBody>
        </p:sp>
        <p:sp>
          <p:nvSpPr>
            <p:cNvPr id="1049496" name="Line 16"/>
            <p:cNvSpPr>
              <a:spLocks noChangeShapeType="1"/>
            </p:cNvSpPr>
            <p:nvPr/>
          </p:nvSpPr>
          <p:spPr bwMode="auto">
            <a:xfrm>
              <a:off x="1534" y="2009"/>
              <a:ext cx="0" cy="237"/>
            </a:xfrm>
            <a:prstGeom prst="line"/>
            <a:noFill/>
            <a:ln w="38100">
              <a:solidFill>
                <a:schemeClr val="accent2"/>
              </a:solidFill>
              <a:round/>
              <a:headEnd/>
              <a:tailEnd type="triangle" w="med" len="med"/>
            </a:ln>
          </p:spPr>
          <p:txBody>
            <a:bodyPr/>
            <a:p/>
          </p:txBody>
        </p:sp>
        <p:sp>
          <p:nvSpPr>
            <p:cNvPr id="1049497" name="Line 17"/>
            <p:cNvSpPr>
              <a:spLocks noChangeShapeType="1"/>
            </p:cNvSpPr>
            <p:nvPr/>
          </p:nvSpPr>
          <p:spPr bwMode="auto">
            <a:xfrm>
              <a:off x="865" y="1730"/>
              <a:ext cx="0" cy="237"/>
            </a:xfrm>
            <a:prstGeom prst="line"/>
            <a:noFill/>
            <a:ln w="38100">
              <a:solidFill>
                <a:schemeClr val="accent2"/>
              </a:solidFill>
              <a:round/>
              <a:headEnd/>
              <a:tailEnd type="triangle" w="med" len="med"/>
            </a:ln>
          </p:spPr>
          <p:txBody>
            <a:bodyPr/>
            <a:p/>
          </p:txBody>
        </p:sp>
      </p:grpSp>
      <p:sp>
        <p:nvSpPr>
          <p:cNvPr id="1049498" name="Text Box 18"/>
          <p:cNvSpPr txBox="1">
            <a:spLocks noChangeArrowheads="1"/>
          </p:cNvSpPr>
          <p:nvPr/>
        </p:nvSpPr>
        <p:spPr bwMode="auto">
          <a:xfrm>
            <a:off x="1752604" y="5638804"/>
            <a:ext cx="2151380" cy="1120139"/>
          </a:xfrm>
          <a:prstGeom prst="rect"/>
          <a:solidFill>
            <a:srgbClr val="FFFF99"/>
          </a:solid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b="1" sz="2000">
                <a:latin typeface="Comic Sans MS"/>
              </a:rPr>
              <a:t>Polyene antibiotics</a:t>
            </a:r>
            <a:endParaRPr b="1" sz="2000">
              <a:latin typeface="Comic Sans MS"/>
            </a:endParaRPr>
          </a:p>
          <a:p>
            <a:r>
              <a:rPr b="1" sz="2000">
                <a:latin typeface="Comic Sans MS"/>
                <a:sym typeface="Symbol"/>
              </a:rPr>
              <a:t> </a:t>
            </a:r>
            <a:r>
              <a:rPr b="1" sz="2000">
                <a:solidFill>
                  <a:srgbClr val="FF0000"/>
                </a:solidFill>
                <a:latin typeface="Comic Sans MS"/>
                <a:sym typeface="Symbol"/>
              </a:rPr>
              <a:t>Amphotericin B</a:t>
            </a:r>
            <a:endParaRPr b="1" sz="2000">
              <a:solidFill>
                <a:srgbClr val="FF0000"/>
              </a:solidFill>
              <a:latin typeface="Comic Sans MS"/>
              <a:sym typeface="Symbol"/>
            </a:endParaRPr>
          </a:p>
          <a:p>
            <a:r>
              <a:rPr b="1" sz="2000">
                <a:solidFill>
                  <a:srgbClr val="FF0000"/>
                </a:solidFill>
                <a:latin typeface="Comic Sans MS"/>
                <a:sym typeface="Symbol"/>
              </a:rPr>
              <a:t> Nystatin, Natamycin</a:t>
            </a:r>
            <a:endParaRPr b="1" sz="2000">
              <a:solidFill>
                <a:srgbClr val="FF0000"/>
              </a:solidFill>
              <a:latin typeface="Comic Sans MS"/>
            </a:endParaRPr>
          </a:p>
        </p:txBody>
      </p:sp>
      <p:sp>
        <p:nvSpPr>
          <p:cNvPr id="1049499" name="Line 19"/>
          <p:cNvSpPr>
            <a:spLocks noChangeShapeType="1"/>
          </p:cNvSpPr>
          <p:nvPr/>
        </p:nvSpPr>
        <p:spPr bwMode="auto">
          <a:xfrm>
            <a:off x="2057400" y="4190995"/>
            <a:ext cx="0" cy="1447795"/>
          </a:xfrm>
          <a:prstGeom prst="line"/>
          <a:noFill/>
          <a:ln w="28575">
            <a:solidFill>
              <a:schemeClr val="tx1"/>
            </a:solidFill>
            <a:round/>
            <a:headEnd/>
            <a:tailEnd type="triangle" w="med" len="med"/>
          </a:ln>
        </p:spPr>
        <p:txBody>
          <a:bodyPr/>
          <a:p/>
        </p:txBody>
      </p:sp>
      <p:sp>
        <p:nvSpPr>
          <p:cNvPr id="1049500" name="Text Box 20"/>
          <p:cNvSpPr txBox="1">
            <a:spLocks noChangeArrowheads="1"/>
          </p:cNvSpPr>
          <p:nvPr/>
        </p:nvSpPr>
        <p:spPr bwMode="auto">
          <a:xfrm>
            <a:off x="5791195" y="3100387"/>
            <a:ext cx="1084580" cy="434339"/>
          </a:xfrm>
          <a:prstGeom prst="rect"/>
          <a:solidFill>
            <a:srgbClr val="FFFF99"/>
          </a:solid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b="1" sz="2000">
                <a:solidFill>
                  <a:srgbClr val="FF0000"/>
                </a:solidFill>
                <a:latin typeface="Comic Sans MS"/>
              </a:rPr>
              <a:t>Flucytosine</a:t>
            </a:r>
            <a:endParaRPr b="1" sz="2000">
              <a:solidFill>
                <a:srgbClr val="FF0000"/>
              </a:solidFill>
              <a:latin typeface="Comic Sans MS"/>
            </a:endParaRPr>
          </a:p>
        </p:txBody>
      </p:sp>
      <p:sp>
        <p:nvSpPr>
          <p:cNvPr id="1049501" name="Text Box 21"/>
          <p:cNvSpPr txBox="1">
            <a:spLocks noChangeArrowheads="1"/>
          </p:cNvSpPr>
          <p:nvPr/>
        </p:nvSpPr>
        <p:spPr bwMode="auto">
          <a:xfrm>
            <a:off x="8382004" y="3405182"/>
            <a:ext cx="1211580" cy="434340"/>
          </a:xfrm>
          <a:prstGeom prst="rect"/>
          <a:solidFill>
            <a:srgbClr val="FFFF99"/>
          </a:solid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b="1" sz="2000">
                <a:solidFill>
                  <a:srgbClr val="FF0000"/>
                </a:solidFill>
                <a:latin typeface="Comic Sans MS"/>
              </a:rPr>
              <a:t>Griseofulvin</a:t>
            </a:r>
            <a:endParaRPr b="1" sz="2000">
              <a:solidFill>
                <a:srgbClr val="FF0000"/>
              </a:solidFill>
              <a:latin typeface="Comic Sans MS"/>
            </a:endParaRPr>
          </a:p>
        </p:txBody>
      </p:sp>
      <p:sp>
        <p:nvSpPr>
          <p:cNvPr id="1049502" name="Text Box 22"/>
          <p:cNvSpPr txBox="1">
            <a:spLocks noChangeArrowheads="1"/>
          </p:cNvSpPr>
          <p:nvPr/>
        </p:nvSpPr>
        <p:spPr bwMode="auto">
          <a:xfrm>
            <a:off x="3200400" y="4495804"/>
            <a:ext cx="2608581" cy="1120139"/>
          </a:xfrm>
          <a:prstGeom prst="rect"/>
          <a:solidFill>
            <a:srgbClr val="FFFF99"/>
          </a:solid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b="1" sz="2000">
                <a:solidFill>
                  <a:srgbClr val="FF0000"/>
                </a:solidFill>
                <a:latin typeface="Comic Sans MS"/>
              </a:rPr>
              <a:t>1.Azoles  </a:t>
            </a:r>
            <a:endParaRPr b="1" sz="2000">
              <a:solidFill>
                <a:srgbClr val="FF0000"/>
              </a:solidFill>
              <a:latin typeface="Comic Sans MS"/>
            </a:endParaRPr>
          </a:p>
          <a:p>
            <a:r>
              <a:rPr b="1" sz="2000">
                <a:solidFill>
                  <a:srgbClr val="FF0000"/>
                </a:solidFill>
                <a:latin typeface="Comic Sans MS"/>
              </a:rPr>
              <a:t>2.Allylamines</a:t>
            </a:r>
            <a:endParaRPr b="1" sz="2000">
              <a:solidFill>
                <a:srgbClr val="FF0000"/>
              </a:solidFill>
              <a:latin typeface="Comic Sans MS"/>
            </a:endParaRPr>
          </a:p>
          <a:p>
            <a:r>
              <a:rPr b="1" sz="2000">
                <a:solidFill>
                  <a:srgbClr val="FF0000"/>
                </a:solidFill>
                <a:latin typeface="Comic Sans MS"/>
              </a:rPr>
              <a:t>3.Glucan synthesis inhibitors</a:t>
            </a:r>
            <a:endParaRPr b="1" sz="2000">
              <a:solidFill>
                <a:srgbClr val="FF0000"/>
              </a:solidFill>
              <a:latin typeface="Comic Sans MS"/>
            </a:endParaRPr>
          </a:p>
        </p:txBody>
      </p:sp>
      <p:sp>
        <p:nvSpPr>
          <p:cNvPr id="1049503" name="Line 23"/>
          <p:cNvSpPr>
            <a:spLocks noChangeShapeType="1"/>
          </p:cNvSpPr>
          <p:nvPr/>
        </p:nvSpPr>
        <p:spPr bwMode="auto">
          <a:xfrm>
            <a:off x="3962395" y="4267204"/>
            <a:ext cx="0" cy="304795"/>
          </a:xfrm>
          <a:prstGeom prst="line"/>
          <a:noFill/>
          <a:ln w="28575">
            <a:solidFill>
              <a:schemeClr val="tx1"/>
            </a:solidFill>
            <a:round/>
            <a:headEnd/>
            <a:tailEnd type="triangle" w="med" len="med"/>
          </a:ln>
        </p:spPr>
        <p:txBody>
          <a:bodyPr/>
          <a:p/>
        </p:txBody>
      </p:sp>
      <p:sp>
        <p:nvSpPr>
          <p:cNvPr id="1049504" name="Line 24"/>
          <p:cNvSpPr>
            <a:spLocks noChangeShapeType="1"/>
          </p:cNvSpPr>
          <p:nvPr/>
        </p:nvSpPr>
        <p:spPr bwMode="auto">
          <a:xfrm>
            <a:off x="6553204" y="2514600"/>
            <a:ext cx="0" cy="533395"/>
          </a:xfrm>
          <a:prstGeom prst="line"/>
          <a:noFill/>
          <a:ln w="28575">
            <a:solidFill>
              <a:schemeClr val="tx1"/>
            </a:solidFill>
            <a:round/>
            <a:headEnd/>
            <a:tailEnd type="triangle" w="med" len="med"/>
          </a:ln>
        </p:spPr>
        <p:txBody>
          <a:bodyPr anchor="ctr" wrap="none"/>
          <a:p/>
        </p:txBody>
      </p:sp>
      <p:sp>
        <p:nvSpPr>
          <p:cNvPr id="1049505" name="Line 25"/>
          <p:cNvSpPr>
            <a:spLocks noChangeShapeType="1"/>
          </p:cNvSpPr>
          <p:nvPr/>
        </p:nvSpPr>
        <p:spPr bwMode="auto">
          <a:xfrm>
            <a:off x="9220195" y="2971800"/>
            <a:ext cx="0" cy="304795"/>
          </a:xfrm>
          <a:prstGeom prst="line"/>
          <a:noFill/>
          <a:ln w="28575">
            <a:solidFill>
              <a:schemeClr val="tx1"/>
            </a:solidFill>
            <a:round/>
            <a:headEnd/>
            <a:tailEnd type="triangle" w="med" len="med"/>
          </a:ln>
        </p:spPr>
        <p:txBody>
          <a:bodyPr anchor="ctr" wrap="none"/>
          <a:p/>
        </p:txBody>
      </p:sp>
      <p:sp>
        <p:nvSpPr>
          <p:cNvPr id="1049506" name="TextBox 26"/>
          <p:cNvSpPr txBox="1"/>
          <p:nvPr/>
        </p:nvSpPr>
        <p:spPr>
          <a:xfrm>
            <a:off x="1758562" y="387897"/>
            <a:ext cx="2730307" cy="510539"/>
          </a:xfrm>
          <a:prstGeom prst="rect"/>
          <a:noFill/>
        </p:spPr>
        <p:txBody>
          <a:bodyPr wrap="square">
            <a:spAutoFit/>
          </a:bodyPr>
          <a:p>
            <a:r>
              <a:rPr sz="2400"/>
              <a:t>b. Mode of action</a:t>
            </a:r>
            <a:endParaRPr sz="2400"/>
          </a:p>
        </p:txBody>
      </p:sp>
    </p:spTree>
  </p:cSld>
  <p:clrMapOvr>
    <a:masterClrMapping/>
  </p:clrMapOvr>
</p:sld>
</file>

<file path=ppt/slides/slide469.xml><?xml version="1.0" encoding="utf-8"?>
<p:sld xmlns:a="http://schemas.openxmlformats.org/drawingml/2006/main" xmlns:r="http://schemas.openxmlformats.org/officeDocument/2006/relationships" xmlns:p="http://schemas.openxmlformats.org/presentationml/2006/main">
  <p:cSld>
    <p:spTree>
      <p:nvGrpSpPr>
        <p:cNvPr id="1145" name=""/>
        <p:cNvGrpSpPr/>
        <p:nvPr/>
      </p:nvGrpSpPr>
      <p:grpSpPr>
        <a:xfrm>
          <a:off x="0" y="0"/>
          <a:ext cx="0" cy="0"/>
          <a:chOff x="0" y="0"/>
          <a:chExt cx="0" cy="0"/>
        </a:xfrm>
      </p:grpSpPr>
      <p:sp>
        <p:nvSpPr>
          <p:cNvPr id="1049510" name="TextBox 2"/>
          <p:cNvSpPr txBox="1"/>
          <p:nvPr/>
        </p:nvSpPr>
        <p:spPr>
          <a:xfrm>
            <a:off x="990595" y="667438"/>
            <a:ext cx="9420220" cy="5044440"/>
          </a:xfrm>
          <a:prstGeom prst="rect"/>
          <a:noFill/>
        </p:spPr>
        <p:txBody>
          <a:bodyPr wrap="square">
            <a:spAutoFit/>
          </a:bodyPr>
          <a:p>
            <a:r>
              <a:rPr sz="4800"/>
              <a:t>They can also be;</a:t>
            </a:r>
            <a:endParaRPr sz="4800"/>
          </a:p>
          <a:p>
            <a:r>
              <a:rPr sz="4800"/>
              <a:t>Natural antifungals </a:t>
            </a:r>
            <a:endParaRPr sz="4800"/>
          </a:p>
          <a:p>
            <a:pPr indent="-685800" lvl="1" marL="1143000">
              <a:buFont typeface="Arial"/>
              <a:buChar char="•"/>
            </a:pPr>
            <a:r>
              <a:rPr sz="4800"/>
              <a:t>(polyenes, nystatin, echinocandins) </a:t>
            </a:r>
            <a:endParaRPr sz="4800"/>
          </a:p>
          <a:p>
            <a:r>
              <a:rPr sz="4800"/>
              <a:t>Synthetic antifungals </a:t>
            </a:r>
            <a:endParaRPr sz="4800"/>
          </a:p>
          <a:p>
            <a:pPr indent="-685800" marL="685800">
              <a:buFont typeface="Arial"/>
              <a:buChar char="•"/>
            </a:pPr>
            <a:r>
              <a:rPr sz="4800"/>
              <a:t>(Azoles, flucytosine, terbinafine, </a:t>
            </a:r>
            <a:r>
              <a:rPr sz="4800"/>
              <a:t>naftifine</a:t>
            </a:r>
            <a:r>
              <a:rPr sz="4800"/>
              <a:t>)</a:t>
            </a:r>
            <a:endParaRPr sz="4800"/>
          </a:p>
        </p:txBody>
      </p:sp>
    </p:spTree>
  </p:cSld>
  <p:clrMapOvr>
    <a:masterClrMapping/>
  </p:clrMapOvr>
</p:sld>
</file>

<file path=ppt/slides/slide470.xml><?xml version="1.0" encoding="utf-8"?>
<p:sld xmlns:a="http://schemas.openxmlformats.org/drawingml/2006/main" xmlns:r="http://schemas.openxmlformats.org/officeDocument/2006/relationships" xmlns:p="http://schemas.openxmlformats.org/presentationml/2006/main">
  <p:cSld>
    <p:spTree>
      <p:nvGrpSpPr>
        <p:cNvPr id="1146" name=""/>
        <p:cNvGrpSpPr/>
        <p:nvPr/>
      </p:nvGrpSpPr>
      <p:grpSpPr>
        <a:xfrm>
          <a:off x="0" y="0"/>
          <a:ext cx="0" cy="0"/>
          <a:chOff x="0" y="0"/>
          <a:chExt cx="0" cy="0"/>
        </a:xfrm>
      </p:grpSpPr>
      <p:sp>
        <p:nvSpPr>
          <p:cNvPr id="1049511" name="Rectangle 2"/>
          <p:cNvSpPr>
            <a:spLocks noGrp="1" noChangeArrowheads="1"/>
          </p:cNvSpPr>
          <p:nvPr>
            <p:ph type="body" idx="1"/>
          </p:nvPr>
        </p:nvSpPr>
        <p:spPr>
          <a:xfrm>
            <a:off x="1304920" y="533395"/>
            <a:ext cx="9134470" cy="6172200"/>
          </a:xfrm>
        </p:spPr>
        <p:txBody>
          <a:bodyPr>
            <a:normAutofit fontScale="89286" lnSpcReduction="10000"/>
          </a:bodyPr>
          <a:p>
            <a:pPr>
              <a:lnSpc>
                <a:spcPct val="90000"/>
              </a:lnSpc>
              <a:buNone/>
            </a:pPr>
            <a:r>
              <a:rPr b="1">
                <a:latin typeface="Comic Sans MS"/>
              </a:rPr>
              <a:t>ANTIFUNGALS</a:t>
            </a:r>
            <a:endParaRPr b="1">
              <a:latin typeface="Comic Sans MS"/>
            </a:endParaRPr>
          </a:p>
          <a:p>
            <a:pPr>
              <a:lnSpc>
                <a:spcPct val="90000"/>
              </a:lnSpc>
              <a:buNone/>
            </a:pPr>
            <a:r>
              <a:t>1. Polyene – Amphotericin, natamycin, nystatin</a:t>
            </a:r>
          </a:p>
          <a:p>
            <a:pPr>
              <a:lnSpc>
                <a:spcPct val="90000"/>
              </a:lnSpc>
              <a:buNone/>
            </a:pPr>
            <a:r>
              <a:t>2. Azoles – ketoconazole </a:t>
            </a:r>
            <a:r>
              <a:t>etc</a:t>
            </a:r>
          </a:p>
          <a:p>
            <a:pPr>
              <a:lnSpc>
                <a:spcPct val="90000"/>
              </a:lnSpc>
              <a:buNone/>
            </a:pPr>
            <a:r>
              <a:t>3. </a:t>
            </a:r>
            <a:r>
              <a:t>Allyamines</a:t>
            </a:r>
            <a:r>
              <a:t> – </a:t>
            </a:r>
          </a:p>
          <a:p>
            <a:pPr>
              <a:lnSpc>
                <a:spcPct val="90000"/>
              </a:lnSpc>
              <a:buNone/>
            </a:pPr>
            <a:r>
              <a:t>4. Flucytosine</a:t>
            </a:r>
          </a:p>
          <a:p>
            <a:pPr>
              <a:lnSpc>
                <a:spcPct val="90000"/>
              </a:lnSpc>
              <a:buNone/>
            </a:pPr>
            <a:r>
              <a:t>5. Griseofulvin</a:t>
            </a:r>
          </a:p>
          <a:p>
            <a:pPr>
              <a:lnSpc>
                <a:spcPct val="90000"/>
              </a:lnSpc>
              <a:buNone/>
            </a:pPr>
            <a:r>
              <a:t>6. Miscellaneous</a:t>
            </a:r>
          </a:p>
          <a:p>
            <a:r>
              <a:t>	Tolnaftate</a:t>
            </a:r>
          </a:p>
          <a:p>
            <a:r>
              <a:t>	Ciclopirox olamine</a:t>
            </a:r>
          </a:p>
          <a:p>
            <a:r>
              <a:t>	Fatty acids e.g. Benzoic acid, Undecylenic acid</a:t>
            </a:r>
          </a:p>
          <a:p>
            <a:r>
              <a:t>	Salicylic acid </a:t>
            </a:r>
          </a:p>
          <a:p>
            <a:r>
              <a:t>	Potassium iodide</a:t>
            </a:r>
          </a:p>
          <a:p>
            <a:r>
              <a:t>	Haloprogin</a:t>
            </a:r>
          </a:p>
        </p:txBody>
      </p:sp>
    </p:spTree>
  </p:cSld>
  <p:clrMapOvr>
    <a:masterClrMapping/>
  </p:clrMapOvr>
</p:sld>
</file>

<file path=ppt/slides/slide471.xml><?xml version="1.0" encoding="utf-8"?>
<p:sld xmlns:a="http://schemas.openxmlformats.org/drawingml/2006/main" xmlns:r="http://schemas.openxmlformats.org/officeDocument/2006/relationships" xmlns:p="http://schemas.openxmlformats.org/presentationml/2006/main">
  <p:cSld>
    <p:spTree>
      <p:nvGrpSpPr>
        <p:cNvPr id="1149" name=""/>
        <p:cNvGrpSpPr/>
        <p:nvPr/>
      </p:nvGrpSpPr>
      <p:grpSpPr>
        <a:xfrm>
          <a:off x="0" y="0"/>
          <a:ext cx="0" cy="0"/>
          <a:chOff x="0" y="0"/>
          <a:chExt cx="0" cy="0"/>
        </a:xfrm>
      </p:grpSpPr>
      <p:sp>
        <p:nvSpPr>
          <p:cNvPr id="1049515" name="Rectangle 2"/>
          <p:cNvSpPr>
            <a:spLocks noGrp="1" noChangeArrowheads="1"/>
          </p:cNvSpPr>
          <p:nvPr>
            <p:ph type="body" idx="1"/>
          </p:nvPr>
        </p:nvSpPr>
        <p:spPr>
          <a:xfrm>
            <a:off x="600075" y="228600"/>
            <a:ext cx="10601325" cy="5943600"/>
          </a:xfrm>
        </p:spPr>
        <p:txBody>
          <a:bodyPr>
            <a:normAutofit lnSpcReduction="10000"/>
          </a:bodyPr>
          <a:p>
            <a:pPr indent="-609604" marL="609604">
              <a:lnSpc>
                <a:spcPct val="80000"/>
              </a:lnSpc>
              <a:buNone/>
            </a:pPr>
            <a:r>
              <a:rPr b="1" sz="2400">
                <a:solidFill>
                  <a:srgbClr val="CC0000"/>
                </a:solidFill>
                <a:latin typeface="Comic Sans MS"/>
              </a:rPr>
              <a:t>A) POLYENE ANTIFUNGALS</a:t>
            </a:r>
            <a:endParaRPr b="1" sz="2400">
              <a:solidFill>
                <a:srgbClr val="CC0000"/>
              </a:solidFill>
              <a:latin typeface="Comic Sans MS"/>
            </a:endParaRPr>
          </a:p>
          <a:p>
            <a:pPr indent="-609604" marL="609604">
              <a:lnSpc>
                <a:spcPct val="80000"/>
              </a:lnSpc>
              <a:buNone/>
            </a:pPr>
            <a:endParaRPr b="1" sz="2000">
              <a:solidFill>
                <a:srgbClr val="CC0000"/>
              </a:solidFill>
              <a:latin typeface="Comic Sans MS"/>
            </a:endParaRPr>
          </a:p>
          <a:p>
            <a:pPr indent="-609604" marL="609604">
              <a:lnSpc>
                <a:spcPct val="80000"/>
              </a:lnSpc>
              <a:buAutoNum type="arabicPeriod"/>
            </a:pPr>
            <a:r>
              <a:rPr b="1" sz="2000">
                <a:solidFill>
                  <a:srgbClr val="336600"/>
                </a:solidFill>
                <a:latin typeface="Comic Sans MS"/>
              </a:rPr>
              <a:t>AMPHOTERICIN B</a:t>
            </a:r>
            <a:r>
              <a:rPr b="1" sz="2000">
                <a:solidFill>
                  <a:srgbClr val="CC0000"/>
                </a:solidFill>
                <a:latin typeface="Comic Sans MS"/>
              </a:rPr>
              <a:t> (</a:t>
            </a:r>
            <a:r>
              <a:rPr b="1" sz="2000">
                <a:solidFill>
                  <a:srgbClr val="CC0000"/>
                </a:solidFill>
              </a:rPr>
              <a:t>Polyene macrolides</a:t>
            </a:r>
            <a:r>
              <a:rPr sz="2000">
                <a:solidFill>
                  <a:srgbClr val="CC0000"/>
                </a:solidFill>
              </a:rPr>
              <a:t>) </a:t>
            </a:r>
            <a:r>
              <a:rPr sz="2000"/>
              <a:t> </a:t>
            </a:r>
            <a:endParaRPr sz="2000"/>
          </a:p>
          <a:p>
            <a:pPr indent="0" marL="0">
              <a:lnSpc>
                <a:spcPct val="80000"/>
              </a:lnSpc>
              <a:buNone/>
            </a:pPr>
            <a:r>
              <a:t>Fungicidal agent derived from cultures of Streptomyces</a:t>
            </a:r>
          </a:p>
          <a:p>
            <a:pPr indent="-609604" marL="609604">
              <a:lnSpc>
                <a:spcPct val="80000"/>
              </a:lnSpc>
              <a:buNone/>
            </a:pPr>
            <a:r>
              <a:rPr b="1"/>
              <a:t>Mxn</a:t>
            </a:r>
            <a:r>
              <a:t>: </a:t>
            </a:r>
            <a:r>
              <a:rPr b="1"/>
              <a:t>Binds to sterols, forms pores and alters membrane permeability leading to loss of cellular constituents/ions especially </a:t>
            </a:r>
            <a:r>
              <a:rPr b="1"/>
              <a:t>(potassium and magnesium) </a:t>
            </a:r>
            <a:endParaRPr b="1"/>
          </a:p>
          <a:p>
            <a:pPr indent="-609604" marL="609604">
              <a:lnSpc>
                <a:spcPct val="80000"/>
              </a:lnSpc>
              <a:buNone/>
            </a:pPr>
            <a:r>
              <a:t> This loss of ions causes gross disturbance in ion balance, and altered metabolism leading to death of the fungi.</a:t>
            </a:r>
          </a:p>
          <a:p>
            <a:pPr indent="-609604" marL="609604">
              <a:lnSpc>
                <a:spcPct val="80000"/>
              </a:lnSpc>
              <a:buNone/>
            </a:pPr>
            <a:r>
              <a:t>Depending on concentration, these agents can be fungi static (slows growth on the fungus) or fungicidal (destroys the fungus).</a:t>
            </a:r>
          </a:p>
          <a:p>
            <a:pPr indent="-609604" marL="609604">
              <a:lnSpc>
                <a:spcPct val="80000"/>
              </a:lnSpc>
              <a:buNone/>
            </a:pPr>
          </a:p>
          <a:p>
            <a:pPr indent="-609604" marL="609604">
              <a:lnSpc>
                <a:spcPct val="80000"/>
              </a:lnSpc>
              <a:buNone/>
            </a:pPr>
            <a:r>
              <a:rPr b="1"/>
              <a:t>Selectivity</a:t>
            </a:r>
            <a:r>
              <a:t>: Fungi have ergosterol while mammals have cholesterol</a:t>
            </a:r>
          </a:p>
          <a:p>
            <a:pPr indent="-609604" marL="609604">
              <a:lnSpc>
                <a:spcPct val="80000"/>
              </a:lnSpc>
              <a:buNone/>
            </a:pPr>
          </a:p>
          <a:p>
            <a:pPr indent="-609604" marL="609604">
              <a:lnSpc>
                <a:spcPct val="80000"/>
              </a:lnSpc>
              <a:buNone/>
            </a:pPr>
            <a:r>
              <a:rPr b="1"/>
              <a:t>Resistance</a:t>
            </a:r>
            <a:r>
              <a:t>: modified ergosterol or </a:t>
            </a:r>
            <a:r>
              <a:rPr b="1">
                <a:cs typeface="Arial"/>
              </a:rPr>
              <a:t>↓</a:t>
            </a:r>
            <a:r>
              <a:rPr>
                <a:cs typeface="Arial"/>
              </a:rPr>
              <a:t>amount of</a:t>
            </a:r>
            <a:r>
              <a:t> membrane ergosterol</a:t>
            </a:r>
          </a:p>
          <a:p>
            <a:pPr indent="-609604" marL="609604">
              <a:lnSpc>
                <a:spcPct val="80000"/>
              </a:lnSpc>
              <a:buNone/>
            </a:pPr>
            <a:endParaRPr sz="2000"/>
          </a:p>
          <a:p>
            <a:pPr indent="-609604" marL="609604">
              <a:lnSpc>
                <a:spcPct val="80000"/>
              </a:lnSpc>
              <a:buNone/>
            </a:pPr>
            <a:endParaRPr sz="2000"/>
          </a:p>
          <a:p>
            <a:pPr indent="-609604" marL="609604">
              <a:lnSpc>
                <a:spcPct val="80000"/>
              </a:lnSpc>
              <a:buNone/>
            </a:pPr>
            <a:endParaRPr b="1" sz="2000">
              <a:solidFill>
                <a:srgbClr val="336600"/>
              </a:solidFill>
              <a:latin typeface="Comic Sans MS"/>
            </a:endParaRPr>
          </a:p>
        </p:txBody>
      </p:sp>
    </p:spTree>
  </p:cSld>
  <p:clrMapOvr>
    <a:masterClrMapping/>
  </p:clrMapOvr>
</p:sld>
</file>

<file path=ppt/slides/slide472.xml><?xml version="1.0" encoding="utf-8"?>
<p:sld xmlns:a="http://schemas.openxmlformats.org/drawingml/2006/main" xmlns:r="http://schemas.openxmlformats.org/officeDocument/2006/relationships" xmlns:p="http://schemas.openxmlformats.org/presentationml/2006/main">
  <p:cSld>
    <p:spTree>
      <p:nvGrpSpPr>
        <p:cNvPr id="1152" name=""/>
        <p:cNvGrpSpPr/>
        <p:nvPr/>
      </p:nvGrpSpPr>
      <p:grpSpPr>
        <a:xfrm>
          <a:off x="0" y="0"/>
          <a:ext cx="0" cy="0"/>
          <a:chOff x="0" y="0"/>
          <a:chExt cx="0" cy="0"/>
        </a:xfrm>
      </p:grpSpPr>
      <p:sp>
        <p:nvSpPr>
          <p:cNvPr id="1049519" name="Title 1"/>
          <p:cNvSpPr>
            <a:spLocks noGrp="1"/>
          </p:cNvSpPr>
          <p:nvPr>
            <p:ph type="title"/>
          </p:nvPr>
        </p:nvSpPr>
        <p:spPr/>
        <p:txBody>
          <a:bodyPr/>
          <a:p>
            <a:r>
              <a:t>Pharmacokinetic aspects </a:t>
            </a:r>
          </a:p>
        </p:txBody>
      </p:sp>
      <p:sp>
        <p:nvSpPr>
          <p:cNvPr id="1049520" name="Content Placeholder 2"/>
          <p:cNvSpPr>
            <a:spLocks noGrp="1"/>
          </p:cNvSpPr>
          <p:nvPr>
            <p:ph idx="1"/>
          </p:nvPr>
        </p:nvSpPr>
        <p:spPr/>
        <p:txBody>
          <a:bodyPr>
            <a:normAutofit fontScale="85714" lnSpcReduction="10000"/>
          </a:bodyPr>
          <a:p>
            <a:r>
              <a:t>Very poorly absorbed from the GIT; only given orally when treating fungal infection of the upper GIT. </a:t>
            </a:r>
          </a:p>
          <a:p>
            <a:r>
              <a:t>Also be applied topically. </a:t>
            </a:r>
          </a:p>
          <a:p>
            <a:r>
              <a:t>For systemic infections it is generally </a:t>
            </a:r>
            <a:r>
              <a:rPr b="1"/>
              <a:t>administered by slowly intravenous injection</a:t>
            </a:r>
            <a:r>
              <a:t> complexed with liposomes or other lipid preparation. </a:t>
            </a:r>
          </a:p>
          <a:p>
            <a:r>
              <a:t>It is highly protein bound. </a:t>
            </a:r>
          </a:p>
          <a:p>
            <a:r>
              <a:t>It penetrates tissues and </a:t>
            </a:r>
            <a:r>
              <a:rPr b="1"/>
              <a:t>BBB poorly, </a:t>
            </a:r>
            <a:r>
              <a:t>although it is reaches high concentration in inflammatory exudates and </a:t>
            </a:r>
            <a:r>
              <a:rPr>
                <a:solidFill>
                  <a:srgbClr val="FF0000"/>
                </a:solidFill>
              </a:rPr>
              <a:t>may cross the blood brain barrier (BBB) more readily when the meninges are inflamed</a:t>
            </a:r>
            <a:r>
              <a:t>. </a:t>
            </a:r>
          </a:p>
          <a:p>
            <a:r>
              <a:t>It is </a:t>
            </a:r>
            <a:r>
              <a:rPr b="1"/>
              <a:t>excreted very slowly via the kidneys</a:t>
            </a:r>
            <a:r>
              <a:t>, traces of the drug </a:t>
            </a:r>
            <a:r>
              <a:rPr>
                <a:solidFill>
                  <a:srgbClr val="FF0000"/>
                </a:solidFill>
              </a:rPr>
              <a:t>being found in urine for 2 months after administration</a:t>
            </a:r>
            <a:r>
              <a:t>.</a:t>
            </a:r>
          </a:p>
        </p:txBody>
      </p:sp>
    </p:spTree>
  </p:cSld>
  <p:clrMapOvr>
    <a:masterClrMapping/>
  </p:clrMapOvr>
</p:sld>
</file>

<file path=ppt/slides/slide473.xml><?xml version="1.0" encoding="utf-8"?>
<p:sld xmlns:a="http://schemas.openxmlformats.org/drawingml/2006/main" xmlns:r="http://schemas.openxmlformats.org/officeDocument/2006/relationships" xmlns:p="http://schemas.openxmlformats.org/presentationml/2006/main">
  <p:cSld>
    <p:spTree>
      <p:nvGrpSpPr>
        <p:cNvPr id="1153" name=""/>
        <p:cNvGrpSpPr/>
        <p:nvPr/>
      </p:nvGrpSpPr>
      <p:grpSpPr>
        <a:xfrm>
          <a:off x="0" y="0"/>
          <a:ext cx="0" cy="0"/>
          <a:chOff x="0" y="0"/>
          <a:chExt cx="0" cy="0"/>
        </a:xfrm>
      </p:grpSpPr>
      <p:sp>
        <p:nvSpPr>
          <p:cNvPr id="1049521" name="Title 1"/>
          <p:cNvSpPr>
            <a:spLocks noGrp="1"/>
          </p:cNvSpPr>
          <p:nvPr>
            <p:ph type="title"/>
          </p:nvPr>
        </p:nvSpPr>
        <p:spPr/>
        <p:txBody>
          <a:bodyPr/>
          <a:p>
            <a:r>
              <a:t>Unwanted effects </a:t>
            </a:r>
          </a:p>
        </p:txBody>
      </p:sp>
      <p:sp>
        <p:nvSpPr>
          <p:cNvPr id="1049522" name="Content Placeholder 2"/>
          <p:cNvSpPr>
            <a:spLocks noGrp="1"/>
          </p:cNvSpPr>
          <p:nvPr>
            <p:ph idx="1"/>
          </p:nvPr>
        </p:nvSpPr>
        <p:spPr>
          <a:xfrm>
            <a:off x="838204" y="1533520"/>
            <a:ext cx="10515600" cy="4959353"/>
          </a:xfrm>
        </p:spPr>
        <p:txBody>
          <a:bodyPr>
            <a:normAutofit fontScale="89286" lnSpcReduction="20000"/>
          </a:bodyPr>
          <a:p>
            <a:r>
              <a:t>Nephrotoxicity, </a:t>
            </a:r>
          </a:p>
          <a:p>
            <a:r>
              <a:rPr b="1"/>
              <a:t>hypokalemia in 25% of patients requiring potassium chloride</a:t>
            </a:r>
            <a:r>
              <a:t>, </a:t>
            </a:r>
          </a:p>
          <a:p>
            <a:r>
              <a:t>hypomagnesemia, </a:t>
            </a:r>
          </a:p>
          <a:p>
            <a:r>
              <a:t>impaired hepatic function, </a:t>
            </a:r>
          </a:p>
          <a:p>
            <a:r>
              <a:t>thrombocytopenia, </a:t>
            </a:r>
          </a:p>
          <a:p>
            <a:r>
              <a:t>anaphylactic reactions, </a:t>
            </a:r>
          </a:p>
          <a:p>
            <a:r>
              <a:t>cardiac </a:t>
            </a:r>
            <a:r>
              <a:t>dystrythmias</a:t>
            </a:r>
            <a:r>
              <a:t>, </a:t>
            </a:r>
          </a:p>
          <a:p>
            <a:r>
              <a:t>pulmonary infiltrates. </a:t>
            </a:r>
          </a:p>
          <a:p>
            <a:r>
              <a:rPr b="1"/>
              <a:t>Local thrombophlebitis at injection site. Injection frequently results in chills, fever, tinnitus, headache nausea and vomiting, hypotension, muscle and join pain</a:t>
            </a:r>
            <a:r>
              <a:t>. </a:t>
            </a:r>
          </a:p>
          <a:p>
            <a:r>
              <a:t>Topical application causes rash. </a:t>
            </a:r>
          </a:p>
          <a:p>
            <a:r>
              <a:t>Neurotoxicity. </a:t>
            </a:r>
          </a:p>
        </p:txBody>
      </p:sp>
    </p:spTree>
  </p:cSld>
  <p:clrMapOvr>
    <a:masterClrMapping/>
  </p:clrMapOvr>
</p:sld>
</file>

<file path=ppt/slides/slide474.xml><?xml version="1.0" encoding="utf-8"?>
<p:sld xmlns:a="http://schemas.openxmlformats.org/drawingml/2006/main" xmlns:r="http://schemas.openxmlformats.org/officeDocument/2006/relationships" xmlns:p="http://schemas.openxmlformats.org/presentationml/2006/main">
  <p:cSld>
    <p:spTree>
      <p:nvGrpSpPr>
        <p:cNvPr id="1154" name=""/>
        <p:cNvGrpSpPr/>
        <p:nvPr/>
      </p:nvGrpSpPr>
      <p:grpSpPr>
        <a:xfrm>
          <a:off x="0" y="0"/>
          <a:ext cx="0" cy="0"/>
          <a:chOff x="0" y="0"/>
          <a:chExt cx="0" cy="0"/>
        </a:xfrm>
      </p:grpSpPr>
      <p:sp>
        <p:nvSpPr>
          <p:cNvPr id="1049523" name="Content Placeholder 2"/>
          <p:cNvSpPr>
            <a:spLocks noGrp="1"/>
          </p:cNvSpPr>
          <p:nvPr>
            <p:ph idx="1"/>
          </p:nvPr>
        </p:nvSpPr>
        <p:spPr>
          <a:xfrm>
            <a:off x="861645" y="234460"/>
            <a:ext cx="10515600" cy="6353905"/>
          </a:xfrm>
        </p:spPr>
        <p:txBody>
          <a:bodyPr>
            <a:normAutofit lnSpcReduction="10000"/>
          </a:bodyPr>
          <a:p>
            <a:pPr indent="0" marL="0">
              <a:buNone/>
            </a:pPr>
            <a:r>
              <a:rPr b="1" sz="3600">
                <a:solidFill>
                  <a:srgbClr val="000000"/>
                </a:solidFill>
              </a:rPr>
              <a:t>                               side/ adverse reactions</a:t>
            </a:r>
            <a:endParaRPr b="1" sz="3600">
              <a:solidFill>
                <a:srgbClr val="000000"/>
              </a:solidFill>
            </a:endParaRPr>
          </a:p>
          <a:p>
            <a:pPr indent="0" marL="0">
              <a:buNone/>
            </a:pPr>
            <a:endParaRPr b="1" sz="2200">
              <a:solidFill>
                <a:srgbClr val="000000"/>
              </a:solidFill>
            </a:endParaRPr>
          </a:p>
          <a:p>
            <a:pPr indent="0" marL="0">
              <a:buNone/>
            </a:pPr>
            <a:r>
              <a:rPr b="1" sz="2200">
                <a:solidFill>
                  <a:srgbClr val="000000"/>
                </a:solidFill>
              </a:rPr>
              <a:t>Infusion reactions </a:t>
            </a:r>
            <a:r>
              <a:rPr sz="2200">
                <a:solidFill>
                  <a:srgbClr val="000000"/>
                </a:solidFill>
              </a:rPr>
              <a:t>(fever, chills, rigors, and headache) 1 to 3 hr. after initiation </a:t>
            </a:r>
            <a:endParaRPr sz="2200">
              <a:solidFill>
                <a:srgbClr val="000000"/>
              </a:solidFill>
            </a:endParaRPr>
          </a:p>
          <a:p>
            <a:r>
              <a:rPr sz="2200">
                <a:solidFill>
                  <a:srgbClr val="000000"/>
                </a:solidFill>
              </a:rPr>
              <a:t> Pretreat with diphenhydramine (Benadryl) and acetaminophen. </a:t>
            </a:r>
            <a:endParaRPr sz="2200">
              <a:solidFill>
                <a:srgbClr val="000000"/>
              </a:solidFill>
            </a:endParaRPr>
          </a:p>
          <a:p>
            <a:r>
              <a:rPr sz="2200">
                <a:solidFill>
                  <a:srgbClr val="000000"/>
                </a:solidFill>
              </a:rPr>
              <a:t> Meperidine (Demerol), Dantrolene, or hydrocortisone may be given for rigors.</a:t>
            </a:r>
            <a:endParaRPr sz="2200">
              <a:solidFill>
                <a:srgbClr val="000000"/>
              </a:solidFill>
            </a:endParaRPr>
          </a:p>
          <a:p>
            <a:pPr indent="0" marL="0">
              <a:buNone/>
            </a:pPr>
            <a:r>
              <a:rPr b="1" sz="2200">
                <a:solidFill>
                  <a:srgbClr val="000000"/>
                </a:solidFill>
              </a:rPr>
              <a:t>Thrombophlebitis </a:t>
            </a:r>
            <a:r>
              <a:rPr sz="2200">
                <a:solidFill>
                  <a:srgbClr val="000000"/>
                </a:solidFill>
              </a:rPr>
              <a:t> Observe infusion sites for signs of erythema, swelling, and pain.</a:t>
            </a:r>
            <a:endParaRPr sz="2200">
              <a:solidFill>
                <a:srgbClr val="000000"/>
              </a:solidFill>
            </a:endParaRPr>
          </a:p>
          <a:p>
            <a:pPr indent="0" marL="0">
              <a:buNone/>
            </a:pPr>
            <a:r>
              <a:rPr sz="2200">
                <a:solidFill>
                  <a:srgbClr val="000000"/>
                </a:solidFill>
              </a:rPr>
              <a:t> • Rotate injection sites. </a:t>
            </a:r>
            <a:endParaRPr sz="2200">
              <a:solidFill>
                <a:srgbClr val="000000"/>
              </a:solidFill>
            </a:endParaRPr>
          </a:p>
          <a:p>
            <a:r>
              <a:rPr sz="2200">
                <a:solidFill>
                  <a:srgbClr val="000000"/>
                </a:solidFill>
              </a:rPr>
              <a:t> Administer in a large vein and administer heparin before infusing amphotericin B</a:t>
            </a:r>
            <a:endParaRPr sz="2200">
              <a:solidFill>
                <a:srgbClr val="000000"/>
              </a:solidFill>
            </a:endParaRPr>
          </a:p>
          <a:p>
            <a:pPr indent="0" marL="0">
              <a:buNone/>
            </a:pPr>
            <a:r>
              <a:rPr b="1" sz="2200">
                <a:solidFill>
                  <a:srgbClr val="000000"/>
                </a:solidFill>
              </a:rPr>
              <a:t>Nephrotoxicity</a:t>
            </a:r>
            <a:endParaRPr b="1" sz="2200">
              <a:solidFill>
                <a:srgbClr val="000000"/>
              </a:solidFill>
            </a:endParaRPr>
          </a:p>
          <a:p>
            <a:r>
              <a:rPr sz="2200">
                <a:solidFill>
                  <a:srgbClr val="000000"/>
                </a:solidFill>
              </a:rPr>
              <a:t> Obtain baseline kidney function (BUN and creatinine) and do weekly kidney function test,  Monitor I&amp;O. </a:t>
            </a:r>
            <a:endParaRPr sz="2200">
              <a:solidFill>
                <a:srgbClr val="000000"/>
              </a:solidFill>
            </a:endParaRPr>
          </a:p>
          <a:p>
            <a:r>
              <a:rPr sz="2200">
                <a:solidFill>
                  <a:srgbClr val="000000"/>
                </a:solidFill>
              </a:rPr>
              <a:t> Infuse 1 L of saline on the day of amphotericin B infusion. </a:t>
            </a:r>
            <a:endParaRPr sz="2200">
              <a:solidFill>
                <a:srgbClr val="000000"/>
              </a:solidFill>
            </a:endParaRPr>
          </a:p>
          <a:p>
            <a:pPr indent="0" marL="0">
              <a:buNone/>
            </a:pPr>
            <a:r>
              <a:rPr b="1" sz="2200">
                <a:solidFill>
                  <a:srgbClr val="000000"/>
                </a:solidFill>
              </a:rPr>
              <a:t>Hypokalemia</a:t>
            </a:r>
            <a:r>
              <a:rPr sz="2200">
                <a:solidFill>
                  <a:srgbClr val="000000"/>
                </a:solidFill>
              </a:rPr>
              <a:t> </a:t>
            </a:r>
            <a:endParaRPr sz="2200">
              <a:solidFill>
                <a:srgbClr val="000000"/>
              </a:solidFill>
            </a:endParaRPr>
          </a:p>
          <a:p>
            <a:r>
              <a:rPr sz="2200">
                <a:solidFill>
                  <a:srgbClr val="000000"/>
                </a:solidFill>
              </a:rPr>
              <a:t> Monitor electrolyte levels, especially potassium. </a:t>
            </a:r>
            <a:endParaRPr sz="2200">
              <a:solidFill>
                <a:srgbClr val="000000"/>
              </a:solidFill>
            </a:endParaRPr>
          </a:p>
          <a:p>
            <a:r>
              <a:rPr sz="2200">
                <a:solidFill>
                  <a:srgbClr val="000000"/>
                </a:solidFill>
              </a:rPr>
              <a:t> Administer potassium supplements accordingly. </a:t>
            </a:r>
            <a:endParaRPr sz="2200">
              <a:solidFill>
                <a:srgbClr val="000000"/>
              </a:solidFill>
            </a:endParaRPr>
          </a:p>
          <a:p>
            <a:pPr indent="0" marL="0">
              <a:buNone/>
            </a:pPr>
            <a:r>
              <a:rPr b="1" sz="2200">
                <a:solidFill>
                  <a:srgbClr val="000000"/>
                </a:solidFill>
              </a:rPr>
              <a:t>Bone marrow suppression </a:t>
            </a:r>
            <a:r>
              <a:rPr sz="2200">
                <a:solidFill>
                  <a:srgbClr val="000000"/>
                </a:solidFill>
              </a:rPr>
              <a:t>• Obtain baseline CBC and hematocrit, and monitor weekly.</a:t>
            </a:r>
            <a:endParaRPr sz="2200">
              <a:solidFill>
                <a:srgbClr val="000000"/>
              </a:solidFill>
            </a:endParaRPr>
          </a:p>
          <a:p/>
        </p:txBody>
      </p:sp>
    </p:spTree>
  </p:cSld>
  <p:clrMapOvr>
    <a:masterClrMapping/>
  </p:clrMapOvr>
</p:sld>
</file>

<file path=ppt/slides/slide475.xml><?xml version="1.0" encoding="utf-8"?>
<p:sld xmlns:a="http://schemas.openxmlformats.org/drawingml/2006/main" xmlns:r="http://schemas.openxmlformats.org/officeDocument/2006/relationships" xmlns:p="http://schemas.openxmlformats.org/presentationml/2006/main">
  <p:cSld>
    <p:spTree>
      <p:nvGrpSpPr>
        <p:cNvPr id="1155" name=""/>
        <p:cNvGrpSpPr/>
        <p:nvPr/>
      </p:nvGrpSpPr>
      <p:grpSpPr>
        <a:xfrm>
          <a:off x="0" y="0"/>
          <a:ext cx="0" cy="0"/>
          <a:chOff x="0" y="0"/>
          <a:chExt cx="0" cy="0"/>
        </a:xfrm>
      </p:grpSpPr>
      <p:sp>
        <p:nvSpPr>
          <p:cNvPr id="1049524" name="Title 1"/>
          <p:cNvSpPr>
            <a:spLocks noGrp="1"/>
          </p:cNvSpPr>
          <p:nvPr>
            <p:ph type="title"/>
          </p:nvPr>
        </p:nvSpPr>
        <p:spPr/>
        <p:txBody>
          <a:bodyPr/>
          <a:p>
            <a:r>
              <a:t>Clinical uses </a:t>
            </a:r>
          </a:p>
        </p:txBody>
      </p:sp>
      <p:sp>
        <p:nvSpPr>
          <p:cNvPr id="1049525" name="Content Placeholder 2"/>
          <p:cNvSpPr>
            <a:spLocks noGrp="1"/>
          </p:cNvSpPr>
          <p:nvPr>
            <p:ph idx="1"/>
          </p:nvPr>
        </p:nvSpPr>
        <p:spPr>
          <a:xfrm>
            <a:off x="838204" y="1495429"/>
            <a:ext cx="10515600" cy="4857750"/>
          </a:xfrm>
        </p:spPr>
        <p:txBody>
          <a:bodyPr>
            <a:normAutofit fontScale="95833" lnSpcReduction="10000"/>
          </a:bodyPr>
          <a:p>
            <a:r>
              <a:rPr b="1"/>
              <a:t>Broad spectrum antifungal of choice for systemic fungal infection</a:t>
            </a:r>
            <a:r>
              <a:t>, </a:t>
            </a:r>
          </a:p>
          <a:p>
            <a:r>
              <a:t>it is also applied as a cream for superficial candidiasis. </a:t>
            </a:r>
          </a:p>
          <a:p>
            <a:pPr lvl="1"/>
            <a:r>
              <a:t>Pretreatment with antipyretics, aspirin, antihistamines, or antiemetics may be given to decrease the severity of injection related unwanted effects. </a:t>
            </a:r>
          </a:p>
          <a:p>
            <a:r>
              <a:rPr>
                <a:solidFill>
                  <a:srgbClr val="FF0000"/>
                </a:solidFill>
              </a:rPr>
              <a:t>Intravenous amphotericin B + flucytosine </a:t>
            </a:r>
            <a:r>
              <a:t>is used to treat </a:t>
            </a:r>
            <a:r>
              <a:rPr b="1"/>
              <a:t>cryptococcal meningitis.</a:t>
            </a:r>
            <a:endParaRPr b="1"/>
          </a:p>
          <a:p>
            <a:pPr indent="-609604" marL="609604">
              <a:lnSpc>
                <a:spcPct val="80000"/>
              </a:lnSpc>
              <a:buNone/>
            </a:pPr>
            <a:r>
              <a:rPr b="1" sz="2800"/>
              <a:t>Spectrum</a:t>
            </a:r>
            <a:r>
              <a:rPr sz="2800"/>
              <a:t>: The </a:t>
            </a:r>
            <a:r>
              <a:rPr sz="2800" u="sng"/>
              <a:t>most broad spectrum antifungal currently</a:t>
            </a:r>
            <a:endParaRPr sz="2800" u="sng"/>
          </a:p>
          <a:p>
            <a:pPr indent="-609604" marL="609604">
              <a:lnSpc>
                <a:spcPct val="80000"/>
              </a:lnSpc>
              <a:buNone/>
            </a:pPr>
            <a:r>
              <a:rPr sz="2800">
                <a:cs typeface="Arial"/>
              </a:rPr>
              <a:t>♦  </a:t>
            </a:r>
            <a:r>
              <a:rPr sz="2800"/>
              <a:t>Most fungi and yeast (aspergillus is resistant)</a:t>
            </a:r>
            <a:endParaRPr sz="2800"/>
          </a:p>
          <a:p>
            <a:pPr indent="-609604" marL="609604">
              <a:lnSpc>
                <a:spcPct val="80000"/>
              </a:lnSpc>
              <a:buNone/>
            </a:pPr>
            <a:r>
              <a:rPr sz="2800">
                <a:cs typeface="Arial"/>
              </a:rPr>
              <a:t>♦</a:t>
            </a:r>
            <a:r>
              <a:rPr sz="2800"/>
              <a:t> Amoeba – Naegleria </a:t>
            </a:r>
            <a:r>
              <a:rPr sz="2800"/>
              <a:t>fowleri</a:t>
            </a:r>
            <a:r>
              <a:rPr sz="2800"/>
              <a:t> 	</a:t>
            </a:r>
            <a:r>
              <a:rPr sz="2800">
                <a:cs typeface="Arial"/>
              </a:rPr>
              <a:t>♦ Protozoa:  Leishmania </a:t>
            </a:r>
            <a:r>
              <a:rPr sz="2800">
                <a:cs typeface="Arial"/>
              </a:rPr>
              <a:t>Donovani</a:t>
            </a:r>
            <a:endParaRPr sz="2800">
              <a:cs typeface="Arial"/>
            </a:endParaRPr>
          </a:p>
          <a:p>
            <a:pPr indent="-609604" marL="609604">
              <a:lnSpc>
                <a:spcPct val="80000"/>
              </a:lnSpc>
              <a:buNone/>
            </a:pPr>
            <a:r>
              <a:rPr>
                <a:solidFill>
                  <a:srgbClr val="FF0000"/>
                </a:solidFill>
              </a:rPr>
              <a:t>(Candidiasis, Aspergillosis(though not effective),</a:t>
            </a:r>
            <a:r>
              <a:rPr b="1">
                <a:solidFill>
                  <a:srgbClr val="FF0000"/>
                </a:solidFill>
              </a:rPr>
              <a:t> Cryptococcosis</a:t>
            </a:r>
            <a:r>
              <a:rPr>
                <a:solidFill>
                  <a:srgbClr val="FF0000"/>
                </a:solidFill>
              </a:rPr>
              <a:t>, </a:t>
            </a:r>
            <a:r>
              <a:rPr>
                <a:solidFill>
                  <a:srgbClr val="FF0000"/>
                </a:solidFill>
              </a:rPr>
              <a:t>Mucormycosis</a:t>
            </a:r>
            <a:r>
              <a:rPr>
                <a:solidFill>
                  <a:srgbClr val="FF0000"/>
                </a:solidFill>
              </a:rPr>
              <a:t>) and non-opportunistic mycoses, (Blastomycosis, Histoplasmosis, Coccidioidomycosis).</a:t>
            </a:r>
            <a:endParaRPr sz="2800">
              <a:solidFill>
                <a:srgbClr val="FF0000"/>
              </a:solidFill>
            </a:endParaRPr>
          </a:p>
          <a:p/>
        </p:txBody>
      </p:sp>
    </p:spTree>
  </p:cSld>
  <p:clrMapOvr>
    <a:masterClrMapping/>
  </p:clrMapOvr>
</p:sld>
</file>

<file path=ppt/slides/slide476.xml><?xml version="1.0" encoding="utf-8"?>
<p:sld xmlns:a="http://schemas.openxmlformats.org/drawingml/2006/main" xmlns:r="http://schemas.openxmlformats.org/officeDocument/2006/relationships" xmlns:p="http://schemas.openxmlformats.org/presentationml/2006/main">
  <p:cSld>
    <p:spTree>
      <p:nvGrpSpPr>
        <p:cNvPr id="1156" name=""/>
        <p:cNvGrpSpPr/>
        <p:nvPr/>
      </p:nvGrpSpPr>
      <p:grpSpPr>
        <a:xfrm>
          <a:off x="0" y="0"/>
          <a:ext cx="0" cy="0"/>
          <a:chOff x="0" y="0"/>
          <a:chExt cx="0" cy="0"/>
        </a:xfrm>
      </p:grpSpPr>
      <p:sp>
        <p:nvSpPr>
          <p:cNvPr id="1049526" name="Title 1"/>
          <p:cNvSpPr>
            <a:spLocks noGrp="1"/>
          </p:cNvSpPr>
          <p:nvPr>
            <p:ph type="title"/>
          </p:nvPr>
        </p:nvSpPr>
        <p:spPr/>
        <p:txBody>
          <a:bodyPr/>
          <a:p>
            <a:r>
              <a:t>Contraindication</a:t>
            </a:r>
          </a:p>
        </p:txBody>
      </p:sp>
      <p:sp>
        <p:nvSpPr>
          <p:cNvPr id="1049527" name="Content Placeholder 2"/>
          <p:cNvSpPr>
            <a:spLocks noGrp="1"/>
          </p:cNvSpPr>
          <p:nvPr>
            <p:ph idx="1"/>
          </p:nvPr>
        </p:nvSpPr>
        <p:spPr>
          <a:xfrm>
            <a:off x="838204" y="1690682"/>
            <a:ext cx="10515600" cy="4802190"/>
          </a:xfrm>
        </p:spPr>
        <p:txBody>
          <a:bodyPr>
            <a:normAutofit fontScale="87500" lnSpcReduction="20000"/>
          </a:bodyPr>
          <a:p>
            <a:r>
              <a:t>Amphotericin B is contraindicated in patients with a history of allergy to the drug </a:t>
            </a:r>
          </a:p>
          <a:p>
            <a:r>
              <a:t>During lactation. </a:t>
            </a:r>
          </a:p>
          <a:p>
            <a:pPr indent="0" marL="0">
              <a:buNone/>
            </a:pPr>
            <a:r>
              <a:rPr b="1"/>
              <a:t>Precaution </a:t>
            </a:r>
            <a:endParaRPr b="1"/>
          </a:p>
          <a:p>
            <a:pPr lvl="1"/>
            <a:r>
              <a:t>It is used cautiously in patients with renal dysfunction, electrolyte imbalances, and in combination with antineoplastic drugs (</a:t>
            </a:r>
            <a:r>
              <a:rPr b="1"/>
              <a:t>because it can cause severe bone marrow suppression)</a:t>
            </a:r>
            <a:r>
              <a:t>. </a:t>
            </a:r>
          </a:p>
          <a:p>
            <a:pPr lvl="1"/>
            <a:r>
              <a:t>This drug is a Pregnancy Category B drug and is used during pregnancy only when the situation is life threatening. </a:t>
            </a:r>
          </a:p>
          <a:p>
            <a:pPr lvl="1"/>
            <a:r>
              <a:rPr b="1"/>
              <a:t>Amphotericin B is given only under close supervision in the hospital setting</a:t>
            </a:r>
            <a:r>
              <a:t>. </a:t>
            </a:r>
          </a:p>
          <a:p>
            <a:r>
              <a:rPr b="1"/>
              <a:t>Interactions </a:t>
            </a:r>
            <a:endParaRPr b="1"/>
          </a:p>
          <a:p>
            <a:pPr lvl="1"/>
            <a:r>
              <a:t>When given with the corticosteroids, severe hypokalemia may occur. </a:t>
            </a:r>
          </a:p>
          <a:p>
            <a:pPr lvl="1"/>
            <a:r>
              <a:t>There may be an increased risk of digitalis toxicity if digoxin is administered concurrently with amphotericin B. </a:t>
            </a:r>
          </a:p>
          <a:p>
            <a:pPr lvl="1"/>
            <a:r>
              <a:t>Administration with nephrotoxic drugs (</a:t>
            </a:r>
            <a:r>
              <a:t>eg</a:t>
            </a:r>
            <a:r>
              <a:t>, aminoglycosides or cyclosporine) may increase the risk of nephrotoxicity in patients also taking amphotericin B. </a:t>
            </a:r>
          </a:p>
          <a:p>
            <a:pPr lvl="1"/>
            <a:r>
              <a:t>Amphotericin B decreases the effects of miconazole. </a:t>
            </a:r>
          </a:p>
        </p:txBody>
      </p:sp>
    </p:spTree>
  </p:cSld>
  <p:clrMapOvr>
    <a:masterClrMapping/>
  </p:clrMapOvr>
</p:sld>
</file>

<file path=ppt/slides/slide477.xml><?xml version="1.0" encoding="utf-8"?>
<p:sld xmlns:a="http://schemas.openxmlformats.org/drawingml/2006/main" xmlns:r="http://schemas.openxmlformats.org/officeDocument/2006/relationships" xmlns:p="http://schemas.openxmlformats.org/presentationml/2006/main">
  <p:cSld>
    <p:spTree>
      <p:nvGrpSpPr>
        <p:cNvPr id="1157" name=""/>
        <p:cNvGrpSpPr/>
        <p:nvPr/>
      </p:nvGrpSpPr>
      <p:grpSpPr>
        <a:xfrm>
          <a:off x="0" y="0"/>
          <a:ext cx="0" cy="0"/>
          <a:chOff x="0" y="0"/>
          <a:chExt cx="0" cy="0"/>
        </a:xfrm>
      </p:grpSpPr>
      <p:sp>
        <p:nvSpPr>
          <p:cNvPr id="1049528" name="Title 1"/>
          <p:cNvSpPr>
            <a:spLocks noGrp="1"/>
          </p:cNvSpPr>
          <p:nvPr>
            <p:ph type="title"/>
          </p:nvPr>
        </p:nvSpPr>
        <p:spPr/>
        <p:txBody>
          <a:bodyPr/>
          <a:p>
            <a:r>
              <a:rPr b="1">
                <a:solidFill>
                  <a:srgbClr val="336600"/>
                </a:solidFill>
                <a:latin typeface="Comic Sans MS"/>
              </a:rPr>
              <a:t>2. NYSTATIN</a:t>
            </a:r>
          </a:p>
        </p:txBody>
      </p:sp>
      <p:sp>
        <p:nvSpPr>
          <p:cNvPr id="1049529" name="Content Placeholder 2"/>
          <p:cNvSpPr>
            <a:spLocks noGrp="1"/>
          </p:cNvSpPr>
          <p:nvPr>
            <p:ph idx="1"/>
          </p:nvPr>
        </p:nvSpPr>
        <p:spPr/>
        <p:txBody>
          <a:bodyPr>
            <a:normAutofit fontScale="85714" lnSpcReduction="10000"/>
          </a:bodyPr>
          <a:p>
            <a:pPr indent="-609604" marL="609604">
              <a:lnSpc>
                <a:spcPct val="80000"/>
              </a:lnSpc>
              <a:buNone/>
            </a:pPr>
            <a:r>
              <a:t>Similar in structure and </a:t>
            </a:r>
            <a:r>
              <a:t>and</a:t>
            </a:r>
            <a:r>
              <a:t> mechanism of action to amphotericin</a:t>
            </a:r>
          </a:p>
          <a:p>
            <a:pPr indent="-609604" marL="609604">
              <a:lnSpc>
                <a:spcPct val="80000"/>
              </a:lnSpc>
              <a:buNone/>
            </a:pPr>
            <a:r>
              <a:t>Pharmacokinetics </a:t>
            </a:r>
          </a:p>
          <a:p>
            <a:pPr indent="-609604" marL="609604">
              <a:lnSpc>
                <a:spcPct val="80000"/>
              </a:lnSpc>
              <a:buNone/>
            </a:pPr>
            <a:r>
              <a:t>Virtually </a:t>
            </a:r>
            <a:r>
              <a:rPr b="1"/>
              <a:t>no absorption from mucous membranes of the body, skin or GIT</a:t>
            </a:r>
            <a:r>
              <a:t>. </a:t>
            </a:r>
          </a:p>
          <a:p>
            <a:pPr indent="-609604" marL="609604">
              <a:lnSpc>
                <a:spcPct val="80000"/>
              </a:lnSpc>
              <a:buNone/>
            </a:pPr>
            <a:r>
              <a:t>It is </a:t>
            </a:r>
            <a:r>
              <a:rPr>
                <a:solidFill>
                  <a:srgbClr val="FF0000"/>
                </a:solidFill>
              </a:rPr>
              <a:t>often applied topically</a:t>
            </a:r>
            <a:r>
              <a:t> for skin and mucous membranes candidiasis and </a:t>
            </a:r>
            <a:r>
              <a:rPr b="1"/>
              <a:t>taken orally for oral and intestinal candidiasis</a:t>
            </a:r>
            <a:r>
              <a:t>. </a:t>
            </a:r>
          </a:p>
          <a:p>
            <a:pPr indent="-609604" marL="609604">
              <a:lnSpc>
                <a:spcPct val="80000"/>
              </a:lnSpc>
              <a:buNone/>
            </a:pPr>
            <a:r>
              <a:t>Clinical uses Treatment of: </a:t>
            </a:r>
          </a:p>
          <a:p>
            <a:pPr indent="-609604" marL="609604">
              <a:lnSpc>
                <a:spcPct val="80000"/>
              </a:lnSpc>
              <a:buNone/>
            </a:pPr>
            <a:r>
              <a:rPr b="1"/>
              <a:t>oral, intestinal, topical and vaginal candidiasis</a:t>
            </a:r>
            <a:r>
              <a:t>. </a:t>
            </a:r>
          </a:p>
          <a:p>
            <a:pPr indent="-609604" marL="609604">
              <a:lnSpc>
                <a:spcPct val="80000"/>
              </a:lnSpc>
              <a:buNone/>
            </a:pPr>
            <a:r>
              <a:t>Unwanted effects </a:t>
            </a:r>
          </a:p>
          <a:p>
            <a:pPr indent="-609604" marL="609604">
              <a:lnSpc>
                <a:spcPct val="80000"/>
              </a:lnSpc>
              <a:buNone/>
            </a:pPr>
            <a:r>
              <a:t>Nausea, vomiting, anorexia, diarrhea, cramps, rash, urticarial. </a:t>
            </a:r>
          </a:p>
          <a:p>
            <a:pPr indent="-609604" marL="609604">
              <a:lnSpc>
                <a:spcPct val="80000"/>
              </a:lnSpc>
              <a:buNone/>
            </a:pPr>
            <a:r>
              <a:rPr b="1" sz="2800">
                <a:solidFill>
                  <a:srgbClr val="336600"/>
                </a:solidFill>
                <a:latin typeface="Comic Sans MS"/>
              </a:rPr>
              <a:t>3. NATAMYCIN</a:t>
            </a:r>
            <a:endParaRPr b="1" sz="2800">
              <a:solidFill>
                <a:srgbClr val="336600"/>
              </a:solidFill>
              <a:latin typeface="Comic Sans MS"/>
            </a:endParaRPr>
          </a:p>
          <a:p>
            <a:pPr indent="-609604" marL="609604">
              <a:lnSpc>
                <a:spcPct val="80000"/>
              </a:lnSpc>
              <a:buNone/>
            </a:pPr>
            <a:r>
              <a:rPr b="1" sz="2800"/>
              <a:t>Spectrum</a:t>
            </a:r>
            <a:r>
              <a:rPr sz="2800"/>
              <a:t>: Aspergillus, candida</a:t>
            </a:r>
            <a:endParaRPr sz="2800"/>
          </a:p>
          <a:p>
            <a:pPr indent="-609604" marL="609604">
              <a:lnSpc>
                <a:spcPct val="80000"/>
              </a:lnSpc>
              <a:buNone/>
            </a:pPr>
            <a:endParaRPr sz="2800"/>
          </a:p>
          <a:p>
            <a:pPr indent="-609604" marL="609604">
              <a:lnSpc>
                <a:spcPct val="80000"/>
              </a:lnSpc>
              <a:buNone/>
            </a:pPr>
            <a:endParaRPr sz="2800"/>
          </a:p>
          <a:p>
            <a:pPr indent="-609604" marL="609604">
              <a:lnSpc>
                <a:spcPct val="80000"/>
              </a:lnSpc>
              <a:buNone/>
            </a:pPr>
            <a:endParaRPr b="1" sz="2800">
              <a:solidFill>
                <a:srgbClr val="336600"/>
              </a:solidFill>
              <a:latin typeface="Comic Sans MS"/>
            </a:endParaRPr>
          </a:p>
          <a:p/>
        </p:txBody>
      </p:sp>
    </p:spTree>
  </p:cSld>
  <p:clrMapOvr>
    <a:masterClrMapping/>
  </p:clrMapOvr>
</p:sld>
</file>

<file path=ppt/slides/slide478.xml><?xml version="1.0" encoding="utf-8"?>
<p:sld xmlns:a="http://schemas.openxmlformats.org/drawingml/2006/main" xmlns:r="http://schemas.openxmlformats.org/officeDocument/2006/relationships" xmlns:p="http://schemas.openxmlformats.org/presentationml/2006/main">
  <p:cSld>
    <p:spTree>
      <p:nvGrpSpPr>
        <p:cNvPr id="1158" name=""/>
        <p:cNvGrpSpPr/>
        <p:nvPr/>
      </p:nvGrpSpPr>
      <p:grpSpPr>
        <a:xfrm>
          <a:off x="0" y="0"/>
          <a:ext cx="0" cy="0"/>
          <a:chOff x="0" y="0"/>
          <a:chExt cx="0" cy="0"/>
        </a:xfrm>
      </p:grpSpPr>
      <p:grpSp>
        <p:nvGrpSpPr>
          <p:cNvPr id="1159" name="Group 2"/>
          <p:cNvGrpSpPr/>
          <p:nvPr/>
        </p:nvGrpSpPr>
        <p:grpSpPr bwMode="auto">
          <a:xfrm>
            <a:off x="2133595" y="1200150"/>
            <a:ext cx="7058886" cy="5415443"/>
            <a:chOff x="390" y="627"/>
            <a:chExt cx="4451" cy="3575"/>
          </a:xfrm>
        </p:grpSpPr>
        <p:sp>
          <p:nvSpPr>
            <p:cNvPr id="1049530" name="Text Box 3"/>
            <p:cNvSpPr txBox="1">
              <a:spLocks noChangeArrowheads="1"/>
            </p:cNvSpPr>
            <p:nvPr/>
          </p:nvSpPr>
          <p:spPr bwMode="auto">
            <a:xfrm>
              <a:off x="1771" y="627"/>
              <a:ext cx="837" cy="338"/>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sz="2400">
                  <a:latin typeface="Comic Sans MS"/>
                </a:rPr>
                <a:t>Precursors</a:t>
              </a:r>
              <a:endParaRPr sz="2400">
                <a:latin typeface="Comic Sans MS"/>
              </a:endParaRPr>
            </a:p>
          </p:txBody>
        </p:sp>
        <p:sp>
          <p:nvSpPr>
            <p:cNvPr id="1049531" name="Text Box 4"/>
            <p:cNvSpPr txBox="1">
              <a:spLocks noChangeArrowheads="1"/>
            </p:cNvSpPr>
            <p:nvPr/>
          </p:nvSpPr>
          <p:spPr bwMode="auto">
            <a:xfrm>
              <a:off x="1674" y="1102"/>
              <a:ext cx="708" cy="338"/>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sz="2400">
                  <a:latin typeface="Comic Sans MS"/>
                </a:rPr>
                <a:t>Squalene</a:t>
              </a:r>
              <a:endParaRPr sz="2400">
                <a:latin typeface="Comic Sans MS"/>
              </a:endParaRPr>
            </a:p>
          </p:txBody>
        </p:sp>
        <p:sp>
          <p:nvSpPr>
            <p:cNvPr id="1049532" name="Text Box 5"/>
            <p:cNvSpPr txBox="1">
              <a:spLocks noChangeArrowheads="1"/>
            </p:cNvSpPr>
            <p:nvPr/>
          </p:nvSpPr>
          <p:spPr bwMode="auto">
            <a:xfrm>
              <a:off x="1437" y="2274"/>
              <a:ext cx="1253" cy="338"/>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sz="2400">
                  <a:latin typeface="Comic Sans MS"/>
                </a:rPr>
                <a:t>Squalene epoxide</a:t>
              </a:r>
              <a:endParaRPr sz="2400">
                <a:latin typeface="Comic Sans MS"/>
              </a:endParaRPr>
            </a:p>
          </p:txBody>
        </p:sp>
        <p:sp>
          <p:nvSpPr>
            <p:cNvPr id="1049533" name="Text Box 6"/>
            <p:cNvSpPr txBox="1">
              <a:spLocks noChangeArrowheads="1"/>
            </p:cNvSpPr>
            <p:nvPr/>
          </p:nvSpPr>
          <p:spPr bwMode="auto">
            <a:xfrm>
              <a:off x="1730" y="3864"/>
              <a:ext cx="748" cy="338"/>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sz="2400">
                  <a:latin typeface="Comic Sans MS"/>
                </a:rPr>
                <a:t>Ergosterol</a:t>
              </a:r>
              <a:endParaRPr sz="2400">
                <a:latin typeface="Comic Sans MS"/>
              </a:endParaRPr>
            </a:p>
          </p:txBody>
        </p:sp>
        <p:sp>
          <p:nvSpPr>
            <p:cNvPr id="1049534" name="Text Box 7"/>
            <p:cNvSpPr txBox="1">
              <a:spLocks noChangeArrowheads="1"/>
            </p:cNvSpPr>
            <p:nvPr/>
          </p:nvSpPr>
          <p:spPr bwMode="auto">
            <a:xfrm>
              <a:off x="2204" y="3097"/>
              <a:ext cx="1245" cy="338"/>
            </a:xfrm>
            <a:prstGeom prst="rect"/>
            <a:noFill/>
            <a:ln w="38100">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b="1" sz="2400">
                  <a:latin typeface="Comic Sans MS"/>
                </a:rPr>
                <a:t>14-</a:t>
              </a:r>
              <a:r>
                <a:rPr b="1" sz="2400">
                  <a:latin typeface="Comic Sans MS"/>
                  <a:sym typeface="Symbol"/>
                </a:rPr>
                <a:t></a:t>
              </a:r>
              <a:r>
                <a:rPr b="1" sz="2400">
                  <a:latin typeface="Comic Sans MS"/>
                </a:rPr>
                <a:t>-demethylase</a:t>
              </a:r>
              <a:endParaRPr b="1" sz="2400">
                <a:latin typeface="Comic Sans MS"/>
              </a:endParaRPr>
            </a:p>
          </p:txBody>
        </p:sp>
        <p:sp>
          <p:nvSpPr>
            <p:cNvPr id="1049535" name="Text Box 8"/>
            <p:cNvSpPr txBox="1">
              <a:spLocks noChangeArrowheads="1"/>
            </p:cNvSpPr>
            <p:nvPr/>
          </p:nvSpPr>
          <p:spPr bwMode="auto">
            <a:xfrm>
              <a:off x="2162" y="1604"/>
              <a:ext cx="1397" cy="338"/>
            </a:xfrm>
            <a:prstGeom prst="rect"/>
            <a:noFill/>
            <a:ln w="38100">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b="1" sz="2400">
                  <a:latin typeface="Comic Sans MS"/>
                </a:rPr>
                <a:t>Squalene epoxidase</a:t>
              </a:r>
              <a:endParaRPr b="1" sz="2400">
                <a:latin typeface="Comic Sans MS"/>
              </a:endParaRPr>
            </a:p>
          </p:txBody>
        </p:sp>
        <p:sp>
          <p:nvSpPr>
            <p:cNvPr id="1049536" name="Line 9"/>
            <p:cNvSpPr>
              <a:spLocks noChangeShapeType="1"/>
            </p:cNvSpPr>
            <p:nvPr/>
          </p:nvSpPr>
          <p:spPr bwMode="auto">
            <a:xfrm>
              <a:off x="2204" y="837"/>
              <a:ext cx="0" cy="293"/>
            </a:xfrm>
            <a:prstGeom prst="line"/>
            <a:noFill/>
            <a:ln w="38100">
              <a:solidFill>
                <a:schemeClr val="tx1"/>
              </a:solidFill>
              <a:round/>
              <a:headEnd/>
              <a:tailEnd type="triangle" w="med" len="med"/>
            </a:ln>
          </p:spPr>
          <p:txBody>
            <a:bodyPr anchor="ctr" wrap="none"/>
            <a:p/>
          </p:txBody>
        </p:sp>
        <p:sp>
          <p:nvSpPr>
            <p:cNvPr id="1049537" name="Line 10"/>
            <p:cNvSpPr>
              <a:spLocks noChangeShapeType="1"/>
            </p:cNvSpPr>
            <p:nvPr/>
          </p:nvSpPr>
          <p:spPr bwMode="auto">
            <a:xfrm>
              <a:off x="2162" y="1465"/>
              <a:ext cx="0" cy="865"/>
            </a:xfrm>
            <a:prstGeom prst="line"/>
            <a:noFill/>
            <a:ln w="38100">
              <a:solidFill>
                <a:schemeClr val="tx1"/>
              </a:solidFill>
              <a:prstDash val="lgDash"/>
              <a:round/>
              <a:headEnd/>
              <a:tailEnd type="triangle" w="med" len="med"/>
            </a:ln>
          </p:spPr>
          <p:txBody>
            <a:bodyPr anchor="ctr" wrap="none"/>
            <a:p/>
          </p:txBody>
        </p:sp>
        <p:sp>
          <p:nvSpPr>
            <p:cNvPr id="1049538" name="Line 11"/>
            <p:cNvSpPr>
              <a:spLocks noChangeShapeType="1"/>
            </p:cNvSpPr>
            <p:nvPr/>
          </p:nvSpPr>
          <p:spPr bwMode="auto">
            <a:xfrm>
              <a:off x="2162" y="2609"/>
              <a:ext cx="0" cy="1297"/>
            </a:xfrm>
            <a:prstGeom prst="line"/>
            <a:noFill/>
            <a:ln w="38100">
              <a:solidFill>
                <a:schemeClr val="tx1"/>
              </a:solidFill>
              <a:prstDash val="lgDash"/>
              <a:round/>
              <a:headEnd/>
              <a:tailEnd type="triangle" w="med" len="med"/>
            </a:ln>
          </p:spPr>
          <p:txBody>
            <a:bodyPr anchor="ctr" wrap="none"/>
            <a:p/>
          </p:txBody>
        </p:sp>
        <p:sp>
          <p:nvSpPr>
            <p:cNvPr id="1049539" name="Rectangle 12"/>
            <p:cNvSpPr>
              <a:spLocks noChangeArrowheads="1"/>
            </p:cNvSpPr>
            <p:nvPr/>
          </p:nvSpPr>
          <p:spPr bwMode="auto">
            <a:xfrm rot="-3701543">
              <a:off x="2064" y="1172"/>
              <a:ext cx="41" cy="1199"/>
            </a:xfrm>
            <a:prstGeom prst="rect"/>
            <a:solidFill>
              <a:srgbClr val="FF0000"/>
            </a:solidFill>
            <a:ln w="9525">
              <a:solidFill>
                <a:schemeClr val="tx1"/>
              </a:solidFill>
              <a:miter lim="800000"/>
              <a:headEnd/>
              <a:tailEnd/>
            </a:ln>
          </p:spPr>
          <p:txBody>
            <a:bodyPr anchor="ctr" wrap="none"/>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p:txBody>
        </p:sp>
        <p:sp>
          <p:nvSpPr>
            <p:cNvPr id="1049540" name="Text Box 13"/>
            <p:cNvSpPr txBox="1">
              <a:spLocks noChangeArrowheads="1"/>
            </p:cNvSpPr>
            <p:nvPr/>
          </p:nvSpPr>
          <p:spPr bwMode="auto">
            <a:xfrm>
              <a:off x="390" y="1409"/>
              <a:ext cx="1255" cy="338"/>
            </a:xfrm>
            <a:prstGeom prst="rect"/>
            <a:solidFill>
              <a:srgbClr val="FFFF99"/>
            </a:solidFill>
            <a:ln>
              <a:noFill/>
            </a:ln>
          </p:spPr>
          <p:txBody>
            <a:bodyPr>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b="1" sz="2400">
                  <a:latin typeface="Comic Sans MS"/>
                </a:rPr>
                <a:t>Allyamines</a:t>
              </a:r>
              <a:endParaRPr b="1" sz="2400">
                <a:latin typeface="Comic Sans MS"/>
              </a:endParaRPr>
            </a:p>
          </p:txBody>
        </p:sp>
        <p:sp>
          <p:nvSpPr>
            <p:cNvPr id="1049541" name="Rectangle 14"/>
            <p:cNvSpPr>
              <a:spLocks noChangeArrowheads="1"/>
            </p:cNvSpPr>
            <p:nvPr/>
          </p:nvSpPr>
          <p:spPr bwMode="auto">
            <a:xfrm rot="-3701543">
              <a:off x="1925" y="2567"/>
              <a:ext cx="41" cy="1199"/>
            </a:xfrm>
            <a:prstGeom prst="rect"/>
            <a:solidFill>
              <a:srgbClr val="FF0000"/>
            </a:solidFill>
            <a:ln w="9525">
              <a:solidFill>
                <a:schemeClr val="tx1"/>
              </a:solidFill>
              <a:miter lim="800000"/>
              <a:headEnd/>
              <a:tailEnd/>
            </a:ln>
          </p:spPr>
          <p:txBody>
            <a:bodyPr anchor="ctr" wrap="none"/>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p:txBody>
        </p:sp>
        <p:sp>
          <p:nvSpPr>
            <p:cNvPr id="1049542" name="Text Box 15"/>
            <p:cNvSpPr txBox="1">
              <a:spLocks noChangeArrowheads="1"/>
            </p:cNvSpPr>
            <p:nvPr/>
          </p:nvSpPr>
          <p:spPr bwMode="auto">
            <a:xfrm>
              <a:off x="390" y="2664"/>
              <a:ext cx="885" cy="614"/>
            </a:xfrm>
            <a:prstGeom prst="rect"/>
            <a:solidFill>
              <a:srgbClr val="FFFF99"/>
            </a:solid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sz="2400">
                  <a:latin typeface="Comic Sans MS"/>
                </a:rPr>
                <a:t>        </a:t>
              </a:r>
              <a:r>
                <a:rPr b="1" sz="2400">
                  <a:latin typeface="Comic Sans MS"/>
                </a:rPr>
                <a:t>Azole</a:t>
              </a:r>
              <a:endParaRPr b="1" sz="2400">
                <a:latin typeface="Comic Sans MS"/>
              </a:endParaRPr>
            </a:p>
            <a:p>
              <a:r>
                <a:rPr b="1" sz="2400">
                  <a:latin typeface="Comic Sans MS"/>
                </a:rPr>
                <a:t>antifungals</a:t>
              </a:r>
              <a:endParaRPr b="1" sz="2400">
                <a:latin typeface="Comic Sans MS"/>
              </a:endParaRPr>
            </a:p>
          </p:txBody>
        </p:sp>
        <p:sp>
          <p:nvSpPr>
            <p:cNvPr id="1049543" name="Text Box 16"/>
            <p:cNvSpPr txBox="1">
              <a:spLocks noChangeArrowheads="1"/>
            </p:cNvSpPr>
            <p:nvPr/>
          </p:nvSpPr>
          <p:spPr bwMode="auto">
            <a:xfrm>
              <a:off x="3348" y="3836"/>
              <a:ext cx="1493" cy="338"/>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sz="2400">
                  <a:latin typeface="Comic Sans MS"/>
                </a:rPr>
                <a:t>Fungal cell membrane</a:t>
              </a:r>
              <a:endParaRPr sz="2400">
                <a:latin typeface="Comic Sans MS"/>
              </a:endParaRPr>
            </a:p>
          </p:txBody>
        </p:sp>
        <p:sp>
          <p:nvSpPr>
            <p:cNvPr id="1049544" name="Line 17"/>
            <p:cNvSpPr>
              <a:spLocks noChangeShapeType="1"/>
            </p:cNvSpPr>
            <p:nvPr/>
          </p:nvSpPr>
          <p:spPr bwMode="auto">
            <a:xfrm>
              <a:off x="2790" y="4004"/>
              <a:ext cx="572" cy="0"/>
            </a:xfrm>
            <a:prstGeom prst="line"/>
            <a:noFill/>
            <a:ln w="38100">
              <a:solidFill>
                <a:schemeClr val="tx1"/>
              </a:solidFill>
              <a:round/>
              <a:headEnd/>
              <a:tailEnd type="triangle" w="med" len="med"/>
            </a:ln>
          </p:spPr>
          <p:txBody>
            <a:bodyPr anchor="ctr" wrap="none"/>
            <a:p/>
          </p:txBody>
        </p:sp>
      </p:grpSp>
      <p:sp>
        <p:nvSpPr>
          <p:cNvPr id="1049545" name="Text Box 18"/>
          <p:cNvSpPr txBox="1">
            <a:spLocks noChangeArrowheads="1"/>
          </p:cNvSpPr>
          <p:nvPr/>
        </p:nvSpPr>
        <p:spPr bwMode="auto">
          <a:xfrm>
            <a:off x="1628775" y="304795"/>
            <a:ext cx="8632147" cy="929640"/>
          </a:xfrm>
          <a:prstGeom prst="rect"/>
          <a:noFill/>
          <a:ln>
            <a:noFill/>
          </a:ln>
        </p:spPr>
        <p:txBody>
          <a:bodyPr wrap="squar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b="1" sz="2400">
                <a:solidFill>
                  <a:srgbClr val="FF0000"/>
                </a:solidFill>
                <a:latin typeface="Comic Sans MS"/>
              </a:rPr>
              <a:t>AZOLES AND ALLYLAMINES</a:t>
            </a:r>
            <a:endParaRPr b="1" sz="2400">
              <a:solidFill>
                <a:srgbClr val="FF0000"/>
              </a:solidFill>
              <a:latin typeface="Comic Sans MS"/>
            </a:endParaRPr>
          </a:p>
          <a:p>
            <a:r>
              <a:rPr b="1" sz="2400">
                <a:solidFill>
                  <a:srgbClr val="FF0000"/>
                </a:solidFill>
                <a:latin typeface="Comic Sans MS"/>
              </a:rPr>
              <a:t>Steps at which Azoles and allylamines antifungals work</a:t>
            </a:r>
            <a:endParaRPr b="1" sz="2400">
              <a:solidFill>
                <a:srgbClr val="FF0000"/>
              </a:solidFill>
              <a:latin typeface="Comic Sans MS"/>
            </a:endParaRPr>
          </a:p>
        </p:txBody>
      </p:sp>
    </p:spTree>
  </p:cSld>
  <p:clrMapOvr>
    <a:masterClrMapping/>
  </p:clrMapOvr>
</p:sld>
</file>

<file path=ppt/slides/slide479.xml><?xml version="1.0" encoding="utf-8"?>
<p:sld xmlns:a="http://schemas.openxmlformats.org/drawingml/2006/main" xmlns:r="http://schemas.openxmlformats.org/officeDocument/2006/relationships" xmlns:p="http://schemas.openxmlformats.org/presentationml/2006/main">
  <p:cSld>
    <p:spTree>
      <p:nvGrpSpPr>
        <p:cNvPr id="1162" name=""/>
        <p:cNvGrpSpPr/>
        <p:nvPr/>
      </p:nvGrpSpPr>
      <p:grpSpPr>
        <a:xfrm>
          <a:off x="0" y="0"/>
          <a:ext cx="0" cy="0"/>
          <a:chOff x="0" y="0"/>
          <a:chExt cx="0" cy="0"/>
        </a:xfrm>
      </p:grpSpPr>
      <p:sp>
        <p:nvSpPr>
          <p:cNvPr id="1049549" name="Title 1"/>
          <p:cNvSpPr>
            <a:spLocks noGrp="1"/>
          </p:cNvSpPr>
          <p:nvPr>
            <p:ph type="title"/>
          </p:nvPr>
        </p:nvSpPr>
        <p:spPr>
          <a:xfrm>
            <a:off x="838204" y="365126"/>
            <a:ext cx="10515600" cy="873128"/>
          </a:xfrm>
        </p:spPr>
        <p:txBody>
          <a:bodyPr/>
          <a:p>
            <a:r>
              <a:t>AZOLES</a:t>
            </a:r>
          </a:p>
        </p:txBody>
      </p:sp>
      <p:sp>
        <p:nvSpPr>
          <p:cNvPr id="1049550" name="Content Placeholder 2"/>
          <p:cNvSpPr>
            <a:spLocks noGrp="1"/>
          </p:cNvSpPr>
          <p:nvPr>
            <p:ph idx="1"/>
          </p:nvPr>
        </p:nvSpPr>
        <p:spPr>
          <a:xfrm>
            <a:off x="542925" y="1238254"/>
            <a:ext cx="11153779" cy="5254618"/>
          </a:xfrm>
        </p:spPr>
        <p:txBody>
          <a:bodyPr>
            <a:normAutofit fontScale="87500" lnSpcReduction="10000"/>
          </a:bodyPr>
          <a:p>
            <a:r>
              <a:t>The azoles are a </a:t>
            </a:r>
            <a:r>
              <a:rPr b="1"/>
              <a:t>group of synthetic agents </a:t>
            </a:r>
            <a:r>
              <a:rPr b="1" u="sng"/>
              <a:t>with broad spectrum of activity based on imidazole nucleus </a:t>
            </a:r>
            <a:endParaRPr b="1" u="sng"/>
          </a:p>
          <a:p>
            <a:pPr lvl="1">
              <a:lnSpc>
                <a:spcPct val="80000"/>
              </a:lnSpc>
              <a:buNone/>
            </a:pPr>
            <a:r>
              <a:rPr>
                <a:sym typeface="Symbol"/>
              </a:rPr>
              <a:t> </a:t>
            </a:r>
            <a:r>
              <a:rPr>
                <a:sym typeface="Symbol"/>
              </a:rPr>
              <a:t>Imidazoles</a:t>
            </a:r>
            <a:r>
              <a:rPr>
                <a:sym typeface="Symbol"/>
              </a:rPr>
              <a:t>: </a:t>
            </a:r>
            <a:r>
              <a:rPr>
                <a:solidFill>
                  <a:srgbClr val="CC0000"/>
                </a:solidFill>
              </a:rPr>
              <a:t> </a:t>
            </a:r>
            <a:r>
              <a:rPr b="1">
                <a:solidFill>
                  <a:srgbClr val="336600"/>
                </a:solidFill>
              </a:rPr>
              <a:t>Ketoconazole</a:t>
            </a:r>
            <a:r>
              <a:rPr b="1"/>
              <a:t> </a:t>
            </a:r>
            <a:r>
              <a:t> </a:t>
            </a:r>
          </a:p>
          <a:p>
            <a:pPr lvl="1">
              <a:lnSpc>
                <a:spcPct val="80000"/>
              </a:lnSpc>
              <a:buNone/>
            </a:pPr>
            <a:r>
              <a:rPr>
                <a:sym typeface="Symbol"/>
              </a:rPr>
              <a:t></a:t>
            </a:r>
            <a:r>
              <a:t> Triazoles: </a:t>
            </a:r>
            <a:r>
              <a:rPr b="1">
                <a:solidFill>
                  <a:srgbClr val="336600"/>
                </a:solidFill>
              </a:rPr>
              <a:t>Fluconazole, Itraconazole, Voriconazole</a:t>
            </a:r>
            <a:r>
              <a:t> </a:t>
            </a:r>
            <a:endParaRPr b="1"/>
          </a:p>
          <a:p>
            <a:pPr lvl="1">
              <a:lnSpc>
                <a:spcPct val="80000"/>
              </a:lnSpc>
              <a:buNone/>
            </a:pPr>
            <a:r>
              <a:rPr>
                <a:sym typeface="Symbol"/>
              </a:rPr>
              <a:t> </a:t>
            </a:r>
            <a:r>
              <a:t>Topical: </a:t>
            </a:r>
            <a:r>
              <a:rPr>
                <a:solidFill>
                  <a:srgbClr val="336600"/>
                </a:solidFill>
              </a:rPr>
              <a:t>miconazole, </a:t>
            </a:r>
            <a:r>
              <a:rPr>
                <a:solidFill>
                  <a:srgbClr val="336600"/>
                </a:solidFill>
              </a:rPr>
              <a:t>ecnonazole</a:t>
            </a:r>
            <a:r>
              <a:rPr>
                <a:solidFill>
                  <a:srgbClr val="336600"/>
                </a:solidFill>
              </a:rPr>
              <a:t>, </a:t>
            </a:r>
            <a:r>
              <a:rPr b="1">
                <a:solidFill>
                  <a:srgbClr val="336600"/>
                </a:solidFill>
              </a:rPr>
              <a:t>clotrimazole</a:t>
            </a:r>
            <a:r>
              <a:t>, </a:t>
            </a:r>
            <a:r>
              <a:t>etc</a:t>
            </a:r>
          </a:p>
          <a:p>
            <a:pPr indent="0" marL="0">
              <a:buNone/>
            </a:pPr>
            <a:r>
              <a:t>Mechanism of action of azoles </a:t>
            </a:r>
          </a:p>
          <a:p>
            <a:r>
              <a:t>The azoles inhibit the fungal cytochrome P450 3A enzyme, </a:t>
            </a:r>
            <a:r>
              <a:rPr>
                <a:solidFill>
                  <a:srgbClr val="FF0000"/>
                </a:solidFill>
              </a:rPr>
              <a:t>lanosine</a:t>
            </a:r>
            <a:r>
              <a:rPr>
                <a:solidFill>
                  <a:srgbClr val="FF0000"/>
                </a:solidFill>
              </a:rPr>
              <a:t> 14α-demethylase,</a:t>
            </a:r>
            <a:r>
              <a:t> </a:t>
            </a:r>
            <a:r>
              <a:rPr b="1"/>
              <a:t>which is responsible for converting lanosterol to ergosterol</a:t>
            </a:r>
            <a:r>
              <a:t>, the main sterol in the fungal cell membrane. </a:t>
            </a:r>
          </a:p>
          <a:p>
            <a:pPr lvl="1"/>
            <a:r>
              <a:t>The resulting </a:t>
            </a:r>
            <a:r>
              <a:rPr b="1"/>
              <a:t>depletion of ergosterol alters the fluidity of the membrane, and this interferes with the action of membrane-associated enzymes</a:t>
            </a:r>
            <a:r>
              <a:t>. </a:t>
            </a:r>
          </a:p>
          <a:p>
            <a:pPr lvl="1"/>
            <a:r>
              <a:t>The net effect is an </a:t>
            </a:r>
            <a:r>
              <a:rPr b="1"/>
              <a:t>inhibition of replication and a leaky cell membrane that leads to loss of essential ions</a:t>
            </a:r>
            <a:r>
              <a:t>. </a:t>
            </a:r>
          </a:p>
          <a:p>
            <a:r>
              <a:rPr>
                <a:solidFill>
                  <a:srgbClr val="FF0000"/>
                </a:solidFill>
              </a:rPr>
              <a:t>Azoles also inhibit the transformation of </a:t>
            </a:r>
            <a:r>
              <a:rPr>
                <a:solidFill>
                  <a:srgbClr val="FF0000"/>
                </a:solidFill>
              </a:rPr>
              <a:t>candidal</a:t>
            </a:r>
            <a:r>
              <a:rPr>
                <a:solidFill>
                  <a:srgbClr val="FF0000"/>
                </a:solidFill>
              </a:rPr>
              <a:t> yeast cells into hyphae-the invasive and pathogenic form of the fungi. </a:t>
            </a:r>
            <a:endParaRPr>
              <a:solidFill>
                <a:srgbClr val="FF0000"/>
              </a:solidFill>
            </a:endParaRPr>
          </a:p>
        </p:txBody>
      </p:sp>
    </p:spTree>
  </p:cSld>
  <p:clrMapOvr>
    <a:masterClrMapping/>
  </p:clrMapOvr>
</p:sld>
</file>

<file path=ppt/slides/slide480.xml><?xml version="1.0" encoding="utf-8"?>
<p:sld xmlns:a="http://schemas.openxmlformats.org/drawingml/2006/main" xmlns:r="http://schemas.openxmlformats.org/officeDocument/2006/relationships" xmlns:p="http://schemas.openxmlformats.org/presentationml/2006/main">
  <p:cSld>
    <p:spTree>
      <p:nvGrpSpPr>
        <p:cNvPr id="1163" name=""/>
        <p:cNvGrpSpPr/>
        <p:nvPr/>
      </p:nvGrpSpPr>
      <p:grpSpPr>
        <a:xfrm>
          <a:off x="0" y="0"/>
          <a:ext cx="0" cy="0"/>
          <a:chOff x="0" y="0"/>
          <a:chExt cx="0" cy="0"/>
        </a:xfrm>
      </p:grpSpPr>
      <p:sp>
        <p:nvSpPr>
          <p:cNvPr id="1049551" name="Title 1"/>
          <p:cNvSpPr>
            <a:spLocks noGrp="1"/>
          </p:cNvSpPr>
          <p:nvPr>
            <p:ph type="title"/>
          </p:nvPr>
        </p:nvSpPr>
        <p:spPr>
          <a:xfrm>
            <a:off x="838204" y="365126"/>
            <a:ext cx="10515600" cy="720723"/>
          </a:xfrm>
        </p:spPr>
        <p:txBody>
          <a:bodyPr>
            <a:normAutofit fontScale="95455"/>
          </a:bodyPr>
          <a:p>
            <a:r>
              <a:t>Fluconazole(</a:t>
            </a:r>
            <a:r>
              <a:t>diflucan</a:t>
            </a:r>
            <a:r>
              <a:t>) </a:t>
            </a:r>
          </a:p>
        </p:txBody>
      </p:sp>
      <p:sp>
        <p:nvSpPr>
          <p:cNvPr id="1049552" name="Content Placeholder 2"/>
          <p:cNvSpPr>
            <a:spLocks noGrp="1"/>
          </p:cNvSpPr>
          <p:nvPr>
            <p:ph idx="1"/>
          </p:nvPr>
        </p:nvSpPr>
        <p:spPr>
          <a:xfrm>
            <a:off x="495304" y="1238254"/>
            <a:ext cx="11439529" cy="5254618"/>
          </a:xfrm>
        </p:spPr>
        <p:txBody>
          <a:bodyPr>
            <a:normAutofit fontScale="87500" lnSpcReduction="10000"/>
          </a:bodyPr>
          <a:p>
            <a:r>
              <a:t>Pharmacokinetics </a:t>
            </a:r>
          </a:p>
          <a:p>
            <a:pPr lvl="1"/>
            <a:r>
              <a:t>Fluconazole is well absorbed from GIT and </a:t>
            </a:r>
            <a:r>
              <a:rPr b="1"/>
              <a:t>can be given orally or intravenously</a:t>
            </a:r>
            <a:r>
              <a:t>. </a:t>
            </a:r>
          </a:p>
          <a:p>
            <a:pPr lvl="1"/>
            <a:r>
              <a:t>It reaches </a:t>
            </a:r>
            <a:r>
              <a:rPr b="1"/>
              <a:t>high concentrations in the cerebrospinal fluid and ocular fluids</a:t>
            </a:r>
            <a:r>
              <a:t>, and </a:t>
            </a:r>
            <a:r>
              <a:rPr>
                <a:solidFill>
                  <a:srgbClr val="FF0000"/>
                </a:solidFill>
              </a:rPr>
              <a:t>may become the drug of first choice for most types of fungal meningitis</a:t>
            </a:r>
            <a:r>
              <a:t>. </a:t>
            </a:r>
          </a:p>
          <a:p>
            <a:pPr lvl="1"/>
            <a:r>
              <a:t>Fungicidal concentrations are </a:t>
            </a:r>
            <a:r>
              <a:rPr b="1"/>
              <a:t>also achieved in vaginal tissue, saliva, skin and nails</a:t>
            </a:r>
            <a:r>
              <a:t>. </a:t>
            </a:r>
          </a:p>
          <a:p>
            <a:pPr lvl="1"/>
            <a:r>
              <a:t>It has a half-life of ∼25 hours; </a:t>
            </a:r>
          </a:p>
          <a:p>
            <a:pPr lvl="1"/>
            <a:r>
              <a:t>90% is </a:t>
            </a:r>
            <a:r>
              <a:rPr b="1"/>
              <a:t>excreted unchanged in the urine</a:t>
            </a:r>
            <a:r>
              <a:t> and </a:t>
            </a:r>
            <a:r>
              <a:rPr b="1"/>
              <a:t>10% in the </a:t>
            </a:r>
            <a:r>
              <a:rPr b="1"/>
              <a:t>faeces</a:t>
            </a:r>
            <a:r>
              <a:t>. </a:t>
            </a:r>
          </a:p>
          <a:p>
            <a:pPr lvl="1"/>
            <a:r>
              <a:t>Clinical uses </a:t>
            </a:r>
          </a:p>
          <a:p>
            <a:pPr lvl="1"/>
            <a:r>
              <a:t>Vaginal candidiasis, oropharyngeal and esophageal candidiasis, systemic candidiasis, cryptococcal meningitis </a:t>
            </a:r>
          </a:p>
          <a:p>
            <a:r>
              <a:t>Unwanted effects </a:t>
            </a:r>
          </a:p>
          <a:p>
            <a:pPr lvl="1"/>
            <a:r>
              <a:t>Unwanted effects, which are generally mild, include nausea, headache and abdominal pain. </a:t>
            </a:r>
          </a:p>
          <a:p>
            <a:pPr lvl="1"/>
            <a:r>
              <a:t>However, </a:t>
            </a:r>
            <a:r>
              <a:rPr b="1"/>
              <a:t>exfoliative skin lesions </a:t>
            </a:r>
            <a:r>
              <a:t>(including, on occasion, Stevens-Johnson syndrome) may occur in some </a:t>
            </a:r>
            <a:r>
              <a:rPr>
                <a:solidFill>
                  <a:srgbClr val="FF0000"/>
                </a:solidFill>
              </a:rPr>
              <a:t>individuals-primarily in AIDS patients </a:t>
            </a:r>
            <a:r>
              <a:t>who are being treated with multiple drugs. </a:t>
            </a:r>
          </a:p>
          <a:p>
            <a:pPr lvl="1"/>
            <a:r>
              <a:t>Hepatitis-although is rare. </a:t>
            </a:r>
          </a:p>
        </p:txBody>
      </p:sp>
    </p:spTree>
  </p:cSld>
  <p:clrMapOvr>
    <a:masterClrMapping/>
  </p:clrMapOvr>
</p:sld>
</file>

<file path=ppt/slides/slide481.xml><?xml version="1.0" encoding="utf-8"?>
<p:sld xmlns:a="http://schemas.openxmlformats.org/drawingml/2006/main" xmlns:r="http://schemas.openxmlformats.org/officeDocument/2006/relationships" xmlns:p="http://schemas.openxmlformats.org/presentationml/2006/main">
  <p:cSld>
    <p:spTree>
      <p:nvGrpSpPr>
        <p:cNvPr id="1164" name=""/>
        <p:cNvGrpSpPr/>
        <p:nvPr/>
      </p:nvGrpSpPr>
      <p:grpSpPr>
        <a:xfrm>
          <a:off x="0" y="0"/>
          <a:ext cx="0" cy="0"/>
          <a:chOff x="0" y="0"/>
          <a:chExt cx="0" cy="0"/>
        </a:xfrm>
      </p:grpSpPr>
      <p:sp>
        <p:nvSpPr>
          <p:cNvPr id="1049553" name="Title 1"/>
          <p:cNvSpPr>
            <a:spLocks noGrp="1"/>
          </p:cNvSpPr>
          <p:nvPr>
            <p:ph type="title"/>
          </p:nvPr>
        </p:nvSpPr>
        <p:spPr>
          <a:xfrm>
            <a:off x="838204" y="365126"/>
            <a:ext cx="10515600" cy="844553"/>
          </a:xfrm>
        </p:spPr>
        <p:txBody>
          <a:bodyPr/>
          <a:p>
            <a:r>
              <a:t>FLUCONAZOLE CONT</a:t>
            </a:r>
          </a:p>
        </p:txBody>
      </p:sp>
      <p:sp>
        <p:nvSpPr>
          <p:cNvPr id="1049554" name="Content Placeholder 2"/>
          <p:cNvSpPr>
            <a:spLocks noGrp="1"/>
          </p:cNvSpPr>
          <p:nvPr>
            <p:ph idx="1"/>
          </p:nvPr>
        </p:nvSpPr>
        <p:spPr>
          <a:xfrm>
            <a:off x="838204" y="1495429"/>
            <a:ext cx="10515600" cy="4997443"/>
          </a:xfrm>
        </p:spPr>
        <p:txBody>
          <a:bodyPr/>
          <a:p>
            <a:r>
              <a:rPr b="1" sz="3200"/>
              <a:t>Contraindications and cautions</a:t>
            </a:r>
            <a:endParaRPr b="1" sz="3200"/>
          </a:p>
          <a:p>
            <a:pPr lvl="1"/>
            <a:r>
              <a:rPr sz="2800"/>
              <a:t>Fluconazole is contraindicated in patients with known hypersensitivity to the drug.</a:t>
            </a:r>
            <a:endParaRPr sz="2800"/>
          </a:p>
          <a:p>
            <a:pPr lvl="1"/>
            <a:r>
              <a:rPr sz="2800"/>
              <a:t>The drug is used cautiously in patients with renal impairment and during pregnancy (Category C) and lactation. </a:t>
            </a:r>
            <a:endParaRPr sz="2800"/>
          </a:p>
          <a:p>
            <a:pPr lvl="2"/>
            <a:r>
              <a:rPr sz="2400"/>
              <a:t>The drug is given during pregnancy only if the benefit of the drug clearly outweighs any possible risk to the infant. </a:t>
            </a:r>
            <a:endParaRPr sz="2400"/>
          </a:p>
          <a:p>
            <a:r>
              <a:rPr b="1" sz="3200"/>
              <a:t>Important interactions </a:t>
            </a:r>
            <a:endParaRPr b="1" sz="3200"/>
          </a:p>
          <a:p>
            <a:pPr lvl="1"/>
            <a:r>
              <a:rPr sz="2800"/>
              <a:t>Fluconazole increases the effect of the oral hypoglycemic. </a:t>
            </a:r>
            <a:endParaRPr sz="2800"/>
          </a:p>
          <a:p>
            <a:pPr lvl="1"/>
            <a:r>
              <a:rPr sz="2800"/>
              <a:t>Fluconazole may decrease the metabolism of phenytoin and warfarin.</a:t>
            </a:r>
            <a:endParaRPr sz="2800"/>
          </a:p>
          <a:p/>
        </p:txBody>
      </p:sp>
    </p:spTree>
  </p:cSld>
  <p:clrMapOvr>
    <a:masterClrMapping/>
  </p:clrMapOvr>
</p:sld>
</file>

<file path=ppt/slides/slide482.xml><?xml version="1.0" encoding="utf-8"?>
<p:sld xmlns:a="http://schemas.openxmlformats.org/drawingml/2006/main" xmlns:r="http://schemas.openxmlformats.org/officeDocument/2006/relationships" xmlns:p="http://schemas.openxmlformats.org/presentationml/2006/main">
  <p:cSld>
    <p:spTree>
      <p:nvGrpSpPr>
        <p:cNvPr id="1165" name=""/>
        <p:cNvGrpSpPr/>
        <p:nvPr/>
      </p:nvGrpSpPr>
      <p:grpSpPr>
        <a:xfrm>
          <a:off x="0" y="0"/>
          <a:ext cx="0" cy="0"/>
          <a:chOff x="0" y="0"/>
          <a:chExt cx="0" cy="0"/>
        </a:xfrm>
      </p:grpSpPr>
      <p:sp>
        <p:nvSpPr>
          <p:cNvPr id="1049555" name="Title 1"/>
          <p:cNvSpPr>
            <a:spLocks noGrp="1"/>
          </p:cNvSpPr>
          <p:nvPr>
            <p:ph type="title"/>
          </p:nvPr>
        </p:nvSpPr>
        <p:spPr>
          <a:xfrm>
            <a:off x="838204" y="365126"/>
            <a:ext cx="10515600" cy="720723"/>
          </a:xfrm>
        </p:spPr>
        <p:txBody>
          <a:bodyPr>
            <a:normAutofit fontScale="95455"/>
          </a:bodyPr>
          <a:p>
            <a:r>
              <a:t>Ketoconazole </a:t>
            </a:r>
          </a:p>
        </p:txBody>
      </p:sp>
      <p:sp>
        <p:nvSpPr>
          <p:cNvPr id="1049556" name="Content Placeholder 2"/>
          <p:cNvSpPr>
            <a:spLocks noGrp="1"/>
          </p:cNvSpPr>
          <p:nvPr>
            <p:ph idx="1"/>
          </p:nvPr>
        </p:nvSpPr>
        <p:spPr>
          <a:xfrm>
            <a:off x="838204" y="1285875"/>
            <a:ext cx="10515600" cy="5362570"/>
          </a:xfrm>
        </p:spPr>
        <p:txBody>
          <a:bodyPr>
            <a:normAutofit fontScale="100000" lnSpcReduction="20000"/>
          </a:bodyPr>
          <a:p>
            <a:r>
              <a:t>Pharmacokinetics </a:t>
            </a:r>
          </a:p>
          <a:p>
            <a:pPr lvl="1"/>
            <a:r>
              <a:t>It is </a:t>
            </a:r>
            <a:r>
              <a:rPr b="1"/>
              <a:t>well absorbed from the gastrointestinal </a:t>
            </a:r>
            <a:r>
              <a:t>tract. </a:t>
            </a:r>
          </a:p>
          <a:p>
            <a:pPr lvl="1"/>
            <a:r>
              <a:t>It is distributed widely throughout the tissues and tissue fluids but </a:t>
            </a:r>
            <a:r>
              <a:rPr>
                <a:solidFill>
                  <a:srgbClr val="FF0000"/>
                </a:solidFill>
              </a:rPr>
              <a:t>does not reach therapeutic concentrations in the central nervous system </a:t>
            </a:r>
            <a:r>
              <a:t>unless high doses are given. </a:t>
            </a:r>
          </a:p>
          <a:p>
            <a:pPr lvl="1"/>
            <a:r>
              <a:t>It is </a:t>
            </a:r>
            <a:r>
              <a:rPr b="1"/>
              <a:t>inactivated in the liver and excreted in bile and in urine</a:t>
            </a:r>
            <a:r>
              <a:t>. </a:t>
            </a:r>
          </a:p>
          <a:p>
            <a:pPr lvl="1"/>
            <a:r>
              <a:t>Its half-life in the plasma is 8 hours. </a:t>
            </a:r>
          </a:p>
          <a:p>
            <a:r>
              <a:t>Unwanted effects </a:t>
            </a:r>
          </a:p>
          <a:p>
            <a:pPr lvl="1"/>
            <a:r>
              <a:t>The main unwanted effect of ketoconazole </a:t>
            </a:r>
            <a:r>
              <a:rPr b="1"/>
              <a:t>is liver toxicity, </a:t>
            </a:r>
            <a:r>
              <a:t>which is rare but can prove fatal.</a:t>
            </a:r>
          </a:p>
          <a:p>
            <a:pPr lvl="1"/>
            <a:r>
              <a:t> Gastrointestinal disturbances and pruritus. </a:t>
            </a:r>
          </a:p>
          <a:p>
            <a:pPr lvl="1"/>
            <a:r>
              <a:rPr b="1"/>
              <a:t>Inhibition of adrenocortical steroid and testosterone</a:t>
            </a:r>
            <a:r>
              <a:t> synthesis has been recorded with high doses, the latter resulting in </a:t>
            </a:r>
            <a:r>
              <a:rPr b="1"/>
              <a:t>gynaecomastia</a:t>
            </a:r>
            <a:r>
              <a:rPr b="1"/>
              <a:t>, impotence in some male patients</a:t>
            </a:r>
            <a:r>
              <a:t>. </a:t>
            </a:r>
          </a:p>
          <a:p>
            <a:pPr lvl="1"/>
            <a:r>
              <a:t>Headache, dizziness, somnolence, SIADH, vaginal burning. </a:t>
            </a:r>
          </a:p>
          <a:p>
            <a:pPr lvl="1"/>
            <a:r>
              <a:t>Thrombocytopenia, leukopenia, hemolytic </a:t>
            </a:r>
            <a:r>
              <a:t>anaemia</a:t>
            </a:r>
            <a:r>
              <a:t>. </a:t>
            </a:r>
          </a:p>
          <a:p>
            <a:pPr lvl="1"/>
            <a:r>
              <a:rPr b="1"/>
              <a:t>Most adverse reactions are mild and transient</a:t>
            </a:r>
            <a:endParaRPr b="1"/>
          </a:p>
        </p:txBody>
      </p:sp>
    </p:spTree>
  </p:cSld>
  <p:clrMapOvr>
    <a:masterClrMapping/>
  </p:clrMapOvr>
</p:sld>
</file>

<file path=ppt/slides/slide483.xml><?xml version="1.0" encoding="utf-8"?>
<p:sld xmlns:a="http://schemas.openxmlformats.org/drawingml/2006/main" xmlns:r="http://schemas.openxmlformats.org/officeDocument/2006/relationships" xmlns:p="http://schemas.openxmlformats.org/presentationml/2006/main">
  <p:cSld>
    <p:spTree>
      <p:nvGrpSpPr>
        <p:cNvPr id="1166" name=""/>
        <p:cNvGrpSpPr/>
        <p:nvPr/>
      </p:nvGrpSpPr>
      <p:grpSpPr>
        <a:xfrm>
          <a:off x="0" y="0"/>
          <a:ext cx="0" cy="0"/>
          <a:chOff x="0" y="0"/>
          <a:chExt cx="0" cy="0"/>
        </a:xfrm>
      </p:grpSpPr>
      <p:sp>
        <p:nvSpPr>
          <p:cNvPr id="1049557" name="Title 1"/>
          <p:cNvSpPr>
            <a:spLocks noGrp="1"/>
          </p:cNvSpPr>
          <p:nvPr>
            <p:ph type="title"/>
          </p:nvPr>
        </p:nvSpPr>
        <p:spPr/>
        <p:txBody>
          <a:bodyPr/>
          <a:p>
            <a:r>
              <a:t>KETOCONAZOLE</a:t>
            </a:r>
          </a:p>
        </p:txBody>
      </p:sp>
      <p:sp>
        <p:nvSpPr>
          <p:cNvPr id="1049558" name="Content Placeholder 2"/>
          <p:cNvSpPr>
            <a:spLocks noGrp="1"/>
          </p:cNvSpPr>
          <p:nvPr>
            <p:ph idx="1"/>
          </p:nvPr>
        </p:nvSpPr>
        <p:spPr>
          <a:xfrm>
            <a:off x="381004" y="1552579"/>
            <a:ext cx="10972800" cy="4940293"/>
          </a:xfrm>
        </p:spPr>
        <p:txBody>
          <a:bodyPr>
            <a:normAutofit fontScale="91667" lnSpcReduction="10000"/>
          </a:bodyPr>
          <a:p>
            <a:r>
              <a:t>Contraindication and caution </a:t>
            </a:r>
          </a:p>
          <a:p>
            <a:pPr lvl="1"/>
            <a:r>
              <a:t>Ketoconazole is contraindicated in patients with known hypersensitivity to the drug. </a:t>
            </a:r>
          </a:p>
          <a:p>
            <a:pPr lvl="1"/>
            <a:r>
              <a:t>Ketoconazole is used cautiously in patients with hepatic impairment.</a:t>
            </a:r>
          </a:p>
          <a:p>
            <a:pPr lvl="1"/>
            <a:r>
              <a:t> Caution should be taken to avoid contact with the eyes. </a:t>
            </a:r>
          </a:p>
          <a:p>
            <a:r>
              <a:t>Interactions </a:t>
            </a:r>
          </a:p>
          <a:p>
            <a:pPr lvl="1"/>
            <a:r>
              <a:t>Absorption of ketoconazole is decreased when it is taken with histamine antagonists, rifampicin and antacids and omeprazole. </a:t>
            </a:r>
          </a:p>
          <a:p>
            <a:pPr lvl="1"/>
            <a:r>
              <a:t>Ketoconazole enhances the anticoagulant effect of warfarin and causes an additive hepatotoxicity when given with other hepatotoxic drugs and alcohol. </a:t>
            </a:r>
          </a:p>
          <a:p>
            <a:pPr lvl="1"/>
            <a:r>
              <a:t>Administration of ketoconazole with rifampin or isoniazid may decrease the blood levels of ketoconazole. </a:t>
            </a:r>
          </a:p>
          <a:p>
            <a:pPr lvl="1"/>
            <a:r>
              <a:t>Ciclosporin, terfenadine and </a:t>
            </a:r>
            <a:r>
              <a:t>astemizole</a:t>
            </a:r>
            <a:r>
              <a:t> causes increased plasma concentration of ketoconazole or the interacting drug or both. </a:t>
            </a:r>
          </a:p>
        </p:txBody>
      </p:sp>
    </p:spTree>
  </p:cSld>
  <p:clrMapOvr>
    <a:masterClrMapping/>
  </p:clrMapOvr>
</p:sld>
</file>

<file path=ppt/slides/slide484.xml><?xml version="1.0" encoding="utf-8"?>
<p:sld xmlns:a="http://schemas.openxmlformats.org/drawingml/2006/main" xmlns:r="http://schemas.openxmlformats.org/officeDocument/2006/relationships" xmlns:p="http://schemas.openxmlformats.org/presentationml/2006/main">
  <p:cSld>
    <p:spTree>
      <p:nvGrpSpPr>
        <p:cNvPr id="1167" name=""/>
        <p:cNvGrpSpPr/>
        <p:nvPr/>
      </p:nvGrpSpPr>
      <p:grpSpPr>
        <a:xfrm>
          <a:off x="0" y="0"/>
          <a:ext cx="0" cy="0"/>
          <a:chOff x="0" y="0"/>
          <a:chExt cx="0" cy="0"/>
        </a:xfrm>
      </p:grpSpPr>
      <p:sp>
        <p:nvSpPr>
          <p:cNvPr id="1049559" name="Rectangle 2"/>
          <p:cNvSpPr>
            <a:spLocks noGrp="1" noChangeArrowheads="1"/>
          </p:cNvSpPr>
          <p:nvPr>
            <p:ph type="body" idx="1"/>
          </p:nvPr>
        </p:nvSpPr>
        <p:spPr>
          <a:xfrm>
            <a:off x="676270" y="228600"/>
            <a:ext cx="9810754" cy="6400800"/>
          </a:xfrm>
        </p:spPr>
        <p:txBody>
          <a:bodyPr>
            <a:normAutofit/>
          </a:bodyPr>
          <a:p>
            <a:pPr>
              <a:lnSpc>
                <a:spcPct val="80000"/>
              </a:lnSpc>
              <a:buNone/>
            </a:pPr>
            <a:r>
              <a:rPr sz="2400">
                <a:solidFill>
                  <a:srgbClr val="CC0000"/>
                </a:solidFill>
              </a:rPr>
              <a:t>	</a:t>
            </a:r>
            <a:endParaRPr b="1" sz="2400">
              <a:solidFill>
                <a:srgbClr val="CC0000"/>
              </a:solidFill>
              <a:latin typeface="Comic Sans MS"/>
            </a:endParaRPr>
          </a:p>
          <a:p>
            <a:pPr>
              <a:lnSpc>
                <a:spcPct val="80000"/>
              </a:lnSpc>
              <a:buNone/>
            </a:pPr>
            <a:endParaRPr b="1" sz="2400">
              <a:solidFill>
                <a:srgbClr val="CC0000"/>
              </a:solidFill>
              <a:latin typeface="Comic Sans MS"/>
            </a:endParaRPr>
          </a:p>
          <a:p>
            <a:pPr>
              <a:lnSpc>
                <a:spcPct val="80000"/>
              </a:lnSpc>
              <a:buNone/>
            </a:pPr>
            <a:r>
              <a:rPr b="1" sz="2400">
                <a:solidFill>
                  <a:srgbClr val="CC0000"/>
                </a:solidFill>
                <a:latin typeface="Comic Sans MS"/>
              </a:rPr>
              <a:t>C. ALLYAMINES</a:t>
            </a:r>
            <a:r>
              <a:rPr sz="2400">
                <a:latin typeface="Comic Sans MS"/>
              </a:rPr>
              <a:t> </a:t>
            </a:r>
            <a:endParaRPr sz="2400">
              <a:latin typeface="Comic Sans MS"/>
            </a:endParaRPr>
          </a:p>
          <a:p>
            <a:pPr>
              <a:lnSpc>
                <a:spcPct val="80000"/>
              </a:lnSpc>
              <a:buNone/>
            </a:pPr>
            <a:r>
              <a:rPr b="1" sz="3200"/>
              <a:t>Mxn</a:t>
            </a:r>
            <a:r>
              <a:rPr b="1" sz="3200"/>
              <a:t>; </a:t>
            </a:r>
            <a:r>
              <a:rPr b="1" sz="3200"/>
              <a:t>inhIbits</a:t>
            </a:r>
            <a:r>
              <a:rPr b="1" sz="3200"/>
              <a:t> cell wall synthesis</a:t>
            </a:r>
            <a:endParaRPr sz="3200"/>
          </a:p>
          <a:p>
            <a:pPr>
              <a:lnSpc>
                <a:spcPct val="80000"/>
              </a:lnSpc>
              <a:buNone/>
            </a:pPr>
            <a:r>
              <a:rPr b="1" sz="3200"/>
              <a:t>Keratinophilic</a:t>
            </a:r>
            <a:endParaRPr b="1" sz="3200"/>
          </a:p>
          <a:p>
            <a:pPr>
              <a:lnSpc>
                <a:spcPct val="80000"/>
              </a:lnSpc>
              <a:buNone/>
            </a:pPr>
            <a:endParaRPr b="1" sz="3200"/>
          </a:p>
          <a:p>
            <a:pPr>
              <a:lnSpc>
                <a:spcPct val="80000"/>
              </a:lnSpc>
              <a:buNone/>
            </a:pPr>
            <a:r>
              <a:rPr b="1" sz="3200"/>
              <a:t>Spectrum</a:t>
            </a:r>
            <a:r>
              <a:rPr sz="3200"/>
              <a:t>: </a:t>
            </a:r>
            <a:r>
              <a:rPr>
                <a:solidFill>
                  <a:srgbClr val="FF0000"/>
                </a:solidFill>
              </a:rPr>
              <a:t>candida &amp; dermatophytes </a:t>
            </a:r>
            <a:r>
              <a:t>{Cutaneous fungal infections especially of the nails}</a:t>
            </a:r>
            <a:endParaRPr b="1" sz="3200"/>
          </a:p>
          <a:p>
            <a:pPr>
              <a:lnSpc>
                <a:spcPct val="80000"/>
              </a:lnSpc>
              <a:buNone/>
            </a:pPr>
            <a:r>
              <a:rPr b="1" sz="3200"/>
              <a:t>E.g.</a:t>
            </a:r>
            <a:r>
              <a:rPr sz="3200"/>
              <a:t> </a:t>
            </a:r>
            <a:r>
              <a:rPr sz="3200" u="sng">
                <a:solidFill>
                  <a:srgbClr val="336600"/>
                </a:solidFill>
              </a:rPr>
              <a:t>Terbinafine</a:t>
            </a:r>
            <a:r>
              <a:rPr sz="3200">
                <a:solidFill>
                  <a:srgbClr val="336600"/>
                </a:solidFill>
              </a:rPr>
              <a:t>, </a:t>
            </a:r>
            <a:r>
              <a:rPr sz="3200">
                <a:solidFill>
                  <a:srgbClr val="336600"/>
                </a:solidFill>
              </a:rPr>
              <a:t>Naftifine</a:t>
            </a:r>
            <a:r>
              <a:rPr sz="3200">
                <a:solidFill>
                  <a:srgbClr val="336600"/>
                </a:solidFill>
              </a:rPr>
              <a:t>, Amorolfine, Butenafine</a:t>
            </a:r>
            <a:r>
              <a:rPr sz="3200"/>
              <a:t> </a:t>
            </a:r>
            <a:endParaRPr sz="3200"/>
          </a:p>
        </p:txBody>
      </p:sp>
    </p:spTree>
  </p:cSld>
  <p:clrMapOvr>
    <a:masterClrMapping/>
  </p:clrMapOvr>
</p:sld>
</file>

<file path=ppt/slides/slide485.xml><?xml version="1.0" encoding="utf-8"?>
<p:sld xmlns:a="http://schemas.openxmlformats.org/drawingml/2006/main" xmlns:r="http://schemas.openxmlformats.org/officeDocument/2006/relationships" xmlns:p="http://schemas.openxmlformats.org/presentationml/2006/main">
  <p:cSld>
    <p:spTree>
      <p:nvGrpSpPr>
        <p:cNvPr id="1170" name=""/>
        <p:cNvGrpSpPr/>
        <p:nvPr/>
      </p:nvGrpSpPr>
      <p:grpSpPr>
        <a:xfrm>
          <a:off x="0" y="0"/>
          <a:ext cx="0" cy="0"/>
          <a:chOff x="0" y="0"/>
          <a:chExt cx="0" cy="0"/>
        </a:xfrm>
      </p:grpSpPr>
      <p:sp>
        <p:nvSpPr>
          <p:cNvPr id="1049563" name="Title 1"/>
          <p:cNvSpPr>
            <a:spLocks noGrp="1"/>
          </p:cNvSpPr>
          <p:nvPr>
            <p:ph type="title"/>
          </p:nvPr>
        </p:nvSpPr>
        <p:spPr/>
        <p:txBody>
          <a:bodyPr/>
          <a:p>
            <a:r>
              <a:t>TERBINAFINE </a:t>
            </a:r>
          </a:p>
        </p:txBody>
      </p:sp>
      <p:sp>
        <p:nvSpPr>
          <p:cNvPr id="1049564" name="Content Placeholder 2"/>
          <p:cNvSpPr>
            <a:spLocks noGrp="1"/>
          </p:cNvSpPr>
          <p:nvPr>
            <p:ph idx="1"/>
          </p:nvPr>
        </p:nvSpPr>
        <p:spPr>
          <a:xfrm>
            <a:off x="838204" y="1552579"/>
            <a:ext cx="10515600" cy="4624392"/>
          </a:xfrm>
        </p:spPr>
        <p:txBody>
          <a:bodyPr>
            <a:normAutofit fontScale="75000" lnSpcReduction="20000"/>
          </a:bodyPr>
          <a:p>
            <a:r>
              <a:t>Terbinafine is a highly </a:t>
            </a:r>
            <a:r>
              <a:rPr b="1"/>
              <a:t>lipophilic</a:t>
            </a:r>
            <a:r>
              <a:t>, </a:t>
            </a:r>
            <a:r>
              <a:rPr b="1"/>
              <a:t>keratinophilic</a:t>
            </a:r>
            <a:r>
              <a:rPr b="1"/>
              <a:t> fungicidal compound active against a wide range of skin pathogens</a:t>
            </a:r>
            <a:r>
              <a:t>. </a:t>
            </a:r>
          </a:p>
          <a:p>
            <a:r>
              <a:t>It is particularly </a:t>
            </a:r>
            <a:r>
              <a:rPr b="1"/>
              <a:t>useful against nail infections</a:t>
            </a:r>
            <a:r>
              <a:t>. </a:t>
            </a:r>
          </a:p>
          <a:p>
            <a:r>
              <a:t>MOA </a:t>
            </a:r>
          </a:p>
          <a:p>
            <a:pPr lvl="1"/>
            <a:r>
              <a:t>It acts by selectively </a:t>
            </a:r>
            <a:r>
              <a:rPr>
                <a:solidFill>
                  <a:srgbClr val="FF0000"/>
                </a:solidFill>
              </a:rPr>
              <a:t>inhibiting the enzyme squalene epoxidase</a:t>
            </a:r>
            <a:r>
              <a:t>, which is involved in the synthesis of ergosterol from squalene in the fungal cell wall. (</a:t>
            </a:r>
            <a:r>
              <a:rPr b="1"/>
              <a:t>inhIbits</a:t>
            </a:r>
            <a:r>
              <a:rPr b="1"/>
              <a:t> cell wall synthesis</a:t>
            </a:r>
            <a:r>
              <a:t>)</a:t>
            </a:r>
          </a:p>
          <a:p>
            <a:r>
              <a:t>Pharmacokinetics </a:t>
            </a:r>
          </a:p>
          <a:p>
            <a:pPr lvl="1"/>
            <a:r>
              <a:t>When used </a:t>
            </a:r>
            <a:r>
              <a:rPr>
                <a:solidFill>
                  <a:srgbClr val="FF0000"/>
                </a:solidFill>
              </a:rPr>
              <a:t>to treat ringworm </a:t>
            </a:r>
            <a:r>
              <a:t>or fungal infections of the nails,</a:t>
            </a:r>
            <a:r>
              <a:rPr b="1"/>
              <a:t> it is given orally</a:t>
            </a:r>
            <a:r>
              <a:t>. </a:t>
            </a:r>
          </a:p>
          <a:p>
            <a:pPr lvl="1"/>
            <a:r>
              <a:t>The drug is </a:t>
            </a:r>
            <a:r>
              <a:rPr b="1"/>
              <a:t>rapidly absorbed and is taken up by skin, nails and adipose tissue</a:t>
            </a:r>
            <a:r>
              <a:t>. </a:t>
            </a:r>
          </a:p>
          <a:p>
            <a:pPr lvl="1"/>
            <a:r>
              <a:t>Given topically, it penetrates skin and mucous membranes. </a:t>
            </a:r>
          </a:p>
          <a:p>
            <a:pPr lvl="1"/>
            <a:r>
              <a:t>It is metabolized in the liver by the cytochrome P450 system, </a:t>
            </a:r>
          </a:p>
          <a:p>
            <a:pPr lvl="1"/>
            <a:r>
              <a:t>Excreted in the urine. </a:t>
            </a:r>
          </a:p>
          <a:p>
            <a:r>
              <a:t>Unwanted effects  (mild and self limiting)</a:t>
            </a:r>
          </a:p>
          <a:p>
            <a:pPr lvl="1"/>
            <a:r>
              <a:t>They include gastrointestinal disturbances, rashes, pruritus, headache and dizziness. </a:t>
            </a:r>
          </a:p>
          <a:p>
            <a:pPr lvl="1"/>
            <a:r>
              <a:t>Joint and muscle pains have been reported and, more rarely, hepatitis. </a:t>
            </a:r>
          </a:p>
        </p:txBody>
      </p:sp>
    </p:spTree>
  </p:cSld>
  <p:clrMapOvr>
    <a:masterClrMapping/>
  </p:clrMapOvr>
</p:sld>
</file>

<file path=ppt/slides/slide486.xml><?xml version="1.0" encoding="utf-8"?>
<p:sld xmlns:a="http://schemas.openxmlformats.org/drawingml/2006/main" xmlns:r="http://schemas.openxmlformats.org/officeDocument/2006/relationships" xmlns:p="http://schemas.openxmlformats.org/presentationml/2006/main">
  <p:cSld>
    <p:spTree>
      <p:nvGrpSpPr>
        <p:cNvPr id="1171" name=""/>
        <p:cNvGrpSpPr/>
        <p:nvPr/>
      </p:nvGrpSpPr>
      <p:grpSpPr>
        <a:xfrm>
          <a:off x="0" y="0"/>
          <a:ext cx="0" cy="0"/>
          <a:chOff x="0" y="0"/>
          <a:chExt cx="0" cy="0"/>
        </a:xfrm>
      </p:grpSpPr>
      <p:sp>
        <p:nvSpPr>
          <p:cNvPr id="1049565" name="Title 1"/>
          <p:cNvSpPr>
            <a:spLocks noGrp="1"/>
          </p:cNvSpPr>
          <p:nvPr>
            <p:ph type="title"/>
          </p:nvPr>
        </p:nvSpPr>
        <p:spPr/>
        <p:txBody>
          <a:bodyPr>
            <a:normAutofit/>
          </a:bodyPr>
          <a:p>
            <a:pPr>
              <a:lnSpc>
                <a:spcPct val="80000"/>
              </a:lnSpc>
              <a:buNone/>
            </a:pPr>
            <a:r>
              <a:t>D. Flucytosine </a:t>
            </a:r>
            <a:r>
              <a:rPr b="1" sz="3100">
                <a:solidFill>
                  <a:srgbClr val="336600"/>
                </a:solidFill>
                <a:latin typeface="Comic Sans MS"/>
              </a:rPr>
              <a:t>(</a:t>
            </a:r>
            <a:r>
              <a:rPr b="1" sz="2700">
                <a:solidFill>
                  <a:srgbClr val="336600"/>
                </a:solidFill>
                <a:latin typeface="Comic Sans MS"/>
              </a:rPr>
              <a:t>5-fluorocytosine; pyrimidine antimetabolite)</a:t>
            </a:r>
          </a:p>
        </p:txBody>
      </p:sp>
      <p:sp>
        <p:nvSpPr>
          <p:cNvPr id="1049566" name="Content Placeholder 2"/>
          <p:cNvSpPr>
            <a:spLocks noGrp="1"/>
          </p:cNvSpPr>
          <p:nvPr>
            <p:ph idx="1"/>
          </p:nvPr>
        </p:nvSpPr>
        <p:spPr>
          <a:xfrm>
            <a:off x="838204" y="1825618"/>
            <a:ext cx="10515600" cy="4775206"/>
          </a:xfrm>
        </p:spPr>
        <p:txBody>
          <a:bodyPr>
            <a:normAutofit fontScale="100000" lnSpcReduction="10000"/>
          </a:bodyPr>
          <a:p>
            <a:r>
              <a:t>Flucytosine is a </a:t>
            </a:r>
            <a:r>
              <a:rPr b="1"/>
              <a:t>synthetic orally </a:t>
            </a:r>
            <a:r>
              <a:t>active antifungal agent that is </a:t>
            </a:r>
            <a:r>
              <a:rPr>
                <a:solidFill>
                  <a:srgbClr val="FF0000"/>
                </a:solidFill>
              </a:rPr>
              <a:t>effective against a limited range (mainly yeasts) of systemic fungal infections.</a:t>
            </a:r>
            <a:r>
              <a:t> </a:t>
            </a:r>
          </a:p>
          <a:p>
            <a:r>
              <a:t>If </a:t>
            </a:r>
            <a:r>
              <a:rPr b="1"/>
              <a:t>given alone, drug resistance commonly arises during treatment</a:t>
            </a:r>
            <a:r>
              <a:t>, so it is </a:t>
            </a:r>
            <a:r>
              <a:rPr>
                <a:solidFill>
                  <a:srgbClr val="FF0000"/>
                </a:solidFill>
              </a:rPr>
              <a:t>usually combined with amphotericin for severe systemic infections </a:t>
            </a:r>
            <a:r>
              <a:t>such as candidiasis and cryptococcal meningitis. </a:t>
            </a:r>
          </a:p>
          <a:p>
            <a:r>
              <a:rPr b="1"/>
              <a:t>Mechanism of action </a:t>
            </a:r>
            <a:endParaRPr b="1"/>
          </a:p>
          <a:p>
            <a:pPr lvl="1"/>
            <a:r>
              <a:t>Flucytosine </a:t>
            </a:r>
            <a:r>
              <a:rPr b="1"/>
              <a:t>is converted to the antimetabolite 5-fluorouracil </a:t>
            </a:r>
            <a:r>
              <a:rPr b="1" u="sng">
                <a:solidFill>
                  <a:srgbClr val="FF0000"/>
                </a:solidFill>
              </a:rPr>
              <a:t>in fungal </a:t>
            </a:r>
            <a:r>
              <a:rPr b="1"/>
              <a:t>but not human cells</a:t>
            </a:r>
            <a:r>
              <a:t>. </a:t>
            </a:r>
            <a:r>
              <a:rPr b="1"/>
              <a:t>5- Fluorouracil inhibits thymidylate synthetase and THUS DNA SYNTHESIS</a:t>
            </a:r>
            <a:r>
              <a:t>. </a:t>
            </a:r>
          </a:p>
          <a:p>
            <a:pPr lvl="1"/>
            <a:r>
              <a:t>Resistant mutants may emerge rapidly, </a:t>
            </a:r>
            <a:r>
              <a:rPr>
                <a:solidFill>
                  <a:srgbClr val="FF0000"/>
                </a:solidFill>
              </a:rPr>
              <a:t>so this drug should not be used alone.</a:t>
            </a:r>
            <a:endParaRPr>
              <a:solidFill>
                <a:srgbClr val="FF0000"/>
              </a:solidFill>
            </a:endParaRPr>
          </a:p>
          <a:p>
            <a:pPr lvl="1"/>
            <a:endParaRPr>
              <a:solidFill>
                <a:srgbClr val="FF0000"/>
              </a:solidFill>
            </a:endParaRPr>
          </a:p>
          <a:p>
            <a:pPr indent="0" lvl="1" marL="457200">
              <a:buNone/>
            </a:pPr>
            <a:r>
              <a:rPr u="sng">
                <a:solidFill>
                  <a:srgbClr val="FF0000"/>
                </a:solidFill>
              </a:rPr>
              <a:t>NB-</a:t>
            </a:r>
            <a:r>
              <a:rPr sz="2400" u="sng"/>
              <a:t>is an analogue of 5-flurouracil that </a:t>
            </a:r>
            <a:r>
              <a:rPr b="1" sz="2400" u="sng"/>
              <a:t>blocks DNA synthesis+ active uptake via a permease </a:t>
            </a:r>
            <a:endParaRPr b="1" sz="2400" u="sng"/>
          </a:p>
          <a:p>
            <a:pPr lvl="1"/>
            <a:endParaRPr>
              <a:solidFill>
                <a:srgbClr val="FF0000"/>
              </a:solidFill>
            </a:endParaRPr>
          </a:p>
        </p:txBody>
      </p:sp>
    </p:spTree>
  </p:cSld>
  <p:clrMapOvr>
    <a:masterClrMapping/>
  </p:clrMapOvr>
</p:sld>
</file>

<file path=ppt/slides/slide487.xml><?xml version="1.0" encoding="utf-8"?>
<p:sld xmlns:a="http://schemas.openxmlformats.org/drawingml/2006/main" xmlns:r="http://schemas.openxmlformats.org/officeDocument/2006/relationships" xmlns:p="http://schemas.openxmlformats.org/presentationml/2006/main">
  <p:cSld>
    <p:spTree>
      <p:nvGrpSpPr>
        <p:cNvPr id="1172" name=""/>
        <p:cNvGrpSpPr/>
        <p:nvPr/>
      </p:nvGrpSpPr>
      <p:grpSpPr>
        <a:xfrm>
          <a:off x="0" y="0"/>
          <a:ext cx="0" cy="0"/>
          <a:chOff x="0" y="0"/>
          <a:chExt cx="0" cy="0"/>
        </a:xfrm>
      </p:grpSpPr>
      <p:sp>
        <p:nvSpPr>
          <p:cNvPr id="1049567" name="Text Box 2"/>
          <p:cNvSpPr txBox="1">
            <a:spLocks noChangeArrowheads="1"/>
          </p:cNvSpPr>
          <p:nvPr/>
        </p:nvSpPr>
        <p:spPr bwMode="auto">
          <a:xfrm>
            <a:off x="2057400" y="6019795"/>
            <a:ext cx="3129281" cy="701040"/>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b="1">
                <a:latin typeface="Comic Sans MS"/>
              </a:rPr>
              <a:t>FUMP -  5-fluorouracil-ribose mono(P),</a:t>
            </a:r>
            <a:endParaRPr b="1">
              <a:latin typeface="Comic Sans MS"/>
            </a:endParaRPr>
          </a:p>
          <a:p>
            <a:r>
              <a:rPr b="1">
                <a:latin typeface="Comic Sans MS"/>
              </a:rPr>
              <a:t>5-FdUMP -5-fluorodeoxyuridinemono(P)</a:t>
            </a:r>
            <a:endParaRPr b="1">
              <a:latin typeface="Comic Sans MS"/>
            </a:endParaRPr>
          </a:p>
        </p:txBody>
      </p:sp>
      <p:sp>
        <p:nvSpPr>
          <p:cNvPr id="1049568" name="Text Box 3"/>
          <p:cNvSpPr txBox="1">
            <a:spLocks noChangeArrowheads="1"/>
          </p:cNvSpPr>
          <p:nvPr/>
        </p:nvSpPr>
        <p:spPr bwMode="auto">
          <a:xfrm>
            <a:off x="6476995" y="228600"/>
            <a:ext cx="2062481" cy="929639"/>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b="1" sz="2400">
                <a:solidFill>
                  <a:srgbClr val="FF0000"/>
                </a:solidFill>
                <a:latin typeface="Comic Sans MS"/>
              </a:rPr>
              <a:t>METABOLISM OF 5-FC</a:t>
            </a:r>
            <a:endParaRPr b="1" sz="2400">
              <a:solidFill>
                <a:srgbClr val="FF0000"/>
              </a:solidFill>
              <a:latin typeface="Comic Sans MS"/>
            </a:endParaRPr>
          </a:p>
          <a:p>
            <a:r>
              <a:rPr b="1" sz="2400">
                <a:solidFill>
                  <a:srgbClr val="FF0000"/>
                </a:solidFill>
                <a:latin typeface="Comic Sans MS"/>
              </a:rPr>
              <a:t>IN A FUNGAL CELL</a:t>
            </a:r>
            <a:endParaRPr b="1" sz="2400">
              <a:solidFill>
                <a:srgbClr val="FF0000"/>
              </a:solidFill>
              <a:latin typeface="Comic Sans MS"/>
            </a:endParaRPr>
          </a:p>
        </p:txBody>
      </p:sp>
      <p:grpSp>
        <p:nvGrpSpPr>
          <p:cNvPr id="1173" name="Group 4"/>
          <p:cNvGrpSpPr/>
          <p:nvPr/>
        </p:nvGrpSpPr>
        <p:grpSpPr bwMode="auto">
          <a:xfrm>
            <a:off x="1981204" y="304795"/>
            <a:ext cx="8156571" cy="5584843"/>
            <a:chOff x="293" y="195"/>
            <a:chExt cx="5134" cy="3516"/>
          </a:xfrm>
        </p:grpSpPr>
        <p:sp>
          <p:nvSpPr>
            <p:cNvPr id="1049569" name="Text Box 5"/>
            <p:cNvSpPr txBox="1">
              <a:spLocks noChangeArrowheads="1"/>
            </p:cNvSpPr>
            <p:nvPr/>
          </p:nvSpPr>
          <p:spPr bwMode="auto">
            <a:xfrm>
              <a:off x="2441" y="293"/>
              <a:ext cx="363" cy="322"/>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sz="2400">
                  <a:latin typeface="Comic Sans MS"/>
                </a:rPr>
                <a:t>5-FC</a:t>
              </a:r>
              <a:endParaRPr sz="2400">
                <a:latin typeface="Comic Sans MS"/>
              </a:endParaRPr>
            </a:p>
          </p:txBody>
        </p:sp>
        <p:sp>
          <p:nvSpPr>
            <p:cNvPr id="1049570" name="Text Box 6"/>
            <p:cNvSpPr txBox="1">
              <a:spLocks noChangeArrowheads="1"/>
            </p:cNvSpPr>
            <p:nvPr/>
          </p:nvSpPr>
          <p:spPr bwMode="auto">
            <a:xfrm>
              <a:off x="1297" y="195"/>
              <a:ext cx="755" cy="586"/>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sz="2400">
                  <a:latin typeface="Comic Sans MS"/>
                </a:rPr>
                <a:t>Cytosine</a:t>
              </a:r>
              <a:endParaRPr sz="2400">
                <a:latin typeface="Comic Sans MS"/>
              </a:endParaRPr>
            </a:p>
            <a:p>
              <a:r>
                <a:rPr sz="2400">
                  <a:latin typeface="Comic Sans MS"/>
                </a:rPr>
                <a:t>permease</a:t>
              </a:r>
              <a:endParaRPr sz="2400">
                <a:latin typeface="Comic Sans MS"/>
              </a:endParaRPr>
            </a:p>
          </p:txBody>
        </p:sp>
        <p:sp>
          <p:nvSpPr>
            <p:cNvPr id="1049571" name="Rectangle 7"/>
            <p:cNvSpPr>
              <a:spLocks noChangeArrowheads="1"/>
            </p:cNvSpPr>
            <p:nvPr/>
          </p:nvSpPr>
          <p:spPr bwMode="auto">
            <a:xfrm>
              <a:off x="293" y="711"/>
              <a:ext cx="5134" cy="2971"/>
            </a:xfrm>
            <a:prstGeom prst="rect"/>
            <a:solidFill>
              <a:srgbClr val="FFFF99"/>
            </a:solidFill>
            <a:ln w="9525">
              <a:solidFill>
                <a:schemeClr val="tx1"/>
              </a:solidFill>
              <a:miter lim="800000"/>
              <a:headEnd/>
              <a:tailEnd/>
            </a:ln>
          </p:spPr>
          <p:txBody>
            <a:bodyPr anchor="ctr" wrap="none"/>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pPr algn="ctr"/>
              <a:endParaRPr sz="2400">
                <a:latin typeface="Comic Sans MS"/>
              </a:endParaRPr>
            </a:p>
          </p:txBody>
        </p:sp>
        <p:sp>
          <p:nvSpPr>
            <p:cNvPr id="1049572" name="Text Box 8"/>
            <p:cNvSpPr txBox="1">
              <a:spLocks noChangeArrowheads="1"/>
            </p:cNvSpPr>
            <p:nvPr/>
          </p:nvSpPr>
          <p:spPr bwMode="auto">
            <a:xfrm>
              <a:off x="962" y="865"/>
              <a:ext cx="363" cy="322"/>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sz="2400">
                  <a:latin typeface="Comic Sans MS"/>
                </a:rPr>
                <a:t>5-FC</a:t>
              </a:r>
              <a:endParaRPr sz="2400">
                <a:latin typeface="Comic Sans MS"/>
              </a:endParaRPr>
            </a:p>
          </p:txBody>
        </p:sp>
        <p:sp>
          <p:nvSpPr>
            <p:cNvPr id="1049573" name="Text Box 9"/>
            <p:cNvSpPr txBox="1">
              <a:spLocks noChangeArrowheads="1"/>
            </p:cNvSpPr>
            <p:nvPr/>
          </p:nvSpPr>
          <p:spPr bwMode="auto">
            <a:xfrm>
              <a:off x="962" y="1353"/>
              <a:ext cx="355" cy="322"/>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sz="2400">
                  <a:latin typeface="Comic Sans MS"/>
                </a:rPr>
                <a:t>5-FU</a:t>
              </a:r>
              <a:endParaRPr sz="2400">
                <a:latin typeface="Comic Sans MS"/>
              </a:endParaRPr>
            </a:p>
          </p:txBody>
        </p:sp>
        <p:sp>
          <p:nvSpPr>
            <p:cNvPr id="1049574" name="Text Box 10"/>
            <p:cNvSpPr txBox="1">
              <a:spLocks noChangeArrowheads="1"/>
            </p:cNvSpPr>
            <p:nvPr/>
          </p:nvSpPr>
          <p:spPr bwMode="auto">
            <a:xfrm>
              <a:off x="865" y="1841"/>
              <a:ext cx="531" cy="322"/>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sz="2400">
                  <a:latin typeface="Comic Sans MS"/>
                </a:rPr>
                <a:t>5-FUMP</a:t>
              </a:r>
              <a:endParaRPr sz="2400">
                <a:latin typeface="Comic Sans MS"/>
              </a:endParaRPr>
            </a:p>
          </p:txBody>
        </p:sp>
        <p:sp>
          <p:nvSpPr>
            <p:cNvPr id="1049575" name="Text Box 11"/>
            <p:cNvSpPr txBox="1">
              <a:spLocks noChangeArrowheads="1"/>
            </p:cNvSpPr>
            <p:nvPr/>
          </p:nvSpPr>
          <p:spPr bwMode="auto">
            <a:xfrm>
              <a:off x="2204" y="1841"/>
              <a:ext cx="539" cy="322"/>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sz="2400">
                  <a:latin typeface="Comic Sans MS"/>
                </a:rPr>
                <a:t>5-FUDP</a:t>
              </a:r>
              <a:endParaRPr sz="2400">
                <a:latin typeface="Comic Sans MS"/>
              </a:endParaRPr>
            </a:p>
          </p:txBody>
        </p:sp>
        <p:sp>
          <p:nvSpPr>
            <p:cNvPr id="1049576" name="Text Box 12"/>
            <p:cNvSpPr txBox="1">
              <a:spLocks noChangeArrowheads="1"/>
            </p:cNvSpPr>
            <p:nvPr/>
          </p:nvSpPr>
          <p:spPr bwMode="auto">
            <a:xfrm>
              <a:off x="3599" y="1841"/>
              <a:ext cx="499" cy="322"/>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sz="2400">
                  <a:latin typeface="Comic Sans MS"/>
                </a:rPr>
                <a:t>5-FUTP</a:t>
              </a:r>
              <a:endParaRPr sz="2400">
                <a:latin typeface="Comic Sans MS"/>
              </a:endParaRPr>
            </a:p>
          </p:txBody>
        </p:sp>
        <p:sp>
          <p:nvSpPr>
            <p:cNvPr id="1049577" name="Text Box 13"/>
            <p:cNvSpPr txBox="1">
              <a:spLocks noChangeArrowheads="1"/>
            </p:cNvSpPr>
            <p:nvPr/>
          </p:nvSpPr>
          <p:spPr bwMode="auto">
            <a:xfrm>
              <a:off x="906" y="2664"/>
              <a:ext cx="611" cy="322"/>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sz="2400">
                  <a:latin typeface="Comic Sans MS"/>
                </a:rPr>
                <a:t>5-FdUMP</a:t>
              </a:r>
              <a:endParaRPr sz="2400">
                <a:latin typeface="Comic Sans MS"/>
              </a:endParaRPr>
            </a:p>
          </p:txBody>
        </p:sp>
        <p:sp>
          <p:nvSpPr>
            <p:cNvPr id="1049578" name="Text Box 14"/>
            <p:cNvSpPr txBox="1">
              <a:spLocks noChangeArrowheads="1"/>
            </p:cNvSpPr>
            <p:nvPr/>
          </p:nvSpPr>
          <p:spPr bwMode="auto">
            <a:xfrm>
              <a:off x="293" y="3320"/>
              <a:ext cx="443" cy="322"/>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sz="2400">
                  <a:latin typeface="Comic Sans MS"/>
                </a:rPr>
                <a:t>dUMP</a:t>
              </a:r>
              <a:endParaRPr sz="2400">
                <a:latin typeface="Comic Sans MS"/>
              </a:endParaRPr>
            </a:p>
          </p:txBody>
        </p:sp>
        <p:sp>
          <p:nvSpPr>
            <p:cNvPr id="1049579" name="Text Box 15"/>
            <p:cNvSpPr txBox="1">
              <a:spLocks noChangeArrowheads="1"/>
            </p:cNvSpPr>
            <p:nvPr/>
          </p:nvSpPr>
          <p:spPr bwMode="auto">
            <a:xfrm>
              <a:off x="2790" y="3278"/>
              <a:ext cx="435" cy="322"/>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sz="2400">
                  <a:latin typeface="Comic Sans MS"/>
                </a:rPr>
                <a:t>dTMP</a:t>
              </a:r>
              <a:endParaRPr sz="2400">
                <a:latin typeface="Comic Sans MS"/>
              </a:endParaRPr>
            </a:p>
          </p:txBody>
        </p:sp>
        <p:sp>
          <p:nvSpPr>
            <p:cNvPr id="1049580" name="Text Box 16"/>
            <p:cNvSpPr txBox="1">
              <a:spLocks noChangeArrowheads="1"/>
            </p:cNvSpPr>
            <p:nvPr/>
          </p:nvSpPr>
          <p:spPr bwMode="auto">
            <a:xfrm>
              <a:off x="4897" y="1841"/>
              <a:ext cx="363" cy="322"/>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sz="2400">
                  <a:latin typeface="Comic Sans MS"/>
                </a:rPr>
                <a:t>RNA</a:t>
              </a:r>
              <a:endParaRPr sz="2400">
                <a:latin typeface="Comic Sans MS"/>
              </a:endParaRPr>
            </a:p>
          </p:txBody>
        </p:sp>
        <p:sp>
          <p:nvSpPr>
            <p:cNvPr id="1049581" name="Line 17"/>
            <p:cNvSpPr>
              <a:spLocks noChangeShapeType="1"/>
            </p:cNvSpPr>
            <p:nvPr/>
          </p:nvSpPr>
          <p:spPr bwMode="auto">
            <a:xfrm>
              <a:off x="1297" y="2051"/>
              <a:ext cx="0" cy="572"/>
            </a:xfrm>
            <a:prstGeom prst="line"/>
            <a:noFill/>
            <a:ln w="28575">
              <a:solidFill>
                <a:schemeClr val="tx1"/>
              </a:solidFill>
              <a:round/>
              <a:headEnd/>
              <a:tailEnd type="triangle" w="med" len="med"/>
            </a:ln>
          </p:spPr>
          <p:txBody>
            <a:bodyPr anchor="ctr" wrap="none"/>
            <a:p/>
          </p:txBody>
        </p:sp>
        <p:sp>
          <p:nvSpPr>
            <p:cNvPr id="1049582" name="Line 18"/>
            <p:cNvSpPr>
              <a:spLocks noChangeShapeType="1"/>
            </p:cNvSpPr>
            <p:nvPr/>
          </p:nvSpPr>
          <p:spPr bwMode="auto">
            <a:xfrm>
              <a:off x="1437" y="2902"/>
              <a:ext cx="0" cy="251"/>
            </a:xfrm>
            <a:prstGeom prst="line"/>
            <a:noFill/>
            <a:ln w="28575">
              <a:solidFill>
                <a:schemeClr val="tx1"/>
              </a:solidFill>
              <a:round/>
              <a:headEnd/>
              <a:tailEnd type="triangle" w="med" len="med"/>
            </a:ln>
          </p:spPr>
          <p:txBody>
            <a:bodyPr anchor="ctr" wrap="none"/>
            <a:p/>
          </p:txBody>
        </p:sp>
        <p:sp>
          <p:nvSpPr>
            <p:cNvPr id="1049583" name="Line 19"/>
            <p:cNvSpPr>
              <a:spLocks noChangeShapeType="1"/>
            </p:cNvSpPr>
            <p:nvPr/>
          </p:nvSpPr>
          <p:spPr bwMode="auto">
            <a:xfrm>
              <a:off x="962" y="3432"/>
              <a:ext cx="1827" cy="0"/>
            </a:xfrm>
            <a:prstGeom prst="line"/>
            <a:noFill/>
            <a:ln w="28575">
              <a:solidFill>
                <a:schemeClr val="tx1"/>
              </a:solidFill>
              <a:round/>
              <a:headEnd/>
              <a:tailEnd type="triangle" w="med" len="med"/>
            </a:ln>
          </p:spPr>
          <p:txBody>
            <a:bodyPr anchor="ctr" wrap="none"/>
            <a:p/>
          </p:txBody>
        </p:sp>
        <p:sp>
          <p:nvSpPr>
            <p:cNvPr id="1049584" name="Line 20"/>
            <p:cNvSpPr>
              <a:spLocks noChangeShapeType="1"/>
            </p:cNvSpPr>
            <p:nvPr/>
          </p:nvSpPr>
          <p:spPr bwMode="auto">
            <a:xfrm>
              <a:off x="1771" y="1967"/>
              <a:ext cx="390" cy="0"/>
            </a:xfrm>
            <a:prstGeom prst="line"/>
            <a:noFill/>
            <a:ln w="28575">
              <a:solidFill>
                <a:schemeClr val="tx1"/>
              </a:solidFill>
              <a:round/>
              <a:headEnd/>
              <a:tailEnd type="triangle" w="med" len="med"/>
            </a:ln>
          </p:spPr>
          <p:txBody>
            <a:bodyPr anchor="ctr" wrap="none"/>
            <a:p/>
          </p:txBody>
        </p:sp>
        <p:sp>
          <p:nvSpPr>
            <p:cNvPr id="1049585" name="Line 21"/>
            <p:cNvSpPr>
              <a:spLocks noChangeShapeType="1"/>
            </p:cNvSpPr>
            <p:nvPr/>
          </p:nvSpPr>
          <p:spPr bwMode="auto">
            <a:xfrm>
              <a:off x="3027" y="1967"/>
              <a:ext cx="530" cy="0"/>
            </a:xfrm>
            <a:prstGeom prst="line"/>
            <a:noFill/>
            <a:ln w="28575">
              <a:solidFill>
                <a:schemeClr val="tx1"/>
              </a:solidFill>
              <a:round/>
              <a:headEnd/>
              <a:tailEnd type="triangle" w="med" len="med"/>
            </a:ln>
          </p:spPr>
          <p:txBody>
            <a:bodyPr anchor="ctr" wrap="none"/>
            <a:p/>
          </p:txBody>
        </p:sp>
        <p:sp>
          <p:nvSpPr>
            <p:cNvPr id="1049586" name="Text Box 22"/>
            <p:cNvSpPr txBox="1">
              <a:spLocks noChangeArrowheads="1"/>
            </p:cNvSpPr>
            <p:nvPr/>
          </p:nvSpPr>
          <p:spPr bwMode="auto">
            <a:xfrm>
              <a:off x="4032" y="3278"/>
              <a:ext cx="379" cy="322"/>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sz="2400">
                  <a:latin typeface="Comic Sans MS"/>
                </a:rPr>
                <a:t>DNA</a:t>
              </a:r>
              <a:endParaRPr sz="2400">
                <a:latin typeface="Comic Sans MS"/>
              </a:endParaRPr>
            </a:p>
          </p:txBody>
        </p:sp>
        <p:sp>
          <p:nvSpPr>
            <p:cNvPr id="1049587" name="Line 23"/>
            <p:cNvSpPr>
              <a:spLocks noChangeShapeType="1"/>
            </p:cNvSpPr>
            <p:nvPr/>
          </p:nvSpPr>
          <p:spPr bwMode="auto">
            <a:xfrm>
              <a:off x="3460" y="3432"/>
              <a:ext cx="572" cy="0"/>
            </a:xfrm>
            <a:prstGeom prst="line"/>
            <a:noFill/>
            <a:ln w="28575">
              <a:solidFill>
                <a:schemeClr val="tx1"/>
              </a:solidFill>
              <a:round/>
              <a:headEnd/>
              <a:tailEnd type="triangle" w="med" len="med"/>
            </a:ln>
          </p:spPr>
          <p:txBody>
            <a:bodyPr anchor="ctr" wrap="none"/>
            <a:p/>
          </p:txBody>
        </p:sp>
        <p:sp>
          <p:nvSpPr>
            <p:cNvPr id="1049588" name="Line 24"/>
            <p:cNvSpPr>
              <a:spLocks noChangeShapeType="1"/>
            </p:cNvSpPr>
            <p:nvPr/>
          </p:nvSpPr>
          <p:spPr bwMode="auto">
            <a:xfrm>
              <a:off x="4409" y="1967"/>
              <a:ext cx="432" cy="0"/>
            </a:xfrm>
            <a:prstGeom prst="line"/>
            <a:noFill/>
            <a:ln w="28575">
              <a:solidFill>
                <a:schemeClr val="tx1"/>
              </a:solidFill>
              <a:round/>
              <a:headEnd/>
              <a:tailEnd type="triangle" w="med" len="med"/>
            </a:ln>
          </p:spPr>
          <p:txBody>
            <a:bodyPr anchor="ctr" wrap="none"/>
            <a:p/>
          </p:txBody>
        </p:sp>
        <p:sp>
          <p:nvSpPr>
            <p:cNvPr id="1049589" name="Line 25"/>
            <p:cNvSpPr>
              <a:spLocks noChangeShapeType="1"/>
            </p:cNvSpPr>
            <p:nvPr/>
          </p:nvSpPr>
          <p:spPr bwMode="auto">
            <a:xfrm>
              <a:off x="1241" y="1074"/>
              <a:ext cx="0" cy="279"/>
            </a:xfrm>
            <a:prstGeom prst="line"/>
            <a:noFill/>
            <a:ln w="28575">
              <a:solidFill>
                <a:schemeClr val="tx1"/>
              </a:solidFill>
              <a:round/>
              <a:headEnd/>
              <a:tailEnd type="triangle" w="med" len="med"/>
            </a:ln>
          </p:spPr>
          <p:txBody>
            <a:bodyPr anchor="ctr" wrap="none"/>
            <a:p/>
          </p:txBody>
        </p:sp>
        <p:sp>
          <p:nvSpPr>
            <p:cNvPr id="1049590" name="Text Box 26"/>
            <p:cNvSpPr txBox="1">
              <a:spLocks noChangeArrowheads="1"/>
            </p:cNvSpPr>
            <p:nvPr/>
          </p:nvSpPr>
          <p:spPr bwMode="auto">
            <a:xfrm>
              <a:off x="1534" y="1074"/>
              <a:ext cx="1403" cy="322"/>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sz="2400">
                  <a:latin typeface="Comic Sans MS"/>
                </a:rPr>
                <a:t>Cytosine deaminase</a:t>
              </a:r>
              <a:endParaRPr sz="2400">
                <a:latin typeface="Comic Sans MS"/>
              </a:endParaRPr>
            </a:p>
          </p:txBody>
        </p:sp>
        <p:sp>
          <p:nvSpPr>
            <p:cNvPr id="1049591" name="Text Box 27"/>
            <p:cNvSpPr txBox="1">
              <a:spLocks noChangeArrowheads="1"/>
            </p:cNvSpPr>
            <p:nvPr/>
          </p:nvSpPr>
          <p:spPr bwMode="auto">
            <a:xfrm>
              <a:off x="1395" y="2302"/>
              <a:ext cx="1754" cy="322"/>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sz="2400">
                  <a:latin typeface="Comic Sans MS"/>
                </a:rPr>
                <a:t>Ribonucleotide reductase</a:t>
              </a:r>
              <a:endParaRPr sz="2400">
                <a:latin typeface="Comic Sans MS"/>
              </a:endParaRPr>
            </a:p>
          </p:txBody>
        </p:sp>
        <p:sp>
          <p:nvSpPr>
            <p:cNvPr id="1049592" name="Text Box 28"/>
            <p:cNvSpPr txBox="1">
              <a:spLocks noChangeArrowheads="1"/>
            </p:cNvSpPr>
            <p:nvPr/>
          </p:nvSpPr>
          <p:spPr bwMode="auto">
            <a:xfrm>
              <a:off x="1395" y="3125"/>
              <a:ext cx="1325" cy="586"/>
            </a:xfrm>
            <a:prstGeom prst="rect"/>
            <a:noFill/>
            <a:ln>
              <a:noFill/>
            </a:ln>
          </p:spPr>
          <p:txBody>
            <a:bodyPr>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sz="2400">
                  <a:latin typeface="Comic Sans MS"/>
                </a:rPr>
                <a:t>Thymydylate </a:t>
              </a:r>
              <a:endParaRPr sz="2400">
                <a:latin typeface="Comic Sans MS"/>
              </a:endParaRPr>
            </a:p>
            <a:p>
              <a:r>
                <a:rPr sz="2400">
                  <a:latin typeface="Comic Sans MS"/>
                </a:rPr>
                <a:t>synthetase</a:t>
              </a:r>
              <a:endParaRPr sz="2400">
                <a:latin typeface="Comic Sans MS"/>
              </a:endParaRPr>
            </a:p>
          </p:txBody>
        </p:sp>
        <p:sp>
          <p:nvSpPr>
            <p:cNvPr id="1049593" name="AutoShape 29"/>
            <p:cNvSpPr>
              <a:spLocks noChangeArrowheads="1"/>
            </p:cNvSpPr>
            <p:nvPr/>
          </p:nvSpPr>
          <p:spPr bwMode="auto">
            <a:xfrm rot="987691">
              <a:off x="1297" y="3069"/>
              <a:ext cx="97" cy="572"/>
            </a:xfrm>
            <a:prstGeom prst="parallelogram">
              <a:avLst>
                <a:gd name="adj" fmla="val 25000"/>
              </a:avLst>
            </a:prstGeom>
            <a:solidFill>
              <a:schemeClr val="accent1"/>
            </a:solidFill>
            <a:ln w="9525">
              <a:solidFill>
                <a:schemeClr val="tx1"/>
              </a:solidFill>
              <a:miter lim="800000"/>
              <a:headEnd/>
              <a:tailEnd/>
            </a:ln>
          </p:spPr>
          <p:txBody>
            <a:bodyPr anchor="ctr" wrap="none"/>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pPr algn="ctr"/>
              <a:endParaRPr>
                <a:solidFill>
                  <a:srgbClr val="006600"/>
                </a:solidFill>
                <a:latin typeface="Comic Sans MS"/>
              </a:endParaRPr>
            </a:p>
          </p:txBody>
        </p:sp>
        <p:sp>
          <p:nvSpPr>
            <p:cNvPr id="1049594" name="Line 30"/>
            <p:cNvSpPr>
              <a:spLocks noChangeShapeType="1"/>
            </p:cNvSpPr>
            <p:nvPr/>
          </p:nvSpPr>
          <p:spPr bwMode="auto">
            <a:xfrm>
              <a:off x="1241" y="1562"/>
              <a:ext cx="0" cy="279"/>
            </a:xfrm>
            <a:prstGeom prst="line"/>
            <a:noFill/>
            <a:ln w="28575">
              <a:solidFill>
                <a:schemeClr val="tx1"/>
              </a:solidFill>
              <a:round/>
              <a:headEnd/>
              <a:tailEnd type="triangle" w="med" len="med"/>
            </a:ln>
          </p:spPr>
          <p:txBody>
            <a:bodyPr anchor="ctr" wrap="none"/>
            <a:p/>
          </p:txBody>
        </p:sp>
        <p:sp>
          <p:nvSpPr>
            <p:cNvPr id="1049595" name="Arc 31"/>
            <p:cNvSpPr/>
            <p:nvPr/>
          </p:nvSpPr>
          <p:spPr bwMode="auto">
            <a:xfrm rot="-544930">
              <a:off x="1283" y="627"/>
              <a:ext cx="1548" cy="251"/>
            </a:xfrm>
            <a:custGeom>
              <a:avLst/>
              <a:gdLst>
                <a:gd name="T0" fmla="*/ 0 w 35716"/>
                <a:gd name="T1" fmla="*/ 184 h 21600"/>
                <a:gd name="T2" fmla="*/ 1546 w 35716"/>
                <a:gd name="T3" fmla="*/ 67 h 21600"/>
                <a:gd name="T4" fmla="*/ 905 w 35716"/>
                <a:gd name="T5" fmla="*/ 245 h 21600"/>
                <a:gd name="T6" fmla="*/ 0 60000 65536"/>
                <a:gd name="T7" fmla="*/ 0 60000 65536"/>
                <a:gd name="T8" fmla="*/ 0 60000 65536"/>
                <a:gd name="T9" fmla="*/ 0 w 35716"/>
                <a:gd name="T10" fmla="*/ 0 h 21600"/>
                <a:gd name="T11" fmla="*/ 35716 w 35716"/>
                <a:gd name="T12" fmla="*/ 21600 h 21600"/>
              </a:gdLst>
              <a:ahLst/>
              <a:cxnLst>
                <a:cxn ang="T6">
                  <a:pos x="T0" y="T1"/>
                </a:cxn>
                <a:cxn ang="T7">
                  <a:pos x="T2" y="T3"/>
                </a:cxn>
                <a:cxn ang="T8">
                  <a:pos x="T4" y="T5"/>
                </a:cxn>
              </a:cxnLst>
              <a:rect l="T9" t="T10" r="T11" b="T12"/>
              <a:pathLst>
                <a:path w="35716" h="21600" fill="none" extrusionOk="0">
                  <a:moveTo>
                    <a:pt x="-1" y="16220"/>
                  </a:moveTo>
                  <a:cubicBezTo>
                    <a:pt x="2454" y="6673"/>
                    <a:pt x="11061" y="-1"/>
                    <a:pt x="20919" y="0"/>
                  </a:cubicBezTo>
                  <a:cubicBezTo>
                    <a:pt x="26418" y="0"/>
                    <a:pt x="31710" y="2097"/>
                    <a:pt x="35716" y="5864"/>
                  </a:cubicBezTo>
                </a:path>
                <a:path w="35716" h="21600" stroke="0" extrusionOk="0">
                  <a:moveTo>
                    <a:pt x="-1" y="16220"/>
                  </a:moveTo>
                  <a:cubicBezTo>
                    <a:pt x="2454" y="6673"/>
                    <a:pt x="11061" y="-1"/>
                    <a:pt x="20919" y="0"/>
                  </a:cubicBezTo>
                  <a:cubicBezTo>
                    <a:pt x="26418" y="0"/>
                    <a:pt x="31710" y="2097"/>
                    <a:pt x="35716" y="5864"/>
                  </a:cubicBezTo>
                  <a:lnTo>
                    <a:pt x="20919" y="21600"/>
                  </a:lnTo>
                  <a:close/>
                </a:path>
              </a:pathLst>
            </a:custGeom>
            <a:noFill/>
            <a:ln w="9525">
              <a:solidFill>
                <a:schemeClr val="tx1"/>
              </a:solidFill>
              <a:round/>
              <a:headEnd type="triangle" w="med" len="med"/>
              <a:tailEnd/>
            </a:ln>
          </p:spPr>
          <p:txBody>
            <a:bodyPr anchor="ctr" wrap="none"/>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p:txBody>
        </p:sp>
        <p:sp>
          <p:nvSpPr>
            <p:cNvPr id="1049596" name="Text Box 32"/>
            <p:cNvSpPr txBox="1">
              <a:spLocks noChangeArrowheads="1"/>
            </p:cNvSpPr>
            <p:nvPr/>
          </p:nvSpPr>
          <p:spPr bwMode="auto">
            <a:xfrm>
              <a:off x="4311" y="851"/>
              <a:ext cx="739" cy="586"/>
            </a:xfrm>
            <a:prstGeom prst="rect"/>
            <a:noFill/>
            <a:ln>
              <a:noFill/>
            </a:ln>
          </p:spPr>
          <p:txBody>
            <a:bodyPr wrap="none">
              <a:spAutoFit/>
            </a:bodyPr>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a:r>
                <a:rPr sz="2400">
                  <a:latin typeface="Comic Sans MS"/>
                </a:rPr>
                <a:t>Fungal</a:t>
              </a:r>
              <a:endParaRPr sz="2400">
                <a:latin typeface="Comic Sans MS"/>
              </a:endParaRPr>
            </a:p>
            <a:p>
              <a:r>
                <a:rPr sz="2400">
                  <a:latin typeface="Comic Sans MS"/>
                </a:rPr>
                <a:t>cytoplasm</a:t>
              </a:r>
              <a:endParaRPr sz="2400">
                <a:latin typeface="Comic Sans MS"/>
              </a:endParaRPr>
            </a:p>
          </p:txBody>
        </p:sp>
        <p:sp>
          <p:nvSpPr>
            <p:cNvPr id="1049597" name="AutoShape 33"/>
            <p:cNvSpPr>
              <a:spLocks noChangeArrowheads="1"/>
            </p:cNvSpPr>
            <p:nvPr/>
          </p:nvSpPr>
          <p:spPr bwMode="auto">
            <a:xfrm>
              <a:off x="1730" y="627"/>
              <a:ext cx="41" cy="195"/>
            </a:xfrm>
            <a:prstGeom prst="bracketPair">
              <a:avLst>
                <a:gd name="adj" fmla="val 16667"/>
              </a:avLst>
            </a:prstGeom>
            <a:noFill/>
            <a:ln w="9525">
              <a:solidFill>
                <a:schemeClr val="tx1"/>
              </a:solidFill>
              <a:round/>
              <a:headEnd/>
              <a:tailEnd/>
            </a:ln>
          </p:spPr>
          <p:txBody>
            <a:bodyPr anchor="ctr" wrap="none"/>
            <a:lstStyle>
              <a:lvl1pPr eaLnBrk="0" hangingPunct="0">
                <a:defRPr>
                  <a:solidFill>
                    <a:schemeClr val="tx1"/>
                  </a:solidFill>
                  <a:latin typeface="Arial" panose="020B0604020202020204" pitchFamily="34" charset="0"/>
                </a:defRPr>
              </a:lvl1pPr>
              <a:lvl2pPr eaLnBrk="0" hangingPunct="0" indent="-285750" marL="742950">
                <a:defRPr>
                  <a:solidFill>
                    <a:schemeClr val="tx1"/>
                  </a:solidFill>
                  <a:latin typeface="Arial" panose="020B0604020202020204" pitchFamily="34" charset="0"/>
                </a:defRPr>
              </a:lvl2pPr>
              <a:lvl3pPr eaLnBrk="0" hangingPunct="0" indent="-228600" marL="1143000">
                <a:defRPr>
                  <a:solidFill>
                    <a:schemeClr val="tx1"/>
                  </a:solidFill>
                  <a:latin typeface="Arial" panose="020B0604020202020204" pitchFamily="34" charset="0"/>
                </a:defRPr>
              </a:lvl3pPr>
              <a:lvl4pPr eaLnBrk="0" hangingPunct="0" indent="-228600" marL="1600200">
                <a:defRPr>
                  <a:solidFill>
                    <a:schemeClr val="tx1"/>
                  </a:solidFill>
                  <a:latin typeface="Arial" panose="020B0604020202020204" pitchFamily="34" charset="0"/>
                </a:defRPr>
              </a:lvl4pPr>
              <a:lvl5pPr eaLnBrk="0" hangingPunct="0" indent="-228600" marL="2057400">
                <a:defRPr>
                  <a:solidFill>
                    <a:schemeClr val="tx1"/>
                  </a:solidFill>
                  <a:latin typeface="Arial" panose="020B0604020202020204" pitchFamily="34" charset="0"/>
                </a:defRPr>
              </a:lvl5pPr>
              <a:lvl6pPr eaLnBrk="0" fontAlgn="base" hangingPunct="0" indent="-228600" marL="2514600">
                <a:spcBef>
                  <a:spcPct val="0"/>
                </a:spcBef>
                <a:spcAft>
                  <a:spcPct val="0"/>
                </a:spcAft>
                <a:defRPr>
                  <a:solidFill>
                    <a:schemeClr val="tx1"/>
                  </a:solidFill>
                  <a:latin typeface="Arial" panose="020B0604020202020204" pitchFamily="34" charset="0"/>
                </a:defRPr>
              </a:lvl6pPr>
              <a:lvl7pPr eaLnBrk="0" fontAlgn="base" hangingPunct="0" indent="-228600" marL="2971800">
                <a:spcBef>
                  <a:spcPct val="0"/>
                </a:spcBef>
                <a:spcAft>
                  <a:spcPct val="0"/>
                </a:spcAft>
                <a:defRPr>
                  <a:solidFill>
                    <a:schemeClr val="tx1"/>
                  </a:solidFill>
                  <a:latin typeface="Arial" panose="020B0604020202020204" pitchFamily="34" charset="0"/>
                </a:defRPr>
              </a:lvl7pPr>
              <a:lvl8pPr eaLnBrk="0" fontAlgn="base" hangingPunct="0" indent="-228600" marL="3429000">
                <a:spcBef>
                  <a:spcPct val="0"/>
                </a:spcBef>
                <a:spcAft>
                  <a:spcPct val="0"/>
                </a:spcAft>
                <a:defRPr>
                  <a:solidFill>
                    <a:schemeClr val="tx1"/>
                  </a:solidFill>
                  <a:latin typeface="Arial" panose="020B0604020202020204" pitchFamily="34" charset="0"/>
                </a:defRPr>
              </a:lvl8pPr>
              <a:lvl9pPr eaLnBrk="0" fontAlgn="base" hangingPunct="0" indent="-228600" marL="3886200">
                <a:spcBef>
                  <a:spcPct val="0"/>
                </a:spcBef>
                <a:spcAft>
                  <a:spcPct val="0"/>
                </a:spcAft>
                <a:defRPr>
                  <a:solidFill>
                    <a:schemeClr val="tx1"/>
                  </a:solidFill>
                  <a:latin typeface="Arial" panose="020B0604020202020204" pitchFamily="34" charset="0"/>
                </a:defRPr>
              </a:lvl9pPr>
            </a:lstStyle>
            <a:p/>
          </p:txBody>
        </p:sp>
      </p:grpSp>
    </p:spTree>
  </p:cSld>
  <p:clrMapOvr>
    <a:masterClrMapping/>
  </p:clrMapOvr>
</p:sld>
</file>

<file path=ppt/slides/slide488.xml><?xml version="1.0" encoding="utf-8"?>
<p:sld xmlns:a="http://schemas.openxmlformats.org/drawingml/2006/main" xmlns:r="http://schemas.openxmlformats.org/officeDocument/2006/relationships" xmlns:p="http://schemas.openxmlformats.org/presentationml/2006/main">
  <p:cSld>
    <p:spTree>
      <p:nvGrpSpPr>
        <p:cNvPr id="1176" name=""/>
        <p:cNvGrpSpPr/>
        <p:nvPr/>
      </p:nvGrpSpPr>
      <p:grpSpPr>
        <a:xfrm>
          <a:off x="0" y="0"/>
          <a:ext cx="0" cy="0"/>
          <a:chOff x="0" y="0"/>
          <a:chExt cx="0" cy="0"/>
        </a:xfrm>
      </p:grpSpPr>
      <p:sp>
        <p:nvSpPr>
          <p:cNvPr id="1049601" name="Rectangle 2"/>
          <p:cNvSpPr>
            <a:spLocks noGrp="1" noChangeArrowheads="1"/>
          </p:cNvSpPr>
          <p:nvPr>
            <p:ph type="body" idx="1"/>
          </p:nvPr>
        </p:nvSpPr>
        <p:spPr>
          <a:xfrm>
            <a:off x="914400" y="228600"/>
            <a:ext cx="9601200" cy="6400800"/>
          </a:xfrm>
        </p:spPr>
        <p:txBody>
          <a:bodyPr/>
          <a:p>
            <a:pPr>
              <a:lnSpc>
                <a:spcPct val="80000"/>
              </a:lnSpc>
              <a:buNone/>
            </a:pPr>
            <a:r>
              <a:rPr b="1" sz="2400">
                <a:solidFill>
                  <a:srgbClr val="CC0000"/>
                </a:solidFill>
                <a:latin typeface="Comic Sans MS"/>
              </a:rPr>
              <a:t>D.</a:t>
            </a:r>
            <a:r>
              <a:rPr b="1" sz="2400">
                <a:solidFill>
                  <a:srgbClr val="336600"/>
                </a:solidFill>
                <a:latin typeface="Comic Sans MS"/>
              </a:rPr>
              <a:t> FLUCYTOSINE (</a:t>
            </a:r>
            <a:r>
              <a:rPr b="1" sz="2000">
                <a:solidFill>
                  <a:srgbClr val="336600"/>
                </a:solidFill>
                <a:latin typeface="Comic Sans MS"/>
              </a:rPr>
              <a:t>5-fluorocytosine; pyrimidine antimetabolite)</a:t>
            </a:r>
            <a:endParaRPr b="1" sz="2000">
              <a:solidFill>
                <a:srgbClr val="336600"/>
              </a:solidFill>
              <a:latin typeface="Comic Sans MS"/>
            </a:endParaRPr>
          </a:p>
          <a:p>
            <a:pPr>
              <a:lnSpc>
                <a:spcPct val="80000"/>
              </a:lnSpc>
              <a:buNone/>
            </a:pPr>
            <a:endParaRPr sz="2400" u="sng"/>
          </a:p>
          <a:p>
            <a:pPr>
              <a:lnSpc>
                <a:spcPct val="80000"/>
              </a:lnSpc>
              <a:buNone/>
            </a:pPr>
            <a:r>
              <a:rPr sz="2400" u="sng"/>
              <a:t>Selectivity: </a:t>
            </a:r>
            <a:r>
              <a:rPr sz="2400"/>
              <a:t>man has low levels of cytosine permease and deaminase</a:t>
            </a:r>
            <a:endParaRPr sz="2400"/>
          </a:p>
          <a:p>
            <a:pPr>
              <a:lnSpc>
                <a:spcPct val="80000"/>
              </a:lnSpc>
              <a:buNone/>
            </a:pPr>
            <a:r>
              <a:rPr b="1" sz="2400"/>
              <a:t>Synergism: </a:t>
            </a:r>
            <a:r>
              <a:rPr sz="2400">
                <a:solidFill>
                  <a:srgbClr val="FF0000"/>
                </a:solidFill>
              </a:rPr>
              <a:t>Synergistic w/ amphotericin and azoles</a:t>
            </a:r>
            <a:endParaRPr b="1" sz="2400">
              <a:solidFill>
                <a:srgbClr val="FF0000"/>
              </a:solidFill>
            </a:endParaRPr>
          </a:p>
          <a:p>
            <a:pPr>
              <a:lnSpc>
                <a:spcPct val="80000"/>
              </a:lnSpc>
              <a:buNone/>
            </a:pPr>
            <a:endParaRPr b="1" sz="2400"/>
          </a:p>
          <a:p>
            <a:pPr>
              <a:lnSpc>
                <a:spcPct val="80000"/>
              </a:lnSpc>
              <a:buNone/>
            </a:pPr>
            <a:r>
              <a:rPr b="1" sz="2400"/>
              <a:t>Resistance: </a:t>
            </a:r>
            <a:r>
              <a:rPr sz="2400"/>
              <a:t>rapid;</a:t>
            </a:r>
            <a:r>
              <a:rPr b="1" sz="2400"/>
              <a:t> </a:t>
            </a:r>
            <a:r>
              <a:rPr sz="2400"/>
              <a:t>decreased activity of cytosine permease and deaminase, thus never given alone –give w/ amphotericin B</a:t>
            </a:r>
            <a:endParaRPr sz="2400"/>
          </a:p>
          <a:p>
            <a:pPr>
              <a:lnSpc>
                <a:spcPct val="80000"/>
              </a:lnSpc>
              <a:buNone/>
            </a:pPr>
            <a:endParaRPr b="1" sz="2400"/>
          </a:p>
          <a:p>
            <a:pPr>
              <a:lnSpc>
                <a:spcPct val="80000"/>
              </a:lnSpc>
              <a:buNone/>
            </a:pPr>
            <a:r>
              <a:rPr b="1" sz="2400"/>
              <a:t> Spectrum</a:t>
            </a:r>
            <a:r>
              <a:rPr sz="2400"/>
              <a:t>: </a:t>
            </a:r>
            <a:endParaRPr sz="2400"/>
          </a:p>
          <a:p>
            <a:pPr>
              <a:lnSpc>
                <a:spcPct val="80000"/>
              </a:lnSpc>
              <a:buNone/>
            </a:pPr>
            <a:r>
              <a:rPr sz="2400"/>
              <a:t>Cryptococcal meningitis, systemic candidiasis</a:t>
            </a:r>
            <a:endParaRPr sz="2400" i="1"/>
          </a:p>
          <a:p>
            <a:pPr>
              <a:lnSpc>
                <a:spcPct val="80000"/>
              </a:lnSpc>
              <a:buNone/>
            </a:pPr>
            <a:r>
              <a:rPr sz="2400" i="1"/>
              <a:t>Some </a:t>
            </a:r>
            <a:r>
              <a:rPr sz="2400" i="1"/>
              <a:t>dermatophytic</a:t>
            </a:r>
            <a:r>
              <a:rPr sz="2400" i="1"/>
              <a:t> infection</a:t>
            </a:r>
            <a:endParaRPr sz="2400"/>
          </a:p>
        </p:txBody>
      </p:sp>
      <p:pic>
        <p:nvPicPr>
          <p:cNvPr id="2097165" name="Picture 4" descr="Pyrimidine analogs"/>
          <p:cNvPicPr>
            <a:picLocks noChangeAspect="1" noChangeArrowheads="1"/>
          </p:cNvPicPr>
          <p:nvPr/>
        </p:nvPicPr>
        <p:blipFill>
          <a:blip xmlns:r="http://schemas.openxmlformats.org/officeDocument/2006/relationships" r:embed="rId1"/>
          <a:srcRect/>
          <a:stretch>
            <a:fillRect/>
          </a:stretch>
        </p:blipFill>
        <p:spPr bwMode="auto">
          <a:xfrm>
            <a:off x="8305795" y="4038604"/>
            <a:ext cx="2057400" cy="2667004"/>
          </a:xfrm>
          <a:prstGeom prst="rect"/>
          <a:solidFill>
            <a:srgbClr val="FFFF00"/>
          </a:solidFill>
          <a:ln w="9525">
            <a:solidFill>
              <a:schemeClr val="tx1"/>
            </a:solidFill>
            <a:miter lim="800000"/>
            <a:headEnd/>
            <a:tailEnd/>
          </a:ln>
        </p:spPr>
      </p:pic>
    </p:spTree>
  </p:cSld>
  <p:clrMapOvr>
    <a:masterClrMapping/>
  </p:clrMapOvr>
</p:sld>
</file>

<file path=ppt/slides/slide489.xml><?xml version="1.0" encoding="utf-8"?>
<p:sld xmlns:a="http://schemas.openxmlformats.org/drawingml/2006/main" xmlns:r="http://schemas.openxmlformats.org/officeDocument/2006/relationships" xmlns:p="http://schemas.openxmlformats.org/presentationml/2006/main">
  <p:cSld>
    <p:spTree>
      <p:nvGrpSpPr>
        <p:cNvPr id="1179" name=""/>
        <p:cNvGrpSpPr/>
        <p:nvPr/>
      </p:nvGrpSpPr>
      <p:grpSpPr>
        <a:xfrm>
          <a:off x="0" y="0"/>
          <a:ext cx="0" cy="0"/>
          <a:chOff x="0" y="0"/>
          <a:chExt cx="0" cy="0"/>
        </a:xfrm>
      </p:grpSpPr>
      <p:sp>
        <p:nvSpPr>
          <p:cNvPr id="1049605" name="Title 1"/>
          <p:cNvSpPr>
            <a:spLocks noGrp="1"/>
          </p:cNvSpPr>
          <p:nvPr>
            <p:ph type="title"/>
          </p:nvPr>
        </p:nvSpPr>
        <p:spPr>
          <a:xfrm>
            <a:off x="838204" y="365126"/>
            <a:ext cx="10515600" cy="968368"/>
          </a:xfrm>
        </p:spPr>
        <p:txBody>
          <a:bodyPr/>
          <a:p>
            <a:r>
              <a:t>Pharmacokinetic aspects </a:t>
            </a:r>
          </a:p>
        </p:txBody>
      </p:sp>
      <p:sp>
        <p:nvSpPr>
          <p:cNvPr id="1049606" name="Content Placeholder 2"/>
          <p:cNvSpPr>
            <a:spLocks noGrp="1"/>
          </p:cNvSpPr>
          <p:nvPr>
            <p:ph idx="1"/>
          </p:nvPr>
        </p:nvSpPr>
        <p:spPr>
          <a:xfrm>
            <a:off x="447670" y="1171575"/>
            <a:ext cx="10906120" cy="5562595"/>
          </a:xfrm>
        </p:spPr>
        <p:txBody>
          <a:bodyPr>
            <a:normAutofit fontScale="85000" lnSpcReduction="20000"/>
          </a:bodyPr>
          <a:p>
            <a:r>
              <a:t>Flucytosine is </a:t>
            </a:r>
            <a:r>
              <a:rPr b="1"/>
              <a:t>usually given by intravenous infusion </a:t>
            </a:r>
            <a:r>
              <a:t>but can also be given orally. </a:t>
            </a:r>
          </a:p>
          <a:p>
            <a:r>
              <a:t>It is widely distributed throughout the body fluids, </a:t>
            </a:r>
            <a:r>
              <a:rPr>
                <a:solidFill>
                  <a:srgbClr val="FF0000"/>
                </a:solidFill>
              </a:rPr>
              <a:t>including the cerebrospinal fluid.</a:t>
            </a:r>
            <a:r>
              <a:t> </a:t>
            </a:r>
          </a:p>
          <a:p>
            <a:r>
              <a:t>About 90% is </a:t>
            </a:r>
            <a:r>
              <a:rPr b="1"/>
              <a:t>excreted unchanged via the kidneys</a:t>
            </a:r>
            <a:r>
              <a:t>, and the plasma half-life is 3-5 hours. </a:t>
            </a:r>
          </a:p>
          <a:p/>
          <a:p>
            <a:r>
              <a:t>Unwanted effects  (INFREQUENT)</a:t>
            </a:r>
          </a:p>
          <a:p>
            <a:pPr lvl="1"/>
            <a:r>
              <a:t>(mild) Gastrointestinal disturbances, </a:t>
            </a:r>
            <a:r>
              <a:t>anaemia</a:t>
            </a:r>
            <a:r>
              <a:t>, neutropenia, thrombocytopenia and alopecia </a:t>
            </a:r>
            <a:r>
              <a:rPr b="1"/>
              <a:t>(but may be more significant in AIDS patients) </a:t>
            </a:r>
            <a:r>
              <a:t>and are </a:t>
            </a:r>
            <a:r>
              <a:rPr b="1"/>
              <a:t>easily reversed when therapy ceases</a:t>
            </a:r>
            <a:r>
              <a:t>. </a:t>
            </a:r>
          </a:p>
          <a:p>
            <a:pPr lvl="2"/>
            <a:r>
              <a:rPr b="1"/>
              <a:t>Uracil is reported to decrease the toxic effects on the bone marrow without impairing the antimycotic action. </a:t>
            </a:r>
            <a:endParaRPr b="1"/>
          </a:p>
          <a:p>
            <a:pPr lvl="1"/>
            <a:r>
              <a:t>Hepatitis has been reported but is rare. </a:t>
            </a:r>
          </a:p>
          <a:p>
            <a:r>
              <a:t>Contraindications and cautions </a:t>
            </a:r>
          </a:p>
          <a:p>
            <a:pPr lvl="1"/>
            <a:r>
              <a:t>Flucytosine is contraindicated in patients with known hypersensitivity to the drug. </a:t>
            </a:r>
          </a:p>
          <a:p>
            <a:pPr lvl="1"/>
            <a:r>
              <a:t>Flucytosine is used cautiously in patients with bone marrow depression and with extreme caution in those with renal impairment. </a:t>
            </a:r>
          </a:p>
          <a:p>
            <a:r>
              <a:t>Interactions </a:t>
            </a:r>
          </a:p>
          <a:p>
            <a:pPr lvl="1"/>
            <a:r>
              <a:t>When flucytosine and amphotericin B are administered concurrently, synergistic antifungal effect is achieved </a:t>
            </a:r>
            <a:r>
              <a:rPr>
                <a:solidFill>
                  <a:srgbClr val="FF0000"/>
                </a:solidFill>
              </a:rPr>
              <a:t>but the risk of flucytosine toxicity is increased.</a:t>
            </a:r>
            <a:endParaRPr>
              <a:solidFill>
                <a:srgbClr val="FF0000"/>
              </a:solidFill>
            </a:endParaRPr>
          </a:p>
        </p:txBody>
      </p:sp>
    </p:spTree>
  </p:cSld>
  <p:clrMapOvr>
    <a:masterClrMapping/>
  </p:clrMapOvr>
</p:sld>
</file>

<file path=ppt/slides/slide490.xml><?xml version="1.0" encoding="utf-8"?>
<p:sld xmlns:a="http://schemas.openxmlformats.org/drawingml/2006/main" xmlns:r="http://schemas.openxmlformats.org/officeDocument/2006/relationships" xmlns:p="http://schemas.openxmlformats.org/presentationml/2006/main">
  <p:cSld>
    <p:spTree>
      <p:nvGrpSpPr>
        <p:cNvPr id="1180" name=""/>
        <p:cNvGrpSpPr/>
        <p:nvPr/>
      </p:nvGrpSpPr>
      <p:grpSpPr>
        <a:xfrm>
          <a:off x="0" y="0"/>
          <a:ext cx="0" cy="0"/>
          <a:chOff x="0" y="0"/>
          <a:chExt cx="0" cy="0"/>
        </a:xfrm>
      </p:grpSpPr>
      <p:sp>
        <p:nvSpPr>
          <p:cNvPr id="1049607" name="Rectangle 2"/>
          <p:cNvSpPr>
            <a:spLocks noGrp="1" noChangeArrowheads="1"/>
          </p:cNvSpPr>
          <p:nvPr>
            <p:ph type="body" idx="1"/>
          </p:nvPr>
        </p:nvSpPr>
        <p:spPr>
          <a:xfrm>
            <a:off x="781054" y="304795"/>
            <a:ext cx="10429875" cy="6248395"/>
          </a:xfrm>
        </p:spPr>
        <p:txBody>
          <a:bodyPr>
            <a:normAutofit fontScale="91667" lnSpcReduction="20000"/>
          </a:bodyPr>
          <a:p>
            <a:pPr>
              <a:lnSpc>
                <a:spcPct val="80000"/>
              </a:lnSpc>
              <a:buNone/>
            </a:pPr>
            <a:r>
              <a:rPr b="1">
                <a:solidFill>
                  <a:srgbClr val="CC0000"/>
                </a:solidFill>
                <a:latin typeface="Comic Sans MS"/>
              </a:rPr>
              <a:t>E.</a:t>
            </a:r>
            <a:r>
              <a:rPr b="1">
                <a:solidFill>
                  <a:srgbClr val="336600"/>
                </a:solidFill>
                <a:latin typeface="Comic Sans MS"/>
              </a:rPr>
              <a:t> GRISEOFULVIN</a:t>
            </a:r>
            <a:r>
              <a:rPr b="1"/>
              <a:t> – </a:t>
            </a:r>
            <a:endParaRPr b="1"/>
          </a:p>
          <a:p>
            <a:pPr>
              <a:lnSpc>
                <a:spcPct val="80000"/>
              </a:lnSpc>
              <a:buNone/>
            </a:pPr>
            <a:endParaRPr b="1"/>
          </a:p>
          <a:p>
            <a:pPr>
              <a:lnSpc>
                <a:spcPct val="80000"/>
              </a:lnSpc>
              <a:buNone/>
            </a:pPr>
            <a:r>
              <a:t>Narrow spectrum antifungal agent </a:t>
            </a:r>
            <a:r>
              <a:rPr b="1"/>
              <a:t>isolated from Penicillium </a:t>
            </a:r>
            <a:r>
              <a:rPr b="1"/>
              <a:t>griseofulvum</a:t>
            </a:r>
            <a:r>
              <a:t>. </a:t>
            </a:r>
          </a:p>
          <a:p>
            <a:pPr>
              <a:lnSpc>
                <a:spcPct val="80000"/>
              </a:lnSpc>
              <a:buNone/>
            </a:pPr>
            <a:r>
              <a:t>It is fungistatic. It is </a:t>
            </a:r>
            <a:r>
              <a:rPr b="1"/>
              <a:t>keratinophilic</a:t>
            </a:r>
          </a:p>
          <a:p>
            <a:pPr>
              <a:lnSpc>
                <a:spcPct val="80000"/>
              </a:lnSpc>
              <a:buNone/>
            </a:pPr>
            <a:r>
              <a:t>Mechanism of action </a:t>
            </a:r>
          </a:p>
          <a:p>
            <a:pPr lvl="1">
              <a:lnSpc>
                <a:spcPct val="80000"/>
              </a:lnSpc>
            </a:pPr>
            <a:r>
              <a:t>Acts by interacting/binding with microtubules, thus interfering with mitosis. This prevents susceptible fungi from reproducing/multiplying</a:t>
            </a:r>
          </a:p>
          <a:p>
            <a:pPr>
              <a:lnSpc>
                <a:spcPct val="80000"/>
              </a:lnSpc>
              <a:buNone/>
            </a:pPr>
            <a:r>
              <a:rPr b="1"/>
              <a:t>Pharmacokinetics </a:t>
            </a:r>
            <a:endParaRPr b="1"/>
          </a:p>
          <a:p>
            <a:pPr>
              <a:lnSpc>
                <a:spcPct val="80000"/>
              </a:lnSpc>
            </a:pPr>
            <a:r>
              <a:t>It is </a:t>
            </a:r>
            <a:r>
              <a:rPr b="1"/>
              <a:t>given orally </a:t>
            </a:r>
            <a:r>
              <a:t>and absorption varies depending on the type of preparation. </a:t>
            </a:r>
          </a:p>
          <a:p>
            <a:pPr>
              <a:lnSpc>
                <a:spcPct val="80000"/>
              </a:lnSpc>
            </a:pPr>
            <a:r>
              <a:t>Peak plasma concentration is reached in about 5 hours. </a:t>
            </a:r>
            <a:r>
              <a:rPr>
                <a:solidFill>
                  <a:srgbClr val="FF0000"/>
                </a:solidFill>
              </a:rPr>
              <a:t>It is taken up selectively by newly formed skin and concentrated in keratin</a:t>
            </a:r>
            <a:r>
              <a:t>. </a:t>
            </a:r>
          </a:p>
          <a:p>
            <a:pPr>
              <a:lnSpc>
                <a:spcPct val="80000"/>
              </a:lnSpc>
            </a:pPr>
            <a:r>
              <a:t>Half-life of 24 hours but is </a:t>
            </a:r>
            <a:r>
              <a:rPr b="1"/>
              <a:t>retained in the skin for much longer</a:t>
            </a:r>
            <a:r>
              <a:t>. </a:t>
            </a:r>
          </a:p>
          <a:p>
            <a:pPr>
              <a:lnSpc>
                <a:spcPct val="80000"/>
              </a:lnSpc>
            </a:pPr>
            <a:r>
              <a:t>Metabolized by the liver and </a:t>
            </a:r>
            <a:r>
              <a:rPr b="1"/>
              <a:t>induces</a:t>
            </a:r>
            <a:r>
              <a:t> cytochrome P450 enzymes </a:t>
            </a:r>
            <a:endParaRPr b="1"/>
          </a:p>
          <a:p>
            <a:pPr>
              <a:lnSpc>
                <a:spcPct val="80000"/>
              </a:lnSpc>
              <a:buNone/>
            </a:pPr>
            <a:endParaRPr b="1"/>
          </a:p>
          <a:p>
            <a:pPr>
              <a:lnSpc>
                <a:spcPct val="80000"/>
              </a:lnSpc>
              <a:buNone/>
            </a:pPr>
            <a:r>
              <a:rPr b="1"/>
              <a:t>Clinical uses </a:t>
            </a:r>
            <a:endParaRPr b="1"/>
          </a:p>
          <a:p>
            <a:pPr>
              <a:lnSpc>
                <a:spcPct val="80000"/>
              </a:lnSpc>
              <a:buNone/>
            </a:pPr>
            <a:r>
              <a:t>Treatment of superficial infections caused by </a:t>
            </a:r>
            <a:r>
              <a:t>microsporum</a:t>
            </a:r>
            <a:r>
              <a:t>, trichophyton, and </a:t>
            </a:r>
            <a:r>
              <a:t>epidermophytons</a:t>
            </a:r>
            <a:r>
              <a:t> </a:t>
            </a:r>
            <a:r>
              <a:t>spp</a:t>
            </a:r>
            <a:endParaRPr b="1"/>
          </a:p>
        </p:txBody>
      </p:sp>
    </p:spTree>
  </p:cSld>
  <p:clrMapOvr>
    <a:masterClrMapping/>
  </p:clrMapOvr>
</p:sld>
</file>

<file path=ppt/slides/slide491.xml><?xml version="1.0" encoding="utf-8"?>
<p:sld xmlns:a="http://schemas.openxmlformats.org/drawingml/2006/main" xmlns:r="http://schemas.openxmlformats.org/officeDocument/2006/relationships" xmlns:p="http://schemas.openxmlformats.org/presentationml/2006/main">
  <p:cSld>
    <p:spTree>
      <p:nvGrpSpPr>
        <p:cNvPr id="1183" name=""/>
        <p:cNvGrpSpPr/>
        <p:nvPr/>
      </p:nvGrpSpPr>
      <p:grpSpPr>
        <a:xfrm>
          <a:off x="0" y="0"/>
          <a:ext cx="0" cy="0"/>
          <a:chOff x="0" y="0"/>
          <a:chExt cx="0" cy="0"/>
        </a:xfrm>
      </p:grpSpPr>
      <p:sp>
        <p:nvSpPr>
          <p:cNvPr id="1049611" name="Title 1"/>
          <p:cNvSpPr>
            <a:spLocks noGrp="1"/>
          </p:cNvSpPr>
          <p:nvPr>
            <p:ph type="title"/>
          </p:nvPr>
        </p:nvSpPr>
        <p:spPr>
          <a:xfrm>
            <a:off x="838204" y="365126"/>
            <a:ext cx="10515600" cy="892173"/>
          </a:xfrm>
        </p:spPr>
        <p:txBody>
          <a:bodyPr/>
          <a:p>
            <a:r>
              <a:rPr b="1">
                <a:solidFill>
                  <a:srgbClr val="CC0000"/>
                </a:solidFill>
                <a:latin typeface="Comic Sans MS"/>
              </a:rPr>
              <a:t>E.</a:t>
            </a:r>
            <a:r>
              <a:rPr b="1">
                <a:solidFill>
                  <a:srgbClr val="336600"/>
                </a:solidFill>
                <a:latin typeface="Comic Sans MS"/>
              </a:rPr>
              <a:t> GRISEOFULVIN</a:t>
            </a:r>
            <a:r>
              <a:rPr b="1"/>
              <a:t> – </a:t>
            </a:r>
          </a:p>
        </p:txBody>
      </p:sp>
      <p:sp>
        <p:nvSpPr>
          <p:cNvPr id="1049612" name="Content Placeholder 2"/>
          <p:cNvSpPr>
            <a:spLocks noGrp="1"/>
          </p:cNvSpPr>
          <p:nvPr>
            <p:ph idx="1"/>
          </p:nvPr>
        </p:nvSpPr>
        <p:spPr>
          <a:xfrm>
            <a:off x="314325" y="1257300"/>
            <a:ext cx="11039479" cy="5372100"/>
          </a:xfrm>
        </p:spPr>
        <p:txBody>
          <a:bodyPr>
            <a:normAutofit fontScale="87500" lnSpcReduction="20000"/>
          </a:bodyPr>
          <a:p>
            <a:r>
              <a:rPr b="1"/>
              <a:t>Unwanted effects </a:t>
            </a:r>
            <a:endParaRPr b="1"/>
          </a:p>
          <a:p>
            <a:pPr lvl="1"/>
            <a:r>
              <a:t>Headache, peripheral neuritis, </a:t>
            </a:r>
            <a:r>
              <a:t>parasthesias</a:t>
            </a:r>
            <a:r>
              <a:t>, blurred vision, </a:t>
            </a:r>
            <a:r>
              <a:rPr b="1"/>
              <a:t>transient hearing loss</a:t>
            </a:r>
            <a:r>
              <a:t>, nausea, vomiting, anorexia, diarrhea, </a:t>
            </a:r>
            <a:r>
              <a:t>cramps,increased</a:t>
            </a:r>
            <a:r>
              <a:t> thirst, dry mouth, proteinuria, </a:t>
            </a:r>
          </a:p>
          <a:p>
            <a:pPr lvl="1"/>
            <a:r>
              <a:t>hematological disturbances-leukopenia, granulocytopenia, neutropenia, </a:t>
            </a:r>
            <a:r>
              <a:t>monocytosis</a:t>
            </a:r>
            <a:r>
              <a:t>. </a:t>
            </a:r>
          </a:p>
          <a:p>
            <a:pPr lvl="1"/>
            <a:r>
              <a:t>Rash,urticarial</a:t>
            </a:r>
            <a:r>
              <a:t>, photosensitivity angioedema</a:t>
            </a:r>
          </a:p>
          <a:p>
            <a:r>
              <a:rPr b="1"/>
              <a:t>Contraindication and Precaution </a:t>
            </a:r>
            <a:endParaRPr b="1"/>
          </a:p>
          <a:p>
            <a:pPr lvl="1"/>
            <a:r>
              <a:t>Griseofulvin is contraindicated in patients with known hypersensitivity to the drug and in those with severe liver disease. </a:t>
            </a:r>
          </a:p>
          <a:p>
            <a:pPr lvl="1"/>
            <a:r>
              <a:t>Contraindicated in pregnancy and lactation. </a:t>
            </a:r>
          </a:p>
          <a:p>
            <a:pPr lvl="1"/>
            <a:r>
              <a:t>It is important to use caution when administering concurrently with penicillin </a:t>
            </a:r>
            <a:r>
              <a:rPr b="1"/>
              <a:t>because there is a possibility of cross-sensitivity</a:t>
            </a:r>
            <a:r>
              <a:t>. </a:t>
            </a:r>
          </a:p>
          <a:p>
            <a:r>
              <a:rPr b="1"/>
              <a:t>Interactions </a:t>
            </a:r>
            <a:endParaRPr b="1"/>
          </a:p>
          <a:p>
            <a:pPr lvl="1"/>
            <a:r>
              <a:t>When griseofulvin is administered with warfarin, the </a:t>
            </a:r>
            <a:r>
              <a:rPr b="1"/>
              <a:t>anticoagulant effect may be decreased</a:t>
            </a:r>
            <a:r>
              <a:t>. </a:t>
            </a:r>
          </a:p>
          <a:p>
            <a:pPr lvl="1"/>
            <a:r>
              <a:t>When administered with the barbiturates the </a:t>
            </a:r>
            <a:r>
              <a:rPr b="1"/>
              <a:t>effect of griseofulvin may be decreased</a:t>
            </a:r>
            <a:r>
              <a:t>. </a:t>
            </a:r>
          </a:p>
          <a:p>
            <a:pPr lvl="1"/>
            <a:r>
              <a:rPr b="1"/>
              <a:t>A decrease in the effects of oral contraceptives </a:t>
            </a:r>
            <a:r>
              <a:t>may occur with griseofulvin therapy, causing breakthrough bleeding, pregnancy, or amenorrhea. </a:t>
            </a:r>
          </a:p>
          <a:p>
            <a:pPr lvl="1"/>
            <a:r>
              <a:t>Blood salicylate concentrations may be decreased when the salicylates are administered with griseofulvin. </a:t>
            </a:r>
          </a:p>
        </p:txBody>
      </p:sp>
    </p:spTree>
  </p:cSld>
  <p:clrMapOvr>
    <a:masterClrMapping/>
  </p:clrMapOvr>
</p:sld>
</file>

<file path=ppt/slides/slide492.xml><?xml version="1.0" encoding="utf-8"?>
<p:sld xmlns:a="http://schemas.openxmlformats.org/drawingml/2006/main" xmlns:r="http://schemas.openxmlformats.org/officeDocument/2006/relationships" xmlns:p="http://schemas.openxmlformats.org/presentationml/2006/main">
  <p:cSld>
    <p:spTree>
      <p:nvGrpSpPr>
        <p:cNvPr id="1184" name=""/>
        <p:cNvGrpSpPr/>
        <p:nvPr/>
      </p:nvGrpSpPr>
      <p:grpSpPr>
        <a:xfrm>
          <a:off x="0" y="0"/>
          <a:ext cx="0" cy="0"/>
          <a:chOff x="0" y="0"/>
          <a:chExt cx="0" cy="0"/>
        </a:xfrm>
      </p:grpSpPr>
      <p:sp>
        <p:nvSpPr>
          <p:cNvPr id="1049613" name="Title 1"/>
          <p:cNvSpPr>
            <a:spLocks noGrp="1"/>
          </p:cNvSpPr>
          <p:nvPr>
            <p:ph type="title"/>
          </p:nvPr>
        </p:nvSpPr>
        <p:spPr>
          <a:xfrm>
            <a:off x="838204" y="365126"/>
            <a:ext cx="10515600" cy="825493"/>
          </a:xfrm>
        </p:spPr>
        <p:txBody>
          <a:bodyPr>
            <a:normAutofit/>
          </a:bodyPr>
          <a:p>
            <a:r>
              <a:rPr b="1" sz="3600">
                <a:solidFill>
                  <a:srgbClr val="CC0000"/>
                </a:solidFill>
                <a:latin typeface="Comic Sans MS"/>
              </a:rPr>
              <a:t>F.</a:t>
            </a:r>
            <a:r>
              <a:rPr b="1" sz="3600">
                <a:solidFill>
                  <a:srgbClr val="CC0000"/>
                </a:solidFill>
              </a:rPr>
              <a:t> </a:t>
            </a:r>
            <a:r>
              <a:rPr b="1" sz="3600">
                <a:solidFill>
                  <a:srgbClr val="CC0000"/>
                </a:solidFill>
                <a:latin typeface="Comic Sans MS"/>
              </a:rPr>
              <a:t>GLUCAN SYNTHESIS INHIBITORS</a:t>
            </a:r>
            <a:endParaRPr sz="3600"/>
          </a:p>
        </p:txBody>
      </p:sp>
      <p:sp>
        <p:nvSpPr>
          <p:cNvPr id="1049614" name="Content Placeholder 2"/>
          <p:cNvSpPr>
            <a:spLocks noGrp="1"/>
          </p:cNvSpPr>
          <p:nvPr>
            <p:ph idx="1"/>
          </p:nvPr>
        </p:nvSpPr>
        <p:spPr>
          <a:xfrm>
            <a:off x="657225" y="1438279"/>
            <a:ext cx="10696579" cy="5054593"/>
          </a:xfrm>
        </p:spPr>
        <p:txBody>
          <a:bodyPr>
            <a:normAutofit fontScale="87500" lnSpcReduction="20000"/>
          </a:bodyPr>
          <a:p>
            <a:pPr>
              <a:lnSpc>
                <a:spcPct val="80000"/>
              </a:lnSpc>
              <a:buNone/>
            </a:pPr>
            <a:r>
              <a:rPr b="1">
                <a:solidFill>
                  <a:srgbClr val="006600"/>
                </a:solidFill>
                <a:latin typeface="Comic Sans MS"/>
              </a:rPr>
              <a:t>ECHINOCANDINS: </a:t>
            </a:r>
            <a:endParaRPr b="1">
              <a:solidFill>
                <a:srgbClr val="006600"/>
              </a:solidFill>
              <a:latin typeface="Comic Sans MS"/>
            </a:endParaRPr>
          </a:p>
          <a:p>
            <a:pPr>
              <a:lnSpc>
                <a:spcPct val="80000"/>
              </a:lnSpc>
              <a:buNone/>
            </a:pPr>
            <a:r>
              <a:rPr b="1">
                <a:solidFill>
                  <a:srgbClr val="006600"/>
                </a:solidFill>
                <a:latin typeface="Comic Sans MS"/>
              </a:rPr>
              <a:t>Caspofungin</a:t>
            </a:r>
            <a:r>
              <a:rPr b="1">
                <a:solidFill>
                  <a:srgbClr val="006600"/>
                </a:solidFill>
                <a:latin typeface="Comic Sans MS"/>
              </a:rPr>
              <a:t>, Micafungin, </a:t>
            </a:r>
            <a:r>
              <a:rPr b="1">
                <a:solidFill>
                  <a:srgbClr val="006600"/>
                </a:solidFill>
              </a:rPr>
              <a:t>Anidulafungin</a:t>
            </a:r>
            <a:r>
              <a:rPr b="1"/>
              <a:t> </a:t>
            </a:r>
            <a:endParaRPr b="1"/>
          </a:p>
          <a:p>
            <a:pPr>
              <a:lnSpc>
                <a:spcPct val="80000"/>
              </a:lnSpc>
              <a:buNone/>
            </a:pPr>
            <a:endParaRPr b="1"/>
          </a:p>
          <a:p>
            <a:pPr>
              <a:lnSpc>
                <a:spcPct val="80000"/>
              </a:lnSpc>
              <a:buNone/>
            </a:pPr>
            <a:r>
              <a:rPr b="1"/>
              <a:t>Mxn</a:t>
            </a:r>
            <a:r>
              <a:rPr b="1"/>
              <a:t>: </a:t>
            </a:r>
            <a:r>
              <a:t>inhibit the enzyme </a:t>
            </a:r>
            <a:r>
              <a:rPr>
                <a:cs typeface="Arial"/>
              </a:rPr>
              <a:t>β</a:t>
            </a:r>
            <a:r>
              <a:rPr>
                <a:cs typeface="Arial"/>
              </a:rPr>
              <a:t>-</a:t>
            </a:r>
            <a:r>
              <a:t>glucan synthase, thus decreased levels of glucan. </a:t>
            </a:r>
            <a:r>
              <a:t>This carbohydrate is necessary for maintaining the structure of fungal cell walls and </a:t>
            </a:r>
            <a:r>
              <a:rPr b="1"/>
              <a:t>inhibition of its synthesis by echinocandins leads to lose of cell </a:t>
            </a:r>
            <a:r>
              <a:rPr b="1"/>
              <a:t>intergrity</a:t>
            </a:r>
            <a:r>
              <a:rPr b="1"/>
              <a:t> followed by cell lysis </a:t>
            </a:r>
            <a:endParaRPr b="1"/>
          </a:p>
          <a:p>
            <a:pPr>
              <a:lnSpc>
                <a:spcPct val="80000"/>
              </a:lnSpc>
              <a:buNone/>
            </a:pPr>
            <a:r>
              <a:rPr b="1"/>
              <a:t>Pharmacokinetics </a:t>
            </a:r>
            <a:endParaRPr b="1"/>
          </a:p>
          <a:p>
            <a:pPr lvl="1">
              <a:lnSpc>
                <a:spcPct val="80000"/>
              </a:lnSpc>
            </a:pPr>
            <a:r>
              <a:t>Oral </a:t>
            </a:r>
            <a:r>
              <a:t>absorpition</a:t>
            </a:r>
            <a:r>
              <a:t> is poor and </a:t>
            </a:r>
            <a:r>
              <a:rPr b="1"/>
              <a:t>is therefore intravenously once daily </a:t>
            </a:r>
            <a:endParaRPr b="1"/>
          </a:p>
          <a:p>
            <a:pPr lvl="1">
              <a:lnSpc>
                <a:spcPct val="80000"/>
              </a:lnSpc>
            </a:pPr>
            <a:r>
              <a:t>It is highly protein bound </a:t>
            </a:r>
          </a:p>
          <a:p>
            <a:pPr>
              <a:lnSpc>
                <a:spcPct val="80000"/>
              </a:lnSpc>
              <a:buNone/>
            </a:pPr>
            <a:r>
              <a:rPr b="1"/>
              <a:t>Clinical uses </a:t>
            </a:r>
            <a:endParaRPr b="1"/>
          </a:p>
          <a:p>
            <a:pPr lvl="1">
              <a:lnSpc>
                <a:spcPct val="80000"/>
              </a:lnSpc>
            </a:pPr>
            <a:r>
              <a:t>Candidiasis and invasive aspergillosis in patients intolerant to amphotericin B </a:t>
            </a:r>
          </a:p>
          <a:p>
            <a:pPr>
              <a:lnSpc>
                <a:spcPct val="80000"/>
              </a:lnSpc>
              <a:buNone/>
            </a:pPr>
            <a:r>
              <a:rPr b="1"/>
              <a:t>Unwanted effects </a:t>
            </a:r>
            <a:endParaRPr b="1"/>
          </a:p>
          <a:p>
            <a:pPr lvl="1">
              <a:lnSpc>
                <a:spcPct val="80000"/>
              </a:lnSpc>
            </a:pPr>
            <a:r>
              <a:t>Headache, rash, nausea, vomiting, abdominal pain, hematologic, changes, fever </a:t>
            </a:r>
          </a:p>
          <a:p>
            <a:pPr>
              <a:lnSpc>
                <a:spcPct val="80000"/>
              </a:lnSpc>
              <a:buNone/>
            </a:pPr>
            <a:r>
              <a:rPr b="1"/>
              <a:t>Contraindication </a:t>
            </a:r>
            <a:endParaRPr b="1"/>
          </a:p>
          <a:p>
            <a:pPr>
              <a:lnSpc>
                <a:spcPct val="80000"/>
              </a:lnSpc>
            </a:pPr>
            <a:r>
              <a:t>Patients with known allergy</a:t>
            </a:r>
            <a:endParaRPr b="1"/>
          </a:p>
          <a:p/>
        </p:txBody>
      </p:sp>
    </p:spTree>
  </p:cSld>
  <p:clrMapOvr>
    <a:masterClrMapping/>
  </p:clrMapOvr>
</p:sld>
</file>

<file path=ppt/slides/slide493.xml><?xml version="1.0" encoding="utf-8"?>
<p:sld xmlns:a="http://schemas.openxmlformats.org/drawingml/2006/main" xmlns:r="http://schemas.openxmlformats.org/officeDocument/2006/relationships" xmlns:p="http://schemas.openxmlformats.org/presentationml/2006/main">
  <p:cSld>
    <p:spTree>
      <p:nvGrpSpPr>
        <p:cNvPr id="1185" name=""/>
        <p:cNvGrpSpPr/>
        <p:nvPr/>
      </p:nvGrpSpPr>
      <p:grpSpPr>
        <a:xfrm>
          <a:off x="0" y="0"/>
          <a:ext cx="0" cy="0"/>
          <a:chOff x="0" y="0"/>
          <a:chExt cx="0" cy="0"/>
        </a:xfrm>
      </p:grpSpPr>
      <p:sp>
        <p:nvSpPr>
          <p:cNvPr id="1049615" name="Rectangle 2"/>
          <p:cNvSpPr>
            <a:spLocks noGrp="1" noChangeArrowheads="1"/>
          </p:cNvSpPr>
          <p:nvPr>
            <p:ph type="body" idx="1"/>
          </p:nvPr>
        </p:nvSpPr>
        <p:spPr>
          <a:xfrm>
            <a:off x="1981204" y="304795"/>
            <a:ext cx="8229600" cy="6172200"/>
          </a:xfrm>
        </p:spPr>
        <p:txBody>
          <a:bodyPr/>
          <a:p>
            <a:pPr>
              <a:buNone/>
            </a:pPr>
            <a:r>
              <a:rPr b="1">
                <a:solidFill>
                  <a:srgbClr val="CC0000"/>
                </a:solidFill>
                <a:latin typeface="Comic Sans MS"/>
              </a:rPr>
              <a:t>G. Minor agents with antifungal activity</a:t>
            </a:r>
            <a:endParaRPr>
              <a:solidFill>
                <a:srgbClr val="336600"/>
              </a:solidFill>
              <a:latin typeface="Comic Sans MS"/>
            </a:endParaRPr>
          </a:p>
          <a:p>
            <a:pPr>
              <a:buNone/>
            </a:pPr>
            <a:endParaRPr>
              <a:solidFill>
                <a:srgbClr val="336600"/>
              </a:solidFill>
              <a:latin typeface="Comic Sans MS"/>
            </a:endParaRPr>
          </a:p>
          <a:p>
            <a:pPr>
              <a:buNone/>
            </a:pPr>
            <a:r>
              <a:rPr>
                <a:solidFill>
                  <a:srgbClr val="336600"/>
                </a:solidFill>
                <a:latin typeface="Comic Sans MS"/>
              </a:rPr>
              <a:t>THIOCARBAMATES</a:t>
            </a:r>
            <a:endParaRPr>
              <a:solidFill>
                <a:srgbClr val="336600"/>
              </a:solidFill>
              <a:latin typeface="Comic Sans MS"/>
            </a:endParaRPr>
          </a:p>
          <a:p>
            <a:pPr>
              <a:buNone/>
            </a:pPr>
            <a:r>
              <a:t>e.g. Tolnaftate</a:t>
            </a:r>
          </a:p>
          <a:p>
            <a:pPr>
              <a:buNone/>
            </a:pPr>
            <a:r>
              <a:t>Inhibits squalene epoxidase</a:t>
            </a:r>
          </a:p>
          <a:p>
            <a:pPr>
              <a:buNone/>
            </a:pPr>
            <a:r>
              <a:t>Spectrum: dermatophytes</a:t>
            </a:r>
          </a:p>
          <a:p>
            <a:pPr>
              <a:buNone/>
            </a:pPr>
          </a:p>
          <a:p>
            <a:pPr>
              <a:buNone/>
            </a:pPr>
            <a:r>
              <a:rPr>
                <a:solidFill>
                  <a:srgbClr val="336600"/>
                </a:solidFill>
                <a:latin typeface="Comic Sans MS"/>
              </a:rPr>
              <a:t>AMOROLFINE</a:t>
            </a:r>
            <a:endParaRPr>
              <a:solidFill>
                <a:srgbClr val="336600"/>
              </a:solidFill>
              <a:latin typeface="Comic Sans MS"/>
            </a:endParaRPr>
          </a:p>
          <a:p>
            <a:pPr>
              <a:buNone/>
            </a:pPr>
            <a:r>
              <a:t>An ergosterol synthesis inhibitor</a:t>
            </a:r>
          </a:p>
          <a:p>
            <a:pPr>
              <a:buNone/>
            </a:pPr>
            <a:r>
              <a:t>Uses: Nail infections - topical</a:t>
            </a:r>
          </a:p>
        </p:txBody>
      </p:sp>
    </p:spTree>
  </p:cSld>
  <p:clrMapOvr>
    <a:masterClrMapping/>
  </p:clrMapOvr>
</p:sld>
</file>

<file path=ppt/slides/slide494.xml><?xml version="1.0" encoding="utf-8"?>
<p:sld xmlns:a="http://schemas.openxmlformats.org/drawingml/2006/main" xmlns:r="http://schemas.openxmlformats.org/officeDocument/2006/relationships" xmlns:p="http://schemas.openxmlformats.org/presentationml/2006/main">
  <p:cSld>
    <p:spTree>
      <p:nvGrpSpPr>
        <p:cNvPr id="1188" name=""/>
        <p:cNvGrpSpPr/>
        <p:nvPr/>
      </p:nvGrpSpPr>
      <p:grpSpPr>
        <a:xfrm>
          <a:off x="0" y="0"/>
          <a:ext cx="0" cy="0"/>
          <a:chOff x="0" y="0"/>
          <a:chExt cx="0" cy="0"/>
        </a:xfrm>
      </p:grpSpPr>
      <p:sp>
        <p:nvSpPr>
          <p:cNvPr id="1049619" name="Rectangle 2"/>
          <p:cNvSpPr>
            <a:spLocks noGrp="1" noChangeArrowheads="1"/>
          </p:cNvSpPr>
          <p:nvPr>
            <p:ph type="body" idx="1"/>
          </p:nvPr>
        </p:nvSpPr>
        <p:spPr>
          <a:xfrm>
            <a:off x="1904995" y="304795"/>
            <a:ext cx="8458200" cy="6248395"/>
          </a:xfrm>
        </p:spPr>
        <p:txBody>
          <a:bodyPr/>
          <a:p>
            <a:pPr>
              <a:buNone/>
            </a:pPr>
            <a:r>
              <a:rPr b="1" u="sng">
                <a:solidFill>
                  <a:srgbClr val="CC0000"/>
                </a:solidFill>
                <a:latin typeface="Comic Sans MS"/>
              </a:rPr>
              <a:t>Minor agents with antifungal activity</a:t>
            </a:r>
            <a:endParaRPr b="1"/>
          </a:p>
          <a:p>
            <a:pPr>
              <a:buNone/>
            </a:pPr>
            <a:r>
              <a:rPr b="1">
                <a:cs typeface="Arial"/>
              </a:rPr>
              <a:t>► </a:t>
            </a:r>
            <a:r>
              <a:rPr b="1"/>
              <a:t>Various acids disrupt cell membranes e.g.    Benzoic acid, undecylenic acid, propionic acid </a:t>
            </a:r>
            <a:endParaRPr b="1"/>
          </a:p>
          <a:p>
            <a:pPr>
              <a:buNone/>
            </a:pPr>
            <a:r>
              <a:rPr b="1">
                <a:cs typeface="Arial"/>
              </a:rPr>
              <a:t>► </a:t>
            </a:r>
            <a:r>
              <a:rPr b="1"/>
              <a:t>Salicylic acid, Triacetin (Glyceryl triacetate)- are keratolytic</a:t>
            </a:r>
            <a:endParaRPr b="1"/>
          </a:p>
          <a:p>
            <a:pPr>
              <a:buNone/>
            </a:pPr>
            <a:r>
              <a:rPr b="1"/>
              <a:t>(Benzoic acid + salicylic acid =Whitfield's ointment)</a:t>
            </a:r>
            <a:endParaRPr b="1"/>
          </a:p>
          <a:p>
            <a:pPr>
              <a:buNone/>
            </a:pPr>
            <a:r>
              <a:rPr b="1">
                <a:cs typeface="Arial"/>
              </a:rPr>
              <a:t>►</a:t>
            </a:r>
            <a:r>
              <a:rPr b="1"/>
              <a:t> Ciclopirox is a fungicidal, inhibits Na+/K+ ATPase and thus transport</a:t>
            </a:r>
            <a:endParaRPr b="1"/>
          </a:p>
          <a:p>
            <a:pPr>
              <a:buNone/>
            </a:pPr>
            <a:r>
              <a:rPr b="1">
                <a:cs typeface="Arial"/>
              </a:rPr>
              <a:t>► </a:t>
            </a:r>
            <a:r>
              <a:rPr b="1"/>
              <a:t>Gentian Violet </a:t>
            </a:r>
            <a:endParaRPr b="1"/>
          </a:p>
          <a:p>
            <a:pPr>
              <a:buNone/>
            </a:pPr>
            <a:r>
              <a:rPr b="1">
                <a:cs typeface="Arial"/>
              </a:rPr>
              <a:t>► </a:t>
            </a:r>
            <a:r>
              <a:rPr b="1"/>
              <a:t>Potassium iodide</a:t>
            </a:r>
            <a:endParaRPr b="1"/>
          </a:p>
          <a:p>
            <a:pPr>
              <a:buNone/>
            </a:pPr>
            <a:r>
              <a:rPr b="1">
                <a:cs typeface="Arial"/>
              </a:rPr>
              <a:t>►</a:t>
            </a:r>
            <a:r>
              <a:rPr b="1"/>
              <a:t> Haloprogin </a:t>
            </a:r>
            <a:endParaRPr b="1"/>
          </a:p>
        </p:txBody>
      </p:sp>
    </p:spTree>
  </p:cSld>
  <p:clrMapOvr>
    <a:masterClrMapping/>
  </p:clrMapOvr>
</p:sld>
</file>

<file path=ppt/slides/slide495.xml><?xml version="1.0" encoding="utf-8"?>
<p:sld xmlns:a="http://schemas.openxmlformats.org/drawingml/2006/main" xmlns:r="http://schemas.openxmlformats.org/officeDocument/2006/relationships" xmlns:p="http://schemas.openxmlformats.org/presentationml/2006/main">
  <p:cSld>
    <p:spTree>
      <p:nvGrpSpPr>
        <p:cNvPr id="1191" name=""/>
        <p:cNvGrpSpPr/>
        <p:nvPr/>
      </p:nvGrpSpPr>
      <p:grpSpPr>
        <a:xfrm>
          <a:off x="0" y="0"/>
          <a:ext cx="0" cy="0"/>
          <a:chOff x="0" y="0"/>
          <a:chExt cx="0" cy="0"/>
        </a:xfrm>
      </p:grpSpPr>
      <p:sp>
        <p:nvSpPr>
          <p:cNvPr id="1049623" name="Title 1"/>
          <p:cNvSpPr>
            <a:spLocks noGrp="1"/>
          </p:cNvSpPr>
          <p:nvPr>
            <p:ph type="ctrTitle"/>
          </p:nvPr>
        </p:nvSpPr>
        <p:spPr/>
        <p:txBody>
          <a:bodyPr/>
          <a:p>
            <a:r>
              <a:t>Cytotoxics</a:t>
            </a:r>
            <a:r>
              <a:t> </a:t>
            </a:r>
          </a:p>
        </p:txBody>
      </p:sp>
      <p:sp>
        <p:nvSpPr>
          <p:cNvPr id="1049624" name="Subtitle 2"/>
          <p:cNvSpPr>
            <a:spLocks noGrp="1"/>
          </p:cNvSpPr>
          <p:nvPr>
            <p:ph type="subTitle" idx="1"/>
          </p:nvPr>
        </p:nvSpPr>
        <p:spPr/>
        <p:txBody>
          <a:bodyPr/>
          <a:p>
            <a:r>
              <a:t>SINDANI</a:t>
            </a:r>
          </a:p>
        </p:txBody>
      </p:sp>
    </p:spTree>
  </p:cSld>
  <p:clrMapOvr>
    <a:masterClrMapping/>
  </p:clrMapOvr>
</p:sld>
</file>

<file path=ppt/slides/slide496.xml><?xml version="1.0" encoding="utf-8"?>
<p:sld xmlns:a="http://schemas.openxmlformats.org/drawingml/2006/main" xmlns:r="http://schemas.openxmlformats.org/officeDocument/2006/relationships" xmlns:p="http://schemas.openxmlformats.org/presentationml/2006/main">
  <p:cSld>
    <p:spTree>
      <p:nvGrpSpPr>
        <p:cNvPr id="1192" name=""/>
        <p:cNvGrpSpPr/>
        <p:nvPr/>
      </p:nvGrpSpPr>
      <p:grpSpPr>
        <a:xfrm>
          <a:off x="0" y="0"/>
          <a:ext cx="0" cy="0"/>
          <a:chOff x="0" y="0"/>
          <a:chExt cx="0" cy="0"/>
        </a:xfrm>
      </p:grpSpPr>
      <p:sp>
        <p:nvSpPr>
          <p:cNvPr id="1049625" name="Title 1"/>
          <p:cNvSpPr>
            <a:spLocks noGrp="1"/>
          </p:cNvSpPr>
          <p:nvPr>
            <p:ph type="title"/>
          </p:nvPr>
        </p:nvSpPr>
        <p:spPr/>
        <p:txBody>
          <a:bodyPr/>
          <a:p>
            <a:r>
              <a:t>Content </a:t>
            </a:r>
          </a:p>
        </p:txBody>
      </p:sp>
      <p:sp>
        <p:nvSpPr>
          <p:cNvPr id="1049626" name="Content Placeholder 2"/>
          <p:cNvSpPr>
            <a:spLocks noGrp="1"/>
          </p:cNvSpPr>
          <p:nvPr>
            <p:ph idx="1"/>
          </p:nvPr>
        </p:nvSpPr>
        <p:spPr/>
        <p:txBody>
          <a:bodyPr/>
          <a:p>
            <a:r>
              <a:rPr sz="4400"/>
              <a:t>Antimetabolites, alkylating agents, anticancer antibiotics, </a:t>
            </a:r>
            <a:r>
              <a:rPr sz="4400"/>
              <a:t>vinca</a:t>
            </a:r>
            <a:r>
              <a:rPr sz="4400"/>
              <a:t> alkaloids, </a:t>
            </a:r>
            <a:r>
              <a:rPr sz="4400"/>
              <a:t>taxanes</a:t>
            </a:r>
            <a:r>
              <a:rPr sz="4400"/>
              <a:t>, </a:t>
            </a:r>
            <a:r>
              <a:rPr sz="4400"/>
              <a:t>ennymes</a:t>
            </a:r>
            <a:r>
              <a:rPr sz="4400"/>
              <a:t>, </a:t>
            </a:r>
            <a:r>
              <a:rPr sz="4400"/>
              <a:t>epipodophylotoxins</a:t>
            </a:r>
            <a:r>
              <a:rPr sz="4400"/>
              <a:t>, </a:t>
            </a:r>
            <a:r>
              <a:rPr sz="4400"/>
              <a:t>amphoterin</a:t>
            </a:r>
            <a:r>
              <a:rPr sz="4400"/>
              <a:t> analogs, biological response modifiers, hormone antagonists</a:t>
            </a:r>
            <a:endParaRPr sz="4400"/>
          </a:p>
          <a:p/>
        </p:txBody>
      </p:sp>
    </p:spTree>
  </p:cSld>
  <p:clrMapOvr>
    <a:masterClrMapping/>
  </p:clrMapOvr>
</p:sld>
</file>

<file path=ppt/slides/slide497.xml><?xml version="1.0" encoding="utf-8"?>
<p:sld xmlns:a="http://schemas.openxmlformats.org/drawingml/2006/main" xmlns:r="http://schemas.openxmlformats.org/officeDocument/2006/relationships" xmlns:p="http://schemas.openxmlformats.org/presentationml/2006/main">
  <p:cSld>
    <p:spTree>
      <p:nvGrpSpPr>
        <p:cNvPr id="1193" name=""/>
        <p:cNvGrpSpPr/>
        <p:nvPr/>
      </p:nvGrpSpPr>
      <p:grpSpPr>
        <a:xfrm>
          <a:off x="0" y="0"/>
          <a:ext cx="0" cy="0"/>
          <a:chOff x="0" y="0"/>
          <a:chExt cx="0" cy="0"/>
        </a:xfrm>
      </p:grpSpPr>
      <p:sp>
        <p:nvSpPr>
          <p:cNvPr id="1049627" name="Title 1"/>
          <p:cNvSpPr>
            <a:spLocks noGrp="1"/>
          </p:cNvSpPr>
          <p:nvPr>
            <p:ph type="title"/>
          </p:nvPr>
        </p:nvSpPr>
        <p:spPr/>
        <p:txBody>
          <a:bodyPr/>
          <a:p>
            <a:r>
              <a:rPr b="1"/>
              <a:t>Classification </a:t>
            </a:r>
          </a:p>
        </p:txBody>
      </p:sp>
      <p:sp>
        <p:nvSpPr>
          <p:cNvPr id="1049628" name="Content Placeholder 2"/>
          <p:cNvSpPr>
            <a:spLocks noGrp="1"/>
          </p:cNvSpPr>
          <p:nvPr>
            <p:ph idx="1"/>
          </p:nvPr>
        </p:nvSpPr>
        <p:spPr/>
        <p:txBody>
          <a:bodyPr>
            <a:normAutofit fontScale="85000" lnSpcReduction="20000"/>
          </a:bodyPr>
          <a:p>
            <a:r>
              <a:rPr b="1"/>
              <a:t>Alkylating agents </a:t>
            </a:r>
          </a:p>
          <a:p>
            <a:pPr lvl="1"/>
            <a:r>
              <a:t>Chlorambucil</a:t>
            </a:r>
            <a:r>
              <a:t> ,</a:t>
            </a:r>
            <a:r>
              <a:t>busulfan</a:t>
            </a:r>
          </a:p>
          <a:p>
            <a:pPr lvl="1"/>
            <a:r>
              <a:rPr b="1"/>
              <a:t>MOA</a:t>
            </a:r>
          </a:p>
          <a:p>
            <a:pPr lvl="2"/>
            <a:r>
              <a:rPr b="1"/>
              <a:t>Transfere</a:t>
            </a:r>
            <a:r>
              <a:rPr b="1"/>
              <a:t> alkyl groups to cellular </a:t>
            </a:r>
            <a:r>
              <a:rPr b="1"/>
              <a:t>constuents</a:t>
            </a:r>
            <a:r>
              <a:rPr b="1"/>
              <a:t> and bind them </a:t>
            </a:r>
            <a:r>
              <a:rPr b="1"/>
              <a:t>hence,breakage</a:t>
            </a:r>
            <a:r>
              <a:rPr b="1"/>
              <a:t> of DNA strand  </a:t>
            </a:r>
          </a:p>
          <a:p>
            <a:pPr lvl="1"/>
            <a:r>
              <a:rPr b="1"/>
              <a:t>Adverse effects </a:t>
            </a:r>
          </a:p>
          <a:p>
            <a:pPr lvl="2"/>
            <a:r>
              <a:t>Chronic lymphocytic leukemia </a:t>
            </a:r>
          </a:p>
          <a:p>
            <a:pPr lvl="2"/>
            <a:r>
              <a:t>Lymphoma </a:t>
            </a:r>
          </a:p>
          <a:p>
            <a:r>
              <a:rPr b="1"/>
              <a:t>Antimetabolites</a:t>
            </a:r>
          </a:p>
          <a:p>
            <a:pPr lvl="1"/>
            <a:r>
              <a:rPr b="1"/>
              <a:t>Fludarabine,thioguanine,fluorouracil</a:t>
            </a:r>
            <a:r>
              <a:rPr b="1"/>
              <a:t> ,</a:t>
            </a:r>
            <a:r>
              <a:rPr b="1"/>
              <a:t>mercaptopurine</a:t>
            </a:r>
            <a:r>
              <a:rPr b="1"/>
              <a:t>   </a:t>
            </a:r>
          </a:p>
          <a:p>
            <a:r>
              <a:rPr b="1"/>
              <a:t>Folate antagonists </a:t>
            </a:r>
          </a:p>
          <a:p>
            <a:r>
              <a:rPr b="1"/>
              <a:t>Methotrexate </a:t>
            </a:r>
          </a:p>
          <a:p>
            <a:pPr lvl="1"/>
            <a:r>
              <a:t>Inhibits protein synthesis by binding to </a:t>
            </a:r>
            <a:r>
              <a:t>dehydrofolate</a:t>
            </a:r>
            <a:r>
              <a:t> reductase and prevents formation of tetrahydrofolate </a:t>
            </a:r>
          </a:p>
          <a:p/>
        </p:txBody>
      </p:sp>
    </p:spTree>
  </p:cSld>
  <p:clrMapOvr>
    <a:masterClrMapping/>
  </p:clrMapOvr>
</p:sld>
</file>

<file path=ppt/slides/slide498.xml><?xml version="1.0" encoding="utf-8"?>
<p:sld xmlns:a="http://schemas.openxmlformats.org/drawingml/2006/main" xmlns:r="http://schemas.openxmlformats.org/officeDocument/2006/relationships" xmlns:p="http://schemas.openxmlformats.org/presentationml/2006/main">
  <p:cSld>
    <p:spTree>
      <p:nvGrpSpPr>
        <p:cNvPr id="1194" name=""/>
        <p:cNvGrpSpPr/>
        <p:nvPr/>
      </p:nvGrpSpPr>
      <p:grpSpPr>
        <a:xfrm>
          <a:off x="0" y="0"/>
          <a:ext cx="0" cy="0"/>
          <a:chOff x="0" y="0"/>
          <a:chExt cx="0" cy="0"/>
        </a:xfrm>
      </p:grpSpPr>
      <p:sp>
        <p:nvSpPr>
          <p:cNvPr id="1049629" name="Title 1"/>
          <p:cNvSpPr>
            <a:spLocks noGrp="1"/>
          </p:cNvSpPr>
          <p:nvPr>
            <p:ph type="title"/>
          </p:nvPr>
        </p:nvSpPr>
        <p:spPr/>
        <p:txBody>
          <a:bodyPr/>
          <a:p>
            <a:r>
              <a:t>CLASSIFICATION CONT’</a:t>
            </a:r>
          </a:p>
        </p:txBody>
      </p:sp>
      <p:sp>
        <p:nvSpPr>
          <p:cNvPr id="1049630" name="Content Placeholder 2"/>
          <p:cNvSpPr>
            <a:spLocks noGrp="1"/>
          </p:cNvSpPr>
          <p:nvPr>
            <p:ph idx="1"/>
          </p:nvPr>
        </p:nvSpPr>
        <p:spPr/>
        <p:txBody>
          <a:bodyPr>
            <a:normAutofit/>
          </a:bodyPr>
          <a:p>
            <a:r>
              <a:rPr b="1"/>
              <a:t>Natural products </a:t>
            </a:r>
            <a:endParaRPr b="1"/>
          </a:p>
          <a:p>
            <a:r>
              <a:rPr b="1"/>
              <a:t>1-Antibiotics </a:t>
            </a:r>
          </a:p>
          <a:p>
            <a:pPr lvl="1"/>
            <a:r>
              <a:t>Actinomycin</a:t>
            </a:r>
            <a:r>
              <a:t> </a:t>
            </a:r>
          </a:p>
          <a:p>
            <a:pPr lvl="1"/>
            <a:r>
              <a:t>Daunorubicin</a:t>
            </a:r>
            <a:r>
              <a:t> </a:t>
            </a:r>
          </a:p>
          <a:p>
            <a:r>
              <a:t>2-</a:t>
            </a:r>
            <a:r>
              <a:rPr b="1"/>
              <a:t>Vinca alkaloids</a:t>
            </a:r>
            <a:r>
              <a:t> =</a:t>
            </a:r>
            <a:r>
              <a:t>vincristine,vinblastine</a:t>
            </a:r>
            <a:r>
              <a:t> </a:t>
            </a:r>
          </a:p>
          <a:p>
            <a:pPr lvl="1"/>
            <a:r>
              <a:t>Used in </a:t>
            </a:r>
            <a:r>
              <a:t>leukemias,wilms</a:t>
            </a:r>
            <a:r>
              <a:t> </a:t>
            </a:r>
            <a:r>
              <a:t>tumor,hodgkins</a:t>
            </a:r>
            <a:r>
              <a:t> </a:t>
            </a:r>
            <a:r>
              <a:t>liphoma</a:t>
            </a:r>
            <a:r>
              <a:t> </a:t>
            </a:r>
          </a:p>
          <a:p>
            <a:pPr lvl="1"/>
            <a:r>
              <a:t>Etoposide</a:t>
            </a:r>
          </a:p>
          <a:p>
            <a:pPr lvl="1"/>
            <a:r>
              <a:t>Topotecan</a:t>
            </a:r>
          </a:p>
          <a:p>
            <a:pPr lvl="1"/>
            <a:r>
              <a:t>docetaxel</a:t>
            </a:r>
          </a:p>
          <a:p/>
        </p:txBody>
      </p:sp>
    </p:spTree>
  </p:cSld>
  <p:clrMapOvr>
    <a:masterClrMapping/>
  </p:clrMapOvr>
</p:sld>
</file>

<file path=ppt/slides/slide499.xml><?xml version="1.0" encoding="utf-8"?>
<p:sld xmlns:a="http://schemas.openxmlformats.org/drawingml/2006/main" xmlns:r="http://schemas.openxmlformats.org/officeDocument/2006/relationships" xmlns:p="http://schemas.openxmlformats.org/presentationml/2006/main">
  <p:cSld>
    <p:spTree>
      <p:nvGrpSpPr>
        <p:cNvPr id="1195" name=""/>
        <p:cNvGrpSpPr/>
        <p:nvPr/>
      </p:nvGrpSpPr>
      <p:grpSpPr>
        <a:xfrm>
          <a:off x="0" y="0"/>
          <a:ext cx="0" cy="0"/>
          <a:chOff x="0" y="0"/>
          <a:chExt cx="0" cy="0"/>
        </a:xfrm>
      </p:grpSpPr>
      <p:sp>
        <p:nvSpPr>
          <p:cNvPr id="1049631" name="Title 1"/>
          <p:cNvSpPr>
            <a:spLocks noGrp="1"/>
          </p:cNvSpPr>
          <p:nvPr>
            <p:ph type="title"/>
          </p:nvPr>
        </p:nvSpPr>
        <p:spPr/>
        <p:txBody>
          <a:bodyPr/>
          <a:p>
            <a:r>
              <a:t>Antimetabolites</a:t>
            </a:r>
          </a:p>
        </p:txBody>
      </p:sp>
      <p:sp>
        <p:nvSpPr>
          <p:cNvPr id="1049632" name="Content Placeholder 2"/>
          <p:cNvSpPr>
            <a:spLocks noGrp="1"/>
          </p:cNvSpPr>
          <p:nvPr>
            <p:ph idx="1"/>
          </p:nvPr>
        </p:nvSpPr>
        <p:spPr>
          <a:xfrm>
            <a:off x="838204" y="1825618"/>
            <a:ext cx="10515600" cy="4691085"/>
          </a:xfrm>
        </p:spPr>
        <p:txBody>
          <a:bodyPr>
            <a:noAutofit/>
          </a:bodyPr>
          <a:p>
            <a:r>
              <a:rPr sz="3600"/>
              <a:t> chemical compounds that resemble molecules that the cell needs in order to mature and complete cell division. </a:t>
            </a:r>
            <a:endParaRPr sz="3600"/>
          </a:p>
          <a:p>
            <a:r>
              <a:rPr sz="3600"/>
              <a:t>Because the </a:t>
            </a:r>
            <a:r>
              <a:rPr sz="3600"/>
              <a:t>antimetabolites</a:t>
            </a:r>
            <a:r>
              <a:rPr sz="3600"/>
              <a:t> are incorporated into cellular structures or inhibit essential enzymes, further cell maturation is inhibited. </a:t>
            </a:r>
            <a:endParaRPr sz="3600"/>
          </a:p>
          <a:p>
            <a:r>
              <a:rPr sz="3600"/>
              <a:t>The </a:t>
            </a:r>
            <a:r>
              <a:rPr sz="3600"/>
              <a:t>antimetabolites</a:t>
            </a:r>
            <a:r>
              <a:rPr sz="3600"/>
              <a:t> are analogues to key mol- </a:t>
            </a:r>
            <a:r>
              <a:rPr sz="3600"/>
              <a:t>ecules</a:t>
            </a:r>
            <a:r>
              <a:rPr sz="3600"/>
              <a:t> for the synthesis of </a:t>
            </a:r>
            <a:r>
              <a:rPr sz="3600"/>
              <a:t>purines</a:t>
            </a:r>
            <a:r>
              <a:rPr sz="3600"/>
              <a:t> and </a:t>
            </a:r>
            <a:r>
              <a:rPr sz="3600"/>
              <a:t>pyrimidines,DNA</a:t>
            </a:r>
            <a:r>
              <a:rPr sz="3600"/>
              <a:t> and RNA</a:t>
            </a:r>
            <a:endParaRPr sz="3600"/>
          </a:p>
        </p:txBody>
      </p:sp>
    </p:spTree>
  </p:cSld>
  <p:clrMapOvr>
    <a:masterClrMapping/>
  </p:clrMapOvr>
</p:sld>
</file>

<file path=ppt/slides/slide500.xml><?xml version="1.0" encoding="utf-8"?>
<p:sld xmlns:a="http://schemas.openxmlformats.org/drawingml/2006/main" xmlns:r="http://schemas.openxmlformats.org/officeDocument/2006/relationships" xmlns:p="http://schemas.openxmlformats.org/presentationml/2006/main">
  <p:cSld>
    <p:spTree>
      <p:nvGrpSpPr>
        <p:cNvPr id="1196" name=""/>
        <p:cNvGrpSpPr/>
        <p:nvPr/>
      </p:nvGrpSpPr>
      <p:grpSpPr>
        <a:xfrm>
          <a:off x="0" y="0"/>
          <a:ext cx="0" cy="0"/>
          <a:chOff x="0" y="0"/>
          <a:chExt cx="0" cy="0"/>
        </a:xfrm>
      </p:grpSpPr>
      <p:sp>
        <p:nvSpPr>
          <p:cNvPr id="1049633" name="Title 1"/>
          <p:cNvSpPr>
            <a:spLocks noGrp="1"/>
          </p:cNvSpPr>
          <p:nvPr>
            <p:ph type="title"/>
          </p:nvPr>
        </p:nvSpPr>
        <p:spPr/>
        <p:txBody>
          <a:bodyPr/>
          <a:p>
            <a:r>
              <a:t>EXAMPLES</a:t>
            </a:r>
          </a:p>
        </p:txBody>
      </p:sp>
      <p:sp>
        <p:nvSpPr>
          <p:cNvPr id="1049634" name="Content Placeholder 2"/>
          <p:cNvSpPr>
            <a:spLocks noGrp="1"/>
          </p:cNvSpPr>
          <p:nvPr>
            <p:ph idx="1"/>
          </p:nvPr>
        </p:nvSpPr>
        <p:spPr/>
        <p:txBody>
          <a:bodyPr>
            <a:normAutofit/>
          </a:bodyPr>
          <a:p>
            <a:r>
              <a:rPr sz="4000"/>
              <a:t>Capecitabine</a:t>
            </a:r>
            <a:r>
              <a:rPr sz="4000"/>
              <a:t>, </a:t>
            </a:r>
            <a:r>
              <a:rPr sz="4000"/>
              <a:t>Cladribine</a:t>
            </a:r>
            <a:r>
              <a:rPr sz="4000"/>
              <a:t>, </a:t>
            </a:r>
            <a:r>
              <a:rPr sz="4000"/>
              <a:t>Cytarabine</a:t>
            </a:r>
            <a:r>
              <a:rPr sz="4000"/>
              <a:t>, </a:t>
            </a:r>
            <a:r>
              <a:rPr sz="4000"/>
              <a:t>Fludarabine</a:t>
            </a:r>
            <a:r>
              <a:rPr sz="4000"/>
              <a:t>, </a:t>
            </a:r>
            <a:r>
              <a:rPr sz="4000">
                <a:solidFill>
                  <a:srgbClr val="FF0000"/>
                </a:solidFill>
              </a:rPr>
              <a:t>Fluorouracil</a:t>
            </a:r>
            <a:r>
              <a:rPr sz="4000"/>
              <a:t>, </a:t>
            </a:r>
            <a:r>
              <a:rPr sz="4000"/>
              <a:t>Gemcitabine</a:t>
            </a:r>
            <a:r>
              <a:rPr sz="4000"/>
              <a:t>, </a:t>
            </a:r>
            <a:r>
              <a:rPr sz="4000"/>
              <a:t>Mercaptopurine</a:t>
            </a:r>
            <a:r>
              <a:rPr sz="4000"/>
              <a:t>, </a:t>
            </a:r>
            <a:r>
              <a:rPr sz="4000">
                <a:solidFill>
                  <a:srgbClr val="FF0000"/>
                </a:solidFill>
              </a:rPr>
              <a:t>Methotrexate</a:t>
            </a:r>
            <a:r>
              <a:rPr sz="4000"/>
              <a:t>, </a:t>
            </a:r>
            <a:r>
              <a:rPr sz="4000"/>
              <a:t>Pemetrexed</a:t>
            </a:r>
            <a:r>
              <a:rPr sz="4000"/>
              <a:t>, </a:t>
            </a:r>
            <a:r>
              <a:rPr sz="4000"/>
              <a:t>Raltitrexed</a:t>
            </a:r>
            <a:r>
              <a:rPr sz="4000"/>
              <a:t>, </a:t>
            </a:r>
            <a:r>
              <a:rPr sz="4000"/>
              <a:t>Tegafur</a:t>
            </a:r>
            <a:r>
              <a:rPr sz="4000"/>
              <a:t> with </a:t>
            </a:r>
            <a:r>
              <a:rPr sz="4000"/>
              <a:t>Uracil</a:t>
            </a:r>
            <a:r>
              <a:rPr sz="4000"/>
              <a:t>,</a:t>
            </a:r>
            <a:endParaRPr sz="4000"/>
          </a:p>
        </p:txBody>
      </p:sp>
    </p:spTree>
  </p:cSld>
  <p:clrMapOvr>
    <a:masterClrMapping/>
  </p:clrMapOvr>
</p:sld>
</file>

<file path=ppt/slides/slide501.xml><?xml version="1.0" encoding="utf-8"?>
<p:sld xmlns:a="http://schemas.openxmlformats.org/drawingml/2006/main" xmlns:r="http://schemas.openxmlformats.org/officeDocument/2006/relationships" xmlns:p="http://schemas.openxmlformats.org/presentationml/2006/main">
  <p:cSld>
    <p:spTree>
      <p:nvGrpSpPr>
        <p:cNvPr id="1197" name=""/>
        <p:cNvGrpSpPr/>
        <p:nvPr/>
      </p:nvGrpSpPr>
      <p:grpSpPr>
        <a:xfrm>
          <a:off x="0" y="0"/>
          <a:ext cx="0" cy="0"/>
          <a:chOff x="0" y="0"/>
          <a:chExt cx="0" cy="0"/>
        </a:xfrm>
      </p:grpSpPr>
      <p:sp>
        <p:nvSpPr>
          <p:cNvPr id="1049635" name="Title 1"/>
          <p:cNvSpPr>
            <a:spLocks noGrp="1"/>
          </p:cNvSpPr>
          <p:nvPr>
            <p:ph type="title"/>
          </p:nvPr>
        </p:nvSpPr>
        <p:spPr/>
        <p:txBody>
          <a:bodyPr/>
          <a:p>
            <a:r>
              <a:t>METHOTRAXATE</a:t>
            </a:r>
          </a:p>
        </p:txBody>
      </p:sp>
      <p:sp>
        <p:nvSpPr>
          <p:cNvPr id="1049636" name="Content Placeholder 2"/>
          <p:cNvSpPr>
            <a:spLocks noGrp="1"/>
          </p:cNvSpPr>
          <p:nvPr>
            <p:ph idx="1"/>
          </p:nvPr>
        </p:nvSpPr>
        <p:spPr>
          <a:xfrm>
            <a:off x="838204" y="1825618"/>
            <a:ext cx="10515600" cy="4667254"/>
          </a:xfrm>
        </p:spPr>
        <p:txBody>
          <a:bodyPr>
            <a:normAutofit fontScale="97222" lnSpcReduction="10000"/>
          </a:bodyPr>
          <a:p>
            <a:r>
              <a:rPr sz="3600"/>
              <a:t>Is a folic acid analogue that inhibits the enzyme dihydrofolate reductase, which metabolizes folic acid to reduced folic acid. </a:t>
            </a:r>
            <a:endParaRPr sz="3600"/>
          </a:p>
          <a:p>
            <a:r>
              <a:rPr sz="3600"/>
              <a:t>Reduced folic acid is needed in the synthesis of </a:t>
            </a:r>
            <a:r>
              <a:rPr sz="3600"/>
              <a:t>thymidylate,which</a:t>
            </a:r>
            <a:r>
              <a:rPr sz="3600"/>
              <a:t> is a building block in the synthesis of DNA. </a:t>
            </a:r>
            <a:endParaRPr sz="3600"/>
          </a:p>
          <a:p>
            <a:r>
              <a:rPr sz="3600">
                <a:solidFill>
                  <a:srgbClr val="FF0000"/>
                </a:solidFill>
              </a:rPr>
              <a:t>In this way, methotrexate inhibits DNA synthesis.</a:t>
            </a:r>
            <a:endParaRPr sz="3600">
              <a:solidFill>
                <a:srgbClr val="FF0000"/>
              </a:solidFill>
            </a:endParaRPr>
          </a:p>
          <a:p>
            <a:r>
              <a:rPr sz="3600"/>
              <a:t>Methotrexate reduces the ability for cell division in all tissues with a large turnover of cells</a:t>
            </a:r>
            <a:endParaRPr sz="3600"/>
          </a:p>
        </p:txBody>
      </p:sp>
    </p:spTree>
  </p:cSld>
  <p:clrMapOvr>
    <a:masterClrMapping/>
  </p:clrMapOvr>
</p:sld>
</file>

<file path=ppt/slides/slide502.xml><?xml version="1.0" encoding="utf-8"?>
<p:sld xmlns:a="http://schemas.openxmlformats.org/drawingml/2006/main" xmlns:r="http://schemas.openxmlformats.org/officeDocument/2006/relationships" xmlns:p="http://schemas.openxmlformats.org/presentationml/2006/main">
  <p:cSld>
    <p:spTree>
      <p:nvGrpSpPr>
        <p:cNvPr id="1198" name=""/>
        <p:cNvGrpSpPr/>
        <p:nvPr/>
      </p:nvGrpSpPr>
      <p:grpSpPr>
        <a:xfrm>
          <a:off x="0" y="0"/>
          <a:ext cx="0" cy="0"/>
          <a:chOff x="0" y="0"/>
          <a:chExt cx="0" cy="0"/>
        </a:xfrm>
      </p:grpSpPr>
      <p:sp>
        <p:nvSpPr>
          <p:cNvPr id="1049637" name="Title 1"/>
          <p:cNvSpPr>
            <a:spLocks noGrp="1"/>
          </p:cNvSpPr>
          <p:nvPr>
            <p:ph type="title"/>
          </p:nvPr>
        </p:nvSpPr>
        <p:spPr/>
        <p:txBody>
          <a:bodyPr/>
          <a:p>
            <a:r>
              <a:t>METHOTRAXATE</a:t>
            </a:r>
          </a:p>
        </p:txBody>
      </p:sp>
      <p:sp>
        <p:nvSpPr>
          <p:cNvPr id="1049638" name="Content Placeholder 2"/>
          <p:cNvSpPr>
            <a:spLocks noGrp="1"/>
          </p:cNvSpPr>
          <p:nvPr>
            <p:ph idx="1"/>
          </p:nvPr>
        </p:nvSpPr>
        <p:spPr>
          <a:xfrm>
            <a:off x="447670" y="1581154"/>
            <a:ext cx="11468104" cy="5000625"/>
          </a:xfrm>
        </p:spPr>
        <p:txBody>
          <a:bodyPr>
            <a:normAutofit/>
          </a:bodyPr>
          <a:p>
            <a:r>
              <a:t>High-dose methotrexate is a standard treatment in </a:t>
            </a:r>
            <a:r>
              <a:rPr>
                <a:solidFill>
                  <a:srgbClr val="FF0000"/>
                </a:solidFill>
              </a:rPr>
              <a:t>acute lymphatic </a:t>
            </a:r>
            <a:r>
              <a:rPr>
                <a:solidFill>
                  <a:srgbClr val="FF0000"/>
                </a:solidFill>
              </a:rPr>
              <a:t>leukaemia</a:t>
            </a:r>
            <a:r>
              <a:rPr>
                <a:solidFill>
                  <a:srgbClr val="FF0000"/>
                </a:solidFill>
              </a:rPr>
              <a:t> </a:t>
            </a:r>
            <a:r>
              <a:t>and in a number of other forms of cancer.</a:t>
            </a:r>
          </a:p>
          <a:p>
            <a:pPr lvl="1"/>
            <a:r>
              <a:t>In metastases to the central nervous sys- tem, methotrexate is injected intrathecally, i.e. into the cerebrospinal fluid. </a:t>
            </a:r>
          </a:p>
          <a:p>
            <a:r>
              <a:t>This treatment is necessary because </a:t>
            </a:r>
            <a:r>
              <a:t>methotrexate</a:t>
            </a:r>
            <a:r>
              <a:t> is </a:t>
            </a:r>
            <a:r>
              <a:rPr b="1"/>
              <a:t>poorly transported across the blood– brain barrier.</a:t>
            </a:r>
            <a:endParaRPr b="1"/>
          </a:p>
          <a:p>
            <a:r>
              <a:t>Low-dose methotrexate is used in </a:t>
            </a:r>
            <a:r>
              <a:rPr>
                <a:solidFill>
                  <a:srgbClr val="FF0000"/>
                </a:solidFill>
              </a:rPr>
              <a:t>autoimmune diseases such as psoriasis and rheumatoid arthritis</a:t>
            </a:r>
            <a:r>
              <a:t>.</a:t>
            </a:r>
          </a:p>
          <a:p>
            <a:r>
              <a:t>To avoid irreversible damage to the bone marrow during high-dose methotrexate therapy, </a:t>
            </a:r>
            <a:r>
              <a:t>leucovorin</a:t>
            </a:r>
            <a:r>
              <a:t> is administered</a:t>
            </a:r>
          </a:p>
          <a:p/>
        </p:txBody>
      </p:sp>
    </p:spTree>
  </p:cSld>
  <p:clrMapOvr>
    <a:masterClrMapping/>
  </p:clrMapOvr>
</p:sld>
</file>

<file path=ppt/slides/slide503.xml><?xml version="1.0" encoding="utf-8"?>
<p:sld xmlns:a="http://schemas.openxmlformats.org/drawingml/2006/main" xmlns:r="http://schemas.openxmlformats.org/officeDocument/2006/relationships" xmlns:p="http://schemas.openxmlformats.org/presentationml/2006/main">
  <p:cSld>
    <p:spTree>
      <p:nvGrpSpPr>
        <p:cNvPr id="1199" name=""/>
        <p:cNvGrpSpPr/>
        <p:nvPr/>
      </p:nvGrpSpPr>
      <p:grpSpPr>
        <a:xfrm>
          <a:off x="0" y="0"/>
          <a:ext cx="0" cy="0"/>
          <a:chOff x="0" y="0"/>
          <a:chExt cx="0" cy="0"/>
        </a:xfrm>
      </p:grpSpPr>
      <p:sp>
        <p:nvSpPr>
          <p:cNvPr id="1049639" name="Title 1"/>
          <p:cNvSpPr>
            <a:spLocks noGrp="1"/>
          </p:cNvSpPr>
          <p:nvPr>
            <p:ph type="title"/>
          </p:nvPr>
        </p:nvSpPr>
        <p:spPr/>
        <p:txBody>
          <a:bodyPr/>
          <a:p>
            <a:r>
              <a:t>Cont</a:t>
            </a:r>
            <a:r>
              <a:t>’</a:t>
            </a:r>
          </a:p>
        </p:txBody>
      </p:sp>
      <p:sp>
        <p:nvSpPr>
          <p:cNvPr id="1049640" name="Content Placeholder 2"/>
          <p:cNvSpPr>
            <a:spLocks noGrp="1"/>
          </p:cNvSpPr>
          <p:nvPr>
            <p:ph idx="1"/>
          </p:nvPr>
        </p:nvSpPr>
        <p:spPr/>
        <p:txBody>
          <a:bodyPr>
            <a:normAutofit fontScale="79167" lnSpcReduction="20000"/>
          </a:bodyPr>
          <a:p>
            <a:r>
              <a:rPr b="1"/>
              <a:t>Methotrexate </a:t>
            </a:r>
          </a:p>
          <a:p>
            <a:pPr lvl="1"/>
            <a:r>
              <a:t>Inhibits protein synthesis by binding to </a:t>
            </a:r>
            <a:r>
              <a:t>dehydrofolate</a:t>
            </a:r>
            <a:r>
              <a:t> reductase and prevents formation of tetrahydrofolate </a:t>
            </a:r>
            <a:endParaRPr b="1"/>
          </a:p>
          <a:p>
            <a:r>
              <a:rPr b="1"/>
              <a:t>Indications </a:t>
            </a:r>
          </a:p>
          <a:p>
            <a:pPr lvl="1"/>
            <a:r>
              <a:t>Acute leukemia</a:t>
            </a:r>
          </a:p>
          <a:p>
            <a:pPr lvl="1"/>
            <a:r>
              <a:t>Breast ca </a:t>
            </a:r>
          </a:p>
          <a:p>
            <a:pPr lvl="1"/>
            <a:r>
              <a:t>Tissue sarcomas</a:t>
            </a:r>
          </a:p>
          <a:p>
            <a:pPr lvl="1"/>
            <a:r>
              <a:t>Choriocarcinoma</a:t>
            </a:r>
            <a:r>
              <a:t> </a:t>
            </a:r>
          </a:p>
          <a:p>
            <a:pPr lvl="1"/>
            <a:r>
              <a:t>Psoriasis</a:t>
            </a:r>
            <a:r>
              <a:rPr b="1"/>
              <a:t> </a:t>
            </a:r>
          </a:p>
          <a:p>
            <a:r>
              <a:rPr b="1"/>
              <a:t>Adverse reactions </a:t>
            </a:r>
          </a:p>
          <a:p>
            <a:pPr lvl="1"/>
            <a:r>
              <a:t>Bone marrow depression </a:t>
            </a:r>
          </a:p>
          <a:p>
            <a:pPr lvl="1"/>
            <a:r>
              <a:t>Affects the skin and GIT mucosa</a:t>
            </a:r>
          </a:p>
          <a:p>
            <a:r>
              <a:rPr b="1"/>
              <a:t>N/B </a:t>
            </a:r>
            <a:r>
              <a:t>toxicity is overcome by </a:t>
            </a:r>
            <a:r>
              <a:t>adm</a:t>
            </a:r>
            <a:r>
              <a:t> of </a:t>
            </a:r>
            <a:r>
              <a:t>folinic</a:t>
            </a:r>
            <a:r>
              <a:t> acid –converted to THF used by cells </a:t>
            </a:r>
          </a:p>
          <a:p>
            <a:r>
              <a:t> Read on purine antagonists and pyrimidine analogs</a:t>
            </a:r>
            <a:r>
              <a:rPr b="1"/>
              <a:t> </a:t>
            </a:r>
          </a:p>
        </p:txBody>
      </p:sp>
    </p:spTree>
  </p:cSld>
  <p:clrMapOvr>
    <a:masterClrMapping/>
  </p:clrMapOvr>
</p:sld>
</file>

<file path=ppt/slides/slide504.xml><?xml version="1.0" encoding="utf-8"?>
<p:sld xmlns:a="http://schemas.openxmlformats.org/drawingml/2006/main" xmlns:r="http://schemas.openxmlformats.org/officeDocument/2006/relationships" xmlns:p="http://schemas.openxmlformats.org/presentationml/2006/main">
  <p:cSld>
    <p:spTree>
      <p:nvGrpSpPr>
        <p:cNvPr id="1200" name=""/>
        <p:cNvGrpSpPr/>
        <p:nvPr/>
      </p:nvGrpSpPr>
      <p:grpSpPr>
        <a:xfrm>
          <a:off x="0" y="0"/>
          <a:ext cx="0" cy="0"/>
          <a:chOff x="0" y="0"/>
          <a:chExt cx="0" cy="0"/>
        </a:xfrm>
      </p:grpSpPr>
      <p:sp>
        <p:nvSpPr>
          <p:cNvPr id="1049641" name="Title 1"/>
          <p:cNvSpPr>
            <a:spLocks noGrp="1"/>
          </p:cNvSpPr>
          <p:nvPr>
            <p:ph type="title"/>
          </p:nvPr>
        </p:nvSpPr>
        <p:spPr/>
        <p:txBody>
          <a:bodyPr/>
          <a:p>
            <a:r>
              <a:t>Fluorouracil</a:t>
            </a:r>
          </a:p>
        </p:txBody>
      </p:sp>
      <p:sp>
        <p:nvSpPr>
          <p:cNvPr id="1049642" name="Content Placeholder 2"/>
          <p:cNvSpPr>
            <a:spLocks noGrp="1"/>
          </p:cNvSpPr>
          <p:nvPr>
            <p:ph idx="1"/>
          </p:nvPr>
        </p:nvSpPr>
        <p:spPr/>
        <p:txBody>
          <a:bodyPr>
            <a:normAutofit fontScale="96429" lnSpcReduction="10000"/>
          </a:bodyPr>
          <a:p>
            <a:r>
              <a:rPr sz="3600"/>
              <a:t>inhibits synthesis of </a:t>
            </a:r>
            <a:r>
              <a:rPr sz="3600"/>
              <a:t>thymidylate</a:t>
            </a:r>
            <a:r>
              <a:rPr sz="3600"/>
              <a:t>, and consequently DNA synthesis.</a:t>
            </a:r>
            <a:endParaRPr sz="3600"/>
          </a:p>
          <a:p>
            <a:r>
              <a:rPr sz="3600"/>
              <a:t> The substance is a </a:t>
            </a:r>
            <a:r>
              <a:rPr sz="3600"/>
              <a:t>uracil</a:t>
            </a:r>
            <a:r>
              <a:rPr sz="3600"/>
              <a:t> (nucleic acid base) analogue and is used in the treatment of different forms of cancer in the intestinal tract.</a:t>
            </a:r>
            <a:endParaRPr sz="3600"/>
          </a:p>
          <a:p>
            <a:r>
              <a:rPr sz="3600"/>
              <a:t>Given IV infusion or bolus</a:t>
            </a:r>
            <a:endParaRPr sz="3600"/>
          </a:p>
          <a:p>
            <a:pPr>
              <a:buNone/>
            </a:pPr>
            <a:r>
              <a:rPr b="1" sz="3600"/>
              <a:t>Side effects </a:t>
            </a:r>
            <a:r>
              <a:rPr sz="3600"/>
              <a:t>-Produces leucopenia and ulceration 0f the mouth</a:t>
            </a:r>
            <a:endParaRPr sz="3600"/>
          </a:p>
          <a:p/>
        </p:txBody>
      </p:sp>
    </p:spTree>
  </p:cSld>
  <p:clrMapOvr>
    <a:masterClrMapping/>
  </p:clrMapOvr>
</p:sld>
</file>

<file path=ppt/slides/slide505.xml><?xml version="1.0" encoding="utf-8"?>
<p:sld xmlns:a="http://schemas.openxmlformats.org/drawingml/2006/main" xmlns:r="http://schemas.openxmlformats.org/officeDocument/2006/relationships" xmlns:p="http://schemas.openxmlformats.org/presentationml/2006/main">
  <p:cSld>
    <p:spTree>
      <p:nvGrpSpPr>
        <p:cNvPr id="1201" name=""/>
        <p:cNvGrpSpPr/>
        <p:nvPr/>
      </p:nvGrpSpPr>
      <p:grpSpPr>
        <a:xfrm>
          <a:off x="0" y="0"/>
          <a:ext cx="0" cy="0"/>
          <a:chOff x="0" y="0"/>
          <a:chExt cx="0" cy="0"/>
        </a:xfrm>
      </p:grpSpPr>
      <p:sp>
        <p:nvSpPr>
          <p:cNvPr id="1049643" name="Title 1"/>
          <p:cNvSpPr>
            <a:spLocks noGrp="1"/>
          </p:cNvSpPr>
          <p:nvPr>
            <p:ph type="title"/>
          </p:nvPr>
        </p:nvSpPr>
        <p:spPr/>
        <p:txBody>
          <a:bodyPr/>
          <a:p>
            <a:r>
              <a:t>Mercaptopurine</a:t>
            </a:r>
          </a:p>
        </p:txBody>
      </p:sp>
      <p:sp>
        <p:nvSpPr>
          <p:cNvPr id="1049644" name="Content Placeholder 2"/>
          <p:cNvSpPr>
            <a:spLocks noGrp="1"/>
          </p:cNvSpPr>
          <p:nvPr>
            <p:ph idx="1"/>
          </p:nvPr>
        </p:nvSpPr>
        <p:spPr/>
        <p:txBody>
          <a:bodyPr/>
          <a:p>
            <a:r>
              <a:rPr sz="3600"/>
              <a:t>is a </a:t>
            </a:r>
            <a:r>
              <a:rPr sz="3600"/>
              <a:t>purine</a:t>
            </a:r>
            <a:r>
              <a:rPr sz="3600"/>
              <a:t> analogue that inhibits DNA synthesis after it is activated by metabolism. </a:t>
            </a:r>
            <a:endParaRPr sz="3600"/>
          </a:p>
          <a:p>
            <a:r>
              <a:rPr sz="3600"/>
              <a:t>The drug is included as a standard treatment in acute lymphatic </a:t>
            </a:r>
            <a:r>
              <a:rPr sz="3600"/>
              <a:t>leukaemia</a:t>
            </a:r>
            <a:r>
              <a:rPr sz="3600"/>
              <a:t>.</a:t>
            </a:r>
            <a:endParaRPr sz="3600"/>
          </a:p>
          <a:p>
            <a:r>
              <a:rPr sz="3600"/>
              <a:t> </a:t>
            </a:r>
            <a:r>
              <a:rPr sz="3600"/>
              <a:t>Azathioprine</a:t>
            </a:r>
            <a:r>
              <a:rPr sz="3600"/>
              <a:t>, which is used in immune suppression, is metabolized to </a:t>
            </a:r>
            <a:r>
              <a:rPr sz="3600"/>
              <a:t>mercaptopurine</a:t>
            </a:r>
            <a:r>
              <a:rPr sz="3600"/>
              <a:t> in the body.</a:t>
            </a:r>
            <a:endParaRPr sz="3600"/>
          </a:p>
          <a:p/>
        </p:txBody>
      </p:sp>
    </p:spTree>
  </p:cSld>
  <p:clrMapOvr>
    <a:masterClrMapping/>
  </p:clrMapOvr>
</p:sld>
</file>

<file path=ppt/slides/slide506.xml><?xml version="1.0" encoding="utf-8"?>
<p:sld xmlns:a="http://schemas.openxmlformats.org/drawingml/2006/main" xmlns:r="http://schemas.openxmlformats.org/officeDocument/2006/relationships" xmlns:p="http://schemas.openxmlformats.org/presentationml/2006/main">
  <p:cSld>
    <p:spTree>
      <p:nvGrpSpPr>
        <p:cNvPr id="1202" name=""/>
        <p:cNvGrpSpPr/>
        <p:nvPr/>
      </p:nvGrpSpPr>
      <p:grpSpPr>
        <a:xfrm>
          <a:off x="0" y="0"/>
          <a:ext cx="0" cy="0"/>
          <a:chOff x="0" y="0"/>
          <a:chExt cx="0" cy="0"/>
        </a:xfrm>
      </p:grpSpPr>
      <p:sp>
        <p:nvSpPr>
          <p:cNvPr id="1049645" name="Title 1"/>
          <p:cNvSpPr>
            <a:spLocks noGrp="1"/>
          </p:cNvSpPr>
          <p:nvPr>
            <p:ph type="title"/>
          </p:nvPr>
        </p:nvSpPr>
        <p:spPr/>
        <p:txBody>
          <a:bodyPr/>
          <a:p>
            <a:r>
              <a:t>Cytotoxic</a:t>
            </a:r>
            <a:r>
              <a:t> antibiotics</a:t>
            </a:r>
          </a:p>
        </p:txBody>
      </p:sp>
      <p:sp>
        <p:nvSpPr>
          <p:cNvPr id="1049646" name="Content Placeholder 2"/>
          <p:cNvSpPr>
            <a:spLocks noGrp="1"/>
          </p:cNvSpPr>
          <p:nvPr>
            <p:ph idx="1"/>
          </p:nvPr>
        </p:nvSpPr>
        <p:spPr/>
        <p:txBody>
          <a:bodyPr>
            <a:normAutofit fontScale="85714" lnSpcReduction="20000"/>
          </a:bodyPr>
          <a:p>
            <a:pPr>
              <a:buNone/>
            </a:pPr>
            <a:r>
              <a:t>Prevent cell division either through a direct action on the DNA itself or by blocking the enzymes involved in DNA replication</a:t>
            </a:r>
          </a:p>
          <a:p>
            <a:r>
              <a:t>Aclarubicin</a:t>
            </a:r>
          </a:p>
          <a:p>
            <a:r>
              <a:t> </a:t>
            </a:r>
            <a:r>
              <a:rPr>
                <a:solidFill>
                  <a:srgbClr val="FF0000"/>
                </a:solidFill>
              </a:rPr>
              <a:t>Bleomycin</a:t>
            </a:r>
            <a:endParaRPr>
              <a:solidFill>
                <a:srgbClr val="FF0000"/>
              </a:solidFill>
            </a:endParaRPr>
          </a:p>
          <a:p>
            <a:r>
              <a:t> Dactinomycin</a:t>
            </a:r>
          </a:p>
          <a:p>
            <a:r>
              <a:t>Daunorubicin</a:t>
            </a:r>
          </a:p>
          <a:p>
            <a:r>
              <a:t> </a:t>
            </a:r>
            <a:r>
              <a:rPr>
                <a:solidFill>
                  <a:srgbClr val="FF0000"/>
                </a:solidFill>
              </a:rPr>
              <a:t>Doxorubicin</a:t>
            </a:r>
            <a:endParaRPr>
              <a:solidFill>
                <a:srgbClr val="FF0000"/>
              </a:solidFill>
            </a:endParaRPr>
          </a:p>
          <a:p>
            <a:r>
              <a:t>Epirubicin</a:t>
            </a:r>
          </a:p>
          <a:p>
            <a:r>
              <a:t> Idarubicin,</a:t>
            </a:r>
          </a:p>
          <a:p>
            <a:r>
              <a:t>Mitomycin</a:t>
            </a:r>
          </a:p>
          <a:p>
            <a:r>
              <a:t>Mitoxantrone</a:t>
            </a:r>
          </a:p>
          <a:p>
            <a:pPr>
              <a:buNone/>
            </a:pPr>
          </a:p>
        </p:txBody>
      </p:sp>
    </p:spTree>
  </p:cSld>
  <p:clrMapOvr>
    <a:masterClrMapping/>
  </p:clrMapOvr>
</p:sld>
</file>

<file path=ppt/slides/slide507.xml><?xml version="1.0" encoding="utf-8"?>
<p:sld xmlns:a="http://schemas.openxmlformats.org/drawingml/2006/main" xmlns:r="http://schemas.openxmlformats.org/officeDocument/2006/relationships" xmlns:p="http://schemas.openxmlformats.org/presentationml/2006/main">
  <p:cSld>
    <p:spTree>
      <p:nvGrpSpPr>
        <p:cNvPr id="1203" name=""/>
        <p:cNvGrpSpPr/>
        <p:nvPr/>
      </p:nvGrpSpPr>
      <p:grpSpPr>
        <a:xfrm>
          <a:off x="0" y="0"/>
          <a:ext cx="0" cy="0"/>
          <a:chOff x="0" y="0"/>
          <a:chExt cx="0" cy="0"/>
        </a:xfrm>
      </p:grpSpPr>
      <p:sp>
        <p:nvSpPr>
          <p:cNvPr id="1049647" name="Title 1"/>
          <p:cNvSpPr>
            <a:spLocks noGrp="1"/>
          </p:cNvSpPr>
          <p:nvPr>
            <p:ph type="title"/>
          </p:nvPr>
        </p:nvSpPr>
        <p:spPr/>
        <p:txBody>
          <a:bodyPr/>
          <a:p>
            <a:r>
              <a:rPr b="1"/>
              <a:t>DOXORUBICIN</a:t>
            </a:r>
          </a:p>
        </p:txBody>
      </p:sp>
      <p:sp>
        <p:nvSpPr>
          <p:cNvPr id="1049648" name="Content Placeholder 2"/>
          <p:cNvSpPr>
            <a:spLocks noGrp="1"/>
          </p:cNvSpPr>
          <p:nvPr>
            <p:ph idx="1"/>
          </p:nvPr>
        </p:nvSpPr>
        <p:spPr>
          <a:xfrm>
            <a:off x="552454" y="1485900"/>
            <a:ext cx="10801350" cy="5006973"/>
          </a:xfrm>
        </p:spPr>
        <p:txBody>
          <a:bodyPr>
            <a:normAutofit fontScale="100000" lnSpcReduction="10000"/>
          </a:bodyPr>
          <a:p>
            <a:pPr>
              <a:buNone/>
            </a:pPr>
            <a:r>
              <a:t>-most widely used cytotoxic antibiotics</a:t>
            </a:r>
          </a:p>
          <a:p>
            <a:pPr>
              <a:buNone/>
            </a:pPr>
            <a:r>
              <a:rPr b="1"/>
              <a:t>MOA</a:t>
            </a:r>
            <a:r>
              <a:t>-binds to DNA itself thus preventing DNA and RNA </a:t>
            </a:r>
            <a:r>
              <a:t>synthesis.inhits</a:t>
            </a:r>
            <a:r>
              <a:t> also action of </a:t>
            </a:r>
            <a:r>
              <a:t>topoisomerase</a:t>
            </a:r>
            <a:r>
              <a:t> II that allows DNA to be reproduced</a:t>
            </a:r>
          </a:p>
          <a:p>
            <a:r>
              <a:t>Used to treat </a:t>
            </a:r>
            <a:r>
              <a:t>lymphomas,leukaemias</a:t>
            </a:r>
            <a:r>
              <a:t> and solid </a:t>
            </a:r>
            <a:r>
              <a:t>tumours</a:t>
            </a:r>
          </a:p>
          <a:p>
            <a:r>
              <a:t>Therapeutic use-given IV  every 3 weeks in combination with other </a:t>
            </a:r>
            <a:r>
              <a:t>cytotocic</a:t>
            </a:r>
            <a:r>
              <a:t> drugs</a:t>
            </a:r>
          </a:p>
          <a:p>
            <a:r>
              <a:t>It can also be instilled  directly into the bladder</a:t>
            </a:r>
          </a:p>
          <a:p>
            <a:r>
              <a:rPr b="1"/>
              <a:t>Adverse effects-</a:t>
            </a:r>
            <a:endParaRPr b="1"/>
          </a:p>
          <a:p>
            <a:pPr lvl="1"/>
            <a:r>
              <a:t>depress bone marrow</a:t>
            </a:r>
          </a:p>
          <a:p>
            <a:pPr lvl="1"/>
            <a:r>
              <a:t>Nausea </a:t>
            </a:r>
          </a:p>
          <a:p>
            <a:pPr lvl="1"/>
            <a:r>
              <a:t>Vomiting</a:t>
            </a:r>
          </a:p>
          <a:p>
            <a:pPr lvl="1"/>
            <a:r>
              <a:t>Hair loss</a:t>
            </a:r>
          </a:p>
          <a:p/>
        </p:txBody>
      </p:sp>
    </p:spTree>
  </p:cSld>
  <p:clrMapOvr>
    <a:masterClrMapping/>
  </p:clrMapOvr>
</p:sld>
</file>

<file path=ppt/slides/slide508.xml><?xml version="1.0" encoding="utf-8"?>
<p:sld xmlns:a="http://schemas.openxmlformats.org/drawingml/2006/main" xmlns:r="http://schemas.openxmlformats.org/officeDocument/2006/relationships" xmlns:p="http://schemas.openxmlformats.org/presentationml/2006/main">
  <p:cSld>
    <p:spTree>
      <p:nvGrpSpPr>
        <p:cNvPr id="1204" name=""/>
        <p:cNvGrpSpPr/>
        <p:nvPr/>
      </p:nvGrpSpPr>
      <p:grpSpPr>
        <a:xfrm>
          <a:off x="0" y="0"/>
          <a:ext cx="0" cy="0"/>
          <a:chOff x="0" y="0"/>
          <a:chExt cx="0" cy="0"/>
        </a:xfrm>
      </p:grpSpPr>
      <p:sp>
        <p:nvSpPr>
          <p:cNvPr id="1049649" name="Title 1"/>
          <p:cNvSpPr>
            <a:spLocks noGrp="1"/>
          </p:cNvSpPr>
          <p:nvPr>
            <p:ph type="title"/>
          </p:nvPr>
        </p:nvSpPr>
        <p:spPr/>
        <p:txBody>
          <a:bodyPr/>
          <a:p>
            <a:r>
              <a:t>Bleomycin</a:t>
            </a:r>
          </a:p>
        </p:txBody>
      </p:sp>
      <p:sp>
        <p:nvSpPr>
          <p:cNvPr id="1049650" name="Content Placeholder 2"/>
          <p:cNvSpPr>
            <a:spLocks noGrp="1"/>
          </p:cNvSpPr>
          <p:nvPr>
            <p:ph idx="1"/>
          </p:nvPr>
        </p:nvSpPr>
        <p:spPr/>
        <p:txBody>
          <a:bodyPr/>
          <a:p>
            <a:r>
              <a:rPr sz="3600"/>
              <a:t>relatively weak anticancer effects</a:t>
            </a:r>
            <a:endParaRPr sz="3600"/>
          </a:p>
          <a:p>
            <a:r>
              <a:rPr sz="3600"/>
              <a:t>Combined to treat testicular cancers and lymphomas</a:t>
            </a:r>
            <a:endParaRPr sz="3600"/>
          </a:p>
          <a:p>
            <a:r>
              <a:rPr sz="3600"/>
              <a:t>Injected on weekly intervals and spike of fever may follow injection </a:t>
            </a:r>
            <a:endParaRPr sz="3600"/>
          </a:p>
          <a:p>
            <a:r>
              <a:rPr sz="3600"/>
              <a:t>Does not cause bone marrow depression but prolonged use leads to lung fibrosis</a:t>
            </a:r>
            <a:endParaRPr sz="3600"/>
          </a:p>
          <a:p/>
        </p:txBody>
      </p:sp>
    </p:spTree>
  </p:cSld>
  <p:clrMapOvr>
    <a:masterClrMapping/>
  </p:clrMapOvr>
</p:sld>
</file>

<file path=ppt/slides/slide509.xml><?xml version="1.0" encoding="utf-8"?>
<p:sld xmlns:a="http://schemas.openxmlformats.org/drawingml/2006/main" xmlns:r="http://schemas.openxmlformats.org/officeDocument/2006/relationships" xmlns:p="http://schemas.openxmlformats.org/presentationml/2006/main">
  <p:cSld>
    <p:spTree>
      <p:nvGrpSpPr>
        <p:cNvPr id="1205" name=""/>
        <p:cNvGrpSpPr/>
        <p:nvPr/>
      </p:nvGrpSpPr>
      <p:grpSpPr>
        <a:xfrm>
          <a:off x="0" y="0"/>
          <a:ext cx="0" cy="0"/>
          <a:chOff x="0" y="0"/>
          <a:chExt cx="0" cy="0"/>
        </a:xfrm>
      </p:grpSpPr>
      <p:sp>
        <p:nvSpPr>
          <p:cNvPr id="1049651" name="Title 1"/>
          <p:cNvSpPr>
            <a:spLocks noGrp="1"/>
          </p:cNvSpPr>
          <p:nvPr>
            <p:ph type="title"/>
          </p:nvPr>
        </p:nvSpPr>
        <p:spPr/>
        <p:txBody>
          <a:bodyPr/>
          <a:p>
            <a:r>
              <a:t>Plant alkaloids</a:t>
            </a:r>
          </a:p>
        </p:txBody>
      </p:sp>
      <p:sp>
        <p:nvSpPr>
          <p:cNvPr id="1049652" name="Content Placeholder 2"/>
          <p:cNvSpPr>
            <a:spLocks noGrp="1"/>
          </p:cNvSpPr>
          <p:nvPr>
            <p:ph idx="1"/>
          </p:nvPr>
        </p:nvSpPr>
        <p:spPr/>
        <p:txBody>
          <a:bodyPr/>
          <a:p>
            <a:r>
              <a:t> </a:t>
            </a:r>
            <a:r>
              <a:rPr sz="3600"/>
              <a:t>agents that inhibit mitosis because they bind to the microtubule apparatus (the spindles) in the cells. </a:t>
            </a:r>
            <a:endParaRPr sz="3600"/>
          </a:p>
          <a:p>
            <a:r>
              <a:rPr sz="3600"/>
              <a:t>Mitosis is inhibited so cell division stops.</a:t>
            </a:r>
            <a:endParaRPr sz="3600"/>
          </a:p>
          <a:p>
            <a:r>
              <a:rPr sz="3600"/>
              <a:t>They are therefore also characterized as spindle toxins</a:t>
            </a:r>
            <a:endParaRPr sz="3600"/>
          </a:p>
          <a:p>
            <a:r>
              <a:rPr sz="3600">
                <a:solidFill>
                  <a:srgbClr val="FF0000"/>
                </a:solidFill>
              </a:rPr>
              <a:t>Vinblastine</a:t>
            </a:r>
            <a:r>
              <a:rPr sz="3600">
                <a:solidFill>
                  <a:srgbClr val="FF0000"/>
                </a:solidFill>
              </a:rPr>
              <a:t> and </a:t>
            </a:r>
            <a:r>
              <a:rPr sz="3600">
                <a:solidFill>
                  <a:srgbClr val="FF0000"/>
                </a:solidFill>
              </a:rPr>
              <a:t>vincristine</a:t>
            </a:r>
            <a:r>
              <a:rPr sz="3600">
                <a:solidFill>
                  <a:srgbClr val="FF0000"/>
                </a:solidFill>
              </a:rPr>
              <a:t> </a:t>
            </a:r>
            <a:r>
              <a:rPr sz="3600"/>
              <a:t>belong to this group.</a:t>
            </a:r>
            <a:endParaRPr sz="3600"/>
          </a:p>
          <a:p/>
        </p:txBody>
      </p:sp>
    </p:spTree>
  </p:cSld>
  <p:clrMapOvr>
    <a:masterClrMapping/>
  </p:clrMapOvr>
</p:sld>
</file>

<file path=ppt/slides/slide510.xml><?xml version="1.0" encoding="utf-8"?>
<p:sld xmlns:a="http://schemas.openxmlformats.org/drawingml/2006/main" xmlns:r="http://schemas.openxmlformats.org/officeDocument/2006/relationships" xmlns:p="http://schemas.openxmlformats.org/presentationml/2006/main">
  <p:cSld>
    <p:spTree>
      <p:nvGrpSpPr>
        <p:cNvPr id="1206" name=""/>
        <p:cNvGrpSpPr/>
        <p:nvPr/>
      </p:nvGrpSpPr>
      <p:grpSpPr>
        <a:xfrm>
          <a:off x="0" y="0"/>
          <a:ext cx="0" cy="0"/>
          <a:chOff x="0" y="0"/>
          <a:chExt cx="0" cy="0"/>
        </a:xfrm>
      </p:grpSpPr>
      <p:sp>
        <p:nvSpPr>
          <p:cNvPr id="1049653" name="Title 1"/>
          <p:cNvSpPr>
            <a:spLocks noGrp="1"/>
          </p:cNvSpPr>
          <p:nvPr>
            <p:ph type="title"/>
          </p:nvPr>
        </p:nvSpPr>
        <p:spPr/>
        <p:txBody>
          <a:bodyPr/>
          <a:p>
            <a:r>
              <a:t>Alkylating</a:t>
            </a:r>
            <a:r>
              <a:t> agents</a:t>
            </a:r>
          </a:p>
        </p:txBody>
      </p:sp>
      <p:sp>
        <p:nvSpPr>
          <p:cNvPr id="1049654" name="Content Placeholder 2"/>
          <p:cNvSpPr>
            <a:spLocks noGrp="1"/>
          </p:cNvSpPr>
          <p:nvPr>
            <p:ph idx="1"/>
          </p:nvPr>
        </p:nvSpPr>
        <p:spPr/>
        <p:txBody>
          <a:bodyPr>
            <a:normAutofit/>
          </a:bodyPr>
          <a:p>
            <a:r>
              <a:rPr sz="3600"/>
              <a:t>Alkylating agents are compounds that bind covalently to DNA molecules by adding alkyl groups. </a:t>
            </a:r>
            <a:endParaRPr sz="3600"/>
          </a:p>
          <a:p>
            <a:endParaRPr sz="3600"/>
          </a:p>
          <a:p>
            <a:r>
              <a:rPr sz="3600"/>
              <a:t>This leads to a breakdown of DNA molecules and the formation of </a:t>
            </a:r>
            <a:r>
              <a:rPr sz="3600"/>
              <a:t>crossbridges</a:t>
            </a:r>
            <a:r>
              <a:rPr sz="3600"/>
              <a:t> between the two DNA strands, so that they cannot split in the normal way that is necessary in replication and transcription</a:t>
            </a:r>
            <a:endParaRPr sz="3600"/>
          </a:p>
        </p:txBody>
      </p:sp>
    </p:spTree>
  </p:cSld>
  <p:clrMapOvr>
    <a:masterClrMapping/>
  </p:clrMapOvr>
</p:sld>
</file>

<file path=ppt/slides/slide511.xml><?xml version="1.0" encoding="utf-8"?>
<p:sld xmlns:a="http://schemas.openxmlformats.org/drawingml/2006/main" xmlns:r="http://schemas.openxmlformats.org/officeDocument/2006/relationships" xmlns:p="http://schemas.openxmlformats.org/presentationml/2006/main">
  <p:cSld>
    <p:spTree>
      <p:nvGrpSpPr>
        <p:cNvPr id="1207" name=""/>
        <p:cNvGrpSpPr/>
        <p:nvPr/>
      </p:nvGrpSpPr>
      <p:grpSpPr>
        <a:xfrm>
          <a:off x="0" y="0"/>
          <a:ext cx="0" cy="0"/>
          <a:chOff x="0" y="0"/>
          <a:chExt cx="0" cy="0"/>
        </a:xfrm>
      </p:grpSpPr>
      <p:sp>
        <p:nvSpPr>
          <p:cNvPr id="1049655" name="Title 1"/>
          <p:cNvSpPr>
            <a:spLocks noGrp="1"/>
          </p:cNvSpPr>
          <p:nvPr>
            <p:ph type="title"/>
          </p:nvPr>
        </p:nvSpPr>
        <p:spPr/>
        <p:txBody>
          <a:bodyPr/>
          <a:p>
            <a:r>
              <a:rPr b="1"/>
              <a:t>Hormones and their antagonists </a:t>
            </a:r>
          </a:p>
        </p:txBody>
      </p:sp>
      <p:sp>
        <p:nvSpPr>
          <p:cNvPr id="1049656" name="Content Placeholder 2"/>
          <p:cNvSpPr>
            <a:spLocks noGrp="1"/>
          </p:cNvSpPr>
          <p:nvPr>
            <p:ph idx="1"/>
          </p:nvPr>
        </p:nvSpPr>
        <p:spPr/>
        <p:txBody>
          <a:bodyPr/>
          <a:p>
            <a:r>
              <a:rPr sz="3600"/>
              <a:t>Androgens in palliative breast ca =antiandrogens ,</a:t>
            </a:r>
            <a:r>
              <a:rPr sz="3600"/>
              <a:t>glucorcoticoids</a:t>
            </a:r>
            <a:r>
              <a:rPr sz="3600"/>
              <a:t>(in acute leukemia and lymphomas =</a:t>
            </a:r>
            <a:r>
              <a:rPr sz="3600"/>
              <a:t>lympholytic</a:t>
            </a:r>
            <a:r>
              <a:rPr sz="3600"/>
              <a:t> action)</a:t>
            </a:r>
            <a:r>
              <a:rPr sz="3600"/>
              <a:t>i.e</a:t>
            </a:r>
            <a:r>
              <a:rPr sz="3600"/>
              <a:t> </a:t>
            </a:r>
            <a:r>
              <a:rPr sz="3600"/>
              <a:t>predinisolone</a:t>
            </a:r>
            <a:r>
              <a:rPr sz="3600"/>
              <a:t> and </a:t>
            </a:r>
            <a:r>
              <a:rPr sz="3600"/>
              <a:t>dexa</a:t>
            </a:r>
            <a:r>
              <a:rPr sz="3600"/>
              <a:t> and in radiation therapy to reduce radiation edema  </a:t>
            </a:r>
            <a:endParaRPr sz="3600"/>
          </a:p>
          <a:p>
            <a:r>
              <a:rPr sz="3600"/>
              <a:t>Estrogen =in prostatic breast ca  </a:t>
            </a:r>
            <a:endParaRPr sz="3600"/>
          </a:p>
          <a:p>
            <a:r>
              <a:rPr sz="3600"/>
              <a:t>N/B combination of drugs for synergy is key </a:t>
            </a:r>
            <a:endParaRPr sz="3600"/>
          </a:p>
          <a:p/>
        </p:txBody>
      </p:sp>
    </p:spTree>
  </p:cSld>
  <p:clrMapOvr>
    <a:masterClrMapping/>
  </p:clrMapOvr>
</p:sld>
</file>

<file path=ppt/slides/slide512.xml><?xml version="1.0" encoding="utf-8"?>
<p:sld xmlns:a="http://schemas.openxmlformats.org/drawingml/2006/main" xmlns:r="http://schemas.openxmlformats.org/officeDocument/2006/relationships" xmlns:p="http://schemas.openxmlformats.org/presentationml/2006/main">
  <p:cSld>
    <p:spTree>
      <p:nvGrpSpPr>
        <p:cNvPr id="1208" name=""/>
        <p:cNvGrpSpPr/>
        <p:nvPr/>
      </p:nvGrpSpPr>
      <p:grpSpPr>
        <a:xfrm>
          <a:off x="0" y="0"/>
          <a:ext cx="0" cy="0"/>
          <a:chOff x="0" y="0"/>
          <a:chExt cx="0" cy="0"/>
        </a:xfrm>
      </p:grpSpPr>
      <p:sp>
        <p:nvSpPr>
          <p:cNvPr id="1049657" name="Title 1"/>
          <p:cNvSpPr>
            <a:spLocks noGrp="1"/>
          </p:cNvSpPr>
          <p:nvPr>
            <p:ph type="title"/>
          </p:nvPr>
        </p:nvSpPr>
        <p:spPr/>
        <p:txBody>
          <a:bodyPr/>
          <a:p>
            <a:r>
              <a:rPr b="1"/>
              <a:t>General adverse reactions of </a:t>
            </a:r>
            <a:r>
              <a:rPr b="1"/>
              <a:t>anticancers</a:t>
            </a:r>
          </a:p>
        </p:txBody>
      </p:sp>
      <p:sp>
        <p:nvSpPr>
          <p:cNvPr id="1049658" name="Content Placeholder 2"/>
          <p:cNvSpPr>
            <a:spLocks noGrp="1"/>
          </p:cNvSpPr>
          <p:nvPr>
            <p:ph idx="1"/>
          </p:nvPr>
        </p:nvSpPr>
        <p:spPr>
          <a:xfrm>
            <a:off x="838204" y="1504945"/>
            <a:ext cx="10515600" cy="4987928"/>
          </a:xfrm>
        </p:spPr>
        <p:txBody>
          <a:bodyPr>
            <a:normAutofit lnSpcReduction="10000"/>
          </a:bodyPr>
          <a:p>
            <a:r>
              <a:rPr b="1"/>
              <a:t>They act on rapidly multiplying cells ,they are toxic to the </a:t>
            </a:r>
            <a:r>
              <a:rPr b="1"/>
              <a:t>rapiodly</a:t>
            </a:r>
            <a:r>
              <a:rPr b="1"/>
              <a:t> multiplying cells of the skin and mucus </a:t>
            </a:r>
            <a:r>
              <a:rPr b="1"/>
              <a:t>membrane,lymphoid</a:t>
            </a:r>
            <a:r>
              <a:rPr b="1"/>
              <a:t> organs and gonads hence adverse effects as follows </a:t>
            </a:r>
          </a:p>
          <a:p>
            <a:r>
              <a:t>Bone marrow depression –hence </a:t>
            </a:r>
            <a:r>
              <a:t>leukopenia,anemia,thrombocytopenia</a:t>
            </a:r>
            <a:r>
              <a:t>=bleeding </a:t>
            </a:r>
          </a:p>
          <a:p>
            <a:r>
              <a:t>Carcinogenicity –they maybe secondary to ca </a:t>
            </a:r>
            <a:r>
              <a:t>e.g</a:t>
            </a:r>
            <a:r>
              <a:t> </a:t>
            </a:r>
            <a:r>
              <a:t>leukemias</a:t>
            </a:r>
            <a:r>
              <a:t> </a:t>
            </a:r>
          </a:p>
          <a:p>
            <a:r>
              <a:t>Teratogenic hence contraindicated in </a:t>
            </a:r>
            <a:r>
              <a:t>pg</a:t>
            </a:r>
            <a:r>
              <a:t> </a:t>
            </a:r>
          </a:p>
          <a:p>
            <a:r>
              <a:t>Nausea vomiting –stimulates VC and CTZ</a:t>
            </a:r>
          </a:p>
          <a:p>
            <a:r>
              <a:t>Alopecia =reversible </a:t>
            </a:r>
          </a:p>
          <a:p>
            <a:r>
              <a:t>Git</a:t>
            </a:r>
            <a:r>
              <a:t>-stomatitis ,</a:t>
            </a:r>
            <a:r>
              <a:t>glossitis,ulcers</a:t>
            </a:r>
            <a:r>
              <a:t> </a:t>
            </a:r>
          </a:p>
          <a:p>
            <a:r>
              <a:t>  Reduced spermatogenesis </a:t>
            </a:r>
          </a:p>
          <a:p/>
        </p:txBody>
      </p:sp>
    </p:spTree>
  </p:cSld>
  <p:clrMapOvr>
    <a:masterClrMapping/>
  </p:clrMapOvr>
</p:sld>
</file>

<file path=ppt/slides/slide513.xml><?xml version="1.0" encoding="utf-8"?>
<p:sld xmlns:a="http://schemas.openxmlformats.org/drawingml/2006/main" xmlns:r="http://schemas.openxmlformats.org/officeDocument/2006/relationships" xmlns:p="http://schemas.openxmlformats.org/presentationml/2006/main">
  <p:cSld>
    <p:spTree>
      <p:nvGrpSpPr>
        <p:cNvPr id="1209" name=""/>
        <p:cNvGrpSpPr/>
        <p:nvPr/>
      </p:nvGrpSpPr>
      <p:grpSpPr>
        <a:xfrm>
          <a:off x="0" y="0"/>
          <a:ext cx="0" cy="0"/>
          <a:chOff x="0" y="0"/>
          <a:chExt cx="0" cy="0"/>
        </a:xfrm>
      </p:grpSpPr>
      <p:sp>
        <p:nvSpPr>
          <p:cNvPr id="1049659" name="Title 1"/>
          <p:cNvSpPr>
            <a:spLocks noGrp="1"/>
          </p:cNvSpPr>
          <p:nvPr>
            <p:ph type="title"/>
          </p:nvPr>
        </p:nvSpPr>
        <p:spPr/>
        <p:txBody>
          <a:bodyPr>
            <a:normAutofit fontScale="90909"/>
          </a:bodyPr>
          <a:p>
            <a:r>
              <a:t>Nursing implication while administering anticancer medication</a:t>
            </a:r>
          </a:p>
        </p:txBody>
      </p:sp>
      <p:sp>
        <p:nvSpPr>
          <p:cNvPr id="1049660" name="Content Placeholder 2"/>
          <p:cNvSpPr>
            <a:spLocks noGrp="1"/>
          </p:cNvSpPr>
          <p:nvPr>
            <p:ph idx="1"/>
          </p:nvPr>
        </p:nvSpPr>
        <p:spPr/>
        <p:txBody>
          <a:bodyPr>
            <a:normAutofit fontScale="89286" lnSpcReduction="20000"/>
          </a:bodyPr>
          <a:p>
            <a:r>
              <a:t>Correct dose </a:t>
            </a:r>
            <a:r>
              <a:t>adm</a:t>
            </a:r>
            <a:r>
              <a:t> –counter check </a:t>
            </a:r>
          </a:p>
          <a:p>
            <a:r>
              <a:t>Avoid direct contact with </a:t>
            </a:r>
            <a:r>
              <a:t>antcancer</a:t>
            </a:r>
            <a:r>
              <a:t> drugs with skin and mucus membrane during prep</a:t>
            </a:r>
          </a:p>
          <a:p>
            <a:r>
              <a:t>Monitor urine out put</a:t>
            </a:r>
          </a:p>
          <a:p>
            <a:r>
              <a:t>Adm</a:t>
            </a:r>
            <a:r>
              <a:t> </a:t>
            </a:r>
            <a:r>
              <a:t>antemetics</a:t>
            </a:r>
            <a:r>
              <a:t> =30 min after </a:t>
            </a:r>
            <a:r>
              <a:t>adm</a:t>
            </a:r>
          </a:p>
          <a:p>
            <a:r>
              <a:t>Prep the </a:t>
            </a:r>
            <a:r>
              <a:t>pt</a:t>
            </a:r>
            <a:r>
              <a:t> </a:t>
            </a:r>
            <a:r>
              <a:t>psy</a:t>
            </a:r>
            <a:r>
              <a:t> coz of hair loss </a:t>
            </a:r>
          </a:p>
          <a:p>
            <a:r>
              <a:t>Pregnant nurse to avoid handling the drugs </a:t>
            </a:r>
          </a:p>
          <a:p>
            <a:r>
              <a:t>Aseptic measures in place coz of immunosuppression</a:t>
            </a:r>
          </a:p>
          <a:p>
            <a:r>
              <a:t>Report fever in immunosuppressed </a:t>
            </a:r>
          </a:p>
          <a:p>
            <a:r>
              <a:t>Ensure they are not </a:t>
            </a:r>
            <a:r>
              <a:t>extravasated</a:t>
            </a:r>
            <a:r>
              <a:t> cause of irritation </a:t>
            </a:r>
          </a:p>
          <a:p>
            <a:r>
              <a:t> </a:t>
            </a:r>
          </a:p>
          <a:p/>
        </p:txBody>
      </p:sp>
    </p:spTree>
  </p:cSld>
  <p:clrMapOvr>
    <a:masterClrMapping/>
  </p:clrMapOvr>
</p:sld>
</file>

<file path=ppt/slides/slide514.xml><?xml version="1.0" encoding="utf-8"?>
<p:sld xmlns:a="http://schemas.openxmlformats.org/drawingml/2006/main" xmlns:r="http://schemas.openxmlformats.org/officeDocument/2006/relationships" xmlns:p="http://schemas.openxmlformats.org/presentationml/2006/main">
  <p:cSld>
    <p:spTree>
      <p:nvGrpSpPr>
        <p:cNvPr id="1210" name=""/>
        <p:cNvGrpSpPr/>
        <p:nvPr/>
      </p:nvGrpSpPr>
      <p:grpSpPr>
        <a:xfrm>
          <a:off x="0" y="0"/>
          <a:ext cx="0" cy="0"/>
          <a:chOff x="0" y="0"/>
          <a:chExt cx="0" cy="0"/>
        </a:xfrm>
      </p:grpSpPr>
      <p:sp>
        <p:nvSpPr>
          <p:cNvPr id="1049661" name="Title 1"/>
          <p:cNvSpPr>
            <a:spLocks noGrp="1"/>
          </p:cNvSpPr>
          <p:nvPr>
            <p:ph type="title"/>
          </p:nvPr>
        </p:nvSpPr>
        <p:spPr/>
        <p:txBody>
          <a:bodyPr>
            <a:normAutofit fontScale="90909"/>
          </a:bodyPr>
          <a:p>
            <a:r>
              <a:t> </a:t>
            </a:r>
            <a:r>
              <a:rPr b="1"/>
              <a:t>ANALGESICS, NON STEROIDAL ANTI INFLAMMATORY DRUGS(NSAIDS)</a:t>
            </a:r>
            <a:endParaRPr b="1"/>
          </a:p>
        </p:txBody>
      </p:sp>
      <p:sp>
        <p:nvSpPr>
          <p:cNvPr id="1049662" name="Content Placeholder 2"/>
          <p:cNvSpPr>
            <a:spLocks noGrp="1"/>
          </p:cNvSpPr>
          <p:nvPr>
            <p:ph idx="1"/>
          </p:nvPr>
        </p:nvSpPr>
        <p:spPr>
          <a:xfrm>
            <a:off x="863598" y="1825618"/>
            <a:ext cx="10515600" cy="4351339"/>
          </a:xfrm>
        </p:spPr>
        <p:txBody>
          <a:bodyPr>
            <a:normAutofit/>
          </a:bodyPr>
          <a:p>
            <a:r>
              <a:t>Analgesics  may be defined as any member or group of drugs used to achieve analgesia, relief from </a:t>
            </a:r>
            <a:r>
              <a:rPr b="1"/>
              <a:t>pain. </a:t>
            </a:r>
            <a:r>
              <a:t>They relieve pain without causing any loss of consciousness.</a:t>
            </a:r>
          </a:p>
          <a:p>
            <a:r>
              <a:t>Analgesics drug works in various ways on the periphery and the CNS.</a:t>
            </a:r>
          </a:p>
          <a:p>
            <a:r>
              <a:t>NSAIDs are referred to as non narcotic analgesics or non-opioid analgesics. </a:t>
            </a:r>
          </a:p>
          <a:p>
            <a:r>
              <a:t>They differ from opioids in the aspects;</a:t>
            </a:r>
          </a:p>
          <a:p>
            <a:pPr indent="0" marL="0">
              <a:buNone/>
            </a:pPr>
            <a:r>
              <a:t>         -they are less potent</a:t>
            </a:r>
          </a:p>
          <a:p>
            <a:pPr indent="0" marL="0">
              <a:buNone/>
            </a:pPr>
            <a:r>
              <a:t>         -fail to produce drowsiness or CNS depression</a:t>
            </a:r>
          </a:p>
          <a:p>
            <a:pPr indent="0" marL="0">
              <a:buNone/>
            </a:pPr>
            <a:r>
              <a:t>         -non additive in nature</a:t>
            </a:r>
          </a:p>
          <a:p>
            <a:pPr indent="0" marL="0">
              <a:buNone/>
            </a:pPr>
            <a:r>
              <a:t>         -posses anti inflammatory/antipyretic activities</a:t>
            </a:r>
          </a:p>
        </p:txBody>
      </p:sp>
    </p:spTree>
  </p:cSld>
  <p:clrMapOvr>
    <a:masterClrMapping/>
  </p:clrMapOvr>
</p:sld>
</file>

<file path=ppt/slides/slide515.xml><?xml version="1.0" encoding="utf-8"?>
<p:sld xmlns:a="http://schemas.openxmlformats.org/drawingml/2006/main" xmlns:r="http://schemas.openxmlformats.org/officeDocument/2006/relationships" xmlns:p="http://schemas.openxmlformats.org/presentationml/2006/main">
  <p:cSld>
    <p:spTree>
      <p:nvGrpSpPr>
        <p:cNvPr id="1211" name=""/>
        <p:cNvGrpSpPr/>
        <p:nvPr/>
      </p:nvGrpSpPr>
      <p:grpSpPr>
        <a:xfrm>
          <a:off x="0" y="0"/>
          <a:ext cx="0" cy="0"/>
          <a:chOff x="0" y="0"/>
          <a:chExt cx="0" cy="0"/>
        </a:xfrm>
      </p:grpSpPr>
      <p:sp>
        <p:nvSpPr>
          <p:cNvPr id="1049663" name="Title 1"/>
          <p:cNvSpPr>
            <a:spLocks noGrp="1"/>
          </p:cNvSpPr>
          <p:nvPr>
            <p:ph type="title"/>
          </p:nvPr>
        </p:nvSpPr>
        <p:spPr/>
        <p:txBody>
          <a:bodyPr/>
          <a:p>
            <a:r>
              <a:t>                 NSAIDs cont.’</a:t>
            </a:r>
          </a:p>
        </p:txBody>
      </p:sp>
      <p:sp>
        <p:nvSpPr>
          <p:cNvPr id="1049664" name="Content Placeholder 2"/>
          <p:cNvSpPr>
            <a:spLocks noGrp="1"/>
          </p:cNvSpPr>
          <p:nvPr>
            <p:ph idx="1"/>
          </p:nvPr>
        </p:nvSpPr>
        <p:spPr/>
        <p:txBody>
          <a:bodyPr>
            <a:normAutofit fontScale="92857" lnSpcReduction="20000"/>
          </a:bodyPr>
          <a:p>
            <a:r>
              <a:rPr b="1"/>
              <a:t>1st generation NSAIDs (COX-1 and COX-2 inhibitors):</a:t>
            </a:r>
            <a:endParaRPr b="1"/>
          </a:p>
          <a:p>
            <a:r>
              <a:t>  Aspirin </a:t>
            </a:r>
          </a:p>
          <a:p>
            <a:r>
              <a:t> Ibuprofen (Motrin, Advil) </a:t>
            </a:r>
          </a:p>
          <a:p>
            <a:r>
              <a:t> Naproxen (Naprosyn) </a:t>
            </a:r>
          </a:p>
          <a:p>
            <a:r>
              <a:t> Indomethacin (Indocin) </a:t>
            </a:r>
          </a:p>
          <a:p>
            <a:r>
              <a:t> Diclofenac (Voltaren) </a:t>
            </a:r>
          </a:p>
          <a:p>
            <a:r>
              <a:t>Ketorolac (Toradol) </a:t>
            </a:r>
          </a:p>
          <a:p>
            <a:r>
              <a:t> Meloxicam (Mobic</a:t>
            </a:r>
            <a:r>
              <a:rPr b="1"/>
              <a:t>)  </a:t>
            </a:r>
            <a:endParaRPr b="1"/>
          </a:p>
          <a:p>
            <a:r>
              <a:rPr b="1"/>
              <a:t>2nd generation NSAIDs (selective COX-2 Inhibitor</a:t>
            </a:r>
            <a:r>
              <a:t>): </a:t>
            </a:r>
          </a:p>
          <a:p>
            <a:r>
              <a:t> Celecoxib (Celebrex)</a:t>
            </a:r>
          </a:p>
        </p:txBody>
      </p:sp>
    </p:spTree>
  </p:cSld>
  <p:clrMapOvr>
    <a:masterClrMapping/>
  </p:clrMapOvr>
</p:sld>
</file>

<file path=ppt/slides/slide516.xml><?xml version="1.0" encoding="utf-8"?>
<p:sld xmlns:a="http://schemas.openxmlformats.org/drawingml/2006/main" xmlns:r="http://schemas.openxmlformats.org/officeDocument/2006/relationships" xmlns:p="http://schemas.openxmlformats.org/presentationml/2006/main">
  <p:cSld>
    <p:spTree>
      <p:nvGrpSpPr>
        <p:cNvPr id="1212" name=""/>
        <p:cNvGrpSpPr/>
        <p:nvPr/>
      </p:nvGrpSpPr>
      <p:grpSpPr>
        <a:xfrm>
          <a:off x="0" y="0"/>
          <a:ext cx="0" cy="0"/>
          <a:chOff x="0" y="0"/>
          <a:chExt cx="0" cy="0"/>
        </a:xfrm>
      </p:grpSpPr>
      <p:sp>
        <p:nvSpPr>
          <p:cNvPr id="1049665" name="Content Placeholder 2"/>
          <p:cNvSpPr>
            <a:spLocks noGrp="1"/>
          </p:cNvSpPr>
          <p:nvPr>
            <p:ph idx="1"/>
          </p:nvPr>
        </p:nvSpPr>
        <p:spPr>
          <a:xfrm>
            <a:off x="838204" y="351690"/>
            <a:ext cx="10515600" cy="6213234"/>
          </a:xfrm>
        </p:spPr>
        <p:txBody>
          <a:bodyPr>
            <a:noAutofit/>
          </a:bodyPr>
          <a:p>
            <a:pPr indent="0" marL="0">
              <a:buNone/>
            </a:pPr>
            <a:r>
              <a:rPr b="1" sz="2400"/>
              <a:t>Mechanism of action</a:t>
            </a:r>
            <a:endParaRPr b="1" sz="2400"/>
          </a:p>
          <a:p>
            <a:r>
              <a:rPr sz="2400">
                <a:solidFill>
                  <a:srgbClr val="000000"/>
                </a:solidFill>
              </a:rPr>
              <a:t>Inhibition of prostaglandin synthase, also known as cox — Inhibition of COX-1 can result in decreased platelet aggregation and kidney damage.</a:t>
            </a:r>
            <a:endParaRPr sz="2400">
              <a:solidFill>
                <a:srgbClr val="000000"/>
              </a:solidFill>
            </a:endParaRPr>
          </a:p>
          <a:p>
            <a:r>
              <a:rPr sz="2400">
                <a:solidFill>
                  <a:srgbClr val="000000"/>
                </a:solidFill>
              </a:rPr>
              <a:t> Inhibition of COX-2 results in decreased inflammation, fever, and pain.  </a:t>
            </a:r>
            <a:endParaRPr sz="2400">
              <a:solidFill>
                <a:srgbClr val="000000"/>
              </a:solidFill>
            </a:endParaRPr>
          </a:p>
          <a:p>
            <a:pPr indent="0" marL="0">
              <a:buNone/>
            </a:pPr>
            <a:r>
              <a:rPr b="1" sz="2400">
                <a:solidFill>
                  <a:srgbClr val="000000"/>
                </a:solidFill>
              </a:rPr>
              <a:t>Therapeutic Uses /indication ( analgesic , antipyretic, and anti inflammatory) </a:t>
            </a:r>
            <a:endParaRPr b="1" sz="2400">
              <a:solidFill>
                <a:srgbClr val="000000"/>
              </a:solidFill>
            </a:endParaRPr>
          </a:p>
          <a:p>
            <a:r>
              <a:rPr sz="2400">
                <a:solidFill>
                  <a:srgbClr val="000000"/>
                </a:solidFill>
              </a:rPr>
              <a:t> Inflammation suppression. </a:t>
            </a:r>
            <a:endParaRPr sz="2400">
              <a:solidFill>
                <a:srgbClr val="000000"/>
              </a:solidFill>
            </a:endParaRPr>
          </a:p>
          <a:p>
            <a:r>
              <a:rPr sz="2400">
                <a:solidFill>
                  <a:srgbClr val="000000"/>
                </a:solidFill>
              </a:rPr>
              <a:t> Analgesia for mild to moderate pain, such as with osteoarthritis and rheumatoid arthritis. </a:t>
            </a:r>
            <a:endParaRPr sz="2400">
              <a:solidFill>
                <a:srgbClr val="000000"/>
              </a:solidFill>
            </a:endParaRPr>
          </a:p>
          <a:p>
            <a:r>
              <a:rPr sz="2400">
                <a:solidFill>
                  <a:srgbClr val="000000"/>
                </a:solidFill>
              </a:rPr>
              <a:t> Fever reduction. </a:t>
            </a:r>
            <a:endParaRPr sz="2400">
              <a:solidFill>
                <a:srgbClr val="000000"/>
              </a:solidFill>
            </a:endParaRPr>
          </a:p>
          <a:p>
            <a:r>
              <a:rPr sz="2400">
                <a:solidFill>
                  <a:srgbClr val="000000"/>
                </a:solidFill>
              </a:rPr>
              <a:t> Dysmenorrhea. </a:t>
            </a:r>
            <a:endParaRPr sz="2400">
              <a:solidFill>
                <a:srgbClr val="000000"/>
              </a:solidFill>
            </a:endParaRPr>
          </a:p>
          <a:p>
            <a:r>
              <a:rPr sz="2400">
                <a:solidFill>
                  <a:srgbClr val="000000"/>
                </a:solidFill>
              </a:rPr>
              <a:t> Inhibition of platelet aggregation, which protects against stroke and myocardial infarction.</a:t>
            </a:r>
            <a:r>
              <a:rPr sz="2400"/>
              <a:t> (aspirin)</a:t>
            </a:r>
            <a:endParaRPr sz="2400"/>
          </a:p>
          <a:p>
            <a:r>
              <a:rPr sz="2400"/>
              <a:t>The exception of acetaminophen which is  an analgesic and antipyretic. </a:t>
            </a:r>
            <a:endParaRPr sz="2400"/>
          </a:p>
        </p:txBody>
      </p:sp>
    </p:spTree>
  </p:cSld>
  <p:clrMapOvr>
    <a:masterClrMapping/>
  </p:clrMapOvr>
</p:sld>
</file>

<file path=ppt/slides/slide517.xml><?xml version="1.0" encoding="utf-8"?>
<p:sld xmlns:a="http://schemas.openxmlformats.org/drawingml/2006/main" xmlns:r="http://schemas.openxmlformats.org/officeDocument/2006/relationships" xmlns:p="http://schemas.openxmlformats.org/presentationml/2006/main">
  <p:cSld>
    <p:spTree>
      <p:nvGrpSpPr>
        <p:cNvPr id="1213" name=""/>
        <p:cNvGrpSpPr/>
        <p:nvPr/>
      </p:nvGrpSpPr>
      <p:grpSpPr>
        <a:xfrm>
          <a:off x="0" y="0"/>
          <a:ext cx="0" cy="0"/>
          <a:chOff x="0" y="0"/>
          <a:chExt cx="0" cy="0"/>
        </a:xfrm>
      </p:grpSpPr>
      <p:sp>
        <p:nvSpPr>
          <p:cNvPr id="1049666" name="Title 1"/>
          <p:cNvSpPr>
            <a:spLocks noGrp="1"/>
          </p:cNvSpPr>
          <p:nvPr>
            <p:ph type="title"/>
          </p:nvPr>
        </p:nvSpPr>
        <p:spPr/>
        <p:txBody>
          <a:bodyPr>
            <a:normAutofit fontScale="90909"/>
          </a:bodyPr>
          <a:p>
            <a:r>
              <a:t>Side/Adverse Effects Nursing Interventions/Client Education</a:t>
            </a:r>
          </a:p>
        </p:txBody>
      </p:sp>
      <p:sp>
        <p:nvSpPr>
          <p:cNvPr id="1049667" name="Content Placeholder 2"/>
          <p:cNvSpPr>
            <a:spLocks noGrp="1"/>
          </p:cNvSpPr>
          <p:nvPr>
            <p:ph idx="1"/>
          </p:nvPr>
        </p:nvSpPr>
        <p:spPr/>
        <p:txBody>
          <a:bodyPr>
            <a:normAutofit/>
          </a:bodyPr>
          <a:p>
            <a:r>
              <a:t> </a:t>
            </a:r>
            <a:r>
              <a:rPr b="1"/>
              <a:t>Gastrointestinal discomfort (dyspepsia, abdominal pain, heartburn, nausea)</a:t>
            </a:r>
            <a:endParaRPr b="1"/>
          </a:p>
          <a:p>
            <a:r>
              <a:rPr b="1"/>
              <a:t> Damage to gastric mucosa may lead to GI bleeding and perforation, especially with long-term use. </a:t>
            </a:r>
            <a:r>
              <a:t>•</a:t>
            </a:r>
          </a:p>
          <a:p>
            <a:r>
              <a:t>Advise clients to take medication with food or with a full glass of water or milk. </a:t>
            </a:r>
          </a:p>
          <a:p>
            <a:r>
              <a:t>Advise clients to avoid alcohol. </a:t>
            </a:r>
          </a:p>
          <a:p>
            <a:r>
              <a:t> Observe for signs of bleeding (passage of black or dark-colored stools, severe abdominal pain, nausea, vomiting). </a:t>
            </a:r>
          </a:p>
          <a:p>
            <a:r>
              <a:t>Administer a proton pump inhibitor, such as omeprazole (Prilosec), or an H2 receptor antagonist, such as ranitidine (Zantac) to decrease the risk of ulcer formation.  Use prophylaxis agents such as misoprostol (Cytotec). </a:t>
            </a:r>
          </a:p>
        </p:txBody>
      </p:sp>
    </p:spTree>
  </p:cSld>
  <p:clrMapOvr>
    <a:masterClrMapping/>
  </p:clrMapOvr>
</p:sld>
</file>

<file path=ppt/slides/slide518.xml><?xml version="1.0" encoding="utf-8"?>
<p:sld xmlns:a="http://schemas.openxmlformats.org/drawingml/2006/main" xmlns:r="http://schemas.openxmlformats.org/officeDocument/2006/relationships" xmlns:p="http://schemas.openxmlformats.org/presentationml/2006/main">
  <p:cSld>
    <p:spTree>
      <p:nvGrpSpPr>
        <p:cNvPr id="1214" name=""/>
        <p:cNvGrpSpPr/>
        <p:nvPr/>
      </p:nvGrpSpPr>
      <p:grpSpPr>
        <a:xfrm>
          <a:off x="0" y="0"/>
          <a:ext cx="0" cy="0"/>
          <a:chOff x="0" y="0"/>
          <a:chExt cx="0" cy="0"/>
        </a:xfrm>
      </p:grpSpPr>
      <p:sp>
        <p:nvSpPr>
          <p:cNvPr id="1049668" name="Content Placeholder 2"/>
          <p:cNvSpPr>
            <a:spLocks noGrp="1"/>
          </p:cNvSpPr>
          <p:nvPr>
            <p:ph idx="1"/>
          </p:nvPr>
        </p:nvSpPr>
        <p:spPr>
          <a:xfrm>
            <a:off x="410305" y="293075"/>
            <a:ext cx="11629285" cy="6142885"/>
          </a:xfrm>
        </p:spPr>
        <p:txBody>
          <a:bodyPr>
            <a:normAutofit lnSpcReduction="10000"/>
          </a:bodyPr>
          <a:p>
            <a:pPr indent="0" marL="0">
              <a:buNone/>
            </a:pPr>
            <a:r>
              <a:rPr b="1">
                <a:solidFill>
                  <a:srgbClr val="000000"/>
                </a:solidFill>
              </a:rPr>
              <a:t>                                         side/adverse effects cont.’</a:t>
            </a:r>
            <a:endParaRPr b="1">
              <a:solidFill>
                <a:srgbClr val="000000"/>
              </a:solidFill>
            </a:endParaRPr>
          </a:p>
          <a:p>
            <a:pPr indent="0" marL="0">
              <a:buNone/>
            </a:pPr>
            <a:r>
              <a:rPr b="1" sz="2400">
                <a:solidFill>
                  <a:srgbClr val="000000"/>
                </a:solidFill>
              </a:rPr>
              <a:t>Renal dysfunction (decreased urine output, weight gain from fluid retention, increased BUN and creatinine levels) </a:t>
            </a:r>
            <a:endParaRPr b="1" sz="2400">
              <a:solidFill>
                <a:srgbClr val="000000"/>
              </a:solidFill>
            </a:endParaRPr>
          </a:p>
          <a:p>
            <a:r>
              <a:rPr sz="2400">
                <a:solidFill>
                  <a:srgbClr val="000000"/>
                </a:solidFill>
              </a:rPr>
              <a:t> Use cautiously with older adults and clients who have heart failure. </a:t>
            </a:r>
            <a:endParaRPr sz="2400">
              <a:solidFill>
                <a:srgbClr val="000000"/>
              </a:solidFill>
            </a:endParaRPr>
          </a:p>
          <a:p>
            <a:r>
              <a:rPr sz="2400">
                <a:solidFill>
                  <a:srgbClr val="000000"/>
                </a:solidFill>
              </a:rPr>
              <a:t> Monitor I&amp;O and kidney function (BUN, creatinine). </a:t>
            </a:r>
            <a:endParaRPr sz="2400">
              <a:solidFill>
                <a:srgbClr val="000000"/>
              </a:solidFill>
            </a:endParaRPr>
          </a:p>
          <a:p>
            <a:pPr indent="0" marL="0">
              <a:buNone/>
            </a:pPr>
            <a:r>
              <a:rPr sz="2400">
                <a:solidFill>
                  <a:srgbClr val="000000"/>
                </a:solidFill>
              </a:rPr>
              <a:t> </a:t>
            </a:r>
            <a:r>
              <a:rPr b="1" sz="2400">
                <a:solidFill>
                  <a:srgbClr val="000000"/>
                </a:solidFill>
              </a:rPr>
              <a:t>Increased risk of heart attack and stroke (non aspirin NSAIDs) </a:t>
            </a:r>
            <a:endParaRPr b="1" sz="2400">
              <a:solidFill>
                <a:srgbClr val="000000"/>
              </a:solidFill>
            </a:endParaRPr>
          </a:p>
          <a:p>
            <a:r>
              <a:rPr sz="2400">
                <a:solidFill>
                  <a:srgbClr val="000000"/>
                </a:solidFill>
              </a:rPr>
              <a:t> Use the smallest effective dose for clients with known cardiovascular disease. </a:t>
            </a:r>
            <a:endParaRPr sz="2400">
              <a:solidFill>
                <a:srgbClr val="000000"/>
              </a:solidFill>
            </a:endParaRPr>
          </a:p>
          <a:p>
            <a:r>
              <a:rPr sz="2400">
                <a:solidFill>
                  <a:srgbClr val="000000"/>
                </a:solidFill>
              </a:rPr>
              <a:t>Salicylism may occur with aspirin. Signs and symptoms include tinnitus, sweating, headache and dizziness, and respiratory alkalosis. </a:t>
            </a:r>
            <a:endParaRPr sz="2400">
              <a:solidFill>
                <a:srgbClr val="000000"/>
              </a:solidFill>
            </a:endParaRPr>
          </a:p>
          <a:p>
            <a:r>
              <a:rPr sz="2400">
                <a:solidFill>
                  <a:srgbClr val="000000"/>
                </a:solidFill>
              </a:rPr>
              <a:t> Advise clients to notify the provider and to stop taking aspirin if symptoms occur. </a:t>
            </a:r>
            <a:endParaRPr sz="2400">
              <a:solidFill>
                <a:srgbClr val="000000"/>
              </a:solidFill>
            </a:endParaRPr>
          </a:p>
          <a:p>
            <a:r>
              <a:rPr sz="2400">
                <a:solidFill>
                  <a:srgbClr val="000000"/>
                </a:solidFill>
              </a:rPr>
              <a:t> </a:t>
            </a:r>
            <a:r>
              <a:rPr sz="2400">
                <a:solidFill>
                  <a:srgbClr val="000000"/>
                </a:solidFill>
              </a:rPr>
              <a:t>Reyer</a:t>
            </a:r>
            <a:r>
              <a:rPr sz="2400">
                <a:solidFill>
                  <a:srgbClr val="000000"/>
                </a:solidFill>
              </a:rPr>
              <a:t> syndrome is rare, but serious in childhood. </a:t>
            </a:r>
            <a:endParaRPr sz="2400">
              <a:solidFill>
                <a:srgbClr val="000000"/>
              </a:solidFill>
            </a:endParaRPr>
          </a:p>
          <a:p>
            <a:r>
              <a:rPr sz="2400">
                <a:solidFill>
                  <a:srgbClr val="000000"/>
                </a:solidFill>
              </a:rPr>
              <a:t>This occurs when aspirin is used for fever reduction in children who have a viral illness, such as chickenpox or influenza </a:t>
            </a:r>
            <a:endParaRPr sz="2400">
              <a:solidFill>
                <a:srgbClr val="000000"/>
              </a:solidFill>
            </a:endParaRPr>
          </a:p>
          <a:p>
            <a:r>
              <a:rPr sz="2400">
                <a:solidFill>
                  <a:srgbClr val="000000"/>
                </a:solidFill>
              </a:rPr>
              <a:t> Advise clients to avoid giving aspirin when a child has a viral illness, such as chickenpox or influenza. </a:t>
            </a:r>
            <a:endParaRPr sz="2400">
              <a:solidFill>
                <a:srgbClr val="000000"/>
              </a:solidFill>
            </a:endParaRPr>
          </a:p>
        </p:txBody>
      </p:sp>
    </p:spTree>
  </p:cSld>
  <p:clrMapOvr>
    <a:masterClrMapping/>
  </p:clrMapOvr>
</p:sld>
</file>

<file path=ppt/slides/slide519.xml><?xml version="1.0" encoding="utf-8"?>
<p:sld xmlns:a="http://schemas.openxmlformats.org/drawingml/2006/main" xmlns:r="http://schemas.openxmlformats.org/officeDocument/2006/relationships" xmlns:p="http://schemas.openxmlformats.org/presentationml/2006/main">
  <p:cSld>
    <p:spTree>
      <p:nvGrpSpPr>
        <p:cNvPr id="1215" name=""/>
        <p:cNvGrpSpPr/>
        <p:nvPr/>
      </p:nvGrpSpPr>
      <p:grpSpPr>
        <a:xfrm>
          <a:off x="0" y="0"/>
          <a:ext cx="0" cy="0"/>
          <a:chOff x="0" y="0"/>
          <a:chExt cx="0" cy="0"/>
        </a:xfrm>
      </p:grpSpPr>
      <p:sp>
        <p:nvSpPr>
          <p:cNvPr id="1049669" name="Title 1"/>
          <p:cNvSpPr>
            <a:spLocks noGrp="1"/>
          </p:cNvSpPr>
          <p:nvPr>
            <p:ph type="title"/>
          </p:nvPr>
        </p:nvSpPr>
        <p:spPr/>
        <p:txBody>
          <a:bodyPr/>
          <a:p>
            <a:r>
              <a:rPr b="1"/>
              <a:t>Complication and adverse effects cont.’</a:t>
            </a:r>
            <a:endParaRPr b="1"/>
          </a:p>
        </p:txBody>
      </p:sp>
      <p:sp>
        <p:nvSpPr>
          <p:cNvPr id="1049670" name="Content Placeholder 2"/>
          <p:cNvSpPr>
            <a:spLocks noGrp="1"/>
          </p:cNvSpPr>
          <p:nvPr>
            <p:ph idx="1"/>
          </p:nvPr>
        </p:nvSpPr>
        <p:spPr/>
        <p:txBody>
          <a:bodyPr>
            <a:normAutofit/>
          </a:bodyPr>
          <a:p>
            <a:pPr indent="0" marL="0">
              <a:buNone/>
            </a:pPr>
            <a:r>
              <a:rPr b="1" sz="3500"/>
              <a:t>Aspirin toxicity</a:t>
            </a:r>
            <a:r>
              <a:rPr b="1"/>
              <a:t> </a:t>
            </a:r>
            <a:endParaRPr b="1"/>
          </a:p>
          <a:p>
            <a:r>
              <a:t> Aspirin toxicity should be managed as a medical emergency in the hospital. </a:t>
            </a:r>
          </a:p>
          <a:p>
            <a:pPr indent="0" marL="0">
              <a:buNone/>
            </a:pPr>
            <a:r>
              <a:rPr b="1"/>
              <a:t>Therapy includes:</a:t>
            </a:r>
            <a:endParaRPr b="1"/>
          </a:p>
          <a:p>
            <a:r>
              <a:t> Cooling with tepid water. </a:t>
            </a:r>
          </a:p>
          <a:p>
            <a:r>
              <a:t>Correction of dehydration and electrolyte imbalance with IV fluids. </a:t>
            </a:r>
          </a:p>
          <a:p>
            <a:r>
              <a:t> Reversal of acidosis and promotion of salicylate excretion with bicarbonate. </a:t>
            </a:r>
          </a:p>
          <a:p>
            <a:r>
              <a:t> Gastric lavage  Activated charcoal may also be given to decrease absorption. </a:t>
            </a:r>
          </a:p>
          <a:p>
            <a:r>
              <a:t> Hemodialysis may be indicated.</a:t>
            </a:r>
          </a:p>
        </p:txBody>
      </p:sp>
    </p:spTree>
  </p:cSld>
  <p:clrMapOvr>
    <a:masterClrMapping/>
  </p:clrMapOvr>
</p:sld>
</file>

<file path=ppt/slides/slide520.xml><?xml version="1.0" encoding="utf-8"?>
<p:sld xmlns:a="http://schemas.openxmlformats.org/drawingml/2006/main" xmlns:r="http://schemas.openxmlformats.org/officeDocument/2006/relationships" xmlns:p="http://schemas.openxmlformats.org/presentationml/2006/main">
  <p:cSld>
    <p:spTree>
      <p:nvGrpSpPr>
        <p:cNvPr id="1216" name=""/>
        <p:cNvGrpSpPr/>
        <p:nvPr/>
      </p:nvGrpSpPr>
      <p:grpSpPr>
        <a:xfrm>
          <a:off x="0" y="0"/>
          <a:ext cx="0" cy="0"/>
          <a:chOff x="0" y="0"/>
          <a:chExt cx="0" cy="0"/>
        </a:xfrm>
      </p:grpSpPr>
      <p:sp>
        <p:nvSpPr>
          <p:cNvPr id="1049671" name="Title 1"/>
          <p:cNvSpPr>
            <a:spLocks noGrp="1"/>
          </p:cNvSpPr>
          <p:nvPr>
            <p:ph type="title"/>
          </p:nvPr>
        </p:nvSpPr>
        <p:spPr/>
        <p:txBody>
          <a:bodyPr>
            <a:normAutofit/>
          </a:bodyPr>
          <a:p>
            <a:r>
              <a:rPr b="1" sz="3600">
                <a:solidFill>
                  <a:srgbClr val="000000"/>
                </a:solidFill>
                <a:latin typeface="Calibri"/>
                <a:ea typeface="+mn-ea"/>
                <a:cs typeface="+mn-cs"/>
              </a:rPr>
              <a:t>Contraindications for aspirin and other 1st generation NSAIDs include</a:t>
            </a:r>
            <a:endParaRPr sz="3600"/>
          </a:p>
        </p:txBody>
      </p:sp>
      <p:sp>
        <p:nvSpPr>
          <p:cNvPr id="1049672" name="Content Placeholder 2"/>
          <p:cNvSpPr>
            <a:spLocks noGrp="1"/>
          </p:cNvSpPr>
          <p:nvPr>
            <p:ph idx="1"/>
          </p:nvPr>
        </p:nvSpPr>
        <p:spPr/>
        <p:txBody>
          <a:bodyPr>
            <a:normAutofit fontScale="56818" lnSpcReduction="20000"/>
          </a:bodyPr>
          <a:p>
            <a:r>
              <a:rPr sz="4400"/>
              <a:t> Pregnancy (Pregnancy Risk Category D) </a:t>
            </a:r>
            <a:endParaRPr sz="4400"/>
          </a:p>
          <a:p>
            <a:r>
              <a:rPr sz="4400"/>
              <a:t> Peptic ulcer disease </a:t>
            </a:r>
            <a:endParaRPr sz="4400"/>
          </a:p>
          <a:p>
            <a:r>
              <a:rPr sz="4400"/>
              <a:t>Bleeding disorders such as hemophilia, vitamin K deficiency </a:t>
            </a:r>
            <a:endParaRPr sz="4400"/>
          </a:p>
          <a:p>
            <a:r>
              <a:rPr sz="4400"/>
              <a:t> Hypersensitivity to aspirin and other NSAIDs </a:t>
            </a:r>
            <a:endParaRPr sz="4400"/>
          </a:p>
          <a:p>
            <a:r>
              <a:rPr sz="4400"/>
              <a:t> Children with chickenpox or influenza (aspirin) </a:t>
            </a:r>
            <a:endParaRPr sz="4400"/>
          </a:p>
          <a:p>
            <a:r>
              <a:rPr sz="4400"/>
              <a:t> Use NSAIDs cautiously in older adults, clients who smoke cigarettes, and in clients with H. pylori infection, hypovolemia, asthma, chronic urticaria, and/or a history of alcoholism. </a:t>
            </a:r>
            <a:endParaRPr sz="4400"/>
          </a:p>
          <a:p>
            <a:r>
              <a:rPr sz="4400"/>
              <a:t> Celecoxib is contraindicated in clients with allergy to sulfonamides. </a:t>
            </a:r>
            <a:endParaRPr sz="4400"/>
          </a:p>
          <a:p>
            <a:r>
              <a:rPr sz="4400"/>
              <a:t> Ketorolac is contraindicated in clients with advanced renal dysfunction</a:t>
            </a:r>
            <a:endParaRPr sz="4400"/>
          </a:p>
          <a:p>
            <a:r>
              <a:rPr sz="4400"/>
              <a:t> Use should be no longer than five days because of the risk for kidney damage. </a:t>
            </a:r>
            <a:endParaRPr sz="4400"/>
          </a:p>
          <a:p>
            <a:r>
              <a:rPr sz="4400"/>
              <a:t> 2nd generation NSAIDs should be used cautiously in clients who have known cardiovascular disease.</a:t>
            </a:r>
            <a:endParaRPr sz="4400"/>
          </a:p>
        </p:txBody>
      </p:sp>
    </p:spTree>
  </p:cSld>
  <p:clrMapOvr>
    <a:masterClrMapping/>
  </p:clrMapOvr>
</p:sld>
</file>

<file path=ppt/slides/slide521.xml><?xml version="1.0" encoding="utf-8"?>
<p:sld xmlns:a="http://schemas.openxmlformats.org/drawingml/2006/main" xmlns:r="http://schemas.openxmlformats.org/officeDocument/2006/relationships" xmlns:p="http://schemas.openxmlformats.org/presentationml/2006/main">
  <p:cSld>
    <p:spTree>
      <p:nvGrpSpPr>
        <p:cNvPr id="1217" name=""/>
        <p:cNvGrpSpPr/>
        <p:nvPr/>
      </p:nvGrpSpPr>
      <p:grpSpPr>
        <a:xfrm>
          <a:off x="0" y="0"/>
          <a:ext cx="0" cy="0"/>
          <a:chOff x="0" y="0"/>
          <a:chExt cx="0" cy="0"/>
        </a:xfrm>
      </p:grpSpPr>
      <p:sp>
        <p:nvSpPr>
          <p:cNvPr id="1049673" name="Title 1"/>
          <p:cNvSpPr>
            <a:spLocks noGrp="1"/>
          </p:cNvSpPr>
          <p:nvPr>
            <p:ph type="title"/>
          </p:nvPr>
        </p:nvSpPr>
        <p:spPr/>
        <p:txBody>
          <a:bodyPr/>
          <a:p>
            <a:r>
              <a:t>                            </a:t>
            </a:r>
            <a:r>
              <a:rPr b="1"/>
              <a:t>acetaminophen</a:t>
            </a:r>
            <a:endParaRPr b="1"/>
          </a:p>
        </p:txBody>
      </p:sp>
      <p:sp>
        <p:nvSpPr>
          <p:cNvPr id="1049674" name="Content Placeholder 2"/>
          <p:cNvSpPr>
            <a:spLocks noGrp="1"/>
          </p:cNvSpPr>
          <p:nvPr>
            <p:ph idx="1"/>
          </p:nvPr>
        </p:nvSpPr>
        <p:spPr/>
        <p:txBody>
          <a:bodyPr/>
          <a:p>
            <a:pPr indent="0" marL="0">
              <a:buNone/>
            </a:pPr>
            <a:r>
              <a:rPr b="1"/>
              <a:t>Mechanism Of  Action</a:t>
            </a:r>
            <a:r>
              <a:t>;</a:t>
            </a:r>
          </a:p>
          <a:p>
            <a:r>
              <a:t> Acetaminophen slows the production of prostaglandins in the central nervous system.  </a:t>
            </a:r>
          </a:p>
          <a:p>
            <a:pPr indent="0" marL="0">
              <a:buNone/>
            </a:pPr>
            <a:r>
              <a:rPr b="1"/>
              <a:t>Therapeutic Uses </a:t>
            </a:r>
            <a:endParaRPr b="1"/>
          </a:p>
          <a:p>
            <a:r>
              <a:t>Analgesic (relief of pain) effect </a:t>
            </a:r>
          </a:p>
          <a:p>
            <a:r>
              <a:t>Antipyretic (reduction of fever) effects</a:t>
            </a:r>
          </a:p>
        </p:txBody>
      </p:sp>
    </p:spTree>
  </p:cSld>
  <p:clrMapOvr>
    <a:masterClrMapping/>
  </p:clrMapOvr>
</p:sld>
</file>

<file path=ppt/slides/slide522.xml><?xml version="1.0" encoding="utf-8"?>
<p:sld xmlns:a="http://schemas.openxmlformats.org/drawingml/2006/main" xmlns:r="http://schemas.openxmlformats.org/officeDocument/2006/relationships" xmlns:p="http://schemas.openxmlformats.org/presentationml/2006/main">
  <p:cSld>
    <p:spTree>
      <p:nvGrpSpPr>
        <p:cNvPr id="1218" name=""/>
        <p:cNvGrpSpPr/>
        <p:nvPr/>
      </p:nvGrpSpPr>
      <p:grpSpPr>
        <a:xfrm>
          <a:off x="0" y="0"/>
          <a:ext cx="0" cy="0"/>
          <a:chOff x="0" y="0"/>
          <a:chExt cx="0" cy="0"/>
        </a:xfrm>
      </p:grpSpPr>
      <p:sp>
        <p:nvSpPr>
          <p:cNvPr id="1049675" name="Title 1"/>
          <p:cNvSpPr>
            <a:spLocks noGrp="1"/>
          </p:cNvSpPr>
          <p:nvPr>
            <p:ph type="title"/>
          </p:nvPr>
        </p:nvSpPr>
        <p:spPr/>
        <p:txBody>
          <a:bodyPr/>
          <a:p>
            <a:r>
              <a:rPr b="1" sz="2800">
                <a:solidFill>
                  <a:srgbClr val="000000"/>
                </a:solidFill>
                <a:latin typeface="Calibri"/>
                <a:ea typeface="+mn-ea"/>
                <a:cs typeface="+mn-cs"/>
              </a:rPr>
              <a:t>complications Side/Adverse Effects Nursing Interventions/Client Education</a:t>
            </a:r>
          </a:p>
        </p:txBody>
      </p:sp>
      <p:sp>
        <p:nvSpPr>
          <p:cNvPr id="1049676" name="Content Placeholder 2"/>
          <p:cNvSpPr>
            <a:spLocks noGrp="1"/>
          </p:cNvSpPr>
          <p:nvPr>
            <p:ph idx="1"/>
          </p:nvPr>
        </p:nvSpPr>
        <p:spPr/>
        <p:txBody>
          <a:bodyPr>
            <a:normAutofit/>
          </a:bodyPr>
          <a:p>
            <a:pPr indent="0" marL="0">
              <a:buNone/>
            </a:pPr>
            <a:r>
              <a:rPr b="1"/>
              <a:t>Acute toxicity </a:t>
            </a:r>
            <a:r>
              <a:t>that results in </a:t>
            </a:r>
            <a:r>
              <a:rPr b="1"/>
              <a:t>liver damage </a:t>
            </a:r>
            <a:r>
              <a:t>with early symptoms of nausea, vomiting, diarrhea, sweating, and abdominal discomfort progressing to, </a:t>
            </a:r>
            <a:r>
              <a:rPr b="1"/>
              <a:t>hepatic failure</a:t>
            </a:r>
            <a:r>
              <a:t>, </a:t>
            </a:r>
            <a:r>
              <a:rPr b="1"/>
              <a:t>coma </a:t>
            </a:r>
            <a:r>
              <a:t>and </a:t>
            </a:r>
            <a:r>
              <a:rPr b="1"/>
              <a:t>death </a:t>
            </a:r>
            <a:endParaRPr b="1"/>
          </a:p>
          <a:p>
            <a:r>
              <a:t> Advise clients to take acetaminophen as prescribed and not to exceed 4 g/day. </a:t>
            </a:r>
          </a:p>
          <a:p>
            <a:r>
              <a:t> Administer the antidote</a:t>
            </a:r>
            <a:r>
              <a:rPr b="1"/>
              <a:t>, acetylcysteine </a:t>
            </a:r>
            <a:r>
              <a:t>(Mucomyst).</a:t>
            </a:r>
          </a:p>
          <a:p>
            <a:pPr indent="0" marL="0">
              <a:buNone/>
            </a:pPr>
            <a:r>
              <a:t> </a:t>
            </a:r>
            <a:r>
              <a:rPr b="1"/>
              <a:t>Contraindications/Precautions </a:t>
            </a:r>
            <a:endParaRPr b="1"/>
          </a:p>
          <a:p>
            <a:r>
              <a:t>Use cautiously in clients who consume three or more alcoholic drinks/day and those taking warfarin (interferes with metabolism).</a:t>
            </a:r>
          </a:p>
        </p:txBody>
      </p:sp>
    </p:spTree>
  </p:cSld>
  <p:clrMapOvr>
    <a:masterClrMapping/>
  </p:clrMapOvr>
</p:sld>
</file>

<file path=ppt/slides/slide523.xml><?xml version="1.0" encoding="utf-8"?>
<p:sld xmlns:a="http://schemas.openxmlformats.org/drawingml/2006/main" xmlns:r="http://schemas.openxmlformats.org/officeDocument/2006/relationships" xmlns:p="http://schemas.openxmlformats.org/presentationml/2006/main">
  <p:cSld>
    <p:spTree>
      <p:nvGrpSpPr>
        <p:cNvPr id="1219" name=""/>
        <p:cNvGrpSpPr/>
        <p:nvPr/>
      </p:nvGrpSpPr>
      <p:grpSpPr>
        <a:xfrm>
          <a:off x="0" y="0"/>
          <a:ext cx="0" cy="0"/>
          <a:chOff x="0" y="0"/>
          <a:chExt cx="0" cy="0"/>
        </a:xfrm>
      </p:grpSpPr>
      <p:sp>
        <p:nvSpPr>
          <p:cNvPr id="1049677" name="Title 1"/>
          <p:cNvSpPr>
            <a:spLocks noGrp="1"/>
          </p:cNvSpPr>
          <p:nvPr>
            <p:ph type="title"/>
          </p:nvPr>
        </p:nvSpPr>
        <p:spPr/>
        <p:txBody>
          <a:bodyPr/>
          <a:p>
            <a:r>
              <a:rPr b="1" sz="2800">
                <a:solidFill>
                  <a:srgbClr val="000000"/>
                </a:solidFill>
                <a:latin typeface="Calibri"/>
                <a:ea typeface="+mn-ea"/>
                <a:cs typeface="+mn-cs"/>
              </a:rPr>
              <a:t>Medication/Food Interactions Nursing Interventions/Client Education</a:t>
            </a:r>
            <a:endParaRPr b="1"/>
          </a:p>
        </p:txBody>
      </p:sp>
      <p:sp>
        <p:nvSpPr>
          <p:cNvPr id="1049678" name="Content Placeholder 2"/>
          <p:cNvSpPr>
            <a:spLocks noGrp="1"/>
          </p:cNvSpPr>
          <p:nvPr>
            <p:ph idx="1"/>
          </p:nvPr>
        </p:nvSpPr>
        <p:spPr/>
        <p:txBody>
          <a:bodyPr>
            <a:normAutofit fontScale="96429"/>
          </a:bodyPr>
          <a:p>
            <a:pPr indent="0" marL="0">
              <a:buNone/>
            </a:pPr>
            <a:r>
              <a:rPr b="1"/>
              <a:t>Alcohol increases the risk of liver damage. </a:t>
            </a:r>
            <a:endParaRPr b="1"/>
          </a:p>
          <a:p>
            <a:r>
              <a:t> Advise clients about the potential risk of liver damage with consumption of alcohol. </a:t>
            </a:r>
          </a:p>
          <a:p>
            <a:pPr indent="0" marL="0">
              <a:buNone/>
            </a:pPr>
            <a:r>
              <a:rPr b="1"/>
              <a:t>Acetaminophen slows metabolism of warfarin (Coumadin)  </a:t>
            </a:r>
            <a:r>
              <a:t> leading to increased levels of warfarin. </a:t>
            </a:r>
          </a:p>
          <a:p>
            <a:r>
              <a:t>This places clients at risk for bleeding. </a:t>
            </a:r>
          </a:p>
          <a:p>
            <a:r>
              <a:t> Instruct clients to observe for signs of bleeding (bruising, petechiae, hematuria). </a:t>
            </a:r>
          </a:p>
          <a:p>
            <a:r>
              <a:t> Monitor prothrombin time and INR levels and adjust dosages of warfarin accordingly</a:t>
            </a:r>
          </a:p>
        </p:txBody>
      </p:sp>
    </p:spTree>
  </p:cSld>
  <p:clrMapOvr>
    <a:masterClrMapping/>
  </p:clrMapOvr>
</p:sld>
</file>

<file path=ppt/slides/slide524.xml><?xml version="1.0" encoding="utf-8"?>
<p:sld xmlns:a="http://schemas.openxmlformats.org/drawingml/2006/main" xmlns:r="http://schemas.openxmlformats.org/officeDocument/2006/relationships" xmlns:p="http://schemas.openxmlformats.org/presentationml/2006/main">
  <p:cSld>
    <p:spTree>
      <p:nvGrpSpPr>
        <p:cNvPr id="1220" name=""/>
        <p:cNvGrpSpPr/>
        <p:nvPr/>
      </p:nvGrpSpPr>
      <p:grpSpPr>
        <a:xfrm>
          <a:off x="0" y="0"/>
          <a:ext cx="0" cy="0"/>
          <a:chOff x="0" y="0"/>
          <a:chExt cx="0" cy="0"/>
        </a:xfrm>
      </p:grpSpPr>
      <p:sp>
        <p:nvSpPr>
          <p:cNvPr id="1049679" name="Title 1"/>
          <p:cNvSpPr>
            <a:spLocks noGrp="1"/>
          </p:cNvSpPr>
          <p:nvPr>
            <p:ph type="title"/>
          </p:nvPr>
        </p:nvSpPr>
        <p:spPr/>
        <p:txBody>
          <a:bodyPr/>
          <a:p>
            <a:r>
              <a:rPr b="1"/>
              <a:t>Opioid analgesics/narcotic analgesics</a:t>
            </a:r>
            <a:endParaRPr b="1"/>
          </a:p>
        </p:txBody>
      </p:sp>
      <p:sp>
        <p:nvSpPr>
          <p:cNvPr id="1049680" name="Content Placeholder 2"/>
          <p:cNvSpPr>
            <a:spLocks noGrp="1"/>
          </p:cNvSpPr>
          <p:nvPr>
            <p:ph idx="1"/>
          </p:nvPr>
        </p:nvSpPr>
        <p:spPr/>
        <p:txBody>
          <a:bodyPr/>
          <a:p>
            <a:pPr indent="0" marL="0">
              <a:buNone/>
            </a:pPr>
            <a:r>
              <a:rPr sz="1800">
                <a:solidFill>
                  <a:srgbClr val="000000"/>
                </a:solidFill>
              </a:rPr>
              <a:t>● </a:t>
            </a:r>
            <a:r>
              <a:rPr>
                <a:solidFill>
                  <a:srgbClr val="000000"/>
                </a:solidFill>
              </a:rPr>
              <a:t>Opioids are classified as agonists, agonist-antagonists, and antagonist.</a:t>
            </a:r>
            <a:endParaRPr>
              <a:solidFill>
                <a:srgbClr val="000000"/>
              </a:solidFill>
            </a:endParaRPr>
          </a:p>
          <a:p>
            <a:pPr indent="0" marL="0">
              <a:buNone/>
            </a:pPr>
            <a:r>
              <a:t> </a:t>
            </a:r>
            <a:r>
              <a:rPr b="1"/>
              <a:t>Opioid Agonists </a:t>
            </a:r>
            <a:endParaRPr b="1"/>
          </a:p>
          <a:p>
            <a:r>
              <a:t> morphine sulfate </a:t>
            </a:r>
          </a:p>
          <a:p>
            <a:r>
              <a:t>  Fentanyl (Sublimaze, Duragesic) </a:t>
            </a:r>
          </a:p>
          <a:p>
            <a:r>
              <a:t> Meperidine (Demerol) </a:t>
            </a:r>
          </a:p>
          <a:p>
            <a:r>
              <a:t> Methadone (Dolophine) </a:t>
            </a:r>
          </a:p>
          <a:p>
            <a:r>
              <a:t> Codeine, oxycodone (OxyContin)</a:t>
            </a:r>
            <a:endParaRPr>
              <a:solidFill>
                <a:srgbClr val="000000"/>
              </a:solidFill>
            </a:endParaRPr>
          </a:p>
        </p:txBody>
      </p:sp>
      <p:sp>
        <p:nvSpPr>
          <p:cNvPr id="1049681" name="Rectangle 3"/>
          <p:cNvSpPr/>
          <p:nvPr/>
        </p:nvSpPr>
        <p:spPr>
          <a:xfrm>
            <a:off x="3047995" y="3105829"/>
            <a:ext cx="6096004" cy="396240"/>
          </a:xfrm>
          <a:prstGeom prst="rect"/>
        </p:spPr>
        <p:txBody>
          <a:bodyPr>
            <a:spAutoFit/>
          </a:bodyPr>
          <a:p>
            <a:r>
              <a:t>.</a:t>
            </a:r>
          </a:p>
        </p:txBody>
      </p:sp>
    </p:spTree>
  </p:cSld>
  <p:clrMapOvr>
    <a:masterClrMapping/>
  </p:clrMapOvr>
</p:sld>
</file>

<file path=ppt/slides/slide525.xml><?xml version="1.0" encoding="utf-8"?>
<p:sld xmlns:a="http://schemas.openxmlformats.org/drawingml/2006/main" xmlns:r="http://schemas.openxmlformats.org/officeDocument/2006/relationships" xmlns:p="http://schemas.openxmlformats.org/presentationml/2006/main">
  <p:cSld>
    <p:spTree>
      <p:nvGrpSpPr>
        <p:cNvPr id="1221" name=""/>
        <p:cNvGrpSpPr/>
        <p:nvPr/>
      </p:nvGrpSpPr>
      <p:grpSpPr>
        <a:xfrm>
          <a:off x="0" y="0"/>
          <a:ext cx="0" cy="0"/>
          <a:chOff x="0" y="0"/>
          <a:chExt cx="0" cy="0"/>
        </a:xfrm>
      </p:grpSpPr>
      <p:sp>
        <p:nvSpPr>
          <p:cNvPr id="1049682" name="Title 1"/>
          <p:cNvSpPr>
            <a:spLocks noGrp="1"/>
          </p:cNvSpPr>
          <p:nvPr>
            <p:ph type="title"/>
          </p:nvPr>
        </p:nvSpPr>
        <p:spPr/>
        <p:txBody>
          <a:bodyPr>
            <a:normAutofit fontScale="90909"/>
          </a:bodyPr>
          <a:p>
            <a:r>
              <a:t>                                                                                   </a:t>
            </a:r>
            <a:r>
              <a:rPr b="1"/>
              <a:t>Mechanism of action</a:t>
            </a:r>
            <a:endParaRPr b="1"/>
          </a:p>
        </p:txBody>
      </p:sp>
      <p:sp>
        <p:nvSpPr>
          <p:cNvPr id="1049683" name="Content Placeholder 2"/>
          <p:cNvSpPr>
            <a:spLocks noGrp="1"/>
          </p:cNvSpPr>
          <p:nvPr>
            <p:ph idx="1"/>
          </p:nvPr>
        </p:nvSpPr>
        <p:spPr/>
        <p:txBody>
          <a:bodyPr>
            <a:normAutofit/>
          </a:bodyPr>
          <a:p>
            <a:r>
              <a:t>Opioid agonist produce analgesia by binding to specific proteins-coupled receptors that are located in the brain and the spinal cord regions involved in the transmission  and modulation of pain</a:t>
            </a:r>
          </a:p>
          <a:p>
            <a:pPr indent="0" marL="0">
              <a:buNone/>
            </a:pPr>
            <a:r>
              <a:rPr b="1"/>
              <a:t>Indication/Therapeutic Uses </a:t>
            </a:r>
            <a:endParaRPr b="1"/>
          </a:p>
          <a:p>
            <a:r>
              <a:t>Relief of moderate to severe pain </a:t>
            </a:r>
            <a:r>
              <a:rPr b="1"/>
              <a:t>(postoperative, myocardial infarction, cancer</a:t>
            </a:r>
            <a:r>
              <a:t>) </a:t>
            </a:r>
          </a:p>
          <a:p>
            <a:r>
              <a:t>Sedation </a:t>
            </a:r>
          </a:p>
          <a:p>
            <a:r>
              <a:t> Reduction of bowel motility </a:t>
            </a:r>
          </a:p>
          <a:p>
            <a:r>
              <a:t> Codeine: cough suppression</a:t>
            </a:r>
          </a:p>
        </p:txBody>
      </p:sp>
    </p:spTree>
  </p:cSld>
  <p:clrMapOvr>
    <a:masterClrMapping/>
  </p:clrMapOvr>
</p:sld>
</file>

<file path=ppt/slides/slide526.xml><?xml version="1.0" encoding="utf-8"?>
<p:sld xmlns:a="http://schemas.openxmlformats.org/drawingml/2006/main" xmlns:r="http://schemas.openxmlformats.org/officeDocument/2006/relationships" xmlns:p="http://schemas.openxmlformats.org/presentationml/2006/main">
  <p:cSld>
    <p:spTree>
      <p:nvGrpSpPr>
        <p:cNvPr id="1222" name=""/>
        <p:cNvGrpSpPr/>
        <p:nvPr/>
      </p:nvGrpSpPr>
      <p:grpSpPr>
        <a:xfrm>
          <a:off x="0" y="0"/>
          <a:ext cx="0" cy="0"/>
          <a:chOff x="0" y="0"/>
          <a:chExt cx="0" cy="0"/>
        </a:xfrm>
      </p:grpSpPr>
      <p:sp>
        <p:nvSpPr>
          <p:cNvPr id="1049684" name="Content Placeholder 2"/>
          <p:cNvSpPr>
            <a:spLocks noGrp="1"/>
          </p:cNvSpPr>
          <p:nvPr>
            <p:ph idx="1"/>
          </p:nvPr>
        </p:nvSpPr>
        <p:spPr>
          <a:xfrm>
            <a:off x="838204" y="257914"/>
            <a:ext cx="10515600" cy="6283569"/>
          </a:xfrm>
        </p:spPr>
        <p:txBody>
          <a:bodyPr>
            <a:normAutofit/>
          </a:bodyPr>
          <a:p>
            <a:pPr indent="0" marL="0">
              <a:buNone/>
            </a:pPr>
            <a:r>
              <a:t>                          </a:t>
            </a:r>
            <a:r>
              <a:rPr b="1" sz="3200"/>
              <a:t>route of administration</a:t>
            </a:r>
            <a:endParaRPr b="1" sz="3200"/>
          </a:p>
          <a:p>
            <a:r>
              <a:t> Morphine sulfate – Oral, subcutaneous, IM, rectal, IV, epidural, and intrathecal </a:t>
            </a:r>
            <a:endParaRPr b="1"/>
          </a:p>
          <a:p>
            <a:r>
              <a:t> Fentanyl (Sublimaze, Duragesic) – IV, IM, transmucosal and transdermal </a:t>
            </a:r>
          </a:p>
          <a:p>
            <a:r>
              <a:t> Meperidine (Demerol) – Oral, subcutaneous IM, and IV </a:t>
            </a:r>
          </a:p>
          <a:p>
            <a:r>
              <a:t>Codeine – Oral, subcutaneous IM, and IV </a:t>
            </a:r>
          </a:p>
          <a:p>
            <a:r>
              <a:t> Methadone (Dolophine) – Oral, subcutaneous, and IM </a:t>
            </a:r>
          </a:p>
          <a:p>
            <a:r>
              <a:t> Oxycodone (OxyContin) – Oral, rectal </a:t>
            </a:r>
          </a:p>
          <a:p>
            <a:r>
              <a:t> Hydromorphone (Dilaudid) – Oral, subcutaneous, IM, IV</a:t>
            </a:r>
          </a:p>
        </p:txBody>
      </p:sp>
    </p:spTree>
  </p:cSld>
  <p:clrMapOvr>
    <a:masterClrMapping/>
  </p:clrMapOvr>
</p:sld>
</file>

<file path=ppt/slides/slide527.xml><?xml version="1.0" encoding="utf-8"?>
<p:sld xmlns:a="http://schemas.openxmlformats.org/drawingml/2006/main" xmlns:r="http://schemas.openxmlformats.org/officeDocument/2006/relationships" xmlns:p="http://schemas.openxmlformats.org/presentationml/2006/main">
  <p:cSld>
    <p:spTree>
      <p:nvGrpSpPr>
        <p:cNvPr id="1223" name=""/>
        <p:cNvGrpSpPr/>
        <p:nvPr/>
      </p:nvGrpSpPr>
      <p:grpSpPr>
        <a:xfrm>
          <a:off x="0" y="0"/>
          <a:ext cx="0" cy="0"/>
          <a:chOff x="0" y="0"/>
          <a:chExt cx="0" cy="0"/>
        </a:xfrm>
      </p:grpSpPr>
      <p:sp>
        <p:nvSpPr>
          <p:cNvPr id="1049685" name="Content Placeholder 2"/>
          <p:cNvSpPr>
            <a:spLocks noGrp="1"/>
          </p:cNvSpPr>
          <p:nvPr>
            <p:ph idx="1"/>
          </p:nvPr>
        </p:nvSpPr>
        <p:spPr>
          <a:xfrm>
            <a:off x="838204" y="246180"/>
            <a:ext cx="10515600" cy="6365625"/>
          </a:xfrm>
        </p:spPr>
        <p:txBody>
          <a:bodyPr>
            <a:normAutofit/>
          </a:bodyPr>
          <a:p>
            <a:pPr indent="0" marL="0">
              <a:buNone/>
            </a:pPr>
            <a:r>
              <a:rPr b="1" sz="4400">
                <a:solidFill>
                  <a:srgbClr val="000000"/>
                </a:solidFill>
                <a:latin typeface="Calibri Light"/>
                <a:ea typeface="+mj-ea"/>
                <a:cs typeface="+mj-cs"/>
              </a:rPr>
              <a:t>Side/Adverse Effects Nursing Interventions/Client Education  (morphine sulphate)</a:t>
            </a:r>
            <a:endParaRPr b="1"/>
          </a:p>
          <a:p>
            <a:pPr indent="0" marL="0">
              <a:buNone/>
            </a:pPr>
            <a:r>
              <a:rPr b="1"/>
              <a:t>Respiratory depression. </a:t>
            </a:r>
            <a:endParaRPr b="1"/>
          </a:p>
          <a:p>
            <a:r>
              <a:t> Monitor the client’s vital signs. </a:t>
            </a:r>
          </a:p>
          <a:p>
            <a:r>
              <a:t> Stop opioids if the client’s respiratory rate is less than 12/ min, and then notify the provider. </a:t>
            </a:r>
          </a:p>
          <a:p>
            <a:r>
              <a:t> Have </a:t>
            </a:r>
            <a:r>
              <a:rPr b="1"/>
              <a:t>naloxone (Narcan) </a:t>
            </a:r>
            <a:r>
              <a:t>and resuscitation equipment available. </a:t>
            </a:r>
          </a:p>
          <a:p>
            <a:r>
              <a:t> Avoid the use of opioids with CNS depressant medications (barbiturates, benzodiazepines, and consumption of alcohol). </a:t>
            </a:r>
          </a:p>
          <a:p>
            <a:pPr indent="0" marL="0">
              <a:buNone/>
            </a:pPr>
            <a:r>
              <a:rPr b="1"/>
              <a:t>Constipation </a:t>
            </a:r>
            <a:endParaRPr b="1"/>
          </a:p>
          <a:p>
            <a:r>
              <a:t> Increased fluid intake and physical activity. </a:t>
            </a:r>
          </a:p>
          <a:p>
            <a:r>
              <a:t>Administer a stimulant laxative, such as Bisacodyl (Dulcolax), to counteract decreased bowel motility, or a stool softener, such as docusate sodium (Colace), to prevent constipation.</a:t>
            </a:r>
          </a:p>
        </p:txBody>
      </p:sp>
    </p:spTree>
  </p:cSld>
  <p:clrMapOvr>
    <a:masterClrMapping/>
  </p:clrMapOvr>
</p:sld>
</file>

<file path=ppt/slides/slide528.xml><?xml version="1.0" encoding="utf-8"?>
<p:sld xmlns:a="http://schemas.openxmlformats.org/drawingml/2006/main" xmlns:r="http://schemas.openxmlformats.org/officeDocument/2006/relationships" xmlns:p="http://schemas.openxmlformats.org/presentationml/2006/main">
  <p:cSld>
    <p:spTree>
      <p:nvGrpSpPr>
        <p:cNvPr id="1224" name=""/>
        <p:cNvGrpSpPr/>
        <p:nvPr/>
      </p:nvGrpSpPr>
      <p:grpSpPr>
        <a:xfrm>
          <a:off x="0" y="0"/>
          <a:ext cx="0" cy="0"/>
          <a:chOff x="0" y="0"/>
          <a:chExt cx="0" cy="0"/>
        </a:xfrm>
      </p:grpSpPr>
      <p:sp>
        <p:nvSpPr>
          <p:cNvPr id="1049686" name="Content Placeholder 2"/>
          <p:cNvSpPr>
            <a:spLocks noGrp="1"/>
          </p:cNvSpPr>
          <p:nvPr>
            <p:ph idx="1"/>
          </p:nvPr>
        </p:nvSpPr>
        <p:spPr>
          <a:xfrm>
            <a:off x="867505" y="257914"/>
            <a:ext cx="10498019" cy="6260129"/>
          </a:xfrm>
        </p:spPr>
        <p:txBody>
          <a:bodyPr>
            <a:noAutofit/>
          </a:bodyPr>
          <a:p>
            <a:pPr indent="0" marL="0">
              <a:buNone/>
            </a:pPr>
            <a:r>
              <a:rPr b="1" sz="2400">
                <a:solidFill>
                  <a:srgbClr val="000000"/>
                </a:solidFill>
              </a:rPr>
              <a:t>                                                   Side/ adverse effects cont.’</a:t>
            </a:r>
            <a:endParaRPr b="1" sz="2400">
              <a:solidFill>
                <a:srgbClr val="000000"/>
              </a:solidFill>
            </a:endParaRPr>
          </a:p>
          <a:p>
            <a:pPr indent="0" marL="0">
              <a:buNone/>
            </a:pPr>
            <a:r>
              <a:rPr b="1" sz="2400">
                <a:solidFill>
                  <a:srgbClr val="000000"/>
                </a:solidFill>
              </a:rPr>
              <a:t>Orthostatic hypotension </a:t>
            </a:r>
            <a:endParaRPr b="1" sz="2400">
              <a:solidFill>
                <a:srgbClr val="000000"/>
              </a:solidFill>
            </a:endParaRPr>
          </a:p>
          <a:p>
            <a:r>
              <a:rPr sz="2400">
                <a:solidFill>
                  <a:srgbClr val="000000"/>
                </a:solidFill>
              </a:rPr>
              <a:t> Advise clients to sit or lie down if symptoms of lightheadedness or dizziness occur. </a:t>
            </a:r>
            <a:endParaRPr sz="2400">
              <a:solidFill>
                <a:srgbClr val="000000"/>
              </a:solidFill>
            </a:endParaRPr>
          </a:p>
          <a:p>
            <a:r>
              <a:rPr sz="2400">
                <a:solidFill>
                  <a:srgbClr val="000000"/>
                </a:solidFill>
              </a:rPr>
              <a:t> Avoid sudden changes in position by slowly moving clients from a lying to a sitting or standing position. </a:t>
            </a:r>
            <a:endParaRPr sz="2400">
              <a:solidFill>
                <a:srgbClr val="000000"/>
              </a:solidFill>
            </a:endParaRPr>
          </a:p>
          <a:p>
            <a:r>
              <a:rPr sz="2400">
                <a:solidFill>
                  <a:srgbClr val="000000"/>
                </a:solidFill>
              </a:rPr>
              <a:t> Provide assistance with ambulation as needed.</a:t>
            </a:r>
            <a:endParaRPr sz="2400">
              <a:solidFill>
                <a:srgbClr val="000000"/>
              </a:solidFill>
            </a:endParaRPr>
          </a:p>
          <a:p>
            <a:pPr indent="0" marL="0">
              <a:buNone/>
            </a:pPr>
            <a:r>
              <a:rPr sz="2400">
                <a:solidFill>
                  <a:srgbClr val="000000"/>
                </a:solidFill>
              </a:rPr>
              <a:t> </a:t>
            </a:r>
            <a:r>
              <a:rPr b="1" sz="2400">
                <a:solidFill>
                  <a:srgbClr val="000000"/>
                </a:solidFill>
              </a:rPr>
              <a:t>Urinary retention </a:t>
            </a:r>
            <a:endParaRPr b="1" sz="2400">
              <a:solidFill>
                <a:srgbClr val="000000"/>
              </a:solidFill>
            </a:endParaRPr>
          </a:p>
          <a:p>
            <a:r>
              <a:rPr sz="2400">
                <a:solidFill>
                  <a:srgbClr val="000000"/>
                </a:solidFill>
              </a:rPr>
              <a:t> Advise clients to void every 4 hr. </a:t>
            </a:r>
            <a:endParaRPr sz="2400">
              <a:solidFill>
                <a:srgbClr val="000000"/>
              </a:solidFill>
            </a:endParaRPr>
          </a:p>
          <a:p>
            <a:r>
              <a:rPr sz="2400">
                <a:solidFill>
                  <a:srgbClr val="000000"/>
                </a:solidFill>
              </a:rPr>
              <a:t>Monitor I&amp;O. </a:t>
            </a:r>
            <a:endParaRPr sz="2400">
              <a:solidFill>
                <a:srgbClr val="000000"/>
              </a:solidFill>
            </a:endParaRPr>
          </a:p>
          <a:p>
            <a:r>
              <a:rPr sz="2400">
                <a:solidFill>
                  <a:srgbClr val="000000"/>
                </a:solidFill>
              </a:rPr>
              <a:t> Assess the client’s bladder for distention by palpating the lower abdomen area every 4 to 6 hr. side and adverse effects</a:t>
            </a:r>
            <a:endParaRPr sz="2400"/>
          </a:p>
        </p:txBody>
      </p:sp>
    </p:spTree>
  </p:cSld>
  <p:clrMapOvr>
    <a:masterClrMapping/>
  </p:clrMapOvr>
</p:sld>
</file>

<file path=ppt/slides/slide529.xml><?xml version="1.0" encoding="utf-8"?>
<p:sld xmlns:a="http://schemas.openxmlformats.org/drawingml/2006/main" xmlns:r="http://schemas.openxmlformats.org/officeDocument/2006/relationships" xmlns:p="http://schemas.openxmlformats.org/presentationml/2006/main">
  <p:cSld>
    <p:spTree>
      <p:nvGrpSpPr>
        <p:cNvPr id="1225" name=""/>
        <p:cNvGrpSpPr/>
        <p:nvPr/>
      </p:nvGrpSpPr>
      <p:grpSpPr>
        <a:xfrm>
          <a:off x="0" y="0"/>
          <a:ext cx="0" cy="0"/>
          <a:chOff x="0" y="0"/>
          <a:chExt cx="0" cy="0"/>
        </a:xfrm>
      </p:grpSpPr>
      <p:sp>
        <p:nvSpPr>
          <p:cNvPr id="1049687" name="Title 1"/>
          <p:cNvSpPr>
            <a:spLocks noGrp="1"/>
          </p:cNvSpPr>
          <p:nvPr>
            <p:ph type="title"/>
          </p:nvPr>
        </p:nvSpPr>
        <p:spPr>
          <a:xfrm>
            <a:off x="838204" y="365126"/>
            <a:ext cx="10515600" cy="539743"/>
          </a:xfrm>
        </p:spPr>
        <p:txBody>
          <a:bodyPr>
            <a:normAutofit fontScale="90000"/>
          </a:bodyPr>
          <a:p>
            <a:r>
              <a:t>Adverse effects cont.’</a:t>
            </a:r>
          </a:p>
        </p:txBody>
      </p:sp>
      <p:sp>
        <p:nvSpPr>
          <p:cNvPr id="1049688" name="Content Placeholder 2"/>
          <p:cNvSpPr>
            <a:spLocks noGrp="1"/>
          </p:cNvSpPr>
          <p:nvPr>
            <p:ph idx="1"/>
          </p:nvPr>
        </p:nvSpPr>
        <p:spPr>
          <a:xfrm>
            <a:off x="257175" y="1104895"/>
            <a:ext cx="11715750" cy="5543550"/>
          </a:xfrm>
        </p:spPr>
        <p:txBody>
          <a:bodyPr>
            <a:normAutofit fontScale="53571" lnSpcReduction="20000"/>
          </a:bodyPr>
          <a:p>
            <a:pPr indent="0" marL="0">
              <a:buNone/>
            </a:pPr>
            <a:r>
              <a:rPr b="1" sz="4400"/>
              <a:t>Cough suppression </a:t>
            </a:r>
            <a:endParaRPr b="1" sz="4400"/>
          </a:p>
          <a:p>
            <a:pPr indent="0" marL="0">
              <a:buNone/>
            </a:pPr>
            <a:r>
              <a:rPr sz="4400"/>
              <a:t> Advise clients to cough at regular intervals to prevent accumulation of secretions in the airway. </a:t>
            </a:r>
            <a:endParaRPr sz="4400"/>
          </a:p>
          <a:p>
            <a:pPr indent="0" marL="0">
              <a:buNone/>
            </a:pPr>
            <a:r>
              <a:rPr sz="4400"/>
              <a:t> Auscultate the client’s lungs for crackles, and instruct clients to increase intake of fluid to liquefy secretions.</a:t>
            </a:r>
            <a:endParaRPr sz="4400"/>
          </a:p>
          <a:p>
            <a:pPr indent="0" marL="0">
              <a:buNone/>
            </a:pPr>
            <a:r>
              <a:rPr b="1" sz="4400"/>
              <a:t> Sedation </a:t>
            </a:r>
            <a:endParaRPr b="1" sz="4400"/>
          </a:p>
          <a:p>
            <a:pPr indent="0" marL="0">
              <a:buNone/>
            </a:pPr>
            <a:r>
              <a:rPr sz="4400"/>
              <a:t> Advise clients to avoid hazardous activities such as driving or operating heavy machinery.</a:t>
            </a:r>
            <a:endParaRPr sz="4400"/>
          </a:p>
          <a:p>
            <a:pPr indent="0" marL="0">
              <a:buNone/>
            </a:pPr>
            <a:r>
              <a:rPr sz="4400"/>
              <a:t> </a:t>
            </a:r>
            <a:r>
              <a:rPr b="1" sz="4400"/>
              <a:t>Biliary colic </a:t>
            </a:r>
            <a:endParaRPr b="1" sz="4400"/>
          </a:p>
          <a:p>
            <a:pPr indent="0" marL="0">
              <a:buNone/>
            </a:pPr>
            <a:r>
              <a:rPr sz="4400"/>
              <a:t> Avoid giving morphine to clients who have a history of biliary colic. Use meperidine as an alternative.</a:t>
            </a:r>
            <a:endParaRPr sz="4400"/>
          </a:p>
          <a:p>
            <a:pPr indent="0" marL="0">
              <a:buNone/>
            </a:pPr>
            <a:r>
              <a:rPr b="1" sz="4400">
                <a:solidFill>
                  <a:srgbClr val="000000"/>
                </a:solidFill>
              </a:rPr>
              <a:t>Emesis </a:t>
            </a:r>
            <a:endParaRPr b="1" sz="4400">
              <a:solidFill>
                <a:srgbClr val="000000"/>
              </a:solidFill>
            </a:endParaRPr>
          </a:p>
          <a:p>
            <a:r>
              <a:rPr sz="4400">
                <a:solidFill>
                  <a:srgbClr val="000000"/>
                </a:solidFill>
              </a:rPr>
              <a:t> Administer an antiemetic such as promethazine (Phenergan).</a:t>
            </a:r>
            <a:endParaRPr sz="4400">
              <a:solidFill>
                <a:srgbClr val="000000"/>
              </a:solidFill>
            </a:endParaRPr>
          </a:p>
          <a:p>
            <a:pPr indent="0" marL="0">
              <a:buNone/>
            </a:pPr>
            <a:r>
              <a:rPr b="1" sz="4400">
                <a:solidFill>
                  <a:srgbClr val="000000"/>
                </a:solidFill>
              </a:rPr>
              <a:t>Opioid overdose </a:t>
            </a:r>
            <a:r>
              <a:rPr sz="4400">
                <a:solidFill>
                  <a:srgbClr val="000000"/>
                </a:solidFill>
              </a:rPr>
              <a:t>triad of coma, respiratory depression, and pinpoint pupils </a:t>
            </a:r>
            <a:endParaRPr sz="4400">
              <a:solidFill>
                <a:srgbClr val="000000"/>
              </a:solidFill>
            </a:endParaRPr>
          </a:p>
          <a:p>
            <a:r>
              <a:rPr sz="4400">
                <a:solidFill>
                  <a:srgbClr val="000000"/>
                </a:solidFill>
              </a:rPr>
              <a:t> Monitor the client’s vital signs. </a:t>
            </a:r>
            <a:endParaRPr sz="4400">
              <a:solidFill>
                <a:srgbClr val="000000"/>
              </a:solidFill>
            </a:endParaRPr>
          </a:p>
          <a:p>
            <a:r>
              <a:rPr sz="4400">
                <a:solidFill>
                  <a:srgbClr val="000000"/>
                </a:solidFill>
              </a:rPr>
              <a:t>Provide mechanical ventilation. </a:t>
            </a:r>
            <a:endParaRPr sz="4400">
              <a:solidFill>
                <a:srgbClr val="000000"/>
              </a:solidFill>
            </a:endParaRPr>
          </a:p>
          <a:p>
            <a:r>
              <a:rPr sz="4400">
                <a:solidFill>
                  <a:srgbClr val="000000"/>
                </a:solidFill>
              </a:rPr>
              <a:t> Administer opioid antagonists, such as naloxone (Narcan) or </a:t>
            </a:r>
            <a:r>
              <a:rPr sz="4400">
                <a:solidFill>
                  <a:srgbClr val="000000"/>
                </a:solidFill>
              </a:rPr>
              <a:t>nalmefene</a:t>
            </a:r>
            <a:r>
              <a:rPr sz="4400">
                <a:solidFill>
                  <a:srgbClr val="000000"/>
                </a:solidFill>
              </a:rPr>
              <a:t> (</a:t>
            </a:r>
            <a:r>
              <a:rPr sz="4400">
                <a:solidFill>
                  <a:srgbClr val="000000"/>
                </a:solidFill>
              </a:rPr>
              <a:t>Revex</a:t>
            </a:r>
            <a:r>
              <a:rPr sz="4400">
                <a:solidFill>
                  <a:srgbClr val="000000"/>
                </a:solidFill>
              </a:rPr>
              <a:t>)</a:t>
            </a:r>
            <a:endParaRPr sz="4400">
              <a:solidFill>
                <a:srgbClr val="000000"/>
              </a:solidFill>
            </a:endParaRPr>
          </a:p>
          <a:p>
            <a:pPr indent="0" marL="0">
              <a:buNone/>
            </a:pPr>
          </a:p>
          <a:p>
            <a:pPr indent="0" marL="0">
              <a:buNone/>
            </a:pPr>
            <a:r>
              <a:t> </a:t>
            </a:r>
          </a:p>
        </p:txBody>
      </p:sp>
    </p:spTree>
  </p:cSld>
  <p:clrMapOvr>
    <a:masterClrMapping/>
  </p:clrMapOvr>
</p:sld>
</file>

<file path=ppt/slides/slide530.xml><?xml version="1.0" encoding="utf-8"?>
<p:sld xmlns:a="http://schemas.openxmlformats.org/drawingml/2006/main" xmlns:r="http://schemas.openxmlformats.org/officeDocument/2006/relationships" xmlns:p="http://schemas.openxmlformats.org/presentationml/2006/main">
  <p:cSld>
    <p:spTree>
      <p:nvGrpSpPr>
        <p:cNvPr id="1226" name=""/>
        <p:cNvGrpSpPr/>
        <p:nvPr/>
      </p:nvGrpSpPr>
      <p:grpSpPr>
        <a:xfrm>
          <a:off x="0" y="0"/>
          <a:ext cx="0" cy="0"/>
          <a:chOff x="0" y="0"/>
          <a:chExt cx="0" cy="0"/>
        </a:xfrm>
      </p:grpSpPr>
      <p:sp>
        <p:nvSpPr>
          <p:cNvPr id="1049689" name="Title 1"/>
          <p:cNvSpPr>
            <a:spLocks noGrp="1"/>
          </p:cNvSpPr>
          <p:nvPr>
            <p:ph type="title"/>
          </p:nvPr>
        </p:nvSpPr>
        <p:spPr/>
        <p:txBody>
          <a:bodyPr>
            <a:normAutofit/>
          </a:bodyPr>
          <a:p>
            <a:r>
              <a:rPr b="1" sz="3200">
                <a:solidFill>
                  <a:srgbClr val="000000"/>
                </a:solidFill>
                <a:latin typeface="Calibri"/>
                <a:ea typeface="+mn-ea"/>
                <a:cs typeface="+mn-cs"/>
              </a:rPr>
              <a:t>Contraindications/Precautions</a:t>
            </a:r>
            <a:endParaRPr b="1" sz="3200"/>
          </a:p>
        </p:txBody>
      </p:sp>
      <p:sp>
        <p:nvSpPr>
          <p:cNvPr id="1049690" name="Content Placeholder 2"/>
          <p:cNvSpPr>
            <a:spLocks noGrp="1"/>
          </p:cNvSpPr>
          <p:nvPr>
            <p:ph idx="1"/>
          </p:nvPr>
        </p:nvSpPr>
        <p:spPr/>
        <p:txBody>
          <a:bodyPr/>
          <a:p>
            <a:r>
              <a:t> Morphine is contraindicated after biliary tract surgery. </a:t>
            </a:r>
          </a:p>
          <a:p>
            <a:r>
              <a:t> Morphine is contraindicated for premature infants during and after delivery because of respiratory depressant effects. </a:t>
            </a:r>
          </a:p>
          <a:p>
            <a:r>
              <a:t> Meperidine is contraindicated for clients with renal failure because of the accumulation of normeperidine, which can result in seizures and neurotoxicity. </a:t>
            </a:r>
          </a:p>
          <a:p>
            <a:pPr indent="0" marL="0">
              <a:buNone/>
            </a:pPr>
            <a:r>
              <a:t> </a:t>
            </a:r>
            <a:r>
              <a:rPr b="1"/>
              <a:t>Use cautiously with: </a:t>
            </a:r>
            <a:r>
              <a:t>Clients who have asthma, emphysema, and/or head injuries; infants, and older adults.</a:t>
            </a:r>
          </a:p>
        </p:txBody>
      </p:sp>
    </p:spTree>
  </p:cSld>
  <p:clrMapOvr>
    <a:masterClrMapping/>
  </p:clrMapOvr>
</p:sld>
</file>

<file path=ppt/slides/slide531.xml><?xml version="1.0" encoding="utf-8"?>
<p:sld xmlns:a="http://schemas.openxmlformats.org/drawingml/2006/main" xmlns:r="http://schemas.openxmlformats.org/officeDocument/2006/relationships" xmlns:p="http://schemas.openxmlformats.org/presentationml/2006/main">
  <p:cSld>
    <p:spTree>
      <p:nvGrpSpPr>
        <p:cNvPr id="1227" name=""/>
        <p:cNvGrpSpPr/>
        <p:nvPr/>
      </p:nvGrpSpPr>
      <p:grpSpPr>
        <a:xfrm>
          <a:off x="0" y="0"/>
          <a:ext cx="0" cy="0"/>
          <a:chOff x="0" y="0"/>
          <a:chExt cx="0" cy="0"/>
        </a:xfrm>
      </p:grpSpPr>
      <p:sp>
        <p:nvSpPr>
          <p:cNvPr id="1049691" name="Title 1"/>
          <p:cNvSpPr>
            <a:spLocks noGrp="1"/>
          </p:cNvSpPr>
          <p:nvPr>
            <p:ph type="title"/>
          </p:nvPr>
        </p:nvSpPr>
        <p:spPr/>
        <p:txBody>
          <a:bodyPr>
            <a:normAutofit/>
          </a:bodyPr>
          <a:p>
            <a:r>
              <a:rPr sz="3600">
                <a:solidFill>
                  <a:srgbClr val="000000"/>
                </a:solidFill>
                <a:latin typeface="Calibri"/>
                <a:ea typeface="+mn-ea"/>
                <a:cs typeface="+mn-cs"/>
              </a:rPr>
              <a:t>Use cautiously with:</a:t>
            </a:r>
            <a:endParaRPr sz="3600"/>
          </a:p>
        </p:txBody>
      </p:sp>
      <p:sp>
        <p:nvSpPr>
          <p:cNvPr id="1049692" name="Content Placeholder 2"/>
          <p:cNvSpPr>
            <a:spLocks noGrp="1"/>
          </p:cNvSpPr>
          <p:nvPr>
            <p:ph idx="1"/>
          </p:nvPr>
        </p:nvSpPr>
        <p:spPr/>
        <p:txBody>
          <a:bodyPr>
            <a:normAutofit/>
          </a:bodyPr>
          <a:p>
            <a:r>
              <a:t>Clients who have asthma, emphysema, and/or head injuries; infants, and older adult clients (risk of respiratory depression). </a:t>
            </a:r>
          </a:p>
          <a:p>
            <a:r>
              <a:t> Clients who are pregnant (risk of physical dependence of the fetus). </a:t>
            </a:r>
          </a:p>
          <a:p>
            <a:r>
              <a:t> Clients in labor (risk of respiratory depression in the newborn and inhibition of labor by decreasing uterine contractions) </a:t>
            </a:r>
          </a:p>
          <a:p>
            <a:r>
              <a:t>Clients who are extremely obese (greater risk for prolonged side effects because of the accumulation of medication that is metabolized at a slower rate) </a:t>
            </a:r>
          </a:p>
          <a:p>
            <a:r>
              <a:t> Clients with inflammatory bowel disease (risk of megacolon or paralytic ileus) </a:t>
            </a:r>
          </a:p>
          <a:p>
            <a:r>
              <a:t> Clients with an enlarged prostate (risk of acute urinary retention) </a:t>
            </a:r>
          </a:p>
          <a:p>
            <a:r>
              <a:t> Clients with hepatic or renal disease</a:t>
            </a:r>
          </a:p>
        </p:txBody>
      </p:sp>
    </p:spTree>
  </p:cSld>
  <p:clrMapOvr>
    <a:masterClrMapping/>
  </p:clrMapOvr>
</p:sld>
</file>

<file path=ppt/slides/slide532.xml><?xml version="1.0" encoding="utf-8"?>
<p:sld xmlns:a="http://schemas.openxmlformats.org/drawingml/2006/main" xmlns:r="http://schemas.openxmlformats.org/officeDocument/2006/relationships" xmlns:p="http://schemas.openxmlformats.org/presentationml/2006/main">
  <p:cSld>
    <p:spTree>
      <p:nvGrpSpPr>
        <p:cNvPr id="1228" name=""/>
        <p:cNvGrpSpPr/>
        <p:nvPr/>
      </p:nvGrpSpPr>
      <p:grpSpPr>
        <a:xfrm>
          <a:off x="0" y="0"/>
          <a:ext cx="0" cy="0"/>
          <a:chOff x="0" y="0"/>
          <a:chExt cx="0" cy="0"/>
        </a:xfrm>
      </p:grpSpPr>
      <p:sp>
        <p:nvSpPr>
          <p:cNvPr id="1049693" name="Title 1"/>
          <p:cNvSpPr>
            <a:spLocks noGrp="1"/>
          </p:cNvSpPr>
          <p:nvPr>
            <p:ph type="title"/>
          </p:nvPr>
        </p:nvSpPr>
        <p:spPr>
          <a:xfrm>
            <a:off x="838204" y="306511"/>
            <a:ext cx="10515600" cy="1325556"/>
          </a:xfrm>
        </p:spPr>
        <p:txBody>
          <a:bodyPr/>
          <a:p>
            <a:r>
              <a:rPr b="1"/>
              <a:t>Opioid agonist-antagonist</a:t>
            </a:r>
            <a:endParaRPr b="1"/>
          </a:p>
        </p:txBody>
      </p:sp>
      <p:sp>
        <p:nvSpPr>
          <p:cNvPr id="1049694" name="Content Placeholder 2"/>
          <p:cNvSpPr>
            <a:spLocks noGrp="1"/>
          </p:cNvSpPr>
          <p:nvPr>
            <p:ph idx="1"/>
          </p:nvPr>
        </p:nvSpPr>
        <p:spPr/>
        <p:txBody>
          <a:bodyPr>
            <a:normAutofit fontScale="89286" lnSpcReduction="20000"/>
          </a:bodyPr>
          <a:p>
            <a:r>
              <a:t> butorphanol (Stadol)  </a:t>
            </a:r>
          </a:p>
          <a:p>
            <a:r>
              <a:t>Nalbuphine hydrochloride (Nubain) </a:t>
            </a:r>
          </a:p>
          <a:p>
            <a:r>
              <a:t> Buprenorphine hydrochloride (Buprenex)</a:t>
            </a:r>
          </a:p>
          <a:p>
            <a:pPr indent="0" marL="0">
              <a:buNone/>
            </a:pPr>
            <a:r>
              <a:rPr b="1"/>
              <a:t>Expected Pharmacological Action </a:t>
            </a:r>
            <a:endParaRPr b="1"/>
          </a:p>
          <a:p>
            <a:r>
              <a:t> These medications act as antagonists on mu receptors and agonists on kappa receptors. </a:t>
            </a:r>
          </a:p>
          <a:p>
            <a:pPr indent="0" marL="0">
              <a:buNone/>
            </a:pPr>
            <a:r>
              <a:t> </a:t>
            </a:r>
            <a:r>
              <a:rPr b="1"/>
              <a:t>Compared to pure opioid agonists, agonist-antagonists have: </a:t>
            </a:r>
            <a:endParaRPr b="1"/>
          </a:p>
          <a:p>
            <a:r>
              <a:t> A low potential for abuse causing little euphoria.</a:t>
            </a:r>
          </a:p>
          <a:p>
            <a:r>
              <a:t> In fact, high doses can cause adverse effects (anxiety, restlessness, mental confusion). </a:t>
            </a:r>
          </a:p>
          <a:p>
            <a:r>
              <a:t>Less respiratory depression. </a:t>
            </a:r>
          </a:p>
          <a:p>
            <a:r>
              <a:t> Less analgesic effect.</a:t>
            </a:r>
          </a:p>
          <a:p/>
        </p:txBody>
      </p:sp>
    </p:spTree>
  </p:cSld>
  <p:clrMapOvr>
    <a:masterClrMapping/>
  </p:clrMapOvr>
</p:sld>
</file>

<file path=ppt/slides/slide533.xml><?xml version="1.0" encoding="utf-8"?>
<p:sld xmlns:a="http://schemas.openxmlformats.org/drawingml/2006/main" xmlns:r="http://schemas.openxmlformats.org/officeDocument/2006/relationships" xmlns:p="http://schemas.openxmlformats.org/presentationml/2006/main">
  <p:cSld>
    <p:spTree>
      <p:nvGrpSpPr>
        <p:cNvPr id="1229" name=""/>
        <p:cNvGrpSpPr/>
        <p:nvPr/>
      </p:nvGrpSpPr>
      <p:grpSpPr>
        <a:xfrm>
          <a:off x="0" y="0"/>
          <a:ext cx="0" cy="0"/>
          <a:chOff x="0" y="0"/>
          <a:chExt cx="0" cy="0"/>
        </a:xfrm>
      </p:grpSpPr>
      <p:sp>
        <p:nvSpPr>
          <p:cNvPr id="1049695" name="Title 1"/>
          <p:cNvSpPr>
            <a:spLocks noGrp="1"/>
          </p:cNvSpPr>
          <p:nvPr>
            <p:ph type="title"/>
          </p:nvPr>
        </p:nvSpPr>
        <p:spPr/>
        <p:txBody>
          <a:bodyPr>
            <a:normAutofit fontScale="90000"/>
          </a:bodyPr>
          <a:p>
            <a:pPr indent="-228600" marL="228600"/>
            <a:r>
              <a:rPr sz="2800">
                <a:solidFill>
                  <a:srgbClr val="000000"/>
                </a:solidFill>
                <a:latin typeface="Calibri"/>
                <a:ea typeface="+mn-ea"/>
                <a:cs typeface="+mn-cs"/>
              </a:rPr>
              <a:t>                                                                                                                                                                                                                                                                                                                       </a:t>
            </a:r>
            <a:r>
              <a:rPr>
                <a:solidFill>
                  <a:srgbClr val="000000"/>
                </a:solidFill>
                <a:latin typeface="Calibri"/>
                <a:ea typeface="+mn-ea"/>
                <a:cs typeface="+mn-cs"/>
              </a:rPr>
              <a:t>opioid agonist- antagonist cont.’</a:t>
            </a:r>
            <a:br>
              <a:rPr sz="2800">
                <a:solidFill>
                  <a:srgbClr val="000000"/>
                </a:solidFill>
                <a:ea typeface="+mn-ea"/>
                <a:cs typeface="+mn-cs"/>
              </a:rPr>
            </a:br>
          </a:p>
        </p:txBody>
      </p:sp>
      <p:sp>
        <p:nvSpPr>
          <p:cNvPr id="1049696" name="Content Placeholder 2"/>
          <p:cNvSpPr>
            <a:spLocks noGrp="1"/>
          </p:cNvSpPr>
          <p:nvPr>
            <p:ph idx="1"/>
          </p:nvPr>
        </p:nvSpPr>
        <p:spPr/>
        <p:txBody>
          <a:bodyPr>
            <a:normAutofit/>
          </a:bodyPr>
          <a:p>
            <a:pPr indent="0" marL="0">
              <a:buNone/>
            </a:pPr>
            <a:r>
              <a:rPr b="1"/>
              <a:t>Indication</a:t>
            </a:r>
            <a:endParaRPr b="1"/>
          </a:p>
          <a:p>
            <a:r>
              <a:t>Relief of moderate to severe pain</a:t>
            </a:r>
          </a:p>
          <a:p>
            <a:r>
              <a:t>Treatment of opioid dependence (buprenorphine)</a:t>
            </a:r>
          </a:p>
          <a:p>
            <a:r>
              <a:t> Adjunct to balanced anesthesia</a:t>
            </a:r>
          </a:p>
          <a:p>
            <a:r>
              <a:t>Relief of labor pain (butorphanol)</a:t>
            </a:r>
          </a:p>
          <a:p>
            <a:pPr indent="0" marL="0">
              <a:buNone/>
            </a:pPr>
            <a:r>
              <a:t> </a:t>
            </a:r>
            <a:r>
              <a:rPr b="1"/>
              <a:t>Route of administration:</a:t>
            </a:r>
            <a:endParaRPr b="1"/>
          </a:p>
          <a:p>
            <a:r>
              <a:t> Butorphanol – IV, IM, intranasal</a:t>
            </a:r>
          </a:p>
          <a:p>
            <a:r>
              <a:t>Nalbuphine – IV, IM, subcutaneous</a:t>
            </a:r>
          </a:p>
          <a:p>
            <a:r>
              <a:t> Buprenorphine – IV, sublingual, epidural</a:t>
            </a:r>
          </a:p>
        </p:txBody>
      </p:sp>
    </p:spTree>
  </p:cSld>
  <p:clrMapOvr>
    <a:masterClrMapping/>
  </p:clrMapOvr>
</p:sld>
</file>

<file path=ppt/slides/slide534.xml><?xml version="1.0" encoding="utf-8"?>
<p:sld xmlns:a="http://schemas.openxmlformats.org/drawingml/2006/main" xmlns:r="http://schemas.openxmlformats.org/officeDocument/2006/relationships" xmlns:p="http://schemas.openxmlformats.org/presentationml/2006/main">
  <p:cSld>
    <p:spTree>
      <p:nvGrpSpPr>
        <p:cNvPr id="1230" name=""/>
        <p:cNvGrpSpPr/>
        <p:nvPr/>
      </p:nvGrpSpPr>
      <p:grpSpPr>
        <a:xfrm>
          <a:off x="0" y="0"/>
          <a:ext cx="0" cy="0"/>
          <a:chOff x="0" y="0"/>
          <a:chExt cx="0" cy="0"/>
        </a:xfrm>
      </p:grpSpPr>
      <p:sp>
        <p:nvSpPr>
          <p:cNvPr id="1049697" name="Title 1"/>
          <p:cNvSpPr>
            <a:spLocks noGrp="1"/>
          </p:cNvSpPr>
          <p:nvPr>
            <p:ph type="title"/>
          </p:nvPr>
        </p:nvSpPr>
        <p:spPr/>
        <p:txBody>
          <a:bodyPr/>
          <a:p>
            <a:r>
              <a:rPr b="1"/>
              <a:t>Side effects</a:t>
            </a:r>
            <a:endParaRPr b="1"/>
          </a:p>
        </p:txBody>
      </p:sp>
      <p:sp>
        <p:nvSpPr>
          <p:cNvPr id="1049698" name="Content Placeholder 2"/>
          <p:cNvSpPr>
            <a:spLocks noGrp="1"/>
          </p:cNvSpPr>
          <p:nvPr>
            <p:ph idx="1"/>
          </p:nvPr>
        </p:nvSpPr>
        <p:spPr/>
        <p:txBody>
          <a:bodyPr>
            <a:normAutofit/>
          </a:bodyPr>
          <a:p>
            <a:pPr indent="0" marL="0">
              <a:buNone/>
            </a:pPr>
            <a:r>
              <a:t> Abstinence syndrome (cramping, </a:t>
            </a:r>
            <a:r>
              <a:t>hypertension, vomiting )</a:t>
            </a:r>
          </a:p>
          <a:p>
            <a:pPr indent="0" marL="0">
              <a:buNone/>
            </a:pPr>
            <a:r>
              <a:t> Sedation </a:t>
            </a:r>
            <a:r>
              <a:rPr>
                <a:solidFill>
                  <a:srgbClr val="000000"/>
                </a:solidFill>
              </a:rPr>
              <a:t>respiratory depression </a:t>
            </a:r>
          </a:p>
          <a:p>
            <a:pPr indent="0" marL="0">
              <a:buNone/>
            </a:pPr>
            <a:r>
              <a:t> Dizziness</a:t>
            </a:r>
          </a:p>
          <a:p>
            <a:pPr indent="0" marL="0">
              <a:buNone/>
            </a:pPr>
            <a:r>
              <a:t> Increased intracranial pressure, headache</a:t>
            </a:r>
          </a:p>
          <a:p>
            <a:pPr indent="0" marL="0">
              <a:buNone/>
            </a:pPr>
            <a:r>
              <a:t> </a:t>
            </a:r>
            <a:r>
              <a:rPr b="1"/>
              <a:t>Contraindications/Precautions </a:t>
            </a:r>
            <a:endParaRPr b="1"/>
          </a:p>
          <a:p>
            <a:pPr indent="0" marL="0">
              <a:buNone/>
            </a:pPr>
            <a:r>
              <a:t> Use cautiously in clients who have a history of myocardial infarction, renal or liver disease, respiratory depression, or head injury, and clients who are physically dependent on opioids.</a:t>
            </a:r>
          </a:p>
        </p:txBody>
      </p:sp>
    </p:spTree>
  </p:cSld>
  <p:clrMapOvr>
    <a:masterClrMapping/>
  </p:clrMapOvr>
</p:sld>
</file>

<file path=ppt/slides/slide535.xml><?xml version="1.0" encoding="utf-8"?>
<p:sld xmlns:a="http://schemas.openxmlformats.org/drawingml/2006/main" xmlns:r="http://schemas.openxmlformats.org/officeDocument/2006/relationships" xmlns:p="http://schemas.openxmlformats.org/presentationml/2006/main">
  <p:cSld>
    <p:spTree>
      <p:nvGrpSpPr>
        <p:cNvPr id="1231" name=""/>
        <p:cNvGrpSpPr/>
        <p:nvPr/>
      </p:nvGrpSpPr>
      <p:grpSpPr>
        <a:xfrm>
          <a:off x="0" y="0"/>
          <a:ext cx="0" cy="0"/>
          <a:chOff x="0" y="0"/>
          <a:chExt cx="0" cy="0"/>
        </a:xfrm>
      </p:grpSpPr>
      <p:sp>
        <p:nvSpPr>
          <p:cNvPr id="1049699" name="Title 1"/>
          <p:cNvSpPr>
            <a:spLocks noGrp="1"/>
          </p:cNvSpPr>
          <p:nvPr>
            <p:ph type="title"/>
          </p:nvPr>
        </p:nvSpPr>
        <p:spPr/>
        <p:txBody>
          <a:bodyPr/>
          <a:p>
            <a:r>
              <a:rPr b="1" sz="2800">
                <a:solidFill>
                  <a:srgbClr val="000000"/>
                </a:solidFill>
                <a:latin typeface="Calibri"/>
                <a:ea typeface="+mn-ea"/>
                <a:cs typeface="+mn-cs"/>
              </a:rPr>
              <a:t>Interactions medication/Food Interactions Nursing Interventions/Client Education</a:t>
            </a:r>
            <a:endParaRPr b="1"/>
          </a:p>
        </p:txBody>
      </p:sp>
      <p:sp>
        <p:nvSpPr>
          <p:cNvPr id="1049700" name="Content Placeholder 2"/>
          <p:cNvSpPr>
            <a:spLocks noGrp="1"/>
          </p:cNvSpPr>
          <p:nvPr>
            <p:ph idx="1"/>
          </p:nvPr>
        </p:nvSpPr>
        <p:spPr/>
        <p:txBody>
          <a:bodyPr/>
          <a:p>
            <a:r>
              <a:t>CNS depressants and alcohol may cause additive effects. </a:t>
            </a:r>
          </a:p>
          <a:p>
            <a:r>
              <a:t> Use together cautiously.</a:t>
            </a:r>
          </a:p>
          <a:p>
            <a:r>
              <a:t> Monitor respirations.</a:t>
            </a:r>
          </a:p>
          <a:p>
            <a:r>
              <a:t> Opioid agonists may antagonize and reduce analgesic effects of the opioid.  Do not use concurrently.</a:t>
            </a:r>
          </a:p>
        </p:txBody>
      </p:sp>
    </p:spTree>
  </p:cSld>
  <p:clrMapOvr>
    <a:masterClrMapping/>
  </p:clrMapOvr>
</p:sld>
</file>

<file path=ppt/slides/slide536.xml><?xml version="1.0" encoding="utf-8"?>
<p:sld xmlns:a="http://schemas.openxmlformats.org/drawingml/2006/main" xmlns:r="http://schemas.openxmlformats.org/officeDocument/2006/relationships" xmlns:p="http://schemas.openxmlformats.org/presentationml/2006/main">
  <p:cSld>
    <p:spTree>
      <p:nvGrpSpPr>
        <p:cNvPr id="1232" name=""/>
        <p:cNvGrpSpPr/>
        <p:nvPr/>
      </p:nvGrpSpPr>
      <p:grpSpPr>
        <a:xfrm>
          <a:off x="0" y="0"/>
          <a:ext cx="0" cy="0"/>
          <a:chOff x="0" y="0"/>
          <a:chExt cx="0" cy="0"/>
        </a:xfrm>
      </p:grpSpPr>
      <p:sp>
        <p:nvSpPr>
          <p:cNvPr id="1049701" name="Title 1"/>
          <p:cNvSpPr>
            <a:spLocks noGrp="1"/>
          </p:cNvSpPr>
          <p:nvPr>
            <p:ph type="title"/>
          </p:nvPr>
        </p:nvSpPr>
        <p:spPr/>
        <p:txBody>
          <a:bodyPr/>
          <a:p>
            <a:r>
              <a:rPr b="1"/>
              <a:t>Opioid antagonist</a:t>
            </a:r>
            <a:endParaRPr b="1"/>
          </a:p>
        </p:txBody>
      </p:sp>
      <p:sp>
        <p:nvSpPr>
          <p:cNvPr id="1049702" name="Content Placeholder 2"/>
          <p:cNvSpPr>
            <a:spLocks noGrp="1"/>
          </p:cNvSpPr>
          <p:nvPr>
            <p:ph idx="1"/>
          </p:nvPr>
        </p:nvSpPr>
        <p:spPr>
          <a:xfrm>
            <a:off x="838204" y="1952978"/>
            <a:ext cx="10515600" cy="4223979"/>
          </a:xfrm>
        </p:spPr>
        <p:txBody>
          <a:bodyPr>
            <a:normAutofit fontScale="75000" lnSpcReduction="20000"/>
          </a:bodyPr>
          <a:p>
            <a:r>
              <a:t>Naloxone (Narcan) </a:t>
            </a:r>
          </a:p>
          <a:p>
            <a:r>
              <a:t> Naltrexone (Re Via, Depade ),</a:t>
            </a:r>
          </a:p>
          <a:p>
            <a:r>
              <a:t>nalmefene (Revex ) </a:t>
            </a:r>
          </a:p>
          <a:p>
            <a:pPr indent="0" marL="0">
              <a:buNone/>
            </a:pPr>
            <a:r>
              <a:rPr b="1"/>
              <a:t>Mechanism of Action </a:t>
            </a:r>
            <a:r>
              <a:t> Opioid antagonists interfere with the action of opioids by competing for opioid receptors. Opioid antagonists have no effect in the absence of opioids. </a:t>
            </a:r>
          </a:p>
          <a:p>
            <a:pPr indent="0" marL="0">
              <a:buNone/>
            </a:pPr>
            <a:r>
              <a:t> </a:t>
            </a:r>
            <a:r>
              <a:rPr b="1"/>
              <a:t>Therapeutic Uses</a:t>
            </a:r>
            <a:endParaRPr b="1"/>
          </a:p>
          <a:p>
            <a:pPr indent="0" marL="0">
              <a:buNone/>
            </a:pPr>
            <a:r>
              <a:rPr b="1"/>
              <a:t> </a:t>
            </a:r>
            <a:r>
              <a:t>Treatment of opioid overdose  Reversal of effects of opioids, such as respiratory depression </a:t>
            </a:r>
          </a:p>
          <a:p>
            <a:pPr indent="0" marL="0">
              <a:buNone/>
            </a:pPr>
            <a:r>
              <a:t>Reversal of respiratory depression in an infant </a:t>
            </a:r>
          </a:p>
          <a:p>
            <a:pPr indent="0" marL="0">
              <a:buNone/>
            </a:pPr>
            <a:r>
              <a:t> </a:t>
            </a:r>
            <a:r>
              <a:rPr b="1"/>
              <a:t>Route of administration: </a:t>
            </a:r>
            <a:endParaRPr b="1"/>
          </a:p>
          <a:p>
            <a:pPr indent="0" marL="0">
              <a:buNone/>
            </a:pPr>
            <a:r>
              <a:t>Naloxone- IM, IV, subcutaneous</a:t>
            </a:r>
          </a:p>
          <a:p>
            <a:pPr indent="0" marL="0">
              <a:buNone/>
            </a:pPr>
            <a:r>
              <a:t> nalmefene – IV, IM, subcutaneous </a:t>
            </a:r>
          </a:p>
          <a:p>
            <a:pPr indent="0" marL="0">
              <a:buNone/>
            </a:pPr>
            <a:r>
              <a:t> Naltrexone – Oral</a:t>
            </a:r>
          </a:p>
        </p:txBody>
      </p:sp>
    </p:spTree>
  </p:cSld>
  <p:clrMapOvr>
    <a:masterClrMapping/>
  </p:clrMapOvr>
</p:sld>
</file>

<file path=ppt/slides/slide537.xml><?xml version="1.0" encoding="utf-8"?>
<p:sld xmlns:a="http://schemas.openxmlformats.org/drawingml/2006/main" xmlns:r="http://schemas.openxmlformats.org/officeDocument/2006/relationships" xmlns:p="http://schemas.openxmlformats.org/presentationml/2006/main">
  <p:cSld>
    <p:spTree>
      <p:nvGrpSpPr>
        <p:cNvPr id="1233" name=""/>
        <p:cNvGrpSpPr/>
        <p:nvPr/>
      </p:nvGrpSpPr>
      <p:grpSpPr>
        <a:xfrm>
          <a:off x="0" y="0"/>
          <a:ext cx="0" cy="0"/>
          <a:chOff x="0" y="0"/>
          <a:chExt cx="0" cy="0"/>
        </a:xfrm>
      </p:grpSpPr>
      <p:sp>
        <p:nvSpPr>
          <p:cNvPr id="1049703" name="Title 1"/>
          <p:cNvSpPr>
            <a:spLocks noGrp="1"/>
          </p:cNvSpPr>
          <p:nvPr>
            <p:ph type="title"/>
          </p:nvPr>
        </p:nvSpPr>
        <p:spPr/>
        <p:txBody>
          <a:bodyPr/>
          <a:p>
            <a:r>
              <a:rPr b="1"/>
              <a:t>Opioid antagonist cont.’</a:t>
            </a:r>
            <a:endParaRPr b="1"/>
          </a:p>
        </p:txBody>
      </p:sp>
      <p:sp>
        <p:nvSpPr>
          <p:cNvPr id="1049704" name="Content Placeholder 2"/>
          <p:cNvSpPr>
            <a:spLocks noGrp="1"/>
          </p:cNvSpPr>
          <p:nvPr>
            <p:ph idx="1"/>
          </p:nvPr>
        </p:nvSpPr>
        <p:spPr/>
        <p:txBody>
          <a:bodyPr>
            <a:normAutofit/>
          </a:bodyPr>
          <a:p>
            <a:pPr indent="0" marL="0">
              <a:buNone/>
            </a:pPr>
            <a:r>
              <a:rPr b="1">
                <a:solidFill>
                  <a:srgbClr val="000000"/>
                </a:solidFill>
              </a:rPr>
              <a:t>Therapeutic Uses</a:t>
            </a:r>
            <a:endParaRPr b="1">
              <a:solidFill>
                <a:srgbClr val="000000"/>
              </a:solidFill>
            </a:endParaRPr>
          </a:p>
          <a:p>
            <a:pPr indent="0" marL="0">
              <a:buNone/>
            </a:pPr>
            <a:r>
              <a:rPr b="1">
                <a:solidFill>
                  <a:srgbClr val="000000"/>
                </a:solidFill>
              </a:rPr>
              <a:t> </a:t>
            </a:r>
            <a:r>
              <a:rPr>
                <a:solidFill>
                  <a:srgbClr val="000000"/>
                </a:solidFill>
              </a:rPr>
              <a:t>Treatment of opioid overdose  Reversal of effects of opioids, such as respiratory depression </a:t>
            </a:r>
            <a:endParaRPr>
              <a:solidFill>
                <a:srgbClr val="000000"/>
              </a:solidFill>
            </a:endParaRPr>
          </a:p>
          <a:p>
            <a:pPr indent="0" marL="0">
              <a:buNone/>
            </a:pPr>
            <a:r>
              <a:rPr>
                <a:solidFill>
                  <a:srgbClr val="000000"/>
                </a:solidFill>
              </a:rPr>
              <a:t>Reversal of respiratory depression in an infant </a:t>
            </a:r>
            <a:endParaRPr>
              <a:solidFill>
                <a:srgbClr val="000000"/>
              </a:solidFill>
            </a:endParaRPr>
          </a:p>
          <a:p>
            <a:pPr indent="0" marL="0">
              <a:buNone/>
            </a:pPr>
            <a:r>
              <a:rPr>
                <a:solidFill>
                  <a:srgbClr val="000000"/>
                </a:solidFill>
              </a:rPr>
              <a:t> </a:t>
            </a:r>
            <a:r>
              <a:rPr b="1">
                <a:solidFill>
                  <a:srgbClr val="000000"/>
                </a:solidFill>
              </a:rPr>
              <a:t>Route of administration: </a:t>
            </a:r>
            <a:endParaRPr b="1">
              <a:solidFill>
                <a:srgbClr val="000000"/>
              </a:solidFill>
            </a:endParaRPr>
          </a:p>
          <a:p>
            <a:pPr indent="0" marL="0">
              <a:buNone/>
            </a:pPr>
            <a:r>
              <a:rPr>
                <a:solidFill>
                  <a:srgbClr val="000000"/>
                </a:solidFill>
              </a:rPr>
              <a:t>Naloxone,</a:t>
            </a:r>
            <a:endParaRPr>
              <a:solidFill>
                <a:srgbClr val="000000"/>
              </a:solidFill>
            </a:endParaRPr>
          </a:p>
          <a:p>
            <a:pPr indent="0" marL="0">
              <a:buNone/>
            </a:pPr>
            <a:r>
              <a:rPr>
                <a:solidFill>
                  <a:srgbClr val="000000"/>
                </a:solidFill>
              </a:rPr>
              <a:t> nalmefene – IV, IM, subcutaneous </a:t>
            </a:r>
            <a:endParaRPr>
              <a:solidFill>
                <a:srgbClr val="000000"/>
              </a:solidFill>
            </a:endParaRPr>
          </a:p>
          <a:p>
            <a:pPr indent="0" marL="0">
              <a:buNone/>
            </a:pPr>
            <a:r>
              <a:rPr>
                <a:solidFill>
                  <a:srgbClr val="000000"/>
                </a:solidFill>
              </a:rPr>
              <a:t> Naltrexone – Oral</a:t>
            </a:r>
          </a:p>
        </p:txBody>
      </p:sp>
    </p:spTree>
  </p:cSld>
  <p:clrMapOvr>
    <a:masterClrMapping/>
  </p:clrMapOvr>
</p:sld>
</file>

<file path=ppt/slides/slide538.xml><?xml version="1.0" encoding="utf-8"?>
<p:sld xmlns:a="http://schemas.openxmlformats.org/drawingml/2006/main" xmlns:r="http://schemas.openxmlformats.org/officeDocument/2006/relationships" xmlns:p="http://schemas.openxmlformats.org/presentationml/2006/main">
  <p:cSld>
    <p:spTree>
      <p:nvGrpSpPr>
        <p:cNvPr id="1234" name=""/>
        <p:cNvGrpSpPr/>
        <p:nvPr/>
      </p:nvGrpSpPr>
      <p:grpSpPr>
        <a:xfrm>
          <a:off x="0" y="0"/>
          <a:ext cx="0" cy="0"/>
          <a:chOff x="0" y="0"/>
          <a:chExt cx="0" cy="0"/>
        </a:xfrm>
      </p:grpSpPr>
      <p:sp>
        <p:nvSpPr>
          <p:cNvPr id="1049705" name="Title 1"/>
          <p:cNvSpPr>
            <a:spLocks noGrp="1"/>
          </p:cNvSpPr>
          <p:nvPr>
            <p:ph type="title"/>
          </p:nvPr>
        </p:nvSpPr>
        <p:spPr/>
        <p:txBody>
          <a:bodyPr/>
          <a:p>
            <a:r>
              <a:rPr b="1"/>
              <a:t>Opioid anti-agonist cont.’</a:t>
            </a:r>
            <a:endParaRPr b="1"/>
          </a:p>
        </p:txBody>
      </p:sp>
      <p:sp>
        <p:nvSpPr>
          <p:cNvPr id="1049706" name="Content Placeholder 2"/>
          <p:cNvSpPr>
            <a:spLocks noGrp="1"/>
          </p:cNvSpPr>
          <p:nvPr>
            <p:ph idx="1"/>
          </p:nvPr>
        </p:nvSpPr>
        <p:spPr/>
        <p:txBody>
          <a:bodyPr/>
          <a:p>
            <a:pPr indent="0" marL="0">
              <a:buNone/>
            </a:pPr>
            <a:r>
              <a:rPr b="1"/>
              <a:t>Side Effects</a:t>
            </a:r>
            <a:r>
              <a:t> </a:t>
            </a:r>
          </a:p>
          <a:p>
            <a:r>
              <a:t>Tachycardia and tachypnea</a:t>
            </a:r>
          </a:p>
          <a:p>
            <a:r>
              <a:t>Abstinence syndrome (cramping, hypertension, vomiting)</a:t>
            </a:r>
          </a:p>
          <a:p>
            <a:r>
              <a:t>Pulmonary edema</a:t>
            </a:r>
            <a:endParaRPr b="1"/>
          </a:p>
          <a:p>
            <a:pPr indent="0" marL="0">
              <a:buNone/>
            </a:pPr>
            <a:r>
              <a:rPr b="1"/>
              <a:t>Contraindications/Precautions </a:t>
            </a:r>
            <a:endParaRPr b="1"/>
          </a:p>
          <a:p>
            <a:r>
              <a:t> Opioid antagonists are Pregnancy Risk Category B. </a:t>
            </a:r>
          </a:p>
          <a:p>
            <a:r>
              <a:t>These medications are contraindicated in clients with opioid dependency.</a:t>
            </a:r>
            <a:endParaRPr b="1"/>
          </a:p>
        </p:txBody>
      </p:sp>
    </p:spTree>
  </p:cSld>
  <p:clrMapOvr>
    <a:masterClrMapping/>
  </p:clrMapOvr>
</p:sld>
</file>

<file path=ppt/slides/slide539.xml><?xml version="1.0" encoding="utf-8"?>
<p:sld xmlns:a="http://schemas.openxmlformats.org/drawingml/2006/main" xmlns:r="http://schemas.openxmlformats.org/officeDocument/2006/relationships" xmlns:p="http://schemas.openxmlformats.org/presentationml/2006/main">
  <p:cSld>
    <p:spTree>
      <p:nvGrpSpPr>
        <p:cNvPr id="1235" name=""/>
        <p:cNvGrpSpPr/>
        <p:nvPr/>
      </p:nvGrpSpPr>
      <p:grpSpPr>
        <a:xfrm>
          <a:off x="0" y="0"/>
          <a:ext cx="0" cy="0"/>
          <a:chOff x="0" y="0"/>
          <a:chExt cx="0" cy="0"/>
        </a:xfrm>
      </p:grpSpPr>
      <p:sp>
        <p:nvSpPr>
          <p:cNvPr id="1049707" name="Content Placeholder 2"/>
          <p:cNvSpPr>
            <a:spLocks noGrp="1"/>
          </p:cNvSpPr>
          <p:nvPr>
            <p:ph idx="1"/>
          </p:nvPr>
        </p:nvSpPr>
        <p:spPr>
          <a:xfrm>
            <a:off x="838204" y="187565"/>
            <a:ext cx="10515600" cy="6271849"/>
          </a:xfrm>
        </p:spPr>
        <p:txBody>
          <a:bodyPr>
            <a:normAutofit fontScale="96429" lnSpcReduction="20000"/>
          </a:bodyPr>
          <a:p>
            <a:pPr indent="0" marL="0">
              <a:buNone/>
            </a:pPr>
            <a:r>
              <a:rPr b="1"/>
              <a:t>Adjuvants medication for pain</a:t>
            </a:r>
          </a:p>
          <a:p>
            <a:r>
              <a:t>Tricyclic antidepressants: amitriptyline (Elavil) – oral/IM </a:t>
            </a:r>
          </a:p>
          <a:p>
            <a:r>
              <a:t> Anticonvulsants: carbamazepine (Tegretol) – gabapentin (Neurontin) oral </a:t>
            </a:r>
          </a:p>
          <a:p>
            <a:r>
              <a:t>CNS stimulants: methylphenidate (Ritalin) – oral </a:t>
            </a:r>
          </a:p>
          <a:p>
            <a:r>
              <a:t> Antihistamines: hydroxyzine (Vistaril) – oral/IM </a:t>
            </a:r>
          </a:p>
          <a:p>
            <a:r>
              <a:t> Glucocorticoids: dexamethasone (Decadron) – oral, IV, IM </a:t>
            </a:r>
          </a:p>
          <a:p>
            <a:r>
              <a:t> Bisphosphonates: etidronate (Didronel) – oral </a:t>
            </a:r>
          </a:p>
          <a:p>
            <a:r>
              <a:t> NSAIDs: ibuprofen (Motrin) – oral </a:t>
            </a:r>
          </a:p>
          <a:p>
            <a:r>
              <a:t> Other Medication: Tricyclic antidepressants: imipramine (Tofranil) – oral </a:t>
            </a:r>
          </a:p>
          <a:p>
            <a:r>
              <a:t> Anticonvulsants: phenytoin (Dilantin) – oral, IV, IM </a:t>
            </a:r>
          </a:p>
          <a:p>
            <a:r>
              <a:t> CNS stimulants: dextroamphetamine (Dexedrine) – oral </a:t>
            </a:r>
          </a:p>
          <a:p>
            <a:r>
              <a:t> Glucocorticoids: prednisone (Deltasone) – oral </a:t>
            </a:r>
          </a:p>
          <a:p>
            <a:r>
              <a:t> Bisphosphonates: pamidronate (Aredia) – IV </a:t>
            </a:r>
          </a:p>
          <a:p>
            <a:r>
              <a:t> NSAIDs: ketorolac (Toradol)</a:t>
            </a:r>
          </a:p>
        </p:txBody>
      </p:sp>
    </p:spTree>
  </p:cSld>
  <p:clrMapOvr>
    <a:masterClrMapping/>
  </p:clrMapOvr>
</p:sld>
</file>

<file path=ppt/slides/slide540.xml><?xml version="1.0" encoding="utf-8"?>
<p:sld xmlns:a="http://schemas.openxmlformats.org/drawingml/2006/main" xmlns:r="http://schemas.openxmlformats.org/officeDocument/2006/relationships" xmlns:p="http://schemas.openxmlformats.org/presentationml/2006/main">
  <p:cSld>
    <p:spTree>
      <p:nvGrpSpPr>
        <p:cNvPr id="652" name=""/>
        <p:cNvGrpSpPr/>
        <p:nvPr/>
      </p:nvGrpSpPr>
      <p:grpSpPr>
        <a:xfrm>
          <a:off x="0" y="0"/>
          <a:ext cx="0" cy="0"/>
          <a:chOff x="0" y="0"/>
          <a:chExt cx="0" cy="0"/>
        </a:xfrm>
      </p:grpSpPr>
      <p:sp>
        <p:nvSpPr>
          <p:cNvPr id="1048595" name="Content Placeholder 2"/>
          <p:cNvSpPr>
            <a:spLocks noGrp="1"/>
          </p:cNvSpPr>
          <p:nvPr>
            <p:ph idx="1"/>
          </p:nvPr>
        </p:nvSpPr>
        <p:spPr>
          <a:xfrm>
            <a:off x="838204" y="222739"/>
            <a:ext cx="10515600" cy="6330464"/>
          </a:xfrm>
        </p:spPr>
        <p:txBody>
          <a:bodyPr>
            <a:normAutofit/>
          </a:bodyPr>
          <a:p>
            <a:pPr indent="0" marL="0">
              <a:buNone/>
            </a:pPr>
            <a:r>
              <a:rPr b="1"/>
              <a:t>Expected Pharmacological Action </a:t>
            </a:r>
            <a:endParaRPr b="1"/>
          </a:p>
          <a:p>
            <a:r>
              <a:t> Adjuvant medications for pain enhance the effects of opioids</a:t>
            </a:r>
          </a:p>
          <a:p>
            <a:pPr indent="0" marL="0">
              <a:buNone/>
            </a:pPr>
            <a:r>
              <a:rPr b="1"/>
              <a:t>Therapeutic Uses </a:t>
            </a:r>
            <a:endParaRPr b="1"/>
          </a:p>
          <a:p>
            <a:r>
              <a:t> These medications are used in combination with opioids and cannot be used as a substitute for opioids. </a:t>
            </a:r>
          </a:p>
          <a:p>
            <a:r>
              <a:t> NSAIDs are used to treat inflammation. </a:t>
            </a:r>
          </a:p>
          <a:p>
            <a:r>
              <a:t>Tricyclic antidepressants are used to treat depression and neuropathic pain such as cramping, aching, burning, darting, and lancinating pain.</a:t>
            </a:r>
          </a:p>
          <a:p>
            <a:r>
              <a:t> Anticonvulsants are used to relieve neuropathic pain. </a:t>
            </a:r>
          </a:p>
          <a:p>
            <a:r>
              <a:t> CNS stimulants augment analgesia and decrease sedation. </a:t>
            </a:r>
          </a:p>
          <a:p>
            <a:r>
              <a:t>Antihistamines decrease anxiety, prevent insomnia and relieve nausea. </a:t>
            </a:r>
          </a:p>
          <a:p>
            <a:r>
              <a:t> Glucocorticoids decrease pain from intracranial pressure and spinal cord compression. </a:t>
            </a:r>
          </a:p>
          <a:p>
            <a:r>
              <a:t> Bisphosphonates manage hypercalcemia and bone pain</a:t>
            </a:r>
          </a:p>
          <a:p/>
        </p:txBody>
      </p:sp>
    </p:spTree>
  </p:cSld>
  <p:clrMapOvr>
    <a:masterClrMapping/>
  </p:clrMapOvr>
</p:sld>
</file>

<file path=ppt/slides/slide541.xml><?xml version="1.0" encoding="utf-8"?>
<p:sld xmlns:a="http://schemas.openxmlformats.org/drawingml/2006/main" xmlns:r="http://schemas.openxmlformats.org/officeDocument/2006/relationships" xmlns:p="http://schemas.openxmlformats.org/presentationml/2006/main">
  <p:cSld>
    <p:spTree>
      <p:nvGrpSpPr>
        <p:cNvPr id="650" name=""/>
        <p:cNvGrpSpPr/>
        <p:nvPr/>
      </p:nvGrpSpPr>
      <p:grpSpPr>
        <a:xfrm>
          <a:off x="0" y="0"/>
          <a:ext cx="0" cy="0"/>
          <a:chOff x="0" y="0"/>
          <a:chExt cx="0" cy="0"/>
        </a:xfrm>
      </p:grpSpPr>
      <p:sp>
        <p:nvSpPr>
          <p:cNvPr id="1048592" name="Title 1"/>
          <p:cNvSpPr>
            <a:spLocks noGrp="1"/>
          </p:cNvSpPr>
          <p:nvPr>
            <p:ph type="title"/>
          </p:nvPr>
        </p:nvSpPr>
        <p:spPr/>
        <p:txBody>
          <a:bodyPr>
            <a:normAutofit fontScale="90909"/>
          </a:bodyPr>
          <a:p>
            <a:r>
              <a:t>MEDICATIONS AFFECTING THE RESPIRATORY SYSTEM   (bronchodilators)</a:t>
            </a:r>
          </a:p>
        </p:txBody>
      </p:sp>
      <p:sp>
        <p:nvSpPr>
          <p:cNvPr id="1048593" name="Content Placeholder 2"/>
          <p:cNvSpPr>
            <a:spLocks noGrp="1"/>
          </p:cNvSpPr>
          <p:nvPr>
            <p:ph idx="1"/>
          </p:nvPr>
        </p:nvSpPr>
        <p:spPr/>
        <p:txBody>
          <a:bodyPr>
            <a:normAutofit/>
          </a:bodyPr>
          <a:p>
            <a:pPr indent="0" marL="0">
              <a:buNone/>
            </a:pPr>
            <a:r>
              <a:rPr b="1"/>
              <a:t>Over view</a:t>
            </a:r>
            <a:r>
              <a:t>: Asthma is a chronic inflammatory disorder of the airways. It is an intermittent and reversible airflow obstruction that affects the bronchioles. The obstruction occurs either by inflammation or airway hyper-responsiveness leading to bronchoconstriction. </a:t>
            </a:r>
          </a:p>
          <a:p>
            <a:r>
              <a:t> Medication management usually addresses both inflammation and bronchoconstriction</a:t>
            </a:r>
          </a:p>
          <a:p>
            <a:r>
              <a:t>These same medications may be used in symptomatic treatment of chronic obstructive pulmonary disease (COPD</a:t>
            </a:r>
          </a:p>
        </p:txBody>
      </p:sp>
    </p:spTree>
  </p:cSld>
  <p:clrMapOvr>
    <a:masterClrMapping/>
  </p:clrMapOvr>
</p:sld>
</file>

<file path=ppt/slides/slide542.xml><?xml version="1.0" encoding="utf-8"?>
<p:sld xmlns:a="http://schemas.openxmlformats.org/drawingml/2006/main" xmlns:r="http://schemas.openxmlformats.org/officeDocument/2006/relationships" xmlns:p="http://schemas.openxmlformats.org/presentationml/2006/main">
  <p:cSld>
    <p:spTree>
      <p:nvGrpSpPr>
        <p:cNvPr id="648" name=""/>
        <p:cNvGrpSpPr/>
        <p:nvPr/>
      </p:nvGrpSpPr>
      <p:grpSpPr>
        <a:xfrm>
          <a:off x="0" y="0"/>
          <a:ext cx="0" cy="0"/>
          <a:chOff x="0" y="0"/>
          <a:chExt cx="0" cy="0"/>
        </a:xfrm>
      </p:grpSpPr>
      <p:sp>
        <p:nvSpPr>
          <p:cNvPr id="1048589" name="Title 1"/>
          <p:cNvSpPr>
            <a:spLocks noGrp="1"/>
          </p:cNvSpPr>
          <p:nvPr>
            <p:ph type="title"/>
          </p:nvPr>
        </p:nvSpPr>
        <p:spPr/>
        <p:txBody>
          <a:bodyPr/>
          <a:p>
            <a:r>
              <a:rPr b="1"/>
              <a:t>Bronchodilators cont.’</a:t>
            </a:r>
            <a:endParaRPr b="1"/>
          </a:p>
        </p:txBody>
      </p:sp>
      <p:sp>
        <p:nvSpPr>
          <p:cNvPr id="1048590" name="Content Placeholder 2"/>
          <p:cNvSpPr>
            <a:spLocks noGrp="1"/>
          </p:cNvSpPr>
          <p:nvPr>
            <p:ph idx="1"/>
          </p:nvPr>
        </p:nvSpPr>
        <p:spPr/>
        <p:txBody>
          <a:bodyPr>
            <a:normAutofit/>
          </a:bodyPr>
          <a:p>
            <a:pPr indent="0" marL="0">
              <a:buNone/>
            </a:pPr>
            <a:r>
              <a:rPr sz="2600">
                <a:solidFill>
                  <a:srgbClr val="000000"/>
                </a:solidFill>
              </a:rPr>
              <a:t> Medications include: </a:t>
            </a:r>
            <a:endParaRPr sz="2600">
              <a:solidFill>
                <a:srgbClr val="000000"/>
              </a:solidFill>
            </a:endParaRPr>
          </a:p>
          <a:p>
            <a:pPr indent="0" marL="0">
              <a:buNone/>
            </a:pPr>
            <a:r>
              <a:rPr b="1" sz="2600">
                <a:solidFill>
                  <a:srgbClr val="000000"/>
                </a:solidFill>
              </a:rPr>
              <a:t>Classification of Bronchodilator ;</a:t>
            </a:r>
            <a:endParaRPr b="1" sz="2600">
              <a:solidFill>
                <a:srgbClr val="000000"/>
              </a:solidFill>
            </a:endParaRPr>
          </a:p>
          <a:p>
            <a:r>
              <a:rPr sz="2600">
                <a:solidFill>
                  <a:srgbClr val="000000"/>
                </a:solidFill>
              </a:rPr>
              <a:t> beta2-adrenergic agonists short acting; salbutamol,</a:t>
            </a:r>
            <a:endParaRPr b="1" sz="2600">
              <a:solidFill>
                <a:srgbClr val="000000"/>
              </a:solidFill>
            </a:endParaRPr>
          </a:p>
          <a:p>
            <a:r>
              <a:rPr sz="2600">
                <a:solidFill>
                  <a:srgbClr val="000000"/>
                </a:solidFill>
              </a:rPr>
              <a:t>beta2-adrenergic agonists long acting; salmeterol and formoterol </a:t>
            </a:r>
            <a:endParaRPr sz="2600">
              <a:solidFill>
                <a:srgbClr val="000000"/>
              </a:solidFill>
            </a:endParaRPr>
          </a:p>
          <a:p>
            <a:r>
              <a:rPr sz="2600">
                <a:solidFill>
                  <a:srgbClr val="000000"/>
                </a:solidFill>
              </a:rPr>
              <a:t>Methyl xanthine's e.g. theophylline</a:t>
            </a:r>
            <a:endParaRPr sz="2600">
              <a:solidFill>
                <a:srgbClr val="000000"/>
              </a:solidFill>
            </a:endParaRPr>
          </a:p>
          <a:p>
            <a:r>
              <a:rPr sz="2600">
                <a:solidFill>
                  <a:srgbClr val="000000"/>
                </a:solidFill>
              </a:rPr>
              <a:t> inhaled anticholinergics e.g. tiotropium</a:t>
            </a:r>
            <a:endParaRPr sz="2600">
              <a:solidFill>
                <a:srgbClr val="000000"/>
              </a:solidFill>
            </a:endParaRPr>
          </a:p>
          <a:p>
            <a:r>
              <a:rPr sz="2600">
                <a:solidFill>
                  <a:srgbClr val="000000"/>
                </a:solidFill>
              </a:rPr>
              <a:t> anti-inflammatory agents such as</a:t>
            </a:r>
            <a:r>
              <a:rPr b="1" sz="2600">
                <a:solidFill>
                  <a:srgbClr val="000000"/>
                </a:solidFill>
              </a:rPr>
              <a:t> glucocorticoids</a:t>
            </a:r>
            <a:r>
              <a:rPr sz="2600">
                <a:solidFill>
                  <a:srgbClr val="000000"/>
                </a:solidFill>
              </a:rPr>
              <a:t>, </a:t>
            </a:r>
            <a:r>
              <a:rPr b="1" sz="2600">
                <a:solidFill>
                  <a:srgbClr val="000000"/>
                </a:solidFill>
              </a:rPr>
              <a:t>mast cell stabilizers</a:t>
            </a:r>
            <a:r>
              <a:rPr sz="2600">
                <a:solidFill>
                  <a:srgbClr val="000000"/>
                </a:solidFill>
              </a:rPr>
              <a:t>, and </a:t>
            </a:r>
            <a:r>
              <a:rPr b="1" sz="2600">
                <a:solidFill>
                  <a:srgbClr val="000000"/>
                </a:solidFill>
              </a:rPr>
              <a:t>leukotriene modifiers</a:t>
            </a:r>
            <a:r>
              <a:rPr sz="2600">
                <a:solidFill>
                  <a:srgbClr val="000000"/>
                </a:solidFill>
              </a:rPr>
              <a:t>.</a:t>
            </a:r>
          </a:p>
        </p:txBody>
      </p:sp>
    </p:spTree>
  </p:cSld>
  <p:clrMapOvr>
    <a:masterClrMapping/>
  </p:clrMapOvr>
</p:sld>
</file>

<file path=ppt/slides/slide543.xml><?xml version="1.0" encoding="utf-8"?>
<p:sld xmlns:a="http://schemas.openxmlformats.org/drawingml/2006/main" xmlns:r="http://schemas.openxmlformats.org/officeDocument/2006/relationships" xmlns:p="http://schemas.openxmlformats.org/presentationml/2006/main">
  <p:cSld>
    <p:spTree>
      <p:nvGrpSpPr>
        <p:cNvPr id="567" name=""/>
        <p:cNvGrpSpPr/>
        <p:nvPr/>
      </p:nvGrpSpPr>
      <p:grpSpPr>
        <a:xfrm>
          <a:off x="0" y="0"/>
          <a:ext cx="0" cy="0"/>
          <a:chOff x="0" y="0"/>
          <a:chExt cx="0" cy="0"/>
        </a:xfrm>
      </p:grpSpPr>
      <p:sp>
        <p:nvSpPr>
          <p:cNvPr id="1048586" name="Title 1"/>
          <p:cNvSpPr>
            <a:spLocks noGrp="1"/>
          </p:cNvSpPr>
          <p:nvPr>
            <p:ph type="title"/>
          </p:nvPr>
        </p:nvSpPr>
        <p:spPr/>
        <p:txBody>
          <a:bodyPr/>
          <a:p>
            <a:r>
              <a:rPr b="1"/>
              <a:t>                        Beta2-Adrenergic Agonists</a:t>
            </a:r>
            <a:endParaRPr b="1"/>
          </a:p>
        </p:txBody>
      </p:sp>
      <p:sp>
        <p:nvSpPr>
          <p:cNvPr id="1048587" name="Content Placeholder 2"/>
          <p:cNvSpPr>
            <a:spLocks noGrp="1"/>
          </p:cNvSpPr>
          <p:nvPr>
            <p:ph idx="1"/>
          </p:nvPr>
        </p:nvSpPr>
        <p:spPr/>
        <p:txBody>
          <a:bodyPr>
            <a:normAutofit lnSpcReduction="10000"/>
          </a:bodyPr>
          <a:p>
            <a:r>
              <a:t>albuterol (Proventil, Ventolin) </a:t>
            </a:r>
          </a:p>
          <a:p>
            <a:r>
              <a:t>Formoterol (</a:t>
            </a:r>
            <a:r>
              <a:t>Foradil</a:t>
            </a:r>
            <a:r>
              <a:t> </a:t>
            </a:r>
            <a:r>
              <a:t>Aerolizer</a:t>
            </a:r>
            <a:r>
              <a:t>) </a:t>
            </a:r>
          </a:p>
          <a:p>
            <a:r>
              <a:t> Salmeterol (</a:t>
            </a:r>
            <a:r>
              <a:t>Serevent</a:t>
            </a:r>
            <a:r>
              <a:t>) </a:t>
            </a:r>
          </a:p>
          <a:p>
            <a:r>
              <a:t> Terbutaline (</a:t>
            </a:r>
            <a:r>
              <a:t>Brethine</a:t>
            </a:r>
            <a:r>
              <a:t>) </a:t>
            </a:r>
          </a:p>
          <a:p>
            <a:pPr indent="0" marL="0">
              <a:buNone/>
            </a:pPr>
            <a:r>
              <a:rPr b="1" sz="3200"/>
              <a:t>                   albuterol ( Proventil, Ventolin)</a:t>
            </a:r>
            <a:endParaRPr b="1" sz="3200"/>
          </a:p>
          <a:p>
            <a:r>
              <a:rPr b="1"/>
              <a:t>Mechanism of Action </a:t>
            </a:r>
            <a:endParaRPr b="1"/>
          </a:p>
          <a:p>
            <a:r>
              <a:t>Beta2-adrenergic agonists act by selectively activating the beta2-receptors in the bronchial smooth muscle, resulting in bronchodilation. As a result of this:  </a:t>
            </a:r>
            <a:r>
              <a:rPr b="1"/>
              <a:t>Bronchospasm is relieved</a:t>
            </a:r>
            <a:r>
              <a:t>, </a:t>
            </a:r>
            <a:r>
              <a:rPr b="1"/>
              <a:t>Histamine release is inhibited</a:t>
            </a:r>
            <a:r>
              <a:t>, </a:t>
            </a:r>
            <a:r>
              <a:rPr b="1"/>
              <a:t>Ciliary motility is increased.</a:t>
            </a:r>
            <a:endParaRPr b="1"/>
          </a:p>
        </p:txBody>
      </p:sp>
    </p:spTree>
  </p:cSld>
  <p:clrMapOvr>
    <a:masterClrMapping/>
  </p:clrMapOvr>
</p:sld>
</file>

<file path=ppt/slides/slide544.xml><?xml version="1.0" encoding="utf-8"?>
<p:sld xmlns:a="http://schemas.openxmlformats.org/drawingml/2006/main" xmlns:r="http://schemas.openxmlformats.org/officeDocument/2006/relationships" xmlns:p="http://schemas.openxmlformats.org/presentationml/2006/main">
  <p:cSld>
    <p:spTree>
      <p:nvGrpSpPr>
        <p:cNvPr id="647" name=""/>
        <p:cNvGrpSpPr/>
        <p:nvPr/>
      </p:nvGrpSpPr>
      <p:grpSpPr>
        <a:xfrm>
          <a:off x="0" y="0"/>
          <a:ext cx="0" cy="0"/>
          <a:chOff x="0" y="0"/>
          <a:chExt cx="0" cy="0"/>
        </a:xfrm>
      </p:grpSpPr>
      <p:sp>
        <p:nvSpPr>
          <p:cNvPr id="1048588" name="Title 1"/>
          <p:cNvSpPr>
            <a:spLocks noGrp="1"/>
          </p:cNvSpPr>
          <p:nvPr>
            <p:ph type="title"/>
          </p:nvPr>
        </p:nvSpPr>
        <p:spPr/>
        <p:txBody>
          <a:bodyPr/>
          <a:p>
            <a:r>
              <a:rPr b="1"/>
              <a:t>Therapeutic uses</a:t>
            </a:r>
            <a:endParaRPr b="1"/>
          </a:p>
        </p:txBody>
      </p:sp>
      <p:graphicFrame>
        <p:nvGraphicFramePr>
          <p:cNvPr id="4194304" name="Content Placeholder 3"/>
          <p:cNvGraphicFramePr>
            <a:graphicFrameLocks noGrp="1"/>
          </p:cNvGraphicFramePr>
          <p:nvPr>
            <p:ph idx="1"/>
          </p:nvPr>
        </p:nvGraphicFramePr>
        <p:xfrm>
          <a:off x="838200" y="1825625"/>
          <a:ext cx="10515599" cy="2570480"/>
        </p:xfrm>
        <a:graphic>
          <a:graphicData uri="http://schemas.openxmlformats.org/drawingml/2006/table">
            <a:tbl>
              <a:tblPr firstRow="1" bandRow="1">
                <a:tableStyleId>{5C22544A-7EE6-4342-B048-85BDC9FD1C3A}</a:tableStyleId>
              </a:tblPr>
              <a:tblGrid>
                <a:gridCol w="3587043"/>
                <a:gridCol w="3423356"/>
                <a:gridCol w="3505200"/>
              </a:tblGrid>
              <a:tr h="370840">
                <a:tc>
                  <a:txBody>
                    <a:bodyPr/>
                    <a:p>
                      <a:r>
                        <a:rPr>
                          <a:solidFill>
                            <a:schemeClr val="tx1"/>
                          </a:solidFill>
                        </a:rPr>
                        <a:t>Medication</a:t>
                      </a:r>
                      <a:endParaRPr>
                        <a:solidFill>
                          <a:schemeClr val="tx1"/>
                        </a:solidFill>
                      </a:endParaRPr>
                    </a:p>
                  </a:txBody>
                </a:tc>
                <a:tc>
                  <a:txBody>
                    <a:bodyPr/>
                    <a:p>
                      <a:r>
                        <a:rPr>
                          <a:solidFill>
                            <a:schemeClr val="tx1"/>
                          </a:solidFill>
                        </a:rPr>
                        <a:t>Route</a:t>
                      </a:r>
                      <a:endParaRPr>
                        <a:solidFill>
                          <a:schemeClr val="tx1"/>
                        </a:solidFill>
                      </a:endParaRPr>
                    </a:p>
                  </a:txBody>
                </a:tc>
                <a:tc>
                  <a:txBody>
                    <a:bodyPr/>
                    <a:p>
                      <a:r>
                        <a:rPr>
                          <a:solidFill>
                            <a:schemeClr val="tx1"/>
                          </a:solidFill>
                        </a:rPr>
                        <a:t>Therapeutic uses</a:t>
                      </a:r>
                      <a:endParaRPr>
                        <a:solidFill>
                          <a:schemeClr val="tx1"/>
                        </a:solidFill>
                      </a:endParaRPr>
                    </a:p>
                  </a:txBody>
                </a:tc>
              </a:tr>
              <a:tr h="370840">
                <a:tc>
                  <a:txBody>
                    <a:bodyPr/>
                    <a:p>
                      <a:r>
                        <a:rPr>
                          <a:solidFill>
                            <a:schemeClr val="tx1"/>
                          </a:solidFill>
                        </a:rPr>
                        <a:t>Albuterol (Proventil, Ventolin) </a:t>
                      </a:r>
                      <a:endParaRPr>
                        <a:solidFill>
                          <a:schemeClr val="tx1"/>
                        </a:solidFill>
                      </a:endParaRPr>
                    </a:p>
                  </a:txBody>
                </a:tc>
                <a:tc>
                  <a:txBody>
                    <a:bodyPr/>
                    <a:p>
                      <a:r>
                        <a:rPr>
                          <a:solidFill>
                            <a:schemeClr val="tx1"/>
                          </a:solidFill>
                        </a:rPr>
                        <a:t>• Inhaled, short-acting </a:t>
                      </a:r>
                      <a:endParaRPr>
                        <a:solidFill>
                          <a:schemeClr val="tx1"/>
                        </a:solidFill>
                      </a:endParaRPr>
                    </a:p>
                    <a:p>
                      <a:r>
                        <a:t>Oral, long-acting</a:t>
                      </a:r>
                    </a:p>
                  </a:txBody>
                </a:tc>
                <a:tc>
                  <a:txBody>
                    <a:bodyPr/>
                    <a:p>
                      <a:r>
                        <a:rPr>
                          <a:solidFill>
                            <a:schemeClr val="tx1"/>
                          </a:solidFill>
                        </a:rPr>
                        <a:t>• Prevention of asthma attack (exercise-induced) • Treatment for ongoing asthma attack • Long-term control of asthma</a:t>
                      </a:r>
                      <a:endParaRPr>
                        <a:solidFill>
                          <a:schemeClr val="tx1"/>
                        </a:solidFill>
                      </a:endParaRPr>
                    </a:p>
                  </a:txBody>
                </a:tc>
              </a:tr>
              <a:tr h="370840">
                <a:tc>
                  <a:txBody>
                    <a:bodyPr/>
                    <a:p>
                      <a:r>
                        <a:rPr>
                          <a:solidFill>
                            <a:schemeClr val="tx1"/>
                          </a:solidFill>
                        </a:rPr>
                        <a:t>Formoterol (</a:t>
                      </a:r>
                      <a:r>
                        <a:rPr>
                          <a:solidFill>
                            <a:schemeClr val="tx1"/>
                          </a:solidFill>
                        </a:rPr>
                        <a:t>Foradil</a:t>
                      </a:r>
                      <a:r>
                        <a:rPr>
                          <a:solidFill>
                            <a:schemeClr val="tx1"/>
                          </a:solidFill>
                        </a:rPr>
                        <a:t> </a:t>
                      </a:r>
                      <a:r>
                        <a:rPr>
                          <a:solidFill>
                            <a:schemeClr val="tx1"/>
                          </a:solidFill>
                        </a:rPr>
                        <a:t>Aerolizer</a:t>
                      </a:r>
                      <a:r>
                        <a:rPr>
                          <a:solidFill>
                            <a:schemeClr val="tx1"/>
                          </a:solidFill>
                        </a:rPr>
                        <a:t>) Salmeterol (</a:t>
                      </a:r>
                      <a:r>
                        <a:rPr>
                          <a:solidFill>
                            <a:schemeClr val="tx1"/>
                          </a:solidFill>
                        </a:rPr>
                        <a:t>Serevent</a:t>
                      </a:r>
                      <a:r>
                        <a:rPr>
                          <a:solidFill>
                            <a:schemeClr val="tx1"/>
                          </a:solidFill>
                        </a:rPr>
                        <a:t>)</a:t>
                      </a:r>
                      <a:endParaRPr>
                        <a:solidFill>
                          <a:schemeClr val="tx1"/>
                        </a:solidFill>
                      </a:endParaRPr>
                    </a:p>
                  </a:txBody>
                </a:tc>
                <a:tc>
                  <a:txBody>
                    <a:bodyPr/>
                    <a:p>
                      <a:r>
                        <a:rPr>
                          <a:solidFill>
                            <a:schemeClr val="tx1"/>
                          </a:solidFill>
                        </a:rPr>
                        <a:t>• Inhaled, long-acting</a:t>
                      </a:r>
                      <a:endParaRPr>
                        <a:solidFill>
                          <a:schemeClr val="tx1"/>
                        </a:solidFill>
                      </a:endParaRPr>
                    </a:p>
                  </a:txBody>
                </a:tc>
                <a:tc>
                  <a:txBody>
                    <a:bodyPr/>
                    <a:p>
                      <a:r>
                        <a:rPr>
                          <a:solidFill>
                            <a:schemeClr val="tx1"/>
                          </a:solidFill>
                        </a:rPr>
                        <a:t>• Long-term control of asthma</a:t>
                      </a:r>
                      <a:endParaRPr>
                        <a:solidFill>
                          <a:schemeClr val="tx1"/>
                        </a:solidFill>
                      </a:endParaRPr>
                    </a:p>
                  </a:txBody>
                </a:tc>
              </a:tr>
              <a:tr h="370840">
                <a:tc>
                  <a:txBody>
                    <a:bodyPr/>
                    <a:p>
                      <a:r>
                        <a:rPr>
                          <a:solidFill>
                            <a:schemeClr val="tx1"/>
                          </a:solidFill>
                        </a:rPr>
                        <a:t>Terbutaline (</a:t>
                      </a:r>
                      <a:r>
                        <a:rPr>
                          <a:solidFill>
                            <a:schemeClr val="tx1"/>
                          </a:solidFill>
                        </a:rPr>
                        <a:t>Brethine</a:t>
                      </a:r>
                      <a:r>
                        <a:rPr>
                          <a:solidFill>
                            <a:schemeClr val="tx1"/>
                          </a:solidFill>
                        </a:rPr>
                        <a:t>)</a:t>
                      </a:r>
                      <a:endParaRPr>
                        <a:solidFill>
                          <a:schemeClr val="tx1"/>
                        </a:solidFill>
                      </a:endParaRPr>
                    </a:p>
                  </a:txBody>
                </a:tc>
                <a:tc>
                  <a:txBody>
                    <a:bodyPr/>
                    <a:p>
                      <a:r>
                        <a:rPr>
                          <a:solidFill>
                            <a:schemeClr val="tx1"/>
                          </a:solidFill>
                        </a:rPr>
                        <a:t>Oral, long-acting</a:t>
                      </a:r>
                      <a:endParaRPr>
                        <a:solidFill>
                          <a:schemeClr val="tx1"/>
                        </a:solidFill>
                      </a:endParaRPr>
                    </a:p>
                  </a:txBody>
                </a:tc>
                <a:tc>
                  <a:txBody>
                    <a:bodyPr/>
                    <a:p>
                      <a:r>
                        <a:rPr>
                          <a:solidFill>
                            <a:schemeClr val="tx1"/>
                          </a:solidFill>
                        </a:rPr>
                        <a:t>• Long-term control of asthma</a:t>
                      </a:r>
                      <a:endParaRPr>
                        <a:solidFill>
                          <a:schemeClr val="tx1"/>
                        </a:solidFill>
                      </a:endParaRPr>
                    </a:p>
                  </a:txBody>
                </a:tc>
              </a:tr>
            </a:tbl>
          </a:graphicData>
        </a:graphic>
      </p:graphicFrame>
    </p:spTree>
  </p:cSld>
  <p:clrMapOvr>
    <a:masterClrMapping/>
  </p:clrMapOvr>
</p:sld>
</file>

<file path=ppt/slides/slide545.xml><?xml version="1.0" encoding="utf-8"?>
<p:sld xmlns:a="http://schemas.openxmlformats.org/drawingml/2006/main" xmlns:r="http://schemas.openxmlformats.org/officeDocument/2006/relationships" xmlns:p="http://schemas.openxmlformats.org/presentationml/2006/main">
  <p:cSld>
    <p:spTree>
      <p:nvGrpSpPr>
        <p:cNvPr id="649" name=""/>
        <p:cNvGrpSpPr/>
        <p:nvPr/>
      </p:nvGrpSpPr>
      <p:grpSpPr>
        <a:xfrm>
          <a:off x="0" y="0"/>
          <a:ext cx="0" cy="0"/>
          <a:chOff x="0" y="0"/>
          <a:chExt cx="0" cy="0"/>
        </a:xfrm>
      </p:grpSpPr>
      <p:sp>
        <p:nvSpPr>
          <p:cNvPr id="1048591" name="Content Placeholder 2"/>
          <p:cNvSpPr>
            <a:spLocks noGrp="1"/>
          </p:cNvSpPr>
          <p:nvPr>
            <p:ph idx="1"/>
          </p:nvPr>
        </p:nvSpPr>
        <p:spPr>
          <a:xfrm>
            <a:off x="838204" y="203206"/>
            <a:ext cx="10515600" cy="5973765"/>
          </a:xfrm>
        </p:spPr>
        <p:txBody>
          <a:bodyPr/>
          <a:p>
            <a:pPr indent="0" marL="0">
              <a:buNone/>
            </a:pPr>
            <a:r>
              <a:rPr b="1" sz="3600"/>
              <a:t>Side effects</a:t>
            </a:r>
            <a:endParaRPr b="1" sz="3600"/>
          </a:p>
          <a:p>
            <a:r>
              <a:t>Inhaled agents (short and long acting) have minimal adverse effects.</a:t>
            </a:r>
          </a:p>
          <a:p>
            <a:r>
              <a:t> Oral agents can cause</a:t>
            </a:r>
            <a:r>
              <a:rPr b="1"/>
              <a:t> tachycardia </a:t>
            </a:r>
            <a:r>
              <a:t>and </a:t>
            </a:r>
            <a:r>
              <a:rPr b="1"/>
              <a:t>angina</a:t>
            </a:r>
            <a:r>
              <a:t> because of activation of alpha1 receptors in the heart.</a:t>
            </a:r>
          </a:p>
          <a:p>
            <a:r>
              <a:t> Tremors caused by activation of beta2 receptors in skeletal muscle.</a:t>
            </a:r>
          </a:p>
          <a:p>
            <a:pPr indent="0" marL="0">
              <a:buNone/>
            </a:pPr>
            <a:r>
              <a:rPr b="1"/>
              <a:t>Contraindications/Precautions </a:t>
            </a:r>
            <a:endParaRPr b="1"/>
          </a:p>
          <a:p>
            <a:r>
              <a:t> Beta2-adrenergic agonists are Pregnancy Risk Category C. </a:t>
            </a:r>
          </a:p>
          <a:p>
            <a:r>
              <a:t> These agents are contraindicated in clients with tachydysrhythmia. </a:t>
            </a:r>
          </a:p>
          <a:p>
            <a:r>
              <a:t>Use cautiously in clients who have diabetes, hyperthyroidism, heart disease, hypertension, and angina</a:t>
            </a:r>
          </a:p>
          <a:p/>
          <a:p/>
        </p:txBody>
      </p:sp>
    </p:spTree>
  </p:cSld>
  <p:clrMapOvr>
    <a:masterClrMapping/>
  </p:clrMapOvr>
</p:sld>
</file>

<file path=ppt/slides/slide546.xml><?xml version="1.0" encoding="utf-8"?>
<p:sld xmlns:a="http://schemas.openxmlformats.org/drawingml/2006/main" xmlns:r="http://schemas.openxmlformats.org/officeDocument/2006/relationships" xmlns:p="http://schemas.openxmlformats.org/presentationml/2006/main">
  <p:cSld>
    <p:spTree>
      <p:nvGrpSpPr>
        <p:cNvPr id="651" name=""/>
        <p:cNvGrpSpPr/>
        <p:nvPr/>
      </p:nvGrpSpPr>
      <p:grpSpPr>
        <a:xfrm>
          <a:off x="0" y="0"/>
          <a:ext cx="0" cy="0"/>
          <a:chOff x="0" y="0"/>
          <a:chExt cx="0" cy="0"/>
        </a:xfrm>
      </p:grpSpPr>
      <p:sp>
        <p:nvSpPr>
          <p:cNvPr id="1048594" name="Content Placeholder 2"/>
          <p:cNvSpPr>
            <a:spLocks noGrp="1"/>
          </p:cNvSpPr>
          <p:nvPr>
            <p:ph idx="1"/>
          </p:nvPr>
        </p:nvSpPr>
        <p:spPr>
          <a:xfrm>
            <a:off x="0" y="205832"/>
            <a:ext cx="10515600" cy="5996340"/>
          </a:xfrm>
        </p:spPr>
        <p:txBody>
          <a:bodyPr>
            <a:normAutofit fontScale="92857" lnSpcReduction="20000"/>
          </a:bodyPr>
          <a:p>
            <a:pPr indent="0" marL="0">
              <a:buNone/>
            </a:pPr>
            <a:r>
              <a:rPr b="1"/>
              <a:t>Medication and food interaction</a:t>
            </a:r>
            <a:endParaRPr b="1"/>
          </a:p>
          <a:p>
            <a:r>
              <a:t> Use of beta-adrenergic blockers (propranolol) can negate effects of both medications. </a:t>
            </a:r>
          </a:p>
          <a:p>
            <a:r>
              <a:t>MAOIs and tricyclic antidepressants can increase the risk of tachycardia and angina.</a:t>
            </a:r>
          </a:p>
          <a:p>
            <a:pPr indent="0" marL="0">
              <a:buNone/>
            </a:pPr>
            <a:r>
              <a:t> </a:t>
            </a:r>
            <a:r>
              <a:rPr b="1"/>
              <a:t>Nursing Administration </a:t>
            </a:r>
            <a:endParaRPr b="1"/>
          </a:p>
          <a:p>
            <a:pPr indent="0" marL="0">
              <a:buNone/>
            </a:pPr>
            <a:r>
              <a:t> Instruct clients to follow manufacturer’s instructions for use of device: metered-dose inhaler (MDI), dry-powder inhaler(DPI), and nebulizer. </a:t>
            </a:r>
          </a:p>
          <a:p>
            <a:pPr indent="0" marL="0">
              <a:buNone/>
            </a:pPr>
            <a:r>
              <a:t>When a client is prescribed an inhaled beta2-agonist and an inhaled glucocorticoid, advise the client to inhale the beta2-agonist before inhaling the glucocorticoid.</a:t>
            </a:r>
          </a:p>
          <a:p>
            <a:pPr indent="0" marL="0">
              <a:buNone/>
            </a:pPr>
            <a:r>
              <a:t> The beta2-agonist promotes bronchodilation and enhances absorption of the glucocorticoid. </a:t>
            </a:r>
          </a:p>
          <a:p>
            <a:pPr indent="0" marL="0">
              <a:buNone/>
            </a:pPr>
            <a:r>
              <a:t> Advise clients not to exceed prescribed dosages. </a:t>
            </a:r>
          </a:p>
          <a:p>
            <a:pPr indent="0" marL="0">
              <a:buNone/>
            </a:pPr>
            <a:r>
              <a:t> Ensure that clients know the appropriate dosage schedule (if the medication is to be taken on a fixed or a when-necessary schedule). </a:t>
            </a:r>
          </a:p>
          <a:p>
            <a:pPr indent="0" marL="0">
              <a:buNone/>
            </a:pPr>
            <a:r>
              <a:t> </a:t>
            </a:r>
          </a:p>
          <a:p>
            <a:endParaRPr b="1"/>
          </a:p>
        </p:txBody>
      </p:sp>
    </p:spTree>
  </p:cSld>
  <p:clrMapOvr>
    <a:masterClrMapping/>
  </p:clrMapOvr>
</p:sld>
</file>

<file path=ppt/slides/slide547.xml><?xml version="1.0" encoding="utf-8"?>
<p:sld xmlns:a="http://schemas.openxmlformats.org/drawingml/2006/main" xmlns:r="http://schemas.openxmlformats.org/officeDocument/2006/relationships" xmlns:p="http://schemas.openxmlformats.org/presentationml/2006/main">
  <p:cSld>
    <p:spTree>
      <p:nvGrpSpPr>
        <p:cNvPr id="1236" name=""/>
        <p:cNvGrpSpPr/>
        <p:nvPr/>
      </p:nvGrpSpPr>
      <p:grpSpPr>
        <a:xfrm>
          <a:off x="0" y="0"/>
          <a:ext cx="0" cy="0"/>
          <a:chOff x="0" y="0"/>
          <a:chExt cx="0" cy="0"/>
        </a:xfrm>
      </p:grpSpPr>
      <p:sp>
        <p:nvSpPr>
          <p:cNvPr id="1049708" name="Content Placeholder 2"/>
          <p:cNvSpPr>
            <a:spLocks noGrp="1"/>
          </p:cNvSpPr>
          <p:nvPr>
            <p:ph idx="1"/>
          </p:nvPr>
        </p:nvSpPr>
        <p:spPr>
          <a:xfrm>
            <a:off x="736601" y="112890"/>
            <a:ext cx="10515600" cy="6445950"/>
          </a:xfrm>
        </p:spPr>
        <p:txBody>
          <a:bodyPr>
            <a:normAutofit lnSpcReduction="10000"/>
          </a:bodyPr>
          <a:p>
            <a:r>
              <a:rPr sz="2400">
                <a:solidFill>
                  <a:srgbClr val="000000"/>
                </a:solidFill>
              </a:rPr>
              <a:t>Formoterol and salmeterol are both long-acting beta2-agonist inhalers. These inhalers are used every 12 hr. for long-term control and are not to be used to abort an asthma attack. A short-acting beta2-agonist should be used if clients need to treat an acute attack. </a:t>
            </a:r>
            <a:endParaRPr sz="2400">
              <a:solidFill>
                <a:srgbClr val="000000"/>
              </a:solidFill>
            </a:endParaRPr>
          </a:p>
          <a:p>
            <a:r>
              <a:rPr sz="2400">
                <a:solidFill>
                  <a:srgbClr val="000000"/>
                </a:solidFill>
              </a:rPr>
              <a:t> Advise clients to observe for signs of an impending asthma attack and to keep a log of the frequency and intensity of attacks. </a:t>
            </a:r>
            <a:endParaRPr sz="2400">
              <a:solidFill>
                <a:srgbClr val="000000"/>
              </a:solidFill>
            </a:endParaRPr>
          </a:p>
          <a:p>
            <a:r>
              <a:rPr sz="2400">
                <a:solidFill>
                  <a:srgbClr val="000000"/>
                </a:solidFill>
              </a:rPr>
              <a:t> Instruct clients to notify the provider if there is an increase in the frequency and intensity of asthma attacks.</a:t>
            </a:r>
            <a:r>
              <a:rPr sz="2400"/>
              <a:t> </a:t>
            </a:r>
            <a:endParaRPr sz="2400"/>
          </a:p>
          <a:p>
            <a:pPr indent="0" marL="0">
              <a:buNone/>
            </a:pPr>
            <a:r>
              <a:rPr sz="2400"/>
              <a:t>                                             </a:t>
            </a:r>
            <a:r>
              <a:rPr sz="4000"/>
              <a:t>METHYLXANTHINES</a:t>
            </a:r>
            <a:endParaRPr sz="4000"/>
          </a:p>
          <a:p>
            <a:pPr indent="0" marL="0">
              <a:buNone/>
            </a:pPr>
            <a:r>
              <a:rPr sz="2400"/>
              <a:t>theophylline (Theolair, Theo-24) </a:t>
            </a:r>
            <a:endParaRPr sz="2400"/>
          </a:p>
          <a:p>
            <a:pPr indent="0" marL="0">
              <a:buNone/>
            </a:pPr>
            <a:r>
              <a:rPr b="1" sz="2400"/>
              <a:t>Expected Pharmacological Action </a:t>
            </a:r>
            <a:endParaRPr b="1" sz="2400"/>
          </a:p>
          <a:p>
            <a:pPr indent="0" marL="0">
              <a:buNone/>
            </a:pPr>
            <a:r>
              <a:rPr sz="2400"/>
              <a:t> Theophylline causes relaxation of bronchial smooth muscle, resulting in bronchodilation.</a:t>
            </a:r>
            <a:endParaRPr sz="2400"/>
          </a:p>
          <a:p>
            <a:pPr indent="0" marL="0">
              <a:buNone/>
            </a:pPr>
            <a:r>
              <a:rPr b="1" sz="2400"/>
              <a:t>Therapeutic Uses </a:t>
            </a:r>
            <a:endParaRPr b="1" sz="2400"/>
          </a:p>
          <a:p>
            <a:pPr indent="0" marL="0">
              <a:buNone/>
            </a:pPr>
            <a:r>
              <a:rPr sz="2400"/>
              <a:t> Oral theophylline is used for long-term control of chronic asthma. </a:t>
            </a:r>
            <a:endParaRPr sz="2400"/>
          </a:p>
          <a:p>
            <a:pPr indent="0" marL="0">
              <a:buNone/>
            </a:pPr>
            <a:r>
              <a:rPr sz="2400"/>
              <a:t>Route of administration: oral or IV (emergency use only)</a:t>
            </a:r>
            <a:endParaRPr sz="2400">
              <a:solidFill>
                <a:srgbClr val="000000"/>
              </a:solidFill>
            </a:endParaRPr>
          </a:p>
          <a:p/>
        </p:txBody>
      </p:sp>
    </p:spTree>
  </p:cSld>
  <p:clrMapOvr>
    <a:masterClrMapping/>
  </p:clrMapOvr>
</p:sld>
</file>

<file path=ppt/slides/slide548.xml><?xml version="1.0" encoding="utf-8"?>
<p:sld xmlns:a="http://schemas.openxmlformats.org/drawingml/2006/main" xmlns:r="http://schemas.openxmlformats.org/officeDocument/2006/relationships" xmlns:p="http://schemas.openxmlformats.org/presentationml/2006/main">
  <p:cSld>
    <p:spTree>
      <p:nvGrpSpPr>
        <p:cNvPr id="1237" name=""/>
        <p:cNvGrpSpPr/>
        <p:nvPr/>
      </p:nvGrpSpPr>
      <p:grpSpPr>
        <a:xfrm>
          <a:off x="0" y="0"/>
          <a:ext cx="0" cy="0"/>
          <a:chOff x="0" y="0"/>
          <a:chExt cx="0" cy="0"/>
        </a:xfrm>
      </p:grpSpPr>
      <p:sp>
        <p:nvSpPr>
          <p:cNvPr id="1049709" name="Content Placeholder 2"/>
          <p:cNvSpPr>
            <a:spLocks noGrp="1"/>
          </p:cNvSpPr>
          <p:nvPr>
            <p:ph idx="1"/>
          </p:nvPr>
        </p:nvSpPr>
        <p:spPr>
          <a:xfrm>
            <a:off x="115709" y="124178"/>
            <a:ext cx="10515600" cy="6524978"/>
          </a:xfrm>
        </p:spPr>
        <p:txBody>
          <a:bodyPr>
            <a:normAutofit lnSpcReduction="10000"/>
          </a:bodyPr>
          <a:p>
            <a:pPr indent="0" marL="0">
              <a:buNone/>
            </a:pPr>
            <a:r>
              <a:rPr b="1"/>
              <a:t>Side/adverse effects</a:t>
            </a:r>
            <a:endParaRPr b="1"/>
          </a:p>
          <a:p>
            <a:pPr indent="0" marL="0">
              <a:buNone/>
            </a:pPr>
            <a:r>
              <a:t>Mild toxicity reaction may include GI distress and restlessness. </a:t>
            </a:r>
          </a:p>
          <a:p>
            <a:r>
              <a:t> More severe reactions can occur with higher therapeutic levels and can include dysrhythmias and seizures.</a:t>
            </a:r>
          </a:p>
          <a:p>
            <a:pPr indent="0" marL="0">
              <a:buNone/>
            </a:pPr>
            <a:r>
              <a:rPr b="1"/>
              <a:t>Contraindications/Precautions </a:t>
            </a:r>
          </a:p>
          <a:p>
            <a:r>
              <a:t>in Pregnancy </a:t>
            </a:r>
          </a:p>
          <a:p>
            <a:r>
              <a:t>Use cautiously in clients who have heart disease, hypertension, liver and renal dysfunction, and diabetes. </a:t>
            </a:r>
          </a:p>
          <a:p>
            <a:r>
              <a:t> Use cautiously in children and older adults.</a:t>
            </a:r>
          </a:p>
          <a:p>
            <a:pPr indent="0" marL="0">
              <a:buNone/>
            </a:pPr>
            <a:r>
              <a:rPr b="1"/>
              <a:t> Nursing Administration </a:t>
            </a:r>
            <a:endParaRPr b="1"/>
          </a:p>
          <a:p>
            <a:r>
              <a:t> Advise clients to take the medication as prescribed. If a dose is missed, the following dose should not be doubled. </a:t>
            </a:r>
          </a:p>
          <a:p>
            <a:r>
              <a:t>Instruct clients not to chew or crush sustained-release preparations. These medications should be swallowed whole.  </a:t>
            </a:r>
          </a:p>
        </p:txBody>
      </p:sp>
    </p:spTree>
  </p:cSld>
  <p:clrMapOvr>
    <a:masterClrMapping/>
  </p:clrMapOvr>
</p:sld>
</file>

<file path=ppt/slides/slide549.xml><?xml version="1.0" encoding="utf-8"?>
<p:sld xmlns:a="http://schemas.openxmlformats.org/drawingml/2006/main" xmlns:r="http://schemas.openxmlformats.org/officeDocument/2006/relationships" xmlns:p="http://schemas.openxmlformats.org/presentationml/2006/main">
  <p:cSld>
    <p:spTree>
      <p:nvGrpSpPr>
        <p:cNvPr id="1238" name=""/>
        <p:cNvGrpSpPr/>
        <p:nvPr/>
      </p:nvGrpSpPr>
      <p:grpSpPr>
        <a:xfrm>
          <a:off x="0" y="0"/>
          <a:ext cx="0" cy="0"/>
          <a:chOff x="0" y="0"/>
          <a:chExt cx="0" cy="0"/>
        </a:xfrm>
      </p:grpSpPr>
      <p:sp>
        <p:nvSpPr>
          <p:cNvPr id="1049710" name="Title 1"/>
          <p:cNvSpPr>
            <a:spLocks noGrp="1"/>
          </p:cNvSpPr>
          <p:nvPr>
            <p:ph type="title"/>
          </p:nvPr>
        </p:nvSpPr>
        <p:spPr/>
        <p:txBody>
          <a:bodyPr/>
          <a:p>
            <a:r>
              <a:t>           </a:t>
            </a:r>
            <a:r>
              <a:rPr b="1"/>
              <a:t>INHALED ANTICHOLINERGICS</a:t>
            </a:r>
            <a:endParaRPr b="1"/>
          </a:p>
        </p:txBody>
      </p:sp>
      <p:sp>
        <p:nvSpPr>
          <p:cNvPr id="1049711" name="Content Placeholder 2"/>
          <p:cNvSpPr>
            <a:spLocks noGrp="1"/>
          </p:cNvSpPr>
          <p:nvPr>
            <p:ph idx="1"/>
          </p:nvPr>
        </p:nvSpPr>
        <p:spPr/>
        <p:txBody>
          <a:bodyPr>
            <a:normAutofit/>
          </a:bodyPr>
          <a:p>
            <a:r>
              <a:t>ipratropium (Atrovent)</a:t>
            </a:r>
          </a:p>
          <a:p>
            <a:r>
              <a:t> tiotropium (Spiriva) </a:t>
            </a:r>
          </a:p>
          <a:p>
            <a:pPr indent="0" marL="0">
              <a:buNone/>
            </a:pPr>
            <a:r>
              <a:rPr b="1"/>
              <a:t>Expected Pharmacological Action </a:t>
            </a:r>
            <a:endParaRPr b="1"/>
          </a:p>
          <a:p>
            <a:r>
              <a:t> These medications block muscarinic receptors of the bronchi, resulting in bronchodilation. </a:t>
            </a:r>
          </a:p>
          <a:p>
            <a:pPr indent="0" marL="0">
              <a:buNone/>
            </a:pPr>
            <a:r>
              <a:t> </a:t>
            </a:r>
            <a:r>
              <a:rPr b="1"/>
              <a:t>Therapeutic Uses  </a:t>
            </a:r>
            <a:endParaRPr b="1"/>
          </a:p>
          <a:p>
            <a:r>
              <a:t>These medications are used to relieve bronchospasm associated with chronic obstructive pulmonary disease (COPD)</a:t>
            </a:r>
          </a:p>
          <a:p>
            <a:r>
              <a:t>These medications are used for </a:t>
            </a:r>
            <a:r>
              <a:rPr b="1"/>
              <a:t>allergen-induced</a:t>
            </a:r>
            <a:r>
              <a:t> and </a:t>
            </a:r>
            <a:r>
              <a:rPr b="1"/>
              <a:t>exercise-induced</a:t>
            </a:r>
            <a:r>
              <a:t> </a:t>
            </a:r>
            <a:r>
              <a:rPr b="1"/>
              <a:t>asthma. </a:t>
            </a:r>
            <a:endParaRPr b="1"/>
          </a:p>
          <a:p>
            <a:pPr indent="0" marL="0">
              <a:buNone/>
            </a:pPr>
            <a:r>
              <a:rPr b="1"/>
              <a:t>Route of administration</a:t>
            </a:r>
            <a:r>
              <a:t>: inhalation</a:t>
            </a:r>
          </a:p>
        </p:txBody>
      </p:sp>
    </p:spTree>
  </p:cSld>
  <p:clrMapOvr>
    <a:masterClrMapping/>
  </p:clrMapOvr>
</p:sld>
</file>

<file path=ppt/slides/slide550.xml><?xml version="1.0" encoding="utf-8"?>
<p:sld xmlns:a="http://schemas.openxmlformats.org/drawingml/2006/main" xmlns:r="http://schemas.openxmlformats.org/officeDocument/2006/relationships" xmlns:p="http://schemas.openxmlformats.org/presentationml/2006/main">
  <p:cSld>
    <p:spTree>
      <p:nvGrpSpPr>
        <p:cNvPr id="1239" name=""/>
        <p:cNvGrpSpPr/>
        <p:nvPr/>
      </p:nvGrpSpPr>
      <p:grpSpPr>
        <a:xfrm>
          <a:off x="0" y="0"/>
          <a:ext cx="0" cy="0"/>
          <a:chOff x="0" y="0"/>
          <a:chExt cx="0" cy="0"/>
        </a:xfrm>
      </p:grpSpPr>
      <p:sp>
        <p:nvSpPr>
          <p:cNvPr id="1049712" name="Content Placeholder 2"/>
          <p:cNvSpPr>
            <a:spLocks noGrp="1"/>
          </p:cNvSpPr>
          <p:nvPr>
            <p:ph idx="1"/>
          </p:nvPr>
        </p:nvSpPr>
        <p:spPr>
          <a:xfrm>
            <a:off x="838204" y="248356"/>
            <a:ext cx="10515600" cy="6378224"/>
          </a:xfrm>
        </p:spPr>
        <p:txBody>
          <a:bodyPr/>
          <a:p>
            <a:pPr indent="0" marL="0">
              <a:buNone/>
            </a:pPr>
            <a:r>
              <a:rPr b="1"/>
              <a:t>SIDE/ADVERSE EFFECTS </a:t>
            </a:r>
            <a:endParaRPr b="1"/>
          </a:p>
          <a:p>
            <a:pPr indent="0" marL="0">
              <a:buNone/>
            </a:pPr>
            <a:r>
              <a:t>Local anticholinergic effects (dry mouth, hoarseness)</a:t>
            </a:r>
          </a:p>
          <a:p>
            <a:pPr indent="0" marL="0">
              <a:buNone/>
            </a:pPr>
            <a:r>
              <a:t> Advise clients to sip fluids and suck on hard candies to control dry mouth. </a:t>
            </a:r>
          </a:p>
          <a:p>
            <a:pPr indent="0" marL="0">
              <a:buNone/>
            </a:pPr>
            <a:r>
              <a:rPr b="1"/>
              <a:t>Contraindications/Precautions </a:t>
            </a:r>
            <a:endParaRPr b="1"/>
          </a:p>
          <a:p>
            <a:r>
              <a:t> Inhaled anticholinergics are Pregnancy Risk Category B. </a:t>
            </a:r>
          </a:p>
          <a:p>
            <a:r>
              <a:t> These agents are contraindicated in clients who have an allergy to peanuts because the medication preparations may contain soy lecithin. </a:t>
            </a:r>
          </a:p>
          <a:p>
            <a:r>
              <a:t>Use cautiously in clients who have narrow-angle glaucoma and benign prostatic hypertrophy (due to anticholinergic effects).</a:t>
            </a:r>
          </a:p>
        </p:txBody>
      </p:sp>
    </p:spTree>
  </p:cSld>
  <p:clrMapOvr>
    <a:masterClrMapping/>
  </p:clrMapOvr>
</p:sld>
</file>

<file path=ppt/slides/slide551.xml><?xml version="1.0" encoding="utf-8"?>
<p:sld xmlns:a="http://schemas.openxmlformats.org/drawingml/2006/main" xmlns:r="http://schemas.openxmlformats.org/officeDocument/2006/relationships" xmlns:p="http://schemas.openxmlformats.org/presentationml/2006/main">
  <p:cSld>
    <p:spTree>
      <p:nvGrpSpPr>
        <p:cNvPr id="1240" name=""/>
        <p:cNvGrpSpPr/>
        <p:nvPr/>
      </p:nvGrpSpPr>
      <p:grpSpPr>
        <a:xfrm>
          <a:off x="0" y="0"/>
          <a:ext cx="0" cy="0"/>
          <a:chOff x="0" y="0"/>
          <a:chExt cx="0" cy="0"/>
        </a:xfrm>
      </p:grpSpPr>
      <p:sp>
        <p:nvSpPr>
          <p:cNvPr id="1049713" name="Content Placeholder 2"/>
          <p:cNvSpPr>
            <a:spLocks noGrp="1"/>
          </p:cNvSpPr>
          <p:nvPr>
            <p:ph idx="1"/>
          </p:nvPr>
        </p:nvSpPr>
        <p:spPr>
          <a:xfrm>
            <a:off x="838204" y="1859495"/>
            <a:ext cx="10515600" cy="4351339"/>
          </a:xfrm>
        </p:spPr>
        <p:txBody>
          <a:bodyPr/>
          <a:p>
            <a:r>
              <a:rPr b="1"/>
              <a:t>Nursing Administration </a:t>
            </a:r>
            <a:endParaRPr b="1"/>
          </a:p>
          <a:p>
            <a:r>
              <a:t> Advise clients to rinse the mouth after inhalation to decrease unpleasant taste. </a:t>
            </a:r>
          </a:p>
          <a:p>
            <a:r>
              <a:t> Usual adult dosage is two puffs. Instruct clients to wait the length of time directed between puffs. </a:t>
            </a:r>
          </a:p>
          <a:p>
            <a:r>
              <a:t>If clients are prescribed two inhaled medications, instruct clients to wait at least 5 min between medications</a:t>
            </a:r>
          </a:p>
        </p:txBody>
      </p:sp>
    </p:spTree>
  </p:cSld>
  <p:clrMapOvr>
    <a:masterClrMapping/>
  </p:clrMapOvr>
</p:sld>
</file>

<file path=ppt/slides/slide552.xml><?xml version="1.0" encoding="utf-8"?>
<p:sld xmlns:a="http://schemas.openxmlformats.org/drawingml/2006/main" xmlns:r="http://schemas.openxmlformats.org/officeDocument/2006/relationships" xmlns:p="http://schemas.openxmlformats.org/presentationml/2006/main">
  <p:cSld>
    <p:spTree>
      <p:nvGrpSpPr>
        <p:cNvPr id="1241" name=""/>
        <p:cNvGrpSpPr/>
        <p:nvPr/>
      </p:nvGrpSpPr>
      <p:grpSpPr>
        <a:xfrm>
          <a:off x="0" y="0"/>
          <a:ext cx="0" cy="0"/>
          <a:chOff x="0" y="0"/>
          <a:chExt cx="0" cy="0"/>
        </a:xfrm>
      </p:grpSpPr>
      <p:sp>
        <p:nvSpPr>
          <p:cNvPr id="1049714" name="Content Placeholder 2"/>
          <p:cNvSpPr>
            <a:spLocks noGrp="1"/>
          </p:cNvSpPr>
          <p:nvPr>
            <p:ph idx="1"/>
          </p:nvPr>
        </p:nvSpPr>
        <p:spPr>
          <a:xfrm>
            <a:off x="838204" y="519289"/>
            <a:ext cx="10515600" cy="5657668"/>
          </a:xfrm>
        </p:spPr>
        <p:txBody>
          <a:bodyPr/>
          <a:p>
            <a:r>
              <a:rPr b="1"/>
              <a:t>Medication/Food Interactions </a:t>
            </a:r>
            <a:endParaRPr b="1"/>
          </a:p>
          <a:p>
            <a:r>
              <a:t> Caffeine increases CNS and cardiac adverse effects of theophylline. </a:t>
            </a:r>
          </a:p>
          <a:p>
            <a:r>
              <a:t> Caffeine can also increase theophylline levels. </a:t>
            </a:r>
          </a:p>
          <a:p>
            <a:pPr indent="0" marL="0">
              <a:buNone/>
            </a:pPr>
            <a:r>
              <a:t> Advise clients to avoid consuming caffeinated beverages (coffee, caffeinated colas). </a:t>
            </a:r>
          </a:p>
          <a:p>
            <a:r>
              <a:t> Phenobarbital and phenytoin decrease theophylline levels. </a:t>
            </a:r>
          </a:p>
          <a:p>
            <a:r>
              <a:t> Cimetidine (Tagamet), ciprofloxacin (Cipro), and other fluoroquinolone antibiotics increase theophylline level.</a:t>
            </a:r>
          </a:p>
        </p:txBody>
      </p:sp>
    </p:spTree>
  </p:cSld>
  <p:clrMapOvr>
    <a:masterClrMapping/>
  </p:clrMapOvr>
</p:sld>
</file>

<file path=ppt/slides/slide553.xml><?xml version="1.0" encoding="utf-8"?>
<p:sld xmlns:a="http://schemas.openxmlformats.org/drawingml/2006/main" xmlns:r="http://schemas.openxmlformats.org/officeDocument/2006/relationships" xmlns:p="http://schemas.openxmlformats.org/presentationml/2006/main">
  <p:cSld>
    <p:spTree>
      <p:nvGrpSpPr>
        <p:cNvPr id="1242" name=""/>
        <p:cNvGrpSpPr/>
        <p:nvPr/>
      </p:nvGrpSpPr>
      <p:grpSpPr>
        <a:xfrm>
          <a:off x="0" y="0"/>
          <a:ext cx="0" cy="0"/>
          <a:chOff x="0" y="0"/>
          <a:chExt cx="0" cy="0"/>
        </a:xfrm>
      </p:grpSpPr>
      <p:sp>
        <p:nvSpPr>
          <p:cNvPr id="1049715" name="Content Placeholder 2"/>
          <p:cNvSpPr>
            <a:spLocks noGrp="1"/>
          </p:cNvSpPr>
          <p:nvPr>
            <p:ph idx="1"/>
          </p:nvPr>
        </p:nvSpPr>
        <p:spPr>
          <a:xfrm>
            <a:off x="838204" y="135466"/>
            <a:ext cx="10515600" cy="6412087"/>
          </a:xfrm>
        </p:spPr>
        <p:txBody>
          <a:bodyPr>
            <a:normAutofit/>
          </a:bodyPr>
          <a:p>
            <a:pPr indent="0" marL="0">
              <a:buNone/>
            </a:pPr>
            <a:r>
              <a:rPr b="1"/>
              <a:t>                                                GLUCOCORTICOIDS</a:t>
            </a:r>
            <a:endParaRPr b="1"/>
          </a:p>
          <a:p>
            <a:pPr indent="0" marL="0">
              <a:buNone/>
            </a:pPr>
            <a:r>
              <a:rPr b="1"/>
              <a:t>Inhalation</a:t>
            </a:r>
            <a:r>
              <a:t>: beclomethasone dipropionate (QVAR) </a:t>
            </a:r>
          </a:p>
          <a:p>
            <a:pPr indent="0" marL="0">
              <a:buNone/>
            </a:pPr>
            <a:r>
              <a:t> </a:t>
            </a:r>
            <a:r>
              <a:rPr b="1"/>
              <a:t>Oral</a:t>
            </a:r>
            <a:r>
              <a:t>: prednisone (Deltasone) </a:t>
            </a:r>
          </a:p>
          <a:p>
            <a:pPr indent="0" marL="0">
              <a:buNone/>
            </a:pPr>
            <a:r>
              <a:rPr b="1"/>
              <a:t> Inhalation</a:t>
            </a:r>
            <a:r>
              <a:t>:  </a:t>
            </a:r>
          </a:p>
          <a:p>
            <a:r>
              <a:t>Budesonide (Pulmicort Flexhaler) </a:t>
            </a:r>
          </a:p>
          <a:p>
            <a:r>
              <a:t> Fluticasone propionate and salmeterol (Advair) </a:t>
            </a:r>
          </a:p>
          <a:p>
            <a:r>
              <a:t>Fluticasone propionate (Flovent)</a:t>
            </a:r>
          </a:p>
          <a:p>
            <a:r>
              <a:t>  Triamcinolone acetonide (Azmacort) </a:t>
            </a:r>
          </a:p>
          <a:p>
            <a:pPr indent="0" marL="0">
              <a:buNone/>
            </a:pPr>
            <a:r>
              <a:rPr b="1"/>
              <a:t>systemic :</a:t>
            </a:r>
            <a:endParaRPr b="1"/>
          </a:p>
          <a:p>
            <a:r>
              <a:rPr b="1"/>
              <a:t>Oral </a:t>
            </a:r>
            <a:r>
              <a:t>Prednisolone E 30 to 40mg for initial  to 7 days,</a:t>
            </a:r>
          </a:p>
          <a:p>
            <a:r>
              <a:rPr b="1"/>
              <a:t>IV/IM </a:t>
            </a:r>
            <a:r>
              <a:t>dexamethasone</a:t>
            </a:r>
          </a:p>
          <a:p>
            <a:r>
              <a:rPr b="1"/>
              <a:t> IV </a:t>
            </a:r>
            <a:r>
              <a:t>Hydrocortisone sodium succinate (Solu-Cortef) (</a:t>
            </a:r>
          </a:p>
          <a:p>
            <a:r>
              <a:t>IV Methylprednisolone sodium succinate (Solu-Medrol)</a:t>
            </a:r>
          </a:p>
        </p:txBody>
      </p:sp>
    </p:spTree>
  </p:cSld>
  <p:clrMapOvr>
    <a:masterClrMapping/>
  </p:clrMapOvr>
</p:sld>
</file>

<file path=ppt/slides/slide554.xml><?xml version="1.0" encoding="utf-8"?>
<p:sld xmlns:a="http://schemas.openxmlformats.org/drawingml/2006/main" xmlns:r="http://schemas.openxmlformats.org/officeDocument/2006/relationships" xmlns:p="http://schemas.openxmlformats.org/presentationml/2006/main">
  <p:cSld>
    <p:spTree>
      <p:nvGrpSpPr>
        <p:cNvPr id="1243" name=""/>
        <p:cNvGrpSpPr/>
        <p:nvPr/>
      </p:nvGrpSpPr>
      <p:grpSpPr>
        <a:xfrm>
          <a:off x="0" y="0"/>
          <a:ext cx="0" cy="0"/>
          <a:chOff x="0" y="0"/>
          <a:chExt cx="0" cy="0"/>
        </a:xfrm>
      </p:grpSpPr>
      <p:sp>
        <p:nvSpPr>
          <p:cNvPr id="1049716" name="Content Placeholder 2"/>
          <p:cNvSpPr>
            <a:spLocks noGrp="1"/>
          </p:cNvSpPr>
          <p:nvPr>
            <p:ph idx="1"/>
          </p:nvPr>
        </p:nvSpPr>
        <p:spPr>
          <a:xfrm>
            <a:off x="838204" y="135466"/>
            <a:ext cx="10515600" cy="6468526"/>
          </a:xfrm>
        </p:spPr>
        <p:txBody>
          <a:bodyPr>
            <a:normAutofit/>
          </a:bodyPr>
          <a:p>
            <a:r>
              <a:rPr b="1"/>
              <a:t>Expected Pharmacological Action </a:t>
            </a:r>
            <a:endParaRPr b="1"/>
          </a:p>
          <a:p>
            <a:r>
              <a:t> These medications prevent </a:t>
            </a:r>
            <a:r>
              <a:rPr b="1"/>
              <a:t>inflammation</a:t>
            </a:r>
            <a:r>
              <a:t>, </a:t>
            </a:r>
            <a:r>
              <a:rPr b="1"/>
              <a:t>suppress airway mucus production</a:t>
            </a:r>
            <a:r>
              <a:t>, and promote responsiveness of beta2 receptors in the bronchial tree. </a:t>
            </a:r>
          </a:p>
          <a:p>
            <a:r>
              <a:t> The use of glucocorticoids does not provide immediate effects, but rather promotes decreased frequency and severity of exacerbations and acute attacks. </a:t>
            </a:r>
          </a:p>
          <a:p>
            <a:r>
              <a:rPr b="1"/>
              <a:t> Therapeutic Uses </a:t>
            </a:r>
            <a:endParaRPr b="1"/>
          </a:p>
          <a:p>
            <a:r>
              <a:t> Short-term IV agents are used for status asthmaticus. </a:t>
            </a:r>
          </a:p>
          <a:p>
            <a:r>
              <a:t>Inhaled agents are used for long-term prophylaxis of asthma. </a:t>
            </a:r>
          </a:p>
          <a:p>
            <a:r>
              <a:t> Short-term oral therapy is used to treat symptoms following an acute asthma attack. </a:t>
            </a:r>
          </a:p>
          <a:p>
            <a:r>
              <a:t>Long-term oral therapy is used to treat chronic asthma. </a:t>
            </a:r>
          </a:p>
          <a:p>
            <a:r>
              <a:t> Replacement therapy is used for primary adrenocortical insufficiency. </a:t>
            </a:r>
          </a:p>
          <a:p>
            <a:r>
              <a:rPr b="1"/>
              <a:t>Promote lung maturity </a:t>
            </a:r>
            <a:r>
              <a:t>and </a:t>
            </a:r>
            <a:r>
              <a:rPr b="1"/>
              <a:t>decrease respiratory distress </a:t>
            </a:r>
            <a:r>
              <a:t>in fetuses at risk for preterm birth</a:t>
            </a:r>
          </a:p>
        </p:txBody>
      </p:sp>
    </p:spTree>
  </p:cSld>
  <p:clrMapOvr>
    <a:masterClrMapping/>
  </p:clrMapOvr>
</p:sld>
</file>

<file path=ppt/slides/slide555.xml><?xml version="1.0" encoding="utf-8"?>
<p:sld xmlns:a="http://schemas.openxmlformats.org/drawingml/2006/main" xmlns:r="http://schemas.openxmlformats.org/officeDocument/2006/relationships" xmlns:p="http://schemas.openxmlformats.org/presentationml/2006/main">
  <p:cSld>
    <p:spTree>
      <p:nvGrpSpPr>
        <p:cNvPr id="1244" name=""/>
        <p:cNvGrpSpPr/>
        <p:nvPr/>
      </p:nvGrpSpPr>
      <p:grpSpPr>
        <a:xfrm>
          <a:off x="0" y="0"/>
          <a:ext cx="0" cy="0"/>
          <a:chOff x="0" y="0"/>
          <a:chExt cx="0" cy="0"/>
        </a:xfrm>
      </p:grpSpPr>
      <p:sp>
        <p:nvSpPr>
          <p:cNvPr id="1049717" name="Title 1"/>
          <p:cNvSpPr>
            <a:spLocks noGrp="1"/>
          </p:cNvSpPr>
          <p:nvPr>
            <p:ph type="title"/>
          </p:nvPr>
        </p:nvSpPr>
        <p:spPr/>
        <p:txBody>
          <a:bodyPr/>
          <a:p>
            <a:r>
              <a:rPr sz="2800">
                <a:solidFill>
                  <a:srgbClr val="000000"/>
                </a:solidFill>
                <a:latin typeface="Calibri"/>
                <a:ea typeface="+mn-ea"/>
                <a:cs typeface="+mn-cs"/>
              </a:rPr>
              <a:t>Side/Adverse Effects Nursing Interventions/Client Education</a:t>
            </a:r>
          </a:p>
        </p:txBody>
      </p:sp>
      <p:sp>
        <p:nvSpPr>
          <p:cNvPr id="1049718" name="Content Placeholder 2"/>
          <p:cNvSpPr>
            <a:spLocks noGrp="1"/>
          </p:cNvSpPr>
          <p:nvPr>
            <p:ph idx="1"/>
          </p:nvPr>
        </p:nvSpPr>
        <p:spPr/>
        <p:txBody>
          <a:bodyPr/>
          <a:p>
            <a:pPr indent="0" marL="0">
              <a:buNone/>
            </a:pPr>
            <a:r>
              <a:rPr b="1"/>
              <a:t>Beclomethasone dipropionate </a:t>
            </a:r>
            <a:endParaRPr b="1"/>
          </a:p>
          <a:p>
            <a:pPr indent="0" marL="0">
              <a:buNone/>
            </a:pPr>
            <a:r>
              <a:t>Difficulty speaking, hoarseness, and candidiasis </a:t>
            </a:r>
          </a:p>
          <a:p>
            <a:r>
              <a:t> Advise clients to use a spacer with MDI. </a:t>
            </a:r>
          </a:p>
          <a:p>
            <a:r>
              <a:t> Advise clients to rinse mouth or gargle with water or salt water after use. </a:t>
            </a:r>
          </a:p>
          <a:p>
            <a:r>
              <a:t> Advise clients to monitor for redness, sores, or white patches and to report to provider if they occur.</a:t>
            </a:r>
          </a:p>
          <a:p>
            <a:r>
              <a:t>Candidiasis may be treated with nystatin oral suspension.</a:t>
            </a:r>
          </a:p>
        </p:txBody>
      </p:sp>
    </p:spTree>
  </p:cSld>
  <p:clrMapOvr>
    <a:masterClrMapping/>
  </p:clrMapOvr>
</p:sld>
</file>

<file path=ppt/slides/slide556.xml><?xml version="1.0" encoding="utf-8"?>
<p:sld xmlns:a="http://schemas.openxmlformats.org/drawingml/2006/main" xmlns:r="http://schemas.openxmlformats.org/officeDocument/2006/relationships" xmlns:p="http://schemas.openxmlformats.org/presentationml/2006/main">
  <p:cSld>
    <p:spTree>
      <p:nvGrpSpPr>
        <p:cNvPr id="1245" name=""/>
        <p:cNvGrpSpPr/>
        <p:nvPr/>
      </p:nvGrpSpPr>
      <p:grpSpPr>
        <a:xfrm>
          <a:off x="0" y="0"/>
          <a:ext cx="0" cy="0"/>
          <a:chOff x="0" y="0"/>
          <a:chExt cx="0" cy="0"/>
        </a:xfrm>
      </p:grpSpPr>
      <p:sp>
        <p:nvSpPr>
          <p:cNvPr id="1049719" name="Title 1"/>
          <p:cNvSpPr>
            <a:spLocks noGrp="1"/>
          </p:cNvSpPr>
          <p:nvPr>
            <p:ph type="title"/>
          </p:nvPr>
        </p:nvSpPr>
        <p:spPr/>
        <p:txBody>
          <a:bodyPr/>
          <a:p>
            <a:r>
              <a:t>prednisolone when used for more than 10 days</a:t>
            </a:r>
          </a:p>
        </p:txBody>
      </p:sp>
      <p:sp>
        <p:nvSpPr>
          <p:cNvPr id="1049720" name="Content Placeholder 2"/>
          <p:cNvSpPr>
            <a:spLocks noGrp="1"/>
          </p:cNvSpPr>
          <p:nvPr>
            <p:ph idx="1"/>
          </p:nvPr>
        </p:nvSpPr>
        <p:spPr/>
        <p:txBody>
          <a:bodyPr>
            <a:normAutofit/>
          </a:bodyPr>
          <a:p>
            <a:r>
              <a:t>Suppression of adrenal gland function, such as a decrease in the ability of the adrenal cortex to produce glucocorticoids: Can occur with inhaled agents and oral agents </a:t>
            </a:r>
          </a:p>
          <a:p>
            <a:pPr indent="0" marL="0">
              <a:buNone/>
            </a:pPr>
            <a:r>
              <a:t>Taper the client’s dose. </a:t>
            </a:r>
          </a:p>
          <a:p>
            <a:r>
              <a:t>Bone loss (can occur with inhaled agents and oral agents) </a:t>
            </a:r>
          </a:p>
          <a:p>
            <a:r>
              <a:t>Myopathy as evidenced by muscle weakness</a:t>
            </a:r>
          </a:p>
          <a:p>
            <a:r>
              <a:t> Hyperglycemia and glycosuria </a:t>
            </a:r>
          </a:p>
          <a:p>
            <a:r>
              <a:t>Myopathy as evidenced by muscle weakness a</a:t>
            </a:r>
          </a:p>
          <a:p>
            <a:r>
              <a:t> Peptic ulcer disease</a:t>
            </a:r>
          </a:p>
          <a:p>
            <a:r>
              <a:t>Infection  </a:t>
            </a:r>
          </a:p>
          <a:p>
            <a:r>
              <a:t>Disturbances of fluid and electrolytes (fluid retention as evidenced by weight gain, and edema and hypokalemia as evidenced by muscle weakness) </a:t>
            </a:r>
          </a:p>
          <a:p/>
          <a:p/>
          <a:p/>
          <a:p>
            <a:pPr indent="0" marL="0">
              <a:buNone/>
            </a:pPr>
          </a:p>
          <a:p/>
        </p:txBody>
      </p:sp>
    </p:spTree>
  </p:cSld>
  <p:clrMapOvr>
    <a:masterClrMapping/>
  </p:clrMapOvr>
</p:sld>
</file>

<file path=ppt/slides/slide557.xml><?xml version="1.0" encoding="utf-8"?>
<p:sld xmlns:a="http://schemas.openxmlformats.org/drawingml/2006/main" xmlns:r="http://schemas.openxmlformats.org/officeDocument/2006/relationships" xmlns:p="http://schemas.openxmlformats.org/presentationml/2006/main">
  <p:cSld>
    <p:spTree>
      <p:nvGrpSpPr>
        <p:cNvPr id="1246" name=""/>
        <p:cNvGrpSpPr/>
        <p:nvPr/>
      </p:nvGrpSpPr>
      <p:grpSpPr>
        <a:xfrm>
          <a:off x="0" y="0"/>
          <a:ext cx="0" cy="0"/>
          <a:chOff x="0" y="0"/>
          <a:chExt cx="0" cy="0"/>
        </a:xfrm>
      </p:grpSpPr>
      <p:sp>
        <p:nvSpPr>
          <p:cNvPr id="1049721" name="Content Placeholder 2"/>
          <p:cNvSpPr>
            <a:spLocks noGrp="1"/>
          </p:cNvSpPr>
          <p:nvPr>
            <p:ph idx="1"/>
          </p:nvPr>
        </p:nvSpPr>
        <p:spPr>
          <a:xfrm>
            <a:off x="838204" y="158041"/>
            <a:ext cx="10515600" cy="6536266"/>
          </a:xfrm>
        </p:spPr>
        <p:txBody>
          <a:bodyPr>
            <a:normAutofit/>
          </a:bodyPr>
          <a:p>
            <a:pPr indent="0" marL="0">
              <a:buNone/>
            </a:pPr>
            <a:r>
              <a:rPr b="1"/>
              <a:t>Contraindications/Precautions</a:t>
            </a:r>
            <a:endParaRPr b="1"/>
          </a:p>
          <a:p>
            <a:r>
              <a:t>Pregnancy risk category C </a:t>
            </a:r>
          </a:p>
          <a:p>
            <a:r>
              <a:t> Contraindicated in clients who have received a live virus vaccine </a:t>
            </a:r>
          </a:p>
          <a:p>
            <a:r>
              <a:t> Contraindicated in clients with systemic fungal infections </a:t>
            </a:r>
          </a:p>
          <a:p>
            <a:r>
              <a:t> Use cautiously in children, and in clients who have diabetes, hypertension, peptic ulcer disease, and/or renal dysfunction. </a:t>
            </a:r>
          </a:p>
          <a:p>
            <a:r>
              <a:t> Use cautiously in clients taking NSAIDs.</a:t>
            </a:r>
          </a:p>
          <a:p>
            <a:pPr indent="0" marL="0">
              <a:buNone/>
            </a:pPr>
            <a:r>
              <a:t> </a:t>
            </a:r>
            <a:r>
              <a:rPr b="1"/>
              <a:t>Medication/Food Interactions </a:t>
            </a:r>
            <a:endParaRPr b="1"/>
          </a:p>
          <a:p>
            <a:r>
              <a:t>Concurrent use of potassium-depleting diuretics increases the risk of hypokalemia.</a:t>
            </a:r>
          </a:p>
          <a:p>
            <a:r>
              <a:t> Concurrent use of NSAIDs increases the risk of GI ulceration. Concurrent use of glucocorticoids and hypoglycemic agents (oral and insulin) will counteract the effects</a:t>
            </a:r>
            <a:endParaRPr b="1"/>
          </a:p>
          <a:p>
            <a:endParaRPr i="1"/>
          </a:p>
        </p:txBody>
      </p:sp>
    </p:spTree>
  </p:cSld>
  <p:clrMapOvr>
    <a:masterClrMapping/>
  </p:clrMapOvr>
</p:sld>
</file>

<file path=ppt/slides/slide558.xml><?xml version="1.0" encoding="utf-8"?>
<p:sld xmlns:a="http://schemas.openxmlformats.org/drawingml/2006/main" xmlns:r="http://schemas.openxmlformats.org/officeDocument/2006/relationships" xmlns:p="http://schemas.openxmlformats.org/presentationml/2006/main">
  <p:cSld>
    <p:spTree>
      <p:nvGrpSpPr>
        <p:cNvPr id="1247" name=""/>
        <p:cNvGrpSpPr/>
        <p:nvPr/>
      </p:nvGrpSpPr>
      <p:grpSpPr>
        <a:xfrm>
          <a:off x="0" y="0"/>
          <a:ext cx="0" cy="0"/>
          <a:chOff x="0" y="0"/>
          <a:chExt cx="0" cy="0"/>
        </a:xfrm>
      </p:grpSpPr>
      <p:sp>
        <p:nvSpPr>
          <p:cNvPr id="1049722" name="Content Placeholder 2"/>
          <p:cNvSpPr>
            <a:spLocks noGrp="1"/>
          </p:cNvSpPr>
          <p:nvPr>
            <p:ph idx="1"/>
          </p:nvPr>
        </p:nvSpPr>
        <p:spPr>
          <a:xfrm>
            <a:off x="838204" y="180616"/>
            <a:ext cx="10515600" cy="6513690"/>
          </a:xfrm>
        </p:spPr>
        <p:txBody>
          <a:bodyPr>
            <a:normAutofit/>
          </a:bodyPr>
          <a:p>
            <a:pPr indent="0" marL="0">
              <a:buNone/>
            </a:pPr>
            <a:r>
              <a:rPr b="1"/>
              <a:t>Nursing Administration </a:t>
            </a:r>
            <a:endParaRPr b="1"/>
          </a:p>
          <a:p>
            <a:r>
              <a:t> Instruct clients to use glucocorticoid inhalers on a regular, fixed schedule for long-term therapy of asthma.</a:t>
            </a:r>
          </a:p>
          <a:p>
            <a:r>
              <a:t> Glucocorticoids are not to be used to treat an acute attack. </a:t>
            </a:r>
          </a:p>
          <a:p>
            <a:r>
              <a:t> Administer using an MDI device, DPI, or nebulizer. </a:t>
            </a:r>
          </a:p>
          <a:p>
            <a:r>
              <a:t> When a client is prescribed an inhaled beta2-agonist and an inhaled glucocorticoid, advise the client to inhale the beta2-agonist before inhaling the glucocorticoid. The beta2-agonist promotes bronchodilation and enhances absorption of the glucocorticoid. </a:t>
            </a:r>
          </a:p>
          <a:p>
            <a:r>
              <a:t> Oral glucocorticoids are used short-term, 3 to 10 days following an acute asthma attack. </a:t>
            </a:r>
          </a:p>
          <a:p>
            <a:r>
              <a:t> If client is on long-term oral therapy, additional dosages of oral glucocorticoids are required in times of stress (infection, trauma). </a:t>
            </a:r>
          </a:p>
          <a:p>
            <a:r>
              <a:t> Clients who discontinue oral glucocorticoid medications or switch from oral to inhaled agents require additional doses of glucocorticoids during periods of stress.</a:t>
            </a:r>
          </a:p>
        </p:txBody>
      </p:sp>
    </p:spTree>
  </p:cSld>
  <p:clrMapOvr>
    <a:masterClrMapping/>
  </p:clrMapOvr>
</p:sld>
</file>

<file path=ppt/slides/slide559.xml><?xml version="1.0" encoding="utf-8"?>
<p:sld xmlns:a="http://schemas.openxmlformats.org/drawingml/2006/main" xmlns:r="http://schemas.openxmlformats.org/officeDocument/2006/relationships" xmlns:p="http://schemas.openxmlformats.org/presentationml/2006/main">
  <p:cSld>
    <p:spTree>
      <p:nvGrpSpPr>
        <p:cNvPr id="1248" name=""/>
        <p:cNvGrpSpPr/>
        <p:nvPr/>
      </p:nvGrpSpPr>
      <p:grpSpPr>
        <a:xfrm>
          <a:off x="0" y="0"/>
          <a:ext cx="0" cy="0"/>
          <a:chOff x="0" y="0"/>
          <a:chExt cx="0" cy="0"/>
        </a:xfrm>
      </p:grpSpPr>
      <p:sp>
        <p:nvSpPr>
          <p:cNvPr id="1049723" name="Title 1"/>
          <p:cNvSpPr>
            <a:spLocks noGrp="1"/>
          </p:cNvSpPr>
          <p:nvPr>
            <p:ph type="title"/>
          </p:nvPr>
        </p:nvSpPr>
        <p:spPr/>
        <p:txBody>
          <a:bodyPr/>
          <a:p>
            <a:r>
              <a:rPr b="1" sz="4000">
                <a:solidFill>
                  <a:srgbClr val="000000"/>
                </a:solidFill>
              </a:rPr>
              <a:t>MASTCELL STABILIZERS ANTI INFLATORY DRUGS </a:t>
            </a:r>
            <a:r>
              <a:rPr sz="4000">
                <a:solidFill>
                  <a:srgbClr val="000000"/>
                </a:solidFill>
              </a:rPr>
              <a:t>(</a:t>
            </a:r>
            <a:r>
              <a:rPr sz="2800">
                <a:solidFill>
                  <a:srgbClr val="000000"/>
                </a:solidFill>
                <a:latin typeface="Calibri"/>
              </a:rPr>
              <a:t>cromolyn sodium (Intal)</a:t>
            </a:r>
            <a:endParaRPr sz="2800"/>
          </a:p>
        </p:txBody>
      </p:sp>
      <p:sp>
        <p:nvSpPr>
          <p:cNvPr id="1049724" name="Content Placeholder 2"/>
          <p:cNvSpPr>
            <a:spLocks noGrp="1"/>
          </p:cNvSpPr>
          <p:nvPr>
            <p:ph idx="1"/>
          </p:nvPr>
        </p:nvSpPr>
        <p:spPr/>
        <p:txBody>
          <a:bodyPr/>
          <a:p>
            <a:pPr indent="0" marL="0">
              <a:buNone/>
            </a:pPr>
            <a:r>
              <a:rPr>
                <a:solidFill>
                  <a:srgbClr val="000000"/>
                </a:solidFill>
              </a:rPr>
              <a:t> others are</a:t>
            </a:r>
            <a:r>
              <a:rPr b="1">
                <a:solidFill>
                  <a:srgbClr val="000000"/>
                </a:solidFill>
              </a:rPr>
              <a:t>: </a:t>
            </a:r>
            <a:r>
              <a:rPr>
                <a:solidFill>
                  <a:srgbClr val="000000"/>
                </a:solidFill>
              </a:rPr>
              <a:t>nedocromil sodium (Tilade)</a:t>
            </a:r>
            <a:endParaRPr>
              <a:solidFill>
                <a:srgbClr val="000000"/>
              </a:solidFill>
            </a:endParaRPr>
          </a:p>
          <a:p>
            <a:pPr indent="0" marL="0">
              <a:buNone/>
            </a:pPr>
            <a:r>
              <a:rPr b="1">
                <a:solidFill>
                  <a:srgbClr val="000000"/>
                </a:solidFill>
              </a:rPr>
              <a:t>Expected Pharmacological Action </a:t>
            </a:r>
            <a:endParaRPr b="1">
              <a:solidFill>
                <a:srgbClr val="000000"/>
              </a:solidFill>
            </a:endParaRPr>
          </a:p>
          <a:p>
            <a:r>
              <a:rPr>
                <a:solidFill>
                  <a:srgbClr val="000000"/>
                </a:solidFill>
              </a:rPr>
              <a:t> Anti-inflammatory action </a:t>
            </a:r>
            <a:endParaRPr>
              <a:solidFill>
                <a:srgbClr val="000000"/>
              </a:solidFill>
            </a:endParaRPr>
          </a:p>
          <a:p>
            <a:r>
              <a:rPr>
                <a:solidFill>
                  <a:srgbClr val="000000"/>
                </a:solidFill>
              </a:rPr>
              <a:t> These medications stabilize mast cells, which inhibits the release of histamine and other inflammatory mediators. </a:t>
            </a:r>
            <a:endParaRPr>
              <a:solidFill>
                <a:srgbClr val="000000"/>
              </a:solidFill>
            </a:endParaRPr>
          </a:p>
          <a:p>
            <a:r>
              <a:rPr>
                <a:solidFill>
                  <a:srgbClr val="000000"/>
                </a:solidFill>
              </a:rPr>
              <a:t> These medications suppress inflammatory cells (eosinophils, macrophages).</a:t>
            </a:r>
            <a:endParaRPr>
              <a:solidFill>
                <a:srgbClr val="000000"/>
              </a:solidFill>
            </a:endParaRPr>
          </a:p>
          <a:p>
            <a:pPr indent="0" marL="0">
              <a:buNone/>
            </a:pPr>
            <a:r>
              <a:rPr>
                <a:solidFill>
                  <a:srgbClr val="000000"/>
                </a:solidFill>
              </a:rPr>
              <a:t> </a:t>
            </a:r>
            <a:r>
              <a:rPr b="1" sz="2600">
                <a:solidFill>
                  <a:srgbClr val="000000"/>
                </a:solidFill>
              </a:rPr>
              <a:t>Complications</a:t>
            </a:r>
            <a:r>
              <a:rPr sz="2600">
                <a:solidFill>
                  <a:srgbClr val="000000"/>
                </a:solidFill>
              </a:rPr>
              <a:t>  Safest of all asthma medications,  Safe to use for children </a:t>
            </a:r>
            <a:endParaRPr>
              <a:solidFill>
                <a:srgbClr val="000000"/>
              </a:solidFill>
            </a:endParaRPr>
          </a:p>
          <a:p/>
        </p:txBody>
      </p:sp>
    </p:spTree>
  </p:cSld>
  <p:clrMapOvr>
    <a:masterClrMapping/>
  </p:clrMapOvr>
</p:sld>
</file>

<file path=ppt/slides/slide560.xml><?xml version="1.0" encoding="utf-8"?>
<p:sld xmlns:a="http://schemas.openxmlformats.org/drawingml/2006/main" xmlns:r="http://schemas.openxmlformats.org/officeDocument/2006/relationships" xmlns:p="http://schemas.openxmlformats.org/presentationml/2006/main">
  <p:cSld>
    <p:spTree>
      <p:nvGrpSpPr>
        <p:cNvPr id="1249" name=""/>
        <p:cNvGrpSpPr/>
        <p:nvPr/>
      </p:nvGrpSpPr>
      <p:grpSpPr>
        <a:xfrm>
          <a:off x="0" y="0"/>
          <a:ext cx="0" cy="0"/>
          <a:chOff x="0" y="0"/>
          <a:chExt cx="0" cy="0"/>
        </a:xfrm>
      </p:grpSpPr>
      <p:sp>
        <p:nvSpPr>
          <p:cNvPr id="1049725" name="Title 1"/>
          <p:cNvSpPr>
            <a:spLocks noGrp="1"/>
          </p:cNvSpPr>
          <p:nvPr>
            <p:ph type="title"/>
          </p:nvPr>
        </p:nvSpPr>
        <p:spPr/>
        <p:txBody>
          <a:bodyPr/>
          <a:p>
            <a:r>
              <a:rPr b="1"/>
              <a:t>therapeutic uses</a:t>
            </a:r>
            <a:endParaRPr b="1"/>
          </a:p>
        </p:txBody>
      </p:sp>
      <p:sp>
        <p:nvSpPr>
          <p:cNvPr id="1049726" name="Content Placeholder 2"/>
          <p:cNvSpPr>
            <a:spLocks noGrp="1"/>
          </p:cNvSpPr>
          <p:nvPr>
            <p:ph idx="1"/>
          </p:nvPr>
        </p:nvSpPr>
        <p:spPr/>
        <p:txBody>
          <a:bodyPr>
            <a:normAutofit/>
          </a:bodyPr>
          <a:p>
            <a:r>
              <a:rPr sz="2400">
                <a:solidFill>
                  <a:srgbClr val="000000"/>
                </a:solidFill>
              </a:rPr>
              <a:t> </a:t>
            </a:r>
            <a:r>
              <a:rPr sz="2600">
                <a:solidFill>
                  <a:srgbClr val="000000"/>
                </a:solidFill>
              </a:rPr>
              <a:t>Management of chronic asthma </a:t>
            </a:r>
            <a:endParaRPr sz="2600">
              <a:solidFill>
                <a:srgbClr val="000000"/>
              </a:solidFill>
            </a:endParaRPr>
          </a:p>
          <a:p>
            <a:r>
              <a:rPr sz="2600">
                <a:solidFill>
                  <a:srgbClr val="000000"/>
                </a:solidFill>
              </a:rPr>
              <a:t>Prophylaxis of exercise-induced asthma </a:t>
            </a:r>
            <a:endParaRPr sz="2600">
              <a:solidFill>
                <a:srgbClr val="000000"/>
              </a:solidFill>
            </a:endParaRPr>
          </a:p>
          <a:p>
            <a:r>
              <a:rPr sz="2600">
                <a:solidFill>
                  <a:srgbClr val="000000"/>
                </a:solidFill>
              </a:rPr>
              <a:t> Prevention of allergen-induced attack </a:t>
            </a:r>
            <a:endParaRPr sz="2600">
              <a:solidFill>
                <a:srgbClr val="000000"/>
              </a:solidFill>
            </a:endParaRPr>
          </a:p>
          <a:p>
            <a:r>
              <a:rPr sz="2600">
                <a:solidFill>
                  <a:srgbClr val="000000"/>
                </a:solidFill>
              </a:rPr>
              <a:t> Allergic rhinitis by intranasal route </a:t>
            </a:r>
            <a:endParaRPr sz="2600">
              <a:solidFill>
                <a:srgbClr val="000000"/>
              </a:solidFill>
            </a:endParaRPr>
          </a:p>
          <a:p>
            <a:r>
              <a:rPr sz="2600">
                <a:solidFill>
                  <a:srgbClr val="000000"/>
                </a:solidFill>
              </a:rPr>
              <a:t> Route of administration: inhalation </a:t>
            </a:r>
            <a:endParaRPr sz="2600">
              <a:solidFill>
                <a:srgbClr val="000000"/>
              </a:solidFill>
            </a:endParaRPr>
          </a:p>
          <a:p>
            <a:pPr indent="0" marL="0">
              <a:buNone/>
            </a:pPr>
            <a:r>
              <a:rPr b="1" sz="2600">
                <a:solidFill>
                  <a:srgbClr val="000000"/>
                </a:solidFill>
              </a:rPr>
              <a:t>Contraindications/Precautions </a:t>
            </a:r>
            <a:endParaRPr b="1" sz="2600">
              <a:solidFill>
                <a:srgbClr val="000000"/>
              </a:solidFill>
            </a:endParaRPr>
          </a:p>
          <a:p>
            <a:r>
              <a:rPr sz="2600">
                <a:solidFill>
                  <a:srgbClr val="000000"/>
                </a:solidFill>
              </a:rPr>
              <a:t> These agents are Pregnancy Risk Category B. </a:t>
            </a:r>
            <a:endParaRPr sz="2600">
              <a:solidFill>
                <a:srgbClr val="000000"/>
              </a:solidFill>
            </a:endParaRPr>
          </a:p>
          <a:p>
            <a:r>
              <a:rPr sz="2600">
                <a:solidFill>
                  <a:srgbClr val="000000"/>
                </a:solidFill>
              </a:rPr>
              <a:t> Fluorocarbons in aerosols make this medication contraindicated for clients who have coronary artery disease, dysrhythmias, and status asthmaticus. </a:t>
            </a:r>
            <a:endParaRPr sz="2600">
              <a:solidFill>
                <a:srgbClr val="000000"/>
              </a:solidFill>
            </a:endParaRPr>
          </a:p>
          <a:p>
            <a:r>
              <a:rPr sz="2600">
                <a:solidFill>
                  <a:srgbClr val="000000"/>
                </a:solidFill>
              </a:rPr>
              <a:t>Use cautiously in clients with liver and kidney impairment. </a:t>
            </a:r>
            <a:endParaRPr sz="2600">
              <a:solidFill>
                <a:srgbClr val="000000"/>
              </a:solidFill>
            </a:endParaRPr>
          </a:p>
          <a:p/>
        </p:txBody>
      </p:sp>
    </p:spTree>
  </p:cSld>
  <p:clrMapOvr>
    <a:masterClrMapping/>
  </p:clrMapOvr>
</p:sld>
</file>

<file path=ppt/slides/slide561.xml><?xml version="1.0" encoding="utf-8"?>
<p:sld xmlns:a="http://schemas.openxmlformats.org/drawingml/2006/main" xmlns:r="http://schemas.openxmlformats.org/officeDocument/2006/relationships" xmlns:p="http://schemas.openxmlformats.org/presentationml/2006/main">
  <p:cSld>
    <p:spTree>
      <p:nvGrpSpPr>
        <p:cNvPr id="1250" name=""/>
        <p:cNvGrpSpPr/>
        <p:nvPr/>
      </p:nvGrpSpPr>
      <p:grpSpPr>
        <a:xfrm>
          <a:off x="0" y="0"/>
          <a:ext cx="0" cy="0"/>
          <a:chOff x="0" y="0"/>
          <a:chExt cx="0" cy="0"/>
        </a:xfrm>
      </p:grpSpPr>
      <p:sp>
        <p:nvSpPr>
          <p:cNvPr id="1049727" name="Content Placeholder 2"/>
          <p:cNvSpPr>
            <a:spLocks noGrp="1"/>
          </p:cNvSpPr>
          <p:nvPr>
            <p:ph idx="1"/>
          </p:nvPr>
        </p:nvSpPr>
        <p:spPr>
          <a:xfrm>
            <a:off x="838204" y="214493"/>
            <a:ext cx="10515600" cy="6434663"/>
          </a:xfrm>
        </p:spPr>
        <p:txBody>
          <a:bodyPr/>
          <a:p>
            <a:pPr indent="0" marL="0">
              <a:buNone/>
            </a:pPr>
            <a:r>
              <a:rPr b="1"/>
              <a:t>Nursing Administration </a:t>
            </a:r>
            <a:endParaRPr b="1"/>
          </a:p>
          <a:p>
            <a:r>
              <a:t> Advise clients to take medication 15 min before exercise or exposure to allergen. </a:t>
            </a:r>
          </a:p>
          <a:p>
            <a:r>
              <a:t> Advise clients that long-term prophylaxis may take several weeks for full therapeutic effects to be established. </a:t>
            </a:r>
          </a:p>
          <a:p>
            <a:r>
              <a:t> Advise clients that this is not a bronchodilator and is not intended for aborting an asthmatic attack. </a:t>
            </a:r>
          </a:p>
          <a:p>
            <a:r>
              <a:t>Instruct clients in the proper use of administration devices (nebulizer, MDI).</a:t>
            </a:r>
          </a:p>
        </p:txBody>
      </p:sp>
    </p:spTree>
  </p:cSld>
  <p:clrMapOvr>
    <a:masterClrMapping/>
  </p:clrMapOvr>
</p:sld>
</file>

<file path=ppt/slides/slide562.xml><?xml version="1.0" encoding="utf-8"?>
<p:sld xmlns:a="http://schemas.openxmlformats.org/drawingml/2006/main" xmlns:r="http://schemas.openxmlformats.org/officeDocument/2006/relationships" xmlns:p="http://schemas.openxmlformats.org/presentationml/2006/main">
  <p:cSld>
    <p:spTree>
      <p:nvGrpSpPr>
        <p:cNvPr id="1251" name=""/>
        <p:cNvGrpSpPr/>
        <p:nvPr/>
      </p:nvGrpSpPr>
      <p:grpSpPr>
        <a:xfrm>
          <a:off x="0" y="0"/>
          <a:ext cx="0" cy="0"/>
          <a:chOff x="0" y="0"/>
          <a:chExt cx="0" cy="0"/>
        </a:xfrm>
      </p:grpSpPr>
      <p:sp>
        <p:nvSpPr>
          <p:cNvPr id="1049728" name="Title 1"/>
          <p:cNvSpPr>
            <a:spLocks noGrp="1"/>
          </p:cNvSpPr>
          <p:nvPr>
            <p:ph type="title"/>
          </p:nvPr>
        </p:nvSpPr>
        <p:spPr/>
        <p:txBody>
          <a:bodyPr/>
          <a:p>
            <a:r>
              <a:rPr b="1"/>
              <a:t>                  LEUKOTRIENE MODIFIERS</a:t>
            </a:r>
            <a:endParaRPr b="1"/>
          </a:p>
        </p:txBody>
      </p:sp>
      <p:sp>
        <p:nvSpPr>
          <p:cNvPr id="1049729" name="Content Placeholder 2"/>
          <p:cNvSpPr>
            <a:spLocks noGrp="1"/>
          </p:cNvSpPr>
          <p:nvPr>
            <p:ph idx="1"/>
          </p:nvPr>
        </p:nvSpPr>
        <p:spPr/>
        <p:txBody>
          <a:bodyPr>
            <a:normAutofit/>
          </a:bodyPr>
          <a:p>
            <a:pPr indent="0" marL="0">
              <a:buNone/>
            </a:pPr>
            <a:r>
              <a:t>leukotriene receptor antagonist ;</a:t>
            </a:r>
          </a:p>
          <a:p>
            <a:r>
              <a:t>Montelukast (Singulair) </a:t>
            </a:r>
          </a:p>
          <a:p>
            <a:r>
              <a:t> Zileuton (Zyflo),</a:t>
            </a:r>
          </a:p>
          <a:p>
            <a:r>
              <a:t> Zafirlukast (Accolate) </a:t>
            </a:r>
          </a:p>
          <a:p>
            <a:pPr indent="0" marL="0">
              <a:buNone/>
            </a:pPr>
            <a:r>
              <a:rPr b="1"/>
              <a:t>Expected Pharmacological Action </a:t>
            </a:r>
            <a:endParaRPr b="1"/>
          </a:p>
          <a:p>
            <a:pPr indent="0" marL="0">
              <a:buNone/>
            </a:pPr>
            <a:r>
              <a:t> Leukotriene modifiers prevent the effects of leukotrienes, thereby suppressing inflammation, bronchoconstriction, airway edema, and mucus production. </a:t>
            </a:r>
          </a:p>
          <a:p>
            <a:pPr indent="0" marL="0">
              <a:buNone/>
            </a:pPr>
            <a:r>
              <a:t> </a:t>
            </a:r>
            <a:r>
              <a:rPr b="1"/>
              <a:t>Therapeutic Uses </a:t>
            </a:r>
            <a:endParaRPr b="1"/>
          </a:p>
          <a:p>
            <a:pPr indent="0" marL="0">
              <a:buNone/>
            </a:pPr>
            <a:r>
              <a:t> Leukotriene modifiers are used for long-term therapy of asthma in adults and children 15 years and older and to prevent exercise-induced bronchospasm. </a:t>
            </a:r>
          </a:p>
          <a:p>
            <a:pPr indent="0" marL="0">
              <a:buNone/>
            </a:pPr>
            <a:r>
              <a:t> </a:t>
            </a:r>
            <a:r>
              <a:rPr b="1"/>
              <a:t>Route of administration</a:t>
            </a:r>
            <a:r>
              <a:t>: oral</a:t>
            </a:r>
          </a:p>
        </p:txBody>
      </p:sp>
    </p:spTree>
  </p:cSld>
  <p:clrMapOvr>
    <a:masterClrMapping/>
  </p:clrMapOvr>
</p:sld>
</file>

<file path=ppt/slides/slide563.xml><?xml version="1.0" encoding="utf-8"?>
<p:sld xmlns:a="http://schemas.openxmlformats.org/drawingml/2006/main" xmlns:r="http://schemas.openxmlformats.org/officeDocument/2006/relationships" xmlns:p="http://schemas.openxmlformats.org/presentationml/2006/main">
  <p:cSld>
    <p:spTree>
      <p:nvGrpSpPr>
        <p:cNvPr id="1252" name=""/>
        <p:cNvGrpSpPr/>
        <p:nvPr/>
      </p:nvGrpSpPr>
      <p:grpSpPr>
        <a:xfrm>
          <a:off x="0" y="0"/>
          <a:ext cx="0" cy="0"/>
          <a:chOff x="0" y="0"/>
          <a:chExt cx="0" cy="0"/>
        </a:xfrm>
      </p:grpSpPr>
      <p:sp>
        <p:nvSpPr>
          <p:cNvPr id="1049730" name="Content Placeholder 2"/>
          <p:cNvSpPr>
            <a:spLocks noGrp="1"/>
          </p:cNvSpPr>
          <p:nvPr>
            <p:ph idx="1"/>
          </p:nvPr>
        </p:nvSpPr>
        <p:spPr>
          <a:xfrm>
            <a:off x="838204" y="248356"/>
            <a:ext cx="10515600" cy="6355649"/>
          </a:xfrm>
        </p:spPr>
        <p:txBody>
          <a:bodyPr>
            <a:normAutofit/>
          </a:bodyPr>
          <a:p>
            <a:pPr indent="0" marL="0">
              <a:buNone/>
            </a:pPr>
            <a:r>
              <a:rPr b="1"/>
              <a:t>Contraindications/Precautions </a:t>
            </a:r>
            <a:endParaRPr b="1"/>
          </a:p>
          <a:p>
            <a:r>
              <a:t>Use cautiously in clients with liver dysfunction</a:t>
            </a:r>
          </a:p>
          <a:p>
            <a:pPr indent="0" marL="0">
              <a:buNone/>
            </a:pPr>
          </a:p>
          <a:p>
            <a:pPr indent="0" marL="0">
              <a:buNone/>
            </a:pPr>
            <a:r>
              <a:t> </a:t>
            </a:r>
            <a:r>
              <a:rPr b="1"/>
              <a:t>Medication/Food Interactions </a:t>
            </a:r>
            <a:endParaRPr b="1"/>
          </a:p>
          <a:p>
            <a:r>
              <a:t>Zileuton and zafirlukast inhibit metabolism of warfarin (Coumadin), leading to increased warfarin levels. </a:t>
            </a:r>
          </a:p>
          <a:p>
            <a:r>
              <a:t>Zileuton and Zafirlukast inhibit metabolism of theophylline, leading to increased theophylline levels.</a:t>
            </a:r>
          </a:p>
          <a:p>
            <a:pPr indent="0" marL="0">
              <a:buNone/>
            </a:pPr>
            <a:r>
              <a:rPr b="1"/>
              <a:t> Nursing Administration </a:t>
            </a:r>
            <a:endParaRPr b="1"/>
          </a:p>
          <a:p>
            <a:r>
              <a:t> Advise clients to take zileuton as prescribed. Zileuton can be given with or without food. </a:t>
            </a:r>
          </a:p>
          <a:p>
            <a:r>
              <a:t> Advise clients that zafirlukast should not be given with food, and to administer it 1 hr. before or 2 hr. after meals. </a:t>
            </a:r>
          </a:p>
          <a:p>
            <a:r>
              <a:t> Advise clients to take Montelukast once daily at bedtime.</a:t>
            </a:r>
          </a:p>
          <a:p/>
        </p:txBody>
      </p:sp>
    </p:spTree>
  </p:cSld>
  <p:clrMapOvr>
    <a:masterClrMapping/>
  </p:clrMapOvr>
</p:sld>
</file>

<file path=ppt/slides/slide564.xml><?xml version="1.0" encoding="utf-8"?>
<p:sld xmlns:a="http://schemas.openxmlformats.org/drawingml/2006/main" xmlns:r="http://schemas.openxmlformats.org/officeDocument/2006/relationships" xmlns:p="http://schemas.openxmlformats.org/presentationml/2006/main">
  <p:cSld>
    <p:spTree>
      <p:nvGrpSpPr>
        <p:cNvPr id="1253" name=""/>
        <p:cNvGrpSpPr/>
        <p:nvPr/>
      </p:nvGrpSpPr>
      <p:grpSpPr>
        <a:xfrm>
          <a:off x="0" y="0"/>
          <a:ext cx="0" cy="0"/>
          <a:chOff x="0" y="0"/>
          <a:chExt cx="0" cy="0"/>
        </a:xfrm>
      </p:grpSpPr>
      <p:sp>
        <p:nvSpPr>
          <p:cNvPr id="1049731" name="Title 1"/>
          <p:cNvSpPr>
            <a:spLocks noGrp="1"/>
          </p:cNvSpPr>
          <p:nvPr>
            <p:ph type="title"/>
          </p:nvPr>
        </p:nvSpPr>
        <p:spPr/>
        <p:txBody>
          <a:bodyPr/>
          <a:p>
            <a:r>
              <a:rPr b="1"/>
              <a:t>Anticholinergic drugs </a:t>
            </a:r>
          </a:p>
        </p:txBody>
      </p:sp>
      <p:sp>
        <p:nvSpPr>
          <p:cNvPr id="1049732" name="Content Placeholder 2"/>
          <p:cNvSpPr>
            <a:spLocks noGrp="1"/>
          </p:cNvSpPr>
          <p:nvPr>
            <p:ph sz="half" idx="1"/>
          </p:nvPr>
        </p:nvSpPr>
        <p:spPr/>
        <p:txBody>
          <a:bodyPr>
            <a:normAutofit fontScale="100000" lnSpcReduction="20000"/>
          </a:bodyPr>
          <a:p>
            <a:pPr lvl="1"/>
            <a:r>
              <a:t>They block the effects of acetylcholine on cholinergic receptors </a:t>
            </a:r>
          </a:p>
          <a:p>
            <a:pPr lvl="1"/>
            <a:r>
              <a:t>Also </a:t>
            </a:r>
            <a:r>
              <a:t>parasympatholytics</a:t>
            </a:r>
            <a:r>
              <a:t> </a:t>
            </a:r>
          </a:p>
          <a:p>
            <a:r>
              <a:rPr b="1"/>
              <a:t>ATROPINE </a:t>
            </a:r>
          </a:p>
          <a:p>
            <a:pPr lvl="1"/>
            <a:r>
              <a:t>Obtained from </a:t>
            </a:r>
            <a:r>
              <a:t>atropa</a:t>
            </a:r>
            <a:r>
              <a:t> belladonna </a:t>
            </a:r>
          </a:p>
          <a:p>
            <a:pPr lvl="1"/>
            <a:r>
              <a:t>MOA </a:t>
            </a:r>
          </a:p>
          <a:p>
            <a:pPr lvl="1"/>
            <a:r>
              <a:t>Bind to muscarinic receptors and block effects of acetylcholine </a:t>
            </a:r>
          </a:p>
          <a:p>
            <a:pPr lvl="1"/>
            <a:r>
              <a:t>The antagonistic effect is reversible by increasing the concentration of the agonist </a:t>
            </a:r>
          </a:p>
          <a:p>
            <a:pPr lvl="1"/>
            <a:r>
              <a:t>It’s a natural alkaloid</a:t>
            </a:r>
          </a:p>
        </p:txBody>
      </p:sp>
      <p:sp>
        <p:nvSpPr>
          <p:cNvPr id="1049733" name="Content Placeholder 3"/>
          <p:cNvSpPr>
            <a:spLocks noGrp="1"/>
          </p:cNvSpPr>
          <p:nvPr>
            <p:ph sz="half" idx="2"/>
          </p:nvPr>
        </p:nvSpPr>
        <p:spPr/>
        <p:txBody>
          <a:bodyPr>
            <a:normAutofit fontScale="100000" lnSpcReduction="20000"/>
          </a:bodyPr>
          <a:p>
            <a:r>
              <a:rPr b="1"/>
              <a:t>Action </a:t>
            </a:r>
          </a:p>
          <a:p>
            <a:pPr lvl="1"/>
            <a:r>
              <a:rPr b="1"/>
              <a:t>CVS</a:t>
            </a:r>
            <a:r>
              <a:t> –increases heart rate </a:t>
            </a:r>
          </a:p>
          <a:p>
            <a:pPr lvl="1"/>
            <a:r>
              <a:t>In large doses vasodilation and hypotension occurs </a:t>
            </a:r>
          </a:p>
          <a:p>
            <a:pPr lvl="1"/>
            <a:r>
              <a:rPr b="1"/>
              <a:t>Secretions –</a:t>
            </a:r>
            <a:r>
              <a:t>it reduces all secretions </a:t>
            </a:r>
            <a:r>
              <a:t>excpt</a:t>
            </a:r>
            <a:r>
              <a:t> milk </a:t>
            </a:r>
          </a:p>
          <a:p>
            <a:pPr lvl="1"/>
            <a:r>
              <a:t>Acts on </a:t>
            </a:r>
            <a:r>
              <a:t>salivary,lacrimal,nasopharyngeal,tracheobronchial</a:t>
            </a:r>
            <a:r>
              <a:t> and gastric secretions reduced </a:t>
            </a:r>
          </a:p>
          <a:p>
            <a:pPr lvl="1"/>
            <a:r>
              <a:rPr b="1"/>
              <a:t>Smooth muscle-</a:t>
            </a:r>
            <a:r>
              <a:t>GIT tone and motility relieves spasms</a:t>
            </a:r>
          </a:p>
          <a:p>
            <a:pPr lvl="1"/>
            <a:r>
              <a:t>Eye –</a:t>
            </a:r>
            <a:r>
              <a:t>mydiriasis</a:t>
            </a:r>
            <a:r>
              <a:t>-on local </a:t>
            </a:r>
            <a:r>
              <a:t>adm</a:t>
            </a:r>
            <a:r>
              <a:t> </a:t>
            </a:r>
          </a:p>
          <a:p>
            <a:pPr lvl="1"/>
            <a:r>
              <a:t>CNS stimulates –</a:t>
            </a:r>
            <a:r>
              <a:t>restlesness</a:t>
            </a:r>
            <a:r>
              <a:t> disorientation </a:t>
            </a:r>
          </a:p>
          <a:p/>
        </p:txBody>
      </p:sp>
    </p:spTree>
  </p:cSld>
  <p:clrMapOvr>
    <a:masterClrMapping/>
  </p:clrMapOvr>
</p:sld>
</file>

<file path=ppt/slides/slide565.xml><?xml version="1.0" encoding="utf-8"?>
<p:sld xmlns:a="http://schemas.openxmlformats.org/drawingml/2006/main" xmlns:r="http://schemas.openxmlformats.org/officeDocument/2006/relationships" xmlns:p="http://schemas.openxmlformats.org/presentationml/2006/main">
  <p:cSld>
    <p:spTree>
      <p:nvGrpSpPr>
        <p:cNvPr id="1254" name=""/>
        <p:cNvGrpSpPr/>
        <p:nvPr/>
      </p:nvGrpSpPr>
      <p:grpSpPr>
        <a:xfrm>
          <a:off x="0" y="0"/>
          <a:ext cx="0" cy="0"/>
          <a:chOff x="0" y="0"/>
          <a:chExt cx="0" cy="0"/>
        </a:xfrm>
      </p:grpSpPr>
      <p:sp>
        <p:nvSpPr>
          <p:cNvPr id="1049734" name="Title 1"/>
          <p:cNvSpPr>
            <a:spLocks noGrp="1"/>
          </p:cNvSpPr>
          <p:nvPr>
            <p:ph type="title"/>
          </p:nvPr>
        </p:nvSpPr>
        <p:spPr/>
        <p:txBody>
          <a:bodyPr/>
          <a:p>
            <a:r>
              <a:t>Atropine </a:t>
            </a:r>
          </a:p>
        </p:txBody>
      </p:sp>
      <p:sp>
        <p:nvSpPr>
          <p:cNvPr id="1049735" name="Content Placeholder 2"/>
          <p:cNvSpPr>
            <a:spLocks noGrp="1"/>
          </p:cNvSpPr>
          <p:nvPr>
            <p:ph sz="half" idx="1"/>
          </p:nvPr>
        </p:nvSpPr>
        <p:spPr/>
        <p:txBody>
          <a:bodyPr>
            <a:normAutofit/>
          </a:bodyPr>
          <a:p>
            <a:r>
              <a:rPr b="1"/>
              <a:t>Indications </a:t>
            </a:r>
          </a:p>
          <a:p>
            <a:pPr lvl="1"/>
            <a:r>
              <a:t>Antispasmodic –renal and biliary colic overcomes  </a:t>
            </a:r>
            <a:r>
              <a:t>spasma</a:t>
            </a:r>
            <a:r>
              <a:t> of sphincter of </a:t>
            </a:r>
            <a:r>
              <a:t>oddi,norctanal</a:t>
            </a:r>
            <a:r>
              <a:t> </a:t>
            </a:r>
            <a:r>
              <a:t>anuresis</a:t>
            </a:r>
            <a:r>
              <a:t> in children –reduces frequency</a:t>
            </a:r>
          </a:p>
          <a:p>
            <a:pPr lvl="1"/>
            <a:r>
              <a:t>Mydiatric</a:t>
            </a:r>
            <a:r>
              <a:t> and </a:t>
            </a:r>
            <a:r>
              <a:t>cycloplegic</a:t>
            </a:r>
            <a:r>
              <a:t>-for testing refractory errors and </a:t>
            </a:r>
            <a:r>
              <a:t>fundascopic</a:t>
            </a:r>
            <a:r>
              <a:t> exam-</a:t>
            </a:r>
            <a:r>
              <a:t>diagnostic,breaks</a:t>
            </a:r>
            <a:r>
              <a:t> adhesions btw the iris and lens </a:t>
            </a:r>
          </a:p>
          <a:p>
            <a:pPr lvl="1"/>
            <a:r>
              <a:t>Preanesthetic</a:t>
            </a:r>
            <a:r>
              <a:t>-to reduce secretions –prevents laryngospasms </a:t>
            </a:r>
          </a:p>
          <a:p>
            <a:pPr lvl="1"/>
            <a:r>
              <a:t>Organophosphate poisoning –</a:t>
            </a:r>
          </a:p>
          <a:p>
            <a:r>
              <a:rPr b="1"/>
              <a:t>Adverse effect </a:t>
            </a:r>
          </a:p>
          <a:p>
            <a:pPr lvl="1"/>
            <a:r>
              <a:t>Dry mouth </a:t>
            </a:r>
          </a:p>
          <a:p>
            <a:pPr lvl="1"/>
            <a:r>
              <a:t>Blurred vision</a:t>
            </a:r>
          </a:p>
          <a:p>
            <a:pPr lvl="1"/>
            <a:r>
              <a:t>Dry skin</a:t>
            </a:r>
          </a:p>
          <a:p>
            <a:pPr lvl="1"/>
            <a:r>
              <a:t>Dysphagia </a:t>
            </a:r>
          </a:p>
          <a:p>
            <a:pPr lvl="1"/>
            <a:r>
              <a:t>Fever </a:t>
            </a:r>
          </a:p>
          <a:p>
            <a:pPr lvl="1"/>
            <a:r>
              <a:t>Constipation</a:t>
            </a:r>
          </a:p>
          <a:p>
            <a:pPr lvl="1"/>
            <a:r>
              <a:t>Urinary </a:t>
            </a:r>
            <a:r>
              <a:t>retension</a:t>
            </a:r>
            <a:r>
              <a:t> </a:t>
            </a:r>
          </a:p>
          <a:p>
            <a:pPr lvl="1"/>
          </a:p>
        </p:txBody>
      </p:sp>
      <p:sp>
        <p:nvSpPr>
          <p:cNvPr id="1049736" name="Content Placeholder 3"/>
          <p:cNvSpPr>
            <a:spLocks noGrp="1"/>
          </p:cNvSpPr>
          <p:nvPr>
            <p:ph sz="half" idx="2"/>
          </p:nvPr>
        </p:nvSpPr>
        <p:spPr/>
        <p:txBody>
          <a:bodyPr>
            <a:normAutofit fontScale="100000" lnSpcReduction="20000"/>
          </a:bodyPr>
          <a:p>
            <a:r>
              <a:rPr b="1"/>
              <a:t>Toxicity</a:t>
            </a:r>
          </a:p>
          <a:p>
            <a:pPr lvl="1"/>
            <a:r>
              <a:t>Palpitation</a:t>
            </a:r>
          </a:p>
          <a:p>
            <a:pPr lvl="1"/>
            <a:r>
              <a:t>Flushing </a:t>
            </a:r>
          </a:p>
          <a:p>
            <a:pPr lvl="1"/>
            <a:r>
              <a:t>Restlessness</a:t>
            </a:r>
          </a:p>
          <a:p>
            <a:pPr lvl="1"/>
            <a:r>
              <a:t>Delirium</a:t>
            </a:r>
          </a:p>
          <a:p>
            <a:pPr lvl="1"/>
            <a:r>
              <a:t>Hallucinations</a:t>
            </a:r>
          </a:p>
          <a:p>
            <a:pPr lvl="1"/>
            <a:r>
              <a:rPr u="sng"/>
              <a:t>Convusions</a:t>
            </a:r>
            <a:r>
              <a:t> and coma</a:t>
            </a:r>
          </a:p>
          <a:p>
            <a:r>
              <a:rPr b="1"/>
              <a:t>Antidote-</a:t>
            </a:r>
            <a:r>
              <a:rPr b="1"/>
              <a:t>physostigmine</a:t>
            </a:r>
            <a:r>
              <a:rPr b="1"/>
              <a:t> </a:t>
            </a:r>
          </a:p>
          <a:p>
            <a:pPr lvl="1"/>
            <a:r>
              <a:t>Choline and acetic acid –</a:t>
            </a:r>
            <a:r>
              <a:t>hydrolized</a:t>
            </a:r>
            <a:r>
              <a:t> by acetylcholinesterase </a:t>
            </a:r>
          </a:p>
          <a:p/>
        </p:txBody>
      </p:sp>
    </p:spTree>
  </p:cSld>
  <p:clrMapOvr>
    <a:masterClrMapping/>
  </p:clrMapOvr>
</p:sld>
</file>

<file path=ppt/slides/slide566.xml><?xml version="1.0" encoding="utf-8"?>
<p:sld xmlns:a="http://schemas.openxmlformats.org/drawingml/2006/main" xmlns:r="http://schemas.openxmlformats.org/officeDocument/2006/relationships" xmlns:p="http://schemas.openxmlformats.org/presentationml/2006/main">
  <p:cSld>
    <p:spTree>
      <p:nvGrpSpPr>
        <p:cNvPr id="1255" name=""/>
        <p:cNvGrpSpPr/>
        <p:nvPr/>
      </p:nvGrpSpPr>
      <p:grpSpPr>
        <a:xfrm>
          <a:off x="0" y="0"/>
          <a:ext cx="0" cy="0"/>
          <a:chOff x="0" y="0"/>
          <a:chExt cx="0" cy="0"/>
        </a:xfrm>
      </p:grpSpPr>
      <p:sp>
        <p:nvSpPr>
          <p:cNvPr id="1049737" name="Title 1"/>
          <p:cNvSpPr>
            <a:spLocks noGrp="1"/>
          </p:cNvSpPr>
          <p:nvPr>
            <p:ph type="title"/>
          </p:nvPr>
        </p:nvSpPr>
        <p:spPr/>
        <p:txBody>
          <a:bodyPr/>
          <a:p>
            <a:r>
              <a:rPr b="1"/>
              <a:t>HEMATOLOGIC DRUGS – ANTI COAGULANTS</a:t>
            </a:r>
            <a:endParaRPr b="1"/>
          </a:p>
        </p:txBody>
      </p:sp>
      <p:sp>
        <p:nvSpPr>
          <p:cNvPr id="1049738" name="Content Placeholder 2"/>
          <p:cNvSpPr>
            <a:spLocks noGrp="1"/>
          </p:cNvSpPr>
          <p:nvPr>
            <p:ph idx="1"/>
          </p:nvPr>
        </p:nvSpPr>
        <p:spPr/>
        <p:txBody>
          <a:bodyPr/>
          <a:p>
            <a:r>
              <a:t>Anti coagulant refers to any substance which inhibits normal blood clotting, lowers coagulability of blood.</a:t>
            </a:r>
          </a:p>
          <a:p>
            <a:r>
              <a:t>The anti coagulant interfere with normal coagulation process by interfering with the clotting cascade and thrombin formation.</a:t>
            </a:r>
          </a:p>
          <a:p>
            <a:r>
              <a:t>These agents are used to inhibit clot formation but they do not dissolve existing clots.</a:t>
            </a:r>
          </a:p>
        </p:txBody>
      </p:sp>
    </p:spTree>
  </p:cSld>
  <p:clrMapOvr>
    <a:masterClrMapping/>
  </p:clrMapOvr>
</p:sld>
</file>

<file path=ppt/slides/slide567.xml><?xml version="1.0" encoding="utf-8"?>
<p:sld xmlns:a="http://schemas.openxmlformats.org/drawingml/2006/main" xmlns:r="http://schemas.openxmlformats.org/officeDocument/2006/relationships" xmlns:p="http://schemas.openxmlformats.org/presentationml/2006/main">
  <p:cSld>
    <p:spTree>
      <p:nvGrpSpPr>
        <p:cNvPr id="1256" name=""/>
        <p:cNvGrpSpPr/>
        <p:nvPr/>
      </p:nvGrpSpPr>
      <p:grpSpPr>
        <a:xfrm>
          <a:off x="0" y="0"/>
          <a:ext cx="0" cy="0"/>
          <a:chOff x="0" y="0"/>
          <a:chExt cx="0" cy="0"/>
        </a:xfrm>
      </p:grpSpPr>
      <p:sp>
        <p:nvSpPr>
          <p:cNvPr id="1049739" name="Title 1"/>
          <p:cNvSpPr>
            <a:spLocks noGrp="1"/>
          </p:cNvSpPr>
          <p:nvPr>
            <p:ph type="title"/>
          </p:nvPr>
        </p:nvSpPr>
        <p:spPr/>
        <p:txBody>
          <a:bodyPr/>
          <a:p>
            <a:r>
              <a:t>Classification of anticoagulants</a:t>
            </a:r>
          </a:p>
        </p:txBody>
      </p:sp>
      <p:sp>
        <p:nvSpPr>
          <p:cNvPr id="1049740" name="Content Placeholder 2"/>
          <p:cNvSpPr>
            <a:spLocks noGrp="1"/>
          </p:cNvSpPr>
          <p:nvPr>
            <p:ph idx="1"/>
          </p:nvPr>
        </p:nvSpPr>
        <p:spPr/>
        <p:txBody>
          <a:bodyPr/>
          <a:p>
            <a:r>
              <a:rPr b="1"/>
              <a:t>Parenteral anticoagulants:</a:t>
            </a:r>
            <a:endParaRPr b="1"/>
          </a:p>
          <a:p>
            <a:pPr indent="0" marL="0">
              <a:buNone/>
            </a:pPr>
            <a:r>
              <a:rPr b="1"/>
              <a:t>Heparin</a:t>
            </a:r>
            <a:endParaRPr b="1"/>
          </a:p>
          <a:p>
            <a:pPr>
              <a:buFont typeface="Wingdings"/>
              <a:buChar char="Ø"/>
            </a:pPr>
            <a:r>
              <a:rPr b="1"/>
              <a:t>Low molecular weight heparin; </a:t>
            </a:r>
            <a:r>
              <a:t>enoxaparin, dalteparine, nadroparin, arteparin.</a:t>
            </a:r>
          </a:p>
          <a:p>
            <a:pPr>
              <a:buFont typeface="Wingdings"/>
              <a:buChar char="Ø"/>
            </a:pPr>
            <a:r>
              <a:t>Semisynthetic heparinoid; heparin sulphate, dextran sulphate, ancrod, danaparoid.</a:t>
            </a:r>
          </a:p>
          <a:p>
            <a:pPr>
              <a:buFont typeface="Wingdings"/>
              <a:buChar char="Ø"/>
            </a:pPr>
            <a:r>
              <a:t>Others; lepirudin, bivalirudin, argatroban</a:t>
            </a:r>
          </a:p>
          <a:p>
            <a:r>
              <a:rPr b="1"/>
              <a:t>Oral anticoagulant; </a:t>
            </a:r>
            <a:r>
              <a:t>warfarin, acenocoumarin, dicoumarol</a:t>
            </a:r>
          </a:p>
          <a:p>
            <a:r>
              <a:rPr b="1"/>
              <a:t>Fibrinolytic; streptokinase urokinase, alteplase</a:t>
            </a:r>
            <a:endParaRPr b="1"/>
          </a:p>
        </p:txBody>
      </p:sp>
    </p:spTree>
  </p:cSld>
  <p:clrMapOvr>
    <a:masterClrMapping/>
  </p:clrMapOvr>
</p:sld>
</file>

<file path=ppt/slides/slide568.xml><?xml version="1.0" encoding="utf-8"?>
<p:sld xmlns:a="http://schemas.openxmlformats.org/drawingml/2006/main" xmlns:r="http://schemas.openxmlformats.org/officeDocument/2006/relationships" xmlns:p="http://schemas.openxmlformats.org/presentationml/2006/main">
  <p:cSld>
    <p:spTree>
      <p:nvGrpSpPr>
        <p:cNvPr id="1257" name=""/>
        <p:cNvGrpSpPr/>
        <p:nvPr/>
      </p:nvGrpSpPr>
      <p:grpSpPr>
        <a:xfrm>
          <a:off x="0" y="0"/>
          <a:ext cx="0" cy="0"/>
          <a:chOff x="0" y="0"/>
          <a:chExt cx="0" cy="0"/>
        </a:xfrm>
      </p:grpSpPr>
      <p:sp>
        <p:nvSpPr>
          <p:cNvPr id="1049741" name="Content Placeholder 2"/>
          <p:cNvSpPr>
            <a:spLocks noGrp="1"/>
          </p:cNvSpPr>
          <p:nvPr>
            <p:ph idx="1"/>
          </p:nvPr>
        </p:nvSpPr>
        <p:spPr>
          <a:xfrm>
            <a:off x="838204" y="234460"/>
            <a:ext cx="10515600" cy="6318744"/>
          </a:xfrm>
        </p:spPr>
        <p:txBody>
          <a:bodyPr>
            <a:normAutofit/>
          </a:bodyPr>
          <a:p>
            <a:pPr indent="0" marL="0">
              <a:buNone/>
            </a:pPr>
            <a:r>
              <a:t> </a:t>
            </a:r>
            <a:r>
              <a:rPr b="1"/>
              <a:t>HEPARIN</a:t>
            </a:r>
            <a:endParaRPr b="1"/>
          </a:p>
          <a:p>
            <a:pPr indent="0" marL="0">
              <a:buNone/>
            </a:pPr>
            <a:r>
              <a:rPr b="1"/>
              <a:t>mechanism of action: </a:t>
            </a:r>
            <a:r>
              <a:t>heparin acts  prophylactically to prevent the formation of clots in the vasculate.it activates </a:t>
            </a:r>
            <a:r>
              <a:rPr b="1"/>
              <a:t>anti thrombin III </a:t>
            </a:r>
            <a:r>
              <a:t>which inhibits thrombin and clotting factor IX, X, XI, XII, consequently conversion of fibrinogen to fibrin does not occur and the formation of a fibrin clot is prevented</a:t>
            </a:r>
            <a:endParaRPr b="1"/>
          </a:p>
          <a:p>
            <a:pPr indent="0" marL="0">
              <a:buNone/>
            </a:pPr>
            <a:r>
              <a:rPr b="1"/>
              <a:t>Therapeutic Uses </a:t>
            </a:r>
            <a:endParaRPr b="1"/>
          </a:p>
          <a:p>
            <a:pPr indent="0" marL="0">
              <a:buNone/>
            </a:pPr>
            <a:r>
              <a:t>Heparin sodium, LMWH, fondaparinux sodium </a:t>
            </a:r>
          </a:p>
          <a:p>
            <a:r>
              <a:t> In conditions necessitating prompt anticoagulant activity (evolving stroke, pulmonary embolism, massive deep venous thrombosis) </a:t>
            </a:r>
          </a:p>
          <a:p>
            <a:r>
              <a:t> As an adjunct for clients having open heart surgery or renal dialysis </a:t>
            </a:r>
          </a:p>
          <a:p>
            <a:r>
              <a:t> As low-dose therapy for prophylaxis against postoperative venous thrombosis (for example, hip/knee replacement surgery, abdominal surgery)</a:t>
            </a:r>
          </a:p>
          <a:p>
            <a:r>
              <a:t>In conjunction with thrombolytic therapy when treating an acute myocardial infarction </a:t>
            </a:r>
          </a:p>
          <a:p>
            <a:r>
              <a:t>Treatment of disseminated intravascular coagulation</a:t>
            </a:r>
          </a:p>
        </p:txBody>
      </p:sp>
    </p:spTree>
  </p:cSld>
  <p:clrMapOvr>
    <a:masterClrMapping/>
  </p:clrMapOvr>
</p:sld>
</file>

<file path=ppt/slides/slide569.xml><?xml version="1.0" encoding="utf-8"?>
<p:sld xmlns:a="http://schemas.openxmlformats.org/drawingml/2006/main" xmlns:r="http://schemas.openxmlformats.org/officeDocument/2006/relationships" xmlns:p="http://schemas.openxmlformats.org/presentationml/2006/main">
  <p:cSld>
    <p:spTree>
      <p:nvGrpSpPr>
        <p:cNvPr id="1258" name=""/>
        <p:cNvGrpSpPr/>
        <p:nvPr/>
      </p:nvGrpSpPr>
      <p:grpSpPr>
        <a:xfrm>
          <a:off x="0" y="0"/>
          <a:ext cx="0" cy="0"/>
          <a:chOff x="0" y="0"/>
          <a:chExt cx="0" cy="0"/>
        </a:xfrm>
      </p:grpSpPr>
      <p:sp>
        <p:nvSpPr>
          <p:cNvPr id="1049742" name="Content Placeholder 2"/>
          <p:cNvSpPr>
            <a:spLocks noGrp="1"/>
          </p:cNvSpPr>
          <p:nvPr>
            <p:ph idx="1"/>
          </p:nvPr>
        </p:nvSpPr>
        <p:spPr>
          <a:xfrm>
            <a:off x="838204" y="199285"/>
            <a:ext cx="10515600" cy="6435974"/>
          </a:xfrm>
        </p:spPr>
        <p:txBody>
          <a:bodyPr>
            <a:normAutofit/>
          </a:bodyPr>
          <a:p>
            <a:pPr indent="0" marL="0">
              <a:buNone/>
            </a:pPr>
            <a:r>
              <a:rPr b="1"/>
              <a:t>Administration</a:t>
            </a:r>
            <a:r>
              <a:t> </a:t>
            </a:r>
          </a:p>
          <a:p>
            <a:r>
              <a:t> These medications cannot be absorbed by the intestinal tract and must be given by subcutaneous injection or IV infusion. </a:t>
            </a:r>
          </a:p>
          <a:p>
            <a:r>
              <a:t> Heparin sodium: Subcutaneously every 12 hr., continuous or intermittent IV infusion </a:t>
            </a:r>
          </a:p>
          <a:p>
            <a:r>
              <a:t> Enoxaparin, dalteparin sodium, tinzaparin: Subcutaneously every 12 hr. for 2 to 8 days </a:t>
            </a:r>
          </a:p>
          <a:p>
            <a:r>
              <a:t> Fondaparinux sodium: Subcutaneously every 12 hr. for 5 to 9 day.</a:t>
            </a:r>
          </a:p>
          <a:p>
            <a:pPr indent="0" marL="0">
              <a:buNone/>
            </a:pPr>
            <a:r>
              <a:rPr b="1"/>
              <a:t>Side/Adverse Effects </a:t>
            </a:r>
            <a:endParaRPr b="1"/>
          </a:p>
          <a:p>
            <a:r>
              <a:t>Hemorrhage secondary to heparin overdose</a:t>
            </a:r>
          </a:p>
          <a:p>
            <a:r>
              <a:t>thrombocytopenia, </a:t>
            </a:r>
          </a:p>
          <a:p>
            <a:r>
              <a:t>Hypersensitivity reactions (chills, fever, urticaria) </a:t>
            </a:r>
          </a:p>
          <a:p>
            <a:r>
              <a:t> Administer a small test dose prior to the administration of heparin. Toxicity/overdose </a:t>
            </a:r>
          </a:p>
          <a:p>
            <a:r>
              <a:t>Administer </a:t>
            </a:r>
            <a:r>
              <a:rPr b="1"/>
              <a:t>protamine sulfate</a:t>
            </a:r>
            <a:r>
              <a:t>, which binds with heparin and forms a heparin-protamine complex that has no anticoagulant properties. </a:t>
            </a:r>
          </a:p>
          <a:p>
            <a:r>
              <a:t> Protamine sulfate should be administered slowly intravenously, no faster than 20 mg/min or 50 mg in 10 min.</a:t>
            </a:r>
          </a:p>
          <a:p/>
          <a:p>
            <a:pPr indent="0" marL="0">
              <a:buNone/>
            </a:pPr>
          </a:p>
          <a:p/>
        </p:txBody>
      </p:sp>
    </p:spTree>
  </p:cSld>
  <p:clrMapOvr>
    <a:masterClrMapping/>
  </p:clrMapOvr>
</p:sld>
</file>

<file path=ppt/slides/slide570.xml><?xml version="1.0" encoding="utf-8"?>
<p:sld xmlns:a="http://schemas.openxmlformats.org/drawingml/2006/main" xmlns:r="http://schemas.openxmlformats.org/officeDocument/2006/relationships" xmlns:p="http://schemas.openxmlformats.org/presentationml/2006/main">
  <p:cSld>
    <p:spTree>
      <p:nvGrpSpPr>
        <p:cNvPr id="1259" name=""/>
        <p:cNvGrpSpPr/>
        <p:nvPr/>
      </p:nvGrpSpPr>
      <p:grpSpPr>
        <a:xfrm>
          <a:off x="0" y="0"/>
          <a:ext cx="0" cy="0"/>
          <a:chOff x="0" y="0"/>
          <a:chExt cx="0" cy="0"/>
        </a:xfrm>
      </p:grpSpPr>
      <p:sp>
        <p:nvSpPr>
          <p:cNvPr id="1049743" name="Content Placeholder 2"/>
          <p:cNvSpPr>
            <a:spLocks noGrp="1"/>
          </p:cNvSpPr>
          <p:nvPr>
            <p:ph idx="1"/>
          </p:nvPr>
        </p:nvSpPr>
        <p:spPr>
          <a:xfrm>
            <a:off x="838204" y="246180"/>
            <a:ext cx="10515600" cy="6424240"/>
          </a:xfrm>
        </p:spPr>
        <p:txBody>
          <a:bodyPr>
            <a:normAutofit/>
          </a:bodyPr>
          <a:p>
            <a:pPr indent="0" marL="0">
              <a:buNone/>
            </a:pPr>
            <a:r>
              <a:rPr b="1"/>
              <a:t>Enoxaparin</a:t>
            </a:r>
            <a:r>
              <a:t> </a:t>
            </a:r>
          </a:p>
          <a:p>
            <a:r>
              <a:rPr b="1"/>
              <a:t>Hemorrhage</a:t>
            </a:r>
            <a:r>
              <a:t>  Monitor vital signs • Advise clients to observe for signs and symptoms of bleeding, such as increased heart rate, decreased blood pressure, bruising, petechiae, hematomas, black tarry stools. • Monitor platelet count. Instruct client to avoid aspirin.</a:t>
            </a:r>
          </a:p>
          <a:p>
            <a:r>
              <a:t> </a:t>
            </a:r>
            <a:r>
              <a:rPr b="1"/>
              <a:t>Neurologic damage </a:t>
            </a:r>
            <a:r>
              <a:t>from hematoma formed during spinal or epidural anesthesia </a:t>
            </a:r>
          </a:p>
          <a:p>
            <a:r>
              <a:rPr b="1"/>
              <a:t>Thrombocytopenia</a:t>
            </a:r>
            <a:r>
              <a:t>, as evidenced by low platelet count , Monitor platelets. Discontinue medication for platelet count less than 100,000/mm3 .</a:t>
            </a:r>
          </a:p>
          <a:p>
            <a:r>
              <a:rPr b="1"/>
              <a:t> Toxicity/overdose; </a:t>
            </a:r>
            <a:r>
              <a:rPr sz="2400">
                <a:solidFill>
                  <a:srgbClr val="000000"/>
                </a:solidFill>
              </a:rPr>
              <a:t>Administer </a:t>
            </a:r>
            <a:r>
              <a:rPr b="1" sz="2400">
                <a:solidFill>
                  <a:srgbClr val="000000"/>
                </a:solidFill>
              </a:rPr>
              <a:t>protamine sulfate</a:t>
            </a:r>
            <a:endParaRPr b="1"/>
          </a:p>
        </p:txBody>
      </p:sp>
    </p:spTree>
  </p:cSld>
  <p:clrMapOvr>
    <a:masterClrMapping/>
  </p:clrMapOvr>
</p:sld>
</file>

<file path=ppt/slides/slide571.xml><?xml version="1.0" encoding="utf-8"?>
<p:sld xmlns:a="http://schemas.openxmlformats.org/drawingml/2006/main" xmlns:r="http://schemas.openxmlformats.org/officeDocument/2006/relationships" xmlns:p="http://schemas.openxmlformats.org/presentationml/2006/main">
  <p:cSld>
    <p:spTree>
      <p:nvGrpSpPr>
        <p:cNvPr id="1260" name=""/>
        <p:cNvGrpSpPr/>
        <p:nvPr/>
      </p:nvGrpSpPr>
      <p:grpSpPr>
        <a:xfrm>
          <a:off x="0" y="0"/>
          <a:ext cx="0" cy="0"/>
          <a:chOff x="0" y="0"/>
          <a:chExt cx="0" cy="0"/>
        </a:xfrm>
      </p:grpSpPr>
      <p:sp>
        <p:nvSpPr>
          <p:cNvPr id="1049744" name="Content Placeholder 2"/>
          <p:cNvSpPr>
            <a:spLocks noGrp="1"/>
          </p:cNvSpPr>
          <p:nvPr>
            <p:ph idx="1"/>
          </p:nvPr>
        </p:nvSpPr>
        <p:spPr>
          <a:xfrm>
            <a:off x="838204" y="246180"/>
            <a:ext cx="10515600" cy="6353905"/>
          </a:xfrm>
        </p:spPr>
        <p:txBody>
          <a:bodyPr/>
          <a:p>
            <a:r>
              <a:rPr b="1"/>
              <a:t>Contraindications/Precautions </a:t>
            </a:r>
            <a:endParaRPr b="1"/>
          </a:p>
          <a:p>
            <a:r>
              <a:t> Parenteral anticoagulants are contraindicated in clients with low platelet counts (thrombocytopenia) or uncontrollable bleeding. </a:t>
            </a:r>
          </a:p>
          <a:p>
            <a:r>
              <a:t> These medications should not be used during or following surgeries of the eye(s), brain, or spinal cord; lumbar puncture; or regional anesthesia. </a:t>
            </a:r>
          </a:p>
          <a:p>
            <a:r>
              <a:t>clients who have</a:t>
            </a:r>
            <a:r>
              <a:rPr b="1"/>
              <a:t> hemophilia</a:t>
            </a:r>
            <a:r>
              <a:t>, increased capillary permeability, dissecting </a:t>
            </a:r>
            <a:r>
              <a:rPr b="1"/>
              <a:t>aneurysm</a:t>
            </a:r>
            <a:r>
              <a:t>, </a:t>
            </a:r>
            <a:r>
              <a:rPr b="1"/>
              <a:t>peptic ulcer disease</a:t>
            </a:r>
            <a:r>
              <a:t>, </a:t>
            </a:r>
            <a:r>
              <a:rPr b="1"/>
              <a:t>severe hypertension, hepatic</a:t>
            </a:r>
            <a:r>
              <a:t> or </a:t>
            </a:r>
            <a:r>
              <a:rPr b="1"/>
              <a:t>renal disease</a:t>
            </a:r>
            <a:r>
              <a:t>, or </a:t>
            </a:r>
            <a:r>
              <a:rPr b="1"/>
              <a:t>threatened abortion</a:t>
            </a:r>
            <a:endParaRPr b="1"/>
          </a:p>
          <a:p>
            <a:pPr indent="0" marL="0">
              <a:buNone/>
            </a:pPr>
            <a:r>
              <a:t> </a:t>
            </a:r>
            <a:r>
              <a:rPr b="1"/>
              <a:t>Medication/Food Interactions </a:t>
            </a:r>
            <a:endParaRPr b="1"/>
          </a:p>
          <a:p>
            <a:r>
              <a:t> Anti-platelet agents such as aspirin, NSAIDs, and other anticoagulants may increase risk for bleeding.. </a:t>
            </a:r>
          </a:p>
        </p:txBody>
      </p:sp>
    </p:spTree>
  </p:cSld>
  <p:clrMapOvr>
    <a:masterClrMapping/>
  </p:clrMapOvr>
</p:sld>
</file>

<file path=ppt/slides/slide572.xml><?xml version="1.0" encoding="utf-8"?>
<p:sld xmlns:a="http://schemas.openxmlformats.org/drawingml/2006/main" xmlns:r="http://schemas.openxmlformats.org/officeDocument/2006/relationships" xmlns:p="http://schemas.openxmlformats.org/presentationml/2006/main">
  <p:cSld>
    <p:spTree>
      <p:nvGrpSpPr>
        <p:cNvPr id="1261" name=""/>
        <p:cNvGrpSpPr/>
        <p:nvPr/>
      </p:nvGrpSpPr>
      <p:grpSpPr>
        <a:xfrm>
          <a:off x="0" y="0"/>
          <a:ext cx="0" cy="0"/>
          <a:chOff x="0" y="0"/>
          <a:chExt cx="0" cy="0"/>
        </a:xfrm>
      </p:grpSpPr>
      <p:sp>
        <p:nvSpPr>
          <p:cNvPr id="1049745" name="Content Placeholder 2"/>
          <p:cNvSpPr>
            <a:spLocks noGrp="1"/>
          </p:cNvSpPr>
          <p:nvPr>
            <p:ph idx="1"/>
          </p:nvPr>
        </p:nvSpPr>
        <p:spPr>
          <a:xfrm>
            <a:off x="580290" y="301628"/>
            <a:ext cx="10515600" cy="6380526"/>
          </a:xfrm>
        </p:spPr>
        <p:txBody>
          <a:bodyPr>
            <a:normAutofit/>
          </a:bodyPr>
          <a:p>
            <a:pPr indent="0" marL="0">
              <a:buNone/>
            </a:pPr>
            <a:r>
              <a:rPr b="1" sz="2200">
                <a:solidFill>
                  <a:srgbClr val="000000"/>
                </a:solidFill>
              </a:rPr>
              <a:t>Nursing Administration;</a:t>
            </a:r>
            <a:r>
              <a:rPr sz="2200">
                <a:solidFill>
                  <a:srgbClr val="000000"/>
                </a:solidFill>
              </a:rPr>
              <a:t> </a:t>
            </a:r>
            <a:r>
              <a:rPr b="1" sz="2200">
                <a:solidFill>
                  <a:srgbClr val="000000"/>
                </a:solidFill>
              </a:rPr>
              <a:t>Heparin sodium</a:t>
            </a:r>
            <a:r>
              <a:rPr sz="2200">
                <a:solidFill>
                  <a:srgbClr val="000000"/>
                </a:solidFill>
              </a:rPr>
              <a:t>: </a:t>
            </a:r>
            <a:endParaRPr sz="2200">
              <a:solidFill>
                <a:srgbClr val="000000"/>
              </a:solidFill>
            </a:endParaRPr>
          </a:p>
          <a:p>
            <a:r>
              <a:rPr sz="2200">
                <a:solidFill>
                  <a:srgbClr val="000000"/>
                </a:solidFill>
              </a:rPr>
              <a:t> Obtain the client’s baseline vital signs. </a:t>
            </a:r>
            <a:endParaRPr sz="2200">
              <a:solidFill>
                <a:srgbClr val="000000"/>
              </a:solidFill>
            </a:endParaRPr>
          </a:p>
          <a:p>
            <a:r>
              <a:rPr sz="2200">
                <a:solidFill>
                  <a:srgbClr val="000000"/>
                </a:solidFill>
              </a:rPr>
              <a:t> Obtain baseline and monitor complete blood count (CBC), platelet count, and hematocrit levels. </a:t>
            </a:r>
            <a:endParaRPr sz="2200">
              <a:solidFill>
                <a:srgbClr val="000000"/>
              </a:solidFill>
            </a:endParaRPr>
          </a:p>
          <a:p>
            <a:r>
              <a:rPr sz="2200">
                <a:solidFill>
                  <a:srgbClr val="000000"/>
                </a:solidFill>
              </a:rPr>
              <a:t> Read label carefully. Heparin is dispensed in units and in different concentrations. </a:t>
            </a:r>
            <a:endParaRPr sz="2200">
              <a:solidFill>
                <a:srgbClr val="000000"/>
              </a:solidFill>
            </a:endParaRPr>
          </a:p>
          <a:p>
            <a:r>
              <a:rPr sz="2200">
                <a:solidFill>
                  <a:srgbClr val="000000"/>
                </a:solidFill>
              </a:rPr>
              <a:t> Check dosages with another nurse before administration. </a:t>
            </a:r>
            <a:endParaRPr sz="2200">
              <a:solidFill>
                <a:srgbClr val="000000"/>
              </a:solidFill>
            </a:endParaRPr>
          </a:p>
          <a:p>
            <a:r>
              <a:rPr sz="2200">
                <a:solidFill>
                  <a:srgbClr val="000000"/>
                </a:solidFill>
              </a:rPr>
              <a:t>Use an infusion pump for continuous IV administration. Monitor rate of infusion every 30 to 60 min. </a:t>
            </a:r>
            <a:endParaRPr sz="2200">
              <a:solidFill>
                <a:srgbClr val="000000"/>
              </a:solidFill>
            </a:endParaRPr>
          </a:p>
          <a:p>
            <a:r>
              <a:rPr sz="2200">
                <a:solidFill>
                  <a:srgbClr val="000000"/>
                </a:solidFill>
              </a:rPr>
              <a:t>Monitor PTT every 4 to 6 hr. until appropriate dose is determined, then monitor daily. </a:t>
            </a:r>
            <a:endParaRPr sz="2200">
              <a:solidFill>
                <a:srgbClr val="000000"/>
              </a:solidFill>
            </a:endParaRPr>
          </a:p>
          <a:p>
            <a:r>
              <a:rPr sz="2200">
                <a:solidFill>
                  <a:srgbClr val="000000"/>
                </a:solidFill>
              </a:rPr>
              <a:t> For subcutaneous injections, use a 20 to 22 gauge needle to withdraw medication from the vial. Then, change the needle to a smaller needle (gauge 25 or 26, 1/2 to 5/8 in length). </a:t>
            </a:r>
            <a:endParaRPr sz="2200">
              <a:solidFill>
                <a:srgbClr val="000000"/>
              </a:solidFill>
            </a:endParaRPr>
          </a:p>
          <a:p>
            <a:r>
              <a:rPr sz="2200">
                <a:solidFill>
                  <a:srgbClr val="000000"/>
                </a:solidFill>
              </a:rPr>
              <a:t> Administer deep subcutaneous injections in the abdomen ensuring a distance of 2 inches from the umbilicus. Do not aspirate. </a:t>
            </a:r>
            <a:endParaRPr sz="2200">
              <a:solidFill>
                <a:srgbClr val="000000"/>
              </a:solidFill>
            </a:endParaRPr>
          </a:p>
          <a:p>
            <a:r>
              <a:rPr sz="2200">
                <a:solidFill>
                  <a:srgbClr val="000000"/>
                </a:solidFill>
              </a:rPr>
              <a:t> Apply pressure for 1 to 2 min after the injection. Rotate and record injection sites. </a:t>
            </a:r>
            <a:endParaRPr sz="2200">
              <a:solidFill>
                <a:srgbClr val="000000"/>
              </a:solidFill>
            </a:endParaRPr>
          </a:p>
          <a:p>
            <a:r>
              <a:rPr sz="2200">
                <a:solidFill>
                  <a:srgbClr val="000000"/>
                </a:solidFill>
              </a:rPr>
              <a:t> Instruct clients to monitor for signs of bleeding (bruising, gums bleeding, abdominal pain, nose bleeds, coffee-ground emesis and tarry stools). </a:t>
            </a:r>
            <a:endParaRPr sz="2200">
              <a:solidFill>
                <a:srgbClr val="000000"/>
              </a:solidFill>
            </a:endParaRPr>
          </a:p>
          <a:p>
            <a:r>
              <a:rPr sz="2200">
                <a:solidFill>
                  <a:srgbClr val="000000"/>
                </a:solidFill>
              </a:rPr>
              <a:t> Instruct clients not to take over-the-counter NSAIDs, aspirin, or medications containing salicylates. </a:t>
            </a:r>
            <a:endParaRPr sz="2200">
              <a:solidFill>
                <a:srgbClr val="000000"/>
              </a:solidFill>
            </a:endParaRPr>
          </a:p>
          <a:p>
            <a:r>
              <a:rPr sz="2200">
                <a:solidFill>
                  <a:srgbClr val="000000"/>
                </a:solidFill>
              </a:rPr>
              <a:t> Advise clients to use an electric razor for shaving and a soft toothbrush.</a:t>
            </a:r>
            <a:endParaRPr sz="2200">
              <a:solidFill>
                <a:srgbClr val="000000"/>
              </a:solidFill>
            </a:endParaRPr>
          </a:p>
          <a:p/>
        </p:txBody>
      </p:sp>
    </p:spTree>
  </p:cSld>
  <p:clrMapOvr>
    <a:masterClrMapping/>
  </p:clrMapOvr>
</p:sld>
</file>

<file path=ppt/slides/slide573.xml><?xml version="1.0" encoding="utf-8"?>
<p:sld xmlns:a="http://schemas.openxmlformats.org/drawingml/2006/main" xmlns:r="http://schemas.openxmlformats.org/officeDocument/2006/relationships" xmlns:p="http://schemas.openxmlformats.org/presentationml/2006/main">
  <p:cSld>
    <p:spTree>
      <p:nvGrpSpPr>
        <p:cNvPr id="1262" name=""/>
        <p:cNvGrpSpPr/>
        <p:nvPr/>
      </p:nvGrpSpPr>
      <p:grpSpPr>
        <a:xfrm>
          <a:off x="0" y="0"/>
          <a:ext cx="0" cy="0"/>
          <a:chOff x="0" y="0"/>
          <a:chExt cx="0" cy="0"/>
        </a:xfrm>
      </p:grpSpPr>
      <p:sp>
        <p:nvSpPr>
          <p:cNvPr id="1049746" name="Title 1"/>
          <p:cNvSpPr>
            <a:spLocks noGrp="1"/>
          </p:cNvSpPr>
          <p:nvPr>
            <p:ph type="title"/>
          </p:nvPr>
        </p:nvSpPr>
        <p:spPr/>
        <p:txBody>
          <a:bodyPr/>
          <a:p>
            <a:r>
              <a:rPr b="1"/>
              <a:t>ORAL ANTI COAGULANTS</a:t>
            </a:r>
            <a:endParaRPr b="1"/>
          </a:p>
        </p:txBody>
      </p:sp>
      <p:sp>
        <p:nvSpPr>
          <p:cNvPr id="1049747" name="Content Placeholder 2"/>
          <p:cNvSpPr>
            <a:spLocks noGrp="1"/>
          </p:cNvSpPr>
          <p:nvPr>
            <p:ph idx="1"/>
          </p:nvPr>
        </p:nvSpPr>
        <p:spPr/>
        <p:txBody>
          <a:bodyPr/>
          <a:p>
            <a:r>
              <a:t>These are the most commonly used oral anti coagulants;</a:t>
            </a:r>
          </a:p>
          <a:p>
            <a:r>
              <a:t>Warfarin,</a:t>
            </a:r>
          </a:p>
          <a:p>
            <a:r>
              <a:t>Dicoumarol, </a:t>
            </a:r>
          </a:p>
          <a:p>
            <a:r>
              <a:t>Acenocoumarol</a:t>
            </a:r>
          </a:p>
          <a:p>
            <a:pPr indent="0" marL="0">
              <a:buNone/>
            </a:pPr>
            <a:r>
              <a:rPr b="1"/>
              <a:t>Mechanism of action</a:t>
            </a:r>
            <a:endParaRPr b="1"/>
          </a:p>
          <a:p>
            <a:pPr indent="0" marL="0">
              <a:buNone/>
            </a:pPr>
            <a:r>
              <a:t>Vitamin K antagonist; these agents inhibit the liver synthesis of vitamin K clotting factor II,VII, IX, X.</a:t>
            </a:r>
          </a:p>
        </p:txBody>
      </p:sp>
    </p:spTree>
  </p:cSld>
  <p:clrMapOvr>
    <a:masterClrMapping/>
  </p:clrMapOvr>
</p:sld>
</file>

<file path=ppt/slides/slide574.xml><?xml version="1.0" encoding="utf-8"?>
<p:sld xmlns:a="http://schemas.openxmlformats.org/drawingml/2006/main" xmlns:r="http://schemas.openxmlformats.org/officeDocument/2006/relationships" xmlns:p="http://schemas.openxmlformats.org/presentationml/2006/main">
  <p:cSld>
    <p:spTree>
      <p:nvGrpSpPr>
        <p:cNvPr id="1263" name=""/>
        <p:cNvGrpSpPr/>
        <p:nvPr/>
      </p:nvGrpSpPr>
      <p:grpSpPr>
        <a:xfrm>
          <a:off x="0" y="0"/>
          <a:ext cx="0" cy="0"/>
          <a:chOff x="0" y="0"/>
          <a:chExt cx="0" cy="0"/>
        </a:xfrm>
      </p:grpSpPr>
      <p:sp>
        <p:nvSpPr>
          <p:cNvPr id="1049748" name="Content Placeholder 2"/>
          <p:cNvSpPr>
            <a:spLocks noGrp="1"/>
          </p:cNvSpPr>
          <p:nvPr>
            <p:ph idx="1"/>
          </p:nvPr>
        </p:nvSpPr>
        <p:spPr>
          <a:xfrm>
            <a:off x="838204" y="257914"/>
            <a:ext cx="10515600" cy="6353905"/>
          </a:xfrm>
        </p:spPr>
        <p:txBody>
          <a:bodyPr/>
          <a:p>
            <a:pPr indent="0" marL="0">
              <a:buNone/>
            </a:pPr>
            <a:r>
              <a:rPr b="1"/>
              <a:t>Advantages over heparin</a:t>
            </a:r>
            <a:endParaRPr b="1"/>
          </a:p>
          <a:p>
            <a:r>
              <a:t>Bioavailability is almost 100 percent.</a:t>
            </a:r>
          </a:p>
          <a:p>
            <a:r>
              <a:t>Low volume distribution, </a:t>
            </a:r>
          </a:p>
          <a:p>
            <a:r>
              <a:t>Long half life.</a:t>
            </a:r>
          </a:p>
          <a:p>
            <a:pPr indent="0" marL="0">
              <a:buNone/>
            </a:pPr>
            <a:r>
              <a:rPr b="1"/>
              <a:t>Pharmacokinetics</a:t>
            </a:r>
            <a:endParaRPr b="1"/>
          </a:p>
          <a:p>
            <a:r>
              <a:t>Produces delayed action, </a:t>
            </a:r>
          </a:p>
          <a:p>
            <a:r>
              <a:t>possibility of genetic resistance</a:t>
            </a:r>
          </a:p>
          <a:p>
            <a:pPr indent="0" marL="0">
              <a:buNone/>
            </a:pPr>
            <a:r>
              <a:rPr b="1"/>
              <a:t>Clinical indication</a:t>
            </a:r>
            <a:endParaRPr b="1"/>
          </a:p>
          <a:p>
            <a:r>
              <a:t>Treatment deep venous thrombosis.</a:t>
            </a:r>
          </a:p>
          <a:p>
            <a:r>
              <a:t>Pulmonary embolism</a:t>
            </a:r>
          </a:p>
          <a:p>
            <a:r>
              <a:t>Prevent blood clotting in patients with thrombophlebitis, pulmonary embolism and embolism from arterial fibrillation.</a:t>
            </a:r>
          </a:p>
          <a:p>
            <a:pPr indent="0" marL="0">
              <a:buNone/>
            </a:pPr>
          </a:p>
        </p:txBody>
      </p:sp>
    </p:spTree>
  </p:cSld>
  <p:clrMapOvr>
    <a:masterClrMapping/>
  </p:clrMapOvr>
</p:sld>
</file>

<file path=ppt/slides/slide575.xml><?xml version="1.0" encoding="utf-8"?>
<p:sld xmlns:a="http://schemas.openxmlformats.org/drawingml/2006/main" xmlns:r="http://schemas.openxmlformats.org/officeDocument/2006/relationships" xmlns:p="http://schemas.openxmlformats.org/presentationml/2006/main">
  <p:cSld>
    <p:spTree>
      <p:nvGrpSpPr>
        <p:cNvPr id="1264" name=""/>
        <p:cNvGrpSpPr/>
        <p:nvPr/>
      </p:nvGrpSpPr>
      <p:grpSpPr>
        <a:xfrm>
          <a:off x="0" y="0"/>
          <a:ext cx="0" cy="0"/>
          <a:chOff x="0" y="0"/>
          <a:chExt cx="0" cy="0"/>
        </a:xfrm>
      </p:grpSpPr>
      <p:sp>
        <p:nvSpPr>
          <p:cNvPr id="1049749" name="Content Placeholder 2"/>
          <p:cNvSpPr>
            <a:spLocks noGrp="1"/>
          </p:cNvSpPr>
          <p:nvPr>
            <p:ph idx="1"/>
          </p:nvPr>
        </p:nvSpPr>
        <p:spPr>
          <a:xfrm>
            <a:off x="838204" y="304795"/>
            <a:ext cx="10515600" cy="6283569"/>
          </a:xfrm>
        </p:spPr>
        <p:txBody>
          <a:bodyPr/>
          <a:p>
            <a:pPr indent="0" marL="0">
              <a:buNone/>
            </a:pPr>
            <a:r>
              <a:rPr b="1"/>
              <a:t>Contraindication /precaution</a:t>
            </a:r>
            <a:r>
              <a:rPr b="1">
                <a:solidFill>
                  <a:srgbClr val="000000"/>
                </a:solidFill>
              </a:rPr>
              <a:t> </a:t>
            </a:r>
            <a:endParaRPr b="1">
              <a:solidFill>
                <a:srgbClr val="000000"/>
              </a:solidFill>
            </a:endParaRPr>
          </a:p>
          <a:p>
            <a:r>
              <a:rPr>
                <a:solidFill>
                  <a:srgbClr val="000000"/>
                </a:solidFill>
              </a:rPr>
              <a:t>Not given to pregnant women because it crosses</a:t>
            </a:r>
            <a:r>
              <a:t> the placenta barrier, it is teratogenic, and can cause an a abortion.</a:t>
            </a:r>
          </a:p>
          <a:p>
            <a:r>
              <a:t>Not given to patients with bleeding disorders e.g. hemophilia, peptic ulcer, sever renal/ liver disease and eclampsia.</a:t>
            </a:r>
          </a:p>
          <a:p>
            <a:pPr indent="0" marL="0">
              <a:buNone/>
            </a:pPr>
            <a:r>
              <a:rPr b="1"/>
              <a:t>Monitoring</a:t>
            </a:r>
            <a:endParaRPr b="1"/>
          </a:p>
          <a:p>
            <a:r>
              <a:t>Monitor prothrombin time usually done before administering the dose.</a:t>
            </a:r>
          </a:p>
          <a:p>
            <a:r>
              <a:t>The PT SHOULD BE 1.5-2.5 times the reference value to be therapeutic</a:t>
            </a:r>
          </a:p>
          <a:p>
            <a:r>
              <a:t>If it is below the recommended range warfarin should be increased.</a:t>
            </a:r>
          </a:p>
          <a:p>
            <a:r>
              <a:t>If it above the recommended range warfarin should be decreased.</a:t>
            </a:r>
          </a:p>
          <a:p/>
          <a:p>
            <a:pPr indent="0" marL="0">
              <a:buNone/>
            </a:pPr>
          </a:p>
          <a:p>
            <a:pPr indent="0" marL="0">
              <a:buNone/>
            </a:pPr>
          </a:p>
          <a:p>
            <a:pPr indent="0" marL="0">
              <a:buNone/>
            </a:pPr>
            <a:endParaRPr b="1"/>
          </a:p>
        </p:txBody>
      </p:sp>
    </p:spTree>
  </p:cSld>
  <p:clrMapOvr>
    <a:masterClrMapping/>
  </p:clrMapOvr>
</p:sld>
</file>

<file path=ppt/slides/slide576.xml><?xml version="1.0" encoding="utf-8"?>
<p:sld xmlns:a="http://schemas.openxmlformats.org/drawingml/2006/main" xmlns:r="http://schemas.openxmlformats.org/officeDocument/2006/relationships" xmlns:p="http://schemas.openxmlformats.org/presentationml/2006/main">
  <p:cSld>
    <p:spTree>
      <p:nvGrpSpPr>
        <p:cNvPr id="1265" name=""/>
        <p:cNvGrpSpPr/>
        <p:nvPr/>
      </p:nvGrpSpPr>
      <p:grpSpPr>
        <a:xfrm>
          <a:off x="0" y="0"/>
          <a:ext cx="0" cy="0"/>
          <a:chOff x="0" y="0"/>
          <a:chExt cx="0" cy="0"/>
        </a:xfrm>
      </p:grpSpPr>
      <p:sp>
        <p:nvSpPr>
          <p:cNvPr id="1049750" name="Content Placeholder 2"/>
          <p:cNvSpPr>
            <a:spLocks noGrp="1"/>
          </p:cNvSpPr>
          <p:nvPr>
            <p:ph idx="1"/>
          </p:nvPr>
        </p:nvSpPr>
        <p:spPr>
          <a:xfrm>
            <a:off x="838204" y="351690"/>
            <a:ext cx="10515600" cy="6248395"/>
          </a:xfrm>
        </p:spPr>
        <p:txBody>
          <a:bodyPr>
            <a:normAutofit/>
          </a:bodyPr>
          <a:p>
            <a:pPr indent="0" marL="0">
              <a:buNone/>
            </a:pPr>
            <a:r>
              <a:rPr b="1"/>
              <a:t>Adverse effects of warfarin</a:t>
            </a:r>
            <a:endParaRPr b="1"/>
          </a:p>
          <a:p>
            <a:r>
              <a:t>Hematologic effects: increased bleeding, thrombocytopenia</a:t>
            </a:r>
          </a:p>
          <a:p>
            <a:r>
              <a:t>Anorexia, nausea, vomiting, diarrhoea and dermatitis.</a:t>
            </a:r>
          </a:p>
          <a:p>
            <a:r>
              <a:t>Hemorrhage</a:t>
            </a:r>
          </a:p>
          <a:p>
            <a:r>
              <a:t>Interference with bone formation in early pregnancy</a:t>
            </a:r>
          </a:p>
          <a:p>
            <a:pPr indent="0" marL="0">
              <a:buNone/>
            </a:pPr>
            <a:r>
              <a:rPr b="1"/>
              <a:t>Drug interaction</a:t>
            </a:r>
            <a:endParaRPr b="1"/>
          </a:p>
          <a:p>
            <a:pPr indent="0" marL="0">
              <a:buNone/>
            </a:pPr>
            <a:r>
              <a:rPr b="1"/>
              <a:t>Potentiation activity</a:t>
            </a:r>
            <a:endParaRPr b="1"/>
          </a:p>
          <a:p>
            <a:r>
              <a:t>Inhibition of metabolism: chloramphenicol, ciprofloxacin, cotrimoxazole, cimetidine. </a:t>
            </a:r>
          </a:p>
          <a:p>
            <a:r>
              <a:t>Displacement from plasma protein; ethacrynic acid.</a:t>
            </a:r>
          </a:p>
          <a:p>
            <a:r>
              <a:t>Platelet function inhibition; NSAIDs (Aspirin)</a:t>
            </a:r>
          </a:p>
          <a:p>
            <a:pPr indent="0" marL="0">
              <a:buNone/>
            </a:pPr>
            <a:r>
              <a:rPr b="1"/>
              <a:t>retarded activity</a:t>
            </a:r>
            <a:endParaRPr b="1"/>
          </a:p>
          <a:p>
            <a:r>
              <a:t>inhibition of absorption; Sucralfate</a:t>
            </a:r>
          </a:p>
          <a:p>
            <a:r>
              <a:t>Enzyme induction; barbiturates, carbamazepine, rifampicin</a:t>
            </a:r>
          </a:p>
        </p:txBody>
      </p:sp>
    </p:spTree>
  </p:cSld>
  <p:clrMapOvr>
    <a:masterClrMapping/>
  </p:clrMapOvr>
</p:sld>
</file>

<file path=ppt/slides/slide577.xml><?xml version="1.0" encoding="utf-8"?>
<p:sld xmlns:a="http://schemas.openxmlformats.org/drawingml/2006/main" xmlns:r="http://schemas.openxmlformats.org/officeDocument/2006/relationships" xmlns:p="http://schemas.openxmlformats.org/presentationml/2006/main">
  <p:cSld>
    <p:spTree>
      <p:nvGrpSpPr>
        <p:cNvPr id="1266" name=""/>
        <p:cNvGrpSpPr/>
        <p:nvPr/>
      </p:nvGrpSpPr>
      <p:grpSpPr>
        <a:xfrm>
          <a:off x="0" y="0"/>
          <a:ext cx="0" cy="0"/>
          <a:chOff x="0" y="0"/>
          <a:chExt cx="0" cy="0"/>
        </a:xfrm>
      </p:grpSpPr>
      <p:sp>
        <p:nvSpPr>
          <p:cNvPr id="1049751" name="Content Placeholder 2"/>
          <p:cNvSpPr>
            <a:spLocks noGrp="1"/>
          </p:cNvSpPr>
          <p:nvPr>
            <p:ph idx="1"/>
          </p:nvPr>
        </p:nvSpPr>
        <p:spPr>
          <a:xfrm>
            <a:off x="838204" y="293075"/>
            <a:ext cx="10515600" cy="6318744"/>
          </a:xfrm>
        </p:spPr>
        <p:txBody>
          <a:bodyPr>
            <a:normAutofit/>
          </a:bodyPr>
          <a:p>
            <a:pPr indent="0" marL="0">
              <a:buNone/>
            </a:pPr>
            <a:r>
              <a:rPr b="1" sz="3200"/>
              <a:t>                                       acenocoumarol</a:t>
            </a:r>
            <a:endParaRPr b="1" sz="3200"/>
          </a:p>
          <a:p>
            <a:r>
              <a:rPr sz="3200"/>
              <a:t>take 2-3 DAYS.</a:t>
            </a:r>
            <a:endParaRPr sz="3200"/>
          </a:p>
          <a:p>
            <a:pPr indent="0" marL="0">
              <a:buNone/>
            </a:pPr>
            <a:r>
              <a:rPr b="1" sz="3200"/>
              <a:t>Indication</a:t>
            </a:r>
            <a:endParaRPr b="1" sz="3200"/>
          </a:p>
          <a:p>
            <a:r>
              <a:t>Arterial fibrillation, </a:t>
            </a:r>
          </a:p>
          <a:p>
            <a:r>
              <a:t>pulmonary embolism, </a:t>
            </a:r>
          </a:p>
          <a:p>
            <a:r>
              <a:t>prophylaxis following insertion of heart valve.</a:t>
            </a:r>
          </a:p>
          <a:p>
            <a:pPr indent="0" marL="0">
              <a:buNone/>
            </a:pPr>
            <a:r>
              <a:t> </a:t>
            </a:r>
            <a:r>
              <a:rPr b="1" sz="3600"/>
              <a:t>adverse drug reaction</a:t>
            </a:r>
            <a:endParaRPr b="1" sz="3600"/>
          </a:p>
          <a:p>
            <a:pPr indent="0" marL="0">
              <a:buNone/>
            </a:pPr>
            <a:r>
              <a:t>Alopecia, diarrhoea, hepatic dysfunction, pancreatitis vomiting</a:t>
            </a:r>
          </a:p>
        </p:txBody>
      </p:sp>
    </p:spTree>
  </p:cSld>
  <p:clrMapOvr>
    <a:masterClrMapping/>
  </p:clrMapOvr>
</p:sld>
</file>

<file path=ppt/slides/slide578.xml><?xml version="1.0" encoding="utf-8"?>
<p:sld xmlns:a="http://schemas.openxmlformats.org/drawingml/2006/main" xmlns:r="http://schemas.openxmlformats.org/officeDocument/2006/relationships" xmlns:p="http://schemas.openxmlformats.org/presentationml/2006/main">
  <p:cSld>
    <p:spTree>
      <p:nvGrpSpPr>
        <p:cNvPr id="1267" name=""/>
        <p:cNvGrpSpPr/>
        <p:nvPr/>
      </p:nvGrpSpPr>
      <p:grpSpPr>
        <a:xfrm>
          <a:off x="0" y="0"/>
          <a:ext cx="0" cy="0"/>
          <a:chOff x="0" y="0"/>
          <a:chExt cx="0" cy="0"/>
        </a:xfrm>
      </p:grpSpPr>
      <p:sp>
        <p:nvSpPr>
          <p:cNvPr id="1049752" name="Content Placeholder 2"/>
          <p:cNvSpPr>
            <a:spLocks noGrp="1"/>
          </p:cNvSpPr>
          <p:nvPr>
            <p:ph idx="1"/>
          </p:nvPr>
        </p:nvSpPr>
        <p:spPr>
          <a:xfrm>
            <a:off x="861645" y="363410"/>
            <a:ext cx="10515600" cy="6307010"/>
          </a:xfrm>
        </p:spPr>
        <p:txBody>
          <a:bodyPr>
            <a:normAutofit/>
          </a:bodyPr>
          <a:p>
            <a:pPr indent="0" marL="0">
              <a:buNone/>
            </a:pPr>
            <a:r>
              <a:rPr b="1"/>
              <a:t>Nursing Administration  of warfarin</a:t>
            </a:r>
            <a:endParaRPr b="1"/>
          </a:p>
          <a:p>
            <a:r>
              <a:t> Administration is usually oral, once daily. </a:t>
            </a:r>
          </a:p>
          <a:p>
            <a:r>
              <a:t>Obtain the client’s baseline vital signs. </a:t>
            </a:r>
          </a:p>
          <a:p>
            <a:r>
              <a:t> Monitor PT levels (therapeutic level 18 to 24 sec) and INR levels (therapeutic levels 2 to 3). INR levels are the most accurate. Hold dose and notify the provider if these levels exceed therapeutic ranges. </a:t>
            </a:r>
          </a:p>
          <a:p>
            <a:r>
              <a:t> Obtain baseline and monitor CBC, platelet count, and Hct levels. </a:t>
            </a:r>
          </a:p>
          <a:p>
            <a:r>
              <a:t> Instruct clients that anticoagulant effects may take 8 to 12 </a:t>
            </a:r>
            <a:r>
              <a:t>hr</a:t>
            </a:r>
            <a:r>
              <a:t> and full therapeutic effect is not achieved for 3 to 5 days. For clients in the hospital setting, explain the need for continued heparin infusion when starting oral warfarin. </a:t>
            </a:r>
          </a:p>
          <a:p>
            <a:r>
              <a:t> Advise clients that anticoagulation effects can persist for up to 5 days following discontinuation of medication because of long half-life. </a:t>
            </a:r>
          </a:p>
          <a:p>
            <a:r>
              <a:t> Advise clients to avoid alcohol and over-the-counter and non-prescription medications to prevent adverse effects and medication interactions, such as risk of bleeding. </a:t>
            </a:r>
          </a:p>
          <a:p>
            <a:r>
              <a:t>Advise clients to employ nonmedication measures to avoid development of thrombi, including avoiding sitting for prolonged periods of time, not wearing constricting clothing, and elevating and moving legs when sitting. </a:t>
            </a:r>
          </a:p>
          <a:p>
            <a:r>
              <a:t> Advise clients to wear a medical alert bracelet indicating warfarin use.</a:t>
            </a:r>
          </a:p>
        </p:txBody>
      </p:sp>
    </p:spTree>
  </p:cSld>
  <p:clrMapOvr>
    <a:masterClrMapping/>
  </p:clrMapOvr>
</p:sld>
</file>

<file path=ppt/slides/slide579.xml><?xml version="1.0" encoding="utf-8"?>
<p:sld xmlns:a="http://schemas.openxmlformats.org/drawingml/2006/main" xmlns:r="http://schemas.openxmlformats.org/officeDocument/2006/relationships" xmlns:p="http://schemas.openxmlformats.org/presentationml/2006/main">
  <p:cSld>
    <p:spTree>
      <p:nvGrpSpPr>
        <p:cNvPr id="1268" name=""/>
        <p:cNvGrpSpPr/>
        <p:nvPr/>
      </p:nvGrpSpPr>
      <p:grpSpPr>
        <a:xfrm>
          <a:off x="0" y="0"/>
          <a:ext cx="0" cy="0"/>
          <a:chOff x="0" y="0"/>
          <a:chExt cx="0" cy="0"/>
        </a:xfrm>
      </p:grpSpPr>
      <p:sp>
        <p:nvSpPr>
          <p:cNvPr id="1049753" name="Content Placeholder 2"/>
          <p:cNvSpPr>
            <a:spLocks noGrp="1"/>
          </p:cNvSpPr>
          <p:nvPr>
            <p:ph idx="1"/>
          </p:nvPr>
        </p:nvSpPr>
        <p:spPr>
          <a:xfrm>
            <a:off x="838204" y="339969"/>
            <a:ext cx="10515600" cy="6260115"/>
          </a:xfrm>
        </p:spPr>
        <p:txBody>
          <a:bodyPr/>
          <a:p>
            <a:pPr indent="0" marL="0">
              <a:buNone/>
            </a:pPr>
            <a:r>
              <a:rPr b="1"/>
              <a:t>Nursing administration of warfarin</a:t>
            </a:r>
            <a:endParaRPr b="1"/>
          </a:p>
          <a:p>
            <a:r>
              <a:t>Be prepared to administer vitamin K for warfarin overdose. </a:t>
            </a:r>
          </a:p>
          <a:p>
            <a:r>
              <a:t>Teach clients to self-monitor PT and INR at home as appropriate. </a:t>
            </a:r>
          </a:p>
          <a:p>
            <a:r>
              <a:t>Advise clients to record dosage, route, and time of warfarin administration on a daily basis. </a:t>
            </a:r>
          </a:p>
          <a:p>
            <a:r>
              <a:t> Plan for frequent PT monitoring for clients who are prescribed medications that interact with warfarin. The client is at greatest risk for harm when the interacting medication is being deleted or added. Frequent PT monitoring will allow for dosage adjustments as necessary. </a:t>
            </a:r>
          </a:p>
          <a:p>
            <a:r>
              <a:t> Advise clients to notify the provider regarding warfarin use. </a:t>
            </a:r>
          </a:p>
          <a:p>
            <a:r>
              <a:t> Advise clients to use a soft-bristle toothbrush to prevent gum bleeding</a:t>
            </a:r>
            <a:endParaRPr b="1"/>
          </a:p>
        </p:txBody>
      </p:sp>
    </p:spTree>
  </p:cSld>
  <p:clrMapOvr>
    <a:masterClrMapping/>
  </p:clrMapOvr>
</p:sld>
</file>

<file path=ppt/slides/slide580.xml><?xml version="1.0" encoding="utf-8"?>
<p:sld xmlns:a="http://schemas.openxmlformats.org/drawingml/2006/main" xmlns:r="http://schemas.openxmlformats.org/officeDocument/2006/relationships" xmlns:p="http://schemas.openxmlformats.org/presentationml/2006/main">
  <p:cSld>
    <p:spTree>
      <p:nvGrpSpPr>
        <p:cNvPr id="1269" name=""/>
        <p:cNvGrpSpPr/>
        <p:nvPr/>
      </p:nvGrpSpPr>
      <p:grpSpPr>
        <a:xfrm>
          <a:off x="0" y="0"/>
          <a:ext cx="0" cy="0"/>
          <a:chOff x="0" y="0"/>
          <a:chExt cx="0" cy="0"/>
        </a:xfrm>
      </p:grpSpPr>
      <p:sp>
        <p:nvSpPr>
          <p:cNvPr id="1049754" name="Title 1"/>
          <p:cNvSpPr>
            <a:spLocks noGrp="1"/>
          </p:cNvSpPr>
          <p:nvPr>
            <p:ph type="title"/>
          </p:nvPr>
        </p:nvSpPr>
        <p:spPr/>
        <p:txBody>
          <a:bodyPr/>
          <a:p>
            <a:r>
              <a:t>      </a:t>
            </a:r>
            <a:r>
              <a:rPr b="1"/>
              <a:t>Thrombolytic /Fibrinolytic Medications</a:t>
            </a:r>
            <a:endParaRPr b="1"/>
          </a:p>
        </p:txBody>
      </p:sp>
      <p:sp>
        <p:nvSpPr>
          <p:cNvPr id="1049755" name="Content Placeholder 2"/>
          <p:cNvSpPr>
            <a:spLocks noGrp="1"/>
          </p:cNvSpPr>
          <p:nvPr>
            <p:ph idx="1"/>
          </p:nvPr>
        </p:nvSpPr>
        <p:spPr>
          <a:xfrm>
            <a:off x="879225" y="1825618"/>
            <a:ext cx="10474565" cy="4351339"/>
          </a:xfrm>
        </p:spPr>
        <p:txBody>
          <a:bodyPr/>
          <a:p>
            <a:pPr indent="0" marL="0">
              <a:buNone/>
            </a:pPr>
            <a:r>
              <a:t>Two phenomena which causes hemostasis include,</a:t>
            </a:r>
          </a:p>
          <a:p>
            <a:r>
              <a:t>Coagulation of blood .</a:t>
            </a:r>
          </a:p>
          <a:p>
            <a:r>
              <a:t>Formation of a thrombus</a:t>
            </a:r>
          </a:p>
          <a:p>
            <a:pPr indent="0" marL="0">
              <a:buNone/>
            </a:pPr>
            <a:r>
              <a:rPr b="1"/>
              <a:t>formation of a thrombus is restricted through:</a:t>
            </a:r>
            <a:endParaRPr b="1"/>
          </a:p>
          <a:p>
            <a:pPr indent="-514350" marL="514350">
              <a:buFont typeface="+mj-lt"/>
              <a:buAutoNum type="arabicPeriod"/>
            </a:pPr>
            <a:r>
              <a:rPr b="1"/>
              <a:t>Fibrin inhibition:</a:t>
            </a:r>
            <a:r>
              <a:t> anti thrombin III, Ant plasmin, Antitrypsin, Macroglobulin</a:t>
            </a:r>
          </a:p>
          <a:p>
            <a:pPr indent="-514350" marL="514350">
              <a:buFont typeface="+mj-lt"/>
              <a:buAutoNum type="arabicPeriod"/>
            </a:pPr>
            <a:r>
              <a:rPr b="1"/>
              <a:t>Fibrinolysis: </a:t>
            </a:r>
            <a:r>
              <a:t>tissue plasminogen activator and CF XII activate fibrin bound plasminogen to active plasmin, restrict formation of a thrombus.</a:t>
            </a:r>
          </a:p>
        </p:txBody>
      </p:sp>
    </p:spTree>
  </p:cSld>
  <p:clrMapOvr>
    <a:masterClrMapping/>
  </p:clrMapOvr>
</p:sld>
</file>

<file path=ppt/slides/slide581.xml><?xml version="1.0" encoding="utf-8"?>
<p:sld xmlns:a="http://schemas.openxmlformats.org/drawingml/2006/main" xmlns:r="http://schemas.openxmlformats.org/officeDocument/2006/relationships" xmlns:p="http://schemas.openxmlformats.org/presentationml/2006/main">
  <p:cSld>
    <p:spTree>
      <p:nvGrpSpPr>
        <p:cNvPr id="1270" name=""/>
        <p:cNvGrpSpPr/>
        <p:nvPr/>
      </p:nvGrpSpPr>
      <p:grpSpPr>
        <a:xfrm>
          <a:off x="0" y="0"/>
          <a:ext cx="0" cy="0"/>
          <a:chOff x="0" y="0"/>
          <a:chExt cx="0" cy="0"/>
        </a:xfrm>
      </p:grpSpPr>
      <p:sp>
        <p:nvSpPr>
          <p:cNvPr id="1049756" name="Content Placeholder 2"/>
          <p:cNvSpPr>
            <a:spLocks noGrp="1"/>
          </p:cNvSpPr>
          <p:nvPr>
            <p:ph idx="1"/>
          </p:nvPr>
        </p:nvSpPr>
        <p:spPr>
          <a:xfrm>
            <a:off x="861645" y="257900"/>
            <a:ext cx="10515600" cy="6353905"/>
          </a:xfrm>
        </p:spPr>
        <p:txBody>
          <a:bodyPr/>
          <a:p>
            <a:pPr indent="0" marL="0">
              <a:buNone/>
            </a:pPr>
            <a:r>
              <a:rPr b="1"/>
              <a:t>Mechanism of action of fibrinolytic</a:t>
            </a:r>
            <a:endParaRPr b="1"/>
          </a:p>
          <a:p>
            <a:pPr indent="0" marL="0">
              <a:buNone/>
            </a:pPr>
            <a:r>
              <a:t>Thrombolytic/fibrinolytic medications dissolve clots that have already formed. Clots are dissolved by conversion of plasminogen to plasmin, which destroys fibrinogen and other clotting factors.</a:t>
            </a:r>
            <a:r>
              <a:rPr b="1"/>
              <a:t> </a:t>
            </a:r>
            <a:r>
              <a:t>The result is clot disintegration.</a:t>
            </a:r>
          </a:p>
          <a:p>
            <a:pPr indent="0" marL="0">
              <a:buNone/>
            </a:pPr>
            <a:r>
              <a:rPr b="1"/>
              <a:t>The commonly used fibrinolytic include: </a:t>
            </a:r>
            <a:endParaRPr b="1"/>
          </a:p>
          <a:p>
            <a:r>
              <a:t>Streptokinase (Streptase) </a:t>
            </a:r>
          </a:p>
          <a:p>
            <a:r>
              <a:t>Urokinase</a:t>
            </a:r>
          </a:p>
          <a:p>
            <a:r>
              <a:t>Alteplase (Activase, tPA),</a:t>
            </a:r>
          </a:p>
          <a:p>
            <a:r>
              <a:t>Anistreplase</a:t>
            </a:r>
          </a:p>
          <a:p>
            <a:r>
              <a:t>Reteplase (Retavase)  </a:t>
            </a:r>
          </a:p>
          <a:p>
            <a:pPr indent="0" marL="0">
              <a:buNone/>
            </a:pPr>
            <a:endParaRPr b="1"/>
          </a:p>
          <a:p>
            <a:pPr indent="0" marL="0">
              <a:buNone/>
            </a:pPr>
            <a:endParaRPr b="1"/>
          </a:p>
        </p:txBody>
      </p:sp>
    </p:spTree>
  </p:cSld>
  <p:clrMapOvr>
    <a:masterClrMapping/>
  </p:clrMapOvr>
</p:sld>
</file>

<file path=ppt/slides/slide582.xml><?xml version="1.0" encoding="utf-8"?>
<p:sld xmlns:a="http://schemas.openxmlformats.org/drawingml/2006/main" xmlns:r="http://schemas.openxmlformats.org/officeDocument/2006/relationships" xmlns:p="http://schemas.openxmlformats.org/presentationml/2006/main">
  <p:cSld>
    <p:spTree>
      <p:nvGrpSpPr>
        <p:cNvPr id="1271" name=""/>
        <p:cNvGrpSpPr/>
        <p:nvPr/>
      </p:nvGrpSpPr>
      <p:grpSpPr>
        <a:xfrm>
          <a:off x="0" y="0"/>
          <a:ext cx="0" cy="0"/>
          <a:chOff x="0" y="0"/>
          <a:chExt cx="0" cy="0"/>
        </a:xfrm>
      </p:grpSpPr>
      <p:sp>
        <p:nvSpPr>
          <p:cNvPr id="1049757" name="Title 1"/>
          <p:cNvSpPr>
            <a:spLocks noGrp="1"/>
          </p:cNvSpPr>
          <p:nvPr>
            <p:ph type="title"/>
          </p:nvPr>
        </p:nvSpPr>
        <p:spPr/>
        <p:txBody>
          <a:bodyPr/>
          <a:p>
            <a:r>
              <a:rPr b="1"/>
              <a:t>streptokinase</a:t>
            </a:r>
            <a:endParaRPr b="1"/>
          </a:p>
        </p:txBody>
      </p:sp>
      <p:sp>
        <p:nvSpPr>
          <p:cNvPr id="1049758" name="Content Placeholder 2"/>
          <p:cNvSpPr>
            <a:spLocks noGrp="1"/>
          </p:cNvSpPr>
          <p:nvPr>
            <p:ph idx="1"/>
          </p:nvPr>
        </p:nvSpPr>
        <p:spPr/>
        <p:txBody>
          <a:bodyPr>
            <a:normAutofit/>
          </a:bodyPr>
          <a:p>
            <a:pPr indent="0" marL="0">
              <a:buNone/>
            </a:pPr>
            <a:r>
              <a:rPr b="1"/>
              <a:t>Mechanism of action:</a:t>
            </a:r>
            <a:endParaRPr b="1"/>
          </a:p>
          <a:p>
            <a:r>
              <a:t>streptokinase is a semi synthetic that acts systematically to dissolve the blood clot by activating plasminogen to plasmin.</a:t>
            </a:r>
          </a:p>
          <a:p>
            <a:pPr indent="0" marL="0">
              <a:buNone/>
            </a:pPr>
            <a:r>
              <a:rPr b="1"/>
              <a:t>Clinical indication</a:t>
            </a:r>
            <a:endParaRPr b="1"/>
          </a:p>
          <a:p>
            <a:r>
              <a:t>Acute myocardial infarction </a:t>
            </a:r>
          </a:p>
          <a:p>
            <a:r>
              <a:t>Deep vein thrombosis (DVT) </a:t>
            </a:r>
          </a:p>
          <a:p>
            <a:r>
              <a:t> Massive pulmonary emboli </a:t>
            </a:r>
          </a:p>
          <a:p>
            <a:r>
              <a:t> </a:t>
            </a:r>
            <a:r>
              <a:t>thrombo</a:t>
            </a:r>
            <a:r>
              <a:t> embolic stroke (alteplase)</a:t>
            </a:r>
          </a:p>
          <a:p>
            <a:r>
              <a:t>Peripheral arterial thrombosis</a:t>
            </a:r>
          </a:p>
          <a:p>
            <a:r>
              <a:t>To open clotted iv catheters</a:t>
            </a:r>
          </a:p>
          <a:p>
            <a:pPr indent="0" marL="0">
              <a:buNone/>
            </a:pPr>
            <a:endParaRPr b="1"/>
          </a:p>
          <a:p>
            <a:pPr indent="0" marL="0">
              <a:buNone/>
            </a:pPr>
            <a:endParaRPr b="1"/>
          </a:p>
          <a:p>
            <a:pPr indent="0" marL="0">
              <a:buNone/>
            </a:pPr>
            <a:endParaRPr b="1"/>
          </a:p>
        </p:txBody>
      </p:sp>
    </p:spTree>
  </p:cSld>
  <p:clrMapOvr>
    <a:masterClrMapping/>
  </p:clrMapOvr>
</p:sld>
</file>

<file path=ppt/slides/slide583.xml><?xml version="1.0" encoding="utf-8"?>
<p:sld xmlns:a="http://schemas.openxmlformats.org/drawingml/2006/main" xmlns:r="http://schemas.openxmlformats.org/officeDocument/2006/relationships" xmlns:p="http://schemas.openxmlformats.org/presentationml/2006/main">
  <p:cSld>
    <p:spTree>
      <p:nvGrpSpPr>
        <p:cNvPr id="1272" name=""/>
        <p:cNvGrpSpPr/>
        <p:nvPr/>
      </p:nvGrpSpPr>
      <p:grpSpPr>
        <a:xfrm>
          <a:off x="0" y="0"/>
          <a:ext cx="0" cy="0"/>
          <a:chOff x="0" y="0"/>
          <a:chExt cx="0" cy="0"/>
        </a:xfrm>
      </p:grpSpPr>
      <p:sp>
        <p:nvSpPr>
          <p:cNvPr id="1049759" name="Content Placeholder 2"/>
          <p:cNvSpPr>
            <a:spLocks noGrp="1"/>
          </p:cNvSpPr>
          <p:nvPr>
            <p:ph idx="1"/>
          </p:nvPr>
        </p:nvSpPr>
        <p:spPr>
          <a:xfrm>
            <a:off x="838204" y="234460"/>
            <a:ext cx="10515600" cy="6494589"/>
          </a:xfrm>
        </p:spPr>
        <p:txBody>
          <a:bodyPr>
            <a:normAutofit/>
          </a:bodyPr>
          <a:p>
            <a:pPr indent="0" marL="0">
              <a:buNone/>
            </a:pPr>
            <a:r>
              <a:rPr b="1"/>
              <a:t>Adverse reaction</a:t>
            </a:r>
            <a:endParaRPr b="1"/>
          </a:p>
          <a:p>
            <a:r>
              <a:t>Allergic reaction (urticaria, itching, flushing, bronchospasms); possible severe anaphylactic reaction.</a:t>
            </a:r>
          </a:p>
          <a:p>
            <a:r>
              <a:t>Serious risk of bleeding from different sites (within brain, needle puncture sites, wounds)</a:t>
            </a:r>
          </a:p>
          <a:p>
            <a:r>
              <a:t>Hypotension</a:t>
            </a:r>
          </a:p>
          <a:p>
            <a:r>
              <a:t>Arrhythmias </a:t>
            </a:r>
          </a:p>
          <a:p>
            <a:pPr indent="0" marL="0">
              <a:buNone/>
            </a:pPr>
            <a:r>
              <a:rPr b="1"/>
              <a:t>Contraindications/Precautions </a:t>
            </a:r>
            <a:endParaRPr b="1"/>
          </a:p>
          <a:p>
            <a:r>
              <a:t>Any prior intracranial hemorrhage (hemorrhagic stroke) </a:t>
            </a:r>
          </a:p>
          <a:p>
            <a:r>
              <a:t>Active internal bleeding </a:t>
            </a:r>
          </a:p>
          <a:p>
            <a:r>
              <a:t> History of significant closed head or facial trauma in the past 3 months </a:t>
            </a:r>
          </a:p>
          <a:p>
            <a:r>
              <a:t> Acute pericarditis </a:t>
            </a:r>
          </a:p>
          <a:p>
            <a:r>
              <a:t> Brain tumors </a:t>
            </a:r>
          </a:p>
          <a:p>
            <a:r>
              <a:t> Use cautiously in clients who have severe hypertension, a recent episode of ischemic stroke (6 months prior to start of treatment), or a recent major surgery (2 to 4 weeks prior to start of treatment).</a:t>
            </a:r>
          </a:p>
          <a:p>
            <a:pPr indent="0" marL="0">
              <a:buNone/>
            </a:pPr>
          </a:p>
        </p:txBody>
      </p:sp>
    </p:spTree>
  </p:cSld>
  <p:clrMapOvr>
    <a:masterClrMapping/>
  </p:clrMapOvr>
</p:sld>
</file>

<file path=ppt/slides/slide584.xml><?xml version="1.0" encoding="utf-8"?>
<p:sld xmlns:a="http://schemas.openxmlformats.org/drawingml/2006/main" xmlns:r="http://schemas.openxmlformats.org/officeDocument/2006/relationships" xmlns:p="http://schemas.openxmlformats.org/presentationml/2006/main">
  <p:cSld>
    <p:spTree>
      <p:nvGrpSpPr>
        <p:cNvPr id="1273" name=""/>
        <p:cNvGrpSpPr/>
        <p:nvPr/>
      </p:nvGrpSpPr>
      <p:grpSpPr>
        <a:xfrm>
          <a:off x="0" y="0"/>
          <a:ext cx="0" cy="0"/>
          <a:chOff x="0" y="0"/>
          <a:chExt cx="0" cy="0"/>
        </a:xfrm>
      </p:grpSpPr>
      <p:sp>
        <p:nvSpPr>
          <p:cNvPr id="1049760" name="Title 1"/>
          <p:cNvSpPr>
            <a:spLocks noGrp="1"/>
          </p:cNvSpPr>
          <p:nvPr>
            <p:ph type="title"/>
          </p:nvPr>
        </p:nvSpPr>
        <p:spPr/>
        <p:txBody>
          <a:bodyPr/>
          <a:p>
            <a:r>
              <a:rPr b="1"/>
              <a:t>urokinase</a:t>
            </a:r>
            <a:endParaRPr b="1"/>
          </a:p>
        </p:txBody>
      </p:sp>
      <p:sp>
        <p:nvSpPr>
          <p:cNvPr id="1049761" name="Content Placeholder 2"/>
          <p:cNvSpPr>
            <a:spLocks noGrp="1"/>
          </p:cNvSpPr>
          <p:nvPr>
            <p:ph idx="1"/>
          </p:nvPr>
        </p:nvSpPr>
        <p:spPr/>
        <p:txBody>
          <a:bodyPr>
            <a:normAutofit/>
          </a:bodyPr>
          <a:p>
            <a:r>
              <a:t>Isolated from human renal cells from tissue cultures.</a:t>
            </a:r>
          </a:p>
          <a:p>
            <a:r>
              <a:t>Helps in direct conversion of plasminogen to plasmin.</a:t>
            </a:r>
          </a:p>
          <a:p>
            <a:pPr indent="0" marL="0">
              <a:buNone/>
            </a:pPr>
            <a:r>
              <a:rPr b="1"/>
              <a:t>Therapeutic uses</a:t>
            </a:r>
            <a:endParaRPr b="1"/>
          </a:p>
          <a:p>
            <a:r>
              <a:t>Myocardial infarction. </a:t>
            </a:r>
          </a:p>
          <a:p>
            <a:r>
              <a:t>Venous thrombosis.</a:t>
            </a:r>
          </a:p>
          <a:p>
            <a:r>
              <a:t>Pulmonary embolism.</a:t>
            </a:r>
          </a:p>
          <a:p>
            <a:pPr indent="0" marL="0">
              <a:buNone/>
            </a:pPr>
            <a:r>
              <a:rPr b="1"/>
              <a:t>Adverse reaction</a:t>
            </a:r>
            <a:endParaRPr b="1"/>
          </a:p>
          <a:p>
            <a:r>
              <a:t>Fever.</a:t>
            </a:r>
          </a:p>
          <a:p>
            <a:r>
              <a:t>Hemorrhage.</a:t>
            </a:r>
          </a:p>
        </p:txBody>
      </p:sp>
    </p:spTree>
  </p:cSld>
  <p:clrMapOvr>
    <a:masterClrMapping/>
  </p:clrMapOvr>
</p:sld>
</file>

<file path=ppt/slides/slide585.xml><?xml version="1.0" encoding="utf-8"?>
<p:sld xmlns:a="http://schemas.openxmlformats.org/drawingml/2006/main" xmlns:r="http://schemas.openxmlformats.org/officeDocument/2006/relationships" xmlns:p="http://schemas.openxmlformats.org/presentationml/2006/main">
  <p:cSld>
    <p:spTree>
      <p:nvGrpSpPr>
        <p:cNvPr id="1274" name=""/>
        <p:cNvGrpSpPr/>
        <p:nvPr/>
      </p:nvGrpSpPr>
      <p:grpSpPr>
        <a:xfrm>
          <a:off x="0" y="0"/>
          <a:ext cx="0" cy="0"/>
          <a:chOff x="0" y="0"/>
          <a:chExt cx="0" cy="0"/>
        </a:xfrm>
      </p:grpSpPr>
      <p:sp>
        <p:nvSpPr>
          <p:cNvPr id="1049762" name="Title 1"/>
          <p:cNvSpPr>
            <a:spLocks noGrp="1"/>
          </p:cNvSpPr>
          <p:nvPr>
            <p:ph type="title"/>
          </p:nvPr>
        </p:nvSpPr>
        <p:spPr/>
        <p:txBody>
          <a:bodyPr/>
          <a:p>
            <a:r>
              <a:rPr b="1"/>
              <a:t>alteplase</a:t>
            </a:r>
            <a:endParaRPr b="1"/>
          </a:p>
        </p:txBody>
      </p:sp>
      <p:sp>
        <p:nvSpPr>
          <p:cNvPr id="1049763" name="Content Placeholder 2"/>
          <p:cNvSpPr>
            <a:spLocks noGrp="1"/>
          </p:cNvSpPr>
          <p:nvPr>
            <p:ph idx="1"/>
          </p:nvPr>
        </p:nvSpPr>
        <p:spPr/>
        <p:txBody>
          <a:bodyPr>
            <a:normAutofit/>
          </a:bodyPr>
          <a:p>
            <a:pPr indent="0" marL="0">
              <a:buNone/>
            </a:pPr>
            <a:r>
              <a:rPr b="1"/>
              <a:t>Mechanism of action</a:t>
            </a:r>
            <a:endParaRPr b="1"/>
          </a:p>
          <a:p>
            <a:r>
              <a:t>Recombinant tissue plasminogen activator (t-PA)</a:t>
            </a:r>
          </a:p>
          <a:p>
            <a:r>
              <a:t>helps in Critical activation of plasminogen bound in fibrin clot. Reduces the risk of systemic bleeding to an appreciable extent.</a:t>
            </a:r>
          </a:p>
          <a:p>
            <a:r>
              <a:t>Half life 4-8 minutes</a:t>
            </a:r>
          </a:p>
          <a:p>
            <a:r>
              <a:t>More efficacious than others</a:t>
            </a:r>
          </a:p>
          <a:p>
            <a:pPr indent="0" marL="0">
              <a:buNone/>
            </a:pPr>
            <a:r>
              <a:rPr b="1"/>
              <a:t>Therapeutic use</a:t>
            </a:r>
            <a:endParaRPr b="1"/>
          </a:p>
          <a:p>
            <a:pPr indent="0" marL="0">
              <a:buNone/>
            </a:pPr>
            <a:r>
              <a:t>Lysis of occlusive coronary artery thrombi associated with myocardial infarction.</a:t>
            </a:r>
          </a:p>
          <a:p>
            <a:pPr indent="0" marL="0">
              <a:buNone/>
            </a:pPr>
            <a:r>
              <a:t>Deep venous thrombosis.</a:t>
            </a:r>
          </a:p>
          <a:p>
            <a:pPr indent="0" marL="0">
              <a:buNone/>
            </a:pPr>
            <a:r>
              <a:t>Ischemic cerebrovascular disease</a:t>
            </a:r>
          </a:p>
        </p:txBody>
      </p:sp>
    </p:spTree>
  </p:cSld>
  <p:clrMapOvr>
    <a:masterClrMapping/>
  </p:clrMapOvr>
</p:sld>
</file>

<file path=ppt/slides/slide586.xml><?xml version="1.0" encoding="utf-8"?>
<p:sld xmlns:a="http://schemas.openxmlformats.org/drawingml/2006/main" xmlns:r="http://schemas.openxmlformats.org/officeDocument/2006/relationships" xmlns:p="http://schemas.openxmlformats.org/presentationml/2006/main">
  <p:cSld>
    <p:spTree>
      <p:nvGrpSpPr>
        <p:cNvPr id="1275" name=""/>
        <p:cNvGrpSpPr/>
        <p:nvPr/>
      </p:nvGrpSpPr>
      <p:grpSpPr>
        <a:xfrm>
          <a:off x="0" y="0"/>
          <a:ext cx="0" cy="0"/>
          <a:chOff x="0" y="0"/>
          <a:chExt cx="0" cy="0"/>
        </a:xfrm>
      </p:grpSpPr>
      <p:sp>
        <p:nvSpPr>
          <p:cNvPr id="1049764" name="Content Placeholder 2"/>
          <p:cNvSpPr>
            <a:spLocks noGrp="1"/>
          </p:cNvSpPr>
          <p:nvPr>
            <p:ph idx="1"/>
          </p:nvPr>
        </p:nvSpPr>
        <p:spPr>
          <a:xfrm>
            <a:off x="838204" y="199285"/>
            <a:ext cx="10515600" cy="6342184"/>
          </a:xfrm>
        </p:spPr>
        <p:txBody>
          <a:bodyPr/>
          <a:p>
            <a:pPr indent="0" marL="0">
              <a:buNone/>
            </a:pPr>
            <a:r>
              <a:rPr b="1"/>
              <a:t>Adverse reaction</a:t>
            </a:r>
            <a:endParaRPr b="1"/>
          </a:p>
          <a:p>
            <a:r>
              <a:t>Nausea </a:t>
            </a:r>
          </a:p>
          <a:p>
            <a:r>
              <a:t>Fever</a:t>
            </a:r>
          </a:p>
          <a:p>
            <a:r>
              <a:t>Rash, pruritic </a:t>
            </a:r>
          </a:p>
          <a:p>
            <a:r>
              <a:t>Mild hypertension</a:t>
            </a:r>
          </a:p>
          <a:p>
            <a:r>
              <a:t>Localized bleeding</a:t>
            </a:r>
          </a:p>
        </p:txBody>
      </p:sp>
    </p:spTree>
  </p:cSld>
  <p:clrMapOvr>
    <a:masterClrMapping/>
  </p:clrMapOvr>
</p:sld>
</file>

<file path=ppt/slides/slide587.xml><?xml version="1.0" encoding="utf-8"?>
<p:sld xmlns:a="http://schemas.openxmlformats.org/drawingml/2006/main" xmlns:r="http://schemas.openxmlformats.org/officeDocument/2006/relationships" xmlns:p="http://schemas.openxmlformats.org/presentationml/2006/main">
  <p:cSld>
    <p:spTree>
      <p:nvGrpSpPr>
        <p:cNvPr id="1276" name=""/>
        <p:cNvGrpSpPr/>
        <p:nvPr/>
      </p:nvGrpSpPr>
      <p:grpSpPr>
        <a:xfrm>
          <a:off x="0" y="0"/>
          <a:ext cx="0" cy="0"/>
          <a:chOff x="0" y="0"/>
          <a:chExt cx="0" cy="0"/>
        </a:xfrm>
      </p:grpSpPr>
      <p:sp>
        <p:nvSpPr>
          <p:cNvPr id="1049765" name="Content Placeholder 2"/>
          <p:cNvSpPr>
            <a:spLocks noGrp="1"/>
          </p:cNvSpPr>
          <p:nvPr>
            <p:ph idx="1"/>
          </p:nvPr>
        </p:nvSpPr>
        <p:spPr>
          <a:xfrm>
            <a:off x="838204" y="175845"/>
            <a:ext cx="10515600" cy="6435974"/>
          </a:xfrm>
        </p:spPr>
        <p:txBody>
          <a:bodyPr>
            <a:normAutofit/>
          </a:bodyPr>
          <a:p>
            <a:pPr indent="0" marL="0">
              <a:buNone/>
            </a:pPr>
            <a:r>
              <a:rPr b="1"/>
              <a:t>Nursing Administration of thrombolytic agents</a:t>
            </a:r>
            <a:endParaRPr b="1"/>
          </a:p>
          <a:p>
            <a:r>
              <a:t> Use of thrombolytic agents must take place within 4 to 6 hr. of onset of symptoms</a:t>
            </a:r>
          </a:p>
          <a:p>
            <a:r>
              <a:t>  monitor in a setting that provides for close supervision and continuous monitoring during and after administration of the medication. </a:t>
            </a:r>
          </a:p>
          <a:p>
            <a:r>
              <a:t> Obtain baseline platelet counts, hemoglobin (Hgb), hematocrit (Hct), a PTT, PT, INR, and fibrinogen levels, and monitor periodically. </a:t>
            </a:r>
          </a:p>
          <a:p>
            <a:r>
              <a:t> Obtain baseline vital signs (heart rate, blood pressure) and monitor frequently per protocol. </a:t>
            </a:r>
          </a:p>
          <a:p>
            <a:r>
              <a:t> Nursing care includes continuous monitoring of hemodynamic status to assess for therapeutic and adverse effects of thrombolytic (relief of chest pain, signs of bleeding). Follow facility protocol. </a:t>
            </a:r>
          </a:p>
          <a:p>
            <a:r>
              <a:t> Provide for client safety per facility protocol. </a:t>
            </a:r>
          </a:p>
          <a:p>
            <a:r>
              <a:t> Ensure adequate IV access for administration of emergency medications and availability of emergency equipment. </a:t>
            </a:r>
          </a:p>
          <a:p>
            <a:r>
              <a:t> </a:t>
            </a:r>
            <a:r>
              <a:rPr>
                <a:solidFill>
                  <a:srgbClr val="000000"/>
                </a:solidFill>
              </a:rPr>
              <a:t>Do not mix any medications in IV with thrombolytic agents. </a:t>
            </a:r>
            <a:endParaRPr>
              <a:solidFill>
                <a:srgbClr val="000000"/>
              </a:solidFill>
            </a:endParaRPr>
          </a:p>
          <a:p/>
        </p:txBody>
      </p:sp>
    </p:spTree>
  </p:cSld>
  <p:clrMapOvr>
    <a:masterClrMapping/>
  </p:clrMapOvr>
</p:sld>
</file>

<file path=ppt/slides/slide588.xml><?xml version="1.0" encoding="utf-8"?>
<p:sld xmlns:a="http://schemas.openxmlformats.org/drawingml/2006/main" xmlns:r="http://schemas.openxmlformats.org/officeDocument/2006/relationships" xmlns:p="http://schemas.openxmlformats.org/presentationml/2006/main">
  <p:cSld>
    <p:spTree>
      <p:nvGrpSpPr>
        <p:cNvPr id="1277" name=""/>
        <p:cNvGrpSpPr/>
        <p:nvPr/>
      </p:nvGrpSpPr>
      <p:grpSpPr>
        <a:xfrm>
          <a:off x="0" y="0"/>
          <a:ext cx="0" cy="0"/>
          <a:chOff x="0" y="0"/>
          <a:chExt cx="0" cy="0"/>
        </a:xfrm>
      </p:grpSpPr>
      <p:sp>
        <p:nvSpPr>
          <p:cNvPr id="1049766" name="Content Placeholder 2"/>
          <p:cNvSpPr>
            <a:spLocks noGrp="1"/>
          </p:cNvSpPr>
          <p:nvPr>
            <p:ph idx="1"/>
          </p:nvPr>
        </p:nvSpPr>
        <p:spPr>
          <a:xfrm>
            <a:off x="838204" y="152404"/>
            <a:ext cx="10515600" cy="6494589"/>
          </a:xfrm>
        </p:spPr>
        <p:txBody>
          <a:bodyPr>
            <a:noAutofit/>
          </a:bodyPr>
          <a:p>
            <a:pPr indent="0" marL="0">
              <a:buNone/>
            </a:pPr>
            <a:r>
              <a:rPr b="1">
                <a:solidFill>
                  <a:srgbClr val="000000"/>
                </a:solidFill>
              </a:rPr>
              <a:t>Nursing administration cont.’</a:t>
            </a:r>
            <a:endParaRPr b="1">
              <a:solidFill>
                <a:srgbClr val="000000"/>
              </a:solidFill>
            </a:endParaRPr>
          </a:p>
          <a:p>
            <a:r>
              <a:rPr>
                <a:solidFill>
                  <a:srgbClr val="000000"/>
                </a:solidFill>
              </a:rPr>
              <a:t>Minimize bruising or bleeding by limiting venipunctures and subcutaneous/intramuscular injections. </a:t>
            </a:r>
            <a:endParaRPr>
              <a:solidFill>
                <a:srgbClr val="000000"/>
              </a:solidFill>
            </a:endParaRPr>
          </a:p>
          <a:p>
            <a:r>
              <a:rPr>
                <a:solidFill>
                  <a:srgbClr val="000000"/>
                </a:solidFill>
              </a:rPr>
              <a:t> Discontinue thrombolytic therapy if life-threatening bleeding occurs. Treat blood loss with whole blood, packed red blood cells, and/or fresh frozen plasma. IV aminocaproic acid (Amicar) should be available for administration in the event of excessive fibrinolysis. </a:t>
            </a:r>
            <a:endParaRPr>
              <a:solidFill>
                <a:srgbClr val="000000"/>
              </a:solidFill>
            </a:endParaRPr>
          </a:p>
          <a:p>
            <a:r>
              <a:rPr>
                <a:solidFill>
                  <a:srgbClr val="000000"/>
                </a:solidFill>
              </a:rPr>
              <a:t> Following thrombolytic therapy, administer heparin or aspirin as prescribed to decrease the risk of rethrombosis. </a:t>
            </a:r>
            <a:endParaRPr>
              <a:solidFill>
                <a:srgbClr val="000000"/>
              </a:solidFill>
            </a:endParaRPr>
          </a:p>
          <a:p>
            <a:r>
              <a:rPr>
                <a:solidFill>
                  <a:srgbClr val="000000"/>
                </a:solidFill>
              </a:rPr>
              <a:t> Following thrombolytic therapy, administer beta blockers as prescribed to decrease myocardial oxygen consumption and to reduce the incidence and severity of reperfusion arrhythmias. </a:t>
            </a:r>
            <a:endParaRPr>
              <a:solidFill>
                <a:srgbClr val="000000"/>
              </a:solidFill>
            </a:endParaRPr>
          </a:p>
          <a:p>
            <a:r>
              <a:rPr>
                <a:solidFill>
                  <a:srgbClr val="000000"/>
                </a:solidFill>
              </a:rPr>
              <a:t> Administer H2 antagonists, such as ranitidine (Zantac), or proton pump inhibitors, such as omeprazole (Prilosec), as prescribed to prevent GI bleeding.</a:t>
            </a:r>
          </a:p>
        </p:txBody>
      </p:sp>
    </p:spTree>
  </p:cSld>
  <p:clrMapOvr>
    <a:masterClrMapping/>
  </p:clrMapOvr>
</p:sld>
</file>

<file path=ppt/slides/slide589.xml><?xml version="1.0" encoding="utf-8"?>
<p:sld xmlns:a="http://schemas.openxmlformats.org/drawingml/2006/main" xmlns:r="http://schemas.openxmlformats.org/officeDocument/2006/relationships" xmlns:p="http://schemas.openxmlformats.org/presentationml/2006/main">
  <p:cSld>
    <p:spTree>
      <p:nvGrpSpPr>
        <p:cNvPr id="1278" name=""/>
        <p:cNvGrpSpPr/>
        <p:nvPr/>
      </p:nvGrpSpPr>
      <p:grpSpPr>
        <a:xfrm>
          <a:off x="0" y="0"/>
          <a:ext cx="0" cy="0"/>
          <a:chOff x="0" y="0"/>
          <a:chExt cx="0" cy="0"/>
        </a:xfrm>
      </p:grpSpPr>
      <p:sp>
        <p:nvSpPr>
          <p:cNvPr id="1049767" name="Title 1"/>
          <p:cNvSpPr>
            <a:spLocks noGrp="1"/>
          </p:cNvSpPr>
          <p:nvPr>
            <p:ph type="title"/>
          </p:nvPr>
        </p:nvSpPr>
        <p:spPr>
          <a:xfrm>
            <a:off x="855784" y="306511"/>
            <a:ext cx="10515600" cy="1325556"/>
          </a:xfrm>
        </p:spPr>
        <p:txBody>
          <a:bodyPr/>
          <a:p>
            <a:r>
              <a:rPr b="1"/>
              <a:t>                        Anti platelets drugs    </a:t>
            </a:r>
            <a:endParaRPr b="1"/>
          </a:p>
        </p:txBody>
      </p:sp>
      <p:sp>
        <p:nvSpPr>
          <p:cNvPr id="1049768" name="Content Placeholder 2"/>
          <p:cNvSpPr>
            <a:spLocks noGrp="1"/>
          </p:cNvSpPr>
          <p:nvPr>
            <p:ph idx="1"/>
          </p:nvPr>
        </p:nvSpPr>
        <p:spPr/>
        <p:txBody>
          <a:bodyPr>
            <a:normAutofit fontScale="82143" lnSpcReduction="20000"/>
          </a:bodyPr>
          <a:p>
            <a:r>
              <a:t>These are agents that decrease the formation of platelet plug by decreasing their responsiveness to various stimuli that would cause them to risk and combine together on a vessel wall.</a:t>
            </a:r>
          </a:p>
          <a:p>
            <a:pPr indent="0" marL="0">
              <a:buNone/>
            </a:pPr>
            <a:r>
              <a:t>This include;</a:t>
            </a:r>
          </a:p>
          <a:p>
            <a:r>
              <a:t>Acetyl salicylic acid (aspirin)</a:t>
            </a:r>
          </a:p>
          <a:p>
            <a:r>
              <a:t>Thienopyridine analogues</a:t>
            </a:r>
          </a:p>
          <a:p>
            <a:pPr indent="0" marL="0">
              <a:buNone/>
            </a:pPr>
            <a:r>
              <a:t>         Ticlopidine,</a:t>
            </a:r>
          </a:p>
          <a:p>
            <a:pPr indent="0" marL="0">
              <a:buNone/>
            </a:pPr>
            <a:r>
              <a:t>         Clopidogrel</a:t>
            </a:r>
          </a:p>
          <a:p>
            <a:r>
              <a:t>Glycoprotein receptor antagonist:</a:t>
            </a:r>
          </a:p>
          <a:p>
            <a:pPr indent="0" marL="0">
              <a:buNone/>
            </a:pPr>
            <a:r>
              <a:t>          Abciximab</a:t>
            </a:r>
          </a:p>
          <a:p>
            <a:pPr indent="0" marL="0">
              <a:buNone/>
            </a:pPr>
            <a:r>
              <a:t>          Eptifibatide</a:t>
            </a:r>
          </a:p>
          <a:p>
            <a:pPr indent="0" marL="0">
              <a:buNone/>
            </a:pPr>
            <a:r>
              <a:t>          Tirofiban</a:t>
            </a:r>
          </a:p>
        </p:txBody>
      </p:sp>
    </p:spTree>
  </p:cSld>
  <p:clrMapOvr>
    <a:masterClrMapping/>
  </p:clrMapOvr>
</p:sld>
</file>

<file path=ppt/slides/slide590.xml><?xml version="1.0" encoding="utf-8"?>
<p:sld xmlns:a="http://schemas.openxmlformats.org/drawingml/2006/main" xmlns:r="http://schemas.openxmlformats.org/officeDocument/2006/relationships" xmlns:p="http://schemas.openxmlformats.org/presentationml/2006/main">
  <p:cSld>
    <p:spTree>
      <p:nvGrpSpPr>
        <p:cNvPr id="1279" name=""/>
        <p:cNvGrpSpPr/>
        <p:nvPr/>
      </p:nvGrpSpPr>
      <p:grpSpPr>
        <a:xfrm>
          <a:off x="0" y="0"/>
          <a:ext cx="0" cy="0"/>
          <a:chOff x="0" y="0"/>
          <a:chExt cx="0" cy="0"/>
        </a:xfrm>
      </p:grpSpPr>
      <p:sp>
        <p:nvSpPr>
          <p:cNvPr id="1049769" name="Content Placeholder 2"/>
          <p:cNvSpPr>
            <a:spLocks noGrp="1"/>
          </p:cNvSpPr>
          <p:nvPr>
            <p:ph idx="1"/>
          </p:nvPr>
        </p:nvSpPr>
        <p:spPr>
          <a:xfrm>
            <a:off x="791309" y="257900"/>
            <a:ext cx="10515600" cy="6377359"/>
          </a:xfrm>
        </p:spPr>
        <p:txBody>
          <a:bodyPr/>
          <a:p>
            <a:pPr indent="0" marL="0">
              <a:buNone/>
            </a:pPr>
            <a:r>
              <a:rPr b="1"/>
              <a:t>mechanism of action of platelet inhibitors</a:t>
            </a:r>
            <a:endParaRPr b="1"/>
          </a:p>
          <a:p>
            <a:r>
              <a:t>these agents  inhibit the aggregation of platelets in the clotting process by </a:t>
            </a:r>
            <a:r>
              <a:rPr b="1"/>
              <a:t>blocking receptor sites on the platelets membrane, </a:t>
            </a:r>
            <a:r>
              <a:t>preventing platelet to platelet interaction, there by prolonging the bleeding time.</a:t>
            </a:r>
          </a:p>
          <a:p/>
          <a:p>
            <a:pPr indent="0" marL="0">
              <a:buNone/>
            </a:pPr>
            <a:r>
              <a:t>                               </a:t>
            </a:r>
            <a:r>
              <a:rPr b="1" sz="3600"/>
              <a:t>Acetyl salicylic acid (aspirin)</a:t>
            </a:r>
            <a:endParaRPr b="1" sz="3600"/>
          </a:p>
          <a:p>
            <a:pPr indent="0" marL="0">
              <a:buNone/>
            </a:pPr>
            <a:r>
              <a:t>Universally accepted anti platelet drug.</a:t>
            </a:r>
          </a:p>
          <a:p>
            <a:pPr indent="0" marL="0">
              <a:buNone/>
            </a:pPr>
            <a:r>
              <a:rPr b="1"/>
              <a:t>Mechanism of action</a:t>
            </a:r>
            <a:endParaRPr b="1"/>
          </a:p>
          <a:p>
            <a:r>
              <a:t>Irreversibly causes inhibition of cyclooxygenase </a:t>
            </a:r>
            <a:r>
              <a:rPr b="1"/>
              <a:t>(COX) </a:t>
            </a:r>
            <a:r>
              <a:t>that leads to formation of thromboxane A2 and prostacyclin.</a:t>
            </a:r>
          </a:p>
          <a:p>
            <a:r>
              <a:t>TXA2 is the key platelet activator inhibition of platelets </a:t>
            </a:r>
            <a:r>
              <a:t>action.</a:t>
            </a:r>
          </a:p>
        </p:txBody>
      </p:sp>
    </p:spTree>
  </p:cSld>
  <p:clrMapOvr>
    <a:masterClrMapping/>
  </p:clrMapOvr>
</p:sld>
</file>

<file path=ppt/slides/slide591.xml><?xml version="1.0" encoding="utf-8"?>
<p:sld xmlns:a="http://schemas.openxmlformats.org/drawingml/2006/main" xmlns:r="http://schemas.openxmlformats.org/officeDocument/2006/relationships" xmlns:p="http://schemas.openxmlformats.org/presentationml/2006/main">
  <p:cSld>
    <p:spTree>
      <p:nvGrpSpPr>
        <p:cNvPr id="1280" name=""/>
        <p:cNvGrpSpPr/>
        <p:nvPr/>
      </p:nvGrpSpPr>
      <p:grpSpPr>
        <a:xfrm>
          <a:off x="0" y="0"/>
          <a:ext cx="0" cy="0"/>
          <a:chOff x="0" y="0"/>
          <a:chExt cx="0" cy="0"/>
        </a:xfrm>
      </p:grpSpPr>
      <p:sp>
        <p:nvSpPr>
          <p:cNvPr id="1049770" name="Content Placeholder 2"/>
          <p:cNvSpPr>
            <a:spLocks noGrp="1"/>
          </p:cNvSpPr>
          <p:nvPr>
            <p:ph idx="1"/>
          </p:nvPr>
        </p:nvSpPr>
        <p:spPr>
          <a:xfrm>
            <a:off x="838204" y="316515"/>
            <a:ext cx="10515600" cy="6166339"/>
          </a:xfrm>
        </p:spPr>
        <p:txBody>
          <a:bodyPr/>
          <a:p>
            <a:pPr indent="0" marL="0">
              <a:buNone/>
            </a:pPr>
            <a:r>
              <a:t> </a:t>
            </a:r>
            <a:r>
              <a:rPr b="1"/>
              <a:t>Therapeutic Uses </a:t>
            </a:r>
            <a:endParaRPr b="1"/>
          </a:p>
          <a:p>
            <a:r>
              <a:t>Primary prevention of acute myocardial infarction </a:t>
            </a:r>
          </a:p>
          <a:p>
            <a:r>
              <a:t> Prevention of reinfarction in clients following an acute myocardial infarction </a:t>
            </a:r>
          </a:p>
          <a:p>
            <a:r>
              <a:t> Prevention of stroke </a:t>
            </a:r>
          </a:p>
          <a:p>
            <a:r>
              <a:t> Acute coronary syndromes (abciximab, tirofiban, eptifibatide) </a:t>
            </a:r>
          </a:p>
          <a:p>
            <a:r>
              <a:t>Intermittent claudication (cilostazol, pentoxifylline, dipyridamole)</a:t>
            </a:r>
          </a:p>
          <a:p>
            <a:pPr indent="0" marL="0">
              <a:buNone/>
            </a:pPr>
            <a:r>
              <a:t> </a:t>
            </a:r>
            <a:r>
              <a:rPr b="1"/>
              <a:t>Route of administration </a:t>
            </a:r>
            <a:endParaRPr b="1"/>
          </a:p>
          <a:p>
            <a:r>
              <a:t>Aspirin: Oral </a:t>
            </a:r>
          </a:p>
          <a:p>
            <a:r>
              <a:t> Abciximab: IV </a:t>
            </a:r>
          </a:p>
          <a:p>
            <a:r>
              <a:t> Clopidogrel: Oral </a:t>
            </a:r>
          </a:p>
          <a:p>
            <a:r>
              <a:t> Pentoxifylline: Oral</a:t>
            </a:r>
          </a:p>
        </p:txBody>
      </p:sp>
    </p:spTree>
  </p:cSld>
  <p:clrMapOvr>
    <a:masterClrMapping/>
  </p:clrMapOvr>
</p:sld>
</file>

<file path=ppt/slides/slide592.xml><?xml version="1.0" encoding="utf-8"?>
<p:sld xmlns:a="http://schemas.openxmlformats.org/drawingml/2006/main" xmlns:r="http://schemas.openxmlformats.org/officeDocument/2006/relationships" xmlns:p="http://schemas.openxmlformats.org/presentationml/2006/main">
  <p:cSld>
    <p:spTree>
      <p:nvGrpSpPr>
        <p:cNvPr id="1281" name=""/>
        <p:cNvGrpSpPr/>
        <p:nvPr/>
      </p:nvGrpSpPr>
      <p:grpSpPr>
        <a:xfrm>
          <a:off x="0" y="0"/>
          <a:ext cx="0" cy="0"/>
          <a:chOff x="0" y="0"/>
          <a:chExt cx="0" cy="0"/>
        </a:xfrm>
      </p:grpSpPr>
      <p:sp>
        <p:nvSpPr>
          <p:cNvPr id="1049771" name="Content Placeholder 2"/>
          <p:cNvSpPr>
            <a:spLocks noGrp="1"/>
          </p:cNvSpPr>
          <p:nvPr>
            <p:ph idx="1"/>
          </p:nvPr>
        </p:nvSpPr>
        <p:spPr>
          <a:xfrm>
            <a:off x="838204" y="316515"/>
            <a:ext cx="10515600" cy="6342184"/>
          </a:xfrm>
        </p:spPr>
        <p:txBody>
          <a:bodyPr>
            <a:normAutofit lnSpcReduction="10000"/>
          </a:bodyPr>
          <a:p>
            <a:pPr indent="0" marL="0">
              <a:buNone/>
            </a:pPr>
            <a:r>
              <a:rPr b="1"/>
              <a:t>Side/Adverse Effects Nursing Interventions/Client Education</a:t>
            </a:r>
            <a:endParaRPr b="1"/>
          </a:p>
          <a:p>
            <a:r>
              <a:t>Aspirin GI effects (nausea, vomiting, dyspepsia)  Advise clients to use enteric-coated tablets and to take aspirin with food.  Concurrent use of a proton pump inhibitor, such as omeprazole (Prilosec), may be appropriate. </a:t>
            </a:r>
          </a:p>
          <a:p>
            <a:r>
              <a:t>Hemorrhagic stroke  </a:t>
            </a:r>
          </a:p>
          <a:p>
            <a:r>
              <a:t>Prolonged bleeding time, gastric bleed, thrombocytopenia </a:t>
            </a:r>
          </a:p>
          <a:p>
            <a:r>
              <a:t>Tinnitus, hearing loss</a:t>
            </a:r>
          </a:p>
          <a:p>
            <a:pPr indent="0" marL="0">
              <a:buNone/>
            </a:pPr>
            <a:r>
              <a:t> </a:t>
            </a:r>
            <a:r>
              <a:rPr b="1"/>
              <a:t>Nursing Administration </a:t>
            </a:r>
            <a:endParaRPr b="1"/>
          </a:p>
          <a:p>
            <a:r>
              <a:t> Advise clients that prevention of strokes, myocardial infarctions, and reinfarction can be accomplished with low-dose aspirin (81 mg). </a:t>
            </a:r>
          </a:p>
          <a:p>
            <a:r>
              <a:t> Aspirin 325 mg should be taken during initial acute episode of myocardial infarction </a:t>
            </a:r>
          </a:p>
          <a:p>
            <a:r>
              <a:t> Advise clients to notify the provider regarding aspirin use.</a:t>
            </a:r>
          </a:p>
          <a:p/>
        </p:txBody>
      </p:sp>
    </p:spTree>
  </p:cSld>
  <p:clrMapOvr>
    <a:masterClrMapping/>
  </p:clrMapOvr>
</p:sld>
</file>

<file path=ppt/slides/slide593.xml><?xml version="1.0" encoding="utf-8"?>
<p:sld xmlns:a="http://schemas.openxmlformats.org/drawingml/2006/main" xmlns:r="http://schemas.openxmlformats.org/officeDocument/2006/relationships" xmlns:p="http://schemas.openxmlformats.org/presentationml/2006/main">
  <p:cSld>
    <p:spTree>
      <p:nvGrpSpPr>
        <p:cNvPr id="1282" name=""/>
        <p:cNvGrpSpPr/>
        <p:nvPr/>
      </p:nvGrpSpPr>
      <p:grpSpPr>
        <a:xfrm>
          <a:off x="0" y="0"/>
          <a:ext cx="0" cy="0"/>
          <a:chOff x="0" y="0"/>
          <a:chExt cx="0" cy="0"/>
        </a:xfrm>
      </p:grpSpPr>
      <p:sp>
        <p:nvSpPr>
          <p:cNvPr id="1049772" name="Content Placeholder 2"/>
          <p:cNvSpPr>
            <a:spLocks noGrp="1"/>
          </p:cNvSpPr>
          <p:nvPr>
            <p:ph idx="1"/>
          </p:nvPr>
        </p:nvSpPr>
        <p:spPr>
          <a:xfrm>
            <a:off x="838204" y="257914"/>
            <a:ext cx="10515600" cy="6330464"/>
          </a:xfrm>
        </p:spPr>
        <p:txBody>
          <a:bodyPr>
            <a:normAutofit lnSpcReduction="10000"/>
          </a:bodyPr>
          <a:p>
            <a:pPr indent="0" marL="0">
              <a:buNone/>
            </a:pPr>
            <a:r>
              <a:rPr b="1"/>
              <a:t>Thienopyridine analogues</a:t>
            </a:r>
            <a:endParaRPr b="1"/>
          </a:p>
          <a:p>
            <a:pPr indent="0" marL="0">
              <a:buNone/>
            </a:pPr>
            <a:r>
              <a:rPr b="1"/>
              <a:t>Clopidogre and ticlopidine</a:t>
            </a:r>
            <a:endParaRPr b="1"/>
          </a:p>
          <a:p>
            <a:r>
              <a:t>Clopidogre and ticlopidine reduces platelets aggregation by inhibiting the </a:t>
            </a:r>
            <a:r>
              <a:rPr b="1"/>
              <a:t>ADP pathway of platelets.</a:t>
            </a:r>
            <a:endParaRPr b="1"/>
          </a:p>
          <a:p>
            <a:r>
              <a:t>These drugs achieved their antiplatelet effects by irreversibly blocking the ADP receptor on platelets.</a:t>
            </a:r>
          </a:p>
          <a:p>
            <a:r>
              <a:t>unlike aspirin, these drugs have no effects on prostaglandin metabolism.</a:t>
            </a:r>
          </a:p>
          <a:p>
            <a:r>
              <a:t>Important for aspirin intolerant</a:t>
            </a:r>
          </a:p>
          <a:p>
            <a:r>
              <a:t>Use of clopidogre or ticlopidine to prevent thrombosis is now considered standard practice in patients undergoing placement of </a:t>
            </a:r>
            <a:r>
              <a:rPr b="1"/>
              <a:t>coronary stent.</a:t>
            </a:r>
            <a:endParaRPr b="1"/>
          </a:p>
          <a:p>
            <a:r>
              <a:rPr b="1"/>
              <a:t>Clopidogrel</a:t>
            </a:r>
            <a:r>
              <a:t> plus </a:t>
            </a:r>
            <a:r>
              <a:rPr b="1"/>
              <a:t>aspirin </a:t>
            </a:r>
            <a:r>
              <a:t>is used for long term treatment of severe cases of coronary syndromes.</a:t>
            </a:r>
          </a:p>
          <a:p>
            <a:r>
              <a:t>Rashes caused by ticlopidine.</a:t>
            </a:r>
          </a:p>
          <a:p>
            <a:pPr indent="0" marL="0">
              <a:buNone/>
            </a:pPr>
          </a:p>
        </p:txBody>
      </p:sp>
    </p:spTree>
  </p:cSld>
  <p:clrMapOvr>
    <a:masterClrMapping/>
  </p:clrMapOvr>
</p:sld>
</file>

<file path=ppt/slides/slide594.xml><?xml version="1.0" encoding="utf-8"?>
<p:sld xmlns:a="http://schemas.openxmlformats.org/drawingml/2006/main" xmlns:r="http://schemas.openxmlformats.org/officeDocument/2006/relationships" xmlns:p="http://schemas.openxmlformats.org/presentationml/2006/main">
  <p:cSld>
    <p:spTree>
      <p:nvGrpSpPr>
        <p:cNvPr id="1283" name=""/>
        <p:cNvGrpSpPr/>
        <p:nvPr/>
      </p:nvGrpSpPr>
      <p:grpSpPr>
        <a:xfrm>
          <a:off x="0" y="0"/>
          <a:ext cx="0" cy="0"/>
          <a:chOff x="0" y="0"/>
          <a:chExt cx="0" cy="0"/>
        </a:xfrm>
      </p:grpSpPr>
      <p:sp>
        <p:nvSpPr>
          <p:cNvPr id="1049773" name="Title 1"/>
          <p:cNvSpPr>
            <a:spLocks noGrp="1"/>
          </p:cNvSpPr>
          <p:nvPr>
            <p:ph type="title"/>
          </p:nvPr>
        </p:nvSpPr>
        <p:spPr/>
        <p:txBody>
          <a:bodyPr/>
          <a:p>
            <a:r>
              <a:t>   Hemostatic agents/ coagulants</a:t>
            </a:r>
          </a:p>
        </p:txBody>
      </p:sp>
      <p:sp>
        <p:nvSpPr>
          <p:cNvPr id="1049774" name="Content Placeholder 2"/>
          <p:cNvSpPr>
            <a:spLocks noGrp="1"/>
          </p:cNvSpPr>
          <p:nvPr>
            <p:ph idx="1"/>
          </p:nvPr>
        </p:nvSpPr>
        <p:spPr/>
        <p:txBody>
          <a:bodyPr>
            <a:normAutofit fontScale="92857" lnSpcReduction="20000"/>
          </a:bodyPr>
          <a:p>
            <a:r>
              <a:t>Haemostatic</a:t>
            </a:r>
            <a:r>
              <a:t> agents help to stop bleeding at the local </a:t>
            </a:r>
            <a:r>
              <a:t>site.thus</a:t>
            </a:r>
            <a:r>
              <a:t> enhancing and promoting coagulation and formation of  network fibrin around the wound.</a:t>
            </a:r>
          </a:p>
          <a:p>
            <a:pPr indent="0" marL="0">
              <a:buNone/>
            </a:pPr>
            <a:r>
              <a:t>These drugs are :</a:t>
            </a:r>
          </a:p>
          <a:p>
            <a:pPr indent="0" marL="0">
              <a:buNone/>
            </a:pPr>
            <a:r>
              <a:rPr b="1"/>
              <a:t>Aminocaproic acid </a:t>
            </a:r>
            <a:r>
              <a:t>and </a:t>
            </a:r>
            <a:r>
              <a:rPr b="1"/>
              <a:t>tranexamic </a:t>
            </a:r>
            <a:endParaRPr b="1"/>
          </a:p>
          <a:p>
            <a:r>
              <a:t>These are fibrin stabilizers that maintain  or stabilize the clot in the bleeding vessels.</a:t>
            </a:r>
          </a:p>
          <a:p>
            <a:pPr indent="0" marL="0">
              <a:buNone/>
            </a:pPr>
            <a:r>
              <a:rPr b="1"/>
              <a:t>Protamine sulfate</a:t>
            </a:r>
            <a:endParaRPr b="1"/>
          </a:p>
          <a:p>
            <a:r>
              <a:t>This agent antagonizes the anticoagulant effects of heparin. </a:t>
            </a:r>
          </a:p>
          <a:p>
            <a:r>
              <a:t>It is derived from fish testis and is high in arginine content.</a:t>
            </a:r>
          </a:p>
          <a:p>
            <a:r>
              <a:t>The positive charge interacts with the negative charge of heparin to form a stable inactive complex.</a:t>
            </a:r>
          </a:p>
          <a:p/>
        </p:txBody>
      </p:sp>
    </p:spTree>
  </p:cSld>
  <p:clrMapOvr>
    <a:masterClrMapping/>
  </p:clrMapOvr>
</p:sld>
</file>

<file path=ppt/slides/slide595.xml><?xml version="1.0" encoding="utf-8"?>
<p:sld xmlns:a="http://schemas.openxmlformats.org/drawingml/2006/main" xmlns:r="http://schemas.openxmlformats.org/officeDocument/2006/relationships" xmlns:p="http://schemas.openxmlformats.org/presentationml/2006/main">
  <p:cSld>
    <p:spTree>
      <p:nvGrpSpPr>
        <p:cNvPr id="1284" name=""/>
        <p:cNvGrpSpPr/>
        <p:nvPr/>
      </p:nvGrpSpPr>
      <p:grpSpPr>
        <a:xfrm>
          <a:off x="0" y="0"/>
          <a:ext cx="0" cy="0"/>
          <a:chOff x="0" y="0"/>
          <a:chExt cx="0" cy="0"/>
        </a:xfrm>
      </p:grpSpPr>
      <p:sp>
        <p:nvSpPr>
          <p:cNvPr id="1049775" name="Title 1"/>
          <p:cNvSpPr>
            <a:spLocks noGrp="1"/>
          </p:cNvSpPr>
          <p:nvPr>
            <p:ph type="title"/>
          </p:nvPr>
        </p:nvSpPr>
        <p:spPr/>
        <p:txBody>
          <a:bodyPr/>
          <a:p>
            <a:r>
              <a:rPr b="1"/>
              <a:t>Drugs for various bleeding conditions</a:t>
            </a:r>
            <a:endParaRPr b="1"/>
          </a:p>
        </p:txBody>
      </p:sp>
      <p:sp>
        <p:nvSpPr>
          <p:cNvPr id="1049776" name="Content Placeholder 2"/>
          <p:cNvSpPr>
            <a:spLocks noGrp="1"/>
          </p:cNvSpPr>
          <p:nvPr>
            <p:ph idx="1"/>
          </p:nvPr>
        </p:nvSpPr>
        <p:spPr/>
        <p:txBody>
          <a:bodyPr>
            <a:normAutofit/>
          </a:bodyPr>
          <a:p>
            <a:r>
              <a:t>epistasis – </a:t>
            </a:r>
            <a:r>
              <a:rPr b="1"/>
              <a:t>adrenaline</a:t>
            </a:r>
            <a:endParaRPr b="1"/>
          </a:p>
          <a:p>
            <a:r>
              <a:t>Overdose of fibrinolytic, bleeding post surgery – </a:t>
            </a:r>
            <a:r>
              <a:rPr b="1"/>
              <a:t>aminocaproic acid</a:t>
            </a:r>
            <a:endParaRPr b="1"/>
          </a:p>
          <a:p>
            <a:r>
              <a:t>Menorrhagia, metrorrhagia </a:t>
            </a:r>
            <a:r>
              <a:rPr b="1"/>
              <a:t>– adrenochrome, </a:t>
            </a:r>
            <a:r>
              <a:rPr b="1"/>
              <a:t>ethamesylate</a:t>
            </a:r>
            <a:r>
              <a:rPr b="1"/>
              <a:t>.</a:t>
            </a:r>
            <a:endParaRPr b="1"/>
          </a:p>
          <a:p>
            <a:r>
              <a:t>PPH – </a:t>
            </a:r>
            <a:r>
              <a:rPr b="1"/>
              <a:t>carboprost</a:t>
            </a:r>
            <a:endParaRPr b="1"/>
          </a:p>
          <a:p>
            <a:pPr indent="0" marL="0">
              <a:buNone/>
            </a:pPr>
            <a:r>
              <a:rPr b="1"/>
              <a:t>Vitamin K</a:t>
            </a:r>
            <a:endParaRPr b="1"/>
          </a:p>
          <a:p>
            <a:pPr indent="0" marL="0">
              <a:buNone/>
            </a:pPr>
            <a:r>
              <a:t>Is a fat soluble vitamin occurs in two forms :</a:t>
            </a:r>
          </a:p>
          <a:p>
            <a:pPr indent="0" marL="0">
              <a:buNone/>
            </a:pPr>
            <a:r>
              <a:t> vitamin K1 (phytonadione):leafy vegetables</a:t>
            </a:r>
          </a:p>
          <a:p>
            <a:pPr indent="0" marL="0">
              <a:buNone/>
            </a:pPr>
            <a:r>
              <a:t>Vitamin k2 (menadione): GIT through microbes.</a:t>
            </a:r>
          </a:p>
          <a:p>
            <a:pPr indent="0" marL="0">
              <a:buNone/>
            </a:pPr>
            <a:r>
              <a:t>Bile salts are required for absorption of vitamin K from the intestines.</a:t>
            </a:r>
          </a:p>
          <a:p/>
        </p:txBody>
      </p:sp>
    </p:spTree>
  </p:cSld>
  <p:clrMapOvr>
    <a:masterClrMapping/>
  </p:clrMapOvr>
</p:sld>
</file>

<file path=ppt/slides/slide596.xml><?xml version="1.0" encoding="utf-8"?>
<p:sld xmlns:a="http://schemas.openxmlformats.org/drawingml/2006/main" xmlns:r="http://schemas.openxmlformats.org/officeDocument/2006/relationships" xmlns:p="http://schemas.openxmlformats.org/presentationml/2006/main">
  <p:cSld>
    <p:spTree>
      <p:nvGrpSpPr>
        <p:cNvPr id="1285" name=""/>
        <p:cNvGrpSpPr/>
        <p:nvPr/>
      </p:nvGrpSpPr>
      <p:grpSpPr>
        <a:xfrm>
          <a:off x="0" y="0"/>
          <a:ext cx="0" cy="0"/>
          <a:chOff x="0" y="0"/>
          <a:chExt cx="0" cy="0"/>
        </a:xfrm>
      </p:grpSpPr>
      <p:sp>
        <p:nvSpPr>
          <p:cNvPr id="1049777" name="Content Placeholder 2"/>
          <p:cNvSpPr>
            <a:spLocks noGrp="1"/>
          </p:cNvSpPr>
          <p:nvPr>
            <p:ph idx="1"/>
          </p:nvPr>
        </p:nvSpPr>
        <p:spPr>
          <a:xfrm>
            <a:off x="838204" y="246180"/>
            <a:ext cx="10515600" cy="6307010"/>
          </a:xfrm>
        </p:spPr>
        <p:txBody>
          <a:bodyPr>
            <a:normAutofit/>
          </a:bodyPr>
          <a:p>
            <a:pPr indent="0" marL="0">
              <a:buNone/>
            </a:pPr>
            <a:r>
              <a:rPr b="1"/>
              <a:t>VIT .K cont.</a:t>
            </a:r>
            <a:endParaRPr b="1"/>
          </a:p>
          <a:p>
            <a:pPr indent="0" marL="0">
              <a:buNone/>
            </a:pPr>
            <a:r>
              <a:t>Deficiency occurs due to two conditions </a:t>
            </a:r>
          </a:p>
          <a:p>
            <a:r>
              <a:t>Prolonged gut sterilization. VIT. K2</a:t>
            </a:r>
          </a:p>
          <a:p>
            <a:r>
              <a:t>Obstructive jaundice. VIT. K1, K2.</a:t>
            </a:r>
          </a:p>
          <a:p>
            <a:pPr indent="0" marL="0">
              <a:buNone/>
            </a:pPr>
            <a:r>
              <a:rPr b="1"/>
              <a:t>Phytonadione</a:t>
            </a:r>
            <a:endParaRPr b="1"/>
          </a:p>
          <a:p>
            <a:pPr indent="0" marL="0">
              <a:buNone/>
            </a:pPr>
            <a:r>
              <a:t>may be given  orally, IM, IV</a:t>
            </a:r>
          </a:p>
          <a:p>
            <a:pPr indent="0" marL="0">
              <a:buNone/>
            </a:pPr>
            <a:r>
              <a:t>if given orally give with bile salts.</a:t>
            </a:r>
          </a:p>
          <a:p>
            <a:pPr indent="0" marL="0">
              <a:buNone/>
            </a:pPr>
            <a:r>
              <a:rPr b="1"/>
              <a:t>Menadione sodium </a:t>
            </a:r>
            <a:r>
              <a:rPr b="1"/>
              <a:t>bisulphate</a:t>
            </a:r>
            <a:endParaRPr b="1"/>
          </a:p>
          <a:p>
            <a:pPr indent="0" marL="0">
              <a:buNone/>
            </a:pPr>
            <a:r>
              <a:t>Oral, IM ,IV, or SC</a:t>
            </a:r>
          </a:p>
          <a:p>
            <a:pPr indent="0" marL="0">
              <a:buNone/>
            </a:pPr>
            <a:r>
              <a:t>does not require bile salts</a:t>
            </a:r>
          </a:p>
          <a:p>
            <a:pPr indent="0" marL="0">
              <a:buNone/>
            </a:pPr>
            <a:r>
              <a:t>Takes longer duration</a:t>
            </a:r>
          </a:p>
          <a:p>
            <a:pPr indent="0" marL="0">
              <a:buNone/>
            </a:pPr>
            <a:r>
              <a:t>Vitamin K is given to antagonize oral anticoagulants.</a:t>
            </a:r>
          </a:p>
          <a:p>
            <a:pPr indent="0" marL="0">
              <a:buNone/>
            </a:pPr>
            <a:r>
              <a:t>The response to vitamin K is slow, requiring about 24 hours thus, if  immediate hemostasis or bleeding control is required, fresh frozen plasma should be ordered.</a:t>
            </a:r>
          </a:p>
        </p:txBody>
      </p:sp>
    </p:spTree>
  </p:cSld>
  <p:clrMapOvr>
    <a:masterClrMapping/>
  </p:clrMapOvr>
</p:sld>
</file>

<file path=ppt/slides/slide597.xml><?xml version="1.0" encoding="utf-8"?>
<p:sld xmlns:a="http://schemas.openxmlformats.org/drawingml/2006/main" xmlns:r="http://schemas.openxmlformats.org/officeDocument/2006/relationships" xmlns:p="http://schemas.openxmlformats.org/presentationml/2006/main">
  <p:cSld>
    <p:spTree>
      <p:nvGrpSpPr>
        <p:cNvPr id="1286" name=""/>
        <p:cNvGrpSpPr/>
        <p:nvPr/>
      </p:nvGrpSpPr>
      <p:grpSpPr>
        <a:xfrm>
          <a:off x="0" y="0"/>
          <a:ext cx="0" cy="0"/>
          <a:chOff x="0" y="0"/>
          <a:chExt cx="0" cy="0"/>
        </a:xfrm>
      </p:grpSpPr>
      <p:sp>
        <p:nvSpPr>
          <p:cNvPr id="1049778" name="Title 1"/>
          <p:cNvSpPr>
            <a:spLocks noGrp="1"/>
          </p:cNvSpPr>
          <p:nvPr>
            <p:ph type="title"/>
          </p:nvPr>
        </p:nvSpPr>
        <p:spPr>
          <a:xfrm>
            <a:off x="838204" y="386864"/>
            <a:ext cx="10515600" cy="1303832"/>
          </a:xfrm>
        </p:spPr>
        <p:txBody>
          <a:bodyPr/>
          <a:p>
            <a:r>
              <a:rPr b="1"/>
              <a:t>Therapeutic uses</a:t>
            </a:r>
            <a:endParaRPr b="1"/>
          </a:p>
        </p:txBody>
      </p:sp>
      <p:sp>
        <p:nvSpPr>
          <p:cNvPr id="1049779" name="Content Placeholder 2"/>
          <p:cNvSpPr>
            <a:spLocks noGrp="1"/>
          </p:cNvSpPr>
          <p:nvPr>
            <p:ph idx="1"/>
          </p:nvPr>
        </p:nvSpPr>
        <p:spPr/>
        <p:txBody>
          <a:bodyPr/>
          <a:p>
            <a:r>
              <a:t>Vitamin K deficiency.</a:t>
            </a:r>
          </a:p>
          <a:p>
            <a:r>
              <a:t>Treatment of hemorrhagic disease of the newborn.</a:t>
            </a:r>
          </a:p>
          <a:p>
            <a:r>
              <a:t> newborn and premature to cover the reduced intestinal synthesis.</a:t>
            </a:r>
          </a:p>
          <a:p>
            <a:r>
              <a:t>Prolonged anti microbial therapeutic activity. </a:t>
            </a:r>
          </a:p>
          <a:p>
            <a:r>
              <a:t>Obstructive jaundice.</a:t>
            </a:r>
          </a:p>
          <a:p>
            <a:r>
              <a:t>malabsorption</a:t>
            </a:r>
          </a:p>
        </p:txBody>
      </p:sp>
    </p:spTree>
  </p:cSld>
  <p:clrMapOvr>
    <a:masterClrMapping/>
  </p:clrMapOvr>
</p:sld>
</file>

<file path=ppt/slides/slide598.xml><?xml version="1.0" encoding="utf-8"?>
<p:sld xmlns:a="http://schemas.openxmlformats.org/drawingml/2006/main" xmlns:r="http://schemas.openxmlformats.org/officeDocument/2006/relationships" xmlns:p="http://schemas.openxmlformats.org/presentationml/2006/main">
  <p:cSld>
    <p:spTree>
      <p:nvGrpSpPr>
        <p:cNvPr id="1287" name=""/>
        <p:cNvGrpSpPr/>
        <p:nvPr/>
      </p:nvGrpSpPr>
      <p:grpSpPr>
        <a:xfrm>
          <a:off x="0" y="0"/>
          <a:ext cx="0" cy="0"/>
          <a:chOff x="0" y="0"/>
          <a:chExt cx="0" cy="0"/>
        </a:xfrm>
      </p:grpSpPr>
      <p:sp>
        <p:nvSpPr>
          <p:cNvPr id="1049780" name="Title 1"/>
          <p:cNvSpPr>
            <a:spLocks noGrp="1"/>
          </p:cNvSpPr>
          <p:nvPr>
            <p:ph type="title"/>
          </p:nvPr>
        </p:nvSpPr>
        <p:spPr/>
        <p:txBody>
          <a:bodyPr>
            <a:normAutofit fontScale="90000"/>
          </a:bodyPr>
          <a:p>
            <a:br/>
            <a:r>
              <a:t>                 hematinic</a:t>
            </a:r>
            <a:br/>
          </a:p>
        </p:txBody>
      </p:sp>
      <p:sp>
        <p:nvSpPr>
          <p:cNvPr id="1049781" name="Content Placeholder 2"/>
          <p:cNvSpPr>
            <a:spLocks noGrp="1"/>
          </p:cNvSpPr>
          <p:nvPr>
            <p:ph idx="1"/>
          </p:nvPr>
        </p:nvSpPr>
        <p:spPr>
          <a:xfrm>
            <a:off x="838204" y="1837352"/>
            <a:ext cx="10515600" cy="4351339"/>
          </a:xfrm>
        </p:spPr>
        <p:txBody>
          <a:bodyPr>
            <a:normAutofit fontScale="82143" lnSpcReduction="20000"/>
          </a:bodyPr>
          <a:p>
            <a:pPr indent="0" marL="0">
              <a:buNone/>
            </a:pPr>
            <a:r>
              <a:rPr b="1"/>
              <a:t> </a:t>
            </a:r>
            <a:r>
              <a:t>a hematinic is a nutrient required in the formation of blood cells the main  hematinic are </a:t>
            </a:r>
            <a:r>
              <a:rPr b="1"/>
              <a:t>iron , B12 </a:t>
            </a:r>
            <a:r>
              <a:t>and </a:t>
            </a:r>
            <a:r>
              <a:rPr b="1"/>
              <a:t>Folate. </a:t>
            </a:r>
            <a:r>
              <a:t>deficiency can lead </a:t>
            </a:r>
            <a:r>
              <a:rPr b="1"/>
              <a:t>to anemia</a:t>
            </a:r>
            <a:endParaRPr b="1"/>
          </a:p>
          <a:p>
            <a:pPr indent="0" marL="0">
              <a:buNone/>
            </a:pPr>
            <a:r>
              <a:rPr b="1"/>
              <a:t>Iron and iron salts</a:t>
            </a:r>
            <a:endParaRPr b="1"/>
          </a:p>
          <a:p>
            <a:r>
              <a:t>Iron deficiency is the most common nutritional anaemia in humans</a:t>
            </a:r>
          </a:p>
          <a:p>
            <a:r>
              <a:t>It result from inadequate </a:t>
            </a:r>
            <a:r>
              <a:rPr b="1"/>
              <a:t>iron intake</a:t>
            </a:r>
            <a:r>
              <a:t>, </a:t>
            </a:r>
            <a:r>
              <a:rPr b="1"/>
              <a:t>malabsorption</a:t>
            </a:r>
            <a:r>
              <a:t>, </a:t>
            </a:r>
            <a:r>
              <a:rPr b="1"/>
              <a:t>blood loss</a:t>
            </a:r>
            <a:r>
              <a:t>, or </a:t>
            </a:r>
            <a:r>
              <a:rPr b="1"/>
              <a:t>an</a:t>
            </a:r>
            <a:r>
              <a:t> </a:t>
            </a:r>
            <a:r>
              <a:rPr b="1"/>
              <a:t>increased requirement </a:t>
            </a:r>
            <a:r>
              <a:t>as with pregnancy.</a:t>
            </a:r>
          </a:p>
          <a:p>
            <a:r>
              <a:t>When severe it results in microcytic hypochromic anemia.</a:t>
            </a:r>
          </a:p>
          <a:p>
            <a:pPr indent="0" marL="0">
              <a:buNone/>
            </a:pPr>
            <a:r>
              <a:rPr sz="3600"/>
              <a:t>                            </a:t>
            </a:r>
            <a:r>
              <a:rPr b="1" sz="3600"/>
              <a:t>Ferrous sulphate</a:t>
            </a:r>
            <a:endParaRPr b="1" sz="3600"/>
          </a:p>
          <a:p>
            <a:pPr indent="0" marL="0">
              <a:buNone/>
            </a:pPr>
            <a:r>
              <a:rPr b="1" sz="3000"/>
              <a:t>pharmacokinetics</a:t>
            </a:r>
            <a:endParaRPr b="1" sz="3000"/>
          </a:p>
          <a:p>
            <a:pPr indent="0" marL="0">
              <a:buNone/>
            </a:pPr>
            <a:r>
              <a:t>Iron is given orally as a ferrous salt 50 -100MG is administered daily for the treatment of anemia .</a:t>
            </a:r>
          </a:p>
          <a:p>
            <a:pPr indent="0" marL="0">
              <a:buNone/>
            </a:pPr>
            <a:r>
              <a:t>Iron is absorbed readily in presence of gastric acid.</a:t>
            </a:r>
          </a:p>
        </p:txBody>
      </p:sp>
    </p:spTree>
  </p:cSld>
  <p:clrMapOvr>
    <a:masterClrMapping/>
  </p:clrMapOvr>
</p:sld>
</file>

<file path=ppt/slides/slide599.xml><?xml version="1.0" encoding="utf-8"?>
<p:sld xmlns:a="http://schemas.openxmlformats.org/drawingml/2006/main" xmlns:r="http://schemas.openxmlformats.org/officeDocument/2006/relationships" xmlns:p="http://schemas.openxmlformats.org/presentationml/2006/main">
  <p:cSld>
    <p:spTree>
      <p:nvGrpSpPr>
        <p:cNvPr id="1288" name=""/>
        <p:cNvGrpSpPr/>
        <p:nvPr/>
      </p:nvGrpSpPr>
      <p:grpSpPr>
        <a:xfrm>
          <a:off x="0" y="0"/>
          <a:ext cx="0" cy="0"/>
          <a:chOff x="0" y="0"/>
          <a:chExt cx="0" cy="0"/>
        </a:xfrm>
      </p:grpSpPr>
      <p:sp>
        <p:nvSpPr>
          <p:cNvPr id="1049782" name="Title 1"/>
          <p:cNvSpPr>
            <a:spLocks noGrp="1"/>
          </p:cNvSpPr>
          <p:nvPr>
            <p:ph type="title"/>
          </p:nvPr>
        </p:nvSpPr>
        <p:spPr/>
        <p:txBody>
          <a:bodyPr/>
          <a:p>
            <a:r>
              <a:rPr b="1"/>
              <a:t>Ferrous sulphate cont.’</a:t>
            </a:r>
            <a:endParaRPr b="1"/>
          </a:p>
        </p:txBody>
      </p:sp>
      <p:sp>
        <p:nvSpPr>
          <p:cNvPr id="1049783" name="Content Placeholder 2"/>
          <p:cNvSpPr>
            <a:spLocks noGrp="1"/>
          </p:cNvSpPr>
          <p:nvPr>
            <p:ph idx="1"/>
          </p:nvPr>
        </p:nvSpPr>
        <p:spPr/>
        <p:txBody>
          <a:bodyPr/>
          <a:p>
            <a:r>
              <a:t>It is given before meals though many patients cannot tolerate it due to its irritating effects.</a:t>
            </a:r>
          </a:p>
          <a:p>
            <a:r>
              <a:t>After sometime the patient shows improved appetite, increased erythrocyte cell count and decreased microcytic hypochromic anaemia .</a:t>
            </a:r>
          </a:p>
          <a:p>
            <a:r>
              <a:t>At lest six months of therapy is necessary to restore iron levels to storage site.</a:t>
            </a:r>
          </a:p>
          <a:p>
            <a:r>
              <a:t>It can be given parenterally as iron dextran or iron sucrose that is by slow im or iv.</a:t>
            </a:r>
          </a:p>
        </p:txBody>
      </p:sp>
    </p:spTree>
  </p:cSld>
  <p:clrMapOvr>
    <a:masterClrMapping/>
  </p:clrMapOvr>
</p:sld>
</file>

<file path=ppt/slides/slide600.xml><?xml version="1.0" encoding="utf-8"?>
<p:sld xmlns:a="http://schemas.openxmlformats.org/drawingml/2006/main" xmlns:r="http://schemas.openxmlformats.org/officeDocument/2006/relationships" xmlns:p="http://schemas.openxmlformats.org/presentationml/2006/main">
  <p:cSld>
    <p:spTree>
      <p:nvGrpSpPr>
        <p:cNvPr id="1289" name=""/>
        <p:cNvGrpSpPr/>
        <p:nvPr/>
      </p:nvGrpSpPr>
      <p:grpSpPr>
        <a:xfrm>
          <a:off x="0" y="0"/>
          <a:ext cx="0" cy="0"/>
          <a:chOff x="0" y="0"/>
          <a:chExt cx="0" cy="0"/>
        </a:xfrm>
      </p:grpSpPr>
      <p:sp>
        <p:nvSpPr>
          <p:cNvPr id="1049784" name="Title 1"/>
          <p:cNvSpPr>
            <a:spLocks noGrp="1"/>
          </p:cNvSpPr>
          <p:nvPr>
            <p:ph type="title"/>
          </p:nvPr>
        </p:nvSpPr>
        <p:spPr/>
        <p:txBody>
          <a:bodyPr/>
          <a:p>
            <a:r>
              <a:rPr b="1"/>
              <a:t>Unwanted effects </a:t>
            </a:r>
            <a:endParaRPr b="1"/>
          </a:p>
        </p:txBody>
      </p:sp>
      <p:sp>
        <p:nvSpPr>
          <p:cNvPr id="1049785" name="Content Placeholder 2"/>
          <p:cNvSpPr>
            <a:spLocks noGrp="1"/>
          </p:cNvSpPr>
          <p:nvPr>
            <p:ph idx="1"/>
          </p:nvPr>
        </p:nvSpPr>
        <p:spPr/>
        <p:txBody>
          <a:bodyPr/>
          <a:p>
            <a:r>
              <a:t>Oral can cause GIT discomfort</a:t>
            </a:r>
          </a:p>
          <a:p>
            <a:r>
              <a:t>Liquid form for infants can stain teeth.</a:t>
            </a:r>
          </a:p>
          <a:p>
            <a:r>
              <a:t>Allergic reactions are possible with chills, urticaria, sweating , fever and even anaphylaxis after parenteral administration.</a:t>
            </a:r>
          </a:p>
          <a:p>
            <a:r>
              <a:t>Patients pass black or dark stool this in harmless results of unabsorbed iron.</a:t>
            </a:r>
          </a:p>
        </p:txBody>
      </p:sp>
    </p:spTree>
  </p:cSld>
  <p:clrMapOvr>
    <a:masterClrMapping/>
  </p:clrMapOvr>
</p:sld>
</file>

<file path=ppt/slides/slide601.xml><?xml version="1.0" encoding="utf-8"?>
<p:sld xmlns:a="http://schemas.openxmlformats.org/drawingml/2006/main" xmlns:r="http://schemas.openxmlformats.org/officeDocument/2006/relationships" xmlns:p="http://schemas.openxmlformats.org/presentationml/2006/main">
  <p:cSld>
    <p:spTree>
      <p:nvGrpSpPr>
        <p:cNvPr id="1290" name=""/>
        <p:cNvGrpSpPr/>
        <p:nvPr/>
      </p:nvGrpSpPr>
      <p:grpSpPr>
        <a:xfrm>
          <a:off x="0" y="0"/>
          <a:ext cx="0" cy="0"/>
          <a:chOff x="0" y="0"/>
          <a:chExt cx="0" cy="0"/>
        </a:xfrm>
      </p:grpSpPr>
      <p:sp>
        <p:nvSpPr>
          <p:cNvPr id="1049786" name="Title 1"/>
          <p:cNvSpPr>
            <a:spLocks noGrp="1"/>
          </p:cNvSpPr>
          <p:nvPr>
            <p:ph type="title"/>
          </p:nvPr>
        </p:nvSpPr>
        <p:spPr/>
        <p:txBody>
          <a:bodyPr/>
          <a:p>
            <a:r>
              <a:t>                          </a:t>
            </a:r>
            <a:r>
              <a:rPr b="1"/>
              <a:t>folic acid </a:t>
            </a:r>
            <a:endParaRPr b="1"/>
          </a:p>
        </p:txBody>
      </p:sp>
      <p:sp>
        <p:nvSpPr>
          <p:cNvPr id="1049787" name="Content Placeholder 2"/>
          <p:cNvSpPr>
            <a:spLocks noGrp="1"/>
          </p:cNvSpPr>
          <p:nvPr>
            <p:ph idx="1"/>
          </p:nvPr>
        </p:nvSpPr>
        <p:spPr/>
        <p:txBody>
          <a:bodyPr>
            <a:normAutofit fontScale="89286" lnSpcReduction="20000"/>
          </a:bodyPr>
          <a:p>
            <a:pPr indent="0" marL="0">
              <a:buNone/>
            </a:pPr>
            <a:r>
              <a:rPr b="1"/>
              <a:t>Expected Pharmacological Action </a:t>
            </a:r>
            <a:endParaRPr b="1"/>
          </a:p>
          <a:p>
            <a:r>
              <a:t>Folic acid is essential in the production of DNA and erythropoiesis (RBC, WBC, and platelets). </a:t>
            </a:r>
          </a:p>
          <a:p>
            <a:pPr indent="0" marL="0">
              <a:buNone/>
            </a:pPr>
            <a:r>
              <a:t> </a:t>
            </a:r>
            <a:r>
              <a:rPr b="1"/>
              <a:t>Therapeutic Uses </a:t>
            </a:r>
            <a:endParaRPr b="1"/>
          </a:p>
          <a:p>
            <a:r>
              <a:t>Treatment of megaloblastic (macrocytic) anemia secondary to folic acid deficiency </a:t>
            </a:r>
          </a:p>
          <a:p>
            <a:r>
              <a:t> Prevention of neural tube defects during pregnancy; therefore it is needed in all women of child-bearing age who may become pregnant. </a:t>
            </a:r>
          </a:p>
          <a:p>
            <a:r>
              <a:t> Treatment of malabsorption syndrome such as sprue</a:t>
            </a:r>
          </a:p>
          <a:p>
            <a:pPr indent="0" marL="0">
              <a:buNone/>
            </a:pPr>
            <a:r>
              <a:rPr b="1"/>
              <a:t>Contraindications/Precautions .</a:t>
            </a:r>
            <a:endParaRPr b="1"/>
          </a:p>
          <a:p>
            <a:pPr indent="0" marL="0">
              <a:buNone/>
            </a:pPr>
            <a:r>
              <a:t> Indiscriminate use of folic acid is inappropriate because of the risk of masking signs of vitamin B12 deficiency.</a:t>
            </a:r>
          </a:p>
        </p:txBody>
      </p:sp>
    </p:spTree>
  </p:cSld>
  <p:clrMapOvr>
    <a:masterClrMapping/>
  </p:clrMapOvr>
</p:sld>
</file>

<file path=ppt/slides/slide602.xml><?xml version="1.0" encoding="utf-8"?>
<p:sld xmlns:a="http://schemas.openxmlformats.org/drawingml/2006/main" xmlns:r="http://schemas.openxmlformats.org/officeDocument/2006/relationships" xmlns:p="http://schemas.openxmlformats.org/presentationml/2006/main">
  <p:cSld>
    <p:spTree>
      <p:nvGrpSpPr>
        <p:cNvPr id="1291" name=""/>
        <p:cNvGrpSpPr/>
        <p:nvPr/>
      </p:nvGrpSpPr>
      <p:grpSpPr>
        <a:xfrm>
          <a:off x="0" y="0"/>
          <a:ext cx="0" cy="0"/>
          <a:chOff x="0" y="0"/>
          <a:chExt cx="0" cy="0"/>
        </a:xfrm>
      </p:grpSpPr>
      <p:sp>
        <p:nvSpPr>
          <p:cNvPr id="1049788" name="Content Placeholder 2"/>
          <p:cNvSpPr>
            <a:spLocks noGrp="1"/>
          </p:cNvSpPr>
          <p:nvPr>
            <p:ph idx="1"/>
          </p:nvPr>
        </p:nvSpPr>
        <p:spPr>
          <a:xfrm>
            <a:off x="873365" y="187565"/>
            <a:ext cx="10515600" cy="6424240"/>
          </a:xfrm>
        </p:spPr>
        <p:txBody>
          <a:bodyPr>
            <a:normAutofit fontScale="96429"/>
          </a:bodyPr>
          <a:p>
            <a:pPr indent="0" marL="0">
              <a:buNone/>
            </a:pPr>
            <a:r>
              <a:rPr b="1"/>
              <a:t>Medication/Food Interactions</a:t>
            </a:r>
            <a:endParaRPr b="1"/>
          </a:p>
          <a:p>
            <a:r>
              <a:rPr b="1"/>
              <a:t> </a:t>
            </a:r>
            <a:r>
              <a:t>Decreased folate levels with concurrent use of sulfonamides, sulfasalazine, or methotrexate.</a:t>
            </a:r>
          </a:p>
          <a:p>
            <a:pPr indent="0" marL="0">
              <a:buNone/>
            </a:pPr>
            <a:r>
              <a:t> </a:t>
            </a:r>
            <a:r>
              <a:rPr b="1"/>
              <a:t>Nursing Administration </a:t>
            </a:r>
            <a:endParaRPr b="1"/>
          </a:p>
          <a:p>
            <a:r>
              <a:t> Assess clients for signs and symptoms of megaloblastic anemia (pallor, easy fatigability, palpitations, paresthesia of hands or feet). </a:t>
            </a:r>
          </a:p>
          <a:p>
            <a:r>
              <a:t>Obtain the client’s baseline folic acid levels, RBC and reticulocyte counts, Hgb, and Hct levels. Monitor periodically. </a:t>
            </a:r>
          </a:p>
          <a:p>
            <a:r>
              <a:t> Advise clients with folic acid deficiency to concurrently increase intake of food sources of folic acid, such as green leafy vegetables and liver. Monitor clients for risk factors indicating that folic acid therapy may be needed, such as heavy alcohol use and child-bearing age.</a:t>
            </a:r>
          </a:p>
          <a:p>
            <a:pPr indent="0" marL="0">
              <a:buNone/>
            </a:pPr>
            <a:r>
              <a:rPr u="sng"/>
              <a:t>NB :</a:t>
            </a:r>
            <a:r>
              <a:t>vitamin B12 will be covered in nutrition.</a:t>
            </a:r>
          </a:p>
          <a:p>
            <a:pPr indent="0" marL="0">
              <a:buNone/>
            </a:pPr>
          </a:p>
        </p:txBody>
      </p:sp>
    </p:spTree>
  </p:cSld>
  <p:clrMapOvr>
    <a:masterClrMapping/>
  </p:clrMapOvr>
</p:sld>
</file>

<file path=ppt/slides/slide603.xml><?xml version="1.0" encoding="utf-8"?>
<p:sld xmlns:a="http://schemas.openxmlformats.org/drawingml/2006/main" xmlns:r="http://schemas.openxmlformats.org/officeDocument/2006/relationships" xmlns:p="http://schemas.openxmlformats.org/presentationml/2006/main">
  <p:cSld>
    <p:spTree>
      <p:nvGrpSpPr>
        <p:cNvPr id="1292" name=""/>
        <p:cNvGrpSpPr/>
        <p:nvPr/>
      </p:nvGrpSpPr>
      <p:grpSpPr>
        <a:xfrm>
          <a:off x="0" y="0"/>
          <a:ext cx="0" cy="0"/>
          <a:chOff x="0" y="0"/>
          <a:chExt cx="0" cy="0"/>
        </a:xfrm>
      </p:grpSpPr>
      <p:sp>
        <p:nvSpPr>
          <p:cNvPr id="1049789" name="Title 1"/>
          <p:cNvSpPr>
            <a:spLocks noGrp="1"/>
          </p:cNvSpPr>
          <p:nvPr>
            <p:ph type="title"/>
          </p:nvPr>
        </p:nvSpPr>
        <p:spPr>
          <a:xfrm>
            <a:off x="880536" y="365126"/>
            <a:ext cx="10473267" cy="1325556"/>
          </a:xfrm>
        </p:spPr>
        <p:txBody>
          <a:bodyPr/>
          <a:p>
            <a:r>
              <a:t>                      CVS: </a:t>
            </a:r>
            <a:r>
              <a:rPr b="1"/>
              <a:t>DIURETICS</a:t>
            </a:r>
            <a:endParaRPr b="1"/>
          </a:p>
        </p:txBody>
      </p:sp>
      <p:sp>
        <p:nvSpPr>
          <p:cNvPr id="1049790" name="Content Placeholder 2"/>
          <p:cNvSpPr>
            <a:spLocks noGrp="1"/>
          </p:cNvSpPr>
          <p:nvPr>
            <p:ph idx="1"/>
          </p:nvPr>
        </p:nvSpPr>
        <p:spPr/>
        <p:txBody>
          <a:bodyPr/>
          <a:p>
            <a:r>
              <a:t>Diuretics are drugs that increase the rate of urine flow; clinically useful diuretics also increase the rate of excretion of sodium and accompanying</a:t>
            </a:r>
            <a:r>
              <a:rPr>
                <a:solidFill>
                  <a:srgbClr val="000000"/>
                </a:solidFill>
              </a:rPr>
              <a:t> anion chloride.</a:t>
            </a:r>
          </a:p>
          <a:p>
            <a:r>
              <a:t>Most clinical application of diuretics aim to reduce extracellular fluid volume by decreasing total sodium chloride volume.</a:t>
            </a:r>
          </a:p>
          <a:p>
            <a:r>
              <a:t>diuretics alter excretion of sodium and also may modify handling   of other cations(potassium, hydrogen and magnesium)  anions (chloride, bicarbonate, hydrogen phosphate ), and uric acid </a:t>
            </a:r>
          </a:p>
        </p:txBody>
      </p:sp>
    </p:spTree>
  </p:cSld>
  <p:clrMapOvr>
    <a:masterClrMapping/>
  </p:clrMapOvr>
</p:sld>
</file>

<file path=ppt/slides/slide604.xml><?xml version="1.0" encoding="utf-8"?>
<p:sld xmlns:a="http://schemas.openxmlformats.org/drawingml/2006/main" xmlns:r="http://schemas.openxmlformats.org/officeDocument/2006/relationships" xmlns:p="http://schemas.openxmlformats.org/presentationml/2006/main">
  <p:cSld>
    <p:spTree>
      <p:nvGrpSpPr>
        <p:cNvPr id="1293" name=""/>
        <p:cNvGrpSpPr/>
        <p:nvPr/>
      </p:nvGrpSpPr>
      <p:grpSpPr>
        <a:xfrm>
          <a:off x="0" y="0"/>
          <a:ext cx="0" cy="0"/>
          <a:chOff x="0" y="0"/>
          <a:chExt cx="0" cy="0"/>
        </a:xfrm>
      </p:grpSpPr>
      <p:sp>
        <p:nvSpPr>
          <p:cNvPr id="1049791" name="Title 1"/>
          <p:cNvSpPr>
            <a:spLocks noGrp="1"/>
          </p:cNvSpPr>
          <p:nvPr>
            <p:ph type="title"/>
          </p:nvPr>
        </p:nvSpPr>
        <p:spPr/>
        <p:txBody>
          <a:bodyPr/>
          <a:p>
            <a:r>
              <a:rPr b="1"/>
              <a:t>Clinical pharmacology of diuretics</a:t>
            </a:r>
            <a:endParaRPr b="1"/>
          </a:p>
        </p:txBody>
      </p:sp>
      <p:sp>
        <p:nvSpPr>
          <p:cNvPr id="1049792" name="Content Placeholder 2"/>
          <p:cNvSpPr>
            <a:spLocks noGrp="1"/>
          </p:cNvSpPr>
          <p:nvPr>
            <p:ph idx="1"/>
          </p:nvPr>
        </p:nvSpPr>
        <p:spPr/>
        <p:txBody>
          <a:bodyPr>
            <a:normAutofit/>
          </a:bodyPr>
          <a:p>
            <a:r>
              <a:rPr b="1"/>
              <a:t>Edematous </a:t>
            </a:r>
            <a:r>
              <a:t>state :in heart failure, kidney disease and in renal failure.</a:t>
            </a:r>
          </a:p>
          <a:p>
            <a:r>
              <a:rPr b="1"/>
              <a:t>Non edematous state : </a:t>
            </a:r>
            <a:r>
              <a:t>in hypertension, nephrolithiasis hypercalcemia.</a:t>
            </a:r>
          </a:p>
          <a:p/>
          <a:p>
            <a:pPr indent="0" marL="0">
              <a:buNone/>
            </a:pPr>
            <a:r>
              <a:rPr b="1" sz="3600"/>
              <a:t>classification of diuretics</a:t>
            </a:r>
            <a:endParaRPr b="1" sz="3600"/>
          </a:p>
          <a:p>
            <a:pPr>
              <a:buFont typeface="Wingdings"/>
              <a:buChar char="Ø"/>
            </a:pPr>
            <a:r>
              <a:t>Loop diuretics : furosemide</a:t>
            </a:r>
          </a:p>
          <a:p>
            <a:pPr>
              <a:buFont typeface="Wingdings"/>
              <a:buChar char="Ø"/>
            </a:pPr>
            <a:r>
              <a:t>Thiazide diuretics: hydrochlorothiazide</a:t>
            </a:r>
          </a:p>
          <a:p>
            <a:pPr>
              <a:buFont typeface="Wingdings"/>
              <a:buChar char="Ø"/>
            </a:pPr>
            <a:r>
              <a:t>Potassium sparing diuretics: spironolactone</a:t>
            </a:r>
          </a:p>
          <a:p>
            <a:pPr>
              <a:buFont typeface="Wingdings"/>
              <a:buChar char="Ø"/>
            </a:pPr>
            <a:r>
              <a:t>Osmotic diuretic: mannitol</a:t>
            </a:r>
          </a:p>
          <a:p>
            <a:pPr>
              <a:buFont typeface="Wingdings"/>
              <a:buChar char="Ø"/>
            </a:pPr>
            <a:r>
              <a:t>Carbonic anhydrase inhibitors: acetazolamide (DIAMOX)</a:t>
            </a:r>
          </a:p>
        </p:txBody>
      </p:sp>
    </p:spTree>
  </p:cSld>
  <p:clrMapOvr>
    <a:masterClrMapping/>
  </p:clrMapOvr>
</p:sld>
</file>

<file path=ppt/slides/slide605.xml><?xml version="1.0" encoding="utf-8"?>
<p:sld xmlns:a="http://schemas.openxmlformats.org/drawingml/2006/main" xmlns:r="http://schemas.openxmlformats.org/officeDocument/2006/relationships" xmlns:p="http://schemas.openxmlformats.org/presentationml/2006/main">
  <p:cSld>
    <p:spTree>
      <p:nvGrpSpPr>
        <p:cNvPr id="1294" name=""/>
        <p:cNvGrpSpPr/>
        <p:nvPr/>
      </p:nvGrpSpPr>
      <p:grpSpPr>
        <a:xfrm>
          <a:off x="0" y="0"/>
          <a:ext cx="0" cy="0"/>
          <a:chOff x="0" y="0"/>
          <a:chExt cx="0" cy="0"/>
        </a:xfrm>
      </p:grpSpPr>
      <p:pic>
        <p:nvPicPr>
          <p:cNvPr id="2097166" name="Content Placeholder 4"/>
          <p:cNvPicPr>
            <a:picLocks noChangeAspect="1" noGrp="1"/>
          </p:cNvPicPr>
          <p:nvPr>
            <p:ph idx="1"/>
          </p:nvPr>
        </p:nvPicPr>
        <p:blipFill>
          <a:blip xmlns:r="http://schemas.openxmlformats.org/officeDocument/2006/relationships" r:embed="rId1"/>
          <a:stretch>
            <a:fillRect/>
          </a:stretch>
        </p:blipFill>
        <p:spPr>
          <a:xfrm>
            <a:off x="474138" y="248356"/>
            <a:ext cx="11187293" cy="6502403"/>
          </a:xfrm>
        </p:spPr>
      </p:pic>
    </p:spTree>
  </p:cSld>
  <p:clrMapOvr>
    <a:masterClrMapping/>
  </p:clrMapOvr>
</p:sld>
</file>

<file path=ppt/slides/slide606.xml><?xml version="1.0" encoding="utf-8"?>
<p:sld xmlns:a="http://schemas.openxmlformats.org/drawingml/2006/main" xmlns:r="http://schemas.openxmlformats.org/officeDocument/2006/relationships" xmlns:p="http://schemas.openxmlformats.org/presentationml/2006/main">
  <p:cSld>
    <p:spTree>
      <p:nvGrpSpPr>
        <p:cNvPr id="1295" name=""/>
        <p:cNvGrpSpPr/>
        <p:nvPr/>
      </p:nvGrpSpPr>
      <p:grpSpPr>
        <a:xfrm>
          <a:off x="0" y="0"/>
          <a:ext cx="0" cy="0"/>
          <a:chOff x="0" y="0"/>
          <a:chExt cx="0" cy="0"/>
        </a:xfrm>
      </p:grpSpPr>
      <p:sp>
        <p:nvSpPr>
          <p:cNvPr id="1049793" name="Title 1"/>
          <p:cNvSpPr>
            <a:spLocks noGrp="1"/>
          </p:cNvSpPr>
          <p:nvPr>
            <p:ph type="title"/>
          </p:nvPr>
        </p:nvSpPr>
        <p:spPr>
          <a:xfrm>
            <a:off x="838204" y="376846"/>
            <a:ext cx="10515600" cy="1325556"/>
          </a:xfrm>
        </p:spPr>
        <p:txBody>
          <a:bodyPr/>
          <a:p>
            <a:r>
              <a:t>a)High Ceiling Loop Diuretics</a:t>
            </a:r>
          </a:p>
        </p:txBody>
      </p:sp>
      <p:sp>
        <p:nvSpPr>
          <p:cNvPr id="1049794" name="Content Placeholder 2"/>
          <p:cNvSpPr>
            <a:spLocks noGrp="1"/>
          </p:cNvSpPr>
          <p:nvPr>
            <p:ph idx="1"/>
          </p:nvPr>
        </p:nvSpPr>
        <p:spPr/>
        <p:txBody>
          <a:bodyPr>
            <a:normAutofit/>
          </a:bodyPr>
          <a:p>
            <a:pPr indent="0" marL="0">
              <a:buNone/>
            </a:pPr>
            <a:r>
              <a:t> </a:t>
            </a:r>
            <a:r>
              <a:rPr b="1"/>
              <a:t>furosemide (Lasix) </a:t>
            </a:r>
            <a:endParaRPr b="1"/>
          </a:p>
          <a:p>
            <a:pPr indent="0" marL="0">
              <a:buNone/>
            </a:pPr>
            <a:r>
              <a:t>Other Medications: </a:t>
            </a:r>
          </a:p>
          <a:p>
            <a:r>
              <a:t>Ethacrynic acid (Edecrin) </a:t>
            </a:r>
          </a:p>
          <a:p>
            <a:r>
              <a:t> Bumetanide (Bumex) </a:t>
            </a:r>
          </a:p>
          <a:p>
            <a:r>
              <a:t> Torsemide (Demadex) </a:t>
            </a:r>
          </a:p>
          <a:p>
            <a:pPr indent="0" marL="0">
              <a:buNone/>
            </a:pPr>
            <a:r>
              <a:rPr b="1"/>
              <a:t>Expected Pharmacological Action </a:t>
            </a:r>
            <a:endParaRPr b="1"/>
          </a:p>
          <a:p>
            <a:r>
              <a:t>High ceiling loop diuretics work in the </a:t>
            </a:r>
            <a:r>
              <a:rPr b="1"/>
              <a:t>ascending limb of loop of Henle </a:t>
            </a:r>
            <a:r>
              <a:t>to:</a:t>
            </a:r>
          </a:p>
          <a:p>
            <a:r>
              <a:t> Block reabsorption of sodium and chloride and to prevent reabsorption of water,  Cause extensive diuresis even with severe renal impairment.</a:t>
            </a:r>
          </a:p>
          <a:p/>
        </p:txBody>
      </p:sp>
    </p:spTree>
  </p:cSld>
  <p:clrMapOvr>
    <a:masterClrMapping/>
  </p:clrMapOvr>
</p:sld>
</file>

<file path=ppt/slides/slide607.xml><?xml version="1.0" encoding="utf-8"?>
<p:sld xmlns:a="http://schemas.openxmlformats.org/drawingml/2006/main" xmlns:r="http://schemas.openxmlformats.org/officeDocument/2006/relationships" xmlns:p="http://schemas.openxmlformats.org/presentationml/2006/main">
  <p:cSld>
    <p:spTree>
      <p:nvGrpSpPr>
        <p:cNvPr id="1296" name=""/>
        <p:cNvGrpSpPr/>
        <p:nvPr/>
      </p:nvGrpSpPr>
      <p:grpSpPr>
        <a:xfrm>
          <a:off x="0" y="0"/>
          <a:ext cx="0" cy="0"/>
          <a:chOff x="0" y="0"/>
          <a:chExt cx="0" cy="0"/>
        </a:xfrm>
      </p:grpSpPr>
      <p:sp>
        <p:nvSpPr>
          <p:cNvPr id="1049795" name="Title 1"/>
          <p:cNvSpPr>
            <a:spLocks noGrp="1"/>
          </p:cNvSpPr>
          <p:nvPr>
            <p:ph type="title"/>
          </p:nvPr>
        </p:nvSpPr>
        <p:spPr/>
        <p:txBody>
          <a:bodyPr>
            <a:normAutofit/>
          </a:bodyPr>
          <a:p>
            <a:r>
              <a:rPr b="1" sz="3600">
                <a:solidFill>
                  <a:srgbClr val="000000"/>
                </a:solidFill>
                <a:latin typeface="Calibri"/>
                <a:ea typeface="+mn-ea"/>
                <a:cs typeface="+mn-cs"/>
              </a:rPr>
              <a:t> Therapeutic Uses</a:t>
            </a:r>
            <a:endParaRPr b="1" sz="3600"/>
          </a:p>
        </p:txBody>
      </p:sp>
      <p:sp>
        <p:nvSpPr>
          <p:cNvPr id="1049796" name="Content Placeholder 2"/>
          <p:cNvSpPr>
            <a:spLocks noGrp="1"/>
          </p:cNvSpPr>
          <p:nvPr>
            <p:ph idx="1"/>
          </p:nvPr>
        </p:nvSpPr>
        <p:spPr/>
        <p:txBody>
          <a:bodyPr>
            <a:normAutofit/>
          </a:bodyPr>
          <a:p>
            <a:r>
              <a:t> High ceiling loop diuretics are used when there is an </a:t>
            </a:r>
            <a:r>
              <a:rPr b="1"/>
              <a:t>emergent</a:t>
            </a:r>
            <a:r>
              <a:t> need for rapid mobilization of fluid such as: </a:t>
            </a:r>
          </a:p>
          <a:p>
            <a:r>
              <a:t>Pulmonary edema caused by heart failure </a:t>
            </a:r>
          </a:p>
          <a:p>
            <a:r>
              <a:t>Conditions not responsive to other diuretics such as edema caused by </a:t>
            </a:r>
            <a:r>
              <a:rPr b="1"/>
              <a:t>liver, cardiac, or kidney disease; hypertension </a:t>
            </a:r>
            <a:endParaRPr b="1"/>
          </a:p>
          <a:p>
            <a:r>
              <a:t> These medications may also be used to treat </a:t>
            </a:r>
            <a:r>
              <a:rPr b="1"/>
              <a:t>hypercalcemia</a:t>
            </a:r>
            <a:r>
              <a:t> related to kidney stone formation. </a:t>
            </a:r>
          </a:p>
          <a:p>
            <a:r>
              <a:t>Route of administration:</a:t>
            </a:r>
            <a:r>
              <a:rPr b="1"/>
              <a:t> Oral, IV, IM.</a:t>
            </a:r>
            <a:endParaRPr b="1"/>
          </a:p>
        </p:txBody>
      </p:sp>
    </p:spTree>
  </p:cSld>
  <p:clrMapOvr>
    <a:masterClrMapping/>
  </p:clrMapOvr>
</p:sld>
</file>

<file path=ppt/slides/slide608.xml><?xml version="1.0" encoding="utf-8"?>
<p:sld xmlns:a="http://schemas.openxmlformats.org/drawingml/2006/main" xmlns:r="http://schemas.openxmlformats.org/officeDocument/2006/relationships" xmlns:p="http://schemas.openxmlformats.org/presentationml/2006/main">
  <p:cSld>
    <p:spTree>
      <p:nvGrpSpPr>
        <p:cNvPr id="1297" name=""/>
        <p:cNvGrpSpPr/>
        <p:nvPr/>
      </p:nvGrpSpPr>
      <p:grpSpPr>
        <a:xfrm>
          <a:off x="0" y="0"/>
          <a:ext cx="0" cy="0"/>
          <a:chOff x="0" y="0"/>
          <a:chExt cx="0" cy="0"/>
        </a:xfrm>
      </p:grpSpPr>
      <p:sp>
        <p:nvSpPr>
          <p:cNvPr id="1049797" name="Title 1"/>
          <p:cNvSpPr>
            <a:spLocks noGrp="1"/>
          </p:cNvSpPr>
          <p:nvPr>
            <p:ph type="title"/>
          </p:nvPr>
        </p:nvSpPr>
        <p:spPr/>
        <p:txBody>
          <a:bodyPr/>
          <a:p>
            <a:r>
              <a:rPr b="1"/>
              <a:t>Side effects</a:t>
            </a:r>
            <a:endParaRPr b="1"/>
          </a:p>
        </p:txBody>
      </p:sp>
      <p:sp>
        <p:nvSpPr>
          <p:cNvPr id="1049798" name="Content Placeholder 2"/>
          <p:cNvSpPr>
            <a:spLocks noGrp="1"/>
          </p:cNvSpPr>
          <p:nvPr>
            <p:ph idx="1"/>
          </p:nvPr>
        </p:nvSpPr>
        <p:spPr/>
        <p:txBody>
          <a:bodyPr>
            <a:normAutofit lnSpcReduction="10000"/>
          </a:bodyPr>
          <a:p>
            <a:r>
              <a:t>Dehydration, hyponatremia, hypochloremia.</a:t>
            </a:r>
          </a:p>
          <a:p>
            <a:r>
              <a:t>Hypotension</a:t>
            </a:r>
          </a:p>
          <a:p>
            <a:r>
              <a:t>Ototoxicity (transient with furosemide and irreversible with ethacrynic acid)</a:t>
            </a:r>
          </a:p>
          <a:p>
            <a:r>
              <a:t> Hypokalemia (K+ less than 3.5 mEq/L</a:t>
            </a:r>
          </a:p>
          <a:p>
            <a:r>
              <a:t> Other adverse effects (hyperglycemia, hyperuricemia, and decrease in calcium and magnesium levels) </a:t>
            </a:r>
          </a:p>
          <a:p>
            <a:r>
              <a:rPr b="1"/>
              <a:t>Contraindications/Precautions ;</a:t>
            </a:r>
            <a:r>
              <a:t>Pregnancy Risk Category C , Avoid using these medications during pregnancy unless absolutely required.  Use cautiously in clients who have diabetes and/or gout</a:t>
            </a:r>
          </a:p>
          <a:p/>
          <a:p/>
          <a:p/>
        </p:txBody>
      </p:sp>
    </p:spTree>
  </p:cSld>
  <p:clrMapOvr>
    <a:masterClrMapping/>
  </p:clrMapOvr>
</p:sld>
</file>

<file path=ppt/slides/slide609.xml><?xml version="1.0" encoding="utf-8"?>
<p:sld xmlns:a="http://schemas.openxmlformats.org/drawingml/2006/main" xmlns:r="http://schemas.openxmlformats.org/officeDocument/2006/relationships" xmlns:p="http://schemas.openxmlformats.org/presentationml/2006/main">
  <p:cSld>
    <p:spTree>
      <p:nvGrpSpPr>
        <p:cNvPr id="1298" name=""/>
        <p:cNvGrpSpPr/>
        <p:nvPr/>
      </p:nvGrpSpPr>
      <p:grpSpPr>
        <a:xfrm>
          <a:off x="0" y="0"/>
          <a:ext cx="0" cy="0"/>
          <a:chOff x="0" y="0"/>
          <a:chExt cx="0" cy="0"/>
        </a:xfrm>
      </p:grpSpPr>
      <p:sp>
        <p:nvSpPr>
          <p:cNvPr id="1049799" name="Title 1"/>
          <p:cNvSpPr>
            <a:spLocks noGrp="1"/>
          </p:cNvSpPr>
          <p:nvPr>
            <p:ph type="title"/>
          </p:nvPr>
        </p:nvSpPr>
        <p:spPr/>
        <p:txBody>
          <a:bodyPr/>
          <a:p>
            <a:r>
              <a:rPr b="1"/>
              <a:t>Drug  interaction</a:t>
            </a:r>
            <a:endParaRPr b="1"/>
          </a:p>
        </p:txBody>
      </p:sp>
      <p:sp>
        <p:nvSpPr>
          <p:cNvPr id="1049800" name="Content Placeholder 2"/>
          <p:cNvSpPr>
            <a:spLocks noGrp="1"/>
          </p:cNvSpPr>
          <p:nvPr>
            <p:ph idx="1"/>
          </p:nvPr>
        </p:nvSpPr>
        <p:spPr/>
        <p:txBody>
          <a:bodyPr/>
          <a:p>
            <a:r>
              <a:t>Digoxin (Lanoxin) toxicity can occur in the presence of hypokalemia.</a:t>
            </a:r>
          </a:p>
          <a:p>
            <a:r>
              <a:t>Concurrent use of antihypertensive can have additive hypotensive effect. </a:t>
            </a:r>
          </a:p>
          <a:p>
            <a:r>
              <a:t>Hyponatremia can lead to decrease in lithium carbonate excretion, which may lead to toxicity.</a:t>
            </a:r>
          </a:p>
          <a:p>
            <a:r>
              <a:t> NSAIDs reduce diuretic effect.</a:t>
            </a:r>
          </a:p>
          <a:p/>
          <a:p/>
        </p:txBody>
      </p:sp>
    </p:spTree>
  </p:cSld>
  <p:clrMapOvr>
    <a:masterClrMapping/>
  </p:clrMapOvr>
</p:sld>
</file>

<file path=ppt/slides/slide610.xml><?xml version="1.0" encoding="utf-8"?>
<p:sld xmlns:a="http://schemas.openxmlformats.org/drawingml/2006/main" xmlns:r="http://schemas.openxmlformats.org/officeDocument/2006/relationships" xmlns:p="http://schemas.openxmlformats.org/presentationml/2006/main">
  <p:cSld>
    <p:spTree>
      <p:nvGrpSpPr>
        <p:cNvPr id="1299" name=""/>
        <p:cNvGrpSpPr/>
        <p:nvPr/>
      </p:nvGrpSpPr>
      <p:grpSpPr>
        <a:xfrm>
          <a:off x="0" y="0"/>
          <a:ext cx="0" cy="0"/>
          <a:chOff x="0" y="0"/>
          <a:chExt cx="0" cy="0"/>
        </a:xfrm>
      </p:grpSpPr>
      <p:sp>
        <p:nvSpPr>
          <p:cNvPr id="1049801" name="Title 1"/>
          <p:cNvSpPr>
            <a:spLocks noGrp="1"/>
          </p:cNvSpPr>
          <p:nvPr>
            <p:ph type="title"/>
          </p:nvPr>
        </p:nvSpPr>
        <p:spPr/>
        <p:txBody>
          <a:bodyPr/>
          <a:p>
            <a:r>
              <a:rPr b="1"/>
              <a:t>Nursing administration</a:t>
            </a:r>
            <a:endParaRPr b="1"/>
          </a:p>
        </p:txBody>
      </p:sp>
      <p:sp>
        <p:nvSpPr>
          <p:cNvPr id="1049802" name="Content Placeholder 2"/>
          <p:cNvSpPr>
            <a:spLocks noGrp="1"/>
          </p:cNvSpPr>
          <p:nvPr>
            <p:ph idx="1"/>
          </p:nvPr>
        </p:nvSpPr>
        <p:spPr/>
        <p:txBody>
          <a:bodyPr>
            <a:normAutofit/>
          </a:bodyPr>
          <a:p>
            <a:r>
              <a:t>Obtain the client’s baseline data to include orthostatic blood pressure, weight, electrolytes, and location and extent of edema. </a:t>
            </a:r>
          </a:p>
          <a:p>
            <a:r>
              <a:t> Weigh clients at the same time each day; usually upon awakening. </a:t>
            </a:r>
          </a:p>
          <a:p>
            <a:r>
              <a:t> Monitor the client’s blood pressure and I&amp;O. </a:t>
            </a:r>
          </a:p>
          <a:p>
            <a:r>
              <a:t> Avoid administering the medication late in the day to prevent nocturia. Usual dosing time is 0800 and 1400. </a:t>
            </a:r>
          </a:p>
          <a:p>
            <a:r>
              <a:t> Administer furosemide orally, IV bolus dose, or continuous IV infusion. Infuse IV doses at 20 mg/min or slower to avoid abrupt hypotension and hypovolemia. </a:t>
            </a:r>
          </a:p>
          <a:p>
            <a:r>
              <a:t>If potassium level drops below 3.5 mEq/L, clients should be placed on a potassium supplement. </a:t>
            </a:r>
          </a:p>
        </p:txBody>
      </p:sp>
    </p:spTree>
  </p:cSld>
  <p:clrMapOvr>
    <a:masterClrMapping/>
  </p:clrMapOvr>
</p:sld>
</file>

<file path=ppt/slides/slide611.xml><?xml version="1.0" encoding="utf-8"?>
<p:sld xmlns:a="http://schemas.openxmlformats.org/drawingml/2006/main" xmlns:r="http://schemas.openxmlformats.org/officeDocument/2006/relationships" xmlns:p="http://schemas.openxmlformats.org/presentationml/2006/main">
  <p:cSld>
    <p:spTree>
      <p:nvGrpSpPr>
        <p:cNvPr id="1300" name=""/>
        <p:cNvGrpSpPr/>
        <p:nvPr/>
      </p:nvGrpSpPr>
      <p:grpSpPr>
        <a:xfrm>
          <a:off x="0" y="0"/>
          <a:ext cx="0" cy="0"/>
          <a:chOff x="0" y="0"/>
          <a:chExt cx="0" cy="0"/>
        </a:xfrm>
      </p:grpSpPr>
      <p:sp>
        <p:nvSpPr>
          <p:cNvPr id="1049803" name="Title 1"/>
          <p:cNvSpPr>
            <a:spLocks noGrp="1"/>
          </p:cNvSpPr>
          <p:nvPr>
            <p:ph type="title"/>
          </p:nvPr>
        </p:nvSpPr>
        <p:spPr/>
        <p:txBody>
          <a:bodyPr/>
          <a:p>
            <a:r>
              <a:rPr b="1"/>
              <a:t>Nursing administration cont.’</a:t>
            </a:r>
            <a:endParaRPr b="1"/>
          </a:p>
        </p:txBody>
      </p:sp>
      <p:sp>
        <p:nvSpPr>
          <p:cNvPr id="1049804" name="Content Placeholder 2"/>
          <p:cNvSpPr>
            <a:spLocks noGrp="1"/>
          </p:cNvSpPr>
          <p:nvPr>
            <p:ph idx="1"/>
          </p:nvPr>
        </p:nvSpPr>
        <p:spPr>
          <a:xfrm>
            <a:off x="838204" y="1690682"/>
            <a:ext cx="10515600" cy="4351339"/>
          </a:xfrm>
        </p:spPr>
        <p:txBody>
          <a:bodyPr>
            <a:normAutofit/>
          </a:bodyPr>
          <a:p>
            <a:r>
              <a:t> If the medication is used for hypertension, teach clients to self-monitor blood pressure and weight by keeping a log. </a:t>
            </a:r>
          </a:p>
          <a:p>
            <a:r>
              <a:t> Advise clients to get up slowly to minimize postural hypotension. If faintness or dizziness occurs, instruct clients to sit or lie down. </a:t>
            </a:r>
          </a:p>
          <a:p>
            <a:r>
              <a:t> Teach clients to report significant weight loss, lightheadedness, dizziness, GI distress, and/ or general weakness to the provider. </a:t>
            </a:r>
          </a:p>
          <a:p>
            <a:r>
              <a:t> Encourage clients to consume foods high in potassium, such as avocados and strawberries. </a:t>
            </a:r>
          </a:p>
          <a:p>
            <a:r>
              <a:t> Instruct clients with diabetes to monitor for elevated blood glucose levels. </a:t>
            </a:r>
          </a:p>
          <a:p>
            <a:r>
              <a:t> Instruct clients to observe for signs of low magnesium levels such as muscle twitching and tremors.</a:t>
            </a:r>
          </a:p>
        </p:txBody>
      </p:sp>
    </p:spTree>
  </p:cSld>
  <p:clrMapOvr>
    <a:masterClrMapping/>
  </p:clrMapOvr>
</p:sld>
</file>

<file path=ppt/slides/slide612.xml><?xml version="1.0" encoding="utf-8"?>
<p:sld xmlns:a="http://schemas.openxmlformats.org/drawingml/2006/main" xmlns:r="http://schemas.openxmlformats.org/officeDocument/2006/relationships" xmlns:p="http://schemas.openxmlformats.org/presentationml/2006/main">
  <p:cSld>
    <p:spTree>
      <p:nvGrpSpPr>
        <p:cNvPr id="1301" name=""/>
        <p:cNvGrpSpPr/>
        <p:nvPr/>
      </p:nvGrpSpPr>
      <p:grpSpPr>
        <a:xfrm>
          <a:off x="0" y="0"/>
          <a:ext cx="0" cy="0"/>
          <a:chOff x="0" y="0"/>
          <a:chExt cx="0" cy="0"/>
        </a:xfrm>
      </p:grpSpPr>
      <p:sp>
        <p:nvSpPr>
          <p:cNvPr id="1049805" name="Title 1"/>
          <p:cNvSpPr>
            <a:spLocks noGrp="1"/>
          </p:cNvSpPr>
          <p:nvPr>
            <p:ph type="title"/>
          </p:nvPr>
        </p:nvSpPr>
        <p:spPr/>
        <p:txBody>
          <a:bodyPr/>
          <a:p>
            <a:r>
              <a:rPr b="1"/>
              <a:t>                     b)Thiazide Diuretics</a:t>
            </a:r>
            <a:endParaRPr b="1"/>
          </a:p>
        </p:txBody>
      </p:sp>
      <p:sp>
        <p:nvSpPr>
          <p:cNvPr id="1049806" name="Content Placeholder 2"/>
          <p:cNvSpPr>
            <a:spLocks noGrp="1"/>
          </p:cNvSpPr>
          <p:nvPr>
            <p:ph idx="1"/>
          </p:nvPr>
        </p:nvSpPr>
        <p:spPr>
          <a:xfrm>
            <a:off x="838204" y="1907688"/>
            <a:ext cx="10515600" cy="4351339"/>
          </a:xfrm>
        </p:spPr>
        <p:txBody>
          <a:bodyPr>
            <a:normAutofit fontScale="96429"/>
          </a:bodyPr>
          <a:p>
            <a:r>
              <a:t>hydrochlorothiazide (Hydrodiuril) </a:t>
            </a:r>
          </a:p>
          <a:p>
            <a:pPr indent="0" marL="0">
              <a:buNone/>
            </a:pPr>
            <a:r>
              <a:t> </a:t>
            </a:r>
            <a:r>
              <a:rPr b="1"/>
              <a:t>Other Medications: </a:t>
            </a:r>
            <a:endParaRPr b="1"/>
          </a:p>
          <a:p>
            <a:r>
              <a:t>Chlorothiazide (Diuril) </a:t>
            </a:r>
          </a:p>
          <a:p>
            <a:r>
              <a:t>Methyclothiazide (Enduron) </a:t>
            </a:r>
          </a:p>
          <a:p>
            <a:pPr indent="0" marL="0">
              <a:buNone/>
            </a:pPr>
            <a:r>
              <a:rPr b="1"/>
              <a:t>Thiazide-type diuretics: </a:t>
            </a:r>
            <a:endParaRPr b="1"/>
          </a:p>
          <a:p>
            <a:r>
              <a:t> indapamide (Lozide, Lozol) </a:t>
            </a:r>
          </a:p>
          <a:p>
            <a:r>
              <a:t> chlorthalidone (Hygroton) </a:t>
            </a:r>
          </a:p>
          <a:p>
            <a:r>
              <a:t> metolazone (Zaroxolyn)</a:t>
            </a:r>
          </a:p>
        </p:txBody>
      </p:sp>
    </p:spTree>
  </p:cSld>
  <p:clrMapOvr>
    <a:masterClrMapping/>
  </p:clrMapOvr>
</p:sld>
</file>

<file path=ppt/slides/slide613.xml><?xml version="1.0" encoding="utf-8"?>
<p:sld xmlns:a="http://schemas.openxmlformats.org/drawingml/2006/main" xmlns:r="http://schemas.openxmlformats.org/officeDocument/2006/relationships" xmlns:p="http://schemas.openxmlformats.org/presentationml/2006/main">
  <p:cSld>
    <p:spTree>
      <p:nvGrpSpPr>
        <p:cNvPr id="1302" name=""/>
        <p:cNvGrpSpPr/>
        <p:nvPr/>
      </p:nvGrpSpPr>
      <p:grpSpPr>
        <a:xfrm>
          <a:off x="0" y="0"/>
          <a:ext cx="0" cy="0"/>
          <a:chOff x="0" y="0"/>
          <a:chExt cx="0" cy="0"/>
        </a:xfrm>
      </p:grpSpPr>
      <p:sp>
        <p:nvSpPr>
          <p:cNvPr id="1049807" name="Title 1"/>
          <p:cNvSpPr>
            <a:spLocks noGrp="1"/>
          </p:cNvSpPr>
          <p:nvPr>
            <p:ph type="title"/>
          </p:nvPr>
        </p:nvSpPr>
        <p:spPr/>
        <p:txBody>
          <a:bodyPr/>
          <a:p>
            <a:r>
              <a:rPr b="1"/>
              <a:t>Mechanism of action</a:t>
            </a:r>
            <a:endParaRPr b="1"/>
          </a:p>
        </p:txBody>
      </p:sp>
      <p:sp>
        <p:nvSpPr>
          <p:cNvPr id="1049808" name="Content Placeholder 2"/>
          <p:cNvSpPr>
            <a:spLocks noGrp="1"/>
          </p:cNvSpPr>
          <p:nvPr>
            <p:ph idx="1"/>
          </p:nvPr>
        </p:nvSpPr>
        <p:spPr/>
        <p:txBody>
          <a:bodyPr>
            <a:normAutofit/>
          </a:bodyPr>
          <a:p>
            <a:pPr indent="0" marL="0">
              <a:buNone/>
            </a:pPr>
            <a:r>
              <a:t> </a:t>
            </a:r>
            <a:r>
              <a:rPr b="1"/>
              <a:t>Expected Pharmacological Action </a:t>
            </a:r>
            <a:endParaRPr b="1"/>
          </a:p>
          <a:p>
            <a:r>
              <a:t> Thiazide diuretics work in the early distal convoluted tubule to: </a:t>
            </a:r>
          </a:p>
          <a:p>
            <a:r>
              <a:t> Block the reabsorption of sodium and chloride, and prevent the reabsorption of water at this site </a:t>
            </a:r>
          </a:p>
          <a:p>
            <a:r>
              <a:t> Promote diuresis when renal function is not impaired </a:t>
            </a:r>
          </a:p>
          <a:p>
            <a:pPr indent="0" marL="0">
              <a:buNone/>
            </a:pPr>
            <a:r>
              <a:rPr b="1"/>
              <a:t>Therapeutic Uses </a:t>
            </a:r>
            <a:endParaRPr b="1"/>
          </a:p>
          <a:p>
            <a:r>
              <a:t> Thiazide diuretics are often the medication of first choice for essential hypertension. </a:t>
            </a:r>
          </a:p>
          <a:p>
            <a:r>
              <a:t> These medications may be used for edema of mild-to-moderate heart failure and liver and kidney disease.</a:t>
            </a:r>
          </a:p>
        </p:txBody>
      </p:sp>
    </p:spTree>
  </p:cSld>
  <p:clrMapOvr>
    <a:masterClrMapping/>
  </p:clrMapOvr>
</p:sld>
</file>

<file path=ppt/slides/slide614.xml><?xml version="1.0" encoding="utf-8"?>
<p:sld xmlns:a="http://schemas.openxmlformats.org/drawingml/2006/main" xmlns:r="http://schemas.openxmlformats.org/officeDocument/2006/relationships" xmlns:p="http://schemas.openxmlformats.org/presentationml/2006/main">
  <p:cSld>
    <p:spTree>
      <p:nvGrpSpPr>
        <p:cNvPr id="1303" name=""/>
        <p:cNvGrpSpPr/>
        <p:nvPr/>
      </p:nvGrpSpPr>
      <p:grpSpPr>
        <a:xfrm>
          <a:off x="0" y="0"/>
          <a:ext cx="0" cy="0"/>
          <a:chOff x="0" y="0"/>
          <a:chExt cx="0" cy="0"/>
        </a:xfrm>
      </p:grpSpPr>
      <p:sp>
        <p:nvSpPr>
          <p:cNvPr id="1049809" name="Title 1"/>
          <p:cNvSpPr>
            <a:spLocks noGrp="1"/>
          </p:cNvSpPr>
          <p:nvPr>
            <p:ph type="title"/>
          </p:nvPr>
        </p:nvSpPr>
        <p:spPr/>
        <p:txBody>
          <a:bodyPr/>
          <a:p>
            <a:r>
              <a:rPr b="1"/>
              <a:t>Side/Adverse Effects</a:t>
            </a:r>
            <a:endParaRPr b="1"/>
          </a:p>
        </p:txBody>
      </p:sp>
      <p:sp>
        <p:nvSpPr>
          <p:cNvPr id="1049810" name="Content Placeholder 2"/>
          <p:cNvSpPr>
            <a:spLocks noGrp="1"/>
          </p:cNvSpPr>
          <p:nvPr>
            <p:ph idx="1"/>
          </p:nvPr>
        </p:nvSpPr>
        <p:spPr/>
        <p:txBody>
          <a:bodyPr>
            <a:normAutofit fontScale="75000" lnSpcReduction="20000"/>
          </a:bodyPr>
          <a:p>
            <a:r>
              <a:rPr sz="3600"/>
              <a:t>dehydration</a:t>
            </a:r>
            <a:endParaRPr sz="3600"/>
          </a:p>
          <a:p>
            <a:r>
              <a:rPr sz="3600"/>
              <a:t>Hypokalemia (K+ less than 3.5 mEq/L)</a:t>
            </a:r>
            <a:endParaRPr sz="3600"/>
          </a:p>
          <a:p>
            <a:r>
              <a:rPr sz="3600"/>
              <a:t>Hyperglycemia</a:t>
            </a:r>
            <a:endParaRPr sz="3600"/>
          </a:p>
          <a:p>
            <a:pPr indent="0" marL="0">
              <a:buNone/>
            </a:pPr>
            <a:r>
              <a:rPr b="1" sz="3600"/>
              <a:t>Medication/Food Interactions</a:t>
            </a:r>
            <a:endParaRPr b="1" sz="3600"/>
          </a:p>
          <a:p>
            <a:r>
              <a:rPr sz="3600"/>
              <a:t>Digoxin (Lanoxin) toxicity can occur in the presence of hypokalemia</a:t>
            </a:r>
            <a:endParaRPr sz="3600"/>
          </a:p>
          <a:p>
            <a:r>
              <a:rPr sz="3600"/>
              <a:t>Antihypertensive have additive hypotensive effects.  Monitor the client’s blood pressure. </a:t>
            </a:r>
            <a:endParaRPr sz="3600"/>
          </a:p>
          <a:p>
            <a:r>
              <a:rPr sz="3600"/>
              <a:t>Hyponatremia can lead to decrease in lithium (Eskalith) excretion, which may lead to toxicity.</a:t>
            </a:r>
            <a:endParaRPr sz="3600"/>
          </a:p>
          <a:p>
            <a:r>
              <a:rPr sz="3600"/>
              <a:t> </a:t>
            </a:r>
            <a:r>
              <a:rPr sz="4000">
                <a:solidFill>
                  <a:srgbClr val="000000"/>
                </a:solidFill>
              </a:rPr>
              <a:t>NSAIDs reduce diuretic effect</a:t>
            </a:r>
            <a:endParaRPr sz="3600"/>
          </a:p>
          <a:p>
            <a:endParaRPr sz="3600"/>
          </a:p>
          <a:p>
            <a:endParaRPr sz="3600"/>
          </a:p>
          <a:p>
            <a:pPr indent="0" marL="0">
              <a:buNone/>
            </a:pPr>
            <a:endParaRPr b="1" sz="3600"/>
          </a:p>
          <a:p/>
        </p:txBody>
      </p:sp>
    </p:spTree>
  </p:cSld>
  <p:clrMapOvr>
    <a:masterClrMapping/>
  </p:clrMapOvr>
</p:sld>
</file>

<file path=ppt/slides/slide615.xml><?xml version="1.0" encoding="utf-8"?>
<p:sld xmlns:a="http://schemas.openxmlformats.org/drawingml/2006/main" xmlns:r="http://schemas.openxmlformats.org/officeDocument/2006/relationships" xmlns:p="http://schemas.openxmlformats.org/presentationml/2006/main">
  <p:cSld>
    <p:spTree>
      <p:nvGrpSpPr>
        <p:cNvPr id="1304" name=""/>
        <p:cNvGrpSpPr/>
        <p:nvPr/>
      </p:nvGrpSpPr>
      <p:grpSpPr>
        <a:xfrm>
          <a:off x="0" y="0"/>
          <a:ext cx="0" cy="0"/>
          <a:chOff x="0" y="0"/>
          <a:chExt cx="0" cy="0"/>
        </a:xfrm>
      </p:grpSpPr>
      <p:sp>
        <p:nvSpPr>
          <p:cNvPr id="1049811" name="Title 1"/>
          <p:cNvSpPr>
            <a:spLocks noGrp="1"/>
          </p:cNvSpPr>
          <p:nvPr>
            <p:ph type="title"/>
          </p:nvPr>
        </p:nvSpPr>
        <p:spPr/>
        <p:txBody>
          <a:bodyPr/>
          <a:p>
            <a:r>
              <a:rPr b="1"/>
              <a:t>Nursing administration </a:t>
            </a:r>
            <a:endParaRPr b="1"/>
          </a:p>
        </p:txBody>
      </p:sp>
      <p:sp>
        <p:nvSpPr>
          <p:cNvPr id="1049812" name="Content Placeholder 2"/>
          <p:cNvSpPr>
            <a:spLocks noGrp="1"/>
          </p:cNvSpPr>
          <p:nvPr>
            <p:ph idx="1"/>
          </p:nvPr>
        </p:nvSpPr>
        <p:spPr/>
        <p:txBody>
          <a:bodyPr>
            <a:normAutofit/>
          </a:bodyPr>
          <a:p>
            <a:r>
              <a:t> Chlorothiazide may be administered orally and IV, all others can only be given orally. </a:t>
            </a:r>
          </a:p>
          <a:p>
            <a:r>
              <a:t> Obtain the client’s baseline data to include orthostatic blood pressure, weight, electrolytes, and location and extent of edema. </a:t>
            </a:r>
          </a:p>
          <a:p>
            <a:r>
              <a:t> Monitor the client’s potassium levels</a:t>
            </a:r>
          </a:p>
          <a:p>
            <a:r>
              <a:t> Instruct clients to take the medication first thing in the morning; if twice-a-day dosing is prescribed, be sure the second dose is taken by 1400 to prevent nocturia. </a:t>
            </a:r>
          </a:p>
          <a:p>
            <a:r>
              <a:t> Encourage clients to consume foods high in potassium and maintain adequate fluid intake (1,500 mL per day, unless contraindicated). </a:t>
            </a:r>
          </a:p>
          <a:p>
            <a:r>
              <a:t>If GI upset occurs, clients should take the medication with or after meals. ●</a:t>
            </a:r>
          </a:p>
          <a:p>
            <a:r>
              <a:t>Alternate-day dosing can decrease electrolyte imbalance</a:t>
            </a:r>
          </a:p>
        </p:txBody>
      </p:sp>
    </p:spTree>
  </p:cSld>
  <p:clrMapOvr>
    <a:masterClrMapping/>
  </p:clrMapOvr>
</p:sld>
</file>

<file path=ppt/slides/slide616.xml><?xml version="1.0" encoding="utf-8"?>
<p:sld xmlns:a="http://schemas.openxmlformats.org/drawingml/2006/main" xmlns:r="http://schemas.openxmlformats.org/officeDocument/2006/relationships" xmlns:p="http://schemas.openxmlformats.org/presentationml/2006/main">
  <p:cSld>
    <p:spTree>
      <p:nvGrpSpPr>
        <p:cNvPr id="1305" name=""/>
        <p:cNvGrpSpPr/>
        <p:nvPr/>
      </p:nvGrpSpPr>
      <p:grpSpPr>
        <a:xfrm>
          <a:off x="0" y="0"/>
          <a:ext cx="0" cy="0"/>
          <a:chOff x="0" y="0"/>
          <a:chExt cx="0" cy="0"/>
        </a:xfrm>
      </p:grpSpPr>
      <p:sp>
        <p:nvSpPr>
          <p:cNvPr id="1049813" name="Title 1"/>
          <p:cNvSpPr>
            <a:spLocks noGrp="1"/>
          </p:cNvSpPr>
          <p:nvPr>
            <p:ph type="title"/>
          </p:nvPr>
        </p:nvSpPr>
        <p:spPr/>
        <p:txBody>
          <a:bodyPr/>
          <a:p>
            <a:r>
              <a:rPr b="1"/>
              <a:t>c)Potassium-Sparing Diuretics</a:t>
            </a:r>
            <a:endParaRPr b="1"/>
          </a:p>
        </p:txBody>
      </p:sp>
      <p:sp>
        <p:nvSpPr>
          <p:cNvPr id="1049814" name="Content Placeholder 2"/>
          <p:cNvSpPr>
            <a:spLocks noGrp="1"/>
          </p:cNvSpPr>
          <p:nvPr>
            <p:ph idx="1"/>
          </p:nvPr>
        </p:nvSpPr>
        <p:spPr/>
        <p:txBody>
          <a:bodyPr>
            <a:normAutofit/>
          </a:bodyPr>
          <a:p>
            <a:pPr indent="0" marL="0">
              <a:buNone/>
            </a:pPr>
            <a:r>
              <a:t> spironolactone (Aldactone) </a:t>
            </a:r>
          </a:p>
          <a:p>
            <a:pPr indent="0" marL="0">
              <a:buNone/>
            </a:pPr>
            <a:r>
              <a:rPr b="1"/>
              <a:t> Other Medications</a:t>
            </a:r>
            <a:r>
              <a:t>: triamterene (</a:t>
            </a:r>
            <a:r>
              <a:t>Dyrenium</a:t>
            </a:r>
            <a:r>
              <a:t>), amiloride (</a:t>
            </a:r>
            <a:r>
              <a:t>Midamor</a:t>
            </a:r>
            <a:r>
              <a:t>) </a:t>
            </a:r>
          </a:p>
          <a:p>
            <a:pPr indent="0" marL="0">
              <a:buNone/>
            </a:pPr>
            <a:endParaRPr b="1"/>
          </a:p>
          <a:p>
            <a:pPr indent="0" marL="0">
              <a:buNone/>
            </a:pPr>
            <a:r>
              <a:rPr b="1"/>
              <a:t>Expected Pharmacological Action </a:t>
            </a:r>
            <a:endParaRPr b="1"/>
          </a:p>
          <a:p>
            <a:pPr indent="0" marL="0">
              <a:buNone/>
            </a:pPr>
            <a:r>
              <a:t> Potassium-sparing diuretics block the action of aldosterone (sodium and water retention), which results in potassium retention and the secretion of sodium and water. </a:t>
            </a:r>
          </a:p>
          <a:p>
            <a:pPr indent="0" marL="0">
              <a:buNone/>
            </a:pPr>
            <a:r>
              <a:t> </a:t>
            </a:r>
          </a:p>
        </p:txBody>
      </p:sp>
    </p:spTree>
  </p:cSld>
  <p:clrMapOvr>
    <a:masterClrMapping/>
  </p:clrMapOvr>
</p:sld>
</file>

<file path=ppt/slides/slide617.xml><?xml version="1.0" encoding="utf-8"?>
<p:sld xmlns:a="http://schemas.openxmlformats.org/drawingml/2006/main" xmlns:r="http://schemas.openxmlformats.org/officeDocument/2006/relationships" xmlns:p="http://schemas.openxmlformats.org/presentationml/2006/main">
  <p:cSld>
    <p:spTree>
      <p:nvGrpSpPr>
        <p:cNvPr id="1306" name=""/>
        <p:cNvGrpSpPr/>
        <p:nvPr/>
      </p:nvGrpSpPr>
      <p:grpSpPr>
        <a:xfrm>
          <a:off x="0" y="0"/>
          <a:ext cx="0" cy="0"/>
          <a:chOff x="0" y="0"/>
          <a:chExt cx="0" cy="0"/>
        </a:xfrm>
      </p:grpSpPr>
      <p:sp>
        <p:nvSpPr>
          <p:cNvPr id="1049815" name="Title 1"/>
          <p:cNvSpPr>
            <a:spLocks noGrp="1"/>
          </p:cNvSpPr>
          <p:nvPr>
            <p:ph type="title"/>
          </p:nvPr>
        </p:nvSpPr>
        <p:spPr/>
        <p:txBody>
          <a:bodyPr>
            <a:normAutofit/>
          </a:bodyPr>
          <a:p>
            <a:r>
              <a:rPr b="1" sz="3600">
                <a:solidFill>
                  <a:srgbClr val="000000"/>
                </a:solidFill>
                <a:latin typeface="Calibri"/>
                <a:ea typeface="+mn-ea"/>
                <a:cs typeface="+mn-cs"/>
              </a:rPr>
              <a:t>Therapeutic Uses</a:t>
            </a:r>
            <a:endParaRPr b="1" sz="3600"/>
          </a:p>
        </p:txBody>
      </p:sp>
      <p:sp>
        <p:nvSpPr>
          <p:cNvPr id="1049816" name="Content Placeholder 2"/>
          <p:cNvSpPr>
            <a:spLocks noGrp="1"/>
          </p:cNvSpPr>
          <p:nvPr>
            <p:ph idx="1"/>
          </p:nvPr>
        </p:nvSpPr>
        <p:spPr/>
        <p:txBody>
          <a:bodyPr>
            <a:normAutofit fontScale="89286" lnSpcReduction="10000"/>
          </a:bodyPr>
          <a:p>
            <a:r>
              <a:rPr>
                <a:solidFill>
                  <a:srgbClr val="000000"/>
                </a:solidFill>
              </a:rPr>
              <a:t> Potassium-sparing diuretics are combined with other diuretics for potassium-sparing effects. </a:t>
            </a:r>
            <a:endParaRPr>
              <a:solidFill>
                <a:srgbClr val="000000"/>
              </a:solidFill>
            </a:endParaRPr>
          </a:p>
          <a:p>
            <a:r>
              <a:rPr>
                <a:solidFill>
                  <a:srgbClr val="000000"/>
                </a:solidFill>
              </a:rPr>
              <a:t>Potassium-sparing diuretics are used for heart failure. </a:t>
            </a:r>
            <a:endParaRPr>
              <a:solidFill>
                <a:srgbClr val="000000"/>
              </a:solidFill>
            </a:endParaRPr>
          </a:p>
          <a:p>
            <a:r>
              <a:rPr>
                <a:solidFill>
                  <a:srgbClr val="000000"/>
                </a:solidFill>
              </a:rPr>
              <a:t>In primary hyperaldosteronism, potassium-sparing diuretics block actions of aldosterone</a:t>
            </a:r>
            <a:r>
              <a:rPr b="1">
                <a:solidFill>
                  <a:srgbClr val="000000"/>
                </a:solidFill>
              </a:rPr>
              <a:t>. </a:t>
            </a:r>
            <a:endParaRPr b="1">
              <a:solidFill>
                <a:srgbClr val="000000"/>
              </a:solidFill>
            </a:endParaRPr>
          </a:p>
          <a:p>
            <a:r>
              <a:rPr b="1">
                <a:solidFill>
                  <a:srgbClr val="000000"/>
                </a:solidFill>
              </a:rPr>
              <a:t> Route of administration</a:t>
            </a:r>
            <a:r>
              <a:rPr>
                <a:solidFill>
                  <a:srgbClr val="000000"/>
                </a:solidFill>
              </a:rPr>
              <a:t>: Oral</a:t>
            </a:r>
            <a:r>
              <a:t> </a:t>
            </a:r>
          </a:p>
          <a:p>
            <a:pPr indent="0" marL="0">
              <a:buNone/>
            </a:pPr>
            <a:r>
              <a:rPr b="1" sz="3600"/>
              <a:t>Side/Adverse Effects;</a:t>
            </a:r>
            <a:endParaRPr b="1" sz="3600"/>
          </a:p>
          <a:p>
            <a:r>
              <a:t> Hyperkalemia (K+ greater than 5.0 mEq/L) </a:t>
            </a:r>
          </a:p>
          <a:p>
            <a:r>
              <a:t>Endocrine effects (impotence in male clients; irregularities of menstrual cycle in female clients)</a:t>
            </a:r>
          </a:p>
          <a:p>
            <a:pPr indent="0" marL="0">
              <a:buNone/>
            </a:pPr>
            <a:endParaRPr b="1">
              <a:solidFill>
                <a:srgbClr val="000000"/>
              </a:solidFill>
            </a:endParaRPr>
          </a:p>
          <a:p/>
        </p:txBody>
      </p:sp>
    </p:spTree>
  </p:cSld>
  <p:clrMapOvr>
    <a:masterClrMapping/>
  </p:clrMapOvr>
</p:sld>
</file>

<file path=ppt/slides/slide618.xml><?xml version="1.0" encoding="utf-8"?>
<p:sld xmlns:a="http://schemas.openxmlformats.org/drawingml/2006/main" xmlns:r="http://schemas.openxmlformats.org/officeDocument/2006/relationships" xmlns:p="http://schemas.openxmlformats.org/presentationml/2006/main">
  <p:cSld>
    <p:spTree>
      <p:nvGrpSpPr>
        <p:cNvPr id="1307" name=""/>
        <p:cNvGrpSpPr/>
        <p:nvPr/>
      </p:nvGrpSpPr>
      <p:grpSpPr>
        <a:xfrm>
          <a:off x="0" y="0"/>
          <a:ext cx="0" cy="0"/>
          <a:chOff x="0" y="0"/>
          <a:chExt cx="0" cy="0"/>
        </a:xfrm>
      </p:grpSpPr>
      <p:sp>
        <p:nvSpPr>
          <p:cNvPr id="1049817" name="Title 1"/>
          <p:cNvSpPr>
            <a:spLocks noGrp="1"/>
          </p:cNvSpPr>
          <p:nvPr>
            <p:ph type="title"/>
          </p:nvPr>
        </p:nvSpPr>
        <p:spPr/>
        <p:txBody>
          <a:bodyPr>
            <a:normAutofit/>
          </a:bodyPr>
          <a:p>
            <a:r>
              <a:rPr b="1" sz="3600">
                <a:solidFill>
                  <a:srgbClr val="000000"/>
                </a:solidFill>
                <a:latin typeface="Calibri"/>
                <a:ea typeface="+mn-ea"/>
                <a:cs typeface="+mn-cs"/>
              </a:rPr>
              <a:t>Contraindications/Precaution</a:t>
            </a:r>
            <a:endParaRPr b="1" sz="3600"/>
          </a:p>
        </p:txBody>
      </p:sp>
      <p:sp>
        <p:nvSpPr>
          <p:cNvPr id="1049818" name="Content Placeholder 2"/>
          <p:cNvSpPr>
            <a:spLocks noGrp="1"/>
          </p:cNvSpPr>
          <p:nvPr>
            <p:ph idx="1"/>
          </p:nvPr>
        </p:nvSpPr>
        <p:spPr/>
        <p:txBody>
          <a:bodyPr>
            <a:normAutofit/>
          </a:bodyPr>
          <a:p>
            <a:r>
              <a:t> Do not administer to clients who have hyperkalemia. </a:t>
            </a:r>
          </a:p>
          <a:p>
            <a:r>
              <a:t> Potassium-sparing diuretics are contraindicated in clients who have severe renal failure and anuria. </a:t>
            </a:r>
          </a:p>
          <a:p>
            <a:pPr indent="0" marL="0">
              <a:buNone/>
            </a:pPr>
            <a:r>
              <a:rPr b="1" sz="3600"/>
              <a:t>Medication/Food Interaction</a:t>
            </a:r>
            <a:endParaRPr b="1" sz="3600"/>
          </a:p>
          <a:p>
            <a:r>
              <a:t>Concurrent use of ACE inhibitors increases the risk of </a:t>
            </a:r>
            <a:r>
              <a:rPr>
                <a:solidFill>
                  <a:srgbClr val="000000"/>
                </a:solidFill>
              </a:rPr>
              <a:t>hyperkalemia</a:t>
            </a:r>
            <a:r>
              <a:t> </a:t>
            </a:r>
          </a:p>
          <a:p>
            <a:r>
              <a:t>Concurrent use of potassium supplements increases the risk of </a:t>
            </a:r>
            <a:r>
              <a:rPr>
                <a:solidFill>
                  <a:srgbClr val="000000"/>
                </a:solidFill>
              </a:rPr>
              <a:t>hyperkalemia </a:t>
            </a:r>
            <a:endParaRPr>
              <a:solidFill>
                <a:srgbClr val="000000"/>
              </a:solidFill>
            </a:endParaRPr>
          </a:p>
          <a:p>
            <a:pPr indent="0" marL="0">
              <a:buNone/>
            </a:pPr>
            <a:r>
              <a:t> </a:t>
            </a:r>
            <a:endParaRPr b="1"/>
          </a:p>
          <a:p>
            <a:pPr indent="0" marL="0">
              <a:buNone/>
            </a:pPr>
            <a:endParaRPr b="1" sz="3600"/>
          </a:p>
          <a:p/>
        </p:txBody>
      </p:sp>
    </p:spTree>
  </p:cSld>
  <p:clrMapOvr>
    <a:masterClrMapping/>
  </p:clrMapOvr>
</p:sld>
</file>

<file path=ppt/slides/slide619.xml><?xml version="1.0" encoding="utf-8"?>
<p:sld xmlns:a="http://schemas.openxmlformats.org/drawingml/2006/main" xmlns:r="http://schemas.openxmlformats.org/officeDocument/2006/relationships" xmlns:p="http://schemas.openxmlformats.org/presentationml/2006/main">
  <p:cSld>
    <p:spTree>
      <p:nvGrpSpPr>
        <p:cNvPr id="1308" name=""/>
        <p:cNvGrpSpPr/>
        <p:nvPr/>
      </p:nvGrpSpPr>
      <p:grpSpPr>
        <a:xfrm>
          <a:off x="0" y="0"/>
          <a:ext cx="0" cy="0"/>
          <a:chOff x="0" y="0"/>
          <a:chExt cx="0" cy="0"/>
        </a:xfrm>
      </p:grpSpPr>
      <p:sp>
        <p:nvSpPr>
          <p:cNvPr id="1049819" name="Title 1"/>
          <p:cNvSpPr>
            <a:spLocks noGrp="1"/>
          </p:cNvSpPr>
          <p:nvPr>
            <p:ph type="title"/>
          </p:nvPr>
        </p:nvSpPr>
        <p:spPr/>
        <p:txBody>
          <a:bodyPr>
            <a:normAutofit/>
          </a:bodyPr>
          <a:p>
            <a:r>
              <a:rPr sz="3600">
                <a:solidFill>
                  <a:srgbClr val="000000"/>
                </a:solidFill>
                <a:latin typeface="Calibri"/>
                <a:ea typeface="+mn-ea"/>
                <a:cs typeface="+mn-cs"/>
              </a:rPr>
              <a:t>Nursing Administration</a:t>
            </a:r>
            <a:endParaRPr sz="3600"/>
          </a:p>
        </p:txBody>
      </p:sp>
      <p:sp>
        <p:nvSpPr>
          <p:cNvPr id="1049820" name="Content Placeholder 2"/>
          <p:cNvSpPr>
            <a:spLocks noGrp="1"/>
          </p:cNvSpPr>
          <p:nvPr>
            <p:ph idx="1"/>
          </p:nvPr>
        </p:nvSpPr>
        <p:spPr/>
        <p:txBody>
          <a:bodyPr/>
          <a:p>
            <a:r>
              <a:t>Obtain the client’s baseline data. </a:t>
            </a:r>
          </a:p>
          <a:p>
            <a:r>
              <a:t> Monitor the client’s potassium levels regularly. </a:t>
            </a:r>
          </a:p>
          <a:p>
            <a:r>
              <a:t> Can only be given orally. </a:t>
            </a:r>
          </a:p>
          <a:p>
            <a:r>
              <a:t> Teach clients to avoid salt substitutes that contain potassium. </a:t>
            </a:r>
          </a:p>
          <a:p>
            <a:r>
              <a:t> Teach clients to self-monitor blood pressure. </a:t>
            </a:r>
          </a:p>
          <a:p>
            <a:r>
              <a:t> Instruct clients to keep a log of blood pressure and weight. </a:t>
            </a:r>
          </a:p>
          <a:p>
            <a:r>
              <a:t> Warn clients that </a:t>
            </a:r>
            <a:r>
              <a:rPr b="1"/>
              <a:t>triamterene</a:t>
            </a:r>
            <a:r>
              <a:t> may turn urine a </a:t>
            </a:r>
            <a:r>
              <a:rPr b="1"/>
              <a:t>bluish color. </a:t>
            </a:r>
            <a:endParaRPr b="1"/>
          </a:p>
        </p:txBody>
      </p:sp>
    </p:spTree>
  </p:cSld>
  <p:clrMapOvr>
    <a:masterClrMapping/>
  </p:clrMapOvr>
</p:sld>
</file>

<file path=ppt/slides/slide620.xml><?xml version="1.0" encoding="utf-8"?>
<p:sld xmlns:a="http://schemas.openxmlformats.org/drawingml/2006/main" xmlns:r="http://schemas.openxmlformats.org/officeDocument/2006/relationships" xmlns:p="http://schemas.openxmlformats.org/presentationml/2006/main">
  <p:cSld>
    <p:spTree>
      <p:nvGrpSpPr>
        <p:cNvPr id="1309" name=""/>
        <p:cNvGrpSpPr/>
        <p:nvPr/>
      </p:nvGrpSpPr>
      <p:grpSpPr>
        <a:xfrm>
          <a:off x="0" y="0"/>
          <a:ext cx="0" cy="0"/>
          <a:chOff x="0" y="0"/>
          <a:chExt cx="0" cy="0"/>
        </a:xfrm>
      </p:grpSpPr>
      <p:sp>
        <p:nvSpPr>
          <p:cNvPr id="1049821" name="Title 1"/>
          <p:cNvSpPr>
            <a:spLocks noGrp="1"/>
          </p:cNvSpPr>
          <p:nvPr>
            <p:ph type="title"/>
          </p:nvPr>
        </p:nvSpPr>
        <p:spPr/>
        <p:txBody>
          <a:bodyPr/>
          <a:p>
            <a:r>
              <a:rPr b="1"/>
              <a:t>                       d)Osmotic Diuretics</a:t>
            </a:r>
            <a:endParaRPr b="1"/>
          </a:p>
        </p:txBody>
      </p:sp>
      <p:sp>
        <p:nvSpPr>
          <p:cNvPr id="1049822" name="Content Placeholder 2"/>
          <p:cNvSpPr>
            <a:spLocks noGrp="1"/>
          </p:cNvSpPr>
          <p:nvPr>
            <p:ph idx="1"/>
          </p:nvPr>
        </p:nvSpPr>
        <p:spPr/>
        <p:txBody>
          <a:bodyPr>
            <a:normAutofit fontScale="89286" lnSpcReduction="20000"/>
          </a:bodyPr>
          <a:p>
            <a:r>
              <a:t>mannitol (Osmitrol) </a:t>
            </a:r>
          </a:p>
          <a:p>
            <a:r>
              <a:t> </a:t>
            </a:r>
            <a:r>
              <a:rPr b="1"/>
              <a:t>Expected Pharmacological Action </a:t>
            </a:r>
            <a:endParaRPr b="1"/>
          </a:p>
          <a:p>
            <a:r>
              <a:t> Osmotic diuretics reduce intracranial pressure and intraocular pressure by raising serum osmolality and drawing fluid back into the vascular and extravascular space. </a:t>
            </a:r>
          </a:p>
          <a:p>
            <a:pPr indent="0" marL="0">
              <a:buNone/>
            </a:pPr>
            <a:r>
              <a:t> </a:t>
            </a:r>
            <a:r>
              <a:rPr b="1"/>
              <a:t>Therapeutic Uses </a:t>
            </a:r>
            <a:endParaRPr b="1"/>
          </a:p>
          <a:p>
            <a:r>
              <a:t> Osmotic diuretics prevent renal failure in specific situations, such as hypovolemic shock and severe hypotension. </a:t>
            </a:r>
          </a:p>
          <a:p>
            <a:r>
              <a:t>These medications decrease intracranial pressure (ICP) caused by cerebral edema. </a:t>
            </a:r>
          </a:p>
          <a:p>
            <a:r>
              <a:t> These medications decrease intraocular pressure (IOP). </a:t>
            </a:r>
          </a:p>
          <a:p>
            <a:r>
              <a:t> Osmotic diuretics promote sodium retention and water excretion in clients with hyponatremia and fluid volume excess</a:t>
            </a:r>
          </a:p>
        </p:txBody>
      </p:sp>
    </p:spTree>
  </p:cSld>
  <p:clrMapOvr>
    <a:masterClrMapping/>
  </p:clrMapOvr>
</p:sld>
</file>

<file path=ppt/slides/slide621.xml><?xml version="1.0" encoding="utf-8"?>
<p:sld xmlns:a="http://schemas.openxmlformats.org/drawingml/2006/main" xmlns:r="http://schemas.openxmlformats.org/officeDocument/2006/relationships" xmlns:p="http://schemas.openxmlformats.org/presentationml/2006/main">
  <p:cSld>
    <p:spTree>
      <p:nvGrpSpPr>
        <p:cNvPr id="1310" name=""/>
        <p:cNvGrpSpPr/>
        <p:nvPr/>
      </p:nvGrpSpPr>
      <p:grpSpPr>
        <a:xfrm>
          <a:off x="0" y="0"/>
          <a:ext cx="0" cy="0"/>
          <a:chOff x="0" y="0"/>
          <a:chExt cx="0" cy="0"/>
        </a:xfrm>
      </p:grpSpPr>
      <p:sp>
        <p:nvSpPr>
          <p:cNvPr id="1049823" name="Title 1"/>
          <p:cNvSpPr>
            <a:spLocks noGrp="1"/>
          </p:cNvSpPr>
          <p:nvPr>
            <p:ph type="title"/>
          </p:nvPr>
        </p:nvSpPr>
        <p:spPr/>
        <p:txBody>
          <a:bodyPr/>
          <a:p>
            <a:r>
              <a:t>Side/Adverse Effects</a:t>
            </a:r>
          </a:p>
        </p:txBody>
      </p:sp>
      <p:sp>
        <p:nvSpPr>
          <p:cNvPr id="1049824" name="Content Placeholder 2"/>
          <p:cNvSpPr>
            <a:spLocks noGrp="1"/>
          </p:cNvSpPr>
          <p:nvPr>
            <p:ph idx="1"/>
          </p:nvPr>
        </p:nvSpPr>
        <p:spPr/>
        <p:txBody>
          <a:bodyPr/>
          <a:p>
            <a:r>
              <a:t>Renal failure </a:t>
            </a:r>
          </a:p>
          <a:p>
            <a:r>
              <a:t>Heart failure, pulmonary edema</a:t>
            </a:r>
          </a:p>
          <a:p>
            <a:r>
              <a:t> Fluid and electrolyte imbalances</a:t>
            </a:r>
          </a:p>
          <a:p>
            <a:pPr indent="0" marL="0">
              <a:buNone/>
            </a:pPr>
            <a:r>
              <a:t> </a:t>
            </a:r>
            <a:r>
              <a:rPr b="1" sz="3600"/>
              <a:t>Contraindications/Precautions  </a:t>
            </a:r>
            <a:endParaRPr b="1" sz="3600"/>
          </a:p>
          <a:p>
            <a:r>
              <a:t>Use extreme caution in clients with heart failure.</a:t>
            </a:r>
          </a:p>
        </p:txBody>
      </p:sp>
    </p:spTree>
  </p:cSld>
  <p:clrMapOvr>
    <a:masterClrMapping/>
  </p:clrMapOvr>
</p:sld>
</file>

<file path=ppt/slides/slide622.xml><?xml version="1.0" encoding="utf-8"?>
<p:sld xmlns:a="http://schemas.openxmlformats.org/drawingml/2006/main" xmlns:r="http://schemas.openxmlformats.org/officeDocument/2006/relationships" xmlns:p="http://schemas.openxmlformats.org/presentationml/2006/main">
  <p:cSld>
    <p:spTree>
      <p:nvGrpSpPr>
        <p:cNvPr id="1311" name=""/>
        <p:cNvGrpSpPr/>
        <p:nvPr/>
      </p:nvGrpSpPr>
      <p:grpSpPr>
        <a:xfrm>
          <a:off x="0" y="0"/>
          <a:ext cx="0" cy="0"/>
          <a:chOff x="0" y="0"/>
          <a:chExt cx="0" cy="0"/>
        </a:xfrm>
      </p:grpSpPr>
      <p:sp>
        <p:nvSpPr>
          <p:cNvPr id="1049825" name="Title 1"/>
          <p:cNvSpPr>
            <a:spLocks noGrp="1"/>
          </p:cNvSpPr>
          <p:nvPr>
            <p:ph type="title"/>
          </p:nvPr>
        </p:nvSpPr>
        <p:spPr/>
        <p:txBody>
          <a:bodyPr>
            <a:normAutofit/>
          </a:bodyPr>
          <a:p>
            <a:r>
              <a:rPr sz="3600">
                <a:solidFill>
                  <a:srgbClr val="000000"/>
                </a:solidFill>
                <a:latin typeface="Calibri"/>
                <a:ea typeface="+mn-ea"/>
                <a:cs typeface="+mn-cs"/>
              </a:rPr>
              <a:t>Interactions</a:t>
            </a:r>
            <a:endParaRPr sz="3600"/>
          </a:p>
        </p:txBody>
      </p:sp>
      <p:sp>
        <p:nvSpPr>
          <p:cNvPr id="1049826" name="Content Placeholder 2"/>
          <p:cNvSpPr>
            <a:spLocks noGrp="1"/>
          </p:cNvSpPr>
          <p:nvPr>
            <p:ph idx="1"/>
          </p:nvPr>
        </p:nvSpPr>
        <p:spPr/>
        <p:txBody>
          <a:bodyPr>
            <a:normAutofit fontScale="89286" lnSpcReduction="10000"/>
          </a:bodyPr>
          <a:p>
            <a:r>
              <a:t>Furosemide contributes to therapeutic effect by promoting renal excretion of fluid drawn into vasculature by osmotic diuretics.</a:t>
            </a:r>
          </a:p>
          <a:p>
            <a:pPr indent="0" marL="0">
              <a:buNone/>
            </a:pPr>
            <a:r>
              <a:t> </a:t>
            </a:r>
            <a:r>
              <a:rPr b="1"/>
              <a:t>Nursing Administration </a:t>
            </a:r>
            <a:endParaRPr b="1"/>
          </a:p>
          <a:p>
            <a:pPr indent="0" marL="0">
              <a:buNone/>
            </a:pPr>
            <a:r>
              <a:t>Administer mannitol by continuous IV infusion. </a:t>
            </a:r>
          </a:p>
          <a:p>
            <a:pPr indent="0" marL="0">
              <a:buNone/>
            </a:pPr>
            <a:r>
              <a:t> To prevent administering microscopic crystals, use a filter needle when drawing from the vial and a filter in the IV tubing. </a:t>
            </a:r>
          </a:p>
          <a:p>
            <a:pPr indent="0" marL="0">
              <a:buNone/>
            </a:pPr>
            <a:r>
              <a:t> Monitor daily weight, I &amp; 0, and serum electrolytes. </a:t>
            </a:r>
          </a:p>
          <a:p>
            <a:pPr indent="0" marL="0">
              <a:buNone/>
            </a:pPr>
            <a:r>
              <a:t> Monitor for signs of dehydration, acute renal failure, and edema. </a:t>
            </a:r>
          </a:p>
          <a:p>
            <a:pPr indent="0" marL="0">
              <a:buNone/>
            </a:pPr>
            <a:r>
              <a:t> Use of furosemide may help prevent rebound fluid retention; this contributes to therapeutic effect.</a:t>
            </a:r>
          </a:p>
        </p:txBody>
      </p:sp>
    </p:spTree>
  </p:cSld>
  <p:clrMapOvr>
    <a:masterClrMapping/>
  </p:clrMapOvr>
</p:sld>
</file>

<file path=ppt/slides/slide623.xml><?xml version="1.0" encoding="utf-8"?>
<p:sld xmlns:a="http://schemas.openxmlformats.org/drawingml/2006/main" xmlns:r="http://schemas.openxmlformats.org/officeDocument/2006/relationships" xmlns:p="http://schemas.openxmlformats.org/presentationml/2006/main">
  <p:cSld>
    <p:spTree>
      <p:nvGrpSpPr>
        <p:cNvPr id="1312" name=""/>
        <p:cNvGrpSpPr/>
        <p:nvPr/>
      </p:nvGrpSpPr>
      <p:grpSpPr>
        <a:xfrm>
          <a:off x="0" y="0"/>
          <a:ext cx="0" cy="0"/>
          <a:chOff x="0" y="0"/>
          <a:chExt cx="0" cy="0"/>
        </a:xfrm>
      </p:grpSpPr>
      <p:sp>
        <p:nvSpPr>
          <p:cNvPr id="1049827" name="Title 1"/>
          <p:cNvSpPr>
            <a:spLocks noGrp="1"/>
          </p:cNvSpPr>
          <p:nvPr>
            <p:ph type="title"/>
          </p:nvPr>
        </p:nvSpPr>
        <p:spPr/>
        <p:txBody>
          <a:bodyPr/>
          <a:p>
            <a:r>
              <a:rPr b="1"/>
              <a:t>Carbonic anhydrase inhibitors</a:t>
            </a:r>
            <a:endParaRPr b="1"/>
          </a:p>
        </p:txBody>
      </p:sp>
      <p:sp>
        <p:nvSpPr>
          <p:cNvPr id="1049828" name="Content Placeholder 2"/>
          <p:cNvSpPr>
            <a:spLocks noGrp="1"/>
          </p:cNvSpPr>
          <p:nvPr>
            <p:ph idx="1"/>
          </p:nvPr>
        </p:nvSpPr>
        <p:spPr/>
        <p:txBody>
          <a:bodyPr>
            <a:normAutofit/>
          </a:bodyPr>
          <a:p>
            <a:r>
              <a:t>Blockade of carbonic anhydrase activity induces a sodium bicarbonate  diuresis, which reduces body bicarbonate levels.</a:t>
            </a:r>
          </a:p>
          <a:p>
            <a:r>
              <a:t>These drugs include;</a:t>
            </a:r>
          </a:p>
          <a:p>
            <a:r>
              <a:t>Acetazolamide (DIAMOX)</a:t>
            </a:r>
          </a:p>
          <a:p>
            <a:r>
              <a:t>Dichlorphenamide (DARANIDE)</a:t>
            </a:r>
          </a:p>
          <a:p>
            <a:r>
              <a:t>Methazolamide (GLAUCTABS)</a:t>
            </a:r>
          </a:p>
          <a:p>
            <a:pPr indent="0" marL="0">
              <a:buNone/>
            </a:pPr>
            <a:r>
              <a:rPr b="1"/>
              <a:t>Acetazolamide </a:t>
            </a:r>
            <a:r>
              <a:t>administration causes  a reduction in aqueous </a:t>
            </a:r>
            <a:r>
              <a:t>humour</a:t>
            </a:r>
            <a:r>
              <a:t> and CSF fluid production</a:t>
            </a:r>
          </a:p>
        </p:txBody>
      </p:sp>
    </p:spTree>
  </p:cSld>
  <p:clrMapOvr>
    <a:masterClrMapping/>
  </p:clrMapOvr>
</p:sld>
</file>

<file path=ppt/slides/slide624.xml><?xml version="1.0" encoding="utf-8"?>
<p:sld xmlns:a="http://schemas.openxmlformats.org/drawingml/2006/main" xmlns:r="http://schemas.openxmlformats.org/officeDocument/2006/relationships" xmlns:p="http://schemas.openxmlformats.org/presentationml/2006/main">
  <p:cSld>
    <p:spTree>
      <p:nvGrpSpPr>
        <p:cNvPr id="1313" name=""/>
        <p:cNvGrpSpPr/>
        <p:nvPr/>
      </p:nvGrpSpPr>
      <p:grpSpPr>
        <a:xfrm>
          <a:off x="0" y="0"/>
          <a:ext cx="0" cy="0"/>
          <a:chOff x="0" y="0"/>
          <a:chExt cx="0" cy="0"/>
        </a:xfrm>
      </p:grpSpPr>
      <p:sp>
        <p:nvSpPr>
          <p:cNvPr id="1049829" name="Title 1"/>
          <p:cNvSpPr>
            <a:spLocks noGrp="1"/>
          </p:cNvSpPr>
          <p:nvPr>
            <p:ph type="title"/>
          </p:nvPr>
        </p:nvSpPr>
        <p:spPr/>
        <p:txBody>
          <a:bodyPr/>
          <a:p>
            <a:r>
              <a:t>acetazolamide  cont.’</a:t>
            </a:r>
          </a:p>
        </p:txBody>
      </p:sp>
      <p:sp>
        <p:nvSpPr>
          <p:cNvPr id="1049830" name="Content Placeholder 2"/>
          <p:cNvSpPr>
            <a:spLocks noGrp="1"/>
          </p:cNvSpPr>
          <p:nvPr>
            <p:ph idx="1"/>
          </p:nvPr>
        </p:nvSpPr>
        <p:spPr/>
        <p:txBody>
          <a:bodyPr>
            <a:normAutofit fontScale="85714" lnSpcReduction="10000"/>
          </a:bodyPr>
          <a:p>
            <a:r>
              <a:t>the proximal tubule is the major site of action of carbonic anhydrase inhibitors. </a:t>
            </a:r>
          </a:p>
          <a:p>
            <a:r>
              <a:t>the collecting duct is the secondary site of action .</a:t>
            </a:r>
          </a:p>
          <a:p>
            <a:pPr indent="0" marL="0">
              <a:buNone/>
            </a:pPr>
            <a:r>
              <a:rPr b="1"/>
              <a:t>Clinical application</a:t>
            </a:r>
            <a:endParaRPr b="1"/>
          </a:p>
          <a:p>
            <a:pPr indent="0" marL="0">
              <a:buNone/>
            </a:pPr>
            <a:r>
              <a:rPr b="1"/>
              <a:t>Glaucoma; </a:t>
            </a:r>
            <a:r>
              <a:t>because acetazolamide decreases the rate of aqueous humor production, a decline in IOP occurs.</a:t>
            </a:r>
          </a:p>
          <a:p>
            <a:pPr indent="0" marL="0">
              <a:buNone/>
            </a:pPr>
            <a:r>
              <a:t>The major indication of carbonate anhydrase inhibitor is </a:t>
            </a:r>
            <a:r>
              <a:rPr b="1"/>
              <a:t>open angle glaucoma.</a:t>
            </a:r>
            <a:endParaRPr b="1"/>
          </a:p>
          <a:p>
            <a:pPr indent="0" marL="0">
              <a:buNone/>
            </a:pPr>
            <a:r>
              <a:t>It may also be given in </a:t>
            </a:r>
            <a:r>
              <a:rPr b="1"/>
              <a:t>secondary  glaucoma</a:t>
            </a:r>
            <a:endParaRPr b="1"/>
          </a:p>
          <a:p>
            <a:pPr indent="0" marL="0">
              <a:buNone/>
            </a:pPr>
            <a:r>
              <a:t>Preoperatively in acute angle glaucoma.</a:t>
            </a:r>
          </a:p>
          <a:p>
            <a:pPr indent="0" marL="0">
              <a:buNone/>
            </a:pPr>
            <a:r>
              <a:t>Treatment of epilepsy.</a:t>
            </a:r>
          </a:p>
          <a:p>
            <a:pPr indent="0" marL="0">
              <a:buNone/>
            </a:pPr>
            <a:r>
              <a:t>Altitude sickness familial periodic paralysis</a:t>
            </a:r>
          </a:p>
        </p:txBody>
      </p:sp>
    </p:spTree>
  </p:cSld>
  <p:clrMapOvr>
    <a:masterClrMapping/>
  </p:clrMapOvr>
</p:sld>
</file>

<file path=ppt/slides/slide625.xml><?xml version="1.0" encoding="utf-8"?>
<p:sld xmlns:a="http://schemas.openxmlformats.org/drawingml/2006/main" xmlns:r="http://schemas.openxmlformats.org/officeDocument/2006/relationships" xmlns:p="http://schemas.openxmlformats.org/presentationml/2006/main">
  <p:cSld>
    <p:spTree>
      <p:nvGrpSpPr>
        <p:cNvPr id="1314" name=""/>
        <p:cNvGrpSpPr/>
        <p:nvPr/>
      </p:nvGrpSpPr>
      <p:grpSpPr>
        <a:xfrm>
          <a:off x="0" y="0"/>
          <a:ext cx="0" cy="0"/>
          <a:chOff x="0" y="0"/>
          <a:chExt cx="0" cy="0"/>
        </a:xfrm>
      </p:grpSpPr>
      <p:sp>
        <p:nvSpPr>
          <p:cNvPr id="1049831" name="Title 1"/>
          <p:cNvSpPr>
            <a:spLocks noGrp="1"/>
          </p:cNvSpPr>
          <p:nvPr>
            <p:ph type="title"/>
          </p:nvPr>
        </p:nvSpPr>
        <p:spPr/>
        <p:txBody>
          <a:bodyPr/>
          <a:p>
            <a:r>
              <a:t>toxicity</a:t>
            </a:r>
          </a:p>
        </p:txBody>
      </p:sp>
      <p:sp>
        <p:nvSpPr>
          <p:cNvPr id="1049832" name="Content Placeholder 2"/>
          <p:cNvSpPr>
            <a:spLocks noGrp="1"/>
          </p:cNvSpPr>
          <p:nvPr>
            <p:ph idx="1"/>
          </p:nvPr>
        </p:nvSpPr>
        <p:spPr/>
        <p:txBody>
          <a:bodyPr/>
          <a:p>
            <a:r>
              <a:t>Hyper chloremic acidosis.</a:t>
            </a:r>
          </a:p>
          <a:p>
            <a:r>
              <a:t>Renal potassium loss.</a:t>
            </a:r>
          </a:p>
          <a:p>
            <a:pPr indent="0" marL="0">
              <a:buNone/>
            </a:pPr>
            <a:r>
              <a:rPr b="1"/>
              <a:t>Contraindication</a:t>
            </a:r>
            <a:endParaRPr b="1"/>
          </a:p>
          <a:p>
            <a:pPr indent="0" marL="0">
              <a:buNone/>
            </a:pPr>
            <a:r>
              <a:t>Hepatic cirrhosis.</a:t>
            </a:r>
          </a:p>
        </p:txBody>
      </p:sp>
    </p:spTree>
  </p:cSld>
  <p:clrMapOvr>
    <a:masterClrMapping/>
  </p:clrMapOvr>
</p:sld>
</file>

<file path=ppt/slides/slide626.xml><?xml version="1.0" encoding="utf-8"?>
<p:sld xmlns:a="http://schemas.openxmlformats.org/drawingml/2006/main" xmlns:r="http://schemas.openxmlformats.org/officeDocument/2006/relationships" xmlns:p="http://schemas.openxmlformats.org/presentationml/2006/main">
  <p:cSld>
    <p:spTree>
      <p:nvGrpSpPr>
        <p:cNvPr id="1315" name=""/>
        <p:cNvGrpSpPr/>
        <p:nvPr/>
      </p:nvGrpSpPr>
      <p:grpSpPr>
        <a:xfrm>
          <a:off x="0" y="0"/>
          <a:ext cx="0" cy="0"/>
          <a:chOff x="0" y="0"/>
          <a:chExt cx="0" cy="0"/>
        </a:xfrm>
      </p:grpSpPr>
      <p:sp>
        <p:nvSpPr>
          <p:cNvPr id="1049833" name="Title 1"/>
          <p:cNvSpPr>
            <a:spLocks noGrp="1"/>
          </p:cNvSpPr>
          <p:nvPr>
            <p:ph type="title"/>
          </p:nvPr>
        </p:nvSpPr>
        <p:spPr/>
        <p:txBody>
          <a:bodyPr/>
          <a:p>
            <a:r>
              <a:t>Steroids- natural, synthetic</a:t>
            </a:r>
          </a:p>
        </p:txBody>
      </p:sp>
      <p:sp>
        <p:nvSpPr>
          <p:cNvPr id="1049834" name="Content Placeholder 2"/>
          <p:cNvSpPr>
            <a:spLocks noGrp="1"/>
          </p:cNvSpPr>
          <p:nvPr>
            <p:ph idx="1"/>
          </p:nvPr>
        </p:nvSpPr>
        <p:spPr/>
        <p:txBody>
          <a:bodyPr>
            <a:normAutofit/>
          </a:bodyPr>
          <a:p>
            <a:r>
              <a:rPr b="1"/>
              <a:t>Courticosteroids</a:t>
            </a:r>
            <a:r>
              <a:rPr b="1"/>
              <a:t> are secreted by adrenal cortex-</a:t>
            </a:r>
            <a:r>
              <a:rPr b="1"/>
              <a:t>cortisal</a:t>
            </a:r>
            <a:r>
              <a:rPr b="1"/>
              <a:t> most </a:t>
            </a:r>
            <a:r>
              <a:rPr b="1"/>
              <a:t>dorminant</a:t>
            </a:r>
          </a:p>
          <a:p>
            <a:r>
              <a:rPr b="1"/>
              <a:t>Metabolic effect-carbohydrates ,fat and protein metabolism</a:t>
            </a:r>
          </a:p>
          <a:p>
            <a:r>
              <a:rPr b="1"/>
              <a:t>They promote </a:t>
            </a:r>
            <a:r>
              <a:rPr b="1"/>
              <a:t>gluconeogenesisa</a:t>
            </a:r>
            <a:r>
              <a:rPr b="1"/>
              <a:t> and glycogen deposition in the liver and inhibit peripheral utilization hence increased blood glucose in the liver </a:t>
            </a:r>
          </a:p>
          <a:p>
            <a:r>
              <a:rPr b="1"/>
              <a:t>Aldosterone major </a:t>
            </a:r>
            <a:r>
              <a:rPr b="1"/>
              <a:t>mineralcorticorids</a:t>
            </a:r>
            <a:r>
              <a:rPr b="1"/>
              <a:t> </a:t>
            </a:r>
          </a:p>
          <a:p>
            <a:r>
              <a:rPr b="1"/>
              <a:t>Control –ACTH (hypothalamic pituitary adrenal axis) </a:t>
            </a:r>
          </a:p>
          <a:p>
            <a:r>
              <a:rPr b="1"/>
              <a:t>They are catabolic hormones  </a:t>
            </a:r>
          </a:p>
          <a:p/>
        </p:txBody>
      </p:sp>
    </p:spTree>
  </p:cSld>
  <p:clrMapOvr>
    <a:masterClrMapping/>
  </p:clrMapOvr>
</p:sld>
</file>

<file path=ppt/slides/slide627.xml><?xml version="1.0" encoding="utf-8"?>
<p:sld xmlns:a="http://schemas.openxmlformats.org/drawingml/2006/main" xmlns:r="http://schemas.openxmlformats.org/officeDocument/2006/relationships" xmlns:p="http://schemas.openxmlformats.org/presentationml/2006/main">
  <p:cSld>
    <p:spTree>
      <p:nvGrpSpPr>
        <p:cNvPr id="1316" name=""/>
        <p:cNvGrpSpPr/>
        <p:nvPr/>
      </p:nvGrpSpPr>
      <p:grpSpPr>
        <a:xfrm>
          <a:off x="0" y="0"/>
          <a:ext cx="0" cy="0"/>
          <a:chOff x="0" y="0"/>
          <a:chExt cx="0" cy="0"/>
        </a:xfrm>
      </p:grpSpPr>
      <p:sp>
        <p:nvSpPr>
          <p:cNvPr id="1049835" name="Title 1"/>
          <p:cNvSpPr>
            <a:spLocks noGrp="1"/>
          </p:cNvSpPr>
          <p:nvPr>
            <p:ph type="title"/>
          </p:nvPr>
        </p:nvSpPr>
        <p:spPr/>
        <p:txBody>
          <a:bodyPr/>
          <a:p>
            <a:r>
              <a:t>Classification </a:t>
            </a:r>
          </a:p>
        </p:txBody>
      </p:sp>
      <p:sp>
        <p:nvSpPr>
          <p:cNvPr id="1049836" name="Content Placeholder 2"/>
          <p:cNvSpPr>
            <a:spLocks noGrp="1"/>
          </p:cNvSpPr>
          <p:nvPr>
            <p:ph idx="1"/>
          </p:nvPr>
        </p:nvSpPr>
        <p:spPr/>
        <p:txBody>
          <a:bodyPr>
            <a:normAutofit fontScale="83333" lnSpcReduction="10000"/>
          </a:bodyPr>
          <a:p>
            <a:r>
              <a:rPr b="1"/>
              <a:t>Short acting </a:t>
            </a:r>
          </a:p>
          <a:p>
            <a:pPr lvl="1"/>
            <a:r>
              <a:t>Hydrocortisone </a:t>
            </a:r>
          </a:p>
          <a:p>
            <a:r>
              <a:rPr b="1"/>
              <a:t>Intermediate</a:t>
            </a:r>
          </a:p>
          <a:p>
            <a:pPr lvl="1"/>
            <a:r>
              <a:t>Predinisolone</a:t>
            </a:r>
            <a:r>
              <a:t> </a:t>
            </a:r>
          </a:p>
          <a:p>
            <a:r>
              <a:rPr b="1"/>
              <a:t>Long acting</a:t>
            </a:r>
          </a:p>
          <a:p>
            <a:pPr lvl="1"/>
            <a:r>
              <a:t>Bethamethasone</a:t>
            </a:r>
            <a:r>
              <a:t> </a:t>
            </a:r>
          </a:p>
          <a:p>
            <a:pPr lvl="1"/>
            <a:r>
              <a:t>Dexamethasone</a:t>
            </a:r>
          </a:p>
          <a:p>
            <a:r>
              <a:rPr b="1"/>
              <a:t>MOA</a:t>
            </a:r>
          </a:p>
          <a:p>
            <a:pPr lvl="1"/>
            <a:r>
              <a:t>Enter the cells bind to specific receptors  in the cytoplasm and activate them –regulates the synthesis of new proteins that bring about the hormone effect.</a:t>
            </a:r>
          </a:p>
          <a:p>
            <a:pPr lvl="1"/>
            <a:r>
              <a:t>Suppresses the dev of inflammatory response to all types of stimuli like </a:t>
            </a:r>
            <a:r>
              <a:t>chemical,mechanical</a:t>
            </a:r>
            <a:r>
              <a:t> and immunological stimuli.</a:t>
            </a:r>
          </a:p>
          <a:p/>
        </p:txBody>
      </p:sp>
    </p:spTree>
  </p:cSld>
  <p:clrMapOvr>
    <a:masterClrMapping/>
  </p:clrMapOvr>
</p:sld>
</file>

<file path=ppt/slides/slide628.xml><?xml version="1.0" encoding="utf-8"?>
<p:sld xmlns:a="http://schemas.openxmlformats.org/drawingml/2006/main" xmlns:r="http://schemas.openxmlformats.org/officeDocument/2006/relationships" xmlns:p="http://schemas.openxmlformats.org/presentationml/2006/main">
  <p:cSld>
    <p:spTree>
      <p:nvGrpSpPr>
        <p:cNvPr id="1317" name=""/>
        <p:cNvGrpSpPr/>
        <p:nvPr/>
      </p:nvGrpSpPr>
      <p:grpSpPr>
        <a:xfrm>
          <a:off x="0" y="0"/>
          <a:ext cx="0" cy="0"/>
          <a:chOff x="0" y="0"/>
          <a:chExt cx="0" cy="0"/>
        </a:xfrm>
      </p:grpSpPr>
      <p:sp>
        <p:nvSpPr>
          <p:cNvPr id="1049837" name="Title 1"/>
          <p:cNvSpPr>
            <a:spLocks noGrp="1"/>
          </p:cNvSpPr>
          <p:nvPr>
            <p:ph type="title"/>
          </p:nvPr>
        </p:nvSpPr>
        <p:spPr>
          <a:xfrm>
            <a:off x="838204" y="365126"/>
            <a:ext cx="10515600" cy="742461"/>
          </a:xfrm>
        </p:spPr>
        <p:txBody>
          <a:bodyPr>
            <a:normAutofit fontScale="97727"/>
          </a:bodyPr>
          <a:p>
            <a:r>
              <a:rPr b="1"/>
              <a:t>Uses </a:t>
            </a:r>
          </a:p>
        </p:txBody>
      </p:sp>
      <p:sp>
        <p:nvSpPr>
          <p:cNvPr id="1049838" name="Content Placeholder 2"/>
          <p:cNvSpPr>
            <a:spLocks noGrp="1"/>
          </p:cNvSpPr>
          <p:nvPr>
            <p:ph idx="1"/>
          </p:nvPr>
        </p:nvSpPr>
        <p:spPr>
          <a:xfrm>
            <a:off x="838204" y="1107588"/>
            <a:ext cx="10515600" cy="5563669"/>
          </a:xfrm>
        </p:spPr>
        <p:txBody>
          <a:bodyPr>
            <a:normAutofit fontScale="79167" lnSpcReduction="20000"/>
          </a:bodyPr>
          <a:p>
            <a:r>
              <a:t> </a:t>
            </a:r>
            <a:r>
              <a:rPr b="1"/>
              <a:t>Replacement therapy </a:t>
            </a:r>
          </a:p>
          <a:p>
            <a:pPr lvl="1"/>
            <a:r>
              <a:t>Acute adrenal insufficiency/adrenal insufficiency (</a:t>
            </a:r>
            <a:r>
              <a:t>addisons</a:t>
            </a:r>
            <a:r>
              <a:t> disease)</a:t>
            </a:r>
          </a:p>
          <a:p>
            <a:pPr lvl="1"/>
            <a:r>
              <a:t> Congenital adrenal hyperplasia </a:t>
            </a:r>
          </a:p>
          <a:p>
            <a:r>
              <a:rPr b="1"/>
              <a:t>Pharmacotherapy </a:t>
            </a:r>
          </a:p>
          <a:p>
            <a:pPr lvl="1"/>
            <a:r>
              <a:t>Rheumatoid arthritis</a:t>
            </a:r>
          </a:p>
          <a:p>
            <a:pPr lvl="1"/>
            <a:r>
              <a:t>Osteoarthritis –intra articular injection</a:t>
            </a:r>
          </a:p>
          <a:p>
            <a:pPr lvl="1"/>
            <a:r>
              <a:t>Acute gout-</a:t>
            </a:r>
            <a:r>
              <a:t>predinisolone</a:t>
            </a:r>
            <a:r>
              <a:t> </a:t>
            </a:r>
          </a:p>
          <a:p>
            <a:pPr lvl="1"/>
            <a:r>
              <a:t>Allergic diseases-contact </a:t>
            </a:r>
            <a:r>
              <a:t>dermatitis,urticarial,drug</a:t>
            </a:r>
            <a:r>
              <a:t> reaction and anaphylaxis </a:t>
            </a:r>
          </a:p>
          <a:p>
            <a:pPr lvl="1"/>
            <a:r>
              <a:t>Bronchial asthma –prednisolone </a:t>
            </a:r>
          </a:p>
          <a:p>
            <a:pPr lvl="1"/>
            <a:r>
              <a:t>COPD-</a:t>
            </a:r>
            <a:r>
              <a:t>predinisolone</a:t>
            </a:r>
            <a:r>
              <a:t> </a:t>
            </a:r>
          </a:p>
          <a:p>
            <a:pPr lvl="1"/>
            <a:r>
              <a:t>Eye disease-allergic conjunctivitis-steroid eye drop</a:t>
            </a:r>
          </a:p>
          <a:p>
            <a:pPr lvl="1"/>
            <a:r>
              <a:t>Skin diseases-atopic </a:t>
            </a:r>
            <a:r>
              <a:t>dermatis</a:t>
            </a:r>
            <a:r>
              <a:t> ,seborrheic dermatitis </a:t>
            </a:r>
          </a:p>
          <a:p>
            <a:pPr lvl="1"/>
            <a:r>
              <a:t>Renal diseases-nephrotic syndrome –</a:t>
            </a:r>
            <a:r>
              <a:t>predinisolone</a:t>
            </a:r>
            <a:r>
              <a:t> </a:t>
            </a:r>
          </a:p>
          <a:p>
            <a:pPr lvl="1"/>
            <a:r>
              <a:t>Liver disease-active hepatitis /alcohol hepatitis </a:t>
            </a:r>
          </a:p>
          <a:p>
            <a:pPr lvl="1"/>
            <a:r>
              <a:t>Hematologic disorders-hemolytic </a:t>
            </a:r>
            <a:r>
              <a:t>anaemia</a:t>
            </a:r>
            <a:r>
              <a:t> –with immunologic etiology </a:t>
            </a:r>
          </a:p>
          <a:p>
            <a:pPr lvl="1"/>
            <a:r>
              <a:t>Cerebral edema-dexamethasone  </a:t>
            </a:r>
          </a:p>
          <a:p>
            <a:pPr lvl="1"/>
            <a:r>
              <a:t>Cancers-</a:t>
            </a:r>
            <a:r>
              <a:t>lyphocytic</a:t>
            </a:r>
            <a:r>
              <a:t> leukemia </a:t>
            </a:r>
          </a:p>
          <a:p>
            <a:pPr lvl="1"/>
            <a:r>
              <a:t>Organ transplantation-prevention and </a:t>
            </a:r>
            <a:r>
              <a:t>rx</a:t>
            </a:r>
            <a:r>
              <a:t> of graft rejection </a:t>
            </a:r>
          </a:p>
          <a:p>
            <a:pPr lvl="1"/>
            <a:r>
              <a:t>GI disorders-IBD </a:t>
            </a:r>
            <a:r>
              <a:t>e.g</a:t>
            </a:r>
            <a:r>
              <a:t> ulcerative colitis  </a:t>
            </a:r>
          </a:p>
          <a:p/>
        </p:txBody>
      </p:sp>
    </p:spTree>
  </p:cSld>
  <p:clrMapOvr>
    <a:masterClrMapping/>
  </p:clrMapOvr>
</p:sld>
</file>

<file path=ppt/slides/slide629.xml><?xml version="1.0" encoding="utf-8"?>
<p:sld xmlns:a="http://schemas.openxmlformats.org/drawingml/2006/main" xmlns:r="http://schemas.openxmlformats.org/officeDocument/2006/relationships" xmlns:p="http://schemas.openxmlformats.org/presentationml/2006/main">
  <p:cSld>
    <p:spTree>
      <p:nvGrpSpPr>
        <p:cNvPr id="1318" name=""/>
        <p:cNvGrpSpPr/>
        <p:nvPr/>
      </p:nvGrpSpPr>
      <p:grpSpPr>
        <a:xfrm>
          <a:off x="0" y="0"/>
          <a:ext cx="0" cy="0"/>
          <a:chOff x="0" y="0"/>
          <a:chExt cx="0" cy="0"/>
        </a:xfrm>
      </p:grpSpPr>
      <p:sp>
        <p:nvSpPr>
          <p:cNvPr id="1049839" name="Title 1"/>
          <p:cNvSpPr>
            <a:spLocks noGrp="1"/>
          </p:cNvSpPr>
          <p:nvPr>
            <p:ph type="title"/>
          </p:nvPr>
        </p:nvSpPr>
        <p:spPr/>
        <p:txBody>
          <a:bodyPr/>
          <a:p>
            <a:r>
              <a:rPr b="1"/>
              <a:t>Adverse reaction </a:t>
            </a:r>
          </a:p>
        </p:txBody>
      </p:sp>
      <p:sp>
        <p:nvSpPr>
          <p:cNvPr id="1049840" name="Content Placeholder 2"/>
          <p:cNvSpPr>
            <a:spLocks noGrp="1"/>
          </p:cNvSpPr>
          <p:nvPr>
            <p:ph sz="half" idx="1"/>
          </p:nvPr>
        </p:nvSpPr>
        <p:spPr/>
        <p:txBody>
          <a:bodyPr>
            <a:normAutofit/>
          </a:bodyPr>
          <a:p>
            <a:r>
              <a:t>Cushing syndrome</a:t>
            </a:r>
          </a:p>
          <a:p>
            <a:r>
              <a:t>Hyperglycaemia</a:t>
            </a:r>
            <a:r>
              <a:t>- precipitates </a:t>
            </a:r>
            <a:r>
              <a:t>dm</a:t>
            </a:r>
          </a:p>
          <a:p>
            <a:r>
              <a:t>Risk of infection- </a:t>
            </a:r>
            <a:r>
              <a:t>immunosupresion</a:t>
            </a:r>
          </a:p>
          <a:p>
            <a:r>
              <a:t>Osteoporosis-        </a:t>
            </a:r>
          </a:p>
          <a:p>
            <a:r>
              <a:t>Peptic </a:t>
            </a:r>
            <a:r>
              <a:t>ulcerarion-esp</a:t>
            </a:r>
            <a:r>
              <a:t> with NSAIDS </a:t>
            </a:r>
          </a:p>
          <a:p>
            <a:r>
              <a:t>Cataract and glaucoma</a:t>
            </a:r>
          </a:p>
          <a:p>
            <a:r>
              <a:t>Delayed wound healing</a:t>
            </a:r>
          </a:p>
          <a:p>
            <a:r>
              <a:t>Mental disturbances-</a:t>
            </a:r>
            <a:r>
              <a:t>euphoria,psychosis,depression</a:t>
            </a:r>
          </a:p>
        </p:txBody>
      </p:sp>
      <p:sp>
        <p:nvSpPr>
          <p:cNvPr id="1049841" name="Content Placeholder 3"/>
          <p:cNvSpPr>
            <a:spLocks noGrp="1"/>
          </p:cNvSpPr>
          <p:nvPr>
            <p:ph sz="half" idx="2"/>
          </p:nvPr>
        </p:nvSpPr>
        <p:spPr/>
        <p:txBody>
          <a:bodyPr>
            <a:normAutofit fontScale="96429"/>
          </a:bodyPr>
          <a:p>
            <a:r>
              <a:t>Pud</a:t>
            </a:r>
          </a:p>
          <a:p>
            <a:r>
              <a:t>Hypertenstion</a:t>
            </a:r>
          </a:p>
          <a:p>
            <a:r>
              <a:t>Infections </a:t>
            </a:r>
          </a:p>
          <a:p>
            <a:r>
              <a:t>Dm</a:t>
            </a:r>
          </a:p>
          <a:p>
            <a:r>
              <a:t>Osteoporosis</a:t>
            </a:r>
          </a:p>
          <a:p>
            <a:r>
              <a:t>Psychoses</a:t>
            </a:r>
          </a:p>
          <a:p>
            <a:r>
              <a:t>Glaucoma </a:t>
            </a:r>
          </a:p>
          <a:p>
            <a:r>
              <a:t>Renal failure</a:t>
            </a:r>
          </a:p>
        </p:txBody>
      </p:sp>
    </p:spTree>
  </p:cSld>
  <p:clrMapOvr>
    <a:masterClrMapping/>
  </p:clrMapOvr>
</p:sld>
</file>

<file path=ppt/slides/slide630.xml><?xml version="1.0" encoding="utf-8"?>
<p:sld xmlns:a="http://schemas.openxmlformats.org/drawingml/2006/main" xmlns:r="http://schemas.openxmlformats.org/officeDocument/2006/relationships" xmlns:p="http://schemas.openxmlformats.org/presentationml/2006/main">
  <p:cSld>
    <p:spTree>
      <p:nvGrpSpPr>
        <p:cNvPr id="1319" name=""/>
        <p:cNvGrpSpPr/>
        <p:nvPr/>
      </p:nvGrpSpPr>
      <p:grpSpPr>
        <a:xfrm>
          <a:off x="0" y="0"/>
          <a:ext cx="0" cy="0"/>
          <a:chOff x="0" y="0"/>
          <a:chExt cx="0" cy="0"/>
        </a:xfrm>
      </p:grpSpPr>
      <p:sp>
        <p:nvSpPr>
          <p:cNvPr id="1049842" name="Title 1"/>
          <p:cNvSpPr>
            <a:spLocks noGrp="1"/>
          </p:cNvSpPr>
          <p:nvPr>
            <p:ph type="title"/>
          </p:nvPr>
        </p:nvSpPr>
        <p:spPr/>
        <p:txBody>
          <a:bodyPr/>
          <a:p>
            <a:r>
              <a:rPr b="1"/>
              <a:t>NURSING IMPLICATION IN STEROID THERAPY</a:t>
            </a:r>
          </a:p>
        </p:txBody>
      </p:sp>
      <p:sp>
        <p:nvSpPr>
          <p:cNvPr id="1049843" name="Content Placeholder 2"/>
          <p:cNvSpPr>
            <a:spLocks noGrp="1"/>
          </p:cNvSpPr>
          <p:nvPr>
            <p:ph idx="1"/>
          </p:nvPr>
        </p:nvSpPr>
        <p:spPr/>
        <p:txBody>
          <a:bodyPr>
            <a:normAutofit/>
          </a:bodyPr>
          <a:p>
            <a:r>
              <a:t>Preferably in the morning </a:t>
            </a:r>
          </a:p>
          <a:p>
            <a:r>
              <a:t>Maintain hygiene coz of immunosuppressive effect –prolonged use</a:t>
            </a:r>
          </a:p>
          <a:p>
            <a:r>
              <a:t>Prolonged use of </a:t>
            </a:r>
            <a:r>
              <a:t>topicals</a:t>
            </a:r>
            <a:r>
              <a:t> can cause atrophy of the skin hence care </a:t>
            </a:r>
          </a:p>
          <a:p/>
        </p:txBody>
      </p:sp>
    </p:spTree>
  </p:cSld>
  <p:clrMapOvr>
    <a:masterClrMapping/>
  </p:clrMapOvr>
</p:sld>
</file>

<file path=ppt/slides/slide631.xml><?xml version="1.0" encoding="utf-8"?>
<p:sld xmlns:a="http://schemas.openxmlformats.org/drawingml/2006/main" xmlns:r="http://schemas.openxmlformats.org/officeDocument/2006/relationships" xmlns:p="http://schemas.openxmlformats.org/presentationml/2006/main">
  <p:cSld>
    <p:spTree>
      <p:nvGrpSpPr>
        <p:cNvPr id="1320" name=""/>
        <p:cNvGrpSpPr/>
        <p:nvPr/>
      </p:nvGrpSpPr>
      <p:grpSpPr>
        <a:xfrm>
          <a:off x="0" y="0"/>
          <a:ext cx="0" cy="0"/>
          <a:chOff x="0" y="0"/>
          <a:chExt cx="0" cy="0"/>
        </a:xfrm>
      </p:grpSpPr>
      <p:sp>
        <p:nvSpPr>
          <p:cNvPr id="1049844" name="Title 3"/>
          <p:cNvSpPr>
            <a:spLocks noGrp="1"/>
          </p:cNvSpPr>
          <p:nvPr>
            <p:ph type="ctrTitle"/>
          </p:nvPr>
        </p:nvSpPr>
        <p:spPr/>
        <p:txBody>
          <a:bodyPr>
            <a:noAutofit/>
          </a:bodyPr>
          <a:p>
            <a:r>
              <a:rPr b="1" sz="4800"/>
              <a:t>‘</a:t>
            </a:r>
            <a:r>
              <a:rPr b="1" sz="4800">
                <a:latin typeface="Bradley Hand ITC"/>
              </a:rPr>
              <a:t>Good things come to those who wait but better things come to those who go out to get them</a:t>
            </a:r>
            <a:r>
              <a:rPr sz="4800"/>
              <a:t>’</a:t>
            </a:r>
            <a:endParaRPr sz="4800"/>
          </a:p>
        </p:txBody>
      </p:sp>
      <p:sp>
        <p:nvSpPr>
          <p:cNvPr id="1049845" name="Subtitle 4"/>
          <p:cNvSpPr>
            <a:spLocks noGrp="1"/>
          </p:cNvSpPr>
          <p:nvPr>
            <p:ph type="subTitle" idx="1"/>
          </p:nvPr>
        </p:nvSpPr>
        <p:spPr>
          <a:xfrm>
            <a:off x="2895604" y="4648195"/>
            <a:ext cx="6400800" cy="990595"/>
          </a:xfrm>
        </p:spPr>
        <p:txBody>
          <a:bodyPr>
            <a:normAutofit fontScale="98333"/>
          </a:bodyPr>
          <a:p>
            <a:r>
              <a:rPr sz="6000"/>
              <a:t>Thank you</a:t>
            </a:r>
            <a:endParaRPr sz="600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PHARMACOLOGY</dc:title>
  <dc:creator>HP</dc:creator>
  <cp:lastModifiedBy>HP</cp:lastModifiedBy>
  <dcterms:created xsi:type="dcterms:W3CDTF">2023-05-28T16:24:48Z</dcterms:created>
  <dcterms:modified xsi:type="dcterms:W3CDTF">2025-03-31T16:29:48Z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42ef17a611ff4b649317fc93065f8545</vt:lpwstr>
  </property>
</Properties>
</file>